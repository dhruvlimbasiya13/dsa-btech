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83" r:id="rId2"/>
    <p:sldId id="435" r:id="rId3"/>
    <p:sldId id="436" r:id="rId4"/>
    <p:sldId id="437" r:id="rId5"/>
    <p:sldId id="438" r:id="rId6"/>
    <p:sldId id="439" r:id="rId7"/>
    <p:sldId id="440" r:id="rId8"/>
    <p:sldId id="441" r:id="rId9"/>
    <p:sldId id="442" r:id="rId10"/>
    <p:sldId id="366" r:id="rId11"/>
  </p:sldIdLst>
  <p:sldSz cx="12192000" cy="6858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oboto Condensed" panose="02000000000000000000" pitchFamily="2" charset="0"/>
      <p:regular r:id="rId18"/>
      <p:bold r:id="rId19"/>
      <p:italic r:id="rId20"/>
      <p:boldItalic r:id="rId21"/>
    </p:embeddedFont>
    <p:embeddedFont>
      <p:font typeface="Roboto Condensed Light" panose="02000000000000000000" pitchFamily="2" charset="0"/>
      <p:regular r:id="rId22"/>
      <p:italic r:id="rId23"/>
    </p:embeddedFont>
    <p:embeddedFont>
      <p:font typeface="Wingdings 3" panose="05040102010807070707" pitchFamily="18" charset="2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0000"/>
    <a:srgbClr val="F54337"/>
    <a:srgbClr val="ED524F"/>
    <a:srgbClr val="B84742"/>
    <a:srgbClr val="2FA0AE"/>
    <a:srgbClr val="558ED5"/>
    <a:srgbClr val="1D3064"/>
    <a:srgbClr val="3366FF"/>
    <a:srgbClr val="301B92"/>
    <a:srgbClr val="673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03" autoAdjust="0"/>
    <p:restoredTop sz="96370" autoAdjust="0"/>
  </p:normalViewPr>
  <p:slideViewPr>
    <p:cSldViewPr snapToGrid="0">
      <p:cViewPr varScale="1">
        <p:scale>
          <a:sx n="85" d="100"/>
          <a:sy n="85" d="100"/>
        </p:scale>
        <p:origin x="1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853" y="2673461"/>
            <a:ext cx="4818221" cy="145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 userDrawn="1"/>
        </p:nvGrpSpPr>
        <p:grpSpPr>
          <a:xfrm>
            <a:off x="9716596" y="886592"/>
            <a:ext cx="2554142" cy="587454"/>
            <a:chOff x="9424496" y="861192"/>
            <a:chExt cx="2554142" cy="58745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80" y="9015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4180" y="7239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-62404" y="58903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 userDrawn="1"/>
        </p:nvGrpSpPr>
        <p:grpSpPr>
          <a:xfrm>
            <a:off x="9818224" y="6087939"/>
            <a:ext cx="2554142" cy="650953"/>
            <a:chOff x="9437224" y="6087939"/>
            <a:chExt cx="2554142" cy="65095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29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773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3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  <p:sldLayoutId id="214748369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6000" dirty="0"/>
              <a:t>Tree from Scratch</a:t>
            </a:r>
            <a:br>
              <a:rPr lang="en-US" sz="6000" dirty="0"/>
            </a:br>
            <a:r>
              <a:rPr lang="en-US" sz="6000" b="0" dirty="0"/>
              <a:t>Data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82DE4A-774B-8DD8-3FC4-4107241F4742}"/>
              </a:ext>
            </a:extLst>
          </p:cNvPr>
          <p:cNvSpPr/>
          <p:nvPr/>
        </p:nvSpPr>
        <p:spPr>
          <a:xfrm>
            <a:off x="535855" y="1658471"/>
            <a:ext cx="5504328" cy="3541058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85AE3-EA49-73C8-B52B-98AA32FE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TreeNode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F4002-5B13-0A31-5981-B9CCC958A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590565"/>
          </a:xfrm>
        </p:spPr>
        <p:txBody>
          <a:bodyPr/>
          <a:lstStyle/>
          <a:p>
            <a:r>
              <a:rPr lang="en-GB" sz="2800" dirty="0"/>
              <a:t>C structure to represent a node 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E727F-4506-C476-E3E5-5722269CEC34}"/>
              </a:ext>
            </a:extLst>
          </p:cNvPr>
          <p:cNvSpPr txBox="1"/>
          <p:nvPr/>
        </p:nvSpPr>
        <p:spPr>
          <a:xfrm>
            <a:off x="533899" y="1825042"/>
            <a:ext cx="550823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{</a:t>
            </a:r>
          </a:p>
          <a:p>
            <a:endParaRPr lang="en-GB" sz="2800" b="1" dirty="0">
              <a:latin typeface="Consolas" panose="020B0609020204030204" pitchFamily="49" charset="0"/>
            </a:endParaRP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GB" sz="2800" b="1" dirty="0">
                <a:latin typeface="Consolas" panose="020B0609020204030204" pitchFamily="49" charset="0"/>
              </a:rPr>
              <a:t> data;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* left;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* right;</a:t>
            </a:r>
          </a:p>
          <a:p>
            <a:endParaRPr lang="en-GB" sz="2800" b="1" dirty="0">
              <a:latin typeface="Consolas" panose="020B0609020204030204" pitchFamily="49" charset="0"/>
            </a:endParaRPr>
          </a:p>
          <a:p>
            <a:r>
              <a:rPr lang="en-GB" sz="2800" b="1" dirty="0">
                <a:latin typeface="Consolas" panose="020B0609020204030204" pitchFamily="49" charset="0"/>
              </a:rPr>
              <a:t>};</a:t>
            </a:r>
          </a:p>
          <a:p>
            <a:endParaRPr lang="en-IN" sz="2800" b="1" dirty="0"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FF3F15-7920-FAA2-15C3-DD918F5A43CD}"/>
              </a:ext>
            </a:extLst>
          </p:cNvPr>
          <p:cNvSpPr txBox="1">
            <a:spLocks/>
          </p:cNvSpPr>
          <p:nvPr/>
        </p:nvSpPr>
        <p:spPr>
          <a:xfrm>
            <a:off x="6096000" y="794267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B225A-8285-20C0-CA1E-B22FA905E043}"/>
              </a:ext>
            </a:extLst>
          </p:cNvPr>
          <p:cNvSpPr/>
          <p:nvPr/>
        </p:nvSpPr>
        <p:spPr>
          <a:xfrm>
            <a:off x="6476547" y="2456329"/>
            <a:ext cx="1691182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left</a:t>
            </a:r>
            <a:endParaRPr lang="en-US" sz="2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8E8BB-1C84-73A8-4C09-C1A6130529C3}"/>
              </a:ext>
            </a:extLst>
          </p:cNvPr>
          <p:cNvSpPr/>
          <p:nvPr/>
        </p:nvSpPr>
        <p:spPr>
          <a:xfrm>
            <a:off x="8167730" y="2456329"/>
            <a:ext cx="1076123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data</a:t>
            </a:r>
            <a:endParaRPr lang="en-US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449BC-CDB9-5766-8795-88E34B71474D}"/>
              </a:ext>
            </a:extLst>
          </p:cNvPr>
          <p:cNvSpPr/>
          <p:nvPr/>
        </p:nvSpPr>
        <p:spPr>
          <a:xfrm>
            <a:off x="9243853" y="2457679"/>
            <a:ext cx="1691182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right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0512F-4969-0B7D-0EC1-02FCD1B2D275}"/>
              </a:ext>
            </a:extLst>
          </p:cNvPr>
          <p:cNvSpPr txBox="1"/>
          <p:nvPr/>
        </p:nvSpPr>
        <p:spPr>
          <a:xfrm>
            <a:off x="6364914" y="1891576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3925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D382-E1F8-9633-7D54-5E3FF8163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378C358-217F-F1B4-85F2-A6E9E127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Delete Node from BST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936EB44-D5C8-2ED1-F640-6B239CFDD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489690" cy="5590565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latin typeface="Consolas" panose="020B0609020204030204" pitchFamily="49" charset="0"/>
              </a:rPr>
              <a:t> root =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Write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"Empty OR Not Found")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endParaRPr lang="en-IN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tx2"/>
                </a:solidFill>
                <a:latin typeface="Consolas" panose="020B0609020204030204" pitchFamily="49" charset="0"/>
              </a:rPr>
              <a:t>[Search Left Subtree]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latin typeface="Consolas" panose="020B0609020204030204" pitchFamily="49" charset="0"/>
              </a:rPr>
              <a:t> val &lt; data(root)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600" dirty="0">
                <a:latin typeface="Consolas" panose="020B0609020204030204" pitchFamily="49" charset="0"/>
              </a:rPr>
              <a:t>(root) ← </a:t>
            </a:r>
            <a:r>
              <a:rPr lang="en-IN" sz="1600" dirty="0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600" dirty="0">
                <a:latin typeface="Consolas" panose="020B0609020204030204" pitchFamily="49" charset="0"/>
              </a:rPr>
              <a:t>(root), val)</a:t>
            </a:r>
          </a:p>
          <a:p>
            <a:pPr marL="0" indent="0">
              <a:buNone/>
            </a:pPr>
            <a:endParaRPr lang="en-IN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tx2"/>
                </a:solidFill>
                <a:latin typeface="Consolas" panose="020B0609020204030204" pitchFamily="49" charset="0"/>
              </a:rPr>
              <a:t>[Search Right Subtree]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ELSE IF</a:t>
            </a:r>
            <a:r>
              <a:rPr lang="en-IN" sz="1600" dirty="0">
                <a:latin typeface="Consolas" panose="020B0609020204030204" pitchFamily="49" charset="0"/>
              </a:rPr>
              <a:t> val &gt; data(root)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600" dirty="0">
                <a:latin typeface="Consolas" panose="020B0609020204030204" pitchFamily="49" charset="0"/>
              </a:rPr>
              <a:t>(root) ← </a:t>
            </a:r>
            <a:r>
              <a:rPr lang="en-IN" sz="1600" dirty="0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600" dirty="0">
                <a:latin typeface="Consolas" panose="020B0609020204030204" pitchFamily="49" charset="0"/>
              </a:rPr>
              <a:t>(root), val)</a:t>
            </a:r>
          </a:p>
          <a:p>
            <a:pPr marL="0" indent="0">
              <a:buNone/>
            </a:pPr>
            <a:endParaRPr lang="en-IN" sz="80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A0E003A-0237-36E3-AE13-A2B48CD43853}"/>
              </a:ext>
            </a:extLst>
          </p:cNvPr>
          <p:cNvSpPr txBox="1">
            <a:spLocks/>
          </p:cNvSpPr>
          <p:nvPr/>
        </p:nvSpPr>
        <p:spPr>
          <a:xfrm>
            <a:off x="622718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FA20AFF-F274-2380-B121-98D7F4DB3661}"/>
              </a:ext>
            </a:extLst>
          </p:cNvPr>
          <p:cNvSpPr txBox="1">
            <a:spLocks/>
          </p:cNvSpPr>
          <p:nvPr/>
        </p:nvSpPr>
        <p:spPr>
          <a:xfrm>
            <a:off x="6227180" y="876142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DD0BFAD-93B0-CAD5-20DF-EBC746EBDBE7}"/>
              </a:ext>
            </a:extLst>
          </p:cNvPr>
          <p:cNvSpPr txBox="1">
            <a:spLocks/>
          </p:cNvSpPr>
          <p:nvPr/>
        </p:nvSpPr>
        <p:spPr>
          <a:xfrm>
            <a:off x="5620871" y="876141"/>
            <a:ext cx="6571129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CODE</a:t>
            </a:r>
            <a:endParaRPr lang="en-IN" sz="800" dirty="0"/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</a:t>
            </a:r>
            <a:r>
              <a:rPr lang="en-IN" sz="1600" dirty="0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root,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int</a:t>
            </a:r>
            <a:r>
              <a:rPr lang="en-IN" sz="1600" dirty="0">
                <a:latin typeface="Consolas" panose="020B0609020204030204" pitchFamily="49" charset="0"/>
              </a:rPr>
              <a:t> val){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latin typeface="Consolas" panose="020B0609020204030204" pitchFamily="49" charset="0"/>
              </a:rPr>
              <a:t>(root ==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600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   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printf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“Empty OR Not Found");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   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6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endParaRPr lang="en-IN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latin typeface="Consolas" panose="020B0609020204030204" pitchFamily="49" charset="0"/>
              </a:rPr>
              <a:t>(val &lt; root-&gt;data){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    root-&gt;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600" dirty="0">
                <a:latin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sz="1600" dirty="0">
                <a:latin typeface="Consolas" panose="020B0609020204030204" pitchFamily="49" charset="0"/>
              </a:rPr>
              <a:t>(root-&gt;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600" dirty="0">
                <a:latin typeface="Consolas" panose="020B0609020204030204" pitchFamily="49" charset="0"/>
              </a:rPr>
              <a:t>, val);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endParaRPr lang="en-IN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    else if</a:t>
            </a:r>
            <a:r>
              <a:rPr lang="en-IN" sz="1600" dirty="0">
                <a:latin typeface="Consolas" panose="020B0609020204030204" pitchFamily="49" charset="0"/>
              </a:rPr>
              <a:t>(val &gt; root-&gt;data){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    root-&gt;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600" dirty="0">
                <a:latin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sz="1600" dirty="0">
                <a:latin typeface="Consolas" panose="020B0609020204030204" pitchFamily="49" charset="0"/>
              </a:rPr>
              <a:t>(root-&gt;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600" dirty="0">
                <a:latin typeface="Consolas" panose="020B0609020204030204" pitchFamily="49" charset="0"/>
              </a:rPr>
              <a:t>, val);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IN" sz="800" dirty="0">
                <a:latin typeface="Consolas" panose="020B0609020204030204" pitchFamily="49" charset="0"/>
              </a:rPr>
              <a:t>   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C9C407-5222-2D52-DC08-C0F45BAFDB14}"/>
              </a:ext>
            </a:extLst>
          </p:cNvPr>
          <p:cNvSpPr/>
          <p:nvPr/>
        </p:nvSpPr>
        <p:spPr>
          <a:xfrm>
            <a:off x="189451" y="1685365"/>
            <a:ext cx="11779623" cy="151503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91FEC2-7ED0-DEE2-17BB-E3762EA99902}"/>
              </a:ext>
            </a:extLst>
          </p:cNvPr>
          <p:cNvSpPr/>
          <p:nvPr/>
        </p:nvSpPr>
        <p:spPr>
          <a:xfrm>
            <a:off x="189450" y="3406964"/>
            <a:ext cx="11779623" cy="137122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0DDD6-DF3C-8D16-5C79-4D969FE86170}"/>
              </a:ext>
            </a:extLst>
          </p:cNvPr>
          <p:cNvSpPr/>
          <p:nvPr/>
        </p:nvSpPr>
        <p:spPr>
          <a:xfrm>
            <a:off x="189450" y="5172635"/>
            <a:ext cx="11779623" cy="129407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698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1316D-3B25-42E6-BEE4-83B46CFBF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F3D0A4-145C-B5B2-5275-97242AB64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Delete Node from BST(continued)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63E568-08E0-0FAE-B833-3D102DDDD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19" cy="55905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[Delete the Node]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[Case 1: Node with No Children]</a:t>
            </a:r>
          </a:p>
          <a:p>
            <a:pPr marL="0" indent="0">
              <a:buNone/>
            </a:pPr>
            <a:endParaRPr lang="en-IN" sz="20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600" dirty="0">
                <a:latin typeface="Consolas" panose="020B0609020204030204" pitchFamily="49" charset="0"/>
              </a:rPr>
              <a:t>(root) =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600" dirty="0">
                <a:latin typeface="Consolas" panose="020B0609020204030204" pitchFamily="49" charset="0"/>
              </a:rPr>
              <a:t> AND 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600" dirty="0">
                <a:latin typeface="Consolas" panose="020B0609020204030204" pitchFamily="49" charset="0"/>
              </a:rPr>
              <a:t>(root) =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Free</a:t>
            </a:r>
            <a:r>
              <a:rPr lang="en-IN" sz="20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endParaRPr lang="en-IN" sz="800" dirty="0"/>
          </a:p>
          <a:p>
            <a:pPr marL="0" indent="0">
              <a:buNone/>
            </a:pPr>
            <a:r>
              <a:rPr lang="en-IN" sz="800" dirty="0"/>
              <a:t> 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5B2D52-303B-869E-1A6F-8CA48420E56B}"/>
              </a:ext>
            </a:extLst>
          </p:cNvPr>
          <p:cNvSpPr txBox="1">
            <a:spLocks/>
          </p:cNvSpPr>
          <p:nvPr/>
        </p:nvSpPr>
        <p:spPr>
          <a:xfrm>
            <a:off x="622718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60489F-02DD-E60B-3536-55E48BEA7E3F}"/>
              </a:ext>
            </a:extLst>
          </p:cNvPr>
          <p:cNvSpPr txBox="1"/>
          <p:nvPr/>
        </p:nvSpPr>
        <p:spPr>
          <a:xfrm>
            <a:off x="6096000" y="813390"/>
            <a:ext cx="596481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{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 ==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 &amp;&amp;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		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 ==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)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	{      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free</a:t>
            </a:r>
            <a:r>
              <a:rPr lang="en-IN" sz="2000" dirty="0">
                <a:latin typeface="Consolas" panose="020B0609020204030204" pitchFamily="49" charset="0"/>
              </a:rPr>
              <a:t>(root);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;  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       }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7C8EEF-B641-2C5D-4AE6-D76621695BC8}"/>
              </a:ext>
            </a:extLst>
          </p:cNvPr>
          <p:cNvSpPr/>
          <p:nvPr/>
        </p:nvSpPr>
        <p:spPr>
          <a:xfrm>
            <a:off x="221282" y="2384612"/>
            <a:ext cx="11698938" cy="246568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60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3EB38-812A-6733-C3D7-F499A8896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41CD6F8-436D-2FB1-0389-BFF8350E0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Delete Node from BST(continued)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4C9F90E-756D-48CD-448B-E6FFA0E98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19" cy="55905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[Delete the Node]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b="1" dirty="0">
                <a:solidFill>
                  <a:schemeClr val="tx2"/>
                </a:solidFill>
                <a:latin typeface="Consolas" panose="020B0609020204030204" pitchFamily="49" charset="0"/>
              </a:rPr>
              <a:t>[Case 1: Node with No Children]</a:t>
            </a:r>
          </a:p>
          <a:p>
            <a:pPr marL="0" indent="0">
              <a:buNone/>
            </a:pPr>
            <a:endParaRPr lang="en-IN" sz="2000" b="1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1600" dirty="0">
                <a:latin typeface="Consolas" panose="020B0609020204030204" pitchFamily="49" charset="0"/>
              </a:rPr>
              <a:t>(root) =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1600" dirty="0">
                <a:latin typeface="Consolas" panose="020B0609020204030204" pitchFamily="49" charset="0"/>
              </a:rPr>
              <a:t> AND </a:t>
            </a:r>
            <a:r>
              <a:rPr lang="en-IN" sz="16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600" dirty="0">
                <a:latin typeface="Consolas" panose="020B0609020204030204" pitchFamily="49" charset="0"/>
              </a:rPr>
              <a:t>(root) = </a:t>
            </a:r>
            <a:r>
              <a:rPr lang="en-IN" sz="16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Free</a:t>
            </a:r>
            <a:r>
              <a:rPr lang="en-IN" sz="20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endParaRPr lang="en-IN" sz="800" dirty="0"/>
          </a:p>
          <a:p>
            <a:pPr marL="0" indent="0">
              <a:buNone/>
            </a:pPr>
            <a:r>
              <a:rPr lang="en-IN" sz="800" dirty="0"/>
              <a:t> 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76E16AF-CD23-7E91-F2C4-C4C0C112486A}"/>
              </a:ext>
            </a:extLst>
          </p:cNvPr>
          <p:cNvSpPr txBox="1">
            <a:spLocks/>
          </p:cNvSpPr>
          <p:nvPr/>
        </p:nvSpPr>
        <p:spPr>
          <a:xfrm>
            <a:off x="622718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4B85C-BBC9-2EE7-F234-7E60377D380A}"/>
              </a:ext>
            </a:extLst>
          </p:cNvPr>
          <p:cNvSpPr txBox="1"/>
          <p:nvPr/>
        </p:nvSpPr>
        <p:spPr>
          <a:xfrm>
            <a:off x="6096000" y="813390"/>
            <a:ext cx="596481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{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 ==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 &amp;&amp;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		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 ==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)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	{      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free</a:t>
            </a:r>
            <a:r>
              <a:rPr lang="en-IN" sz="2000" dirty="0">
                <a:latin typeface="Consolas" panose="020B0609020204030204" pitchFamily="49" charset="0"/>
              </a:rPr>
              <a:t>(root);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   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;  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       }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B3218A-4E1D-49E1-C592-F8A41B3833C5}"/>
              </a:ext>
            </a:extLst>
          </p:cNvPr>
          <p:cNvSpPr/>
          <p:nvPr/>
        </p:nvSpPr>
        <p:spPr>
          <a:xfrm>
            <a:off x="221282" y="2384612"/>
            <a:ext cx="11698938" cy="246568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127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3EA89-8037-ED82-4E0F-295BC5CF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22F5038-C36E-A3EA-EC43-226AB8BEE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Delete Node from BST(continued)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4E9E557-55AC-F440-676B-A981CF765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125427" cy="5590565"/>
          </a:xfrm>
        </p:spPr>
        <p:txBody>
          <a:bodyPr/>
          <a:lstStyle/>
          <a:p>
            <a:pPr marL="0" indent="0">
              <a:buNone/>
            </a:pPr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[Case 2: Node with One Right Child]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(root) =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chemeClr val="accent3"/>
                </a:solidFill>
                <a:latin typeface="Consolas" panose="020B0609020204030204" pitchFamily="49" charset="0"/>
              </a:rPr>
              <a:t>temp</a:t>
            </a:r>
            <a:r>
              <a:rPr lang="en-IN" sz="2000" dirty="0">
                <a:latin typeface="Consolas" panose="020B0609020204030204" pitchFamily="49" charset="0"/>
              </a:rPr>
              <a:t> ←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Free(</a:t>
            </a:r>
            <a:r>
              <a:rPr lang="en-IN" sz="2000" dirty="0">
                <a:latin typeface="Consolas" panose="020B0609020204030204" pitchFamily="49" charset="0"/>
              </a:rPr>
              <a:t>root)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3"/>
                </a:solidFill>
                <a:latin typeface="Consolas" panose="020B0609020204030204" pitchFamily="49" charset="0"/>
              </a:rPr>
              <a:t>temp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D291CDE-B88F-F1C0-1A7D-3B2423135306}"/>
              </a:ext>
            </a:extLst>
          </p:cNvPr>
          <p:cNvSpPr txBox="1">
            <a:spLocks/>
          </p:cNvSpPr>
          <p:nvPr/>
        </p:nvSpPr>
        <p:spPr>
          <a:xfrm>
            <a:off x="622718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75807-57F7-8B62-EC74-77933D9F7CF8}"/>
              </a:ext>
            </a:extLst>
          </p:cNvPr>
          <p:cNvSpPr txBox="1"/>
          <p:nvPr/>
        </p:nvSpPr>
        <p:spPr>
          <a:xfrm>
            <a:off x="5516584" y="813390"/>
            <a:ext cx="690520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 ==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)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{                        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    </a:t>
            </a:r>
          </a:p>
          <a:p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	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</a:t>
            </a:r>
            <a:r>
              <a:rPr lang="en-IN" sz="2000" dirty="0">
                <a:solidFill>
                  <a:schemeClr val="accent3"/>
                </a:solidFill>
                <a:latin typeface="Consolas" panose="020B0609020204030204" pitchFamily="49" charset="0"/>
              </a:rPr>
              <a:t>temp</a:t>
            </a:r>
            <a:r>
              <a:rPr lang="en-IN" sz="2000" dirty="0">
                <a:latin typeface="Consolas" panose="020B0609020204030204" pitchFamily="49" charset="0"/>
              </a:rPr>
              <a:t> =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	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IN" sz="2000" dirty="0">
                <a:latin typeface="Consolas" panose="020B0609020204030204" pitchFamily="49" charset="0"/>
              </a:rPr>
              <a:t>(root);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	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3"/>
                </a:solidFill>
                <a:latin typeface="Consolas" panose="020B0609020204030204" pitchFamily="49" charset="0"/>
              </a:rPr>
              <a:t>temp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}      </a:t>
            </a:r>
          </a:p>
          <a:p>
            <a:endParaRPr lang="en-IN" sz="2000" dirty="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8FC475-3D2B-0CE7-6BC0-D52EAA6FC597}"/>
              </a:ext>
            </a:extLst>
          </p:cNvPr>
          <p:cNvSpPr/>
          <p:nvPr/>
        </p:nvSpPr>
        <p:spPr>
          <a:xfrm>
            <a:off x="221282" y="2435936"/>
            <a:ext cx="11779623" cy="255494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224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1BE88-A0B2-D9AD-0196-4B737D4AE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25CF87E-61EE-FC6B-D71E-4CC221A23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Delete Node from BST(continued)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7842F5-ED8E-2203-3032-CF44B96A5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590565"/>
          </a:xfrm>
        </p:spPr>
        <p:txBody>
          <a:bodyPr/>
          <a:lstStyle/>
          <a:p>
            <a:pPr marL="0" indent="0">
              <a:buNone/>
            </a:pPr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[Case 3: Node with One Left Child]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(root) =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sz="2000" dirty="0">
                <a:latin typeface="Consolas" panose="020B0609020204030204" pitchFamily="49" charset="0"/>
              </a:rPr>
              <a:t> ←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IN" sz="20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190D05-2B4E-05B0-942B-EB2B2C1583E6}"/>
              </a:ext>
            </a:extLst>
          </p:cNvPr>
          <p:cNvSpPr txBox="1">
            <a:spLocks/>
          </p:cNvSpPr>
          <p:nvPr/>
        </p:nvSpPr>
        <p:spPr>
          <a:xfrm>
            <a:off x="622718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7AE554-01D4-15F3-231F-21EEBA4CF355}"/>
              </a:ext>
            </a:extLst>
          </p:cNvPr>
          <p:cNvSpPr txBox="1"/>
          <p:nvPr/>
        </p:nvSpPr>
        <p:spPr>
          <a:xfrm>
            <a:off x="6227180" y="813390"/>
            <a:ext cx="619461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 ==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)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{  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              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</a:t>
            </a:r>
            <a:r>
              <a:rPr lang="en-IN" sz="2000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sz="2000" dirty="0">
                <a:latin typeface="Consolas" panose="020B0609020204030204" pitchFamily="49" charset="0"/>
              </a:rPr>
              <a:t> =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IN" sz="2000" dirty="0">
                <a:latin typeface="Consolas" panose="020B0609020204030204" pitchFamily="49" charset="0"/>
              </a:rPr>
              <a:t>(root);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}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57E149-02FB-1751-6F16-6A07CF9F7648}"/>
              </a:ext>
            </a:extLst>
          </p:cNvPr>
          <p:cNvSpPr/>
          <p:nvPr/>
        </p:nvSpPr>
        <p:spPr>
          <a:xfrm>
            <a:off x="221282" y="2026025"/>
            <a:ext cx="11779623" cy="272527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165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1DAB5-7013-8B4B-4125-134B9A34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B207E68-DA5E-3448-1FEA-BB92A13BA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Delete Node from BST(continued)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A252B28-6289-52A1-15CD-84BF7194A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590565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IN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[Case 4: Node with Two Children]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92D050"/>
                </a:solidFill>
                <a:latin typeface="Consolas" panose="020B0609020204030204" pitchFamily="49" charset="0"/>
              </a:rPr>
              <a:t> in</a:t>
            </a:r>
            <a:r>
              <a:rPr lang="en-IN" sz="2000" dirty="0">
                <a:latin typeface="Consolas" panose="020B0609020204030204" pitchFamily="49" charset="0"/>
              </a:rPr>
              <a:t> ← 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getInOrderSuccessor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(root))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(in) ←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sz="1800" dirty="0">
                <a:latin typeface="Consolas" panose="020B0609020204030204" pitchFamily="49" charset="0"/>
              </a:rPr>
              <a:t> ← 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18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IN" sz="18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endParaRPr lang="en-IN" sz="2000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 [Return Updated Tree]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 Return</a:t>
            </a:r>
            <a:r>
              <a:rPr lang="en-IN" sz="2000" dirty="0">
                <a:latin typeface="Consolas" panose="020B0609020204030204" pitchFamily="49" charset="0"/>
              </a:rPr>
              <a:t> root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9E1D5F7-25C5-C528-7EEC-52F8CCAE0EF8}"/>
              </a:ext>
            </a:extLst>
          </p:cNvPr>
          <p:cNvSpPr txBox="1">
            <a:spLocks/>
          </p:cNvSpPr>
          <p:nvPr/>
        </p:nvSpPr>
        <p:spPr>
          <a:xfrm>
            <a:off x="6227180" y="876143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IN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B128AF-30B8-C376-E158-6A01AF7EFDB1}"/>
              </a:ext>
            </a:extLst>
          </p:cNvPr>
          <p:cNvSpPr txBox="1"/>
          <p:nvPr/>
        </p:nvSpPr>
        <p:spPr>
          <a:xfrm>
            <a:off x="6214924" y="813390"/>
            <a:ext cx="62068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{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    </a:t>
            </a:r>
          </a:p>
          <a:p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    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</a:t>
            </a:r>
            <a:r>
              <a:rPr lang="en-IN" sz="2000" dirty="0">
                <a:solidFill>
                  <a:schemeClr val="accent3"/>
                </a:solidFill>
                <a:latin typeface="Consolas" panose="020B0609020204030204" pitchFamily="49" charset="0"/>
              </a:rPr>
              <a:t>in</a:t>
            </a:r>
            <a:r>
              <a:rPr lang="en-IN" sz="2000" dirty="0">
                <a:latin typeface="Consolas" panose="020B0609020204030204" pitchFamily="49" charset="0"/>
              </a:rPr>
              <a:t> =           	</a:t>
            </a: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getInOrderSuccessor</a:t>
            </a:r>
            <a:r>
              <a:rPr lang="en-IN" sz="2000" dirty="0">
                <a:latin typeface="Consolas" panose="020B0609020204030204" pitchFamily="49" charset="0"/>
              </a:rPr>
              <a:t>(root-&gt;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latin typeface="Consolas" panose="020B0609020204030204" pitchFamily="49" charset="0"/>
              </a:rPr>
              <a:t>);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	in-&gt;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= root-&gt; 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    </a:t>
            </a:r>
          </a:p>
          <a:p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GB" sz="2000" dirty="0"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000" dirty="0">
                <a:latin typeface="Consolas" panose="020B0609020204030204" pitchFamily="49" charset="0"/>
              </a:rPr>
              <a:t>* </a:t>
            </a:r>
            <a:r>
              <a:rPr lang="en-GB" sz="2000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GB" sz="2000" dirty="0">
                <a:latin typeface="Consolas" panose="020B0609020204030204" pitchFamily="49" charset="0"/>
              </a:rPr>
              <a:t> = root-&gt;</a:t>
            </a:r>
            <a:r>
              <a:rPr lang="en-GB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GB" sz="2000" dirty="0">
                <a:latin typeface="Consolas" panose="020B0609020204030204" pitchFamily="49" charset="0"/>
              </a:rPr>
              <a:t>;</a:t>
            </a:r>
          </a:p>
          <a:p>
            <a:r>
              <a:rPr lang="en-GB" sz="2000" dirty="0">
                <a:latin typeface="Consolas" panose="020B0609020204030204" pitchFamily="49" charset="0"/>
              </a:rPr>
              <a:t>    	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GB" sz="2000" dirty="0">
                <a:latin typeface="Consolas" panose="020B0609020204030204" pitchFamily="49" charset="0"/>
              </a:rPr>
              <a:t>(root);   </a:t>
            </a:r>
          </a:p>
          <a:p>
            <a:r>
              <a:rPr lang="en-GB" sz="2000" dirty="0">
                <a:latin typeface="Consolas" panose="020B0609020204030204" pitchFamily="49" charset="0"/>
              </a:rPr>
              <a:t> 	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2000" dirty="0"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GB" sz="2000" dirty="0">
                <a:latin typeface="Consolas" panose="020B0609020204030204" pitchFamily="49" charset="0"/>
              </a:rPr>
              <a:t>;</a:t>
            </a:r>
            <a:r>
              <a:rPr lang="en-IN" sz="2000" dirty="0">
                <a:latin typeface="Consolas" panose="020B0609020204030204" pitchFamily="49" charset="0"/>
              </a:rPr>
              <a:t>       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}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        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       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root;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}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CA456F-C01D-7D6C-F975-6D663D46CDF1}"/>
              </a:ext>
            </a:extLst>
          </p:cNvPr>
          <p:cNvSpPr/>
          <p:nvPr/>
        </p:nvSpPr>
        <p:spPr>
          <a:xfrm>
            <a:off x="221282" y="1622614"/>
            <a:ext cx="11779623" cy="806822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FDD98B-E354-63B7-F93F-8D0DD8E1D690}"/>
              </a:ext>
            </a:extLst>
          </p:cNvPr>
          <p:cNvSpPr/>
          <p:nvPr/>
        </p:nvSpPr>
        <p:spPr>
          <a:xfrm>
            <a:off x="216345" y="2489791"/>
            <a:ext cx="11779623" cy="62204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682C87-F939-3C2D-1C35-6ED8714ECE20}"/>
              </a:ext>
            </a:extLst>
          </p:cNvPr>
          <p:cNvSpPr/>
          <p:nvPr/>
        </p:nvSpPr>
        <p:spPr>
          <a:xfrm>
            <a:off x="236374" y="4830073"/>
            <a:ext cx="11779623" cy="158485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78A804-0136-5C0A-5E81-320E27D935DF}"/>
              </a:ext>
            </a:extLst>
          </p:cNvPr>
          <p:cNvSpPr/>
          <p:nvPr/>
        </p:nvSpPr>
        <p:spPr>
          <a:xfrm>
            <a:off x="216345" y="3164541"/>
            <a:ext cx="11779623" cy="131702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59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151CE-53A5-75ED-009D-E7C59B27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DEF08B-57D7-8396-EE1A-DFE06AC2F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Get Inorder Successor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31CF3F-2099-4E1A-1C87-E761363FC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803454" cy="5590565"/>
          </a:xfrm>
        </p:spPr>
        <p:txBody>
          <a:bodyPr/>
          <a:lstStyle/>
          <a:p>
            <a:r>
              <a:rPr lang="en-IN" dirty="0"/>
              <a:t>ALGORITHM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sz="2000" dirty="0">
                <a:latin typeface="Consolas" panose="020B0609020204030204" pitchFamily="49" charset="0"/>
              </a:rPr>
              <a:t> root = 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</a:rPr>
              <a:t>    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 NULL</a:t>
            </a:r>
          </a:p>
          <a:p>
            <a:pPr marL="0" indent="0">
              <a:buNone/>
            </a:pPr>
            <a:endParaRPr lang="en-GB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[Traverse to the Leftmost Node]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WHILE</a:t>
            </a:r>
            <a:r>
              <a:rPr lang="en-GB" sz="2000" dirty="0">
                <a:latin typeface="Consolas" panose="020B0609020204030204" pitchFamily="49" charset="0"/>
              </a:rPr>
              <a:t> root ≠ 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GB" sz="2000" dirty="0">
                <a:latin typeface="Consolas" panose="020B0609020204030204" pitchFamily="49" charset="0"/>
              </a:rPr>
              <a:t> AND </a:t>
            </a:r>
            <a:r>
              <a:rPr lang="en-GB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2000" dirty="0">
                <a:latin typeface="Consolas" panose="020B0609020204030204" pitchFamily="49" charset="0"/>
              </a:rPr>
              <a:t>(root) ≠ </a:t>
            </a: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DO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</a:rPr>
              <a:t>    root ← </a:t>
            </a:r>
            <a:r>
              <a:rPr lang="en-GB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sz="2000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endParaRPr lang="en-GB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[Return</a:t>
            </a:r>
            <a:r>
              <a:rPr lang="en-GB" sz="2000" b="1" dirty="0"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Inorder Successor]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sz="2000" dirty="0">
                <a:latin typeface="Consolas" panose="020B0609020204030204" pitchFamily="49" charset="0"/>
              </a:rPr>
              <a:t> root</a:t>
            </a:r>
            <a:endParaRPr lang="en-IN" sz="2000" dirty="0">
              <a:latin typeface="Consolas" panose="020B060902020403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8D64C62-6D36-EB4C-D1D1-2190A9F8660C}"/>
              </a:ext>
            </a:extLst>
          </p:cNvPr>
          <p:cNvSpPr txBox="1">
            <a:spLocks/>
          </p:cNvSpPr>
          <p:nvPr/>
        </p:nvSpPr>
        <p:spPr>
          <a:xfrm>
            <a:off x="5934635" y="876144"/>
            <a:ext cx="602757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CODE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getInOrderSuccessor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2000" dirty="0">
                <a:latin typeface="Consolas" panose="020B0609020204030204" pitchFamily="49" charset="0"/>
              </a:rPr>
              <a:t>* root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{      </a:t>
            </a:r>
            <a:br>
              <a:rPr lang="en-IN" sz="2000" dirty="0">
                <a:latin typeface="Consolas" panose="020B0609020204030204" pitchFamily="49" charset="0"/>
              </a:rPr>
            </a:b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while</a:t>
            </a:r>
            <a:r>
              <a:rPr lang="en-IN" sz="2000" dirty="0">
                <a:latin typeface="Consolas" panose="020B0609020204030204" pitchFamily="49" charset="0"/>
              </a:rPr>
              <a:t>(root !=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IN" sz="2000" dirty="0">
                <a:latin typeface="Consolas" panose="020B0609020204030204" pitchFamily="49" charset="0"/>
              </a:rPr>
              <a:t>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 !=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    root = root-&gt;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	}</a:t>
            </a: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    </a:t>
            </a:r>
            <a:r>
              <a:rPr lang="en-IN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2000" dirty="0">
                <a:latin typeface="Consolas" panose="020B0609020204030204" pitchFamily="49" charset="0"/>
              </a:rPr>
              <a:t> root;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15677-30C2-A237-491E-74B5BFADFC5F}"/>
              </a:ext>
            </a:extLst>
          </p:cNvPr>
          <p:cNvSpPr/>
          <p:nvPr/>
        </p:nvSpPr>
        <p:spPr>
          <a:xfrm>
            <a:off x="161366" y="3074894"/>
            <a:ext cx="11839540" cy="200809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4EF749-7BBA-97FF-1221-B7FAC47DE64D}"/>
              </a:ext>
            </a:extLst>
          </p:cNvPr>
          <p:cNvSpPr/>
          <p:nvPr/>
        </p:nvSpPr>
        <p:spPr>
          <a:xfrm>
            <a:off x="161364" y="5247929"/>
            <a:ext cx="11779623" cy="121877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458168-A7EB-7951-2267-9E134E1D7342}"/>
              </a:ext>
            </a:extLst>
          </p:cNvPr>
          <p:cNvSpPr/>
          <p:nvPr/>
        </p:nvSpPr>
        <p:spPr>
          <a:xfrm>
            <a:off x="161364" y="1317812"/>
            <a:ext cx="11839540" cy="152400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276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Pradyumansinh</a:t>
            </a:r>
            <a:r>
              <a:rPr lang="en-IN" dirty="0"/>
              <a:t> </a:t>
            </a:r>
            <a:r>
              <a:rPr lang="en-IN" dirty="0" err="1"/>
              <a:t>Jadeja</a:t>
            </a:r>
            <a:endParaRPr lang="en-IN" dirty="0"/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25292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6511</TotalTime>
  <Words>795</Words>
  <Application>Microsoft Office PowerPoint</Application>
  <PresentationFormat>Widescreen</PresentationFormat>
  <Paragraphs>219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Roboto Condensed</vt:lpstr>
      <vt:lpstr>Calibri</vt:lpstr>
      <vt:lpstr>Arial</vt:lpstr>
      <vt:lpstr>Roboto Condensed Light</vt:lpstr>
      <vt:lpstr>Wingdings 3</vt:lpstr>
      <vt:lpstr>Consolas</vt:lpstr>
      <vt:lpstr>Wingdings</vt:lpstr>
      <vt:lpstr>Office Theme</vt:lpstr>
      <vt:lpstr>Tree from Scratch Data Structure</vt:lpstr>
      <vt:lpstr>TreeNode Structure</vt:lpstr>
      <vt:lpstr>Delete Node from BST</vt:lpstr>
      <vt:lpstr>Delete Node from BST(continued)</vt:lpstr>
      <vt:lpstr>Delete Node from BST(continued)</vt:lpstr>
      <vt:lpstr>Delete Node from BST(continued)</vt:lpstr>
      <vt:lpstr>Delete Node from BST(continued)</vt:lpstr>
      <vt:lpstr>Delete Node from BST(continued)</vt:lpstr>
      <vt:lpstr>Get Inorder Successor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 - Linear Data Structure</dc:title>
  <dc:creator>ADMIN</dc:creator>
  <cp:keywords>Linked List, Data Structure, Darshan Institute of Engineering &amp; Technology, DIET</cp:keywords>
  <cp:lastModifiedBy>Mohit Saraya</cp:lastModifiedBy>
  <cp:revision>1088</cp:revision>
  <dcterms:created xsi:type="dcterms:W3CDTF">2020-05-01T05:09:15Z</dcterms:created>
  <dcterms:modified xsi:type="dcterms:W3CDTF">2026-08-16T09:07:36Z</dcterms:modified>
</cp:coreProperties>
</file>