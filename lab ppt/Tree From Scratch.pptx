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3" r:id="rId2"/>
    <p:sldId id="435" r:id="rId3"/>
    <p:sldId id="454" r:id="rId4"/>
    <p:sldId id="446" r:id="rId5"/>
    <p:sldId id="448" r:id="rId6"/>
    <p:sldId id="423" r:id="rId7"/>
    <p:sldId id="451" r:id="rId8"/>
    <p:sldId id="449" r:id="rId9"/>
    <p:sldId id="445" r:id="rId10"/>
    <p:sldId id="450" r:id="rId11"/>
    <p:sldId id="452" r:id="rId12"/>
    <p:sldId id="453" r:id="rId13"/>
    <p:sldId id="444" r:id="rId14"/>
    <p:sldId id="436" r:id="rId15"/>
    <p:sldId id="437" r:id="rId16"/>
    <p:sldId id="366" r:id="rId17"/>
  </p:sldIdLst>
  <p:sldSz cx="12192000" cy="6858000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Roboto Condensed" panose="02000000000000000000" pitchFamily="2" charset="0"/>
      <p:regular r:id="rId24"/>
      <p:bold r:id="rId25"/>
      <p:italic r:id="rId26"/>
      <p:boldItalic r:id="rId27"/>
    </p:embeddedFont>
    <p:embeddedFont>
      <p:font typeface="Roboto Condensed Light" panose="02000000000000000000" pitchFamily="2" charset="0"/>
      <p:regular r:id="rId28"/>
      <p:italic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0000"/>
    <a:srgbClr val="F54337"/>
    <a:srgbClr val="ED524F"/>
    <a:srgbClr val="B84742"/>
    <a:srgbClr val="2FA0AE"/>
    <a:srgbClr val="558ED5"/>
    <a:srgbClr val="1D3064"/>
    <a:srgbClr val="3366FF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03" autoAdjust="0"/>
    <p:restoredTop sz="96370" autoAdjust="0"/>
  </p:normalViewPr>
  <p:slideViewPr>
    <p:cSldViewPr snapToGrid="0">
      <p:cViewPr varScale="1">
        <p:scale>
          <a:sx n="85" d="100"/>
          <a:sy n="85" d="100"/>
        </p:scale>
        <p:origin x="76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853" y="2673461"/>
            <a:ext cx="4818221" cy="145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 userDrawn="1"/>
        </p:nvGrpSpPr>
        <p:grpSpPr>
          <a:xfrm>
            <a:off x="9716596" y="886592"/>
            <a:ext cx="2554142" cy="587454"/>
            <a:chOff x="9424496" y="861192"/>
            <a:chExt cx="2554142" cy="58745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80" y="9015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7239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6000" dirty="0"/>
              <a:t>Tree from Scratch</a:t>
            </a:r>
            <a:br>
              <a:rPr lang="en-US" sz="6000" dirty="0"/>
            </a:br>
            <a:r>
              <a:rPr lang="en-US" sz="6000" b="0" dirty="0"/>
              <a:t>Data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82DE4A-774B-8DD8-3FC4-4107241F4742}"/>
              </a:ext>
            </a:extLst>
          </p:cNvPr>
          <p:cNvSpPr/>
          <p:nvPr/>
        </p:nvSpPr>
        <p:spPr>
          <a:xfrm>
            <a:off x="535855" y="1658471"/>
            <a:ext cx="5504328" cy="3541058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85AE3-EA49-73C8-B52B-98AA32FE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TreeNode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4002-5B13-0A31-5981-B9CCC9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r>
              <a:rPr lang="en-GB" sz="2800" dirty="0"/>
              <a:t>C structure to represent a node 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E727F-4506-C476-E3E5-5722269CEC34}"/>
              </a:ext>
            </a:extLst>
          </p:cNvPr>
          <p:cNvSpPr txBox="1"/>
          <p:nvPr/>
        </p:nvSpPr>
        <p:spPr>
          <a:xfrm>
            <a:off x="533899" y="1825042"/>
            <a:ext cx="550823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{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GB" sz="2800" b="1" dirty="0">
                <a:latin typeface="Consolas" panose="020B0609020204030204" pitchFamily="49" charset="0"/>
              </a:rPr>
              <a:t> data;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left;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right;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};</a:t>
            </a:r>
          </a:p>
          <a:p>
            <a:endParaRPr lang="en-IN" sz="2800" b="1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3F15-7920-FAA2-15C3-DD918F5A43CD}"/>
              </a:ext>
            </a:extLst>
          </p:cNvPr>
          <p:cNvSpPr txBox="1">
            <a:spLocks/>
          </p:cNvSpPr>
          <p:nvPr/>
        </p:nvSpPr>
        <p:spPr>
          <a:xfrm>
            <a:off x="6096000" y="794267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B225A-8285-20C0-CA1E-B22FA905E043}"/>
              </a:ext>
            </a:extLst>
          </p:cNvPr>
          <p:cNvSpPr/>
          <p:nvPr/>
        </p:nvSpPr>
        <p:spPr>
          <a:xfrm>
            <a:off x="6476547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left</a:t>
            </a:r>
            <a:endParaRPr lang="en-US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8E8BB-1C84-73A8-4C09-C1A6130529C3}"/>
              </a:ext>
            </a:extLst>
          </p:cNvPr>
          <p:cNvSpPr/>
          <p:nvPr/>
        </p:nvSpPr>
        <p:spPr>
          <a:xfrm>
            <a:off x="8167730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data</a:t>
            </a:r>
            <a:endParaRPr lang="en-US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449BC-CDB9-5766-8795-88E34B71474D}"/>
              </a:ext>
            </a:extLst>
          </p:cNvPr>
          <p:cNvSpPr/>
          <p:nvPr/>
        </p:nvSpPr>
        <p:spPr>
          <a:xfrm>
            <a:off x="9243853" y="245767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right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0512F-4969-0B7D-0EC1-02FCD1B2D275}"/>
              </a:ext>
            </a:extLst>
          </p:cNvPr>
          <p:cNvSpPr txBox="1"/>
          <p:nvPr/>
        </p:nvSpPr>
        <p:spPr>
          <a:xfrm>
            <a:off x="6364914" y="1891576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392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3908-EB79-A97F-9AE5-F765E9133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Hardcoded Tree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C9D760-C800-E250-AE23-CDC5ACF7F286}"/>
              </a:ext>
            </a:extLst>
          </p:cNvPr>
          <p:cNvSpPr/>
          <p:nvPr/>
        </p:nvSpPr>
        <p:spPr>
          <a:xfrm>
            <a:off x="3402106" y="1086224"/>
            <a:ext cx="887506" cy="87854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9EAD51-484A-6466-6642-331A8063CDC2}"/>
              </a:ext>
            </a:extLst>
          </p:cNvPr>
          <p:cNvSpPr/>
          <p:nvPr/>
        </p:nvSpPr>
        <p:spPr>
          <a:xfrm>
            <a:off x="1770529" y="2270730"/>
            <a:ext cx="887506" cy="87854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>
                  <a:solidFill>
                    <a:schemeClr val="bg1"/>
                  </a:solidFill>
                </a:ln>
              </a:rPr>
              <a:t>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93CE26-9FC1-6495-7389-F43BC0B2D3EB}"/>
              </a:ext>
            </a:extLst>
          </p:cNvPr>
          <p:cNvSpPr/>
          <p:nvPr/>
        </p:nvSpPr>
        <p:spPr>
          <a:xfrm>
            <a:off x="5132275" y="2211130"/>
            <a:ext cx="887506" cy="87854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>
                  <a:solidFill>
                    <a:schemeClr val="bg1"/>
                  </a:solidFill>
                </a:ln>
              </a:rPr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90FC8B-91B9-8E60-BB5D-EABB1531731C}"/>
              </a:ext>
            </a:extLst>
          </p:cNvPr>
          <p:cNvSpPr/>
          <p:nvPr/>
        </p:nvSpPr>
        <p:spPr>
          <a:xfrm>
            <a:off x="667889" y="3691963"/>
            <a:ext cx="887506" cy="87854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>
                  <a:solidFill>
                    <a:schemeClr val="bg1"/>
                  </a:solidFill>
                </a:ln>
              </a:rPr>
              <a:t>25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10C1D9-C874-4B3D-BC96-C5CF6AB4B95C}"/>
              </a:ext>
            </a:extLst>
          </p:cNvPr>
          <p:cNvSpPr/>
          <p:nvPr/>
        </p:nvSpPr>
        <p:spPr>
          <a:xfrm>
            <a:off x="2935941" y="3629210"/>
            <a:ext cx="887506" cy="87854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>
                  <a:solidFill>
                    <a:schemeClr val="bg1"/>
                  </a:solidFill>
                </a:ln>
              </a:rPr>
              <a:t>13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502971-E14E-F03C-DC05-5661665E71B1}"/>
              </a:ext>
            </a:extLst>
          </p:cNvPr>
          <p:cNvSpPr/>
          <p:nvPr/>
        </p:nvSpPr>
        <p:spPr>
          <a:xfrm>
            <a:off x="3989292" y="3629210"/>
            <a:ext cx="887506" cy="87854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>
                  <a:solidFill>
                    <a:schemeClr val="bg1"/>
                  </a:solidFill>
                </a:ln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9D6167-C420-BDB9-B489-76C574B48285}"/>
              </a:ext>
            </a:extLst>
          </p:cNvPr>
          <p:cNvSpPr/>
          <p:nvPr/>
        </p:nvSpPr>
        <p:spPr>
          <a:xfrm>
            <a:off x="6257344" y="3629209"/>
            <a:ext cx="887506" cy="87854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>
                  <a:solidFill>
                    <a:schemeClr val="bg1"/>
                  </a:solidFill>
                </a:ln>
              </a:rPr>
              <a:t>9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83D4DD-FDE8-0464-E68B-E560CCAB27F6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528063" y="1836106"/>
            <a:ext cx="1004015" cy="5632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2284E3-E056-DCF9-E926-CD856CE176A4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1111642" y="3020612"/>
            <a:ext cx="788859" cy="67135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8EC546-DF5E-E3E2-8BA2-132ABA6DEB6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4433045" y="2961012"/>
            <a:ext cx="829202" cy="66819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DEA1E1-1390-92C8-D076-65A2E40F13A2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2528063" y="3020612"/>
            <a:ext cx="851631" cy="60859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C4F1D8-A9DA-C8FB-6378-42BB5E9B6DCC}"/>
              </a:ext>
            </a:extLst>
          </p:cNvPr>
          <p:cNvCxnSpPr>
            <a:cxnSpLocks/>
            <a:stCxn id="6" idx="5"/>
            <a:endCxn id="10" idx="0"/>
          </p:cNvCxnSpPr>
          <p:nvPr/>
        </p:nvCxnSpPr>
        <p:spPr>
          <a:xfrm>
            <a:off x="5889809" y="2961012"/>
            <a:ext cx="811288" cy="66819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9D530DB-C123-A863-BC02-7E5923526B55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4159640" y="1836106"/>
            <a:ext cx="1102607" cy="5036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035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44B8-E747-1E93-77A8-83BE85EE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2877-26AE-C8B8-E80F-6CE5519C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Hardcoded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81C9-68AB-23B2-B0C4-4B84C0690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[Create Root Node]</a:t>
            </a:r>
          </a:p>
          <a:p>
            <a:pPr marL="0" indent="0">
              <a:buNone/>
            </a:pPr>
            <a:r>
              <a:rPr lang="en-IN" dirty="0"/>
              <a:t>node12 ←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createNode</a:t>
            </a:r>
            <a:r>
              <a:rPr lang="en-IN" dirty="0"/>
              <a:t>(12)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[Create Remaining Nodes]</a:t>
            </a:r>
          </a:p>
          <a:p>
            <a:pPr marL="0" indent="0">
              <a:buNone/>
            </a:pPr>
            <a:r>
              <a:rPr lang="en-IN" dirty="0"/>
              <a:t>node8  ←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createNode</a:t>
            </a:r>
            <a:r>
              <a:rPr lang="en-IN" dirty="0"/>
              <a:t>(8)</a:t>
            </a:r>
          </a:p>
          <a:p>
            <a:pPr marL="0" indent="0">
              <a:buNone/>
            </a:pPr>
            <a:r>
              <a:rPr lang="en-IN" dirty="0"/>
              <a:t>node5  ←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createNode</a:t>
            </a:r>
            <a:r>
              <a:rPr lang="en-IN" dirty="0"/>
              <a:t>(5)</a:t>
            </a:r>
          </a:p>
          <a:p>
            <a:pPr marL="0" indent="0">
              <a:buNone/>
            </a:pPr>
            <a:r>
              <a:rPr lang="en-IN" dirty="0"/>
              <a:t>node25 ←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createNode</a:t>
            </a:r>
            <a:r>
              <a:rPr lang="en-IN" dirty="0"/>
              <a:t>(25)</a:t>
            </a:r>
          </a:p>
          <a:p>
            <a:pPr marL="0" indent="0">
              <a:buNone/>
            </a:pPr>
            <a:r>
              <a:rPr lang="en-IN" dirty="0"/>
              <a:t>node13 ←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createNode</a:t>
            </a:r>
            <a:r>
              <a:rPr lang="en-IN" dirty="0"/>
              <a:t>(13)</a:t>
            </a:r>
          </a:p>
          <a:p>
            <a:pPr marL="0" indent="0">
              <a:buNone/>
            </a:pPr>
            <a:r>
              <a:rPr lang="en-IN" dirty="0"/>
              <a:t>node6  ←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createNode</a:t>
            </a:r>
            <a:r>
              <a:rPr lang="en-IN" dirty="0"/>
              <a:t>(6)</a:t>
            </a:r>
          </a:p>
          <a:p>
            <a:pPr marL="0" indent="0">
              <a:buNone/>
            </a:pPr>
            <a:r>
              <a:rPr lang="en-IN" dirty="0"/>
              <a:t>node4  ←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createNode</a:t>
            </a:r>
            <a:r>
              <a:rPr lang="en-IN" dirty="0"/>
              <a:t>(4)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B336A6-47A7-F574-8DF9-75EA2E2A95DB}"/>
              </a:ext>
            </a:extLst>
          </p:cNvPr>
          <p:cNvSpPr txBox="1">
            <a:spLocks/>
          </p:cNvSpPr>
          <p:nvPr/>
        </p:nvSpPr>
        <p:spPr>
          <a:xfrm>
            <a:off x="6096000" y="876144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CODE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node12 =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(12);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node8 =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(8);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node5 =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(5);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node25 =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(25);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node13 =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(13);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node6 =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(6);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node4 =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(4);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4289A7-5973-DB7C-4E6E-EEDEA6B4AD31}"/>
              </a:ext>
            </a:extLst>
          </p:cNvPr>
          <p:cNvSpPr/>
          <p:nvPr/>
        </p:nvSpPr>
        <p:spPr>
          <a:xfrm>
            <a:off x="206190" y="1281953"/>
            <a:ext cx="11779623" cy="111743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E20B46-D23C-76DA-694C-77C231280435}"/>
              </a:ext>
            </a:extLst>
          </p:cNvPr>
          <p:cNvSpPr/>
          <p:nvPr/>
        </p:nvSpPr>
        <p:spPr>
          <a:xfrm>
            <a:off x="206190" y="3112709"/>
            <a:ext cx="11779623" cy="272331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007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72F5-AEFD-5E2D-A1B1-D585744B2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6D71-7D19-84D0-3315-506874DD6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Hardcoded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2EBC4-52F9-3299-1948-EC335F4B9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[Assign Left and Right Links]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left</a:t>
            </a:r>
            <a:r>
              <a:rPr lang="en-IN" dirty="0"/>
              <a:t>(node12)  ← node8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right</a:t>
            </a:r>
            <a:r>
              <a:rPr lang="en-IN" dirty="0"/>
              <a:t>(node12) ← node5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left</a:t>
            </a:r>
            <a:r>
              <a:rPr lang="en-IN" dirty="0"/>
              <a:t>(node8)  ← node25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right</a:t>
            </a:r>
            <a:r>
              <a:rPr lang="en-IN" dirty="0"/>
              <a:t>(node8) ← node13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left</a:t>
            </a:r>
            <a:r>
              <a:rPr lang="en-IN" dirty="0"/>
              <a:t>(node5)  ← node6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right</a:t>
            </a:r>
            <a:r>
              <a:rPr lang="en-IN" dirty="0"/>
              <a:t>(node5) ← node4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C6B29C-AEAD-8052-A22B-A24C8003B692}"/>
              </a:ext>
            </a:extLst>
          </p:cNvPr>
          <p:cNvSpPr txBox="1">
            <a:spLocks/>
          </p:cNvSpPr>
          <p:nvPr/>
        </p:nvSpPr>
        <p:spPr>
          <a:xfrm>
            <a:off x="6096000" y="876144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node12&gt;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 node8;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node12&gt;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 node5;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node8-&gt;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 node25;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node8-&gt;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 node13;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node5-&gt;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 node6;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node5-&gt;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 node4;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49E9E0-D8E1-362A-DD73-FCEF4FF339AB}"/>
              </a:ext>
            </a:extLst>
          </p:cNvPr>
          <p:cNvSpPr/>
          <p:nvPr/>
        </p:nvSpPr>
        <p:spPr>
          <a:xfrm>
            <a:off x="206187" y="1272989"/>
            <a:ext cx="11779623" cy="398032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6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[Allocate Memory]</a:t>
            </a:r>
          </a:p>
          <a:p>
            <a:pPr marL="0" indent="0">
              <a:buNone/>
            </a:pPr>
            <a:r>
              <a:rPr lang="en-IN" sz="1700" spc="-150" dirty="0">
                <a:latin typeface="Consolas" panose="020B0609020204030204" pitchFamily="49" charset="0"/>
              </a:rPr>
              <a:t>Allocate memory for a new node using </a:t>
            </a:r>
            <a:r>
              <a:rPr lang="en-IN" sz="1700" spc="-150" dirty="0">
                <a:solidFill>
                  <a:schemeClr val="tx2"/>
                </a:solidFill>
                <a:latin typeface="Consolas" panose="020B0609020204030204" pitchFamily="49" charset="0"/>
              </a:rPr>
              <a:t>malloc</a:t>
            </a:r>
            <a:r>
              <a:rPr lang="en-IN" sz="1700" spc="-150" dirty="0">
                <a:latin typeface="Consolas" panose="020B0609020204030204" pitchFamily="49" charset="0"/>
              </a:rPr>
              <a:t>().</a:t>
            </a:r>
          </a:p>
          <a:p>
            <a:pPr marL="0" indent="0">
              <a:buNone/>
            </a:pPr>
            <a:endParaRPr lang="en-IN" sz="17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[Store Data]</a:t>
            </a:r>
          </a:p>
          <a:p>
            <a:pPr marL="0" indent="0">
              <a:buNone/>
            </a:pPr>
            <a:r>
              <a:rPr lang="en-IN" sz="1700" dirty="0">
                <a:latin typeface="Consolas" panose="020B0609020204030204" pitchFamily="49" charset="0"/>
              </a:rPr>
              <a:t>     data(</a:t>
            </a:r>
            <a:r>
              <a:rPr lang="en-IN" sz="17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700" dirty="0">
                <a:latin typeface="Consolas" panose="020B0609020204030204" pitchFamily="49" charset="0"/>
              </a:rPr>
              <a:t>) ← val</a:t>
            </a:r>
          </a:p>
          <a:p>
            <a:pPr marL="0" indent="0">
              <a:buNone/>
            </a:pPr>
            <a:endParaRPr lang="en-IN" sz="17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[Initialize Left Pointer]</a:t>
            </a:r>
          </a:p>
          <a:p>
            <a:pPr marL="0" indent="0">
              <a:buNone/>
            </a:pPr>
            <a:r>
              <a:rPr lang="en-IN" sz="1700" dirty="0">
                <a:latin typeface="Consolas" panose="020B0609020204030204" pitchFamily="49" charset="0"/>
              </a:rPr>
              <a:t>        left(</a:t>
            </a:r>
            <a:r>
              <a:rPr lang="en-IN" sz="17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700" dirty="0">
                <a:latin typeface="Consolas" panose="020B0609020204030204" pitchFamily="49" charset="0"/>
              </a:rPr>
              <a:t>) ← </a:t>
            </a:r>
            <a:r>
              <a:rPr lang="en-IN" sz="17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endParaRPr lang="en-IN" sz="17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[Initialize Right Pointer]</a:t>
            </a:r>
          </a:p>
          <a:p>
            <a:pPr marL="0" indent="0">
              <a:buNone/>
            </a:pPr>
            <a:r>
              <a:rPr lang="en-IN" sz="1700" dirty="0">
                <a:latin typeface="Consolas" panose="020B0609020204030204" pitchFamily="49" charset="0"/>
              </a:rPr>
              <a:t>        right(</a:t>
            </a:r>
            <a:r>
              <a:rPr lang="en-IN" sz="17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700" dirty="0">
                <a:latin typeface="Consolas" panose="020B0609020204030204" pitchFamily="49" charset="0"/>
              </a:rPr>
              <a:t>) ← </a:t>
            </a:r>
            <a:r>
              <a:rPr lang="en-IN" sz="17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endParaRPr lang="en-IN" sz="17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  <a:latin typeface="Consolas" panose="020B0609020204030204" pitchFamily="49" charset="0"/>
              </a:rPr>
              <a:t>[Return the Node]</a:t>
            </a:r>
          </a:p>
          <a:p>
            <a:pPr marL="0" indent="0">
              <a:buNone/>
            </a:pPr>
            <a:r>
              <a:rPr lang="en-IN" sz="1700" dirty="0">
                <a:latin typeface="Consolas" panose="020B0609020204030204" pitchFamily="49" charset="0"/>
              </a:rPr>
              <a:t>        Return </a:t>
            </a:r>
            <a:r>
              <a:rPr lang="en-IN" sz="17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371E05-DAF3-570C-39F6-54C4B07854B1}"/>
              </a:ext>
            </a:extLst>
          </p:cNvPr>
          <p:cNvSpPr txBox="1">
            <a:spLocks/>
          </p:cNvSpPr>
          <p:nvPr/>
        </p:nvSpPr>
        <p:spPr>
          <a:xfrm>
            <a:off x="6095999" y="846853"/>
            <a:ext cx="5964820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800" dirty="0">
                <a:latin typeface="Consolas" panose="020B0609020204030204" pitchFamily="49" charset="0"/>
              </a:rPr>
              <a:t>*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latin typeface="Consolas" panose="020B0609020204030204" pitchFamily="49" charset="0"/>
              </a:rPr>
              <a:t> val){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600" dirty="0">
                <a:latin typeface="Consolas" panose="020B0609020204030204" pitchFamily="49" charset="0"/>
              </a:rPr>
              <a:t> = 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*)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malloc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sizeof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-</a:t>
            </a:r>
            <a:r>
              <a:rPr lang="en-IN" sz="1800" dirty="0">
                <a:latin typeface="Consolas" panose="020B0609020204030204" pitchFamily="49" charset="0"/>
              </a:rPr>
              <a:t>&gt;data = val;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newNode-</a:t>
            </a:r>
            <a:r>
              <a:rPr lang="en-IN" sz="1800" dirty="0">
                <a:latin typeface="Consolas" panose="020B0609020204030204" pitchFamily="49" charset="0"/>
              </a:rPr>
              <a:t>&gt;left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   newNode-</a:t>
            </a:r>
            <a:r>
              <a:rPr lang="en-IN" sz="1800" dirty="0">
                <a:latin typeface="Consolas" panose="020B0609020204030204" pitchFamily="49" charset="0"/>
              </a:rPr>
              <a:t>&gt;right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    return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sz="1800" dirty="0">
                <a:latin typeface="Consolas" panose="020B0609020204030204" pitchFamily="49" charset="0"/>
              </a:rPr>
              <a:t>; }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915A1-DE3D-9372-DC0D-F75E736A89DF}"/>
              </a:ext>
            </a:extLst>
          </p:cNvPr>
          <p:cNvSpPr/>
          <p:nvPr/>
        </p:nvSpPr>
        <p:spPr>
          <a:xfrm>
            <a:off x="161365" y="876143"/>
            <a:ext cx="5208494" cy="55905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40F12-A325-2FC1-0F95-0A84382EC9B2}"/>
              </a:ext>
            </a:extLst>
          </p:cNvPr>
          <p:cNvSpPr/>
          <p:nvPr/>
        </p:nvSpPr>
        <p:spPr>
          <a:xfrm>
            <a:off x="5534512" y="876142"/>
            <a:ext cx="6496123" cy="55905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6EE8E-187E-3F54-8F3E-92FD863002FF}"/>
              </a:ext>
            </a:extLst>
          </p:cNvPr>
          <p:cNvSpPr/>
          <p:nvPr/>
        </p:nvSpPr>
        <p:spPr>
          <a:xfrm>
            <a:off x="161365" y="1712259"/>
            <a:ext cx="11779623" cy="111743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CE193-73CD-219C-E959-049995C6C613}"/>
              </a:ext>
            </a:extLst>
          </p:cNvPr>
          <p:cNvSpPr/>
          <p:nvPr/>
        </p:nvSpPr>
        <p:spPr>
          <a:xfrm>
            <a:off x="221282" y="3092824"/>
            <a:ext cx="11779623" cy="5289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D9331-1CC8-DC6B-70D9-A459F8C81D04}"/>
              </a:ext>
            </a:extLst>
          </p:cNvPr>
          <p:cNvSpPr/>
          <p:nvPr/>
        </p:nvSpPr>
        <p:spPr>
          <a:xfrm>
            <a:off x="221282" y="4222377"/>
            <a:ext cx="11779623" cy="5289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DD1F81-4FED-A8FE-3ECE-41A1CC7BAC07}"/>
              </a:ext>
            </a:extLst>
          </p:cNvPr>
          <p:cNvSpPr/>
          <p:nvPr/>
        </p:nvSpPr>
        <p:spPr>
          <a:xfrm>
            <a:off x="251012" y="5145741"/>
            <a:ext cx="11779623" cy="5289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57B9E1-4B94-A44D-4D5E-E4CFC53D65C6}"/>
              </a:ext>
            </a:extLst>
          </p:cNvPr>
          <p:cNvSpPr/>
          <p:nvPr/>
        </p:nvSpPr>
        <p:spPr>
          <a:xfrm>
            <a:off x="206187" y="5937790"/>
            <a:ext cx="11779623" cy="5289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50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E307-2D21-7DCA-4C59-62D47750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5C0A6-91A9-10A1-80CD-3F2EB53A1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Recursion is a programming and mathematical technique where a function calls itself inside its own code to break a big problem into smaller, identical pieces.</a:t>
            </a:r>
          </a:p>
          <a:p>
            <a:r>
              <a:rPr lang="en-GB" dirty="0"/>
              <a:t>Ex:- </a:t>
            </a:r>
            <a:r>
              <a:rPr lang="en-IN" b="1" dirty="0"/>
              <a:t>Factorial Using Recursion</a:t>
            </a:r>
          </a:p>
          <a:p>
            <a:pPr marL="0" indent="0">
              <a:buNone/>
            </a:pPr>
            <a:r>
              <a:rPr lang="en-IN" dirty="0"/>
              <a:t>	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B5AF4-97DE-4203-A37A-1C94BBAD4960}"/>
              </a:ext>
            </a:extLst>
          </p:cNvPr>
          <p:cNvSpPr txBox="1"/>
          <p:nvPr/>
        </p:nvSpPr>
        <p:spPr>
          <a:xfrm>
            <a:off x="923364" y="2286000"/>
            <a:ext cx="5100918" cy="3416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</a:rPr>
              <a:t>int</a:t>
            </a:r>
            <a:r>
              <a:rPr lang="pt-BR" sz="2400" dirty="0"/>
              <a:t> 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factorial </a:t>
            </a:r>
            <a:r>
              <a:rPr lang="pt-BR" sz="2400" dirty="0"/>
              <a:t>(  </a:t>
            </a:r>
            <a:r>
              <a:rPr lang="pt-BR" sz="2400" dirty="0">
                <a:solidFill>
                  <a:schemeClr val="tx2"/>
                </a:solidFill>
              </a:rPr>
              <a:t>int </a:t>
            </a:r>
            <a:r>
              <a:rPr lang="pt-BR" sz="2400" dirty="0"/>
              <a:t> n  ){</a:t>
            </a:r>
          </a:p>
          <a:p>
            <a:endParaRPr lang="pt-BR" sz="2400" dirty="0"/>
          </a:p>
          <a:p>
            <a:pPr lvl="1"/>
            <a:r>
              <a:rPr lang="pt-BR" sz="2400" dirty="0"/>
              <a:t>  </a:t>
            </a:r>
            <a:r>
              <a:rPr lang="pt-BR" sz="2400" dirty="0">
                <a:solidFill>
                  <a:schemeClr val="tx2"/>
                </a:solidFill>
              </a:rPr>
              <a:t>if</a:t>
            </a:r>
            <a:r>
              <a:rPr lang="pt-BR" sz="2400" dirty="0"/>
              <a:t> (n == 0  ||  n == 1) </a:t>
            </a:r>
          </a:p>
          <a:p>
            <a:pPr lvl="1"/>
            <a:r>
              <a:rPr lang="pt-BR" sz="2400" dirty="0"/>
              <a:t>{</a:t>
            </a:r>
          </a:p>
          <a:p>
            <a:pPr lvl="1"/>
            <a:r>
              <a:rPr lang="pt-BR" sz="2400" dirty="0"/>
              <a:t>	</a:t>
            </a:r>
            <a:r>
              <a:rPr lang="pt-BR" sz="2400" dirty="0">
                <a:solidFill>
                  <a:schemeClr val="tx2"/>
                </a:solidFill>
              </a:rPr>
              <a:t>return</a:t>
            </a:r>
            <a:r>
              <a:rPr lang="pt-BR" sz="2400" dirty="0"/>
              <a:t> 1;</a:t>
            </a:r>
          </a:p>
          <a:p>
            <a:pPr lvl="1"/>
            <a:r>
              <a:rPr lang="pt-BR" sz="2400" dirty="0"/>
              <a:t>}</a:t>
            </a:r>
          </a:p>
          <a:p>
            <a:pPr lvl="1"/>
            <a:endParaRPr lang="pt-BR" sz="2400" dirty="0"/>
          </a:p>
          <a:p>
            <a:r>
              <a:rPr lang="pt-BR" sz="2400" dirty="0"/>
              <a:t>         </a:t>
            </a:r>
            <a:r>
              <a:rPr lang="pt-BR" sz="2400" dirty="0">
                <a:solidFill>
                  <a:schemeClr val="tx2"/>
                </a:solidFill>
              </a:rPr>
              <a:t>return</a:t>
            </a:r>
            <a:r>
              <a:rPr lang="pt-BR" sz="2400" dirty="0"/>
              <a:t> n * 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factorial</a:t>
            </a:r>
            <a:r>
              <a:rPr lang="pt-BR" sz="2400" dirty="0"/>
              <a:t>( n – 1 ); </a:t>
            </a:r>
          </a:p>
          <a:p>
            <a:r>
              <a:rPr lang="pt-BR" sz="2400" dirty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2142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ACDA-ECCA-5356-E697-8CF6A4F9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14AAB16-F299-B39F-42EE-DE2DEFBA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9641C7B-2102-EFC0-395F-C52884B0A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preOrder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preOrder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preOrder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7E51307-333F-F90A-74B0-5130E53953D7}"/>
              </a:ext>
            </a:extLst>
          </p:cNvPr>
          <p:cNvSpPr txBox="1">
            <a:spLocks/>
          </p:cNvSpPr>
          <p:nvPr/>
        </p:nvSpPr>
        <p:spPr>
          <a:xfrm>
            <a:off x="6096000" y="876143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IN" sz="20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-&gt;data);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8250D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dirty="0">
                <a:solidFill>
                  <a:srgbClr val="8250DF"/>
                </a:solidFill>
                <a:latin typeface="Consolas" panose="020B0609020204030204" pitchFamily="49" charset="0"/>
              </a:rPr>
              <a:t>pre</a:t>
            </a: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-&gt;left);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dirty="0">
                <a:solidFill>
                  <a:srgbClr val="8250DF"/>
                </a:solidFill>
                <a:latin typeface="Consolas" panose="020B0609020204030204" pitchFamily="49" charset="0"/>
              </a:rPr>
              <a:t>pre</a:t>
            </a: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-&gt;right);</a:t>
            </a: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22B8A3-3F73-5129-9BE1-D6FC6F9BFBE4}"/>
              </a:ext>
            </a:extLst>
          </p:cNvPr>
          <p:cNvSpPr/>
          <p:nvPr/>
        </p:nvSpPr>
        <p:spPr>
          <a:xfrm>
            <a:off x="92483" y="876143"/>
            <a:ext cx="11756022" cy="1725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77ADA6-563C-751F-AFA7-388D227F4FCF}"/>
              </a:ext>
            </a:extLst>
          </p:cNvPr>
          <p:cNvSpPr/>
          <p:nvPr/>
        </p:nvSpPr>
        <p:spPr>
          <a:xfrm>
            <a:off x="92483" y="2766629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B509B5-99E8-F7D4-CCDB-B196588BF18E}"/>
              </a:ext>
            </a:extLst>
          </p:cNvPr>
          <p:cNvSpPr/>
          <p:nvPr/>
        </p:nvSpPr>
        <p:spPr>
          <a:xfrm>
            <a:off x="92483" y="3951515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34846C-4F36-FB09-FECF-B014B79865A4}"/>
              </a:ext>
            </a:extLst>
          </p:cNvPr>
          <p:cNvSpPr/>
          <p:nvPr/>
        </p:nvSpPr>
        <p:spPr>
          <a:xfrm>
            <a:off x="92483" y="5143797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6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623F7-B29D-D8E8-1F53-6BEC4C1A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82BEADD-E50E-05E8-34FB-BCE8B64ED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INORDER Traversal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38D52FC-505C-8301-5D5F-08E7F8280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Write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64F12A1-17DB-4C91-4B02-65E6C4C06244}"/>
              </a:ext>
            </a:extLst>
          </p:cNvPr>
          <p:cNvSpPr txBox="1">
            <a:spLocks/>
          </p:cNvSpPr>
          <p:nvPr/>
        </p:nvSpPr>
        <p:spPr>
          <a:xfrm>
            <a:off x="6096000" y="876143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inOrder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-&gt;left);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IN" sz="20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-&gt;data);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inOrder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-&gt;right);</a:t>
            </a: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0EF544-3C4A-60EF-D13B-54D9625CF669}"/>
              </a:ext>
            </a:extLst>
          </p:cNvPr>
          <p:cNvSpPr/>
          <p:nvPr/>
        </p:nvSpPr>
        <p:spPr>
          <a:xfrm>
            <a:off x="92483" y="876143"/>
            <a:ext cx="11756022" cy="1725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D0B178-7EAE-DFBF-6D2A-C2E3C4AB4F60}"/>
              </a:ext>
            </a:extLst>
          </p:cNvPr>
          <p:cNvSpPr/>
          <p:nvPr/>
        </p:nvSpPr>
        <p:spPr>
          <a:xfrm>
            <a:off x="92483" y="2766629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8A622D-8BBA-525D-D231-E8561F2F0314}"/>
              </a:ext>
            </a:extLst>
          </p:cNvPr>
          <p:cNvSpPr/>
          <p:nvPr/>
        </p:nvSpPr>
        <p:spPr>
          <a:xfrm>
            <a:off x="92483" y="3951515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92C57-F3A4-D674-8FB2-CE5B1AB1B968}"/>
              </a:ext>
            </a:extLst>
          </p:cNvPr>
          <p:cNvSpPr/>
          <p:nvPr/>
        </p:nvSpPr>
        <p:spPr>
          <a:xfrm>
            <a:off x="92483" y="5143797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3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D597-16C4-EF15-E91B-B1096562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D7CD23-16E0-3A67-8180-52C99EA0D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POSTORDER Traversal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B04D84-FCF6-B538-60D0-6EB8F9DDE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PostOrder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PostOrder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Write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F7A992-C555-41AA-A8E2-B188CD648F7A}"/>
              </a:ext>
            </a:extLst>
          </p:cNvPr>
          <p:cNvSpPr txBox="1">
            <a:spLocks/>
          </p:cNvSpPr>
          <p:nvPr/>
        </p:nvSpPr>
        <p:spPr>
          <a:xfrm>
            <a:off x="6096000" y="876143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postOrder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-&gt;left);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postOrder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-&gt;right);</a:t>
            </a: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20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IN" sz="20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-&gt;data);</a:t>
            </a:r>
          </a:p>
          <a:p>
            <a:pPr marL="0" indent="0">
              <a:lnSpc>
                <a:spcPts val="2100"/>
              </a:lnSpc>
              <a:buNone/>
            </a:pPr>
            <a:endParaRPr lang="en-IN" sz="2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B37DCA-028D-1931-47C3-DACCE2777C08}"/>
              </a:ext>
            </a:extLst>
          </p:cNvPr>
          <p:cNvSpPr/>
          <p:nvPr/>
        </p:nvSpPr>
        <p:spPr>
          <a:xfrm>
            <a:off x="92483" y="876143"/>
            <a:ext cx="11756022" cy="1725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208859-24CD-309A-2694-3C1ECFA876C0}"/>
              </a:ext>
            </a:extLst>
          </p:cNvPr>
          <p:cNvSpPr/>
          <p:nvPr/>
        </p:nvSpPr>
        <p:spPr>
          <a:xfrm>
            <a:off x="92483" y="2766629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435584-74DD-F1B1-AE76-EC9A4144A2BE}"/>
              </a:ext>
            </a:extLst>
          </p:cNvPr>
          <p:cNvSpPr/>
          <p:nvPr/>
        </p:nvSpPr>
        <p:spPr>
          <a:xfrm>
            <a:off x="92483" y="3951515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A59B40-3C9A-9630-E177-0BDB26A64BFF}"/>
              </a:ext>
            </a:extLst>
          </p:cNvPr>
          <p:cNvSpPr/>
          <p:nvPr/>
        </p:nvSpPr>
        <p:spPr>
          <a:xfrm>
            <a:off x="92483" y="5143797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6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93A8-7D01-45C4-DDE7-B3648EDD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Preorder Recursion Tracing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D0E62-62B8-5B32-5E45-95F1BCD20D8C}"/>
              </a:ext>
            </a:extLst>
          </p:cNvPr>
          <p:cNvSpPr/>
          <p:nvPr/>
        </p:nvSpPr>
        <p:spPr>
          <a:xfrm>
            <a:off x="220827" y="1145084"/>
            <a:ext cx="1473503" cy="1320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data</a:t>
            </a:r>
          </a:p>
          <a:p>
            <a:r>
              <a:rPr lang="en-IN" dirty="0">
                <a:solidFill>
                  <a:schemeClr val="tx1"/>
                </a:solidFill>
              </a:rPr>
              <a:t>left</a:t>
            </a:r>
          </a:p>
          <a:p>
            <a:r>
              <a:rPr lang="en-IN" dirty="0">
                <a:solidFill>
                  <a:schemeClr val="tx1"/>
                </a:solidFill>
              </a:rPr>
              <a:t>right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D0BEBB-ED7A-B17E-83DA-9C32BC84F76C}"/>
              </a:ext>
            </a:extLst>
          </p:cNvPr>
          <p:cNvCxnSpPr/>
          <p:nvPr/>
        </p:nvCxnSpPr>
        <p:spPr>
          <a:xfrm>
            <a:off x="220827" y="1461248"/>
            <a:ext cx="14522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C1ED8F2-1049-D750-0062-632BD3B19FF6}"/>
              </a:ext>
            </a:extLst>
          </p:cNvPr>
          <p:cNvSpPr txBox="1"/>
          <p:nvPr/>
        </p:nvSpPr>
        <p:spPr>
          <a:xfrm>
            <a:off x="220827" y="11450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8DA643-0BA4-1905-F5B1-338100A386E6}"/>
              </a:ext>
            </a:extLst>
          </p:cNvPr>
          <p:cNvSpPr/>
          <p:nvPr/>
        </p:nvSpPr>
        <p:spPr>
          <a:xfrm>
            <a:off x="4791627" y="1814154"/>
            <a:ext cx="1473503" cy="1320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data</a:t>
            </a:r>
          </a:p>
          <a:p>
            <a:r>
              <a:rPr lang="en-IN" dirty="0">
                <a:solidFill>
                  <a:schemeClr val="tx1"/>
                </a:solidFill>
              </a:rPr>
              <a:t>left</a:t>
            </a:r>
          </a:p>
          <a:p>
            <a:r>
              <a:rPr lang="en-IN" dirty="0">
                <a:solidFill>
                  <a:schemeClr val="tx1"/>
                </a:solidFill>
              </a:rPr>
              <a:t>right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E89C14-8B4E-4EE8-88F9-7501142D376C}"/>
              </a:ext>
            </a:extLst>
          </p:cNvPr>
          <p:cNvCxnSpPr/>
          <p:nvPr/>
        </p:nvCxnSpPr>
        <p:spPr>
          <a:xfrm>
            <a:off x="4791627" y="2130318"/>
            <a:ext cx="14522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3BE776E-1143-B354-159B-E569D18683AD}"/>
              </a:ext>
            </a:extLst>
          </p:cNvPr>
          <p:cNvSpPr txBox="1"/>
          <p:nvPr/>
        </p:nvSpPr>
        <p:spPr>
          <a:xfrm>
            <a:off x="4791627" y="18141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D3C6F1-9893-370B-005C-125EC8734461}"/>
              </a:ext>
            </a:extLst>
          </p:cNvPr>
          <p:cNvSpPr/>
          <p:nvPr/>
        </p:nvSpPr>
        <p:spPr>
          <a:xfrm>
            <a:off x="1694330" y="2673566"/>
            <a:ext cx="1473503" cy="1320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data</a:t>
            </a:r>
          </a:p>
          <a:p>
            <a:r>
              <a:rPr lang="en-IN" dirty="0">
                <a:solidFill>
                  <a:schemeClr val="tx1"/>
                </a:solidFill>
              </a:rPr>
              <a:t>left</a:t>
            </a:r>
          </a:p>
          <a:p>
            <a:r>
              <a:rPr lang="en-IN" dirty="0">
                <a:solidFill>
                  <a:schemeClr val="tx1"/>
                </a:solidFill>
              </a:rPr>
              <a:t>right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967D82-E6BB-FEE8-FB58-98ACC617C415}"/>
              </a:ext>
            </a:extLst>
          </p:cNvPr>
          <p:cNvCxnSpPr/>
          <p:nvPr/>
        </p:nvCxnSpPr>
        <p:spPr>
          <a:xfrm>
            <a:off x="1694330" y="2989730"/>
            <a:ext cx="14522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8CB408-2BC0-E412-1B50-0321537A5F08}"/>
              </a:ext>
            </a:extLst>
          </p:cNvPr>
          <p:cNvSpPr txBox="1"/>
          <p:nvPr/>
        </p:nvSpPr>
        <p:spPr>
          <a:xfrm>
            <a:off x="1694330" y="26735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0E10F4-98DD-730E-41F9-E7B86678DF15}"/>
              </a:ext>
            </a:extLst>
          </p:cNvPr>
          <p:cNvSpPr/>
          <p:nvPr/>
        </p:nvSpPr>
        <p:spPr>
          <a:xfrm>
            <a:off x="9526639" y="2408184"/>
            <a:ext cx="1473503" cy="1320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data</a:t>
            </a:r>
          </a:p>
          <a:p>
            <a:r>
              <a:rPr lang="en-IN" dirty="0">
                <a:solidFill>
                  <a:schemeClr val="tx1"/>
                </a:solidFill>
              </a:rPr>
              <a:t>left</a:t>
            </a:r>
          </a:p>
          <a:p>
            <a:r>
              <a:rPr lang="en-IN" dirty="0">
                <a:solidFill>
                  <a:schemeClr val="tx1"/>
                </a:solidFill>
              </a:rPr>
              <a:t>right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04535C-D89D-DDEE-E66A-57BBDAC0E474}"/>
              </a:ext>
            </a:extLst>
          </p:cNvPr>
          <p:cNvCxnSpPr/>
          <p:nvPr/>
        </p:nvCxnSpPr>
        <p:spPr>
          <a:xfrm>
            <a:off x="9526639" y="2724348"/>
            <a:ext cx="14522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546F8C-48DE-AE58-BAD8-A3C0E939FC73}"/>
              </a:ext>
            </a:extLst>
          </p:cNvPr>
          <p:cNvSpPr txBox="1"/>
          <p:nvPr/>
        </p:nvSpPr>
        <p:spPr>
          <a:xfrm>
            <a:off x="9526639" y="2408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3BE883-C848-DB57-8F1F-7B3A73B0B196}"/>
              </a:ext>
            </a:extLst>
          </p:cNvPr>
          <p:cNvSpPr/>
          <p:nvPr/>
        </p:nvSpPr>
        <p:spPr>
          <a:xfrm>
            <a:off x="7419110" y="3350091"/>
            <a:ext cx="1473503" cy="1320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data</a:t>
            </a:r>
          </a:p>
          <a:p>
            <a:r>
              <a:rPr lang="en-IN" dirty="0">
                <a:solidFill>
                  <a:schemeClr val="tx1"/>
                </a:solidFill>
              </a:rPr>
              <a:t>left</a:t>
            </a:r>
          </a:p>
          <a:p>
            <a:r>
              <a:rPr lang="en-IN" dirty="0">
                <a:solidFill>
                  <a:schemeClr val="tx1"/>
                </a:solidFill>
              </a:rPr>
              <a:t>right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89B779-DBE6-A636-F8CF-A335B49516CC}"/>
              </a:ext>
            </a:extLst>
          </p:cNvPr>
          <p:cNvCxnSpPr/>
          <p:nvPr/>
        </p:nvCxnSpPr>
        <p:spPr>
          <a:xfrm>
            <a:off x="7419110" y="3666255"/>
            <a:ext cx="14522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88EA95A-5F71-53D0-8409-0D4968CC247E}"/>
              </a:ext>
            </a:extLst>
          </p:cNvPr>
          <p:cNvSpPr txBox="1"/>
          <p:nvPr/>
        </p:nvSpPr>
        <p:spPr>
          <a:xfrm>
            <a:off x="7419110" y="3350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B56DB4-C366-8CE8-762E-7882A3B5F34A}"/>
              </a:ext>
            </a:extLst>
          </p:cNvPr>
          <p:cNvSpPr/>
          <p:nvPr/>
        </p:nvSpPr>
        <p:spPr>
          <a:xfrm>
            <a:off x="4130516" y="3244604"/>
            <a:ext cx="1473503" cy="1320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data</a:t>
            </a:r>
          </a:p>
          <a:p>
            <a:r>
              <a:rPr lang="en-IN" dirty="0">
                <a:solidFill>
                  <a:schemeClr val="tx1"/>
                </a:solidFill>
              </a:rPr>
              <a:t>left</a:t>
            </a:r>
          </a:p>
          <a:p>
            <a:r>
              <a:rPr lang="en-IN" dirty="0">
                <a:solidFill>
                  <a:schemeClr val="tx1"/>
                </a:solidFill>
              </a:rPr>
              <a:t>right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AF7A37-1527-F2E4-FA8C-87ACA3BCBC3C}"/>
              </a:ext>
            </a:extLst>
          </p:cNvPr>
          <p:cNvCxnSpPr/>
          <p:nvPr/>
        </p:nvCxnSpPr>
        <p:spPr>
          <a:xfrm>
            <a:off x="4130516" y="3560768"/>
            <a:ext cx="14522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557814-9F57-C44F-FB92-A42AA533AA03}"/>
              </a:ext>
            </a:extLst>
          </p:cNvPr>
          <p:cNvSpPr txBox="1"/>
          <p:nvPr/>
        </p:nvSpPr>
        <p:spPr>
          <a:xfrm>
            <a:off x="4130516" y="3244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23F4E6-C7DC-0DA0-8089-5257B1DAD727}"/>
              </a:ext>
            </a:extLst>
          </p:cNvPr>
          <p:cNvSpPr/>
          <p:nvPr/>
        </p:nvSpPr>
        <p:spPr>
          <a:xfrm>
            <a:off x="3510589" y="4716889"/>
            <a:ext cx="1473503" cy="1320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data</a:t>
            </a:r>
          </a:p>
          <a:p>
            <a:r>
              <a:rPr lang="en-IN" dirty="0">
                <a:solidFill>
                  <a:schemeClr val="tx1"/>
                </a:solidFill>
              </a:rPr>
              <a:t>left</a:t>
            </a:r>
          </a:p>
          <a:p>
            <a:r>
              <a:rPr lang="en-IN" dirty="0">
                <a:solidFill>
                  <a:schemeClr val="tx1"/>
                </a:solidFill>
              </a:rPr>
              <a:t>right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9B1742E-30C1-9C56-AFF8-3D8E8636EEC7}"/>
              </a:ext>
            </a:extLst>
          </p:cNvPr>
          <p:cNvCxnSpPr/>
          <p:nvPr/>
        </p:nvCxnSpPr>
        <p:spPr>
          <a:xfrm>
            <a:off x="3510589" y="5033053"/>
            <a:ext cx="14522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C66AF4-5130-9B4F-E071-7106958542FE}"/>
              </a:ext>
            </a:extLst>
          </p:cNvPr>
          <p:cNvSpPr txBox="1"/>
          <p:nvPr/>
        </p:nvSpPr>
        <p:spPr>
          <a:xfrm>
            <a:off x="3510589" y="47168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9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34EC67-D348-CE38-D269-035AD24F56BC}"/>
              </a:ext>
            </a:extLst>
          </p:cNvPr>
          <p:cNvCxnSpPr/>
          <p:nvPr/>
        </p:nvCxnSpPr>
        <p:spPr>
          <a:xfrm>
            <a:off x="639531" y="1945341"/>
            <a:ext cx="41308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856DB65-0B5E-C49A-8BBA-8CB94CBEFE5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56049" y="2221472"/>
            <a:ext cx="938281" cy="63676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C27770-53E3-0E18-6AEF-1EC478680083}"/>
              </a:ext>
            </a:extLst>
          </p:cNvPr>
          <p:cNvCxnSpPr>
            <a:cxnSpLocks/>
          </p:cNvCxnSpPr>
          <p:nvPr/>
        </p:nvCxnSpPr>
        <p:spPr>
          <a:xfrm>
            <a:off x="5262282" y="2554941"/>
            <a:ext cx="42855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1DFB9A7-9F4C-D024-6D11-9BDF93811743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365630" y="2880644"/>
            <a:ext cx="2053480" cy="65411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D372B4-63FE-ECE2-AAF0-5CF7D65BD889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34255" y="3429000"/>
            <a:ext cx="1996261" cy="2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4472C20-4577-4EC3-A84E-45C5E6E6B89A}"/>
              </a:ext>
            </a:extLst>
          </p:cNvPr>
          <p:cNvCxnSpPr>
            <a:cxnSpLocks/>
          </p:cNvCxnSpPr>
          <p:nvPr/>
        </p:nvCxnSpPr>
        <p:spPr>
          <a:xfrm>
            <a:off x="2235827" y="3762937"/>
            <a:ext cx="1274762" cy="107561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61690CE-B047-51F1-537A-89B8821D2283}"/>
              </a:ext>
            </a:extLst>
          </p:cNvPr>
          <p:cNvSpPr txBox="1"/>
          <p:nvPr/>
        </p:nvSpPr>
        <p:spPr>
          <a:xfrm>
            <a:off x="2907032" y="965804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CA64C5-761F-1397-23DA-012B5D3CE1FD}"/>
              </a:ext>
            </a:extLst>
          </p:cNvPr>
          <p:cNvSpPr txBox="1"/>
          <p:nvPr/>
        </p:nvSpPr>
        <p:spPr>
          <a:xfrm>
            <a:off x="3390255" y="97301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12A961-D5F6-60BF-2ADA-D666EF3B2B8E}"/>
              </a:ext>
            </a:extLst>
          </p:cNvPr>
          <p:cNvSpPr txBox="1"/>
          <p:nvPr/>
        </p:nvSpPr>
        <p:spPr>
          <a:xfrm>
            <a:off x="3824438" y="96626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38439A-DA29-8DE1-39EC-A552E9A475D4}"/>
              </a:ext>
            </a:extLst>
          </p:cNvPr>
          <p:cNvSpPr txBox="1"/>
          <p:nvPr/>
        </p:nvSpPr>
        <p:spPr>
          <a:xfrm>
            <a:off x="4273421" y="96041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13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69DE5-5FCC-6F7A-3085-56524F178D9C}"/>
              </a:ext>
            </a:extLst>
          </p:cNvPr>
          <p:cNvSpPr txBox="1"/>
          <p:nvPr/>
        </p:nvSpPr>
        <p:spPr>
          <a:xfrm>
            <a:off x="4803260" y="96041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A7EDB4-E959-5186-870A-0753F5CF1DFE}"/>
              </a:ext>
            </a:extLst>
          </p:cNvPr>
          <p:cNvSpPr txBox="1"/>
          <p:nvPr/>
        </p:nvSpPr>
        <p:spPr>
          <a:xfrm>
            <a:off x="5517768" y="95686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6FF40B-95D3-4056-D126-1AF5307E08BE}"/>
              </a:ext>
            </a:extLst>
          </p:cNvPr>
          <p:cNvSpPr txBox="1"/>
          <p:nvPr/>
        </p:nvSpPr>
        <p:spPr>
          <a:xfrm>
            <a:off x="5170507" y="95686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4676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10" grpId="0"/>
      <p:bldP spid="11" grpId="0" animBg="1"/>
      <p:bldP spid="13" grpId="0"/>
      <p:bldP spid="14" grpId="0" animBg="1"/>
      <p:bldP spid="16" grpId="0"/>
      <p:bldP spid="17" grpId="0" animBg="1"/>
      <p:bldP spid="19" grpId="0"/>
      <p:bldP spid="20" grpId="0" animBg="1"/>
      <p:bldP spid="22" grpId="0"/>
      <p:bldP spid="23" grpId="0" animBg="1"/>
      <p:bldP spid="25" grpId="0"/>
      <p:bldP spid="40" grpId="0"/>
      <p:bldP spid="41" grpId="0"/>
      <p:bldP spid="43" grpId="0"/>
      <p:bldP spid="44" grpId="0"/>
      <p:bldP spid="45" grpId="0"/>
      <p:bldP spid="46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1146-113C-4540-4EBE-7B78DDA9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 Node in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1DBD-DF48-BE82-66A1-1E07460BF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921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D476-F5AB-9CAA-3488-CE6A7246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knowledge of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EA076-3781-649E-4A5E-EF34C5DE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is a Binary Search Tree?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/>
              <a:t>Binary Search Tree (BST)</a:t>
            </a:r>
            <a:r>
              <a:rPr lang="en-GB" dirty="0"/>
              <a:t> is a type of binary tree in which each node contains at most </a:t>
            </a:r>
            <a:r>
              <a:rPr lang="en-GB" b="1" dirty="0"/>
              <a:t>two    children</a:t>
            </a:r>
            <a:r>
              <a:rPr lang="en-GB" dirty="0"/>
              <a:t> and follows a specific ordering rule.</a:t>
            </a:r>
          </a:p>
          <a:p>
            <a:endParaRPr lang="en-GB" dirty="0"/>
          </a:p>
          <a:p>
            <a:r>
              <a:rPr lang="en-GB" b="1" dirty="0"/>
              <a:t>BST Property</a:t>
            </a:r>
          </a:p>
          <a:p>
            <a:pPr marL="0" indent="0">
              <a:buNone/>
            </a:pPr>
            <a:r>
              <a:rPr lang="en-GB" dirty="0"/>
              <a:t>   All nodes in the </a:t>
            </a:r>
            <a:r>
              <a:rPr lang="en-GB" b="1" dirty="0"/>
              <a:t>left subtree</a:t>
            </a:r>
            <a:r>
              <a:rPr lang="en-GB" dirty="0"/>
              <a:t> have values </a:t>
            </a:r>
            <a:r>
              <a:rPr lang="en-GB" b="1" dirty="0"/>
              <a:t>less than</a:t>
            </a:r>
            <a:r>
              <a:rPr lang="en-GB" dirty="0"/>
              <a:t> the parent node. </a:t>
            </a:r>
          </a:p>
          <a:p>
            <a:pPr marL="0" indent="0">
              <a:buNone/>
            </a:pPr>
            <a:r>
              <a:rPr lang="en-GB" dirty="0"/>
              <a:t>   All nodes in the </a:t>
            </a:r>
            <a:r>
              <a:rPr lang="en-GB" b="1" dirty="0"/>
              <a:t>right subtree</a:t>
            </a:r>
            <a:r>
              <a:rPr lang="en-GB" dirty="0"/>
              <a:t> have values </a:t>
            </a:r>
            <a:r>
              <a:rPr lang="en-GB" b="1" dirty="0"/>
              <a:t>greater than</a:t>
            </a:r>
            <a:r>
              <a:rPr lang="en-GB" dirty="0"/>
              <a:t> the parent node. </a:t>
            </a:r>
          </a:p>
          <a:p>
            <a:pPr marL="0" indent="0">
              <a:buNone/>
            </a:pPr>
            <a:r>
              <a:rPr lang="en-GB" dirty="0"/>
              <a:t>   Both the left and right subtrees are themselves Binary Search Trees.</a:t>
            </a:r>
            <a:endParaRPr lang="en-GB" b="1" dirty="0"/>
          </a:p>
          <a:p>
            <a:r>
              <a:rPr lang="en-IN" b="1" dirty="0"/>
              <a:t>Binary Tree vs BST</a:t>
            </a:r>
          </a:p>
          <a:p>
            <a:pPr marL="0" indent="0">
              <a:buNone/>
            </a:pPr>
            <a:r>
              <a:rPr lang="en-IN" b="1" dirty="0"/>
              <a:t>    </a:t>
            </a:r>
            <a:r>
              <a:rPr lang="en-GB" dirty="0"/>
              <a:t>A </a:t>
            </a:r>
            <a:r>
              <a:rPr lang="en-GB" b="1" dirty="0"/>
              <a:t>binary tree</a:t>
            </a:r>
            <a:r>
              <a:rPr lang="en-GB" dirty="0"/>
              <a:t>                  each node has at most two children, 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n-GB" b="1" dirty="0"/>
              <a:t>BST </a:t>
            </a:r>
            <a:r>
              <a:rPr lang="en-GB" dirty="0"/>
              <a:t>                 Type of binary tree                       left child &lt; parent  AND  right child &gt; parent</a:t>
            </a:r>
            <a:endParaRPr lang="en-IN" b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379549-5BC7-0D4B-F399-A2D8205768AB}"/>
              </a:ext>
            </a:extLst>
          </p:cNvPr>
          <p:cNvSpPr/>
          <p:nvPr/>
        </p:nvSpPr>
        <p:spPr>
          <a:xfrm>
            <a:off x="2214282" y="4903694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68B2909-AF38-69CE-2136-5828556C1519}"/>
              </a:ext>
            </a:extLst>
          </p:cNvPr>
          <p:cNvSpPr/>
          <p:nvPr/>
        </p:nvSpPr>
        <p:spPr>
          <a:xfrm>
            <a:off x="1030941" y="5334000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03C5869-B423-64D6-065A-3F598BB22F35}"/>
              </a:ext>
            </a:extLst>
          </p:cNvPr>
          <p:cNvSpPr/>
          <p:nvPr/>
        </p:nvSpPr>
        <p:spPr>
          <a:xfrm>
            <a:off x="4697505" y="5334000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157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8D6-502E-02F2-990F-082032A0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 Node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16D03-1111-5F90-BE69-60127F946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4933878" cy="5590565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(val)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732BEA-6F23-A721-ECDC-93833AE1A237}"/>
              </a:ext>
            </a:extLst>
          </p:cNvPr>
          <p:cNvSpPr txBox="1">
            <a:spLocks/>
          </p:cNvSpPr>
          <p:nvPr/>
        </p:nvSpPr>
        <p:spPr>
          <a:xfrm>
            <a:off x="5065059" y="876143"/>
            <a:ext cx="690282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CODE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  <a:p>
            <a:pPr marL="0" indent="0">
              <a:buNone/>
            </a:pPr>
            <a:endParaRPr lang="en-IN" sz="16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root,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latin typeface="Consolas" panose="020B0609020204030204" pitchFamily="49" charset="0"/>
              </a:rPr>
              <a:t> val){</a:t>
            </a:r>
          </a:p>
          <a:p>
            <a:pPr marL="0" indent="0">
              <a:buNone/>
            </a:pPr>
            <a:br>
              <a:rPr lang="en-IN" sz="2000" dirty="0">
                <a:latin typeface="Consolas" panose="020B0609020204030204" pitchFamily="49" charset="0"/>
              </a:rPr>
            </a:b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(root ==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){                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sz="2000" dirty="0">
                <a:latin typeface="Consolas" panose="020B0609020204030204" pitchFamily="49" charset="0"/>
              </a:rPr>
              <a:t>(val);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E002C3-F0DE-C3C0-6C19-82EA87847F3B}"/>
              </a:ext>
            </a:extLst>
          </p:cNvPr>
          <p:cNvSpPr/>
          <p:nvPr/>
        </p:nvSpPr>
        <p:spPr>
          <a:xfrm>
            <a:off x="161366" y="876143"/>
            <a:ext cx="4527176" cy="55905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8EE95-4993-EB39-5E8F-F141BA7B0F54}"/>
              </a:ext>
            </a:extLst>
          </p:cNvPr>
          <p:cNvSpPr/>
          <p:nvPr/>
        </p:nvSpPr>
        <p:spPr>
          <a:xfrm>
            <a:off x="4863354" y="876143"/>
            <a:ext cx="7167279" cy="55905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05323-7660-F2FC-7470-17A49018EF9F}"/>
              </a:ext>
            </a:extLst>
          </p:cNvPr>
          <p:cNvSpPr/>
          <p:nvPr/>
        </p:nvSpPr>
        <p:spPr>
          <a:xfrm>
            <a:off x="206188" y="3074894"/>
            <a:ext cx="11779623" cy="137160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31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F9D1-588A-1E2E-E6B3-D4802A53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 Node in BST(continued)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7212F-F51D-AFC3-A115-0038CDCC5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5839314" cy="55905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[Compare the Value]</a:t>
            </a:r>
            <a:endParaRPr lang="en-IN" sz="20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[Insert into Left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val &lt; data(root)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 ←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(root), val)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[Insert into Right Subtree]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 ← </a:t>
            </a:r>
            <a:r>
              <a:rPr lang="en-IN" sz="18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(root), val)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[Return Updated Tree]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root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62A223-A59B-E94A-609B-BAD15D79B473}"/>
              </a:ext>
            </a:extLst>
          </p:cNvPr>
          <p:cNvSpPr txBox="1">
            <a:spLocks/>
          </p:cNvSpPr>
          <p:nvPr/>
        </p:nvSpPr>
        <p:spPr>
          <a:xfrm>
            <a:off x="609600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(val &lt; root-&gt;data){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   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 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	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, val);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 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	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, val);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br>
              <a:rPr lang="en-IN" sz="2000" dirty="0">
                <a:latin typeface="Consolas" panose="020B0609020204030204" pitchFamily="49" charset="0"/>
              </a:rPr>
            </a:b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root;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904A2C-F526-F88E-AB0F-FAEC679151E5}"/>
              </a:ext>
            </a:extLst>
          </p:cNvPr>
          <p:cNvSpPr/>
          <p:nvPr/>
        </p:nvSpPr>
        <p:spPr>
          <a:xfrm>
            <a:off x="131180" y="876143"/>
            <a:ext cx="5839314" cy="55905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1E843-12B5-0D82-6251-9A02B3B5589C}"/>
              </a:ext>
            </a:extLst>
          </p:cNvPr>
          <p:cNvSpPr/>
          <p:nvPr/>
        </p:nvSpPr>
        <p:spPr>
          <a:xfrm>
            <a:off x="6096001" y="876143"/>
            <a:ext cx="5964820" cy="55905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BECD8-C9A5-9EED-4F72-B1B93A2F68B0}"/>
              </a:ext>
            </a:extLst>
          </p:cNvPr>
          <p:cNvSpPr/>
          <p:nvPr/>
        </p:nvSpPr>
        <p:spPr>
          <a:xfrm>
            <a:off x="206187" y="1237130"/>
            <a:ext cx="11779623" cy="197223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D6DAEF-A98C-0828-17C2-CB8A5D3A4B32}"/>
              </a:ext>
            </a:extLst>
          </p:cNvPr>
          <p:cNvSpPr/>
          <p:nvPr/>
        </p:nvSpPr>
        <p:spPr>
          <a:xfrm>
            <a:off x="206186" y="3570351"/>
            <a:ext cx="11779623" cy="164710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CB832E-08EB-61A6-0E9A-5BE6A3EF25EF}"/>
              </a:ext>
            </a:extLst>
          </p:cNvPr>
          <p:cNvSpPr/>
          <p:nvPr/>
        </p:nvSpPr>
        <p:spPr>
          <a:xfrm>
            <a:off x="206186" y="5452939"/>
            <a:ext cx="11779623" cy="8761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155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529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6472</TotalTime>
  <Words>1038</Words>
  <Application>Microsoft Office PowerPoint</Application>
  <PresentationFormat>Widescreen</PresentationFormat>
  <Paragraphs>301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Consolas</vt:lpstr>
      <vt:lpstr>Wingdings</vt:lpstr>
      <vt:lpstr>Roboto Condensed</vt:lpstr>
      <vt:lpstr>Calibri</vt:lpstr>
      <vt:lpstr>Roboto Condensed Light</vt:lpstr>
      <vt:lpstr>Arial</vt:lpstr>
      <vt:lpstr>Wingdings 3</vt:lpstr>
      <vt:lpstr>Office Theme</vt:lpstr>
      <vt:lpstr>Tree from Scratch Data Structure</vt:lpstr>
      <vt:lpstr>TreeNode Structure</vt:lpstr>
      <vt:lpstr>Hardcoded Tree</vt:lpstr>
      <vt:lpstr>Hardcoded Tree</vt:lpstr>
      <vt:lpstr>Hardcoded Tree</vt:lpstr>
      <vt:lpstr>Create Node</vt:lpstr>
      <vt:lpstr>RECURSION</vt:lpstr>
      <vt:lpstr>PREORDER Traversal</vt:lpstr>
      <vt:lpstr>INORDER Traversal</vt:lpstr>
      <vt:lpstr>POSTORDER Traversal</vt:lpstr>
      <vt:lpstr>Preorder Recursion Tracing</vt:lpstr>
      <vt:lpstr>Insert Node in Binary Tree</vt:lpstr>
      <vt:lpstr>Basic knowledge of BST</vt:lpstr>
      <vt:lpstr>Insert Node in BST</vt:lpstr>
      <vt:lpstr>Insert Node in BST(continued)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- Linear Data Structure</dc:title>
  <dc:creator>ADMIN</dc:creator>
  <cp:keywords>Linked List, Data Structure, Darshan Institute of Engineering &amp; Technology, DIET</cp:keywords>
  <cp:lastModifiedBy>Mohit Saraya</cp:lastModifiedBy>
  <cp:revision>1084</cp:revision>
  <dcterms:created xsi:type="dcterms:W3CDTF">2020-05-01T05:09:15Z</dcterms:created>
  <dcterms:modified xsi:type="dcterms:W3CDTF">2026-08-12T14:02:16Z</dcterms:modified>
</cp:coreProperties>
</file>