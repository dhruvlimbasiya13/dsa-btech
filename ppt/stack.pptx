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3"/>
  </p:notesMasterIdLst>
  <p:handoutMasterIdLst>
    <p:handoutMasterId r:id="rId74"/>
  </p:handoutMasterIdLst>
  <p:sldIdLst>
    <p:sldId id="422" r:id="rId2"/>
    <p:sldId id="292" r:id="rId3"/>
    <p:sldId id="387" r:id="rId4"/>
    <p:sldId id="345" r:id="rId5"/>
    <p:sldId id="346" r:id="rId6"/>
    <p:sldId id="388" r:id="rId7"/>
    <p:sldId id="423" r:id="rId8"/>
    <p:sldId id="424" r:id="rId9"/>
    <p:sldId id="425" r:id="rId10"/>
    <p:sldId id="426" r:id="rId11"/>
    <p:sldId id="427" r:id="rId12"/>
    <p:sldId id="429" r:id="rId13"/>
    <p:sldId id="438" r:id="rId14"/>
    <p:sldId id="430" r:id="rId15"/>
    <p:sldId id="389" r:id="rId16"/>
    <p:sldId id="353" r:id="rId17"/>
    <p:sldId id="383" r:id="rId18"/>
    <p:sldId id="355" r:id="rId19"/>
    <p:sldId id="357" r:id="rId20"/>
    <p:sldId id="359" r:id="rId21"/>
    <p:sldId id="390" r:id="rId22"/>
    <p:sldId id="360" r:id="rId23"/>
    <p:sldId id="361" r:id="rId24"/>
    <p:sldId id="362" r:id="rId25"/>
    <p:sldId id="391" r:id="rId26"/>
    <p:sldId id="363" r:id="rId27"/>
    <p:sldId id="364" r:id="rId28"/>
    <p:sldId id="365" r:id="rId29"/>
    <p:sldId id="366" r:id="rId30"/>
    <p:sldId id="367" r:id="rId31"/>
    <p:sldId id="368" r:id="rId32"/>
    <p:sldId id="398" r:id="rId33"/>
    <p:sldId id="399" r:id="rId34"/>
    <p:sldId id="400" r:id="rId35"/>
    <p:sldId id="402" r:id="rId36"/>
    <p:sldId id="403" r:id="rId37"/>
    <p:sldId id="404" r:id="rId38"/>
    <p:sldId id="405" r:id="rId39"/>
    <p:sldId id="406" r:id="rId40"/>
    <p:sldId id="407" r:id="rId41"/>
    <p:sldId id="370" r:id="rId42"/>
    <p:sldId id="409" r:id="rId43"/>
    <p:sldId id="408" r:id="rId44"/>
    <p:sldId id="418" r:id="rId45"/>
    <p:sldId id="396" r:id="rId46"/>
    <p:sldId id="420" r:id="rId47"/>
    <p:sldId id="432" r:id="rId48"/>
    <p:sldId id="419" r:id="rId49"/>
    <p:sldId id="433" r:id="rId50"/>
    <p:sldId id="392" r:id="rId51"/>
    <p:sldId id="371" r:id="rId52"/>
    <p:sldId id="372" r:id="rId53"/>
    <p:sldId id="413" r:id="rId54"/>
    <p:sldId id="373" r:id="rId55"/>
    <p:sldId id="374" r:id="rId56"/>
    <p:sldId id="375" r:id="rId57"/>
    <p:sldId id="393" r:id="rId58"/>
    <p:sldId id="376" r:id="rId59"/>
    <p:sldId id="377" r:id="rId60"/>
    <p:sldId id="414" r:id="rId61"/>
    <p:sldId id="415" r:id="rId62"/>
    <p:sldId id="394" r:id="rId63"/>
    <p:sldId id="378" r:id="rId64"/>
    <p:sldId id="421" r:id="rId65"/>
    <p:sldId id="434" r:id="rId66"/>
    <p:sldId id="436" r:id="rId67"/>
    <p:sldId id="437" r:id="rId68"/>
    <p:sldId id="416" r:id="rId69"/>
    <p:sldId id="395" r:id="rId70"/>
    <p:sldId id="386" r:id="rId71"/>
    <p:sldId id="439" r:id="rId72"/>
  </p:sldIdLst>
  <p:sldSz cx="12192000" cy="6858000"/>
  <p:notesSz cx="6858000" cy="9144000"/>
  <p:embeddedFontLst>
    <p:embeddedFont>
      <p:font typeface="Roboto Condensed Light" panose="02000000000000000000" pitchFamily="2" charset="0"/>
      <p:regular r:id="rId75"/>
      <p:italic r:id="rId76"/>
    </p:embeddedFont>
    <p:embeddedFont>
      <p:font typeface="Shruti" panose="020B0604020202020204" charset="0"/>
      <p:regular r:id="rId77"/>
      <p:bold r:id="rId78"/>
    </p:embeddedFont>
    <p:embeddedFont>
      <p:font typeface="Wingdings 3" panose="05040102010807070707" pitchFamily="18" charset="2"/>
      <p:regular r:id="rId79"/>
    </p:embeddedFont>
    <p:embeddedFont>
      <p:font typeface="Segoe UI Black" panose="020B0A02040204020203" pitchFamily="34" charset="0"/>
      <p:bold r:id="rId80"/>
      <p:boldItalic r:id="rId81"/>
    </p:embeddedFont>
    <p:embeddedFont>
      <p:font typeface="Wingdings 2" panose="05020102010507070707" pitchFamily="18" charset="2"/>
      <p:regular r:id="rId82"/>
    </p:embeddedFont>
    <p:embeddedFont>
      <p:font typeface="Open Sans" panose="020B0604020202020204" charset="0"/>
      <p:regular r:id="rId83"/>
      <p:bold r:id="rId84"/>
      <p:italic r:id="rId85"/>
      <p:boldItalic r:id="rId86"/>
    </p:embeddedFont>
    <p:embeddedFont>
      <p:font typeface="Open Sans Semibold" panose="020B0604020202020204" charset="0"/>
      <p:bold r:id="rId87"/>
      <p:boldItalic r:id="rId88"/>
    </p:embeddedFont>
    <p:embeddedFont>
      <p:font typeface="Calibri" panose="020F0502020204030204" pitchFamily="34" charset="0"/>
      <p:regular r:id="rId89"/>
      <p:bold r:id="rId90"/>
      <p:italic r:id="rId91"/>
      <p:boldItalic r:id="rId92"/>
    </p:embeddedFont>
    <p:embeddedFont>
      <p:font typeface="Consolas" panose="020B0609020204030204" pitchFamily="49" charset="0"/>
      <p:regular r:id="rId93"/>
      <p:bold r:id="rId94"/>
      <p:italic r:id="rId95"/>
      <p:boldItalic r:id="rId96"/>
    </p:embeddedFont>
    <p:embeddedFont>
      <p:font typeface="Roboto Condensed" panose="02000000000000000000" pitchFamily="2" charset="0"/>
      <p:regular r:id="rId97"/>
      <p:bold r:id="rId98"/>
      <p:italic r:id="rId99"/>
      <p:boldItalic r:id="rId10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M5BkYMCrhMU/v8z7EZhvLw==" hashData="p9FkyJ5e0GrbEABbP9kFbPHoDuN0QAzl4tW7/MHpnrBttdFO8w1nE+1O/Zhd7ARvqJwU59mJ89Yl0ATOFnJTvw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54337"/>
    <a:srgbClr val="3366FF"/>
    <a:srgbClr val="6600CC"/>
    <a:srgbClr val="FFFFFF"/>
    <a:srgbClr val="301B92"/>
    <a:srgbClr val="2FA0AE"/>
    <a:srgbClr val="558ED5"/>
    <a:srgbClr val="B84742"/>
    <a:srgbClr val="5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21" autoAdjust="0"/>
    <p:restoredTop sz="94660"/>
  </p:normalViewPr>
  <p:slideViewPr>
    <p:cSldViewPr snapToGrid="0">
      <p:cViewPr varScale="1">
        <p:scale>
          <a:sx n="83" d="100"/>
          <a:sy n="83" d="100"/>
        </p:scale>
        <p:origin x="744" y="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0.fntdata"/><Relationship Id="rId89" Type="http://schemas.openxmlformats.org/officeDocument/2006/relationships/font" Target="fonts/font1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handoutMaster" Target="handoutMasters/handoutMaster1.xml"/><Relationship Id="rId79" Type="http://schemas.openxmlformats.org/officeDocument/2006/relationships/font" Target="fonts/font5.fntdata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font" Target="fonts/font16.fntdata"/><Relationship Id="rId95" Type="http://schemas.openxmlformats.org/officeDocument/2006/relationships/font" Target="fonts/font21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font" Target="fonts/font6.fntdata"/><Relationship Id="rId85" Type="http://schemas.openxmlformats.org/officeDocument/2006/relationships/font" Target="fonts/font11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83" Type="http://schemas.openxmlformats.org/officeDocument/2006/relationships/font" Target="fonts/font9.fntdata"/><Relationship Id="rId88" Type="http://schemas.openxmlformats.org/officeDocument/2006/relationships/font" Target="fonts/font14.fntdata"/><Relationship Id="rId91" Type="http://schemas.openxmlformats.org/officeDocument/2006/relationships/font" Target="fonts/font17.fntdata"/><Relationship Id="rId96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font" Target="fonts/font4.fntdata"/><Relationship Id="rId81" Type="http://schemas.openxmlformats.org/officeDocument/2006/relationships/font" Target="fonts/font7.fntdata"/><Relationship Id="rId86" Type="http://schemas.openxmlformats.org/officeDocument/2006/relationships/font" Target="fonts/font12.fntdata"/><Relationship Id="rId94" Type="http://schemas.openxmlformats.org/officeDocument/2006/relationships/font" Target="fonts/font20.fntdata"/><Relationship Id="rId99" Type="http://schemas.openxmlformats.org/officeDocument/2006/relationships/font" Target="fonts/font25.fntdata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2.fntdata"/><Relationship Id="rId97" Type="http://schemas.openxmlformats.org/officeDocument/2006/relationships/font" Target="fonts/font23.fntdata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3.fntdata"/><Relationship Id="rId61" Type="http://schemas.openxmlformats.org/officeDocument/2006/relationships/slide" Target="slides/slide60.xml"/><Relationship Id="rId82" Type="http://schemas.openxmlformats.org/officeDocument/2006/relationships/font" Target="fonts/font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3.fntdata"/><Relationship Id="rId100" Type="http://schemas.openxmlformats.org/officeDocument/2006/relationships/font" Target="fonts/font2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9.fntdata"/><Relationship Id="rId98" Type="http://schemas.openxmlformats.org/officeDocument/2006/relationships/font" Target="fonts/font24.fntdata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2:43:09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2030 24575,'24'-21'0,"2"1"0,0 2 0,1 0 0,47-22 0,-36 20 0,62-42 0,79-85 0,-42 32 0,-106 88 0,-1-2 0,-2-1 0,-1-1 0,-1-2 0,-2 0 0,-1-2 0,-2 0 0,32-75 0,-43 84 0,-2 0 0,6-27 0,-8 25 0,16-44 0,1 11 0,-4-2 0,-2 0 0,-3-1 0,-3 0 0,4-72 0,-11 66 0,-8-111 0,4 175 0,-1 0 0,-1 1 0,1-1 0,-1 1 0,0-1 0,0 1 0,-1 0 0,1 0 0,-7-9 0,-37-40 0,10 15 0,29 31 0,0 0 0,-1 0 0,0 1 0,-1 0 0,1 1 0,-2-1 0,-12-5 0,1 1 0,-1 1 0,-30-8 0,10 6 0,0 3 0,-1 1 0,-75-4 0,-135 12 0,112 3 0,107-2 0,0 1 0,-61 12 0,67-9-682,-51 2-1,56-7-6143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2:43:12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0 24575,'-70'78'0,"-7"8"0,40-45 0,27-29 0,-1 0 0,-1-1 0,-17 15 0,24-23 0,-25 22 0,30-25 0,-1 1 0,1-1 0,0 0 0,-1 1 0,1-1 0,-1 1 0,1-1 0,0 1 0,-1-1 0,1 1 0,0 0 0,0-1 0,-1 1 0,1-1 0,0 1 0,0-1 0,0 1 0,0 0 0,0-1 0,0 1 0,0 0 0,0-1 0,0 1 0,0-1 0,0 1 0,0 0 0,0-1 0,0 1 0,1-1 0,-1 1 0,0 0 0,0-1 0,1 1 0,-1-1 0,0 1 0,1-1 0,-1 1 0,1-1 0,-1 1 0,1-1 0,-1 0 0,1 1 0,-1-1 0,1 0 0,-1 1 0,1-1 0,-1 0 0,1 1 0,-1-1 0,1 0 0,1 0 0,24 9 0,0-1 0,1-1 0,42 4 0,15 4 0,-31-5 0,-38-8 0,1 0 0,0 2 0,-1 0 0,0 1 0,0 0 0,18 10 0,20 11 11,-39-21-241,0 1 1,-1 1 0,0 0 0,-1 1-1,15 11 1,-9-2-6597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2:43:47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2148 24575,'26'-22'0,"1"1"0,1 1 0,0 2 0,51-25 0,-39 22 0,65-45 0,84-89 0,-43 33 0,-113 93 0,-2-1 0,-1-2 0,-1-1 0,-2-1 0,-1-2 0,-2 0 0,-2-2 0,35-78 0,-47 89 0,-2-1 0,7-29 0,-9 28 0,18-47 0,0 11 0,-4-1 0,-2-1 0,-3 0 0,-3-1 0,3-76 0,-11 69 0,-7-116 0,2 185 0,0 0 0,0 0 0,-1 0 0,0 1 0,0-1 0,0 0 0,-1 1 0,0 0 0,-6-10 0,-40-42 0,12 15 0,29 33 0,0 1 0,0 0 0,-1 0 0,0 1 0,0 0 0,-1 1 0,-13-8 0,0 3 0,0 1 0,-32-10 0,11 8 0,-1 2 0,0 2 0,-80-5 0,-142 13 0,117 3 0,114-2 0,0 1 0,-64 13 0,70-10-682,-54 2-1,60-6-6143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2:43:47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0 24575,'-67'77'0,"-9"7"0,40-45 0,26-27 0,-1 0 0,0-1 0,-18 14 0,24-22 0,-24 21 0,29-23 0,-1-1 0,1 0 0,-1 1 0,1-1 0,0 1 0,-1-1 0,1 1 0,0-1 0,-1 1 0,1-1 0,0 1 0,0-1 0,-1 1 0,1 0 0,0-1 0,0 1 0,0-1 0,0 1 0,0 0 0,0-1 0,0 1 0,0-1 0,0 1 0,0 0 0,0-1 0,0 1 0,0-1 0,0 1 0,1-1 0,-1 1 0,0 0 0,0-1 0,1 1 0,-1-1 0,0 1 0,1-1 0,-1 1 0,1-1 0,-1 1 0,0-1 0,1 0 0,-1 1 0,1-1 0,-1 0 0,1 1 0,-1-1 0,1 0 0,0 0 0,-1 1 0,1-1 0,0 0 0,25 9 0,0-1 0,0-2 0,41 5 0,15 4 0,-30-6 0,-37-7 0,1 1 0,-1 0 0,0 1 0,0 1 0,-1 0 0,18 10 0,21 10 11,-40-20-241,0 1 1,0 1 0,0 0 0,-1 0-1,14 12 1,-8-2-6597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2:44:26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2148 24575,'26'-22'0,"1"1"0,1 1 0,0 2 0,51-25 0,-39 22 0,65-45 0,84-89 0,-43 33 0,-113 93 0,-2-1 0,-1-2 0,-1-1 0,-2-1 0,-1-2 0,-2 0 0,-2-2 0,35-78 0,-47 89 0,-2-1 0,7-29 0,-9 28 0,18-47 0,0 11 0,-4-1 0,-2-1 0,-3 0 0,-3-1 0,3-76 0,-11 69 0,-7-116 0,2 185 0,0 0 0,0 0 0,-1 0 0,0 1 0,0-1 0,0 0 0,-1 1 0,0 0 0,-6-10 0,-40-42 0,12 15 0,29 33 0,0 1 0,0 0 0,-1 0 0,0 1 0,0 0 0,-1 1 0,-13-8 0,0 3 0,0 1 0,-32-10 0,11 8 0,-1 2 0,0 2 0,-80-5 0,-142 13 0,117 3 0,114-2 0,0 1 0,-64 13 0,70-10-682,-54 2-1,60-6-6143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2:44:26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0 24575,'-67'77'0,"-9"7"0,40-45 0,26-27 0,-1 0 0,0-1 0,-18 14 0,24-22 0,-24 21 0,29-23 0,-1-1 0,1 0 0,-1 1 0,1-1 0,0 1 0,-1-1 0,1 1 0,0-1 0,-1 1 0,1-1 0,0 1 0,0-1 0,-1 1 0,1 0 0,0-1 0,0 1 0,0-1 0,0 1 0,0 0 0,0-1 0,0 1 0,0-1 0,0 1 0,0 0 0,0-1 0,0 1 0,0-1 0,0 1 0,1-1 0,-1 1 0,0 0 0,0-1 0,1 1 0,-1-1 0,0 1 0,1-1 0,-1 1 0,1-1 0,-1 1 0,0-1 0,1 0 0,-1 1 0,1-1 0,-1 0 0,1 1 0,-1-1 0,1 0 0,0 0 0,-1 1 0,1-1 0,0 0 0,25 9 0,0-1 0,0-2 0,41 5 0,15 4 0,-30-6 0,-37-7 0,1 1 0,-1 0 0,0 1 0,0 1 0,-1 0 0,18 10 0,21 10 11,-40-20-241,0 1 1,0 1 0,0 0 0,-1 0-1,14 12 1,-8-2-6597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2:49:27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24575,'36'0'0,"0"2"0,45 8 0,-61-6 0,-1 1 0,0 0 0,0 2 0,0 0 0,30 17 0,11 5 0,-46-24 0,0 1 0,-1 1 0,0 0 0,-1 1 0,1 0 0,12 12 0,-13-10 0,0 0 0,1-1 0,0 0 0,1-1 0,19 8 0,-24-11 0,13 8 0,-1 1 0,0 0 0,20 20 0,16 12 0,-39-33 0,-1 1 0,-1 1 0,0 1 0,-1 0 0,-1 1 0,0 0 0,12 23 0,-3 0 0,-2 2 0,21 57 0,-30-68 0,-4-15 0,-2 0 0,0 1 0,-1-1 0,-1 1 0,-1 0 0,3 25 0,-8 318 0,-1-340 0,0 0 0,-1-1 0,-1 1 0,-1-1 0,-1-1 0,0 1 0,-2-1 0,0 0 0,-1-1 0,0 0 0,-14 17 0,-10 18 0,24-35 0,-1 0 0,0-1 0,-19 20 0,-136 116 0,137-126 0,-14 14 0,25-23 0,-1-1 0,0 0 0,-37 23 0,-19 5 0,-64 34 0,63-36 85,48-26-810,-40 19 0,33-21-6101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2:49:36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0 24575,'-2'0'0,"-1"1"0,1-1 0,-1 1 0,1 0 0,0 0 0,-1-1 0,1 2 0,0-1 0,-1 0 0,1 0 0,0 1 0,0-1 0,0 1 0,0 0 0,0-1 0,-2 4 0,-26 36 0,23-31 0,-4 10 0,0 0 0,2 0 0,0 1 0,-8 30 0,3-12 0,-47 95 0,44-96 0,12-30 0,1 1 0,0-1 0,1 1 0,0-1 0,0 1 0,-2 12 0,5-18 0,0-1 0,0 1 0,0 0 0,1-1 0,-1 1 0,1-1 0,-1 1 0,1-1 0,0 1 0,0-1 0,0 0 0,0 1 0,0-1 0,1 0 0,-1 0 0,1 0 0,-1 0 0,1 0 0,0 0 0,0 0 0,0 0 0,0-1 0,0 1 0,0-1 0,0 1 0,1-1 0,2 1 0,176 81 0,-173-79 0,44 25 0,-41-22 0,1 0 0,-1-1 0,14 6 0,0-2-1365,-3-1-5461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2:50:24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24575,'36'0'0,"0"2"0,45 8 0,-61-6 0,-1 1 0,0 0 0,0 2 0,0 0 0,30 17 0,11 5 0,-46-24 0,0 1 0,-1 1 0,0 0 0,-1 1 0,1 0 0,12 12 0,-13-10 0,0 0 0,1-1 0,0 0 0,1-1 0,19 8 0,-24-11 0,13 8 0,-1 1 0,0 0 0,20 20 0,16 12 0,-39-33 0,-1 1 0,-1 1 0,0 1 0,-1 0 0,-1 1 0,0 0 0,12 23 0,-3 0 0,-2 2 0,21 57 0,-30-68 0,-4-15 0,-2 0 0,0 1 0,-1-1 0,-1 1 0,-1 0 0,3 25 0,-8 318 0,-1-340 0,0 0 0,-1-1 0,-1 1 0,-1-1 0,-1-1 0,0 1 0,-2-1 0,0 0 0,-1-1 0,0 0 0,-14 17 0,-10 18 0,24-35 0,-1 0 0,0-1 0,-19 20 0,-136 116 0,137-126 0,-14 14 0,25-23 0,-1-1 0,0 0 0,-37 23 0,-19 5 0,-64 34 0,63-36 85,48-26-810,-40 19 0,33-21-6101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2:50:34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0 24575,'-2'0'0,"-1"1"0,1-1 0,-1 1 0,1 0 0,0 0 0,-1-1 0,1 2 0,0-1 0,-1 0 0,1 0 0,0 1 0,0-1 0,0 1 0,0 0 0,0-1 0,-2 4 0,-26 36 0,23-31 0,-4 10 0,0 0 0,2 0 0,0 1 0,-8 30 0,3-12 0,-47 95 0,44-96 0,12-30 0,1 1 0,0-1 0,1 1 0,0-1 0,0 1 0,-2 12 0,5-18 0,0-1 0,0 1 0,0 0 0,1-1 0,-1 1 0,1-1 0,-1 1 0,1-1 0,0 1 0,0-1 0,0 0 0,0 1 0,0-1 0,1 0 0,-1 0 0,1 0 0,-1 0 0,1 0 0,0 0 0,0 0 0,0 0 0,0-1 0,0 1 0,0-1 0,0 1 0,1-1 0,2 1 0,176 81 0,-173-79 0,44 25 0,-41-22 0,1 0 0,-1-1 0,14 6 0,0-2-1365,-3-1-5461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2:51:11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24575,'36'0'0,"0"2"0,45 8 0,-61-6 0,-1 1 0,0 0 0,0 2 0,0 0 0,30 17 0,11 5 0,-46-24 0,0 1 0,-1 1 0,0 0 0,-1 1 0,1 0 0,12 12 0,-13-10 0,0 0 0,1-1 0,0 0 0,1-1 0,19 8 0,-24-11 0,13 8 0,-1 1 0,0 0 0,20 20 0,16 12 0,-39-33 0,-1 1 0,-1 1 0,0 1 0,-1 0 0,-1 1 0,0 0 0,12 23 0,-3 0 0,-2 2 0,21 57 0,-30-68 0,-4-15 0,-2 0 0,0 1 0,-1-1 0,-1 1 0,-1 0 0,3 25 0,-8 318 0,-1-340 0,0 0 0,-1-1 0,-1 1 0,-1-1 0,-1-1 0,0 1 0,-2-1 0,0 0 0,-1-1 0,0 0 0,-14 17 0,-10 18 0,24-35 0,-1 0 0,0-1 0,-19 20 0,-136 116 0,137-126 0,-14 14 0,25-23 0,-1-1 0,0 0 0,-37 23 0,-19 5 0,-64 34 0,63-36 85,48-26-810,-40 19 0,33-21-6101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2:51:11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0 24575,'-2'0'0,"-1"1"0,1-1 0,-1 1 0,1 0 0,0 0 0,-1-1 0,1 2 0,0-1 0,-1 0 0,1 0 0,0 1 0,0-1 0,0 1 0,0 0 0,0-1 0,-2 4 0,-26 36 0,23-31 0,-4 10 0,0 0 0,2 0 0,0 1 0,-8 30 0,3-12 0,-47 95 0,44-96 0,12-30 0,1 1 0,0-1 0,1 1 0,0-1 0,0 1 0,-2 12 0,5-18 0,0-1 0,0 1 0,0 0 0,1-1 0,-1 1 0,1-1 0,-1 1 0,1-1 0,0 1 0,0-1 0,0 0 0,0 1 0,0-1 0,1 0 0,-1 0 0,1 0 0,-1 0 0,1 0 0,0 0 0,0 0 0,0 0 0,0-1 0,0 1 0,0-1 0,0 1 0,1-1 0,2 1 0,176 81 0,-173-79 0,44 25 0,-41-22 0,1 0 0,-1-1 0,14 6 0,0-2-1365,-3-1-5461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3:46:19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2243 24575,'-2'0'0,"-1"-1"0,0 0 0,0 0 0,0 0 0,1 0 0,-1 0 0,0-1 0,1 1 0,0-1 0,-1 0 0,1 0 0,0 1 0,0-2 0,-3-1 0,-26-34 0,23 28 0,1-1 0,1 0 0,0 0 0,0 0 0,1-1 0,0 0 0,1 0 0,0 0 0,1 0 0,-1-14 0,3 11 0,0 0 0,2 0 0,-1 0 0,2 0 0,0 0 0,1 0 0,0 1 0,8-19 0,14-31 0,60-106 0,-48 99 0,57-102 0,-74 142 0,42-49 0,-16 23 0,204-233 0,-171 204 0,-34 41 0,95-74 0,-9 10 0,47-46 0,-142 129 0,0 1 0,2 3 0,1 0 0,59-22 0,-34 15 0,30-18 0,-47 22 0,96-36 0,-56 30 0,-55 17 0,2 3 0,0 1 0,44-8 0,-20 9 0,96-9 0,-34 5 0,-81 6 0,55 0 0,-57 8 0,-1 2 0,1 1 0,-1 3 0,0 0 0,0 3 0,-1 0 0,-1 3 0,65 32 0,20 26 0,-107-64 0,-1 0 0,0 1 0,0 1 0,0 0 0,16 18 0,41 60 0,-22-26 0,22 36 0,-10-12 0,-44-64 0,-2 1 0,0 0 0,-1 0 0,-1 1 0,10 37 0,12 25 0,-14-41 0,-2 1 0,-2 1 0,-3 0 0,-1 1 0,-2 0 0,-2 0 0,-1 88 0,-7 101 0,2-233 0,0 0 0,0 1 0,0-1 0,0 0 0,-1 0 0,0 0 0,1 0 0,-1 0 0,0 0 0,0-1 0,-1 1 0,1 0 0,-1 0 0,1-1 0,-5 5 0,5-5 0,-1-1 0,0 1 0,0-1 0,0 0 0,-1 0 0,1 0 0,0 0 0,0 0 0,0 0 0,-1-1 0,1 1 0,0-1 0,-1 0 0,1 1 0,-1-1 0,1 0 0,0 0 0,-1-1 0,1 1 0,-1 0 0,-2-2 0,-6-1 0,1 0 0,-1-1 0,1 0 0,0-1 0,1 0 0,-1-1 0,-9-7 0,-64-55 0,60 48 0,-24-24 0,-70-83 0,114 123 0,-1 0 0,2 0 0,-1 0 0,0-1 0,1 1 0,0-1 0,-2-5 0,3 9 0,1 1 0,0-1 0,0 0 0,0 1 0,0-1 0,0 1 0,0-1 0,0 1 0,0-1 0,0 1 0,0-1 0,0 1 0,0-1 0,0 0 0,0 1 0,0-1 0,1 1 0,-1-1 0,0 1 0,0-1 0,1 1 0,-1-1 0,0 1 0,1 0 0,-1-1 0,1 0 0,0 1 0,1-1 0,-1 1 0,0-1 0,1 1 0,-1 0 0,0 0 0,1 0 0,-1 0 0,1 0 0,-1 0 0,0 0 0,1 0 0,-1 0 0,1 1 0,2 0 0,20 6 0,1 1 0,-1 2 0,-1 0 0,0 1 0,0 2 0,-1 0 0,-1 1 0,21 18 0,19 11 0,-38-29 0,27 23 0,-10 3 0,-32-30 0,1-1 0,0 0 0,1 0 0,0-1 0,0 0 0,12 6 0,-20-13 0,1 0 0,-1 0 0,1 0 0,0 0 0,-1 0 0,1-1 0,0 1 0,-1-1 0,1 0 0,0 0 0,0 0 0,-1 0 0,1 0 0,0-1 0,-1 1 0,1-1 0,0 0 0,-1 1 0,1-1 0,-1 0 0,1-1 0,4-2 0,1-2 0,0 0 0,0-1 0,0-1 0,10-13 0,7-6 0,-8 9 0,25-35 0,13-14 0,-31 39 0,25-34 0,-29 35 0,42-42 0,-45 51 0,0 0 0,-1 0 0,13-22 0,-33 39 0,-10 8 0,-16 13 0,-93 77 0,-49 44 0,137-111-118,10-9 243,-34 39-1,53-53-274,0 1 1,0-1-1,1 2 1,0-1-1,1 0 0,-1 1 1,2 0-1,-1 0 1,-3 17-1,4-7-6676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1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352" y="1813775"/>
            <a:ext cx="4036868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9691196" y="861192"/>
            <a:ext cx="2554142" cy="587454"/>
            <a:chOff x="9424496" y="8611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1145310"/>
            <a:ext cx="11737547" cy="5321399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3) - Stack - Linear Data Structure</a:t>
            </a: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3) - Stack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9792796" y="58903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41D37084-7B86-4282-7E64-C39C36DDD8C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-62404" y="5890392"/>
            <a:ext cx="2554142" cy="587454"/>
            <a:chOff x="2423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88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3) - Stack - Linear Data Structure</a:t>
            </a: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D97839DA-1409-302C-B631-51AB9B4EE83D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9818224" y="6087939"/>
            <a:ext cx="2554142" cy="650953"/>
            <a:chOff x="9437224" y="6087939"/>
            <a:chExt cx="2554142" cy="65095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726758" y="149992"/>
            <a:ext cx="2554142" cy="587454"/>
            <a:chOff x="9475296" y="5890392"/>
            <a:chExt cx="2554142" cy="587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3) - Stack - Linear Data Structure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69D8F-A94F-5990-D6C7-86B7513ABCA7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3) - Stack - Linear Data Structure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1E76C4-FD01-DC7D-1EBF-A0C8DEC62801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773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3) - Stack - Linear Data Structure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A584F-738E-8479-5CDC-387AA7688E0F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2: </a:t>
            </a:r>
            <a:r>
              <a:rPr lang="en-US" sz="1800" dirty="0"/>
              <a:t>Linear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71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3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4" r:id="rId23"/>
    <p:sldLayoutId id="2147483695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26.png"/><Relationship Id="rId18" Type="http://schemas.openxmlformats.org/officeDocument/2006/relationships/customXml" Target="../ink/ink11.xml"/><Relationship Id="rId3" Type="http://schemas.openxmlformats.org/officeDocument/2006/relationships/image" Target="../media/image22.png"/><Relationship Id="rId21" Type="http://schemas.openxmlformats.org/officeDocument/2006/relationships/image" Target="../media/image28.png"/><Relationship Id="rId7" Type="http://schemas.openxmlformats.org/officeDocument/2006/relationships/image" Target="../media/image24.png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" Type="http://schemas.openxmlformats.org/officeDocument/2006/relationships/customXml" Target="../ink/ink1.xml"/><Relationship Id="rId16" Type="http://schemas.openxmlformats.org/officeDocument/2006/relationships/customXml" Target="../ink/ink9.xml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3.xml"/><Relationship Id="rId11" Type="http://schemas.openxmlformats.org/officeDocument/2006/relationships/customXml" Target="../ink/ink6.xml"/><Relationship Id="rId5" Type="http://schemas.openxmlformats.org/officeDocument/2006/relationships/image" Target="../media/image23.png"/><Relationship Id="rId15" Type="http://schemas.openxmlformats.org/officeDocument/2006/relationships/image" Target="../media/image27.png"/><Relationship Id="rId10" Type="http://schemas.openxmlformats.org/officeDocument/2006/relationships/customXml" Target="../ink/ink5.xml"/><Relationship Id="rId19" Type="http://schemas.openxmlformats.org/officeDocument/2006/relationships/customXml" Target="../ink/ink12.xml"/><Relationship Id="rId4" Type="http://schemas.openxmlformats.org/officeDocument/2006/relationships/customXml" Target="../ink/ink2.xml"/><Relationship Id="rId9" Type="http://schemas.openxmlformats.org/officeDocument/2006/relationships/image" Target="../media/image25.png"/><Relationship Id="rId14" Type="http://schemas.openxmlformats.org/officeDocument/2006/relationships/customXml" Target="../ink/ink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60510" cy="2563094"/>
          </a:xfrm>
        </p:spPr>
        <p:txBody>
          <a:bodyPr/>
          <a:lstStyle/>
          <a:p>
            <a:r>
              <a:rPr lang="en-US" sz="32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 (Part 3)</a:t>
            </a:r>
            <a:r>
              <a:rPr lang="en-US" sz="4400" dirty="0"/>
              <a:t> </a:t>
            </a:r>
            <a:br>
              <a:rPr lang="en-US" sz="4400" dirty="0"/>
            </a:br>
            <a:r>
              <a:rPr lang="en-US" sz="4400" dirty="0"/>
              <a:t>Stack </a:t>
            </a:r>
            <a:br>
              <a:rPr lang="en-US" sz="4400" dirty="0"/>
            </a:br>
            <a:r>
              <a:rPr lang="en-US" sz="4400" b="0" dirty="0"/>
              <a:t>Linear Data Structure</a:t>
            </a:r>
            <a:endParaRPr lang="en-US" sz="60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Pradyumansinh</a:t>
            </a:r>
            <a:r>
              <a:rPr lang="en-US" dirty="0"/>
              <a:t>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417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1157831"/>
            <a:ext cx="968864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Topics to be covered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Stack – Introduction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Operations on Stack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Application of Stack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Check the given grammar for the input string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Polish Notations and their compilation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Infix to Postfix Conversion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Infix to Prefix Conversion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Evaluation of Postfix Expression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Evaluation of Prefix Expression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Recursion (Factorial)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81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1180" y="863444"/>
            <a:ext cx="11929641" cy="5590565"/>
          </a:xfrm>
        </p:spPr>
        <p:txBody>
          <a:bodyPr vert="horz" lIns="91440" tIns="45720" rIns="91440" bIns="45720" rtlCol="0">
            <a:noAutofit/>
          </a:bodyPr>
          <a:lstStyle/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A </a:t>
            </a:r>
            <a:r>
              <a:rPr lang="en-IN" sz="2400" dirty="0">
                <a:solidFill>
                  <a:schemeClr val="accent6"/>
                </a:solidFill>
              </a:rPr>
              <a:t>linear list </a:t>
            </a:r>
            <a:r>
              <a:rPr lang="en-IN" sz="2400" dirty="0"/>
              <a:t>which allows </a:t>
            </a:r>
            <a:r>
              <a:rPr lang="en-IN" sz="2400" dirty="0">
                <a:solidFill>
                  <a:schemeClr val="accent6"/>
                </a:solidFill>
              </a:rPr>
              <a:t>insertion and deletion of an element</a:t>
            </a:r>
            <a:r>
              <a:rPr lang="en-IN" sz="2400" dirty="0"/>
              <a:t> at </a:t>
            </a:r>
            <a:r>
              <a:rPr lang="en-IN" sz="2400" b="1" dirty="0"/>
              <a:t>one end only </a:t>
            </a:r>
            <a:r>
              <a:rPr lang="en-IN" sz="2400" dirty="0"/>
              <a:t>is called stack.</a:t>
            </a:r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The </a:t>
            </a:r>
            <a:r>
              <a:rPr lang="en-IN" sz="2400" b="1" dirty="0"/>
              <a:t>insertion operation</a:t>
            </a:r>
            <a:r>
              <a:rPr lang="en-IN" sz="2400" dirty="0"/>
              <a:t> is called as </a:t>
            </a:r>
            <a:r>
              <a:rPr lang="en-IN" sz="2400" dirty="0">
                <a:solidFill>
                  <a:schemeClr val="accent6"/>
                </a:solidFill>
              </a:rPr>
              <a:t>PUSH</a:t>
            </a:r>
            <a:r>
              <a:rPr lang="en-IN" sz="2400" dirty="0"/>
              <a:t> and </a:t>
            </a:r>
            <a:r>
              <a:rPr lang="en-IN" sz="2400" b="1" dirty="0"/>
              <a:t>deletion operation</a:t>
            </a:r>
            <a:r>
              <a:rPr lang="en-IN" sz="2400" dirty="0"/>
              <a:t> as </a:t>
            </a:r>
            <a:r>
              <a:rPr lang="en-IN" sz="2400" dirty="0">
                <a:solidFill>
                  <a:schemeClr val="accent6"/>
                </a:solidFill>
              </a:rPr>
              <a:t>POP</a:t>
            </a:r>
            <a:r>
              <a:rPr lang="en-IN" sz="2400" dirty="0"/>
              <a:t>.</a:t>
            </a:r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The </a:t>
            </a:r>
            <a:r>
              <a:rPr lang="en-IN" sz="2400" b="1" dirty="0"/>
              <a:t>most accessible element</a:t>
            </a:r>
            <a:r>
              <a:rPr lang="en-IN" sz="2400" dirty="0"/>
              <a:t> in stack is known as </a:t>
            </a:r>
            <a:r>
              <a:rPr lang="en-IN" sz="2400" dirty="0">
                <a:solidFill>
                  <a:schemeClr val="accent6"/>
                </a:solidFill>
              </a:rPr>
              <a:t>top</a:t>
            </a:r>
            <a:r>
              <a:rPr lang="en-IN" sz="2400" dirty="0"/>
              <a:t>.</a:t>
            </a:r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The elements can only be removed in the opposite orders from which they were added to the stack.</a:t>
            </a:r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Such a linear list is referred to as </a:t>
            </a:r>
            <a:r>
              <a:rPr lang="en-IN" sz="2400" dirty="0">
                <a:solidFill>
                  <a:schemeClr val="accent6"/>
                </a:solidFill>
              </a:rPr>
              <a:t>a LIFO (Last In First Out) </a:t>
            </a:r>
            <a:r>
              <a:rPr lang="en-IN" sz="2400" dirty="0"/>
              <a:t>list.</a:t>
            </a:r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endParaRPr lang="en-IN" sz="2400" dirty="0"/>
          </a:p>
        </p:txBody>
      </p:sp>
      <p:grpSp>
        <p:nvGrpSpPr>
          <p:cNvPr id="32" name="Group 31"/>
          <p:cNvGrpSpPr/>
          <p:nvPr/>
        </p:nvGrpSpPr>
        <p:grpSpPr>
          <a:xfrm>
            <a:off x="3810000" y="5257800"/>
            <a:ext cx="4419600" cy="544206"/>
            <a:chOff x="2286000" y="5628752"/>
            <a:chExt cx="4419600" cy="544206"/>
          </a:xfrm>
        </p:grpSpPr>
        <p:sp>
          <p:nvSpPr>
            <p:cNvPr id="9" name="Rectangle 8"/>
            <p:cNvSpPr/>
            <p:nvPr/>
          </p:nvSpPr>
          <p:spPr>
            <a:xfrm>
              <a:off x="4793670" y="5639558"/>
              <a:ext cx="533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2286000" y="5638800"/>
              <a:ext cx="543448" cy="533422"/>
              <a:chOff x="2667000" y="5083210"/>
              <a:chExt cx="543448" cy="533422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667000" y="5083210"/>
                <a:ext cx="533400" cy="533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2667000" y="5083232"/>
                <a:ext cx="533400" cy="5334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 flipV="1">
                <a:off x="2667000" y="5083968"/>
                <a:ext cx="543448" cy="53266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>
            <a:xfrm>
              <a:off x="2824590" y="5638800"/>
              <a:ext cx="543448" cy="533422"/>
              <a:chOff x="2667000" y="5083210"/>
              <a:chExt cx="543448" cy="533422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2667000" y="5083210"/>
                <a:ext cx="533400" cy="533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>
                <a:off x="2667000" y="5083232"/>
                <a:ext cx="533400" cy="5334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flipV="1">
                <a:off x="2667000" y="5083968"/>
                <a:ext cx="543448" cy="53266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3363532" y="5638800"/>
              <a:ext cx="543448" cy="533422"/>
              <a:chOff x="2667000" y="5083210"/>
              <a:chExt cx="543448" cy="533422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2667000" y="5083210"/>
                <a:ext cx="533400" cy="533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>
                <a:off x="2667000" y="5083232"/>
                <a:ext cx="533400" cy="5334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V="1">
                <a:off x="2667000" y="5083968"/>
                <a:ext cx="543448" cy="53266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/>
          </p:nvGrpSpPr>
          <p:grpSpPr>
            <a:xfrm>
              <a:off x="4257152" y="5638778"/>
              <a:ext cx="543448" cy="533422"/>
              <a:chOff x="2667000" y="5083210"/>
              <a:chExt cx="543448" cy="533422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2667000" y="5083210"/>
                <a:ext cx="533400" cy="533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2667000" y="5083232"/>
                <a:ext cx="533400" cy="5334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V="1">
                <a:off x="2667000" y="5083968"/>
                <a:ext cx="543448" cy="53266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" name="Rectangle 27"/>
            <p:cNvSpPr/>
            <p:nvPr/>
          </p:nvSpPr>
          <p:spPr>
            <a:xfrm>
              <a:off x="3896932" y="5628752"/>
              <a:ext cx="360220" cy="5434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prstClr val="black"/>
                  </a:solidFill>
                </a:rPr>
                <a:t>…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334000" y="5638800"/>
              <a:ext cx="533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172200" y="5638800"/>
              <a:ext cx="533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841078" y="5628774"/>
              <a:ext cx="360220" cy="5434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prstClr val="black"/>
                  </a:solidFill>
                </a:rPr>
                <a:t>…</a:t>
              </a: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5737168" y="6019800"/>
            <a:ext cx="61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prstClr val="black"/>
                </a:solidFill>
              </a:rPr>
              <a:t>TOP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35" name="Straight Arrow Connector 34"/>
          <p:cNvCxnSpPr>
            <a:stCxn id="33" idx="0"/>
            <a:endCxn id="25" idx="2"/>
          </p:cNvCxnSpPr>
          <p:nvPr/>
        </p:nvCxnSpPr>
        <p:spPr>
          <a:xfrm flipV="1">
            <a:off x="6046992" y="5801226"/>
            <a:ext cx="860" cy="218574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324600" y="4579956"/>
            <a:ext cx="0" cy="601644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495800" y="4800600"/>
            <a:ext cx="1105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prstClr val="black"/>
                </a:solidFill>
              </a:rPr>
              <a:t>Insertion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95800" y="4495800"/>
            <a:ext cx="1105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prstClr val="black"/>
                </a:solidFill>
              </a:rPr>
              <a:t>Deletion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43" name="Straight Arrow Connector 42"/>
          <p:cNvCxnSpPr>
            <a:stCxn id="39" idx="3"/>
          </p:cNvCxnSpPr>
          <p:nvPr/>
        </p:nvCxnSpPr>
        <p:spPr>
          <a:xfrm>
            <a:off x="5601042" y="4985266"/>
            <a:ext cx="713510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40" idx="3"/>
          </p:cNvCxnSpPr>
          <p:nvPr/>
        </p:nvCxnSpPr>
        <p:spPr>
          <a:xfrm flipH="1">
            <a:off x="5601042" y="4680466"/>
            <a:ext cx="723558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1905000" y="4419600"/>
            <a:ext cx="762000" cy="1600200"/>
          </a:xfrm>
          <a:custGeom>
            <a:avLst/>
            <a:gdLst>
              <a:gd name="connsiteX0" fmla="*/ 0 w 762000"/>
              <a:gd name="connsiteY0" fmla="*/ 0 h 1447800"/>
              <a:gd name="connsiteX1" fmla="*/ 0 w 762000"/>
              <a:gd name="connsiteY1" fmla="*/ 1447800 h 1447800"/>
              <a:gd name="connsiteX2" fmla="*/ 762000 w 762000"/>
              <a:gd name="connsiteY2" fmla="*/ 1447800 h 1447800"/>
              <a:gd name="connsiteX3" fmla="*/ 762000 w 762000"/>
              <a:gd name="connsiteY3" fmla="*/ 3810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0" h="1447800">
                <a:moveTo>
                  <a:pt x="0" y="0"/>
                </a:moveTo>
                <a:lnTo>
                  <a:pt x="0" y="1447800"/>
                </a:lnTo>
                <a:lnTo>
                  <a:pt x="762000" y="1447800"/>
                </a:lnTo>
                <a:lnTo>
                  <a:pt x="762000" y="38100"/>
                </a:lnTo>
              </a:path>
            </a:pathLst>
          </a:cu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905000" y="5715000"/>
            <a:ext cx="762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prstClr val="white"/>
                </a:solidFill>
              </a:rPr>
              <a:t>A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905000" y="5410200"/>
            <a:ext cx="762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prstClr val="white"/>
                </a:solidFill>
              </a:rPr>
              <a:t>B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905000" y="5105400"/>
            <a:ext cx="762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prstClr val="white"/>
                </a:solidFill>
              </a:rPr>
              <a:t>C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11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8869 L -3.33333E-6 -1.83206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4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4428 L -3.33333E-6 1.7696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19986 L -3.33333E-6 -4.62873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9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19986 L -3.33333E-6 -4.62873E-6 " pathEditMode="relative" rAng="0" ptsTypes="AA">
                                      <p:cBhvr>
                                        <p:cTn id="34" dur="20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9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4428 L -3.33333E-6 1.7696E-6 " pathEditMode="relative" rAng="0" ptsTypes="AA">
                                      <p:cBhvr>
                                        <p:cTn id="41" dur="20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8869 L -3.33333E-6 -1.83206E-6 " pathEditMode="relative" rAng="0" ptsTypes="AA">
                                      <p:cBhvr>
                                        <p:cTn id="48" dur="2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4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9" grpId="0"/>
      <p:bldP spid="40" grpId="0"/>
      <p:bldP spid="14" grpId="0" animBg="1"/>
      <p:bldP spid="34" grpId="0" animBg="1"/>
      <p:bldP spid="34" grpId="1" animBg="1"/>
      <p:bldP spid="34" grpId="2" animBg="1"/>
      <p:bldP spid="34" grpId="3" animBg="1"/>
      <p:bldP spid="41" grpId="0" animBg="1"/>
      <p:bldP spid="41" grpId="1" animBg="1"/>
      <p:bldP spid="41" grpId="2" animBg="1"/>
      <p:bldP spid="41" grpId="3" animBg="1"/>
      <p:bldP spid="42" grpId="0" animBg="1"/>
      <p:bldP spid="42" grpId="1" animBg="1"/>
      <p:bldP spid="42" grpId="2" animBg="1"/>
      <p:bldP spid="42" grpId="3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Stack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1180" y="863444"/>
            <a:ext cx="11929641" cy="5590565"/>
          </a:xfrm>
        </p:spPr>
        <p:txBody>
          <a:bodyPr vert="horz" lIns="91440" tIns="45720" rIns="91440" bIns="45720" rtlCol="0">
            <a:noAutofit/>
          </a:bodyPr>
          <a:lstStyle/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A pointer TOP keeps track of the top element in the stack. </a:t>
            </a:r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Initially, when the </a:t>
            </a:r>
            <a:r>
              <a:rPr lang="en-IN" sz="2400" b="1" dirty="0"/>
              <a:t>stack is empty</a:t>
            </a:r>
            <a:r>
              <a:rPr lang="en-IN" sz="2400" dirty="0"/>
              <a:t>, </a:t>
            </a:r>
            <a:r>
              <a:rPr lang="en-IN" sz="2400" dirty="0">
                <a:solidFill>
                  <a:schemeClr val="accent6"/>
                </a:solidFill>
              </a:rPr>
              <a:t>TOP</a:t>
            </a:r>
            <a:r>
              <a:rPr lang="en-IN" sz="2400" dirty="0"/>
              <a:t> has a value of </a:t>
            </a:r>
            <a:r>
              <a:rPr lang="en-IN" sz="2400" dirty="0" smtClean="0">
                <a:solidFill>
                  <a:schemeClr val="accent6"/>
                </a:solidFill>
              </a:rPr>
              <a:t>“-1”</a:t>
            </a:r>
            <a:r>
              <a:rPr lang="en-IN" sz="2400" dirty="0" smtClean="0"/>
              <a:t>.</a:t>
            </a:r>
            <a:endParaRPr lang="en-IN" sz="2400" dirty="0"/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Each time a</a:t>
            </a:r>
            <a:r>
              <a:rPr lang="en-IN" sz="2400" b="1" dirty="0"/>
              <a:t> new element is inserted</a:t>
            </a:r>
            <a:r>
              <a:rPr lang="en-IN" sz="2400" dirty="0"/>
              <a:t> in the stack, the pointer is </a:t>
            </a:r>
            <a:r>
              <a:rPr lang="en-IN" sz="2400" dirty="0">
                <a:solidFill>
                  <a:schemeClr val="accent6"/>
                </a:solidFill>
              </a:rPr>
              <a:t>incremented by “one”</a:t>
            </a:r>
            <a:r>
              <a:rPr lang="en-IN" sz="2400" dirty="0"/>
              <a:t> before, the element is placed on the stack. </a:t>
            </a:r>
          </a:p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The </a:t>
            </a:r>
            <a:r>
              <a:rPr lang="en-IN" sz="2400" dirty="0">
                <a:solidFill>
                  <a:schemeClr val="accent6"/>
                </a:solidFill>
              </a:rPr>
              <a:t>pointer is decremented by “one”</a:t>
            </a:r>
            <a:r>
              <a:rPr lang="en-IN" sz="2400" dirty="0"/>
              <a:t> each time a </a:t>
            </a:r>
            <a:r>
              <a:rPr lang="en-IN" sz="2400" b="1" dirty="0"/>
              <a:t>deletion is made</a:t>
            </a:r>
            <a:r>
              <a:rPr lang="en-IN" sz="2400" dirty="0"/>
              <a:t> from the stack.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2008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Stack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0070C0"/>
                </a:solidFill>
              </a:rPr>
              <a:t>Push – Pop – Peep - Change</a:t>
            </a:r>
          </a:p>
          <a:p>
            <a:pPr>
              <a:lnSpc>
                <a:spcPct val="110000"/>
              </a:lnSpc>
            </a:pP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08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Procedure : PUSH (S, TOP, X)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procedure </a:t>
            </a:r>
            <a:r>
              <a:rPr lang="en-IN" b="1" i="1" dirty="0">
                <a:solidFill>
                  <a:srgbClr val="C00000"/>
                </a:solidFill>
              </a:rPr>
              <a:t>inserts</a:t>
            </a:r>
            <a:r>
              <a:rPr lang="en-IN" dirty="0"/>
              <a:t> an element </a:t>
            </a:r>
            <a:r>
              <a:rPr lang="en-IN" b="1" dirty="0">
                <a:solidFill>
                  <a:srgbClr val="C00000"/>
                </a:solidFill>
              </a:rPr>
              <a:t>X</a:t>
            </a:r>
            <a:r>
              <a:rPr lang="en-IN" dirty="0"/>
              <a:t> to the top of a stack.</a:t>
            </a:r>
          </a:p>
          <a:p>
            <a:r>
              <a:rPr lang="en-IN" dirty="0"/>
              <a:t>Stack is represented by a vector </a:t>
            </a:r>
            <a:r>
              <a:rPr lang="en-IN" b="1" dirty="0">
                <a:solidFill>
                  <a:srgbClr val="C00000"/>
                </a:solidFill>
              </a:rPr>
              <a:t>S</a:t>
            </a:r>
            <a:r>
              <a:rPr lang="en-IN" dirty="0"/>
              <a:t> containing </a:t>
            </a:r>
            <a:r>
              <a:rPr lang="en-IN" b="1" dirty="0">
                <a:solidFill>
                  <a:srgbClr val="C00000"/>
                </a:solidFill>
              </a:rPr>
              <a:t>N</a:t>
            </a:r>
            <a:r>
              <a:rPr lang="en-IN" dirty="0"/>
              <a:t> elements.</a:t>
            </a:r>
          </a:p>
          <a:p>
            <a:r>
              <a:rPr lang="en-IN" dirty="0"/>
              <a:t>A pointer </a:t>
            </a:r>
            <a:r>
              <a:rPr lang="en-IN" b="1" dirty="0">
                <a:solidFill>
                  <a:srgbClr val="C00000"/>
                </a:solidFill>
              </a:rPr>
              <a:t>TOP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represents the top element in the stack.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6518" y="2599937"/>
            <a:ext cx="5735933" cy="3477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[Check for stack overflow]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	TOP ≥ N-1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	write (‘STACK OVERFLOW’)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	Return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[Increment TOP]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TOP ← TOP + 1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[Insert Element]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S[TOP] ← X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[Finished]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Return</a:t>
            </a:r>
          </a:p>
        </p:txBody>
      </p:sp>
      <p:sp>
        <p:nvSpPr>
          <p:cNvPr id="6" name="Freeform 5"/>
          <p:cNvSpPr/>
          <p:nvPr/>
        </p:nvSpPr>
        <p:spPr>
          <a:xfrm>
            <a:off x="10712134" y="2610084"/>
            <a:ext cx="762000" cy="1027023"/>
          </a:xfrm>
          <a:prstGeom prst="rec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45698" y="3677433"/>
            <a:ext cx="49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tx2"/>
                </a:solidFill>
              </a:rPr>
              <a:t>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66068" y="2606686"/>
            <a:ext cx="299869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Stack is empty, TOP = -1, N=3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266068" y="324551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PUSH(S, TOP, 10)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79062" y="330576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prstClr val="black"/>
                </a:solidFill>
              </a:rPr>
              <a:t>TOP = 0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15" name="Straight Arrow Connector 14"/>
          <p:cNvCxnSpPr>
            <a:stCxn id="13" idx="3"/>
          </p:cNvCxnSpPr>
          <p:nvPr/>
        </p:nvCxnSpPr>
        <p:spPr>
          <a:xfrm>
            <a:off x="10293462" y="3490433"/>
            <a:ext cx="418672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712134" y="3323211"/>
            <a:ext cx="762000" cy="3224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prstClr val="white"/>
                </a:solidFill>
              </a:rPr>
              <a:t>10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6068" y="388433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PUSH(S, TOP, 8)</a:t>
            </a:r>
            <a:endParaRPr lang="en-US" b="1" dirty="0">
              <a:solidFill>
                <a:schemeClr val="tx2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9302862" y="2959871"/>
            <a:ext cx="1409272" cy="369332"/>
            <a:chOff x="6400800" y="5486400"/>
            <a:chExt cx="1409272" cy="369332"/>
          </a:xfrm>
        </p:grpSpPr>
        <p:sp>
          <p:nvSpPr>
            <p:cNvPr id="21" name="TextBox 20"/>
            <p:cNvSpPr txBox="1"/>
            <p:nvPr/>
          </p:nvSpPr>
          <p:spPr>
            <a:xfrm>
              <a:off x="6400800" y="5486400"/>
              <a:ext cx="990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dirty="0">
                  <a:solidFill>
                    <a:prstClr val="black"/>
                  </a:solidFill>
                </a:rPr>
                <a:t>TOP = 1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cxnSp>
          <p:nvCxnSpPr>
            <p:cNvPr id="23" name="Straight Arrow Connector 22"/>
            <p:cNvCxnSpPr>
              <a:stCxn id="21" idx="3"/>
            </p:cNvCxnSpPr>
            <p:nvPr/>
          </p:nvCxnSpPr>
          <p:spPr>
            <a:xfrm>
              <a:off x="7391400" y="5671066"/>
              <a:ext cx="41867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5" name="Rectangle 24"/>
          <p:cNvSpPr/>
          <p:nvPr/>
        </p:nvSpPr>
        <p:spPr>
          <a:xfrm>
            <a:off x="10712134" y="2959871"/>
            <a:ext cx="762000" cy="345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prstClr val="white"/>
                </a:solidFill>
              </a:rPr>
              <a:t>8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66068" y="452316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PUSH(S, TOP, -5)</a:t>
            </a:r>
            <a:endParaRPr lang="en-US" b="1" dirty="0">
              <a:solidFill>
                <a:schemeClr val="tx2"/>
              </a:solidFill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9264762" y="2610084"/>
            <a:ext cx="1447372" cy="369332"/>
            <a:chOff x="6362700" y="5136613"/>
            <a:chExt cx="1447372" cy="369332"/>
          </a:xfrm>
        </p:grpSpPr>
        <p:sp>
          <p:nvSpPr>
            <p:cNvPr id="27" name="TextBox 26"/>
            <p:cNvSpPr txBox="1"/>
            <p:nvPr/>
          </p:nvSpPr>
          <p:spPr>
            <a:xfrm>
              <a:off x="6362700" y="5136613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dirty="0">
                  <a:solidFill>
                    <a:prstClr val="black"/>
                  </a:solidFill>
                </a:rPr>
                <a:t>TOP = 2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cxnSp>
          <p:nvCxnSpPr>
            <p:cNvPr id="29" name="Straight Arrow Connector 28"/>
            <p:cNvCxnSpPr>
              <a:stCxn id="27" idx="3"/>
            </p:cNvCxnSpPr>
            <p:nvPr/>
          </p:nvCxnSpPr>
          <p:spPr>
            <a:xfrm>
              <a:off x="7391400" y="5321279"/>
              <a:ext cx="41867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1" name="Rectangle 30"/>
          <p:cNvSpPr/>
          <p:nvPr/>
        </p:nvSpPr>
        <p:spPr>
          <a:xfrm>
            <a:off x="10712134" y="2610085"/>
            <a:ext cx="762000" cy="3497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prstClr val="white"/>
                </a:solidFill>
              </a:rPr>
              <a:t>-5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66068" y="5161986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PUSH(S, TOP, 6)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66067" y="5800813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Stack Overflow (TOP &gt;= 2)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08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5411 L -3.33333E-6 -0.00394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5307 L -3.33333E-6 -0.00301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5214 L -3.33333E-6 -0.00208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9" grpId="0" animBg="1"/>
      <p:bldP spid="10" grpId="0"/>
      <p:bldP spid="13" grpId="0"/>
      <p:bldP spid="13" grpId="1"/>
      <p:bldP spid="19" grpId="0" animBg="1"/>
      <p:bldP spid="19" grpId="1" animBg="1"/>
      <p:bldP spid="20" grpId="0"/>
      <p:bldP spid="25" grpId="0" animBg="1"/>
      <p:bldP spid="25" grpId="1" animBg="1"/>
      <p:bldP spid="26" grpId="0"/>
      <p:bldP spid="31" grpId="0" animBg="1"/>
      <p:bldP spid="31" grpId="1" animBg="1"/>
      <p:bldP spid="32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: POP (S, TOP)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function </a:t>
            </a:r>
            <a:r>
              <a:rPr lang="en-IN" b="1" i="1" dirty="0">
                <a:solidFill>
                  <a:srgbClr val="C00000"/>
                </a:solidFill>
              </a:rPr>
              <a:t>removes &amp; returns</a:t>
            </a:r>
            <a:r>
              <a:rPr lang="en-IN" dirty="0"/>
              <a:t> the top element from a stack.</a:t>
            </a:r>
          </a:p>
          <a:p>
            <a:r>
              <a:rPr lang="en-IN" dirty="0"/>
              <a:t>Stack is represented by a vector </a:t>
            </a:r>
            <a:r>
              <a:rPr lang="en-IN" b="1" dirty="0">
                <a:solidFill>
                  <a:srgbClr val="C00000"/>
                </a:solidFill>
              </a:rPr>
              <a:t>S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containing </a:t>
            </a:r>
            <a:r>
              <a:rPr lang="en-IN" b="1" dirty="0">
                <a:solidFill>
                  <a:srgbClr val="C00000"/>
                </a:solidFill>
              </a:rPr>
              <a:t>N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elements.</a:t>
            </a:r>
          </a:p>
          <a:p>
            <a:r>
              <a:rPr lang="en-IN" dirty="0"/>
              <a:t>A pointer </a:t>
            </a:r>
            <a:r>
              <a:rPr lang="en-IN" b="1" dirty="0">
                <a:solidFill>
                  <a:srgbClr val="C00000"/>
                </a:solidFill>
              </a:rPr>
              <a:t>TOP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represents the top element in the stack.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76518" y="2600642"/>
            <a:ext cx="5906926" cy="3139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[Check for stack underflow]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	TOP = -1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	write (‘STACK UNDERFLOW’)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	Return (-1)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[Decrement TOP]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TOP ← TOP - 1</a:t>
            </a:r>
          </a:p>
          <a:p>
            <a:pPr marL="450850" indent="-450850"/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[Return former top element of stack]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Return(S[TOP + 1])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9460407" y="2633694"/>
            <a:ext cx="762000" cy="1233237"/>
            <a:chOff x="7815549" y="5290851"/>
            <a:chExt cx="762000" cy="1233237"/>
          </a:xfrm>
        </p:grpSpPr>
        <p:sp>
          <p:nvSpPr>
            <p:cNvPr id="5" name="Freeform 4"/>
            <p:cNvSpPr/>
            <p:nvPr/>
          </p:nvSpPr>
          <p:spPr>
            <a:xfrm>
              <a:off x="7815549" y="5290851"/>
              <a:ext cx="762000" cy="872784"/>
            </a:xfrm>
            <a:prstGeom prst="rect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932506" y="6154756"/>
              <a:ext cx="4948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tx2"/>
                  </a:solidFill>
                </a:rPr>
                <a:t>S</a:t>
              </a:r>
              <a:endParaRPr lang="en-US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9460407" y="3210242"/>
            <a:ext cx="762000" cy="287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prstClr val="white"/>
                </a:solidFill>
              </a:rPr>
              <a:t>10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460407" y="2916459"/>
            <a:ext cx="762000" cy="287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prstClr val="white"/>
                </a:solidFill>
              </a:rPr>
              <a:t>8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60407" y="2633693"/>
            <a:ext cx="762000" cy="287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prstClr val="white"/>
                </a:solidFill>
              </a:rPr>
              <a:t>-5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2057" y="260973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POP(S, TOP)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07558" y="2600642"/>
            <a:ext cx="102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prstClr val="black"/>
                </a:solidFill>
              </a:rPr>
              <a:t>TOP = 2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17" name="Straight Arrow Connector 16"/>
          <p:cNvCxnSpPr>
            <a:stCxn id="16" idx="3"/>
          </p:cNvCxnSpPr>
          <p:nvPr/>
        </p:nvCxnSpPr>
        <p:spPr>
          <a:xfrm>
            <a:off x="9036258" y="2785308"/>
            <a:ext cx="418672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8045658" y="2873042"/>
            <a:ext cx="1409272" cy="369332"/>
            <a:chOff x="6400800" y="5486400"/>
            <a:chExt cx="1409272" cy="369332"/>
          </a:xfrm>
        </p:grpSpPr>
        <p:sp>
          <p:nvSpPr>
            <p:cNvPr id="19" name="TextBox 18"/>
            <p:cNvSpPr txBox="1"/>
            <p:nvPr/>
          </p:nvSpPr>
          <p:spPr>
            <a:xfrm>
              <a:off x="6400800" y="5486400"/>
              <a:ext cx="990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dirty="0">
                  <a:solidFill>
                    <a:prstClr val="black"/>
                  </a:solidFill>
                </a:rPr>
                <a:t>TOP = 1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cxnSp>
          <p:nvCxnSpPr>
            <p:cNvPr id="20" name="Straight Arrow Connector 19"/>
            <p:cNvCxnSpPr>
              <a:stCxn id="19" idx="3"/>
            </p:cNvCxnSpPr>
            <p:nvPr/>
          </p:nvCxnSpPr>
          <p:spPr>
            <a:xfrm>
              <a:off x="7391400" y="5671066"/>
              <a:ext cx="41867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6399583" y="332689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POP(S, TOP)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21858" y="317513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prstClr val="black"/>
                </a:solidFill>
              </a:rPr>
              <a:t>TOP = 0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23" name="Straight Arrow Connector 22"/>
          <p:cNvCxnSpPr>
            <a:stCxn id="22" idx="3"/>
          </p:cNvCxnSpPr>
          <p:nvPr/>
        </p:nvCxnSpPr>
        <p:spPr>
          <a:xfrm>
            <a:off x="9036258" y="3359804"/>
            <a:ext cx="418672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98664" y="404404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POP(S, TOP)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45658" y="3506477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prstClr val="black"/>
                </a:solidFill>
              </a:rPr>
              <a:t>TOP = -1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99583" y="47612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POP(S, TOP)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66067" y="547835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Stack Underflow (TOP = -1)</a:t>
            </a:r>
            <a:endParaRPr lang="en-US" sz="17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41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0.12792 L -4.16667E-6 2.14897E-6 " pathEditMode="relative" rAng="0" ptsTypes="AA">
                                      <p:cBhvr>
                                        <p:cTn id="84" dur="20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17234 L -0.00104 3.64793E-6 " pathEditMode="relative" rAng="0" ptsTypes="AA">
                                      <p:cBhvr>
                                        <p:cTn id="105" dur="2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6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0.21605 L 0.00035 0.00069 " pathEditMode="relative" rAng="0" ptsTypes="AA">
                                      <p:cBhvr>
                                        <p:cTn id="126" dur="2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8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000"/>
                            </p:stCondLst>
                            <p:childTnLst>
                              <p:par>
                                <p:cTn id="12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1" grpId="1" animBg="1"/>
      <p:bldP spid="11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5" grpId="0"/>
      <p:bldP spid="16" grpId="0"/>
      <p:bldP spid="16" grpId="1"/>
      <p:bldP spid="21" grpId="0"/>
      <p:bldP spid="22" grpId="0"/>
      <p:bldP spid="22" grpId="1"/>
      <p:bldP spid="24" grpId="0"/>
      <p:bldP spid="26" grpId="0"/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53B20-4A05-64D4-9FF9-AA83EAF66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294C-6ADA-3926-7E27-074B4C74B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: PEEP (S, TOP, I)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E0E9C-5B7C-E38F-B1A6-6B29759E0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function returns the value of the </a:t>
            </a:r>
            <a:r>
              <a:rPr lang="en-IN" b="1" dirty="0" err="1">
                <a:solidFill>
                  <a:srgbClr val="C00000"/>
                </a:solidFill>
              </a:rPr>
              <a:t>I</a:t>
            </a:r>
            <a:r>
              <a:rPr lang="en-IN" b="1" baseline="30000" dirty="0" err="1">
                <a:solidFill>
                  <a:srgbClr val="C00000"/>
                </a:solidFill>
              </a:rPr>
              <a:t>th</a:t>
            </a:r>
            <a:r>
              <a:rPr lang="en-IN" dirty="0"/>
              <a:t> element from the </a:t>
            </a:r>
            <a:r>
              <a:rPr lang="en-IN" b="1" dirty="0">
                <a:solidFill>
                  <a:srgbClr val="C00000"/>
                </a:solidFill>
              </a:rPr>
              <a:t>TOP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of the stack.  The element is not deleted by this function.</a:t>
            </a:r>
          </a:p>
          <a:p>
            <a:r>
              <a:rPr lang="en-IN" dirty="0"/>
              <a:t>Stack is represented by a vector </a:t>
            </a:r>
            <a:r>
              <a:rPr lang="en-IN" b="1" dirty="0">
                <a:solidFill>
                  <a:srgbClr val="C00000"/>
                </a:solidFill>
              </a:rPr>
              <a:t>S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containing </a:t>
            </a:r>
            <a:r>
              <a:rPr lang="en-IN" b="1" dirty="0">
                <a:solidFill>
                  <a:srgbClr val="C00000"/>
                </a:solidFill>
              </a:rPr>
              <a:t>N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elements.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2275B-A66A-C15F-781A-6C6821817CA5}"/>
              </a:ext>
            </a:extLst>
          </p:cNvPr>
          <p:cNvSpPr txBox="1"/>
          <p:nvPr/>
        </p:nvSpPr>
        <p:spPr>
          <a:xfrm>
            <a:off x="397566" y="2389147"/>
            <a:ext cx="7005006" cy="24622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[Check for stack underflow]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If 	TOP-I+1 ≤ -1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Then 	write (‘Element not available.’)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	Return (-1)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[Return </a:t>
            </a:r>
            <a:r>
              <a:rPr lang="en-IN" sz="2200" b="1" dirty="0" err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sz="2200" b="1" baseline="30000" dirty="0" err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th</a:t>
            </a:r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element from top    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   of the stack]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Return(S[TOP–I+1])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138564-D28F-C420-7BEC-FC2A3D861DD2}"/>
              </a:ext>
            </a:extLst>
          </p:cNvPr>
          <p:cNvGrpSpPr/>
          <p:nvPr/>
        </p:nvGrpSpPr>
        <p:grpSpPr>
          <a:xfrm>
            <a:off x="9324509" y="2389147"/>
            <a:ext cx="2285572" cy="1233237"/>
            <a:chOff x="6401228" y="4953000"/>
            <a:chExt cx="2285572" cy="123323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98348D2-EF5D-169B-7226-A545476B026E}"/>
                </a:ext>
              </a:extLst>
            </p:cNvPr>
            <p:cNvGrpSpPr/>
            <p:nvPr/>
          </p:nvGrpSpPr>
          <p:grpSpPr>
            <a:xfrm>
              <a:off x="7924800" y="4953000"/>
              <a:ext cx="762000" cy="1233237"/>
              <a:chOff x="7815549" y="5290851"/>
              <a:chExt cx="762000" cy="1233237"/>
            </a:xfrm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B7D9598B-6E7D-7E5A-F680-1CBB9A238FA9}"/>
                  </a:ext>
                </a:extLst>
              </p:cNvPr>
              <p:cNvSpPr/>
              <p:nvPr/>
            </p:nvSpPr>
            <p:spPr>
              <a:xfrm>
                <a:off x="7815549" y="5290851"/>
                <a:ext cx="762000" cy="872784"/>
              </a:xfrm>
              <a:custGeom>
                <a:avLst/>
                <a:gdLst>
                  <a:gd name="connsiteX0" fmla="*/ 0 w 762000"/>
                  <a:gd name="connsiteY0" fmla="*/ 0 h 1447800"/>
                  <a:gd name="connsiteX1" fmla="*/ 0 w 762000"/>
                  <a:gd name="connsiteY1" fmla="*/ 1447800 h 1447800"/>
                  <a:gd name="connsiteX2" fmla="*/ 762000 w 762000"/>
                  <a:gd name="connsiteY2" fmla="*/ 1447800 h 1447800"/>
                  <a:gd name="connsiteX3" fmla="*/ 762000 w 762000"/>
                  <a:gd name="connsiteY3" fmla="*/ 38100 h 1447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0" h="1447800">
                    <a:moveTo>
                      <a:pt x="0" y="0"/>
                    </a:moveTo>
                    <a:lnTo>
                      <a:pt x="0" y="1447800"/>
                    </a:lnTo>
                    <a:lnTo>
                      <a:pt x="762000" y="1447800"/>
                    </a:lnTo>
                    <a:lnTo>
                      <a:pt x="762000" y="38100"/>
                    </a:lnTo>
                  </a:path>
                </a:pathLst>
              </a:cu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5F7377-EF9D-6D5C-8B83-F9A1710B7246}"/>
                  </a:ext>
                </a:extLst>
              </p:cNvPr>
              <p:cNvSpPr txBox="1"/>
              <p:nvPr/>
            </p:nvSpPr>
            <p:spPr>
              <a:xfrm>
                <a:off x="7932506" y="6154756"/>
                <a:ext cx="4948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solidFill>
                      <a:schemeClr val="tx2"/>
                    </a:solidFill>
                  </a:rPr>
                  <a:t>S</a:t>
                </a:r>
                <a:endParaRPr lang="en-US" b="1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02DC0CE-B5C0-23B2-0FC3-C26AF7619B13}"/>
                </a:ext>
              </a:extLst>
            </p:cNvPr>
            <p:cNvSpPr/>
            <p:nvPr/>
          </p:nvSpPr>
          <p:spPr>
            <a:xfrm>
              <a:off x="7924800" y="5529549"/>
              <a:ext cx="762000" cy="2873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prstClr val="white"/>
                  </a:solidFill>
                </a:rPr>
                <a:t>10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7F98E31-C7C5-6C69-6BE0-562CF3ED2A8F}"/>
                </a:ext>
              </a:extLst>
            </p:cNvPr>
            <p:cNvSpPr/>
            <p:nvPr/>
          </p:nvSpPr>
          <p:spPr>
            <a:xfrm>
              <a:off x="7924800" y="5235766"/>
              <a:ext cx="762000" cy="2873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prstClr val="white"/>
                  </a:solidFill>
                </a:rPr>
                <a:t>8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48019A-2AFC-E428-182C-4B074A63ED63}"/>
                </a:ext>
              </a:extLst>
            </p:cNvPr>
            <p:cNvSpPr/>
            <p:nvPr/>
          </p:nvSpPr>
          <p:spPr>
            <a:xfrm>
              <a:off x="7924800" y="4953000"/>
              <a:ext cx="762000" cy="2873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prstClr val="white"/>
                  </a:solidFill>
                </a:rPr>
                <a:t>-5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A021A7-094B-1BD9-9CA3-4B52B54BB55F}"/>
                </a:ext>
              </a:extLst>
            </p:cNvPr>
            <p:cNvSpPr txBox="1"/>
            <p:nvPr/>
          </p:nvSpPr>
          <p:spPr>
            <a:xfrm>
              <a:off x="6401228" y="4953000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dirty="0">
                  <a:solidFill>
                    <a:prstClr val="black"/>
                  </a:solidFill>
                </a:rPr>
                <a:t>TOP = 2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AFEE942-23B2-BCF0-9B9A-B681D2DA47E4}"/>
                </a:ext>
              </a:extLst>
            </p:cNvPr>
            <p:cNvCxnSpPr>
              <a:stCxn id="11" idx="3"/>
            </p:cNvCxnSpPr>
            <p:nvPr/>
          </p:nvCxnSpPr>
          <p:spPr>
            <a:xfrm>
              <a:off x="7429928" y="5137666"/>
              <a:ext cx="41867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6422F6E-8707-B8E0-CA42-5360FCE08E12}"/>
              </a:ext>
            </a:extLst>
          </p:cNvPr>
          <p:cNvSpPr txBox="1"/>
          <p:nvPr/>
        </p:nvSpPr>
        <p:spPr>
          <a:xfrm>
            <a:off x="7571131" y="238914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PEEP (S, TOP, 2)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6EF3DE-87AE-2A45-23B9-0BD1D7669A06}"/>
              </a:ext>
            </a:extLst>
          </p:cNvPr>
          <p:cNvSpPr txBox="1"/>
          <p:nvPr/>
        </p:nvSpPr>
        <p:spPr>
          <a:xfrm>
            <a:off x="11079055" y="2632813"/>
            <a:ext cx="278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8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5B69C3-BA5D-6C69-F9A8-8B2194512100}"/>
              </a:ext>
            </a:extLst>
          </p:cNvPr>
          <p:cNvSpPr txBox="1"/>
          <p:nvPr/>
        </p:nvSpPr>
        <p:spPr>
          <a:xfrm>
            <a:off x="7571131" y="306662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PEEP (S, TOP, 3)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1D220C-F6C9-A836-FEB4-900A9F8618B4}"/>
              </a:ext>
            </a:extLst>
          </p:cNvPr>
          <p:cNvSpPr txBox="1"/>
          <p:nvPr/>
        </p:nvSpPr>
        <p:spPr>
          <a:xfrm>
            <a:off x="11022817" y="29270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10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709FC8-FD7E-2E4F-3DA0-F94AC3699A19}"/>
              </a:ext>
            </a:extLst>
          </p:cNvPr>
          <p:cNvSpPr txBox="1"/>
          <p:nvPr/>
        </p:nvSpPr>
        <p:spPr>
          <a:xfrm>
            <a:off x="7571131" y="374410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PEEP (S, TOP, 4)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B74CD-EC83-E823-0B8B-B52CE307ACC3}"/>
              </a:ext>
            </a:extLst>
          </p:cNvPr>
          <p:cNvSpPr txBox="1"/>
          <p:nvPr/>
        </p:nvSpPr>
        <p:spPr>
          <a:xfrm>
            <a:off x="7571131" y="4421578"/>
            <a:ext cx="2527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Element not available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84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0.20023 L -2.08333E-6 -0.0007 " pathEditMode="relative" rAng="0" ptsTypes="AA">
                                      <p:cBhvr>
                                        <p:cTn id="54" dur="2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0.24953 L -3.95833E-6 0.00047 " pathEditMode="relative" rAng="0" ptsTypes="AA">
                                      <p:cBhvr>
                                        <p:cTn id="67" dur="20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/>
      <p:bldP spid="15" grpId="0"/>
      <p:bldP spid="15" grpId="1"/>
      <p:bldP spid="15" grpId="2"/>
      <p:bldP spid="16" grpId="0"/>
      <p:bldP spid="17" grpId="0"/>
      <p:bldP spid="17" grpId="1"/>
      <p:bldP spid="17" grpId="2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: PEEK (S, TOP)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function returns the value of the </a:t>
            </a:r>
            <a:r>
              <a:rPr lang="en-IN" b="1" dirty="0">
                <a:solidFill>
                  <a:srgbClr val="C00000"/>
                </a:solidFill>
              </a:rPr>
              <a:t>TOP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of the stack. The element is not deleted by this function.</a:t>
            </a:r>
          </a:p>
          <a:p>
            <a:r>
              <a:rPr lang="en-IN" dirty="0"/>
              <a:t>Stack is represented by a vector </a:t>
            </a:r>
            <a:r>
              <a:rPr lang="en-IN" b="1" dirty="0">
                <a:solidFill>
                  <a:srgbClr val="C00000"/>
                </a:solidFill>
              </a:rPr>
              <a:t>S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containing </a:t>
            </a:r>
            <a:r>
              <a:rPr lang="en-IN" b="1" dirty="0">
                <a:solidFill>
                  <a:srgbClr val="C00000"/>
                </a:solidFill>
              </a:rPr>
              <a:t>N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elements.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7566" y="2389147"/>
            <a:ext cx="7005006" cy="24622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[Check for stack underflow]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If 	TOP ≤ -1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Then 	write (‘Element not available.’)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	Return (-1)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[Return </a:t>
            </a:r>
            <a:r>
              <a:rPr lang="en-IN" sz="2200" b="1" dirty="0" err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sz="2200" b="1" baseline="30000" dirty="0" err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th</a:t>
            </a:r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element from top    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   of the stack]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Return(S[TOP])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9324509" y="2389147"/>
            <a:ext cx="2285572" cy="1233237"/>
            <a:chOff x="6401228" y="4953000"/>
            <a:chExt cx="2285572" cy="1233237"/>
          </a:xfrm>
        </p:grpSpPr>
        <p:grpSp>
          <p:nvGrpSpPr>
            <p:cNvPr id="5" name="Group 4"/>
            <p:cNvGrpSpPr/>
            <p:nvPr/>
          </p:nvGrpSpPr>
          <p:grpSpPr>
            <a:xfrm>
              <a:off x="7924800" y="4953000"/>
              <a:ext cx="762000" cy="1233237"/>
              <a:chOff x="7815549" y="5290851"/>
              <a:chExt cx="762000" cy="1233237"/>
            </a:xfrm>
          </p:grpSpPr>
          <p:sp>
            <p:nvSpPr>
              <p:cNvPr id="6" name="Freeform 5"/>
              <p:cNvSpPr/>
              <p:nvPr/>
            </p:nvSpPr>
            <p:spPr>
              <a:xfrm>
                <a:off x="7815549" y="5290851"/>
                <a:ext cx="762000" cy="872784"/>
              </a:xfrm>
              <a:custGeom>
                <a:avLst/>
                <a:gdLst>
                  <a:gd name="connsiteX0" fmla="*/ 0 w 762000"/>
                  <a:gd name="connsiteY0" fmla="*/ 0 h 1447800"/>
                  <a:gd name="connsiteX1" fmla="*/ 0 w 762000"/>
                  <a:gd name="connsiteY1" fmla="*/ 1447800 h 1447800"/>
                  <a:gd name="connsiteX2" fmla="*/ 762000 w 762000"/>
                  <a:gd name="connsiteY2" fmla="*/ 1447800 h 1447800"/>
                  <a:gd name="connsiteX3" fmla="*/ 762000 w 762000"/>
                  <a:gd name="connsiteY3" fmla="*/ 38100 h 1447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0" h="1447800">
                    <a:moveTo>
                      <a:pt x="0" y="0"/>
                    </a:moveTo>
                    <a:lnTo>
                      <a:pt x="0" y="1447800"/>
                    </a:lnTo>
                    <a:lnTo>
                      <a:pt x="762000" y="1447800"/>
                    </a:lnTo>
                    <a:lnTo>
                      <a:pt x="762000" y="38100"/>
                    </a:lnTo>
                  </a:path>
                </a:pathLst>
              </a:cu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7932506" y="6154756"/>
                <a:ext cx="4948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solidFill>
                      <a:schemeClr val="tx2"/>
                    </a:solidFill>
                  </a:rPr>
                  <a:t>S</a:t>
                </a:r>
                <a:endParaRPr lang="en-US" b="1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7924800" y="5529549"/>
              <a:ext cx="762000" cy="2873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prstClr val="white"/>
                  </a:solidFill>
                </a:rPr>
                <a:t>10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924800" y="5235766"/>
              <a:ext cx="762000" cy="2873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prstClr val="white"/>
                  </a:solidFill>
                </a:rPr>
                <a:t>8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924800" y="4953000"/>
              <a:ext cx="762000" cy="2873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prstClr val="white"/>
                  </a:solidFill>
                </a:rPr>
                <a:t>-5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01228" y="4953000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dirty="0">
                  <a:solidFill>
                    <a:prstClr val="black"/>
                  </a:solidFill>
                </a:rPr>
                <a:t>TOP = 2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cxnSp>
          <p:nvCxnSpPr>
            <p:cNvPr id="12" name="Straight Arrow Connector 11"/>
            <p:cNvCxnSpPr>
              <a:stCxn id="11" idx="3"/>
            </p:cNvCxnSpPr>
            <p:nvPr/>
          </p:nvCxnSpPr>
          <p:spPr>
            <a:xfrm>
              <a:off x="7429928" y="5137666"/>
              <a:ext cx="41867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7571131" y="238914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PEEK (S, TOP)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0142" y="2350701"/>
            <a:ext cx="501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-5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53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14283 L -1.66667E-6 -0.0007 " pathEditMode="relative" rAng="0" ptsTypes="AA">
                                      <p:cBhvr>
                                        <p:cTn id="54" dur="2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7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/>
      <p:bldP spid="15" grpId="0"/>
      <p:bldP spid="15" grpId="1"/>
      <p:bldP spid="15" grpId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PROCEDURE : CHANGE (S, TOP, X, 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procedure changes the value of the </a:t>
            </a:r>
            <a:r>
              <a:rPr lang="en-IN" b="1" dirty="0" err="1">
                <a:solidFill>
                  <a:srgbClr val="C00000"/>
                </a:solidFill>
              </a:rPr>
              <a:t>I</a:t>
            </a:r>
            <a:r>
              <a:rPr lang="en-IN" b="1" baseline="30000" dirty="0" err="1">
                <a:solidFill>
                  <a:srgbClr val="C00000"/>
                </a:solidFill>
              </a:rPr>
              <a:t>th</a:t>
            </a:r>
            <a:r>
              <a:rPr lang="en-IN" dirty="0"/>
              <a:t> element from the top of the stack to </a:t>
            </a:r>
            <a:r>
              <a:rPr lang="en-IN" b="1" dirty="0">
                <a:solidFill>
                  <a:srgbClr val="C00000"/>
                </a:solidFill>
              </a:rPr>
              <a:t>X</a:t>
            </a:r>
            <a:r>
              <a:rPr lang="en-IN" dirty="0"/>
              <a:t>. </a:t>
            </a:r>
          </a:p>
          <a:p>
            <a:r>
              <a:rPr lang="en-IN" dirty="0"/>
              <a:t>Stack is represented by a vector </a:t>
            </a:r>
            <a:r>
              <a:rPr lang="en-IN" b="1" dirty="0">
                <a:solidFill>
                  <a:srgbClr val="C00000"/>
                </a:solidFill>
              </a:rPr>
              <a:t>S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containing </a:t>
            </a:r>
            <a:r>
              <a:rPr lang="en-IN" b="1" dirty="0">
                <a:solidFill>
                  <a:srgbClr val="C00000"/>
                </a:solidFill>
              </a:rPr>
              <a:t>N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elements.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5190" y="2081371"/>
            <a:ext cx="6862112" cy="3139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[Check for stack underflow]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If 	TOP-I+1 ≤ -1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Then 	write (‘Element not available’)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	Return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[Change </a:t>
            </a:r>
            <a:r>
              <a:rPr lang="en-IN" sz="2200" b="1" dirty="0" err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sz="2200" b="1" baseline="30000" dirty="0" err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th</a:t>
            </a:r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element from top    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   of the stack]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S[TOP–I+1] ← X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[Finished]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Return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448892" y="2089673"/>
            <a:ext cx="2285572" cy="1233237"/>
            <a:chOff x="6401228" y="4953000"/>
            <a:chExt cx="2285572" cy="1233237"/>
          </a:xfrm>
        </p:grpSpPr>
        <p:grpSp>
          <p:nvGrpSpPr>
            <p:cNvPr id="6" name="Group 5"/>
            <p:cNvGrpSpPr/>
            <p:nvPr/>
          </p:nvGrpSpPr>
          <p:grpSpPr>
            <a:xfrm>
              <a:off x="7924800" y="4953000"/>
              <a:ext cx="762000" cy="1233237"/>
              <a:chOff x="7815549" y="5290851"/>
              <a:chExt cx="762000" cy="1233237"/>
            </a:xfrm>
          </p:grpSpPr>
          <p:sp>
            <p:nvSpPr>
              <p:cNvPr id="12" name="Freeform 11"/>
              <p:cNvSpPr/>
              <p:nvPr/>
            </p:nvSpPr>
            <p:spPr>
              <a:xfrm>
                <a:off x="7815549" y="5290851"/>
                <a:ext cx="762000" cy="872784"/>
              </a:xfrm>
              <a:custGeom>
                <a:avLst/>
                <a:gdLst>
                  <a:gd name="connsiteX0" fmla="*/ 0 w 762000"/>
                  <a:gd name="connsiteY0" fmla="*/ 0 h 1447800"/>
                  <a:gd name="connsiteX1" fmla="*/ 0 w 762000"/>
                  <a:gd name="connsiteY1" fmla="*/ 1447800 h 1447800"/>
                  <a:gd name="connsiteX2" fmla="*/ 762000 w 762000"/>
                  <a:gd name="connsiteY2" fmla="*/ 1447800 h 1447800"/>
                  <a:gd name="connsiteX3" fmla="*/ 762000 w 762000"/>
                  <a:gd name="connsiteY3" fmla="*/ 38100 h 1447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0" h="1447800">
                    <a:moveTo>
                      <a:pt x="0" y="0"/>
                    </a:moveTo>
                    <a:lnTo>
                      <a:pt x="0" y="1447800"/>
                    </a:lnTo>
                    <a:lnTo>
                      <a:pt x="762000" y="1447800"/>
                    </a:lnTo>
                    <a:lnTo>
                      <a:pt x="762000" y="38100"/>
                    </a:lnTo>
                  </a:path>
                </a:pathLst>
              </a:cu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7932506" y="6154756"/>
                <a:ext cx="4948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solidFill>
                      <a:schemeClr val="tx2"/>
                    </a:solidFill>
                  </a:rPr>
                  <a:t>S</a:t>
                </a:r>
                <a:endParaRPr lang="en-US" b="1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7" name="Rectangle 6"/>
            <p:cNvSpPr/>
            <p:nvPr/>
          </p:nvSpPr>
          <p:spPr>
            <a:xfrm>
              <a:off x="7924800" y="5529549"/>
              <a:ext cx="762000" cy="2873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prstClr val="white"/>
                  </a:solidFill>
                </a:rPr>
                <a:t>10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924800" y="5235766"/>
              <a:ext cx="762000" cy="2873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prstClr val="white"/>
                  </a:solidFill>
                </a:rPr>
                <a:t>8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924800" y="4953000"/>
              <a:ext cx="762000" cy="2873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prstClr val="white"/>
                  </a:solidFill>
                </a:rPr>
                <a:t>-5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01228" y="4953000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dirty="0">
                  <a:solidFill>
                    <a:prstClr val="black"/>
                  </a:solidFill>
                </a:rPr>
                <a:t>TOP = 2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cxnSp>
          <p:nvCxnSpPr>
            <p:cNvPr id="11" name="Straight Arrow Connector 10"/>
            <p:cNvCxnSpPr>
              <a:stCxn id="10" idx="3"/>
            </p:cNvCxnSpPr>
            <p:nvPr/>
          </p:nvCxnSpPr>
          <p:spPr>
            <a:xfrm>
              <a:off x="7429928" y="5137666"/>
              <a:ext cx="41867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7167725" y="2084262"/>
            <a:ext cx="2640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CHANGE (S, TOP, 50, 2)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972887" y="2377028"/>
            <a:ext cx="762000" cy="2827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50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67725" y="2953579"/>
            <a:ext cx="2640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CHANGE (S, TOP, 9, 3)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972887" y="2667676"/>
            <a:ext cx="762000" cy="2827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9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67725" y="3822896"/>
            <a:ext cx="2640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CHANGE (S, TOP, 25, 8)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67724" y="4692214"/>
            <a:ext cx="2363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Element not available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00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  <p:bldP spid="15" grpId="0" animBg="1"/>
      <p:bldP spid="16" grpId="0"/>
      <p:bldP spid="17" grpId="0" animBg="1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B5225-964F-EDE4-6AD9-06E49053F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3C3112-AC51-5B85-2ADA-1D38B0E10F7C}"/>
              </a:ext>
            </a:extLst>
          </p:cNvPr>
          <p:cNvSpPr/>
          <p:nvPr/>
        </p:nvSpPr>
        <p:spPr>
          <a:xfrm>
            <a:off x="0" y="733646"/>
            <a:ext cx="6096000" cy="58811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AC2B2E-8E9A-5A3F-B965-7148D0F5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Implementation using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A611B-AF74-5566-A14A-FCEE12EFB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#include</a:t>
            </a:r>
            <a:r>
              <a:rPr lang="en-IN" sz="2200" dirty="0">
                <a:solidFill>
                  <a:srgbClr val="CE9178"/>
                </a:solidFill>
                <a:latin typeface="Consolas" panose="020B0609020204030204" pitchFamily="49" charset="0"/>
              </a:rPr>
              <a:t>&lt;stdio.h&gt;</a:t>
            </a:r>
            <a:endParaRPr lang="en-IN" sz="2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#define N </a:t>
            </a:r>
            <a:r>
              <a:rPr lang="en-IN" sz="22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</a:p>
          <a:p>
            <a:pPr>
              <a:lnSpc>
                <a:spcPts val="1425"/>
              </a:lnSpc>
              <a:buNone/>
            </a:pPr>
            <a:endParaRPr lang="en-IN" sz="2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 TOP = -</a:t>
            </a:r>
            <a:r>
              <a:rPr lang="en-IN" sz="2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 S[</a:t>
            </a: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N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] ;</a:t>
            </a:r>
          </a:p>
          <a:p>
            <a:pPr>
              <a:lnSpc>
                <a:spcPts val="1425"/>
              </a:lnSpc>
              <a:buNone/>
            </a:pPr>
            <a:endParaRPr lang="en-IN" sz="2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POP(){</a:t>
            </a:r>
          </a:p>
          <a:p>
            <a:pPr>
              <a:lnSpc>
                <a:spcPts val="1425"/>
              </a:lnSpc>
              <a:buNone/>
            </a:pP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(TOP==-</a:t>
            </a:r>
            <a:r>
              <a:rPr lang="en-IN" sz="2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printf(</a:t>
            </a:r>
            <a:r>
              <a:rPr lang="en-IN" sz="2000" dirty="0">
                <a:solidFill>
                  <a:srgbClr val="CE9178"/>
                </a:solidFill>
                <a:latin typeface="Consolas" panose="020B0609020204030204" pitchFamily="49" charset="0"/>
              </a:rPr>
              <a:t>"STACK UNDERFLOW."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-</a:t>
            </a:r>
            <a:r>
              <a:rPr lang="en-IN" sz="2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TOP--;</a:t>
            </a:r>
          </a:p>
          <a:p>
            <a:pPr>
              <a:lnSpc>
                <a:spcPts val="1425"/>
              </a:lnSpc>
              <a:buNone/>
            </a:pP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 S[TOP+</a:t>
            </a:r>
            <a:r>
              <a:rPr lang="en-IN" sz="2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IN" sz="20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974D7C-3A66-3670-F34E-A6F4FFE946F9}"/>
              </a:ext>
            </a:extLst>
          </p:cNvPr>
          <p:cNvSpPr txBox="1"/>
          <p:nvPr/>
        </p:nvSpPr>
        <p:spPr>
          <a:xfrm>
            <a:off x="6096000" y="720499"/>
            <a:ext cx="6081699" cy="4216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450850" indent="84138"/>
            <a:r>
              <a:rPr lang="en-IN" sz="26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POP(S,TOP)</a:t>
            </a:r>
          </a:p>
          <a:p>
            <a:pPr marL="450850" indent="84138"/>
            <a:endParaRPr lang="en-IN" sz="2200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  <a:p>
            <a:pPr marL="450850" indent="84138"/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1.[Check for stack underflow]</a:t>
            </a:r>
          </a:p>
          <a:p>
            <a:pPr marL="450850" indent="84138"/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 TOP = -1</a:t>
            </a:r>
          </a:p>
          <a:p>
            <a:pPr marL="450850" indent="84138"/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write (‘STACK UNDERFLOW’)</a:t>
            </a:r>
          </a:p>
          <a:p>
            <a:pPr marL="450850" indent="84138"/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	Return (-1)</a:t>
            </a:r>
          </a:p>
          <a:p>
            <a:pPr marL="450850" indent="84138"/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2.[Decrement TOP]</a:t>
            </a:r>
          </a:p>
          <a:p>
            <a:pPr marL="450850" indent="84138"/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TOP ← TOP – 1</a:t>
            </a:r>
          </a:p>
          <a:p>
            <a:pPr marL="1079500" indent="-544513"/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3.[Return former top element of stack]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 Return(S[TOP + 1])</a:t>
            </a:r>
          </a:p>
          <a:p>
            <a:endParaRPr lang="en-IN" sz="2200" dirty="0">
              <a:solidFill>
                <a:prstClr val="black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71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" y="723918"/>
            <a:ext cx="6027907" cy="58811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Implementation using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#include</a:t>
            </a:r>
            <a:r>
              <a:rPr lang="en-IN" sz="2200" dirty="0">
                <a:solidFill>
                  <a:srgbClr val="CE9178"/>
                </a:solidFill>
                <a:latin typeface="Consolas" panose="020B0609020204030204" pitchFamily="49" charset="0"/>
              </a:rPr>
              <a:t>&lt;stdio.h&gt;</a:t>
            </a:r>
            <a:endParaRPr lang="en-IN" sz="2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#define N </a:t>
            </a:r>
            <a:r>
              <a:rPr lang="en-IN" sz="22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</a:p>
          <a:p>
            <a:pPr>
              <a:lnSpc>
                <a:spcPts val="1425"/>
              </a:lnSpc>
              <a:buNone/>
            </a:pPr>
            <a:endParaRPr lang="en-IN" sz="2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 TOP = -</a:t>
            </a:r>
            <a:r>
              <a:rPr lang="en-IN" sz="2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 S[</a:t>
            </a: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N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] ;</a:t>
            </a:r>
          </a:p>
          <a:p>
            <a:pPr>
              <a:lnSpc>
                <a:spcPts val="1425"/>
              </a:lnSpc>
              <a:buNone/>
            </a:pPr>
            <a:endParaRPr lang="en-IN" sz="2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 PUSH(</a:t>
            </a: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 x)</a:t>
            </a: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(TOP &gt;= </a:t>
            </a: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N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IN" sz="2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printf(</a:t>
            </a:r>
            <a:r>
              <a:rPr lang="en-IN" sz="2200" dirty="0">
                <a:solidFill>
                  <a:srgbClr val="CE9178"/>
                </a:solidFill>
                <a:latin typeface="Consolas" panose="020B0609020204030204" pitchFamily="49" charset="0"/>
              </a:rPr>
              <a:t>"STACK OVERFLOW."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    TOP++;</a:t>
            </a: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    S[TOP]=x;</a:t>
            </a: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27906" y="718316"/>
            <a:ext cx="6164094" cy="4216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indent="534988"/>
            <a:r>
              <a:rPr lang="en-IN" sz="26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PUSH(S,TOP,X)</a:t>
            </a:r>
          </a:p>
          <a:p>
            <a:pPr indent="534988"/>
            <a:endParaRPr lang="en-IN" sz="2400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indent="534988"/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1.[Check for stack overflow]</a:t>
            </a:r>
          </a:p>
          <a:p>
            <a:pPr indent="534988"/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	TOP ≥ N-1</a:t>
            </a:r>
          </a:p>
          <a:p>
            <a:pPr indent="534988"/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	write (‘STACK OVERFLOW’)</a:t>
            </a:r>
          </a:p>
          <a:p>
            <a:pPr indent="534988"/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	Return</a:t>
            </a:r>
          </a:p>
          <a:p>
            <a:pPr indent="534988"/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2.[Increment TOP]</a:t>
            </a:r>
          </a:p>
          <a:p>
            <a:pPr indent="534988"/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TOP ← TOP + 1</a:t>
            </a:r>
          </a:p>
          <a:p>
            <a:pPr indent="534988"/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3.[Insert Element]</a:t>
            </a:r>
          </a:p>
          <a:p>
            <a:pPr indent="534988"/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S[TOP] ← X</a:t>
            </a:r>
          </a:p>
          <a:p>
            <a:pPr indent="534988"/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4.[Finished]</a:t>
            </a:r>
          </a:p>
          <a:p>
            <a:pPr indent="534988"/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Return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04DF9-DEFC-DBAC-954F-09170F20CE04}"/>
              </a:ext>
            </a:extLst>
          </p:cNvPr>
          <p:cNvSpPr txBox="1"/>
          <p:nvPr/>
        </p:nvSpPr>
        <p:spPr>
          <a:xfrm>
            <a:off x="6616846" y="5281634"/>
            <a:ext cx="35238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/>
              <a:t>No need to pass </a:t>
            </a:r>
            <a:r>
              <a:rPr lang="en-IN" sz="2200" b="1" dirty="0">
                <a:solidFill>
                  <a:srgbClr val="C00000"/>
                </a:solidFill>
              </a:rPr>
              <a:t>S </a:t>
            </a:r>
            <a:r>
              <a:rPr lang="en-IN" sz="2200" b="1" dirty="0"/>
              <a:t>and </a:t>
            </a:r>
            <a:r>
              <a:rPr lang="en-IN" sz="2200" b="1" dirty="0">
                <a:solidFill>
                  <a:srgbClr val="C00000"/>
                </a:solidFill>
              </a:rPr>
              <a:t>TOP </a:t>
            </a:r>
            <a:r>
              <a:rPr lang="en-IN" sz="2200" b="1" dirty="0"/>
              <a:t>in PUSH function, as they are taken as global</a:t>
            </a:r>
          </a:p>
        </p:txBody>
      </p:sp>
    </p:spTree>
    <p:extLst>
      <p:ext uri="{BB962C8B-B14F-4D97-AF65-F5344CB8AC3E}">
        <p14:creationId xmlns:p14="http://schemas.microsoft.com/office/powerpoint/2010/main" val="51775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DBAD1-63B8-887E-FA92-7DD9F5315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FD9171D-31CD-7917-1209-6FB0AF76E34B}"/>
              </a:ext>
            </a:extLst>
          </p:cNvPr>
          <p:cNvSpPr/>
          <p:nvPr/>
        </p:nvSpPr>
        <p:spPr>
          <a:xfrm>
            <a:off x="0" y="733647"/>
            <a:ext cx="4240696" cy="58811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A4B4AA-7F99-0A39-598E-A2314992D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Implementation using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5E66B-C230-379A-1565-0C41B17F7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#include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&lt;stdio.h&gt;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#include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&lt;stdbool.h&gt;</a:t>
            </a:r>
          </a:p>
          <a:p>
            <a:pPr>
              <a:lnSpc>
                <a:spcPts val="1425"/>
              </a:lnSpc>
              <a:buNone/>
            </a:pPr>
            <a:endParaRPr lang="en-IN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#define N </a:t>
            </a:r>
            <a:r>
              <a:rPr lang="en-IN" sz="16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 TOP = -</a:t>
            </a:r>
            <a:r>
              <a:rPr lang="en-IN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, S[</a:t>
            </a: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N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endParaRPr lang="en-IN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 PUSH(</a:t>
            </a: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 x){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(TOP &gt;= </a:t>
            </a: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N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IN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printf(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"STACK OVERFLOW."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TOP++;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S[TOP]=x; 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</a:p>
          <a:p>
            <a:pPr>
              <a:buNone/>
            </a:pP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bool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 isFull(){</a:t>
            </a:r>
          </a:p>
          <a:p>
            <a:pPr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 TOP&gt;=N-1;</a:t>
            </a:r>
          </a:p>
          <a:p>
            <a:pPr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500" dirty="0">
                <a:solidFill>
                  <a:srgbClr val="D4D4D4"/>
                </a:solidFill>
                <a:latin typeface="Consolas" panose="020B0609020204030204" pitchFamily="49" charset="0"/>
              </a:rPr>
              <a:t>  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6FDC24-842B-C278-A402-75B3B6B6CC18}"/>
              </a:ext>
            </a:extLst>
          </p:cNvPr>
          <p:cNvSpPr/>
          <p:nvPr/>
        </p:nvSpPr>
        <p:spPr>
          <a:xfrm>
            <a:off x="4262547" y="729232"/>
            <a:ext cx="4151246" cy="58756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IN" sz="16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IN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IN" sz="16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IN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IN" sz="16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IN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IN" sz="16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IN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IN" sz="16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IN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IN" sz="16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IN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 POP(){</a:t>
            </a:r>
          </a:p>
          <a:p>
            <a:pPr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(TOP==-</a:t>
            </a:r>
            <a:r>
              <a:rPr lang="en-IN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){</a:t>
            </a:r>
          </a:p>
          <a:p>
            <a:pPr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printf(</a:t>
            </a:r>
            <a:r>
              <a:rPr lang="en-IN" sz="1600" dirty="0">
                <a:solidFill>
                  <a:srgbClr val="CE9178"/>
                </a:solidFill>
                <a:latin typeface="Consolas" panose="020B0609020204030204" pitchFamily="49" charset="0"/>
              </a:rPr>
              <a:t>"STACK UNDERFLOW."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 -</a:t>
            </a:r>
            <a:r>
              <a:rPr lang="en-IN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TOP--;</a:t>
            </a:r>
          </a:p>
          <a:p>
            <a:pPr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 S[TOP+</a:t>
            </a:r>
            <a:r>
              <a:rPr lang="en-IN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]; </a:t>
            </a:r>
          </a:p>
          <a:p>
            <a:pPr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IN" sz="16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bool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 isEmpty(){</a:t>
            </a:r>
          </a:p>
          <a:p>
            <a:pPr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 TOP==-</a:t>
            </a:r>
            <a:r>
              <a:rPr lang="en-IN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6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IN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display(){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(TOP==-</a:t>
            </a:r>
            <a:r>
              <a:rPr lang="en-I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printf(</a:t>
            </a:r>
            <a:r>
              <a:rPr lang="en-I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"Stack Underflow."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I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i=TOP; i&gt;=</a:t>
            </a:r>
            <a:r>
              <a:rPr lang="en-I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i--){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printf(</a:t>
            </a:r>
            <a:r>
              <a:rPr lang="en-I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"%d\t"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S[i]);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IN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265113" marR="0" lvl="0" indent="-265113" algn="just" defTabSz="914400" rtl="0" eaLnBrk="1" fontAlgn="auto" latinLnBrk="0" hangingPunct="1">
              <a:lnSpc>
                <a:spcPts val="1425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None/>
              <a:tabLst/>
              <a:defRPr/>
            </a:pPr>
            <a:endParaRPr lang="en-IN" sz="1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65113" marR="0" lvl="0" indent="-265113" algn="just" defTabSz="914400" rtl="0" eaLnBrk="1" fontAlgn="auto" latinLnBrk="0" hangingPunct="1">
              <a:lnSpc>
                <a:spcPts val="1425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None/>
              <a:tabLst/>
              <a:defRPr/>
            </a:pPr>
            <a:endParaRPr lang="en-IN" sz="1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65113" marR="0" lvl="0" indent="-265113" algn="just" defTabSz="914400" rtl="0" eaLnBrk="1" fontAlgn="auto" latinLnBrk="0" hangingPunct="1">
              <a:lnSpc>
                <a:spcPts val="1425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None/>
              <a:tabLst/>
              <a:defRPr/>
            </a:pPr>
            <a:endParaRPr lang="en-IN" sz="1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65113" marR="0" lvl="0" indent="-265113" algn="just" defTabSz="914400" rtl="0" eaLnBrk="1" fontAlgn="auto" latinLnBrk="0" hangingPunct="1">
              <a:lnSpc>
                <a:spcPts val="1425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None/>
              <a:tabLst/>
              <a:defRPr/>
            </a:pPr>
            <a:endParaRPr lang="en-IN" sz="1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65113" marR="0" lvl="0" indent="-265113" algn="just" defTabSz="914400" rtl="0" eaLnBrk="1" fontAlgn="auto" latinLnBrk="0" hangingPunct="1">
              <a:lnSpc>
                <a:spcPts val="1425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None/>
              <a:tabLst/>
              <a:defRPr/>
            </a:pP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65113" marR="0" lvl="0" indent="-265113" algn="just" defTabSz="914400" rtl="0" eaLnBrk="1" fontAlgn="auto" latinLnBrk="0" hangingPunct="1">
              <a:lnSpc>
                <a:spcPts val="1425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None/>
              <a:tabLst/>
              <a:defRPr/>
            </a:pPr>
            <a:endParaRPr lang="en-IN" sz="1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65113" marR="0" lvl="0" indent="-265113" algn="just" defTabSz="914400" rtl="0" eaLnBrk="1" fontAlgn="auto" latinLnBrk="0" hangingPunct="1">
              <a:lnSpc>
                <a:spcPts val="1425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None/>
              <a:tabLst/>
              <a:defRPr/>
            </a:pP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65113" marR="0" lvl="0" indent="-265113" algn="just" defTabSz="914400" rtl="0" eaLnBrk="1" fontAlgn="auto" latinLnBrk="0" hangingPunct="1">
              <a:lnSpc>
                <a:spcPts val="1425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None/>
              <a:tabLst/>
              <a:defRPr/>
            </a:pPr>
            <a:endParaRPr lang="en-IN" sz="1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65113" marR="0" lvl="0" indent="-265113" algn="just" defTabSz="914400" rtl="0" eaLnBrk="1" fontAlgn="auto" latinLnBrk="0" hangingPunct="1">
              <a:lnSpc>
                <a:spcPts val="1425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None/>
              <a:tabLst/>
              <a:defRPr/>
            </a:pP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65113" marR="0" lvl="0" indent="-265113" algn="just" defTabSz="914400" rtl="0" eaLnBrk="1" fontAlgn="auto" latinLnBrk="0" hangingPunct="1">
              <a:lnSpc>
                <a:spcPts val="1425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None/>
              <a:tabLst/>
              <a:defRPr/>
            </a:pPr>
            <a:endParaRPr lang="en-IN" sz="1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65113" marR="0" lvl="0" indent="-265113" algn="just" defTabSz="914400" rtl="0" eaLnBrk="1" fontAlgn="auto" latinLnBrk="0" hangingPunct="1">
              <a:lnSpc>
                <a:spcPts val="1425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None/>
              <a:tabLst/>
              <a:defRPr/>
            </a:pP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65113" marR="0" lvl="0" indent="-265113" algn="just" defTabSz="914400" rtl="0" eaLnBrk="1" fontAlgn="auto" latinLnBrk="0" hangingPunct="1">
              <a:lnSpc>
                <a:spcPts val="1425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None/>
              <a:tabLst/>
              <a:defRPr/>
            </a:pPr>
            <a:endParaRPr lang="en-IN" sz="1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65113" marR="0" lvl="0" indent="-265113" algn="just" defTabSz="914400" rtl="0" eaLnBrk="1" fontAlgn="auto" latinLnBrk="0" hangingPunct="1">
              <a:lnSpc>
                <a:spcPts val="1425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None/>
              <a:tabLst/>
              <a:defRPr/>
            </a:pP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87CE21-4CE2-88B5-C74B-4ABAB776D705}"/>
              </a:ext>
            </a:extLst>
          </p:cNvPr>
          <p:cNvSpPr/>
          <p:nvPr/>
        </p:nvSpPr>
        <p:spPr>
          <a:xfrm>
            <a:off x="8435644" y="738498"/>
            <a:ext cx="3756356" cy="50162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IN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IN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IN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PUSH(</a:t>
            </a:r>
            <a:r>
              <a:rPr lang="en-I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PUSH(</a:t>
            </a:r>
            <a:r>
              <a:rPr lang="en-I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PUSH(</a:t>
            </a:r>
            <a:r>
              <a:rPr lang="en-I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PUSH(</a:t>
            </a:r>
            <a:r>
              <a:rPr lang="en-I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printf(</a:t>
            </a:r>
            <a:r>
              <a:rPr lang="en-I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"Popped element :%d"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POP());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display();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(isEmpty){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printf(</a:t>
            </a:r>
            <a:r>
              <a:rPr lang="en-I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"Stack is Empty."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75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Check the grammar of the input string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Stack Application </a:t>
            </a:r>
          </a:p>
        </p:txBody>
      </p:sp>
    </p:spTree>
    <p:extLst>
      <p:ext uri="{BB962C8B-B14F-4D97-AF65-F5344CB8AC3E}">
        <p14:creationId xmlns:p14="http://schemas.microsoft.com/office/powerpoint/2010/main" val="4072265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RECOGNIZE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31179" y="868973"/>
            <a:ext cx="11929641" cy="1270682"/>
            <a:chOff x="381000" y="1066800"/>
            <a:chExt cx="8534400" cy="1270682"/>
          </a:xfrm>
          <a:solidFill>
            <a:schemeClr val="bg1">
              <a:lumMod val="95000"/>
            </a:schemeClr>
          </a:solidFill>
        </p:grpSpPr>
        <p:sp>
          <p:nvSpPr>
            <p:cNvPr id="10" name="Rectangle 9"/>
            <p:cNvSpPr/>
            <p:nvPr/>
          </p:nvSpPr>
          <p:spPr>
            <a:xfrm>
              <a:off x="381000" y="1066800"/>
              <a:ext cx="8534400" cy="1270682"/>
            </a:xfrm>
            <a:prstGeom prst="rect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33400" y="1145921"/>
              <a:ext cx="8229600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Write an algorithm which will check that the given string belongs to following grammar or not. 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1667496"/>
              <a:ext cx="8382000" cy="4616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/>
                <a:t>L=</a:t>
              </a:r>
              <a:r>
                <a:rPr lang="en-IN" sz="2400" dirty="0"/>
                <a:t> </a:t>
              </a:r>
              <a:r>
                <a:rPr lang="en-IN" sz="2400" b="1" dirty="0"/>
                <a:t>{</a:t>
              </a:r>
              <a:r>
                <a:rPr lang="en-IN" sz="2400" b="1" dirty="0" err="1"/>
                <a:t>wcw</a:t>
              </a:r>
              <a:r>
                <a:rPr lang="en-IN" sz="2400" b="1" baseline="30000" dirty="0" err="1"/>
                <a:t>R</a:t>
              </a:r>
              <a:r>
                <a:rPr lang="en-IN" sz="2400" b="1" dirty="0"/>
                <a:t> | w Є {</a:t>
              </a:r>
              <a:r>
                <a:rPr lang="en-IN" sz="2400" b="1" dirty="0" err="1"/>
                <a:t>a,b</a:t>
              </a:r>
              <a:r>
                <a:rPr lang="en-IN" sz="2400" b="1" dirty="0"/>
                <a:t>}</a:t>
              </a:r>
              <a:r>
                <a:rPr lang="en-IN" sz="2400" b="1" baseline="30000" dirty="0"/>
                <a:t>*</a:t>
              </a:r>
              <a:r>
                <a:rPr lang="en-IN" sz="2400" b="1" dirty="0"/>
                <a:t>} (Where </a:t>
              </a:r>
              <a:r>
                <a:rPr lang="en-IN" sz="2400" b="1" dirty="0" err="1"/>
                <a:t>w</a:t>
              </a:r>
              <a:r>
                <a:rPr lang="en-IN" sz="2400" b="1" baseline="30000" dirty="0" err="1"/>
                <a:t>R</a:t>
              </a:r>
              <a:r>
                <a:rPr lang="en-IN" sz="2400" b="1" dirty="0"/>
                <a:t> is the reverse of w)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31177" y="3320398"/>
            <a:ext cx="11929641" cy="19961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14000"/>
              </a:lnSpc>
              <a:buFont typeface="Arial" pitchFamily="34" charset="0"/>
              <a:buChar char="•"/>
            </a:pPr>
            <a:r>
              <a:rPr lang="en-IN" sz="2200" dirty="0"/>
              <a:t>Given an input string named </a:t>
            </a:r>
            <a:r>
              <a:rPr lang="en-IN" sz="2200" b="1" i="1" dirty="0">
                <a:solidFill>
                  <a:srgbClr val="C00000"/>
                </a:solidFill>
              </a:rPr>
              <a:t>STRING</a:t>
            </a:r>
            <a:r>
              <a:rPr lang="en-IN" sz="2200" dirty="0">
                <a:solidFill>
                  <a:srgbClr val="C00000"/>
                </a:solidFill>
              </a:rPr>
              <a:t> </a:t>
            </a:r>
            <a:r>
              <a:rPr lang="en-IN" sz="2200" dirty="0"/>
              <a:t>on the alphabet</a:t>
            </a:r>
            <a:r>
              <a:rPr lang="en-IN" sz="2200" dirty="0">
                <a:solidFill>
                  <a:srgbClr val="C00000"/>
                </a:solidFill>
              </a:rPr>
              <a:t> </a:t>
            </a:r>
            <a:r>
              <a:rPr lang="en-IN" sz="2200" b="1" i="1" dirty="0">
                <a:solidFill>
                  <a:srgbClr val="C00000"/>
                </a:solidFill>
              </a:rPr>
              <a:t>{a, b, c}</a:t>
            </a:r>
            <a:r>
              <a:rPr lang="en-IN" sz="2200" b="1" i="1" dirty="0">
                <a:solidFill>
                  <a:srgbClr val="FF0000"/>
                </a:solidFill>
              </a:rPr>
              <a:t> </a:t>
            </a:r>
            <a:r>
              <a:rPr lang="en-IN" sz="2200" dirty="0"/>
              <a:t>which contains a blank in its rightmost character position.</a:t>
            </a:r>
          </a:p>
          <a:p>
            <a:pPr marL="342900" indent="-342900" algn="just">
              <a:lnSpc>
                <a:spcPct val="114000"/>
              </a:lnSpc>
              <a:buFont typeface="Arial" pitchFamily="34" charset="0"/>
              <a:buChar char="•"/>
            </a:pPr>
            <a:r>
              <a:rPr lang="en-IN" sz="2200" dirty="0"/>
              <a:t>Function </a:t>
            </a:r>
            <a:r>
              <a:rPr lang="en-IN" sz="2200" b="1" dirty="0">
                <a:solidFill>
                  <a:srgbClr val="C00000"/>
                </a:solidFill>
              </a:rPr>
              <a:t>NEXTCHAR</a:t>
            </a:r>
            <a:r>
              <a:rPr lang="en-IN" sz="2200" dirty="0">
                <a:solidFill>
                  <a:srgbClr val="C00000"/>
                </a:solidFill>
              </a:rPr>
              <a:t> </a:t>
            </a:r>
            <a:r>
              <a:rPr lang="en-IN" sz="2200" dirty="0"/>
              <a:t>returns the next symbol in STRING.</a:t>
            </a:r>
          </a:p>
          <a:p>
            <a:pPr marL="342900" indent="-342900" algn="just">
              <a:lnSpc>
                <a:spcPct val="114000"/>
              </a:lnSpc>
              <a:buFont typeface="Arial" pitchFamily="34" charset="0"/>
              <a:buChar char="•"/>
            </a:pPr>
            <a:r>
              <a:rPr lang="en-IN" sz="2200" dirty="0"/>
              <a:t>This algorithm determines whether the contents of STRING belong to the above language. </a:t>
            </a:r>
          </a:p>
          <a:p>
            <a:pPr marL="342900" indent="-342900" algn="just">
              <a:lnSpc>
                <a:spcPct val="114000"/>
              </a:lnSpc>
              <a:buFont typeface="Arial" pitchFamily="34" charset="0"/>
              <a:buChar char="•"/>
            </a:pPr>
            <a:r>
              <a:rPr lang="en-IN" sz="2200" dirty="0"/>
              <a:t>The vector </a:t>
            </a:r>
            <a:r>
              <a:rPr lang="en-IN" sz="2200" b="1" dirty="0">
                <a:solidFill>
                  <a:srgbClr val="C00000"/>
                </a:solidFill>
              </a:rPr>
              <a:t>S</a:t>
            </a:r>
            <a:r>
              <a:rPr lang="en-IN" sz="2200" dirty="0">
                <a:solidFill>
                  <a:srgbClr val="C00000"/>
                </a:solidFill>
              </a:rPr>
              <a:t> </a:t>
            </a:r>
            <a:r>
              <a:rPr lang="en-IN" sz="2200" dirty="0"/>
              <a:t>represents the stack and </a:t>
            </a:r>
            <a:r>
              <a:rPr lang="en-IN" sz="2200" b="1" dirty="0">
                <a:solidFill>
                  <a:srgbClr val="C00000"/>
                </a:solidFill>
              </a:rPr>
              <a:t>TOP</a:t>
            </a:r>
            <a:r>
              <a:rPr lang="en-IN" sz="2200" dirty="0">
                <a:solidFill>
                  <a:srgbClr val="C00000"/>
                </a:solidFill>
              </a:rPr>
              <a:t> </a:t>
            </a:r>
            <a:r>
              <a:rPr lang="en-IN" sz="2200" dirty="0"/>
              <a:t>is a pointer to the top element of the stack.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178" y="2252508"/>
            <a:ext cx="11929641" cy="91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873188" y="2278686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Example of valid strings   :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02188" y="227058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/>
              <a:t>ab</a:t>
            </a:r>
            <a:r>
              <a:rPr lang="en-IN" sz="2400" b="1" dirty="0" err="1">
                <a:solidFill>
                  <a:srgbClr val="FF0000"/>
                </a:solidFill>
              </a:rPr>
              <a:t>c</a:t>
            </a:r>
            <a:r>
              <a:rPr lang="en-IN" sz="2400" b="1" dirty="0" err="1"/>
              <a:t>ba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368988" y="2270582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/>
              <a:t>aabb</a:t>
            </a:r>
            <a:r>
              <a:rPr lang="en-IN" sz="2400" b="1" dirty="0" err="1">
                <a:solidFill>
                  <a:srgbClr val="FF0000"/>
                </a:solidFill>
              </a:rPr>
              <a:t>c</a:t>
            </a:r>
            <a:r>
              <a:rPr lang="en-IN" sz="2400" b="1" dirty="0" err="1"/>
              <a:t>bbaa</a:t>
            </a:r>
            <a:endParaRPr lang="en-IN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2873188" y="2686029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Example of Invalid strings:</a:t>
            </a:r>
            <a:endParaRPr 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6302188" y="2703861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/>
              <a:t>aab</a:t>
            </a:r>
            <a:r>
              <a:rPr lang="en-IN" sz="2400" b="1" dirty="0" err="1">
                <a:solidFill>
                  <a:srgbClr val="FF0000"/>
                </a:solidFill>
              </a:rPr>
              <a:t>c</a:t>
            </a:r>
            <a:r>
              <a:rPr lang="en-IN" sz="2400" b="1" dirty="0" err="1"/>
              <a:t>aab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734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RECOGNIZE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33" y="797980"/>
            <a:ext cx="5940000" cy="1446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[Initialize stack by placing a letter ‘c’ on the top]</a:t>
            </a:r>
          </a:p>
          <a:p>
            <a:pPr marL="444500"/>
            <a:r>
              <a:rPr lang="en-US" sz="2200" dirty="0">
                <a:latin typeface="Consolas" pitchFamily="49" charset="0"/>
                <a:cs typeface="Consolas" pitchFamily="49" charset="0"/>
              </a:rPr>
              <a:t>TOP </a:t>
            </a:r>
            <a:r>
              <a:rPr lang="en-US" sz="22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smtClean="0">
                <a:latin typeface="Consolas" pitchFamily="49" charset="0"/>
                <a:cs typeface="Consolas" pitchFamily="49" charset="0"/>
              </a:rPr>
              <a:t>0</a:t>
            </a:r>
            <a:endParaRPr lang="en-US" sz="2200" dirty="0">
              <a:latin typeface="Consolas" pitchFamily="49" charset="0"/>
              <a:cs typeface="Consolas" pitchFamily="49" charset="0"/>
            </a:endParaRPr>
          </a:p>
          <a:p>
            <a:pPr marL="444500"/>
            <a:r>
              <a:rPr lang="en-US" sz="2200" dirty="0">
                <a:latin typeface="Consolas" pitchFamily="49" charset="0"/>
                <a:cs typeface="Consolas" pitchFamily="49" charset="0"/>
              </a:rPr>
              <a:t>S [TOP] ← ‘c’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333" y="2316823"/>
            <a:ext cx="5940000" cy="3139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[Get and PUSH symbols until either ‘c’ or blank is encountered]</a:t>
            </a:r>
          </a:p>
          <a:p>
            <a:pPr marL="444500"/>
            <a:r>
              <a:rPr lang="en-IN" sz="2200" dirty="0">
                <a:latin typeface="Consolas" pitchFamily="49" charset="0"/>
                <a:cs typeface="Consolas" pitchFamily="49" charset="0"/>
              </a:rPr>
              <a:t>NEXT ← NEXTCHAR (STRING)</a:t>
            </a:r>
          </a:p>
          <a:p>
            <a:pPr marL="444500"/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 while</a:t>
            </a:r>
            <a:r>
              <a:rPr lang="en-IN" sz="2200" dirty="0">
                <a:solidFill>
                  <a:schemeClr val="tx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2200" dirty="0">
                <a:latin typeface="Consolas" pitchFamily="49" charset="0"/>
                <a:cs typeface="Consolas" pitchFamily="49" charset="0"/>
              </a:rPr>
              <a:t>NEXT ≠ ‘c’</a:t>
            </a:r>
          </a:p>
          <a:p>
            <a:pPr marL="444500"/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2200" dirty="0">
                <a:latin typeface="Consolas" pitchFamily="49" charset="0"/>
                <a:cs typeface="Consolas" pitchFamily="49" charset="0"/>
              </a:rPr>
              <a:t>   NEXT = ‘ ‘</a:t>
            </a:r>
          </a:p>
          <a:p>
            <a:pPr marL="444500"/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200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2200" dirty="0">
                <a:latin typeface="Consolas" pitchFamily="49" charset="0"/>
                <a:cs typeface="Consolas" pitchFamily="49" charset="0"/>
              </a:rPr>
              <a:t>Write (‘Invalid String’)</a:t>
            </a:r>
          </a:p>
          <a:p>
            <a:r>
              <a:rPr lang="en-IN" sz="2200" dirty="0">
                <a:latin typeface="Consolas" pitchFamily="49" charset="0"/>
                <a:cs typeface="Consolas" pitchFamily="49" charset="0"/>
              </a:rPr>
              <a:t>	     Exit</a:t>
            </a:r>
          </a:p>
          <a:p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2200" dirty="0">
                <a:solidFill>
                  <a:schemeClr val="tx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2200" dirty="0">
                <a:latin typeface="Consolas" pitchFamily="49" charset="0"/>
                <a:cs typeface="Consolas" pitchFamily="49" charset="0"/>
              </a:rPr>
              <a:t>Call PUSH (S, TOP, NEXT)</a:t>
            </a:r>
          </a:p>
          <a:p>
            <a:r>
              <a:rPr lang="en-IN" sz="2200" dirty="0">
                <a:latin typeface="Consolas" pitchFamily="49" charset="0"/>
                <a:cs typeface="Consolas" pitchFamily="49" charset="0"/>
              </a:rPr>
              <a:t>	     NEXT ← NEXTCHAR (STRING)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2568" y="797980"/>
            <a:ext cx="5940000" cy="3139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[Scan characters following ‘c’; Compare them to the characters on stack]</a:t>
            </a:r>
          </a:p>
          <a:p>
            <a:pPr marL="444500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 While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S [TOP] ≠ ‘c’</a:t>
            </a:r>
          </a:p>
          <a:p>
            <a:pPr marL="444500"/>
            <a:r>
              <a:rPr lang="en-US" sz="2200" dirty="0">
                <a:latin typeface="Consolas" pitchFamily="49" charset="0"/>
                <a:cs typeface="Consolas" pitchFamily="49" charset="0"/>
              </a:rPr>
              <a:t>	NEXT ← NEXTCHAR (STRING)</a:t>
            </a:r>
          </a:p>
          <a:p>
            <a:pPr marL="444500"/>
            <a:r>
              <a:rPr lang="en-US" sz="2200" dirty="0">
                <a:latin typeface="Consolas" pitchFamily="49" charset="0"/>
                <a:cs typeface="Consolas" pitchFamily="49" charset="0"/>
              </a:rPr>
              <a:t>	X ← POP (S, TOP)</a:t>
            </a:r>
          </a:p>
          <a:p>
            <a:pPr marL="444500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	If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NEXT ≠ X</a:t>
            </a:r>
          </a:p>
          <a:p>
            <a:pPr marL="444500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  Then</a:t>
            </a:r>
            <a:r>
              <a:rPr lang="en-US" sz="2200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Write(‘INVALID STRING’)</a:t>
            </a:r>
          </a:p>
          <a:p>
            <a:pPr marL="444500"/>
            <a:r>
              <a:rPr lang="en-US" sz="2200" dirty="0">
                <a:latin typeface="Consolas" pitchFamily="49" charset="0"/>
                <a:cs typeface="Consolas" pitchFamily="49" charset="0"/>
              </a:rPr>
              <a:t>	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2568" y="3982565"/>
            <a:ext cx="5940000" cy="17851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 startAt="4"/>
            </a:pPr>
            <a:r>
              <a:rPr lang="en-US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[Next symbol must be blank]</a:t>
            </a:r>
          </a:p>
          <a:p>
            <a:pPr marL="444500"/>
            <a:r>
              <a:rPr lang="en-US" sz="2200" dirty="0">
                <a:latin typeface="Consolas" pitchFamily="49" charset="0"/>
                <a:cs typeface="Consolas" pitchFamily="49" charset="0"/>
              </a:rPr>
              <a:t>NEXT ← NEXTCHAR (STRING)</a:t>
            </a:r>
          </a:p>
          <a:p>
            <a:pPr marL="444500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	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NEXT = ‘ ‘ </a:t>
            </a:r>
          </a:p>
          <a:p>
            <a:pPr marL="444500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Write (‘VALID STRING’)</a:t>
            </a:r>
          </a:p>
          <a:p>
            <a:pPr marL="444500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Write (‘INVALID STRING’)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2568" y="5798274"/>
            <a:ext cx="5940000" cy="7848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[Finished]</a:t>
            </a:r>
          </a:p>
          <a:p>
            <a:pPr marL="444500"/>
            <a:r>
              <a:rPr lang="en-US" sz="2200" dirty="0">
                <a:latin typeface="Consolas" pitchFamily="49" charset="0"/>
                <a:cs typeface="Consolas" pitchFamily="49" charset="0"/>
              </a:rPr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418841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RECOGNIZE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2094" y="735108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Input String: a b c b a □</a:t>
            </a:r>
            <a:endParaRPr lang="en-US" sz="24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2007" y="1976717"/>
            <a:ext cx="1219200" cy="72000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Character Scanned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21138" y="1976717"/>
            <a:ext cx="1219200" cy="72000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Stack 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Content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2007" y="2724230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721138" y="2724230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</a:t>
            </a:r>
            <a:endParaRPr lang="en-US" sz="2000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487056" y="3193997"/>
            <a:ext cx="244976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Left Brace 16"/>
          <p:cNvSpPr/>
          <p:nvPr/>
        </p:nvSpPr>
        <p:spPr>
          <a:xfrm>
            <a:off x="7315199" y="2716901"/>
            <a:ext cx="120149" cy="42303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TextBox 26"/>
          <p:cNvSpPr txBox="1"/>
          <p:nvPr/>
        </p:nvSpPr>
        <p:spPr>
          <a:xfrm>
            <a:off x="228601" y="819448"/>
            <a:ext cx="5593975" cy="1446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[Initialize stack by placing 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   a letter ‘c’ on the top]</a:t>
            </a:r>
          </a:p>
          <a:p>
            <a:pPr marL="444500"/>
            <a:r>
              <a:rPr lang="en-US" sz="2200" dirty="0">
                <a:latin typeface="Consolas" pitchFamily="49" charset="0"/>
                <a:cs typeface="Consolas" pitchFamily="49" charset="0"/>
              </a:rPr>
              <a:t>TOP </a:t>
            </a:r>
            <a:r>
              <a:rPr lang="en-US" sz="22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1</a:t>
            </a:r>
          </a:p>
          <a:p>
            <a:pPr marL="444500"/>
            <a:r>
              <a:rPr lang="en-US" sz="2200" dirty="0">
                <a:latin typeface="Consolas" pitchFamily="49" charset="0"/>
                <a:cs typeface="Consolas" pitchFamily="49" charset="0"/>
              </a:rPr>
              <a:t>S [TOP] ← ‘c’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0619" y="2729464"/>
            <a:ext cx="228600" cy="42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</a:t>
            </a:r>
            <a:endParaRPr lang="en-US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17235" y="2374245"/>
            <a:ext cx="5593975" cy="3477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[Get and PUSH symbols until either c’ or blank is encountered]</a:t>
            </a:r>
          </a:p>
          <a:p>
            <a:pPr marL="444500"/>
            <a:r>
              <a:rPr lang="en-IN" sz="2200" dirty="0">
                <a:latin typeface="Consolas" pitchFamily="49" charset="0"/>
                <a:cs typeface="Consolas" pitchFamily="49" charset="0"/>
              </a:rPr>
              <a:t>NEXT ← NEXTCHAR (STRING)</a:t>
            </a:r>
          </a:p>
          <a:p>
            <a:pPr marL="444500"/>
            <a:r>
              <a:rPr lang="en-IN" sz="2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 while </a:t>
            </a: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NEXT ≠ ‘c’</a:t>
            </a:r>
          </a:p>
          <a:p>
            <a:pPr marL="444500"/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2200" dirty="0">
                <a:latin typeface="Consolas" pitchFamily="49" charset="0"/>
                <a:cs typeface="Consolas" pitchFamily="49" charset="0"/>
              </a:rPr>
              <a:t>   NEXT = ‘ ‘</a:t>
            </a:r>
          </a:p>
          <a:p>
            <a:pPr marL="444500"/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2200" dirty="0">
                <a:latin typeface="Consolas" pitchFamily="49" charset="0"/>
                <a:cs typeface="Consolas" pitchFamily="49" charset="0"/>
              </a:rPr>
              <a:t>Write (‘Invalid String’)</a:t>
            </a:r>
          </a:p>
          <a:p>
            <a:pPr marL="444500"/>
            <a:r>
              <a:rPr lang="en-IN" sz="2200" dirty="0">
                <a:latin typeface="Consolas" pitchFamily="49" charset="0"/>
                <a:cs typeface="Consolas" pitchFamily="49" charset="0"/>
              </a:rPr>
              <a:t>	     Exit</a:t>
            </a:r>
          </a:p>
          <a:p>
            <a:pPr marL="444500"/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2200" dirty="0">
                <a:latin typeface="Consolas" pitchFamily="49" charset="0"/>
                <a:cs typeface="Consolas" pitchFamily="49" charset="0"/>
              </a:rPr>
              <a:t>Call PUSH (S, TOP, NEXT)</a:t>
            </a:r>
          </a:p>
          <a:p>
            <a:pPr marL="444500"/>
            <a:r>
              <a:rPr lang="en-IN" sz="2200" dirty="0">
                <a:latin typeface="Consolas" pitchFamily="49" charset="0"/>
                <a:cs typeface="Consolas" pitchFamily="49" charset="0"/>
              </a:rPr>
              <a:t>	     NEXT ← NEXTCHAR (STRING)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234" y="3413282"/>
            <a:ext cx="5593975" cy="35989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sp>
        <p:nvSpPr>
          <p:cNvPr id="21" name="TextBox 20"/>
          <p:cNvSpPr txBox="1"/>
          <p:nvPr/>
        </p:nvSpPr>
        <p:spPr>
          <a:xfrm>
            <a:off x="7492007" y="3233190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a</a:t>
            </a:r>
            <a:endParaRPr lang="en-US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721138" y="3233190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err="1"/>
              <a:t>ca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7492007" y="3715256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b</a:t>
            </a:r>
            <a:endParaRPr lang="en-US" sz="2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8721138" y="3715256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cab</a:t>
            </a:r>
            <a:endParaRPr lang="en-US" sz="2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492007" y="4197323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</a:t>
            </a:r>
            <a:endParaRPr lang="en-US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8721138" y="4197323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cab</a:t>
            </a:r>
            <a:endParaRPr lang="en-US" sz="2000" b="1" dirty="0"/>
          </a:p>
        </p:txBody>
      </p:sp>
      <p:sp>
        <p:nvSpPr>
          <p:cNvPr id="32" name="Left Brace 31"/>
          <p:cNvSpPr/>
          <p:nvPr/>
        </p:nvSpPr>
        <p:spPr>
          <a:xfrm>
            <a:off x="7315198" y="3233189"/>
            <a:ext cx="120149" cy="1426871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grpSp>
        <p:nvGrpSpPr>
          <p:cNvPr id="35" name="Group 34"/>
          <p:cNvGrpSpPr/>
          <p:nvPr/>
        </p:nvGrpSpPr>
        <p:grpSpPr>
          <a:xfrm>
            <a:off x="8798056" y="1187065"/>
            <a:ext cx="689612" cy="682366"/>
            <a:chOff x="7277100" y="1350666"/>
            <a:chExt cx="689612" cy="682366"/>
          </a:xfrm>
        </p:grpSpPr>
        <p:cxnSp>
          <p:nvCxnSpPr>
            <p:cNvPr id="36" name="Straight Arrow Connector 35"/>
            <p:cNvCxnSpPr/>
            <p:nvPr/>
          </p:nvCxnSpPr>
          <p:spPr>
            <a:xfrm flipV="1">
              <a:off x="7594600" y="1350666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7277100" y="1663700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860619" y="3746569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N" dirty="0"/>
              <a:t>2</a:t>
            </a:r>
            <a:endParaRPr lang="en-US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7491539" y="4691097"/>
            <a:ext cx="244976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044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59259E-6 L 4.375E-6 0.04908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.04907 L 4.375E-6 0.10741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.1074 L 4.375E-6 0.25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.25 L 4.375E-6 0.3011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0.01719 7.40741E-7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4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.30116 L 4.375E-6 0.04908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.04908 L 4.375E-6 0.10741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.10741 L 4.375E-6 0.25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.25 L 4.375E-6 0.30116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718 7.40741E-7 L 0.03559 7.40741E-7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4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.30116 L 4.375E-6 0.04908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17" grpId="0" animBg="1"/>
      <p:bldP spid="27" grpId="0" animBg="1"/>
      <p:bldP spid="28" grpId="0"/>
      <p:bldP spid="14" grpId="0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2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RECOGNIZE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0115" y="4707078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/>
            </a:lvl1pPr>
          </a:lstStyle>
          <a:p>
            <a:r>
              <a:rPr lang="en-IN" dirty="0"/>
              <a:t>b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9139246" y="4707078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/>
            </a:lvl1pPr>
          </a:lstStyle>
          <a:p>
            <a:r>
              <a:rPr lang="en-IN" dirty="0" err="1"/>
              <a:t>ca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7910115" y="5191500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/>
            </a:lvl1pPr>
          </a:lstStyle>
          <a:p>
            <a:r>
              <a:rPr lang="en-IN" dirty="0"/>
              <a:t>a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9142047" y="5191500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/>
            </a:lvl1pPr>
          </a:lstStyle>
          <a:p>
            <a:r>
              <a:rPr lang="en-IN" dirty="0"/>
              <a:t>c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85738" y="990600"/>
            <a:ext cx="6725956" cy="28007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Scan characters following ‘c’;</a:t>
            </a:r>
          </a:p>
          <a:p>
            <a:pPr marL="442913"/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Compare them to the characters on stack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US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US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S[TOP] ≠ ‘c’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 NEXT ← NEXTCHAR (STRING)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 X ← POP (S, TOP)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NEXT ≠ X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Write(‘</a:t>
            </a:r>
            <a:r>
              <a:rPr lang="en-US" sz="2200" b="1" dirty="0">
                <a:latin typeface="Consolas" pitchFamily="49" charset="0"/>
                <a:cs typeface="Consolas" pitchFamily="49" charset="0"/>
              </a:rPr>
              <a:t>Invalid String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’)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      Exit</a:t>
            </a:r>
          </a:p>
        </p:txBody>
      </p:sp>
      <p:sp>
        <p:nvSpPr>
          <p:cNvPr id="36" name="Left Brace 35"/>
          <p:cNvSpPr/>
          <p:nvPr/>
        </p:nvSpPr>
        <p:spPr>
          <a:xfrm>
            <a:off x="7767187" y="4757296"/>
            <a:ext cx="89069" cy="902204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TextBox 26"/>
          <p:cNvSpPr txBox="1"/>
          <p:nvPr/>
        </p:nvSpPr>
        <p:spPr>
          <a:xfrm>
            <a:off x="7288496" y="5008343"/>
            <a:ext cx="214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N" dirty="0"/>
              <a:t>3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85738" y="1713441"/>
            <a:ext cx="6725956" cy="35989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7910115" y="1976717"/>
            <a:ext cx="1219200" cy="72000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Character Scanned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142047" y="1976717"/>
            <a:ext cx="1219200" cy="72000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Stack 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</a:rPr>
              <a:t>Content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910115" y="2724230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2000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9142047" y="2724230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</a:t>
            </a:r>
            <a:endParaRPr lang="en-US" sz="2000" b="1" dirty="0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07965" y="3193997"/>
            <a:ext cx="244976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0" name="Left Brace 59"/>
          <p:cNvSpPr/>
          <p:nvPr/>
        </p:nvSpPr>
        <p:spPr>
          <a:xfrm>
            <a:off x="7736108" y="2716901"/>
            <a:ext cx="120149" cy="42303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1" name="TextBox 60"/>
          <p:cNvSpPr txBox="1"/>
          <p:nvPr/>
        </p:nvSpPr>
        <p:spPr>
          <a:xfrm>
            <a:off x="7281528" y="2729464"/>
            <a:ext cx="228600" cy="42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</a:t>
            </a:r>
            <a:endParaRPr lang="en-US" sz="2000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7910115" y="3233190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a</a:t>
            </a:r>
            <a:endParaRPr lang="en-US" sz="2000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9142047" y="3233190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err="1"/>
              <a:t>ca</a:t>
            </a:r>
            <a:endParaRPr lang="en-US" sz="2000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7910115" y="3715256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b</a:t>
            </a:r>
            <a:endParaRPr lang="en-US" sz="2000" b="1" dirty="0"/>
          </a:p>
        </p:txBody>
      </p:sp>
      <p:sp>
        <p:nvSpPr>
          <p:cNvPr id="65" name="TextBox 64"/>
          <p:cNvSpPr txBox="1"/>
          <p:nvPr/>
        </p:nvSpPr>
        <p:spPr>
          <a:xfrm>
            <a:off x="9142047" y="3715256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cab</a:t>
            </a:r>
            <a:endParaRPr lang="en-US" sz="2000" b="1" dirty="0"/>
          </a:p>
        </p:txBody>
      </p:sp>
      <p:sp>
        <p:nvSpPr>
          <p:cNvPr id="66" name="TextBox 65"/>
          <p:cNvSpPr txBox="1"/>
          <p:nvPr/>
        </p:nvSpPr>
        <p:spPr>
          <a:xfrm>
            <a:off x="7910115" y="4197323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</a:t>
            </a:r>
            <a:endParaRPr lang="en-US" sz="2000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9142047" y="4197323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cab</a:t>
            </a:r>
            <a:endParaRPr lang="en-US" sz="2000" b="1" dirty="0"/>
          </a:p>
        </p:txBody>
      </p:sp>
      <p:sp>
        <p:nvSpPr>
          <p:cNvPr id="68" name="Left Brace 67"/>
          <p:cNvSpPr/>
          <p:nvPr/>
        </p:nvSpPr>
        <p:spPr>
          <a:xfrm>
            <a:off x="7736107" y="3233189"/>
            <a:ext cx="120149" cy="1426871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9" name="TextBox 68"/>
          <p:cNvSpPr txBox="1"/>
          <p:nvPr/>
        </p:nvSpPr>
        <p:spPr>
          <a:xfrm>
            <a:off x="7281528" y="3746569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N" dirty="0"/>
              <a:t>2</a:t>
            </a:r>
            <a:endParaRPr lang="en-US" dirty="0"/>
          </a:p>
        </p:txBody>
      </p:sp>
      <p:cxnSp>
        <p:nvCxnSpPr>
          <p:cNvPr id="70" name="Straight Connector 69"/>
          <p:cNvCxnSpPr/>
          <p:nvPr/>
        </p:nvCxnSpPr>
        <p:spPr>
          <a:xfrm>
            <a:off x="7913044" y="4693266"/>
            <a:ext cx="244976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763003" y="735108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Input String: a b c b a □</a:t>
            </a:r>
            <a:endParaRPr lang="en-US" sz="24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72" name="Group 71"/>
          <p:cNvGrpSpPr/>
          <p:nvPr/>
        </p:nvGrpSpPr>
        <p:grpSpPr>
          <a:xfrm>
            <a:off x="9668119" y="1187927"/>
            <a:ext cx="689612" cy="682366"/>
            <a:chOff x="7277100" y="1350666"/>
            <a:chExt cx="689612" cy="682366"/>
          </a:xfrm>
        </p:grpSpPr>
        <p:cxnSp>
          <p:nvCxnSpPr>
            <p:cNvPr id="73" name="Straight Arrow Connector 72"/>
            <p:cNvCxnSpPr/>
            <p:nvPr/>
          </p:nvCxnSpPr>
          <p:spPr>
            <a:xfrm flipV="1">
              <a:off x="7594600" y="1350666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7277100" y="1663700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cxnSp>
        <p:nvCxnSpPr>
          <p:cNvPr id="75" name="Straight Connector 74"/>
          <p:cNvCxnSpPr/>
          <p:nvPr/>
        </p:nvCxnSpPr>
        <p:spPr>
          <a:xfrm>
            <a:off x="7909923" y="5666434"/>
            <a:ext cx="244976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9808861" y="4236180"/>
            <a:ext cx="202158" cy="29772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85738" y="3986245"/>
            <a:ext cx="6724800" cy="2022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14000"/>
              </a:lnSpc>
              <a:buFont typeface="+mj-lt"/>
              <a:buAutoNum type="arabicPeriod" startAt="4"/>
            </a:pPr>
            <a:r>
              <a:rPr lang="en-US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[Next symbol must be blank]</a:t>
            </a:r>
          </a:p>
          <a:p>
            <a:pPr>
              <a:lnSpc>
                <a:spcPct val="114000"/>
              </a:lnSpc>
            </a:pPr>
            <a:r>
              <a:rPr lang="en-US" sz="2200" dirty="0">
                <a:solidFill>
                  <a:srgbClr val="558ED5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 NEXT ← NEXTCHAR (STRING)</a:t>
            </a:r>
          </a:p>
          <a:p>
            <a:pPr>
              <a:lnSpc>
                <a:spcPct val="114000"/>
              </a:lnSpc>
            </a:pPr>
            <a:r>
              <a:rPr lang="en-US" sz="2200" dirty="0">
                <a:latin typeface="Consolas" pitchFamily="49" charset="0"/>
                <a:cs typeface="Consolas" pitchFamily="49" charset="0"/>
              </a:rPr>
              <a:t>   If	 NEXT = ‘ ‘ </a:t>
            </a:r>
          </a:p>
          <a:p>
            <a:pPr>
              <a:lnSpc>
                <a:spcPct val="114000"/>
              </a:lnSpc>
            </a:pPr>
            <a:r>
              <a:rPr lang="en-US" sz="2200" dirty="0">
                <a:latin typeface="Consolas" pitchFamily="49" charset="0"/>
                <a:cs typeface="Consolas" pitchFamily="49" charset="0"/>
              </a:rPr>
              <a:t>   Then	 Write (‘VALID STRING’)</a:t>
            </a:r>
          </a:p>
          <a:p>
            <a:pPr>
              <a:lnSpc>
                <a:spcPct val="114000"/>
              </a:lnSpc>
            </a:pPr>
            <a:r>
              <a:rPr lang="en-US" sz="2200" dirty="0">
                <a:latin typeface="Consolas" pitchFamily="49" charset="0"/>
                <a:cs typeface="Consolas" pitchFamily="49" charset="0"/>
              </a:rPr>
              <a:t>   Else	 Write (‘INVALID STRING’)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5738" y="4396400"/>
            <a:ext cx="6724800" cy="36089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sp>
        <p:nvSpPr>
          <p:cNvPr id="79" name="TextBox 78"/>
          <p:cNvSpPr txBox="1"/>
          <p:nvPr/>
        </p:nvSpPr>
        <p:spPr>
          <a:xfrm>
            <a:off x="7910115" y="5686427"/>
            <a:ext cx="1219200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□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1432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07407E-6 L 4.375E-6 0.0418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33333E-6 L 0.01719 3.33333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.04189 L 4.375E-6 0.08981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.09467 L 0.00182 0.15162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4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82 0.15162 L 2.5E-6 4.81481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7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4 0.00417 L -0.00586 0.07801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7" y="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07407E-6 L 4.375E-6 0.041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719 3.33333E-6 L 0.03555 3.33333E-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0.0419 L 4.375E-6 0.09467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4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82 0.15162 L 2.5E-6 4.81481E-6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7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6 3.33333E-6 L 0.05144 3.33333E-6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1.11111E-6 L 4.375E-6 0.06296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.05972 L 4.375E-6 0.1213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33" grpId="0" animBg="1"/>
      <p:bldP spid="36" grpId="0" animBg="1"/>
      <p:bldP spid="27" grpId="0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4" grpId="6" animBg="1"/>
      <p:bldP spid="4" grpId="7" animBg="1"/>
      <p:bldP spid="76" grpId="0" animBg="1"/>
      <p:bldP spid="76" grpId="1" animBg="1"/>
      <p:bldP spid="78" grpId="0" animBg="1"/>
      <p:bldP spid="77" grpId="0" animBg="1"/>
      <p:bldP spid="77" grpId="1" animBg="1"/>
      <p:bldP spid="77" grpId="2" animBg="1"/>
      <p:bldP spid="7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: RECOGNIZE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Write an algorithm to determine if an input character string is of the form </a:t>
            </a:r>
            <a:r>
              <a:rPr lang="en-IN" b="1" i="1" dirty="0" err="1">
                <a:solidFill>
                  <a:srgbClr val="C00000"/>
                </a:solidFill>
              </a:rPr>
              <a:t>a</a:t>
            </a:r>
            <a:r>
              <a:rPr lang="en-IN" b="1" i="1" baseline="30000" dirty="0" err="1">
                <a:solidFill>
                  <a:srgbClr val="C00000"/>
                </a:solidFill>
              </a:rPr>
              <a:t>i</a:t>
            </a:r>
            <a:r>
              <a:rPr lang="en-IN" b="1" i="1" dirty="0" err="1">
                <a:solidFill>
                  <a:srgbClr val="C00000"/>
                </a:solidFill>
              </a:rPr>
              <a:t>b</a:t>
            </a:r>
            <a:r>
              <a:rPr lang="en-IN" b="1" i="1" baseline="30000" dirty="0" err="1">
                <a:solidFill>
                  <a:srgbClr val="C00000"/>
                </a:solidFill>
              </a:rPr>
              <a:t>i</a:t>
            </a:r>
            <a:r>
              <a:rPr lang="en-IN" b="1" i="1" dirty="0">
                <a:solidFill>
                  <a:srgbClr val="C00000"/>
                </a:solidFill>
              </a:rPr>
              <a:t> where i&gt;=1</a:t>
            </a:r>
            <a:r>
              <a:rPr lang="en-IN" dirty="0"/>
              <a:t> </a:t>
            </a:r>
          </a:p>
          <a:p>
            <a:r>
              <a:rPr lang="en-IN" dirty="0"/>
              <a:t>i.e. number of </a:t>
            </a:r>
            <a:r>
              <a:rPr lang="en-IN" b="1" dirty="0">
                <a:solidFill>
                  <a:srgbClr val="C00000"/>
                </a:solidFill>
              </a:rPr>
              <a:t>a</a:t>
            </a:r>
            <a:r>
              <a:rPr lang="en-IN" dirty="0"/>
              <a:t> </a:t>
            </a:r>
            <a:r>
              <a:rPr lang="en-IN" b="1" i="1" dirty="0"/>
              <a:t>should be equal</a:t>
            </a:r>
            <a:r>
              <a:rPr lang="en-IN" dirty="0"/>
              <a:t> to no of </a:t>
            </a:r>
            <a:r>
              <a:rPr lang="en-IN" b="1" dirty="0">
                <a:solidFill>
                  <a:srgbClr val="C00000"/>
                </a:solidFill>
              </a:rPr>
              <a:t>b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63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Polish Notations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Stack Application </a:t>
            </a:r>
          </a:p>
        </p:txBody>
      </p:sp>
    </p:spTree>
    <p:extLst>
      <p:ext uri="{BB962C8B-B14F-4D97-AF65-F5344CB8AC3E}">
        <p14:creationId xmlns:p14="http://schemas.microsoft.com/office/powerpoint/2010/main" val="2415807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Polish Expression &amp; their Compilation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Evaluating Infix Expression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05200" y="1524000"/>
            <a:ext cx="4191000" cy="630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3500" dirty="0"/>
              <a:t>a + b * c + d * e</a:t>
            </a:r>
            <a:endParaRPr lang="en-US" sz="35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4867309" y="2034463"/>
            <a:ext cx="838200" cy="307759"/>
            <a:chOff x="3366247" y="2063318"/>
            <a:chExt cx="838200" cy="307759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366247" y="2362200"/>
              <a:ext cx="8382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4185082" y="2066277"/>
              <a:ext cx="0" cy="3048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3366370" y="2063318"/>
              <a:ext cx="0" cy="3048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5127810" y="2362206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6122895" y="2034996"/>
            <a:ext cx="838200" cy="307759"/>
            <a:chOff x="3352800" y="2063318"/>
            <a:chExt cx="838200" cy="307759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3352800" y="2362200"/>
              <a:ext cx="8382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4185082" y="2066277"/>
              <a:ext cx="0" cy="3048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3366370" y="2063318"/>
              <a:ext cx="0" cy="3048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6423210" y="2362206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</a:t>
            </a:r>
            <a:endParaRPr lang="en-US" b="1" dirty="0"/>
          </a:p>
        </p:txBody>
      </p:sp>
      <p:grpSp>
        <p:nvGrpSpPr>
          <p:cNvPr id="19" name="Group 18"/>
          <p:cNvGrpSpPr/>
          <p:nvPr/>
        </p:nvGrpSpPr>
        <p:grpSpPr>
          <a:xfrm>
            <a:off x="4140774" y="2014955"/>
            <a:ext cx="1605200" cy="780045"/>
            <a:chOff x="3366370" y="2055499"/>
            <a:chExt cx="838682" cy="312619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3366852" y="2362200"/>
              <a:ext cx="8382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4199134" y="2055499"/>
              <a:ext cx="0" cy="3048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3366370" y="2063318"/>
              <a:ext cx="0" cy="3048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4805085" y="2756664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</a:t>
            </a:r>
            <a:endParaRPr lang="en-US" b="1" dirty="0"/>
          </a:p>
        </p:txBody>
      </p:sp>
      <p:grpSp>
        <p:nvGrpSpPr>
          <p:cNvPr id="24" name="Group 23"/>
          <p:cNvGrpSpPr/>
          <p:nvPr/>
        </p:nvGrpSpPr>
        <p:grpSpPr>
          <a:xfrm>
            <a:off x="4011705" y="2010469"/>
            <a:ext cx="3048000" cy="1164472"/>
            <a:chOff x="3352800" y="2059764"/>
            <a:chExt cx="838200" cy="307759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3352800" y="2364569"/>
              <a:ext cx="8382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4188780" y="2062723"/>
              <a:ext cx="0" cy="3048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V="1">
              <a:off x="3355277" y="2059764"/>
              <a:ext cx="0" cy="3048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5325030" y="3162762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31" name="Content Placeholder 2"/>
          <p:cNvSpPr txBox="1">
            <a:spLocks/>
          </p:cNvSpPr>
          <p:nvPr/>
        </p:nvSpPr>
        <p:spPr>
          <a:xfrm>
            <a:off x="131180" y="3672449"/>
            <a:ext cx="11929641" cy="2714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 </a:t>
            </a:r>
            <a:r>
              <a:rPr lang="en-IN" b="1" dirty="0">
                <a:solidFill>
                  <a:srgbClr val="C00000"/>
                </a:solidFill>
              </a:rPr>
              <a:t>repeated scanning </a:t>
            </a:r>
            <a:r>
              <a:rPr lang="en-IN" b="1" dirty="0"/>
              <a:t>from left to right is needed </a:t>
            </a:r>
            <a:r>
              <a:rPr lang="en-IN" dirty="0"/>
              <a:t>as operators appears inside the operands.</a:t>
            </a:r>
          </a:p>
          <a:p>
            <a:r>
              <a:rPr lang="en-IN" b="1" i="1" dirty="0"/>
              <a:t>Repeated scanning is avoided </a:t>
            </a:r>
            <a:r>
              <a:rPr lang="en-IN" dirty="0"/>
              <a:t>if the </a:t>
            </a:r>
            <a:r>
              <a:rPr lang="en-IN" b="1" dirty="0"/>
              <a:t>infix expression </a:t>
            </a:r>
            <a:r>
              <a:rPr lang="en-IN" dirty="0"/>
              <a:t>is first </a:t>
            </a:r>
            <a:r>
              <a:rPr lang="en-IN" b="1" dirty="0"/>
              <a:t>converted</a:t>
            </a:r>
            <a:r>
              <a:rPr lang="en-IN" dirty="0"/>
              <a:t> to an equivalent parenthesis free </a:t>
            </a:r>
            <a:r>
              <a:rPr lang="en-IN" b="1" i="1" dirty="0"/>
              <a:t>prefix or suffix (postfix) expression</a:t>
            </a:r>
            <a:r>
              <a:rPr lang="en-IN" dirty="0"/>
              <a:t>.</a:t>
            </a:r>
          </a:p>
          <a:p>
            <a:r>
              <a:rPr lang="en-IN" b="1" dirty="0">
                <a:solidFill>
                  <a:srgbClr val="C00000"/>
                </a:solidFill>
              </a:rPr>
              <a:t>Prefix</a:t>
            </a:r>
            <a:r>
              <a:rPr lang="en-IN" b="1" dirty="0"/>
              <a:t> Expression: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Operator</a:t>
            </a:r>
            <a:r>
              <a:rPr lang="en-IN" dirty="0"/>
              <a:t>, Operand, Operand</a:t>
            </a:r>
          </a:p>
          <a:p>
            <a:r>
              <a:rPr lang="en-IN" b="1" dirty="0">
                <a:solidFill>
                  <a:srgbClr val="C00000"/>
                </a:solidFill>
              </a:rPr>
              <a:t>Postfix </a:t>
            </a:r>
            <a:r>
              <a:rPr lang="en-IN" b="1" dirty="0"/>
              <a:t>Expression:</a:t>
            </a:r>
            <a:r>
              <a:rPr lang="en-IN" dirty="0"/>
              <a:t> Operand, Operand, </a:t>
            </a:r>
            <a:r>
              <a:rPr lang="en-IN" b="1" dirty="0">
                <a:solidFill>
                  <a:srgbClr val="C00000"/>
                </a:solidFill>
              </a:rPr>
              <a:t>Operator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65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/>
      <p:bldP spid="18" grpId="0"/>
      <p:bldP spid="23" grpId="0"/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Polish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type of notation is known </a:t>
            </a:r>
            <a:r>
              <a:rPr lang="en-IN" b="1" dirty="0" err="1">
                <a:solidFill>
                  <a:srgbClr val="C00000"/>
                </a:solidFill>
              </a:rPr>
              <a:t>Lukasiewicz</a:t>
            </a:r>
            <a:r>
              <a:rPr lang="en-IN" b="1" dirty="0">
                <a:solidFill>
                  <a:srgbClr val="C00000"/>
                </a:solidFill>
              </a:rPr>
              <a:t> Notation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dirty="0"/>
              <a:t>or </a:t>
            </a:r>
            <a:r>
              <a:rPr lang="en-IN" b="1" dirty="0">
                <a:solidFill>
                  <a:srgbClr val="C00000"/>
                </a:solidFill>
              </a:rPr>
              <a:t>Polish Notation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dirty="0"/>
              <a:t>or </a:t>
            </a:r>
            <a:r>
              <a:rPr lang="en-IN" b="1" dirty="0">
                <a:solidFill>
                  <a:srgbClr val="C00000"/>
                </a:solidFill>
              </a:rPr>
              <a:t>Reverse Polish Notation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dirty="0"/>
              <a:t>due to Polish logician </a:t>
            </a:r>
            <a:r>
              <a:rPr lang="en-IN" i="1" dirty="0"/>
              <a:t>Jan </a:t>
            </a:r>
            <a:r>
              <a:rPr lang="en-IN" i="1" dirty="0" err="1"/>
              <a:t>Lukasiewicz</a:t>
            </a:r>
            <a:r>
              <a:rPr lang="en-IN" dirty="0"/>
              <a:t>.</a:t>
            </a:r>
          </a:p>
          <a:p>
            <a:r>
              <a:rPr lang="en-IN" dirty="0"/>
              <a:t>In both </a:t>
            </a:r>
            <a:r>
              <a:rPr lang="en-IN" b="1" dirty="0"/>
              <a:t>prefix</a:t>
            </a:r>
            <a:r>
              <a:rPr lang="en-IN" dirty="0"/>
              <a:t> and </a:t>
            </a:r>
            <a:r>
              <a:rPr lang="en-IN" b="1" dirty="0"/>
              <a:t>postfix </a:t>
            </a:r>
            <a:r>
              <a:rPr lang="en-IN" dirty="0"/>
              <a:t>equivalents of an infix expression, the </a:t>
            </a:r>
            <a:r>
              <a:rPr lang="en-IN" b="1" i="1" dirty="0">
                <a:solidFill>
                  <a:srgbClr val="C00000"/>
                </a:solidFill>
              </a:rPr>
              <a:t>variables are in same relative position</a:t>
            </a:r>
            <a:r>
              <a:rPr lang="en-IN" dirty="0"/>
              <a:t>.</a:t>
            </a:r>
          </a:p>
          <a:p>
            <a:r>
              <a:rPr lang="en-IN" dirty="0"/>
              <a:t>The expressions in postfix or prefix form are </a:t>
            </a:r>
            <a:r>
              <a:rPr lang="en-IN" b="1" i="1" dirty="0">
                <a:solidFill>
                  <a:srgbClr val="C00000"/>
                </a:solidFill>
              </a:rPr>
              <a:t>parenthesis free</a:t>
            </a:r>
            <a:r>
              <a:rPr lang="en-IN" b="1" i="1" dirty="0">
                <a:solidFill>
                  <a:srgbClr val="FF0000"/>
                </a:solidFill>
              </a:rPr>
              <a:t> </a:t>
            </a:r>
            <a:r>
              <a:rPr lang="en-IN" dirty="0"/>
              <a:t>and </a:t>
            </a:r>
            <a:r>
              <a:rPr lang="en-IN" u="sng" dirty="0"/>
              <a:t>operators are rearranged according to rules of precedence for operators</a:t>
            </a:r>
            <a:r>
              <a:rPr lang="en-IN" dirty="0" smtClean="0"/>
              <a:t>.</a:t>
            </a:r>
          </a:p>
          <a:p>
            <a:r>
              <a:rPr lang="en-IN" dirty="0"/>
              <a:t>Postfix Expression = Reverse Polish Notation.</a:t>
            </a:r>
          </a:p>
          <a:p>
            <a:r>
              <a:rPr lang="en-IN" dirty="0"/>
              <a:t>Prefix Expression = Polish Notation.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10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Polish Notation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077437957"/>
              </p:ext>
            </p:extLst>
          </p:nvPr>
        </p:nvGraphicFramePr>
        <p:xfrm>
          <a:off x="131763" y="863600"/>
          <a:ext cx="11928475" cy="3571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77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7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9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Sr.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Infix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Postfix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Prefix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  <a:endParaRPr lang="en-US" sz="22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</a:t>
                      </a:r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2</a:t>
                      </a:r>
                      <a:endParaRPr lang="en-US" sz="22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 + b</a:t>
                      </a:r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3</a:t>
                      </a:r>
                      <a:endParaRPr lang="en-US" sz="22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 + b + c</a:t>
                      </a:r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4</a:t>
                      </a:r>
                      <a:endParaRPr lang="en-US" sz="22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 + (b + c)</a:t>
                      </a:r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5</a:t>
                      </a:r>
                      <a:endParaRPr lang="en-US" sz="22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a + (b * c)</a:t>
                      </a:r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6</a:t>
                      </a:r>
                      <a:endParaRPr lang="en-US" sz="22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 * (b + c)</a:t>
                      </a:r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7</a:t>
                      </a:r>
                      <a:endParaRPr lang="en-US" sz="22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 * b * c</a:t>
                      </a:r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24083" y="1211728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8292353" y="1211728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4424083" y="1686878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 b + 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8292353" y="1686878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+ a b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68190" y="4834204"/>
            <a:ext cx="1800000" cy="46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a + b + c</a:t>
            </a:r>
            <a:endParaRPr lang="en-US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3204231" y="4834204"/>
            <a:ext cx="1800000" cy="46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a + b</a:t>
            </a:r>
            <a:r>
              <a:rPr lang="en-IN" sz="2400" b="1" dirty="0">
                <a:solidFill>
                  <a:srgbClr val="FF0000"/>
                </a:solidFill>
              </a:rPr>
              <a:t> </a:t>
            </a:r>
            <a:r>
              <a:rPr lang="en-IN" sz="2400" b="1" dirty="0"/>
              <a:t>+ c</a:t>
            </a:r>
            <a:endParaRPr lang="en-US" sz="2400" b="1" dirty="0"/>
          </a:p>
        </p:txBody>
      </p:sp>
      <p:cxnSp>
        <p:nvCxnSpPr>
          <p:cNvPr id="15" name="Straight Arrow Connector 14"/>
          <p:cNvCxnSpPr>
            <a:stCxn id="12" idx="3"/>
            <a:endCxn id="13" idx="1"/>
          </p:cNvCxnSpPr>
          <p:nvPr/>
        </p:nvCxnSpPr>
        <p:spPr>
          <a:xfrm>
            <a:off x="2768190" y="5068204"/>
            <a:ext cx="436041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40272" y="4834204"/>
            <a:ext cx="1800000" cy="46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C00000"/>
                </a:solidFill>
                <a:latin typeface="+mj-lt"/>
              </a:rPr>
              <a:t>(</a:t>
            </a:r>
            <a:r>
              <a:rPr lang="en-IN" sz="2400" b="1" dirty="0" err="1">
                <a:solidFill>
                  <a:srgbClr val="C00000"/>
                </a:solidFill>
              </a:rPr>
              <a:t>ab</a:t>
            </a:r>
            <a:r>
              <a:rPr lang="en-IN" sz="2400" b="1" dirty="0">
                <a:solidFill>
                  <a:srgbClr val="C00000"/>
                </a:solidFill>
                <a:latin typeface="+mj-lt"/>
              </a:rPr>
              <a:t>+)</a:t>
            </a:r>
            <a:r>
              <a:rPr lang="en-IN" sz="2400" b="1" dirty="0">
                <a:latin typeface="+mj-lt"/>
              </a:rPr>
              <a:t>+ c</a:t>
            </a:r>
            <a:endParaRPr lang="en-US" sz="2400" b="1" dirty="0">
              <a:latin typeface="+mj-lt"/>
            </a:endParaRPr>
          </a:p>
        </p:txBody>
      </p:sp>
      <p:cxnSp>
        <p:nvCxnSpPr>
          <p:cNvPr id="20" name="Straight Arrow Connector 19"/>
          <p:cNvCxnSpPr>
            <a:stCxn id="13" idx="3"/>
            <a:endCxn id="18" idx="1"/>
          </p:cNvCxnSpPr>
          <p:nvPr/>
        </p:nvCxnSpPr>
        <p:spPr>
          <a:xfrm>
            <a:off x="5004231" y="5068204"/>
            <a:ext cx="436041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76313" y="4834204"/>
            <a:ext cx="1800000" cy="46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(</a:t>
            </a:r>
            <a:r>
              <a:rPr lang="en-IN" sz="2400" b="1" dirty="0" err="1">
                <a:solidFill>
                  <a:srgbClr val="C00000"/>
                </a:solidFill>
              </a:rPr>
              <a:t>ab</a:t>
            </a:r>
            <a:r>
              <a:rPr lang="en-IN" sz="2400" b="1" dirty="0">
                <a:solidFill>
                  <a:srgbClr val="C00000"/>
                </a:solidFill>
              </a:rPr>
              <a:t>+)</a:t>
            </a:r>
            <a:r>
              <a:rPr lang="en-IN" sz="2400" b="1" dirty="0"/>
              <a:t> c +</a:t>
            </a:r>
            <a:endParaRPr lang="en-US" sz="2400" b="1" dirty="0"/>
          </a:p>
        </p:txBody>
      </p:sp>
      <p:cxnSp>
        <p:nvCxnSpPr>
          <p:cNvPr id="23" name="Straight Arrow Connector 22"/>
          <p:cNvCxnSpPr>
            <a:stCxn id="18" idx="3"/>
            <a:endCxn id="21" idx="1"/>
          </p:cNvCxnSpPr>
          <p:nvPr/>
        </p:nvCxnSpPr>
        <p:spPr>
          <a:xfrm>
            <a:off x="7240272" y="5068204"/>
            <a:ext cx="436041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912353" y="4834204"/>
            <a:ext cx="1800000" cy="468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a b + c +</a:t>
            </a:r>
            <a:endParaRPr lang="en-US" sz="2400" b="1" dirty="0"/>
          </a:p>
        </p:txBody>
      </p:sp>
      <p:cxnSp>
        <p:nvCxnSpPr>
          <p:cNvPr id="27" name="Straight Arrow Connector 26"/>
          <p:cNvCxnSpPr>
            <a:stCxn id="21" idx="3"/>
            <a:endCxn id="25" idx="1"/>
          </p:cNvCxnSpPr>
          <p:nvPr/>
        </p:nvCxnSpPr>
        <p:spPr>
          <a:xfrm>
            <a:off x="9476313" y="5068204"/>
            <a:ext cx="43604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424083" y="2144078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 b + c +</a:t>
            </a:r>
            <a:endParaRPr lang="en-US" sz="2400" dirty="0"/>
          </a:p>
        </p:txBody>
      </p:sp>
      <p:sp>
        <p:nvSpPr>
          <p:cNvPr id="33" name="TextBox 32"/>
          <p:cNvSpPr txBox="1"/>
          <p:nvPr/>
        </p:nvSpPr>
        <p:spPr>
          <a:xfrm>
            <a:off x="8292353" y="2144078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+ + a b c</a:t>
            </a:r>
            <a:endParaRPr lang="en-US" sz="2400" dirty="0"/>
          </a:p>
        </p:txBody>
      </p:sp>
      <p:sp>
        <p:nvSpPr>
          <p:cNvPr id="34" name="TextBox 33"/>
          <p:cNvSpPr txBox="1"/>
          <p:nvPr/>
        </p:nvSpPr>
        <p:spPr>
          <a:xfrm>
            <a:off x="4424083" y="2601278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 b c + +</a:t>
            </a:r>
            <a:endParaRPr lang="en-US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8292353" y="2601278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+ a + b c</a:t>
            </a:r>
            <a:endParaRPr lang="en-US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4424083" y="3062943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 b c * +</a:t>
            </a:r>
            <a:endParaRPr lang="en-US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8292353" y="3062943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+a * b c </a:t>
            </a:r>
            <a:endParaRPr lang="en-US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4424083" y="3515678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 b c + *</a:t>
            </a:r>
            <a:endParaRPr lang="en-US" sz="2400" dirty="0"/>
          </a:p>
        </p:txBody>
      </p:sp>
      <p:sp>
        <p:nvSpPr>
          <p:cNvPr id="39" name="TextBox 38"/>
          <p:cNvSpPr txBox="1"/>
          <p:nvPr/>
        </p:nvSpPr>
        <p:spPr>
          <a:xfrm>
            <a:off x="8292353" y="3515678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* a + b c</a:t>
            </a:r>
            <a:endParaRPr lang="en-US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4424083" y="3972878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 b *c*</a:t>
            </a:r>
            <a:endParaRPr lang="en-US" sz="2400" dirty="0"/>
          </a:p>
        </p:txBody>
      </p:sp>
      <p:sp>
        <p:nvSpPr>
          <p:cNvPr id="41" name="TextBox 40"/>
          <p:cNvSpPr txBox="1"/>
          <p:nvPr/>
        </p:nvSpPr>
        <p:spPr>
          <a:xfrm>
            <a:off x="8292353" y="3972878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 ** a b c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54535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 animBg="1"/>
      <p:bldP spid="13" grpId="0" animBg="1"/>
      <p:bldP spid="18" grpId="0" animBg="1"/>
      <p:bldP spid="21" grpId="0" animBg="1"/>
      <p:bldP spid="25" grpId="0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Infix to Postfix Conversion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Stack Application </a:t>
            </a:r>
          </a:p>
        </p:txBody>
      </p:sp>
    </p:spTree>
    <p:extLst>
      <p:ext uri="{BB962C8B-B14F-4D97-AF65-F5344CB8AC3E}">
        <p14:creationId xmlns:p14="http://schemas.microsoft.com/office/powerpoint/2010/main" val="87232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Finding Rank of any Expression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61325" y="849128"/>
            <a:ext cx="11819965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E = ( A + B * C / D - E + F / G / ( H + I )) 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61324" y="2108537"/>
            <a:ext cx="11819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Rank (E) =</a:t>
            </a:r>
            <a:r>
              <a:rPr lang="en-IN" sz="2400" dirty="0"/>
              <a:t> R(A) + R(+) + R(B) + R(*) + R(C) + R (/) + R(D) + R(-) + R(E) + R(+) + R(F) + R(/) + R(G) 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8570220" y="2513737"/>
            <a:ext cx="3411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+ R(/) + R(H) + R(+) + R(I)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61324" y="1428763"/>
            <a:ext cx="11819965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Note: R = </a:t>
            </a:r>
            <a:r>
              <a:rPr lang="en-IN" sz="2400" b="1" i="1" dirty="0">
                <a:solidFill>
                  <a:schemeClr val="bg1"/>
                </a:solidFill>
              </a:rPr>
              <a:t>Rank</a:t>
            </a:r>
            <a:r>
              <a:rPr lang="en-IN" sz="2400" b="1" dirty="0"/>
              <a:t>, Rank of Variable </a:t>
            </a:r>
            <a:r>
              <a:rPr lang="en-IN" sz="2400" b="1" i="1" dirty="0">
                <a:solidFill>
                  <a:schemeClr val="bg1"/>
                </a:solidFill>
              </a:rPr>
              <a:t>= 1</a:t>
            </a:r>
            <a:r>
              <a:rPr lang="en-IN" sz="2400" b="1" dirty="0"/>
              <a:t>, Rank of binary operators </a:t>
            </a:r>
            <a:r>
              <a:rPr lang="en-IN" sz="2400" b="1" i="1" dirty="0">
                <a:solidFill>
                  <a:schemeClr val="bg1"/>
                </a:solidFill>
              </a:rPr>
              <a:t>= -1</a:t>
            </a:r>
            <a:endParaRPr lang="en-US" sz="24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1323" y="3169503"/>
            <a:ext cx="11819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Rank (E) =</a:t>
            </a:r>
            <a:r>
              <a:rPr lang="en-IN" sz="2400" dirty="0"/>
              <a:t> 1 +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b="1" dirty="0">
                <a:solidFill>
                  <a:srgbClr val="C00000"/>
                </a:solidFill>
              </a:rPr>
              <a:t>(-1)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+ 1 + </a:t>
            </a:r>
            <a:r>
              <a:rPr lang="en-IN" sz="2400" b="1" dirty="0">
                <a:solidFill>
                  <a:srgbClr val="C00000"/>
                </a:solidFill>
              </a:rPr>
              <a:t>(-1)</a:t>
            </a:r>
            <a:r>
              <a:rPr lang="en-IN" sz="2400" dirty="0"/>
              <a:t> + 1 +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b="1" dirty="0">
                <a:solidFill>
                  <a:srgbClr val="C00000"/>
                </a:solidFill>
              </a:rPr>
              <a:t>(-1) </a:t>
            </a:r>
            <a:r>
              <a:rPr lang="en-IN" sz="2400" dirty="0"/>
              <a:t>+ 1 + </a:t>
            </a:r>
            <a:r>
              <a:rPr lang="en-IN" sz="2400" b="1" dirty="0">
                <a:solidFill>
                  <a:srgbClr val="C00000"/>
                </a:solidFill>
              </a:rPr>
              <a:t>(-1)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+ 1 +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b="1" dirty="0">
                <a:solidFill>
                  <a:srgbClr val="C00000"/>
                </a:solidFill>
              </a:rPr>
              <a:t>(-1)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+ 1 + </a:t>
            </a:r>
            <a:r>
              <a:rPr lang="en-IN" sz="2400" b="1" dirty="0">
                <a:solidFill>
                  <a:srgbClr val="C00000"/>
                </a:solidFill>
              </a:rPr>
              <a:t>(-1)</a:t>
            </a:r>
            <a:r>
              <a:rPr lang="en-IN" sz="2400" dirty="0"/>
              <a:t>  + 1 + </a:t>
            </a:r>
            <a:r>
              <a:rPr lang="en-IN" sz="2400" b="1" dirty="0">
                <a:solidFill>
                  <a:srgbClr val="C00000"/>
                </a:solidFill>
              </a:rPr>
              <a:t>(-1)</a:t>
            </a:r>
            <a:r>
              <a:rPr lang="en-IN" sz="2400" dirty="0"/>
              <a:t> + 1 + </a:t>
            </a:r>
            <a:r>
              <a:rPr lang="en-IN" sz="2400" b="1" dirty="0">
                <a:solidFill>
                  <a:srgbClr val="C00000"/>
                </a:solidFill>
              </a:rPr>
              <a:t>(-1)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+ 1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61323" y="3825269"/>
            <a:ext cx="11819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Rank (E) =</a:t>
            </a:r>
            <a:r>
              <a:rPr lang="en-IN" sz="2400" dirty="0"/>
              <a:t> 1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9806" y="4505284"/>
            <a:ext cx="8763000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Any Expression is valid if Rank of that expression is 1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6137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Convert Infix to Postfix Expression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21356"/>
              </p:ext>
            </p:extLst>
          </p:nvPr>
        </p:nvGraphicFramePr>
        <p:xfrm>
          <a:off x="248771" y="826341"/>
          <a:ext cx="11694458" cy="43277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45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2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9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7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327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Input precedence</a:t>
                      </a:r>
                      <a:b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function (F)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Stack precedence</a:t>
                      </a:r>
                      <a:b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function (G)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Rank function (R)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+, -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*, /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^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5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Variables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7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8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9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8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-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5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: REVPOL | Infix to Postfix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an input string </a:t>
            </a:r>
            <a:r>
              <a:rPr lang="en-IN" b="1" dirty="0">
                <a:solidFill>
                  <a:srgbClr val="C00000"/>
                </a:solidFill>
              </a:rPr>
              <a:t>INFIX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containing an infix expression which has been padded on the right with </a:t>
            </a:r>
            <a:r>
              <a:rPr lang="en-IN" b="1" dirty="0">
                <a:solidFill>
                  <a:srgbClr val="C00000"/>
                </a:solidFill>
              </a:rPr>
              <a:t>‘)’</a:t>
            </a:r>
            <a:r>
              <a:rPr lang="en-IN" dirty="0"/>
              <a:t>.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dirty="0"/>
              <a:t>This algorithm </a:t>
            </a:r>
            <a:r>
              <a:rPr lang="en-IN" b="1" i="1" dirty="0">
                <a:solidFill>
                  <a:srgbClr val="C00000"/>
                </a:solidFill>
              </a:rPr>
              <a:t>converts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b="1" i="1" dirty="0">
                <a:solidFill>
                  <a:srgbClr val="C00000"/>
                </a:solidFill>
              </a:rPr>
              <a:t>INFIX into reverse polish</a:t>
            </a:r>
            <a:r>
              <a:rPr lang="en-IN" b="1" i="1" dirty="0"/>
              <a:t> </a:t>
            </a:r>
            <a:r>
              <a:rPr lang="en-IN" dirty="0"/>
              <a:t>and places the result in the string </a:t>
            </a:r>
            <a:r>
              <a:rPr lang="en-IN" b="1" dirty="0">
                <a:solidFill>
                  <a:srgbClr val="C00000"/>
                </a:solidFill>
              </a:rPr>
              <a:t>POLISH</a:t>
            </a:r>
            <a:r>
              <a:rPr lang="en-IN" dirty="0"/>
              <a:t>.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dirty="0"/>
              <a:t>All symbols have precedence value given by the table.</a:t>
            </a:r>
          </a:p>
          <a:p>
            <a:r>
              <a:rPr lang="en-IN" dirty="0"/>
              <a:t>Stack is represented by a vector </a:t>
            </a:r>
            <a:r>
              <a:rPr lang="en-IN" b="1" dirty="0">
                <a:solidFill>
                  <a:srgbClr val="C00000"/>
                </a:solidFill>
              </a:rPr>
              <a:t>S, TOP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denotes the top of the stack, algorithm </a:t>
            </a:r>
            <a:r>
              <a:rPr lang="en-IN" b="1" dirty="0">
                <a:solidFill>
                  <a:srgbClr val="C00000"/>
                </a:solidFill>
              </a:rPr>
              <a:t>PUSH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POP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dirty="0"/>
              <a:t>are used for stack manipulation.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dirty="0"/>
              <a:t>Function </a:t>
            </a:r>
            <a:r>
              <a:rPr lang="en-IN" b="1" dirty="0">
                <a:solidFill>
                  <a:srgbClr val="C00000"/>
                </a:solidFill>
              </a:rPr>
              <a:t>NEXTCHAR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returns the next symbol in given input string.</a:t>
            </a:r>
          </a:p>
          <a:p>
            <a:r>
              <a:rPr lang="en-IN" dirty="0"/>
              <a:t>The integer variable </a:t>
            </a:r>
            <a:r>
              <a:rPr lang="en-IN" b="1" dirty="0">
                <a:solidFill>
                  <a:srgbClr val="C00000"/>
                </a:solidFill>
              </a:rPr>
              <a:t>RANK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contains the rank of expression. </a:t>
            </a:r>
          </a:p>
          <a:p>
            <a:r>
              <a:rPr lang="en-IN" dirty="0"/>
              <a:t>The string variable </a:t>
            </a:r>
            <a:r>
              <a:rPr lang="en-IN" b="1" dirty="0">
                <a:solidFill>
                  <a:srgbClr val="C00000"/>
                </a:solidFill>
              </a:rPr>
              <a:t>TEMP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used for temporary storage purpose.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55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3318" y="34605"/>
            <a:ext cx="594000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[Initialize Stack]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TOP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r>
              <a:rPr lang="en-US" dirty="0">
                <a:latin typeface="Consolas" pitchFamily="49" charset="0"/>
                <a:cs typeface="Consolas" pitchFamily="49" charset="0"/>
              </a:rPr>
              <a:t>    S[TOP] ← ‘(’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318" y="973847"/>
            <a:ext cx="594000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[Initialize output string and rank count]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‘’</a:t>
            </a:r>
          </a:p>
          <a:p>
            <a:r>
              <a:rPr lang="en-US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0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3318" y="1913089"/>
            <a:ext cx="594000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[Get first input symbol]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318" y="2575332"/>
            <a:ext cx="594000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thru step 7 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	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NEXT != ‘ ‘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27318" y="34605"/>
            <a:ext cx="5940000" cy="3416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3538" indent="-363538"/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444500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b="1" dirty="0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TOP &lt; </a:t>
            </a:r>
            <a:r>
              <a:rPr lang="en-IN" dirty="0" smtClean="0">
                <a:latin typeface="Consolas" pitchFamily="49" charset="0"/>
                <a:cs typeface="Consolas" pitchFamily="49" charset="0"/>
              </a:rPr>
              <a:t>0</a:t>
            </a:r>
            <a:endParaRPr lang="en-IN" dirty="0">
              <a:latin typeface="Consolas" pitchFamily="49" charset="0"/>
              <a:cs typeface="Consolas" pitchFamily="49" charset="0"/>
            </a:endParaRPr>
          </a:p>
          <a:p>
            <a:pPr marL="444500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444500"/>
            <a:r>
              <a:rPr lang="en-IN" dirty="0">
                <a:latin typeface="Consolas" pitchFamily="49" charset="0"/>
                <a:cs typeface="Consolas" pitchFamily="49" charset="0"/>
              </a:rPr>
              <a:t>	 EXIT</a:t>
            </a:r>
          </a:p>
          <a:p>
            <a:pPr marL="444500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 while</a:t>
            </a:r>
            <a:r>
              <a:rPr lang="en-IN" b="1" dirty="0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G(S[TOP]) &gt; F(NEXT)</a:t>
            </a:r>
          </a:p>
          <a:p>
            <a:pPr marL="444500"/>
            <a:r>
              <a:rPr lang="en-IN" dirty="0">
                <a:latin typeface="Consolas" pitchFamily="49" charset="0"/>
                <a:cs typeface="Consolas" pitchFamily="49" charset="0"/>
              </a:rPr>
              <a:t>	TEMP </a:t>
            </a:r>
            <a:r>
              <a:rPr lang="en-IN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444500"/>
            <a:r>
              <a:rPr lang="en-IN" dirty="0">
                <a:latin typeface="Consolas" pitchFamily="49" charset="0"/>
                <a:cs typeface="Consolas" pitchFamily="49" charset="0"/>
              </a:rPr>
              <a:t>	POLISH </a:t>
            </a:r>
            <a:r>
              <a:rPr lang="en-IN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O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444500"/>
            <a:r>
              <a:rPr lang="en-IN" dirty="0">
                <a:latin typeface="Consolas" pitchFamily="49" charset="0"/>
                <a:cs typeface="Consolas" pitchFamily="49" charset="0"/>
              </a:rPr>
              <a:t>	RANK </a:t>
            </a:r>
            <a:r>
              <a:rPr lang="en-IN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444500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	IF</a:t>
            </a:r>
            <a:r>
              <a:rPr lang="en-IN" b="1" dirty="0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RANK &lt;1</a:t>
            </a:r>
          </a:p>
          <a:p>
            <a:pPr marL="444500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	Then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444500"/>
            <a:r>
              <a:rPr lang="en-IN" dirty="0">
                <a:latin typeface="Consolas" pitchFamily="49" charset="0"/>
                <a:cs typeface="Consolas" pitchFamily="49" charset="0"/>
              </a:rPr>
              <a:t>	     EXIT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7318" y="3471768"/>
            <a:ext cx="5940000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[Are there matching parentheses]</a:t>
            </a:r>
          </a:p>
          <a:p>
            <a:pPr marL="363538" lvl="1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b="1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G(S[TOP]) != F(NEXT)</a:t>
            </a:r>
          </a:p>
          <a:p>
            <a:pPr marL="363538" lvl="1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marL="363538" lvl="1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7318" y="4692940"/>
            <a:ext cx="594000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7"/>
            </a:pPr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[Get next symbol]</a:t>
            </a:r>
          </a:p>
          <a:p>
            <a:pPr marL="363538"/>
            <a:r>
              <a:rPr lang="en-US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7318" y="5360115"/>
            <a:ext cx="5940000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8. [Is the expression valid]</a:t>
            </a:r>
          </a:p>
          <a:p>
            <a:pPr lvl="1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  TOP != </a:t>
            </a:r>
            <a:r>
              <a:rPr lang="en-IN" dirty="0" smtClean="0">
                <a:latin typeface="Consolas" pitchFamily="49" charset="0"/>
                <a:cs typeface="Consolas" pitchFamily="49" charset="0"/>
              </a:rPr>
              <a:t>-1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OR RANK != 1</a:t>
            </a:r>
          </a:p>
          <a:p>
            <a:pPr lvl="1"/>
            <a:r>
              <a:rPr lang="en-IN" b="1" dirty="0">
                <a:latin typeface="Consolas" pitchFamily="49" charset="0"/>
                <a:cs typeface="Consolas" pitchFamily="49" charset="0"/>
              </a:rPr>
              <a:t>Then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write (‘INVALID‘)</a:t>
            </a:r>
          </a:p>
          <a:p>
            <a:pPr lvl="1"/>
            <a:r>
              <a:rPr lang="en-IN" b="1" dirty="0">
                <a:latin typeface="Consolas" pitchFamily="49" charset="0"/>
                <a:cs typeface="Consolas" pitchFamily="49" charset="0"/>
              </a:rPr>
              <a:t>Else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write (POLISH)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092226"/>
              </p:ext>
            </p:extLst>
          </p:nvPr>
        </p:nvGraphicFramePr>
        <p:xfrm>
          <a:off x="143318" y="3545306"/>
          <a:ext cx="5940000" cy="30151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IPF (F)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SPF (G)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RF (R)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+, -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-1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*, /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4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-1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^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6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-1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Variables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42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Table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779479"/>
              </p:ext>
            </p:extLst>
          </p:nvPr>
        </p:nvGraphicFramePr>
        <p:xfrm>
          <a:off x="6098854" y="34833"/>
          <a:ext cx="5895922" cy="65532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001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3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3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78800" y="194713"/>
            <a:ext cx="4437744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66" name="Group 65"/>
          <p:cNvGrpSpPr/>
          <p:nvPr/>
        </p:nvGrpSpPr>
        <p:grpSpPr>
          <a:xfrm>
            <a:off x="129988" y="665202"/>
            <a:ext cx="689612" cy="682366"/>
            <a:chOff x="7277100" y="1350666"/>
            <a:chExt cx="689612" cy="682366"/>
          </a:xfrm>
        </p:grpSpPr>
        <p:cxnSp>
          <p:nvCxnSpPr>
            <p:cNvPr id="67" name="Straight Arrow Connector 66"/>
            <p:cNvCxnSpPr/>
            <p:nvPr/>
          </p:nvCxnSpPr>
          <p:spPr>
            <a:xfrm flipV="1">
              <a:off x="7594600" y="1350666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7277100" y="1663700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29988" y="1606814"/>
            <a:ext cx="576000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[Initialize Stack]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TOP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0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r>
              <a:rPr lang="en-US" dirty="0">
                <a:latin typeface="Consolas" pitchFamily="49" charset="0"/>
                <a:cs typeface="Consolas" pitchFamily="49" charset="0"/>
              </a:rPr>
              <a:t>    S[TOP] ← ‘(’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161271" y="65164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29988" y="2553779"/>
            <a:ext cx="576000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[Initialize output string and rank count]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‘’</a:t>
            </a:r>
          </a:p>
          <a:p>
            <a:r>
              <a:rPr lang="en-US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0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264899" y="6655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29988" y="3500744"/>
            <a:ext cx="576000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[Get first input symbol]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482" y="9743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257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 animBg="1"/>
      <p:bldP spid="2" grpId="0"/>
      <p:bldP spid="17" grpId="0" animBg="1"/>
      <p:bldP spid="18" grpId="0"/>
      <p:bldP spid="19" grpId="0" animBg="1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161538"/>
              </p:ext>
            </p:extLst>
          </p:nvPr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-67235" y="504708"/>
            <a:ext cx="689612" cy="682366"/>
            <a:chOff x="7277100" y="1350666"/>
            <a:chExt cx="689612" cy="682366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594600" y="1350666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277100" y="1663700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600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</a:t>
            </a:r>
            <a:r>
              <a:rPr lang="en-IN" sz="1500" b="1" dirty="0" smtClean="0">
                <a:latin typeface="Consolas" pitchFamily="49" charset="0"/>
                <a:cs typeface="Consolas" pitchFamily="49" charset="0"/>
              </a:rPr>
              <a:t>0</a:t>
            </a:r>
            <a:endParaRPr lang="en-IN" sz="1500" b="1" dirty="0">
              <a:latin typeface="Consolas" pitchFamily="49" charset="0"/>
              <a:cs typeface="Consolas" pitchFamily="49" charset="0"/>
            </a:endParaRP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	   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75683" y="338329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06118"/>
            <a:ext cx="5760000" cy="2154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787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11875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1875 L -3.75E-6 0.2187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083 L -3.75E-6 0.5097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0995 L -3.75E-6 0.54097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4097 L -3.75E-6 0.66319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5 3.7037E-7 L 0.01523 0.00023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1.48148E-6 L 0.00052 0.66319 " pathEditMode="relative" rAng="0" ptsTypes="AA">
                                      <p:cBhvr>
                                        <p:cTn id="56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1.48148E-6 L 0.00065 0.1187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11875 L 0.00052 0.21852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22129 L 0.00065 0.50995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50879 L 0.00052 0.54213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4514 L -3.75E-6 0.6618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79 3.7037E-7 L 0.03333 3.7037E-7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path" presetSubtype="0" accel="50000" decel="5000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66319 " pathEditMode="relative" rAng="0" ptsTypes="AA">
                                      <p:cBhvr>
                                        <p:cTn id="96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path" presetSubtype="0" accel="50000" decel="5000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11875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path" presetSubtype="0" accel="50000" decel="5000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1875 L -3.75E-6 0.21875 " pathEditMode="relative" rAng="0" ptsTypes="AA">
                                      <p:cBhvr>
                                        <p:cTn id="10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path" presetSubtype="0" accel="50000" decel="5000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407 L -3.75E-6 0.25185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path" presetSubtype="0" accel="50000" decel="5000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5069 L -3.75E-6 0.2868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path" presetSubtype="0" accel="50000" decel="5000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868 L -3.75E-6 0.31875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path" presetSubtype="0" accel="50000" decel="5000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31736 L -3.75E-6 0.35208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path" presetSubtype="0" accel="50000" decel="5000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35208 L -3.75E-6 0.50903 " pathEditMode="relative" rAng="0" ptsTypes="AA">
                                      <p:cBhvr>
                                        <p:cTn id="13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2" presetClass="path" presetSubtype="0" accel="50000" decel="5000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1319 L -3.75E-6 0.54097 " pathEditMode="relative" rAng="0" ptsTypes="AA">
                                      <p:cBhvr>
                                        <p:cTn id="14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path" presetSubtype="0" accel="50000" decel="5000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4305 L -3.75E-6 0.6618 " pathEditMode="relative" rAng="0" ptsTypes="AA">
                                      <p:cBhvr>
                                        <p:cTn id="15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07 0.00023 L 0.04974 0.00023 " pathEditMode="relative" rAng="0" ptsTypes="AA">
                                      <p:cBhvr>
                                        <p:cTn id="15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path" presetSubtype="0" accel="50000" decel="5000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66319 " pathEditMode="relative" rAng="0" ptsTypes="AA">
                                      <p:cBhvr>
                                        <p:cTn id="163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path" presetSubtype="0" accel="50000" decel="5000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01111 L -3.75E-6 0.11875 " pathEditMode="relative" rAng="0" ptsTypes="AA">
                                      <p:cBhvr>
                                        <p:cTn id="16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2" presetClass="path" presetSubtype="0" accel="50000" decel="5000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2569 L -3.75E-6 0.22014 " pathEditMode="relative" rAng="0" ptsTypes="AA">
                                      <p:cBhvr>
                                        <p:cTn id="17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2" presetClass="path" presetSubtype="0" accel="50000" decel="5000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153 L -3.75E-6 0.51042 " pathEditMode="relative" rAng="0" ptsTypes="AA">
                                      <p:cBhvr>
                                        <p:cTn id="17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2" presetClass="path" presetSubtype="0" accel="50000" decel="5000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1227 L -3.75E-6 0.54004 " pathEditMode="relative" rAng="0" ptsTypes="AA">
                                      <p:cBhvr>
                                        <p:cTn id="17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2" presetClass="path" presetSubtype="0" accel="50000" decel="5000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4861 L -3.75E-6 0.65972 " pathEditMode="relative" rAng="0" ptsTypes="AA">
                                      <p:cBhvr>
                                        <p:cTn id="19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65 0.00023 L 0.0664 0.00023 " pathEditMode="relative" rAng="0" ptsTypes="AA">
                                      <p:cBhvr>
                                        <p:cTn id="19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42" presetClass="path" presetSubtype="0" accel="50000" decel="5000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66319 " pathEditMode="relative" rAng="0" ptsTypes="AA">
                                      <p:cBhvr>
                                        <p:cTn id="207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2" presetClass="path" presetSubtype="0" accel="50000" decel="5000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11875 " pathEditMode="relative" rAng="0" ptsTypes="AA">
                                      <p:cBhvr>
                                        <p:cTn id="21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42" presetClass="path" presetSubtype="0" accel="50000" decel="50000" fill="hold" grpId="3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2801 L -3.75E-6 0.22245 " pathEditMode="relative" rAng="0" ptsTypes="AA">
                                      <p:cBhvr>
                                        <p:cTn id="21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42" presetClass="path" presetSubtype="0" accel="50000" decel="50000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43 L -3.75E-6 0.25208 " pathEditMode="relative" rAng="0" ptsTypes="AA">
                                      <p:cBhvr>
                                        <p:cTn id="21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42" presetClass="path" presetSubtype="0" accel="50000" decel="50000" fill="hold" grpId="3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5231 L -3.75E-6 0.28542 " pathEditMode="relative" rAng="0" ptsTypes="AA">
                                      <p:cBhvr>
                                        <p:cTn id="22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42" presetClass="path" presetSubtype="0" accel="50000" decel="50000" fill="hold" grpId="3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8565 L -3.75E-6 0.31875 " pathEditMode="relative" rAng="0" ptsTypes="AA">
                                      <p:cBhvr>
                                        <p:cTn id="23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42" presetClass="path" presetSubtype="0" accel="50000" decel="50000" fill="hold" grpId="3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31875 L -3.75E-6 0.35208 " pathEditMode="relative" rAng="0" ptsTypes="AA">
                                      <p:cBhvr>
                                        <p:cTn id="24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42" presetClass="path" presetSubtype="0" accel="50000" decel="50000" fill="hold" grpId="3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3544 L -3.75E-6 0.50995 " pathEditMode="relative" rAng="0" ptsTypes="AA">
                                      <p:cBhvr>
                                        <p:cTn id="24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42" presetClass="path" presetSubtype="0" accel="50000" decel="50000" fill="hold" grpId="3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0972 L -3.75E-6 0.53958 " pathEditMode="relative" rAng="0" ptsTypes="AA">
                                      <p:cBhvr>
                                        <p:cTn id="25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42" presetClass="path" presetSubtype="0" accel="50000" decel="50000" fill="hold" grpId="3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118 L -3.75E-6 0.6618 " pathEditMode="relative" rAng="0" ptsTypes="AA">
                                      <p:cBhvr>
                                        <p:cTn id="26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445 0.00023 L 0.08112 0.00023 " pathEditMode="relative" rAng="0" ptsTypes="AA">
                                      <p:cBhvr>
                                        <p:cTn id="26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42" presetClass="path" presetSubtype="0" accel="50000" decel="50000" fill="hold" grpId="3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66319 " pathEditMode="relative" rAng="0" ptsTypes="AA">
                                      <p:cBhvr>
                                        <p:cTn id="274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42" presetClass="path" presetSubtype="0" accel="50000" decel="50000" fill="hold" grpId="3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11875 " pathEditMode="relative" rAng="0" ptsTypes="AA">
                                      <p:cBhvr>
                                        <p:cTn id="27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42" presetClass="path" presetSubtype="0" accel="50000" decel="50000" fill="hold" grpId="4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2129 L -3.75E-6 0.22222 " pathEditMode="relative" rAng="0" ptsTypes="AA">
                                      <p:cBhvr>
                                        <p:cTn id="28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42" presetClass="path" presetSubtype="0" accel="50000" decel="50000" fill="hold" grpId="4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477 L -3.75E-6 0.50995 " pathEditMode="relative" rAng="0" ptsTypes="AA">
                                      <p:cBhvr>
                                        <p:cTn id="28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42" presetClass="path" presetSubtype="0" accel="50000" decel="50000" fill="hold" grpId="4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0764 L -3.75E-6 0.53866 " pathEditMode="relative" rAng="0" ptsTypes="AA">
                                      <p:cBhvr>
                                        <p:cTn id="29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42" presetClass="path" presetSubtype="0" accel="50000" decel="50000" fill="hold" grpId="4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4097 L -3.75E-6 0.66134 " pathEditMode="relative" rAng="0" ptsTypes="AA">
                                      <p:cBhvr>
                                        <p:cTn id="30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047 0.00023 L 0.09713 0.00023 " pathEditMode="relative" rAng="0" ptsTypes="AA">
                                      <p:cBhvr>
                                        <p:cTn id="3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42" presetClass="path" presetSubtype="0" accel="50000" decel="50000" fill="hold" grpId="4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66319 " pathEditMode="relative" rAng="0" ptsTypes="AA">
                                      <p:cBhvr>
                                        <p:cTn id="318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42" presetClass="path" presetSubtype="0" accel="50000" decel="50000" fill="hold" grpId="4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00231 L -3.75E-6 0.12106 " pathEditMode="relative" rAng="0" ptsTypes="AA">
                                      <p:cBhvr>
                                        <p:cTn id="3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42" presetClass="path" presetSubtype="0" accel="50000" decel="50000" fill="hold" grpId="4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1875 L -3.75E-6 0.22222 " pathEditMode="relative" rAng="0" ptsTypes="AA">
                                      <p:cBhvr>
                                        <p:cTn id="3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42" presetClass="path" presetSubtype="0" accel="50000" decel="50000" fill="hold" grpId="4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1875 L -3.75E-6 0.25208 " pathEditMode="relative" rAng="0" ptsTypes="AA">
                                      <p:cBhvr>
                                        <p:cTn id="3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42" presetClass="path" presetSubtype="0" accel="50000" decel="50000" fill="hold" grpId="4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5185 L -3.75E-6 0.28518 " pathEditMode="relative" rAng="0" ptsTypes="AA">
                                      <p:cBhvr>
                                        <p:cTn id="3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42" presetClass="path" presetSubtype="0" accel="50000" decel="50000" fill="hold" grpId="4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8542 L -3.75E-6 0.31875 " pathEditMode="relative" rAng="0" ptsTypes="AA">
                                      <p:cBhvr>
                                        <p:cTn id="34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42" presetClass="path" presetSubtype="0" accel="50000" decel="50000" fill="hold" grpId="5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31875 L -3.75E-6 0.35208 " pathEditMode="relative" rAng="0" ptsTypes="AA">
                                      <p:cBhvr>
                                        <p:cTn id="35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42" presetClass="path" presetSubtype="0" accel="50000" decel="50000" fill="hold" grpId="5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1875 L -3.75E-6 0.34097 " pathEditMode="relative" rAng="0" ptsTypes="AA">
                                      <p:cBhvr>
                                        <p:cTn id="358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42" presetClass="path" presetSubtype="0" accel="50000" decel="50000" fill="hold" grpId="5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43 L -3.75E-6 0.50764 " pathEditMode="relative" rAng="0" ptsTypes="AA">
                                      <p:cBhvr>
                                        <p:cTn id="36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42" presetClass="path" presetSubtype="0" accel="50000" decel="50000" fill="hold" grpId="5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1389 L -3.75E-6 0.54167 " pathEditMode="relative" rAng="0" ptsTypes="AA">
                                      <p:cBhvr>
                                        <p:cTn id="36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42" presetClass="path" presetSubtype="0" accel="50000" decel="50000" fill="hold" grpId="5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4514 L -3.75E-6 0.6618 " pathEditMode="relative" rAng="0" ptsTypes="AA">
                                      <p:cBhvr>
                                        <p:cTn id="37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609 0.00023 L 0.11159 0.00023 " pathEditMode="relative" rAng="0" ptsTypes="AA">
                                      <p:cBhvr>
                                        <p:cTn id="38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42" presetClass="path" presetSubtype="0" accel="50000" decel="50000" fill="hold" grpId="5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66319 " pathEditMode="relative" rAng="0" ptsTypes="AA">
                                      <p:cBhvr>
                                        <p:cTn id="389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42" presetClass="path" presetSubtype="0" accel="50000" decel="50000" fill="hold" grpId="5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11875 " pathEditMode="relative" rAng="0" ptsTypes="AA">
                                      <p:cBhvr>
                                        <p:cTn id="39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42" presetClass="path" presetSubtype="0" accel="50000" decel="50000" fill="hold" grpId="5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2708 L -3.75E-6 0.22153 " pathEditMode="relative" rAng="0" ptsTypes="AA">
                                      <p:cBhvr>
                                        <p:cTn id="39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42" presetClass="path" presetSubtype="0" accel="50000" decel="50000" fill="hold" grpId="5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43 L -3.75E-6 0.50764 " pathEditMode="relative" rAng="0" ptsTypes="AA">
                                      <p:cBhvr>
                                        <p:cTn id="40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42" presetClass="path" presetSubtype="0" accel="50000" decel="50000" fill="hold" grpId="5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0972 L -3.75E-6 0.53958 " pathEditMode="relative" rAng="0" ptsTypes="AA">
                                      <p:cBhvr>
                                        <p:cTn id="40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indefinite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42" presetClass="path" presetSubtype="0" accel="50000" decel="50000" fill="hold" grpId="6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0833 L -3.75E-6 0.66042 " pathEditMode="relative" rAng="0" ptsTypes="AA">
                                      <p:cBhvr>
                                        <p:cTn id="42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976 0.00023 L 0.12643 0.00023 " pathEditMode="relative" rAng="0" ptsTypes="AA">
                                      <p:cBhvr>
                                        <p:cTn id="4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42" presetClass="path" presetSubtype="0" accel="50000" decel="50000" fill="hold" grpId="6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65208 " pathEditMode="relative" rAng="0" ptsTypes="AA">
                                      <p:cBhvr>
                                        <p:cTn id="433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42" presetClass="path" presetSubtype="0" accel="50000" decel="50000" fill="hold" grpId="6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11875 " pathEditMode="relative" rAng="0" ptsTypes="AA">
                                      <p:cBhvr>
                                        <p:cTn id="43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42" presetClass="path" presetSubtype="0" accel="50000" decel="50000" fill="hold" grpId="6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1875 L -3.75E-6 0.22014 " pathEditMode="relative" rAng="0" ptsTypes="AA">
                                      <p:cBhvr>
                                        <p:cTn id="44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0" fill="hold">
                      <p:stCondLst>
                        <p:cond delay="indefinite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indefinite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42" presetClass="path" presetSubtype="0" accel="50000" decel="50000" fill="hold" grpId="6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43 L -3.75E-6 0.50764 " pathEditMode="relative" rAng="0" ptsTypes="AA">
                                      <p:cBhvr>
                                        <p:cTn id="45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42" presetClass="path" presetSubtype="0" accel="50000" decel="50000" fill="hold" grpId="6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0764 L -3.75E-6 0.5743 " pathEditMode="relative" rAng="0" ptsTypes="AA">
                                      <p:cBhvr>
                                        <p:cTn id="46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2" fill="hold">
                      <p:stCondLst>
                        <p:cond delay="indefinite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8" grpId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2" grpId="0"/>
      <p:bldP spid="2" grpId="1"/>
      <p:bldP spid="8" grpId="0"/>
      <p:bldP spid="10" grpId="0"/>
      <p:bldP spid="12" grpId="0"/>
      <p:bldP spid="14" grpId="0"/>
      <p:bldP spid="15" grpId="0"/>
      <p:bldP spid="37" grpId="0"/>
      <p:bldP spid="38" grpId="0"/>
      <p:bldP spid="39" grpId="0"/>
      <p:bldP spid="40" grpId="0"/>
      <p:bldP spid="40" grpId="1"/>
      <p:bldP spid="41" grpId="0"/>
      <p:bldP spid="42" grpId="0"/>
      <p:bldP spid="20" grpId="0"/>
      <p:bldP spid="43" grpId="0"/>
      <p:bldP spid="44" grpId="0"/>
      <p:bldP spid="45" grpId="0"/>
      <p:bldP spid="46" grpId="0"/>
      <p:bldP spid="47" grpId="0"/>
      <p:bldP spid="48" grpId="0"/>
      <p:bldP spid="48" grpId="1"/>
      <p:bldP spid="49" grpId="0"/>
      <p:bldP spid="50" grpId="0"/>
      <p:bldP spid="51" grpId="0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21" grpId="11" animBg="1"/>
      <p:bldP spid="21" grpId="12" animBg="1"/>
      <p:bldP spid="21" grpId="13" animBg="1"/>
      <p:bldP spid="21" grpId="14" animBg="1"/>
      <p:bldP spid="21" grpId="15" animBg="1"/>
      <p:bldP spid="21" grpId="16" animBg="1"/>
      <p:bldP spid="21" grpId="17" animBg="1"/>
      <p:bldP spid="21" grpId="18" animBg="1"/>
      <p:bldP spid="21" grpId="19" animBg="1"/>
      <p:bldP spid="21" grpId="20" animBg="1"/>
      <p:bldP spid="21" grpId="21" animBg="1"/>
      <p:bldP spid="21" grpId="22" animBg="1"/>
      <p:bldP spid="21" grpId="23" animBg="1"/>
      <p:bldP spid="21" grpId="24" animBg="1"/>
      <p:bldP spid="21" grpId="25" animBg="1"/>
      <p:bldP spid="21" grpId="26" animBg="1"/>
      <p:bldP spid="21" grpId="27" animBg="1"/>
      <p:bldP spid="21" grpId="28" animBg="1"/>
      <p:bldP spid="21" grpId="29" animBg="1"/>
      <p:bldP spid="21" grpId="30" animBg="1"/>
      <p:bldP spid="21" grpId="31" animBg="1"/>
      <p:bldP spid="21" grpId="32" animBg="1"/>
      <p:bldP spid="21" grpId="33" animBg="1"/>
      <p:bldP spid="21" grpId="34" animBg="1"/>
      <p:bldP spid="21" grpId="35" animBg="1"/>
      <p:bldP spid="21" grpId="36" animBg="1"/>
      <p:bldP spid="21" grpId="37" animBg="1"/>
      <p:bldP spid="21" grpId="38" animBg="1"/>
      <p:bldP spid="21" grpId="39" animBg="1"/>
      <p:bldP spid="21" grpId="40" animBg="1"/>
      <p:bldP spid="21" grpId="41" animBg="1"/>
      <p:bldP spid="21" grpId="42" animBg="1"/>
      <p:bldP spid="21" grpId="43" animBg="1"/>
      <p:bldP spid="21" grpId="44" animBg="1"/>
      <p:bldP spid="21" grpId="45" animBg="1"/>
      <p:bldP spid="21" grpId="46" animBg="1"/>
      <p:bldP spid="21" grpId="47" animBg="1"/>
      <p:bldP spid="21" grpId="48" animBg="1"/>
      <p:bldP spid="21" grpId="49" animBg="1"/>
      <p:bldP spid="21" grpId="50" animBg="1"/>
      <p:bldP spid="21" grpId="51" animBg="1"/>
      <p:bldP spid="21" grpId="52" animBg="1"/>
      <p:bldP spid="21" grpId="53" animBg="1"/>
      <p:bldP spid="21" grpId="54" animBg="1"/>
      <p:bldP spid="21" grpId="55" animBg="1"/>
      <p:bldP spid="21" grpId="56" animBg="1"/>
      <p:bldP spid="21" grpId="57" animBg="1"/>
      <p:bldP spid="21" grpId="58" animBg="1"/>
      <p:bldP spid="21" grpId="59" animBg="1"/>
      <p:bldP spid="21" grpId="60" animBg="1"/>
      <p:bldP spid="21" grpId="61" animBg="1"/>
      <p:bldP spid="21" grpId="62" animBg="1"/>
      <p:bldP spid="21" grpId="63" animBg="1"/>
      <p:bldP spid="21" grpId="64" animBg="1"/>
      <p:bldP spid="21" grpId="65" animBg="1"/>
      <p:bldP spid="8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1439605" y="504087"/>
            <a:ext cx="689612" cy="682366"/>
            <a:chOff x="7277100" y="1350666"/>
            <a:chExt cx="689612" cy="682366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594600" y="1350666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277100" y="1663700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</a:t>
            </a:r>
            <a:r>
              <a:rPr lang="en-IN" sz="1500" b="1" dirty="0" smtClean="0">
                <a:latin typeface="Consolas" pitchFamily="49" charset="0"/>
                <a:cs typeface="Consolas" pitchFamily="49" charset="0"/>
              </a:rPr>
              <a:t>0</a:t>
            </a:r>
            <a:endParaRPr lang="en-IN" sz="1500" b="1" dirty="0">
              <a:latin typeface="Consolas" pitchFamily="49" charset="0"/>
              <a:cs typeface="Consolas" pitchFamily="49" charset="0"/>
            </a:endParaRP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	   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75488" y="339768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06117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448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22222E-6 L 0.01888 -0.0039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-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0.00162 L 0.00117 0.1175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5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11759 L 0.00026 0.2164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21644 L 0.00026 0.5004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50046 L 0.00026 0.54491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.66296 L -2.70833E-6 -3.7037E-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33148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4.44444E-6 L -4.58333E-6 -3.7037E-7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53" grpId="0"/>
      <p:bldP spid="54" grpId="0"/>
      <p:bldP spid="55" grpId="0"/>
      <p:bldP spid="5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1675044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</a:t>
            </a:r>
            <a:r>
              <a:rPr lang="en-IN" sz="1500" b="1" dirty="0" smtClean="0">
                <a:latin typeface="Consolas" pitchFamily="49" charset="0"/>
                <a:cs typeface="Consolas" pitchFamily="49" charset="0"/>
              </a:rPr>
              <a:t>0</a:t>
            </a:r>
            <a:endParaRPr lang="en-IN" sz="1500" b="1" dirty="0">
              <a:latin typeface="Consolas" pitchFamily="49" charset="0"/>
              <a:cs typeface="Consolas" pitchFamily="49" charset="0"/>
            </a:endParaRP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	    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06117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9752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96296E-6 L 0.01237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7 L 0.00117 0.1175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11759 L 0.00117 0.2164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21644 L -0.00078 0.5004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1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50046 L -0.0026 0.5467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6 0.54675 L -0.00078 0.6629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57" grpId="0"/>
      <p:bldP spid="58" grpId="0"/>
      <p:bldP spid="59" grpId="0"/>
      <p:bldP spid="6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1827443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</a:t>
            </a:r>
            <a:r>
              <a:rPr lang="en-IN" sz="1500" b="1" dirty="0" smtClean="0">
                <a:latin typeface="Consolas" pitchFamily="49" charset="0"/>
                <a:cs typeface="Consolas" pitchFamily="49" charset="0"/>
              </a:rPr>
              <a:t>0</a:t>
            </a:r>
            <a:endParaRPr lang="en-IN" sz="1500" b="1" dirty="0">
              <a:latin typeface="Consolas" pitchFamily="49" charset="0"/>
              <a:cs typeface="Consolas" pitchFamily="49" charset="0"/>
            </a:endParaRP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	   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06117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2670FE-1E00-756B-6C17-4A956720AD12}"/>
              </a:ext>
            </a:extLst>
          </p:cNvPr>
          <p:cNvSpPr txBox="1"/>
          <p:nvPr/>
        </p:nvSpPr>
        <p:spPr>
          <a:xfrm>
            <a:off x="6465411" y="438341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9B77CF-0321-7A49-D8CE-BE049E400184}"/>
              </a:ext>
            </a:extLst>
          </p:cNvPr>
          <p:cNvSpPr txBox="1"/>
          <p:nvPr/>
        </p:nvSpPr>
        <p:spPr>
          <a:xfrm>
            <a:off x="7775683" y="435936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(*(e   </a:t>
            </a:r>
            <a:endParaRPr lang="en-US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D80CFD-D3EF-005A-B1A4-2128063509D7}"/>
              </a:ext>
            </a:extLst>
          </p:cNvPr>
          <p:cNvSpPr txBox="1"/>
          <p:nvPr/>
        </p:nvSpPr>
        <p:spPr>
          <a:xfrm>
            <a:off x="9124177" y="435220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6EE5AF-C92B-49CE-3507-7832CAE715F1}"/>
              </a:ext>
            </a:extLst>
          </p:cNvPr>
          <p:cNvSpPr txBox="1"/>
          <p:nvPr/>
        </p:nvSpPr>
        <p:spPr>
          <a:xfrm>
            <a:off x="10937972" y="43558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4398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96296E-6 L 0.01237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7 L 0.00026 0.1175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11759 L -0.00078 0.2164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21644 L -0.00078 0.5004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50046 L 0.00117 0.54491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5449 L -0.00078 0.6629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61" grpId="0"/>
      <p:bldP spid="52" grpId="0"/>
      <p:bldP spid="86" grpId="0"/>
      <p:bldP spid="9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2015011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</a:t>
            </a:r>
            <a:r>
              <a:rPr lang="en-IN" sz="1500" b="1" dirty="0" smtClean="0">
                <a:latin typeface="Consolas" pitchFamily="49" charset="0"/>
                <a:cs typeface="Consolas" pitchFamily="49" charset="0"/>
              </a:rPr>
              <a:t>0</a:t>
            </a:r>
            <a:endParaRPr lang="en-IN" sz="1500" b="1" dirty="0">
              <a:latin typeface="Consolas" pitchFamily="49" charset="0"/>
              <a:cs typeface="Consolas" pitchFamily="49" charset="0"/>
            </a:endParaRP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	   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06117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2670FE-1E00-756B-6C17-4A956720AD12}"/>
              </a:ext>
            </a:extLst>
          </p:cNvPr>
          <p:cNvSpPr txBox="1"/>
          <p:nvPr/>
        </p:nvSpPr>
        <p:spPr>
          <a:xfrm>
            <a:off x="6465411" y="438341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</a:t>
            </a:r>
            <a:endParaRPr lang="en-US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7E545C-354D-24CF-BF38-B576DE2C9133}"/>
              </a:ext>
            </a:extLst>
          </p:cNvPr>
          <p:cNvSpPr txBox="1"/>
          <p:nvPr/>
        </p:nvSpPr>
        <p:spPr>
          <a:xfrm>
            <a:off x="6457643" y="467881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9B77CF-0321-7A49-D8CE-BE049E400184}"/>
              </a:ext>
            </a:extLst>
          </p:cNvPr>
          <p:cNvSpPr txBox="1"/>
          <p:nvPr/>
        </p:nvSpPr>
        <p:spPr>
          <a:xfrm>
            <a:off x="7775683" y="435936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(*(e   </a:t>
            </a:r>
            <a:endParaRPr lang="en-US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D80CFD-D3EF-005A-B1A4-2128063509D7}"/>
              </a:ext>
            </a:extLst>
          </p:cNvPr>
          <p:cNvSpPr txBox="1"/>
          <p:nvPr/>
        </p:nvSpPr>
        <p:spPr>
          <a:xfrm>
            <a:off x="9124177" y="435220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6EE5AF-C92B-49CE-3507-7832CAE715F1}"/>
              </a:ext>
            </a:extLst>
          </p:cNvPr>
          <p:cNvSpPr txBox="1"/>
          <p:nvPr/>
        </p:nvSpPr>
        <p:spPr>
          <a:xfrm>
            <a:off x="10937972" y="43558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0E5044-A3F8-1C43-ED3F-409D69418B6E}"/>
              </a:ext>
            </a:extLst>
          </p:cNvPr>
          <p:cNvSpPr txBox="1"/>
          <p:nvPr/>
        </p:nvSpPr>
        <p:spPr>
          <a:xfrm>
            <a:off x="7799130" y="465080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 </a:t>
            </a:r>
            <a:endParaRPr 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57AA71-2E26-7A02-40C6-D133ADD09B1E}"/>
              </a:ext>
            </a:extLst>
          </p:cNvPr>
          <p:cNvSpPr txBox="1"/>
          <p:nvPr/>
        </p:nvSpPr>
        <p:spPr>
          <a:xfrm>
            <a:off x="9136813" y="46441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AC5B19-6850-D14D-BBEF-F9450920B51D}"/>
              </a:ext>
            </a:extLst>
          </p:cNvPr>
          <p:cNvSpPr txBox="1"/>
          <p:nvPr/>
        </p:nvSpPr>
        <p:spPr>
          <a:xfrm>
            <a:off x="10950608" y="46487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6350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2.96296E-6 L 0.01237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7 L 0.00026 0.1175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11759 L 0.00026 0.2164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21644 L -2.70833E-6 0.2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0.25 L 0.00117 0.29028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29028 L 0.00117 0.32269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29028 L 0.00026 0.21644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21644 L -0.00078 0.5004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50046 L 0.00026 0.54144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54143 L -0.0026 0.66296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65" grpId="0"/>
      <p:bldP spid="62" grpId="0"/>
      <p:bldP spid="63" grpId="0"/>
      <p:bldP spid="6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2226025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</a:t>
            </a:r>
            <a:r>
              <a:rPr lang="en-IN" sz="1500" b="1" dirty="0" smtClean="0">
                <a:latin typeface="Consolas" pitchFamily="49" charset="0"/>
                <a:cs typeface="Consolas" pitchFamily="49" charset="0"/>
              </a:rPr>
              <a:t>0</a:t>
            </a:r>
            <a:endParaRPr lang="en-IN" sz="1500" b="1" dirty="0">
              <a:latin typeface="Consolas" pitchFamily="49" charset="0"/>
              <a:cs typeface="Consolas" pitchFamily="49" charset="0"/>
            </a:endParaRP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        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06117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2670FE-1E00-756B-6C17-4A956720AD12}"/>
              </a:ext>
            </a:extLst>
          </p:cNvPr>
          <p:cNvSpPr txBox="1"/>
          <p:nvPr/>
        </p:nvSpPr>
        <p:spPr>
          <a:xfrm>
            <a:off x="6465411" y="438341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</a:t>
            </a:r>
            <a:endParaRPr lang="en-US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7E545C-354D-24CF-BF38-B576DE2C9133}"/>
              </a:ext>
            </a:extLst>
          </p:cNvPr>
          <p:cNvSpPr txBox="1"/>
          <p:nvPr/>
        </p:nvSpPr>
        <p:spPr>
          <a:xfrm>
            <a:off x="6457643" y="467881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ADD70B-1AC6-D060-21BB-37B49E7A090A}"/>
              </a:ext>
            </a:extLst>
          </p:cNvPr>
          <p:cNvSpPr txBox="1"/>
          <p:nvPr/>
        </p:nvSpPr>
        <p:spPr>
          <a:xfrm>
            <a:off x="6465411" y="49694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9B77CF-0321-7A49-D8CE-BE049E400184}"/>
              </a:ext>
            </a:extLst>
          </p:cNvPr>
          <p:cNvSpPr txBox="1"/>
          <p:nvPr/>
        </p:nvSpPr>
        <p:spPr>
          <a:xfrm>
            <a:off x="7775683" y="435936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(*(e   </a:t>
            </a:r>
            <a:endParaRPr lang="en-US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D80CFD-D3EF-005A-B1A4-2128063509D7}"/>
              </a:ext>
            </a:extLst>
          </p:cNvPr>
          <p:cNvSpPr txBox="1"/>
          <p:nvPr/>
        </p:nvSpPr>
        <p:spPr>
          <a:xfrm>
            <a:off x="9124177" y="435220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6EE5AF-C92B-49CE-3507-7832CAE715F1}"/>
              </a:ext>
            </a:extLst>
          </p:cNvPr>
          <p:cNvSpPr txBox="1"/>
          <p:nvPr/>
        </p:nvSpPr>
        <p:spPr>
          <a:xfrm>
            <a:off x="10937972" y="43558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0E5044-A3F8-1C43-ED3F-409D69418B6E}"/>
              </a:ext>
            </a:extLst>
          </p:cNvPr>
          <p:cNvSpPr txBox="1"/>
          <p:nvPr/>
        </p:nvSpPr>
        <p:spPr>
          <a:xfrm>
            <a:off x="7799130" y="465080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 </a:t>
            </a:r>
            <a:endParaRPr 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57AA71-2E26-7A02-40C6-D133ADD09B1E}"/>
              </a:ext>
            </a:extLst>
          </p:cNvPr>
          <p:cNvSpPr txBox="1"/>
          <p:nvPr/>
        </p:nvSpPr>
        <p:spPr>
          <a:xfrm>
            <a:off x="9136813" y="46441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AC5B19-6850-D14D-BBEF-F9450920B51D}"/>
              </a:ext>
            </a:extLst>
          </p:cNvPr>
          <p:cNvSpPr txBox="1"/>
          <p:nvPr/>
        </p:nvSpPr>
        <p:spPr>
          <a:xfrm>
            <a:off x="10950608" y="46487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32A287-DFD2-E54A-3EB9-9EE323E6BF54}"/>
              </a:ext>
            </a:extLst>
          </p:cNvPr>
          <p:cNvSpPr txBox="1"/>
          <p:nvPr/>
        </p:nvSpPr>
        <p:spPr>
          <a:xfrm>
            <a:off x="7799130" y="496744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(*(+f 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C2BA51-5CCB-AF06-9FF8-9D1547156DD7}"/>
              </a:ext>
            </a:extLst>
          </p:cNvPr>
          <p:cNvSpPr txBox="1"/>
          <p:nvPr/>
        </p:nvSpPr>
        <p:spPr>
          <a:xfrm>
            <a:off x="9124177" y="495978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D412CB-1ECA-7127-4E0D-25AFDD15FF3E}"/>
              </a:ext>
            </a:extLst>
          </p:cNvPr>
          <p:cNvSpPr txBox="1"/>
          <p:nvPr/>
        </p:nvSpPr>
        <p:spPr>
          <a:xfrm>
            <a:off x="10950608" y="497720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9907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96296E-6 L 0.01237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7 L -2.70833E-6 0.1175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0.11759 L -2.70833E-6 0.2164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0.21644 L 0.00183 0.50764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1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50764 L -2.70833E-6 0.54491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1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0.5449 L -2.70833E-6 0.6629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69" grpId="0"/>
      <p:bldP spid="66" grpId="0"/>
      <p:bldP spid="67" grpId="0"/>
      <p:bldP spid="6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2390147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</a:t>
            </a:r>
            <a:r>
              <a:rPr lang="en-IN" sz="1500" b="1" dirty="0" smtClean="0">
                <a:latin typeface="Consolas" pitchFamily="49" charset="0"/>
                <a:cs typeface="Consolas" pitchFamily="49" charset="0"/>
              </a:rPr>
              <a:t>0</a:t>
            </a:r>
            <a:endParaRPr lang="en-IN" sz="1500" b="1" dirty="0">
              <a:latin typeface="Consolas" pitchFamily="49" charset="0"/>
              <a:cs typeface="Consolas" pitchFamily="49" charset="0"/>
            </a:endParaRP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	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17840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2670FE-1E00-756B-6C17-4A956720AD12}"/>
              </a:ext>
            </a:extLst>
          </p:cNvPr>
          <p:cNvSpPr txBox="1"/>
          <p:nvPr/>
        </p:nvSpPr>
        <p:spPr>
          <a:xfrm>
            <a:off x="6465411" y="438341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</a:t>
            </a:r>
            <a:endParaRPr lang="en-US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7E545C-354D-24CF-BF38-B576DE2C9133}"/>
              </a:ext>
            </a:extLst>
          </p:cNvPr>
          <p:cNvSpPr txBox="1"/>
          <p:nvPr/>
        </p:nvSpPr>
        <p:spPr>
          <a:xfrm>
            <a:off x="6457643" y="467881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ADD70B-1AC6-D060-21BB-37B49E7A090A}"/>
              </a:ext>
            </a:extLst>
          </p:cNvPr>
          <p:cNvSpPr txBox="1"/>
          <p:nvPr/>
        </p:nvSpPr>
        <p:spPr>
          <a:xfrm>
            <a:off x="6465411" y="49694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</a:t>
            </a:r>
            <a:endParaRPr lang="en-US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D8FC6E-3AE7-64BF-ACF8-47D4F8FB5A0D}"/>
              </a:ext>
            </a:extLst>
          </p:cNvPr>
          <p:cNvSpPr txBox="1"/>
          <p:nvPr/>
        </p:nvSpPr>
        <p:spPr>
          <a:xfrm>
            <a:off x="6451822" y="532681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/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9B77CF-0321-7A49-D8CE-BE049E400184}"/>
              </a:ext>
            </a:extLst>
          </p:cNvPr>
          <p:cNvSpPr txBox="1"/>
          <p:nvPr/>
        </p:nvSpPr>
        <p:spPr>
          <a:xfrm>
            <a:off x="7775683" y="435936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(*(e   </a:t>
            </a:r>
            <a:endParaRPr lang="en-US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D80CFD-D3EF-005A-B1A4-2128063509D7}"/>
              </a:ext>
            </a:extLst>
          </p:cNvPr>
          <p:cNvSpPr txBox="1"/>
          <p:nvPr/>
        </p:nvSpPr>
        <p:spPr>
          <a:xfrm>
            <a:off x="9124177" y="435220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6EE5AF-C92B-49CE-3507-7832CAE715F1}"/>
              </a:ext>
            </a:extLst>
          </p:cNvPr>
          <p:cNvSpPr txBox="1"/>
          <p:nvPr/>
        </p:nvSpPr>
        <p:spPr>
          <a:xfrm>
            <a:off x="10937972" y="43558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0E5044-A3F8-1C43-ED3F-409D69418B6E}"/>
              </a:ext>
            </a:extLst>
          </p:cNvPr>
          <p:cNvSpPr txBox="1"/>
          <p:nvPr/>
        </p:nvSpPr>
        <p:spPr>
          <a:xfrm>
            <a:off x="7799130" y="465080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 </a:t>
            </a:r>
            <a:endParaRPr 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57AA71-2E26-7A02-40C6-D133ADD09B1E}"/>
              </a:ext>
            </a:extLst>
          </p:cNvPr>
          <p:cNvSpPr txBox="1"/>
          <p:nvPr/>
        </p:nvSpPr>
        <p:spPr>
          <a:xfrm>
            <a:off x="9136813" y="46441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AC5B19-6850-D14D-BBEF-F9450920B51D}"/>
              </a:ext>
            </a:extLst>
          </p:cNvPr>
          <p:cNvSpPr txBox="1"/>
          <p:nvPr/>
        </p:nvSpPr>
        <p:spPr>
          <a:xfrm>
            <a:off x="10950608" y="46487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32A287-DFD2-E54A-3EB9-9EE323E6BF54}"/>
              </a:ext>
            </a:extLst>
          </p:cNvPr>
          <p:cNvSpPr txBox="1"/>
          <p:nvPr/>
        </p:nvSpPr>
        <p:spPr>
          <a:xfrm>
            <a:off x="7799130" y="496744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(*(+f 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C2BA51-5CCB-AF06-9FF8-9D1547156DD7}"/>
              </a:ext>
            </a:extLst>
          </p:cNvPr>
          <p:cNvSpPr txBox="1"/>
          <p:nvPr/>
        </p:nvSpPr>
        <p:spPr>
          <a:xfrm>
            <a:off x="9124177" y="495978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D412CB-1ECA-7127-4E0D-25AFDD15FF3E}"/>
              </a:ext>
            </a:extLst>
          </p:cNvPr>
          <p:cNvSpPr txBox="1"/>
          <p:nvPr/>
        </p:nvSpPr>
        <p:spPr>
          <a:xfrm>
            <a:off x="10950608" y="497720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78B542-19DB-3329-DB9E-FBF57AC37C74}"/>
              </a:ext>
            </a:extLst>
          </p:cNvPr>
          <p:cNvSpPr txBox="1"/>
          <p:nvPr/>
        </p:nvSpPr>
        <p:spPr>
          <a:xfrm>
            <a:off x="7786494" y="530803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</a:t>
            </a:r>
            <a:endParaRPr lang="en-US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D6D5E5-FDC0-65DA-FBA4-EB569AE672F7}"/>
              </a:ext>
            </a:extLst>
          </p:cNvPr>
          <p:cNvSpPr txBox="1"/>
          <p:nvPr/>
        </p:nvSpPr>
        <p:spPr>
          <a:xfrm>
            <a:off x="9110218" y="52754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</a:t>
            </a:r>
            <a:endParaRPr lang="en-US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501297-689C-DFA2-3619-FEA3A0161AB3}"/>
              </a:ext>
            </a:extLst>
          </p:cNvPr>
          <p:cNvSpPr txBox="1"/>
          <p:nvPr/>
        </p:nvSpPr>
        <p:spPr>
          <a:xfrm>
            <a:off x="10950609" y="527028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105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2.96296E-6 L 0.01224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22222E-6 L 0.00091 0.1175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11759 L 0.00091 0.2164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21644 L -2.70833E-6 0.2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0.25 L 0.00091 0.29028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29028 L 0.00091 0.32269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32269 L 0.00091 0.21644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2132 L 0.00091 0.50741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50741 L 0.00091 0.5430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54306 L 0.00091 0.66111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73" grpId="0"/>
      <p:bldP spid="70" grpId="0"/>
      <p:bldP spid="71" grpId="0"/>
      <p:bldP spid="7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2530823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</a:t>
            </a:r>
            <a:r>
              <a:rPr lang="en-IN" sz="1500" b="1" dirty="0" smtClean="0">
                <a:latin typeface="Consolas" pitchFamily="49" charset="0"/>
                <a:cs typeface="Consolas" pitchFamily="49" charset="0"/>
              </a:rPr>
              <a:t>0</a:t>
            </a:r>
            <a:endParaRPr lang="en-IN" sz="1500" b="1" dirty="0">
              <a:latin typeface="Consolas" pitchFamily="49" charset="0"/>
              <a:cs typeface="Consolas" pitchFamily="49" charset="0"/>
            </a:endParaRP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 	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17840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2670FE-1E00-756B-6C17-4A956720AD12}"/>
              </a:ext>
            </a:extLst>
          </p:cNvPr>
          <p:cNvSpPr txBox="1"/>
          <p:nvPr/>
        </p:nvSpPr>
        <p:spPr>
          <a:xfrm>
            <a:off x="6465411" y="438341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</a:t>
            </a:r>
            <a:endParaRPr lang="en-US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7E545C-354D-24CF-BF38-B576DE2C9133}"/>
              </a:ext>
            </a:extLst>
          </p:cNvPr>
          <p:cNvSpPr txBox="1"/>
          <p:nvPr/>
        </p:nvSpPr>
        <p:spPr>
          <a:xfrm>
            <a:off x="6457643" y="467881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ADD70B-1AC6-D060-21BB-37B49E7A090A}"/>
              </a:ext>
            </a:extLst>
          </p:cNvPr>
          <p:cNvSpPr txBox="1"/>
          <p:nvPr/>
        </p:nvSpPr>
        <p:spPr>
          <a:xfrm>
            <a:off x="6465411" y="49694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</a:t>
            </a:r>
            <a:endParaRPr lang="en-US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D8FC6E-3AE7-64BF-ACF8-47D4F8FB5A0D}"/>
              </a:ext>
            </a:extLst>
          </p:cNvPr>
          <p:cNvSpPr txBox="1"/>
          <p:nvPr/>
        </p:nvSpPr>
        <p:spPr>
          <a:xfrm>
            <a:off x="6451822" y="532681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/</a:t>
            </a:r>
            <a:endParaRPr lang="en-US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AF5EBF-F1E2-127C-D36F-1752162F8E81}"/>
              </a:ext>
            </a:extLst>
          </p:cNvPr>
          <p:cNvSpPr txBox="1"/>
          <p:nvPr/>
        </p:nvSpPr>
        <p:spPr>
          <a:xfrm>
            <a:off x="6438233" y="561455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9B77CF-0321-7A49-D8CE-BE049E400184}"/>
              </a:ext>
            </a:extLst>
          </p:cNvPr>
          <p:cNvSpPr txBox="1"/>
          <p:nvPr/>
        </p:nvSpPr>
        <p:spPr>
          <a:xfrm>
            <a:off x="7775683" y="435936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(*(e   </a:t>
            </a:r>
            <a:endParaRPr lang="en-US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D80CFD-D3EF-005A-B1A4-2128063509D7}"/>
              </a:ext>
            </a:extLst>
          </p:cNvPr>
          <p:cNvSpPr txBox="1"/>
          <p:nvPr/>
        </p:nvSpPr>
        <p:spPr>
          <a:xfrm>
            <a:off x="9124177" y="435220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6EE5AF-C92B-49CE-3507-7832CAE715F1}"/>
              </a:ext>
            </a:extLst>
          </p:cNvPr>
          <p:cNvSpPr txBox="1"/>
          <p:nvPr/>
        </p:nvSpPr>
        <p:spPr>
          <a:xfrm>
            <a:off x="10937972" y="43558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0E5044-A3F8-1C43-ED3F-409D69418B6E}"/>
              </a:ext>
            </a:extLst>
          </p:cNvPr>
          <p:cNvSpPr txBox="1"/>
          <p:nvPr/>
        </p:nvSpPr>
        <p:spPr>
          <a:xfrm>
            <a:off x="7799130" y="465080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 </a:t>
            </a:r>
            <a:endParaRPr 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57AA71-2E26-7A02-40C6-D133ADD09B1E}"/>
              </a:ext>
            </a:extLst>
          </p:cNvPr>
          <p:cNvSpPr txBox="1"/>
          <p:nvPr/>
        </p:nvSpPr>
        <p:spPr>
          <a:xfrm>
            <a:off x="9136813" y="46441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AC5B19-6850-D14D-BBEF-F9450920B51D}"/>
              </a:ext>
            </a:extLst>
          </p:cNvPr>
          <p:cNvSpPr txBox="1"/>
          <p:nvPr/>
        </p:nvSpPr>
        <p:spPr>
          <a:xfrm>
            <a:off x="10950608" y="46487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32A287-DFD2-E54A-3EB9-9EE323E6BF54}"/>
              </a:ext>
            </a:extLst>
          </p:cNvPr>
          <p:cNvSpPr txBox="1"/>
          <p:nvPr/>
        </p:nvSpPr>
        <p:spPr>
          <a:xfrm>
            <a:off x="7799130" y="496744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(*(+f 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C2BA51-5CCB-AF06-9FF8-9D1547156DD7}"/>
              </a:ext>
            </a:extLst>
          </p:cNvPr>
          <p:cNvSpPr txBox="1"/>
          <p:nvPr/>
        </p:nvSpPr>
        <p:spPr>
          <a:xfrm>
            <a:off x="9124177" y="495978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D412CB-1ECA-7127-4E0D-25AFDD15FF3E}"/>
              </a:ext>
            </a:extLst>
          </p:cNvPr>
          <p:cNvSpPr txBox="1"/>
          <p:nvPr/>
        </p:nvSpPr>
        <p:spPr>
          <a:xfrm>
            <a:off x="10950608" y="497720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78B542-19DB-3329-DB9E-FBF57AC37C74}"/>
              </a:ext>
            </a:extLst>
          </p:cNvPr>
          <p:cNvSpPr txBox="1"/>
          <p:nvPr/>
        </p:nvSpPr>
        <p:spPr>
          <a:xfrm>
            <a:off x="7786494" y="530803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</a:t>
            </a:r>
            <a:endParaRPr lang="en-US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D6D5E5-FDC0-65DA-FBA4-EB569AE672F7}"/>
              </a:ext>
            </a:extLst>
          </p:cNvPr>
          <p:cNvSpPr txBox="1"/>
          <p:nvPr/>
        </p:nvSpPr>
        <p:spPr>
          <a:xfrm>
            <a:off x="9110218" y="52754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</a:t>
            </a:r>
            <a:endParaRPr lang="en-US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501297-689C-DFA2-3619-FEA3A0161AB3}"/>
              </a:ext>
            </a:extLst>
          </p:cNvPr>
          <p:cNvSpPr txBox="1"/>
          <p:nvPr/>
        </p:nvSpPr>
        <p:spPr>
          <a:xfrm>
            <a:off x="10950609" y="530545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B7CCBBF-D9C6-3D32-C7AE-45CF54487D4D}"/>
              </a:ext>
            </a:extLst>
          </p:cNvPr>
          <p:cNvSpPr txBox="1"/>
          <p:nvPr/>
        </p:nvSpPr>
        <p:spPr>
          <a:xfrm>
            <a:off x="7799130" y="560031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(*(+/d</a:t>
            </a:r>
            <a:endParaRPr lang="en-US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5C5C906-5C14-ADAB-02CA-CB48A04F1D94}"/>
              </a:ext>
            </a:extLst>
          </p:cNvPr>
          <p:cNvSpPr txBox="1"/>
          <p:nvPr/>
        </p:nvSpPr>
        <p:spPr>
          <a:xfrm>
            <a:off x="9133665" y="55802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</a:t>
            </a:r>
            <a:endParaRPr lang="en-US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0B25A0F-0917-7BDB-B89D-35D05998EADB}"/>
              </a:ext>
            </a:extLst>
          </p:cNvPr>
          <p:cNvSpPr txBox="1"/>
          <p:nvPr/>
        </p:nvSpPr>
        <p:spPr>
          <a:xfrm>
            <a:off x="10962333" y="561025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7798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96296E-6 L 0.02174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22222E-6 L 0.00222 0.1157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.11736 L -0.00078 0.21621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21297 L -0.00078 0.50741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50741 L 0.00026 0.5414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1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54143 L 0.00026 0.66111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2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77" grpId="0"/>
      <p:bldP spid="74" grpId="0"/>
      <p:bldP spid="75" grpId="0"/>
      <p:bldP spid="7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2718391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</a:t>
            </a:r>
            <a:r>
              <a:rPr lang="en-IN" sz="1500" b="1" dirty="0" smtClean="0">
                <a:latin typeface="Consolas" pitchFamily="49" charset="0"/>
                <a:cs typeface="Consolas" pitchFamily="49" charset="0"/>
              </a:rPr>
              <a:t>0</a:t>
            </a:r>
            <a:endParaRPr lang="en-IN" sz="1500" b="1" dirty="0">
              <a:latin typeface="Consolas" pitchFamily="49" charset="0"/>
              <a:cs typeface="Consolas" pitchFamily="49" charset="0"/>
            </a:endParaRP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 	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17840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2670FE-1E00-756B-6C17-4A956720AD12}"/>
              </a:ext>
            </a:extLst>
          </p:cNvPr>
          <p:cNvSpPr txBox="1"/>
          <p:nvPr/>
        </p:nvSpPr>
        <p:spPr>
          <a:xfrm>
            <a:off x="6465411" y="438341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</a:t>
            </a:r>
            <a:endParaRPr lang="en-US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7E545C-354D-24CF-BF38-B576DE2C9133}"/>
              </a:ext>
            </a:extLst>
          </p:cNvPr>
          <p:cNvSpPr txBox="1"/>
          <p:nvPr/>
        </p:nvSpPr>
        <p:spPr>
          <a:xfrm>
            <a:off x="6457643" y="467881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ADD70B-1AC6-D060-21BB-37B49E7A090A}"/>
              </a:ext>
            </a:extLst>
          </p:cNvPr>
          <p:cNvSpPr txBox="1"/>
          <p:nvPr/>
        </p:nvSpPr>
        <p:spPr>
          <a:xfrm>
            <a:off x="6465411" y="49694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</a:t>
            </a:r>
            <a:endParaRPr lang="en-US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D8FC6E-3AE7-64BF-ACF8-47D4F8FB5A0D}"/>
              </a:ext>
            </a:extLst>
          </p:cNvPr>
          <p:cNvSpPr txBox="1"/>
          <p:nvPr/>
        </p:nvSpPr>
        <p:spPr>
          <a:xfrm>
            <a:off x="6451822" y="532681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/</a:t>
            </a:r>
            <a:endParaRPr lang="en-US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AF5EBF-F1E2-127C-D36F-1752162F8E81}"/>
              </a:ext>
            </a:extLst>
          </p:cNvPr>
          <p:cNvSpPr txBox="1"/>
          <p:nvPr/>
        </p:nvSpPr>
        <p:spPr>
          <a:xfrm>
            <a:off x="6438233" y="561455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BA1EC93-EBBC-5633-CD74-70B92C8158FA}"/>
              </a:ext>
            </a:extLst>
          </p:cNvPr>
          <p:cNvSpPr txBox="1"/>
          <p:nvPr/>
        </p:nvSpPr>
        <p:spPr>
          <a:xfrm>
            <a:off x="6451617" y="593638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5F72DAD-7B46-DCDC-28DA-9171D342EC84}"/>
              </a:ext>
            </a:extLst>
          </p:cNvPr>
          <p:cNvSpPr txBox="1"/>
          <p:nvPr/>
        </p:nvSpPr>
        <p:spPr>
          <a:xfrm>
            <a:off x="9130546" y="5936683"/>
            <a:ext cx="149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efd</a:t>
            </a:r>
            <a:endParaRPr lang="en-US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36AD457-C55C-B28B-D1B5-A3C6F0F3D70F}"/>
              </a:ext>
            </a:extLst>
          </p:cNvPr>
          <p:cNvSpPr txBox="1"/>
          <p:nvPr/>
        </p:nvSpPr>
        <p:spPr>
          <a:xfrm>
            <a:off x="10955672" y="593668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9B77CF-0321-7A49-D8CE-BE049E400184}"/>
              </a:ext>
            </a:extLst>
          </p:cNvPr>
          <p:cNvSpPr txBox="1"/>
          <p:nvPr/>
        </p:nvSpPr>
        <p:spPr>
          <a:xfrm>
            <a:off x="7775683" y="435936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(*(e   </a:t>
            </a:r>
            <a:endParaRPr lang="en-US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D80CFD-D3EF-005A-B1A4-2128063509D7}"/>
              </a:ext>
            </a:extLst>
          </p:cNvPr>
          <p:cNvSpPr txBox="1"/>
          <p:nvPr/>
        </p:nvSpPr>
        <p:spPr>
          <a:xfrm>
            <a:off x="9124177" y="435220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6EE5AF-C92B-49CE-3507-7832CAE715F1}"/>
              </a:ext>
            </a:extLst>
          </p:cNvPr>
          <p:cNvSpPr txBox="1"/>
          <p:nvPr/>
        </p:nvSpPr>
        <p:spPr>
          <a:xfrm>
            <a:off x="10937972" y="43558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0E5044-A3F8-1C43-ED3F-409D69418B6E}"/>
              </a:ext>
            </a:extLst>
          </p:cNvPr>
          <p:cNvSpPr txBox="1"/>
          <p:nvPr/>
        </p:nvSpPr>
        <p:spPr>
          <a:xfrm>
            <a:off x="7799130" y="465080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 </a:t>
            </a:r>
            <a:endParaRPr 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57AA71-2E26-7A02-40C6-D133ADD09B1E}"/>
              </a:ext>
            </a:extLst>
          </p:cNvPr>
          <p:cNvSpPr txBox="1"/>
          <p:nvPr/>
        </p:nvSpPr>
        <p:spPr>
          <a:xfrm>
            <a:off x="9136813" y="46441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AC5B19-6850-D14D-BBEF-F9450920B51D}"/>
              </a:ext>
            </a:extLst>
          </p:cNvPr>
          <p:cNvSpPr txBox="1"/>
          <p:nvPr/>
        </p:nvSpPr>
        <p:spPr>
          <a:xfrm>
            <a:off x="10950608" y="46487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32A287-DFD2-E54A-3EB9-9EE323E6BF54}"/>
              </a:ext>
            </a:extLst>
          </p:cNvPr>
          <p:cNvSpPr txBox="1"/>
          <p:nvPr/>
        </p:nvSpPr>
        <p:spPr>
          <a:xfrm>
            <a:off x="7799130" y="496744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(*(+f 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C2BA51-5CCB-AF06-9FF8-9D1547156DD7}"/>
              </a:ext>
            </a:extLst>
          </p:cNvPr>
          <p:cNvSpPr txBox="1"/>
          <p:nvPr/>
        </p:nvSpPr>
        <p:spPr>
          <a:xfrm>
            <a:off x="9124177" y="495978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D412CB-1ECA-7127-4E0D-25AFDD15FF3E}"/>
              </a:ext>
            </a:extLst>
          </p:cNvPr>
          <p:cNvSpPr txBox="1"/>
          <p:nvPr/>
        </p:nvSpPr>
        <p:spPr>
          <a:xfrm>
            <a:off x="10950608" y="497720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78B542-19DB-3329-DB9E-FBF57AC37C74}"/>
              </a:ext>
            </a:extLst>
          </p:cNvPr>
          <p:cNvSpPr txBox="1"/>
          <p:nvPr/>
        </p:nvSpPr>
        <p:spPr>
          <a:xfrm>
            <a:off x="7786494" y="530803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</a:t>
            </a:r>
            <a:endParaRPr lang="en-US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D6D5E5-FDC0-65DA-FBA4-EB569AE672F7}"/>
              </a:ext>
            </a:extLst>
          </p:cNvPr>
          <p:cNvSpPr txBox="1"/>
          <p:nvPr/>
        </p:nvSpPr>
        <p:spPr>
          <a:xfrm>
            <a:off x="9110218" y="52754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</a:t>
            </a:r>
            <a:endParaRPr lang="en-US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501297-689C-DFA2-3619-FEA3A0161AB3}"/>
              </a:ext>
            </a:extLst>
          </p:cNvPr>
          <p:cNvSpPr txBox="1"/>
          <p:nvPr/>
        </p:nvSpPr>
        <p:spPr>
          <a:xfrm>
            <a:off x="10950609" y="530545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B7CCBBF-D9C6-3D32-C7AE-45CF54487D4D}"/>
              </a:ext>
            </a:extLst>
          </p:cNvPr>
          <p:cNvSpPr txBox="1"/>
          <p:nvPr/>
        </p:nvSpPr>
        <p:spPr>
          <a:xfrm>
            <a:off x="7799130" y="560031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(*(+/d</a:t>
            </a:r>
            <a:endParaRPr lang="en-US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5C5C906-5C14-ADAB-02CA-CB48A04F1D94}"/>
              </a:ext>
            </a:extLst>
          </p:cNvPr>
          <p:cNvSpPr txBox="1"/>
          <p:nvPr/>
        </p:nvSpPr>
        <p:spPr>
          <a:xfrm>
            <a:off x="9133665" y="55802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</a:t>
            </a:r>
            <a:endParaRPr lang="en-US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0B25A0F-0917-7BDB-B89D-35D05998EADB}"/>
              </a:ext>
            </a:extLst>
          </p:cNvPr>
          <p:cNvSpPr txBox="1"/>
          <p:nvPr/>
        </p:nvSpPr>
        <p:spPr>
          <a:xfrm>
            <a:off x="10962333" y="561025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B632684-804E-B9EC-E4EA-D3556F1F73C1}"/>
              </a:ext>
            </a:extLst>
          </p:cNvPr>
          <p:cNvSpPr txBox="1"/>
          <p:nvPr/>
        </p:nvSpPr>
        <p:spPr>
          <a:xfrm>
            <a:off x="7809486" y="59018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</a:t>
            </a:r>
            <a:endParaRPr lang="en-US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176D3DD-CDBC-0DAB-9021-3DBD01319170}"/>
              </a:ext>
            </a:extLst>
          </p:cNvPr>
          <p:cNvSpPr txBox="1"/>
          <p:nvPr/>
        </p:nvSpPr>
        <p:spPr>
          <a:xfrm>
            <a:off x="9142270" y="5936684"/>
            <a:ext cx="149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efd</a:t>
            </a:r>
            <a:r>
              <a:rPr lang="en-IN" b="1" dirty="0"/>
              <a:t>/</a:t>
            </a:r>
            <a:endParaRPr lang="en-US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A34383-E555-3197-1C17-FA1A2B407A58}"/>
              </a:ext>
            </a:extLst>
          </p:cNvPr>
          <p:cNvSpPr txBox="1"/>
          <p:nvPr/>
        </p:nvSpPr>
        <p:spPr>
          <a:xfrm>
            <a:off x="10967396" y="592496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E0797BB-BD1C-6E25-6441-59232FA841FF}"/>
              </a:ext>
            </a:extLst>
          </p:cNvPr>
          <p:cNvSpPr txBox="1"/>
          <p:nvPr/>
        </p:nvSpPr>
        <p:spPr>
          <a:xfrm>
            <a:off x="7809487" y="591355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</a:t>
            </a:r>
            <a:endParaRPr lang="en-US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7B9120A-654B-E0E4-0AA1-1ABA22A3FB4E}"/>
              </a:ext>
            </a:extLst>
          </p:cNvPr>
          <p:cNvSpPr txBox="1"/>
          <p:nvPr/>
        </p:nvSpPr>
        <p:spPr>
          <a:xfrm>
            <a:off x="7821211" y="590182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CE9CCBA-8E24-F4E5-75E2-9579A85E0F89}"/>
              </a:ext>
            </a:extLst>
          </p:cNvPr>
          <p:cNvSpPr txBox="1"/>
          <p:nvPr/>
        </p:nvSpPr>
        <p:spPr>
          <a:xfrm>
            <a:off x="9142271" y="5936685"/>
            <a:ext cx="149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efd</a:t>
            </a:r>
            <a:r>
              <a:rPr lang="en-IN" b="1" dirty="0"/>
              <a:t>/+</a:t>
            </a:r>
            <a:endParaRPr lang="en-US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16432EE-4D1C-12C7-5F1A-2E6C46830390}"/>
              </a:ext>
            </a:extLst>
          </p:cNvPr>
          <p:cNvSpPr txBox="1"/>
          <p:nvPr/>
        </p:nvSpPr>
        <p:spPr>
          <a:xfrm>
            <a:off x="10955674" y="591323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7E9523A-9E6E-798B-E183-3B0B8B3F1244}"/>
              </a:ext>
            </a:extLst>
          </p:cNvPr>
          <p:cNvSpPr txBox="1"/>
          <p:nvPr/>
        </p:nvSpPr>
        <p:spPr>
          <a:xfrm>
            <a:off x="7821212" y="59018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5562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96296E-6 L 0.01237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22222E-6 L -2.70833E-6 0.1157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0.11574 L -0.00377 0.2145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1459 L -0.00377 0.2544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544 L -0.00377 0.2884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8172 L -0.00377 0.32153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32153 L -0.00377 0.2145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6" y="-8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5 0.21459 L -0.00377 0.2544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544 L -0.00377 0.28172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8843 L -0.00377 0.32153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32153 L -0.00377 0.21459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5 0.21459 L 0.00183 0.25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path" presetSubtype="0" accel="50000" decel="5000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544 L -0.00377 0.28172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path" presetSubtype="0" accel="50000" decel="5000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8843 L -0.00377 0.32153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path" presetSubtype="0" accel="50000" decel="5000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32153 L -0.00377 0.21459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path" presetSubtype="0" accel="50000" decel="5000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1459 L 0.00508 0.51065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3" y="1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path" presetSubtype="0" accel="50000" decel="5000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8 0.51065 L 0.00508 0.57709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path" presetSubtype="0" accel="50000" decel="5000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8 0.57709 L 0.00404 0.66088 " pathEditMode="relative" rAng="0" ptsTypes="AA">
                                      <p:cBhvr>
                                        <p:cTn id="1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21" grpId="11" animBg="1"/>
      <p:bldP spid="21" grpId="12" animBg="1"/>
      <p:bldP spid="21" grpId="13" animBg="1"/>
      <p:bldP spid="21" grpId="14" animBg="1"/>
      <p:bldP spid="21" grpId="15" animBg="1"/>
      <p:bldP spid="21" grpId="16" animBg="1"/>
      <p:bldP spid="21" grpId="17" animBg="1"/>
      <p:bldP spid="81" grpId="0"/>
      <p:bldP spid="83" grpId="0"/>
      <p:bldP spid="83" grpId="1"/>
      <p:bldP spid="84" grpId="0"/>
      <p:bldP spid="84" grpId="1"/>
      <p:bldP spid="78" grpId="0"/>
      <p:bldP spid="78" grpId="1"/>
      <p:bldP spid="79" grpId="0"/>
      <p:bldP spid="79" grpId="1"/>
      <p:bldP spid="80" grpId="0"/>
      <p:bldP spid="80" grpId="1"/>
      <p:bldP spid="91" grpId="0"/>
      <p:bldP spid="91" grpId="1"/>
      <p:bldP spid="92" grpId="0"/>
      <p:bldP spid="92" grpId="1"/>
      <p:bldP spid="93" grpId="0"/>
      <p:bldP spid="94" grpId="0"/>
      <p:bldP spid="9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2894236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</a:t>
            </a:r>
            <a:r>
              <a:rPr lang="en-IN" sz="1500" b="1" dirty="0" smtClean="0">
                <a:latin typeface="Consolas" pitchFamily="49" charset="0"/>
                <a:cs typeface="Consolas" pitchFamily="49" charset="0"/>
              </a:rPr>
              <a:t>0</a:t>
            </a:r>
            <a:endParaRPr lang="en-IN" sz="1500" b="1" dirty="0">
              <a:latin typeface="Consolas" pitchFamily="49" charset="0"/>
              <a:cs typeface="Consolas" pitchFamily="49" charset="0"/>
            </a:endParaRP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	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17840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2670FE-1E00-756B-6C17-4A956720AD12}"/>
              </a:ext>
            </a:extLst>
          </p:cNvPr>
          <p:cNvSpPr txBox="1"/>
          <p:nvPr/>
        </p:nvSpPr>
        <p:spPr>
          <a:xfrm>
            <a:off x="6465411" y="438341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</a:t>
            </a:r>
            <a:endParaRPr lang="en-US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7E545C-354D-24CF-BF38-B576DE2C9133}"/>
              </a:ext>
            </a:extLst>
          </p:cNvPr>
          <p:cNvSpPr txBox="1"/>
          <p:nvPr/>
        </p:nvSpPr>
        <p:spPr>
          <a:xfrm>
            <a:off x="6457643" y="467881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ADD70B-1AC6-D060-21BB-37B49E7A090A}"/>
              </a:ext>
            </a:extLst>
          </p:cNvPr>
          <p:cNvSpPr txBox="1"/>
          <p:nvPr/>
        </p:nvSpPr>
        <p:spPr>
          <a:xfrm>
            <a:off x="6465411" y="49694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</a:t>
            </a:r>
            <a:endParaRPr lang="en-US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D8FC6E-3AE7-64BF-ACF8-47D4F8FB5A0D}"/>
              </a:ext>
            </a:extLst>
          </p:cNvPr>
          <p:cNvSpPr txBox="1"/>
          <p:nvPr/>
        </p:nvSpPr>
        <p:spPr>
          <a:xfrm>
            <a:off x="6451822" y="532681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/</a:t>
            </a:r>
            <a:endParaRPr lang="en-US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AF5EBF-F1E2-127C-D36F-1752162F8E81}"/>
              </a:ext>
            </a:extLst>
          </p:cNvPr>
          <p:cNvSpPr txBox="1"/>
          <p:nvPr/>
        </p:nvSpPr>
        <p:spPr>
          <a:xfrm>
            <a:off x="6438233" y="561455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BA1EC93-EBBC-5633-CD74-70B92C8158FA}"/>
              </a:ext>
            </a:extLst>
          </p:cNvPr>
          <p:cNvSpPr txBox="1"/>
          <p:nvPr/>
        </p:nvSpPr>
        <p:spPr>
          <a:xfrm>
            <a:off x="6451617" y="593638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5F72DAD-7B46-DCDC-28DA-9171D342EC84}"/>
              </a:ext>
            </a:extLst>
          </p:cNvPr>
          <p:cNvSpPr txBox="1"/>
          <p:nvPr/>
        </p:nvSpPr>
        <p:spPr>
          <a:xfrm>
            <a:off x="9130546" y="5936683"/>
            <a:ext cx="149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efd</a:t>
            </a:r>
            <a:r>
              <a:rPr lang="en-IN" b="1" dirty="0"/>
              <a:t>/+</a:t>
            </a:r>
            <a:endParaRPr lang="en-US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36AD457-C55C-B28B-D1B5-A3C6F0F3D70F}"/>
              </a:ext>
            </a:extLst>
          </p:cNvPr>
          <p:cNvSpPr txBox="1"/>
          <p:nvPr/>
        </p:nvSpPr>
        <p:spPr>
          <a:xfrm>
            <a:off x="10955672" y="593668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2EBE0AC-A30E-3DCA-8744-18083E54F908}"/>
              </a:ext>
            </a:extLst>
          </p:cNvPr>
          <p:cNvSpPr txBox="1"/>
          <p:nvPr/>
        </p:nvSpPr>
        <p:spPr>
          <a:xfrm>
            <a:off x="6459129" y="6230821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9BEE368-C81B-175E-E6AB-DFE4A10A6D1B}"/>
              </a:ext>
            </a:extLst>
          </p:cNvPr>
          <p:cNvSpPr txBox="1"/>
          <p:nvPr/>
        </p:nvSpPr>
        <p:spPr>
          <a:xfrm>
            <a:off x="9149777" y="6222247"/>
            <a:ext cx="149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efd</a:t>
            </a:r>
            <a:r>
              <a:rPr lang="en-IN" b="1" dirty="0"/>
              <a:t>/+*</a:t>
            </a:r>
            <a:endParaRPr lang="en-US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15A5EF6-D115-0E4F-EB28-BAEF4AFB1350}"/>
              </a:ext>
            </a:extLst>
          </p:cNvPr>
          <p:cNvSpPr txBox="1"/>
          <p:nvPr/>
        </p:nvSpPr>
        <p:spPr>
          <a:xfrm>
            <a:off x="10930859" y="62044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9B77CF-0321-7A49-D8CE-BE049E400184}"/>
              </a:ext>
            </a:extLst>
          </p:cNvPr>
          <p:cNvSpPr txBox="1"/>
          <p:nvPr/>
        </p:nvSpPr>
        <p:spPr>
          <a:xfrm>
            <a:off x="7775683" y="435936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(*(e   </a:t>
            </a:r>
            <a:endParaRPr lang="en-US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D80CFD-D3EF-005A-B1A4-2128063509D7}"/>
              </a:ext>
            </a:extLst>
          </p:cNvPr>
          <p:cNvSpPr txBox="1"/>
          <p:nvPr/>
        </p:nvSpPr>
        <p:spPr>
          <a:xfrm>
            <a:off x="9124177" y="435220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6EE5AF-C92B-49CE-3507-7832CAE715F1}"/>
              </a:ext>
            </a:extLst>
          </p:cNvPr>
          <p:cNvSpPr txBox="1"/>
          <p:nvPr/>
        </p:nvSpPr>
        <p:spPr>
          <a:xfrm>
            <a:off x="10937972" y="43558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0E5044-A3F8-1C43-ED3F-409D69418B6E}"/>
              </a:ext>
            </a:extLst>
          </p:cNvPr>
          <p:cNvSpPr txBox="1"/>
          <p:nvPr/>
        </p:nvSpPr>
        <p:spPr>
          <a:xfrm>
            <a:off x="7799130" y="465080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 </a:t>
            </a:r>
            <a:endParaRPr 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57AA71-2E26-7A02-40C6-D133ADD09B1E}"/>
              </a:ext>
            </a:extLst>
          </p:cNvPr>
          <p:cNvSpPr txBox="1"/>
          <p:nvPr/>
        </p:nvSpPr>
        <p:spPr>
          <a:xfrm>
            <a:off x="9136813" y="46441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AC5B19-6850-D14D-BBEF-F9450920B51D}"/>
              </a:ext>
            </a:extLst>
          </p:cNvPr>
          <p:cNvSpPr txBox="1"/>
          <p:nvPr/>
        </p:nvSpPr>
        <p:spPr>
          <a:xfrm>
            <a:off x="10950608" y="46487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32A287-DFD2-E54A-3EB9-9EE323E6BF54}"/>
              </a:ext>
            </a:extLst>
          </p:cNvPr>
          <p:cNvSpPr txBox="1"/>
          <p:nvPr/>
        </p:nvSpPr>
        <p:spPr>
          <a:xfrm>
            <a:off x="7799130" y="496744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(*(+f 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C2BA51-5CCB-AF06-9FF8-9D1547156DD7}"/>
              </a:ext>
            </a:extLst>
          </p:cNvPr>
          <p:cNvSpPr txBox="1"/>
          <p:nvPr/>
        </p:nvSpPr>
        <p:spPr>
          <a:xfrm>
            <a:off x="9124177" y="495978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D412CB-1ECA-7127-4E0D-25AFDD15FF3E}"/>
              </a:ext>
            </a:extLst>
          </p:cNvPr>
          <p:cNvSpPr txBox="1"/>
          <p:nvPr/>
        </p:nvSpPr>
        <p:spPr>
          <a:xfrm>
            <a:off x="10950608" y="497720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78B542-19DB-3329-DB9E-FBF57AC37C74}"/>
              </a:ext>
            </a:extLst>
          </p:cNvPr>
          <p:cNvSpPr txBox="1"/>
          <p:nvPr/>
        </p:nvSpPr>
        <p:spPr>
          <a:xfrm>
            <a:off x="7786494" y="530803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</a:t>
            </a:r>
            <a:endParaRPr lang="en-US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D6D5E5-FDC0-65DA-FBA4-EB569AE672F7}"/>
              </a:ext>
            </a:extLst>
          </p:cNvPr>
          <p:cNvSpPr txBox="1"/>
          <p:nvPr/>
        </p:nvSpPr>
        <p:spPr>
          <a:xfrm>
            <a:off x="9110218" y="52754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</a:t>
            </a:r>
            <a:endParaRPr lang="en-US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501297-689C-DFA2-3619-FEA3A0161AB3}"/>
              </a:ext>
            </a:extLst>
          </p:cNvPr>
          <p:cNvSpPr txBox="1"/>
          <p:nvPr/>
        </p:nvSpPr>
        <p:spPr>
          <a:xfrm>
            <a:off x="10950609" y="530545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B7CCBBF-D9C6-3D32-C7AE-45CF54487D4D}"/>
              </a:ext>
            </a:extLst>
          </p:cNvPr>
          <p:cNvSpPr txBox="1"/>
          <p:nvPr/>
        </p:nvSpPr>
        <p:spPr>
          <a:xfrm>
            <a:off x="7799130" y="560031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(*(+/d</a:t>
            </a:r>
            <a:endParaRPr lang="en-US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5C5C906-5C14-ADAB-02CA-CB48A04F1D94}"/>
              </a:ext>
            </a:extLst>
          </p:cNvPr>
          <p:cNvSpPr txBox="1"/>
          <p:nvPr/>
        </p:nvSpPr>
        <p:spPr>
          <a:xfrm>
            <a:off x="9133665" y="55802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</a:t>
            </a:r>
            <a:endParaRPr lang="en-US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0B25A0F-0917-7BDB-B89D-35D05998EADB}"/>
              </a:ext>
            </a:extLst>
          </p:cNvPr>
          <p:cNvSpPr txBox="1"/>
          <p:nvPr/>
        </p:nvSpPr>
        <p:spPr>
          <a:xfrm>
            <a:off x="10962333" y="561025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B632684-804E-B9EC-E4EA-D3556F1F73C1}"/>
              </a:ext>
            </a:extLst>
          </p:cNvPr>
          <p:cNvSpPr txBox="1"/>
          <p:nvPr/>
        </p:nvSpPr>
        <p:spPr>
          <a:xfrm>
            <a:off x="7809486" y="59018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25409DD-A0C8-A671-B88B-02729563D1C3}"/>
              </a:ext>
            </a:extLst>
          </p:cNvPr>
          <p:cNvSpPr txBox="1"/>
          <p:nvPr/>
        </p:nvSpPr>
        <p:spPr>
          <a:xfrm>
            <a:off x="7809490" y="620662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1124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96296E-6 L 0.01237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22222E-6 L 0.00026 0.1157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11574 L -0.00078 0.2134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4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21343 L -2.70833E-6 0.2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0.25 L 0.00117 0.2884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28843 L 0.00117 0.32269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32268 L -0.00078 0.21343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6" y="-8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21343 L 0.00026 0.51065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" y="1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51065 L -0.00169 0.57408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3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69 0.57408 L 0.00026 0.66088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66088 L -1.47451E-17 -2.22222E-6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33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85" grpId="0"/>
      <p:bldP spid="87" grpId="0"/>
      <p:bldP spid="88" grpId="0"/>
      <p:bldP spid="96" grpId="0"/>
      <p:bldP spid="96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307719" y="3268068"/>
            <a:ext cx="36000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Infix to Postfix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36000" y="799511"/>
            <a:ext cx="9712973" cy="430887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Add ‘)’ to the end of the infix expression.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36000" y="1376930"/>
            <a:ext cx="9712973" cy="430887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Push ‘(‘ on to the stack.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0080" y="2528063"/>
            <a:ext cx="9338893" cy="707886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If an </a:t>
            </a:r>
            <a:r>
              <a:rPr lang="en-US" sz="2000" b="1" dirty="0">
                <a:solidFill>
                  <a:srgbClr val="C00000"/>
                </a:solidFill>
              </a:rPr>
              <a:t>operand</a:t>
            </a:r>
            <a:r>
              <a:rPr lang="en-US" sz="2000" dirty="0"/>
              <a:t> (whether a number or a character) is encountered, add it to the postfix expression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000" y="2518636"/>
            <a:ext cx="36000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10080" y="3286926"/>
            <a:ext cx="9338893" cy="402336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If a left parenthesis ‘(’, is encountered, push it on the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80" y="3732468"/>
            <a:ext cx="9338893" cy="1323439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If a </a:t>
            </a:r>
            <a:r>
              <a:rPr lang="en-US" sz="2000" b="1" dirty="0">
                <a:solidFill>
                  <a:srgbClr val="C00000"/>
                </a:solidFill>
              </a:rPr>
              <a:t>right parenthesis ‘)’</a:t>
            </a:r>
            <a:r>
              <a:rPr lang="en-US" sz="2000" dirty="0"/>
              <a:t>, is encountered, then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Repeatedly</a:t>
            </a:r>
            <a:r>
              <a:rPr lang="en-US" sz="2000" b="1" dirty="0"/>
              <a:t> pop </a:t>
            </a:r>
            <a:r>
              <a:rPr lang="en-US" sz="2000" dirty="0"/>
              <a:t>from stack and add it to the postfix expression until a </a:t>
            </a:r>
            <a:r>
              <a:rPr lang="en-US" sz="2000" b="1" dirty="0"/>
              <a:t>‘(‘</a:t>
            </a:r>
            <a:r>
              <a:rPr lang="en-US" sz="2000" dirty="0"/>
              <a:t> is encountered.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Discard</a:t>
            </a:r>
            <a:r>
              <a:rPr lang="en-US" sz="2000" dirty="0"/>
              <a:t> the </a:t>
            </a:r>
            <a:r>
              <a:rPr lang="en-US" b="1" dirty="0"/>
              <a:t>‘ ( ‘.</a:t>
            </a:r>
            <a:endParaRPr lang="en-US" sz="2000" dirty="0"/>
          </a:p>
        </p:txBody>
      </p:sp>
      <p:sp>
        <p:nvSpPr>
          <p:cNvPr id="13" name="Rectangle 12"/>
          <p:cNvSpPr/>
          <p:nvPr/>
        </p:nvSpPr>
        <p:spPr>
          <a:xfrm>
            <a:off x="307719" y="3704194"/>
            <a:ext cx="36000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0080" y="5066827"/>
            <a:ext cx="9338893" cy="1538883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If an </a:t>
            </a:r>
            <a:r>
              <a:rPr lang="en-US" sz="2000" b="1" dirty="0">
                <a:solidFill>
                  <a:srgbClr val="C00000"/>
                </a:solidFill>
              </a:rPr>
              <a:t>operator O </a:t>
            </a:r>
            <a:r>
              <a:rPr lang="en-US" sz="2000" dirty="0"/>
              <a:t>, is encountered, then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Repeatedly pop </a:t>
            </a:r>
            <a:r>
              <a:rPr lang="en-US" dirty="0"/>
              <a:t>from the stack and add each operator (popped from the stack) to the postfix expression which has the </a:t>
            </a:r>
            <a:r>
              <a:rPr lang="en-US" b="1" dirty="0"/>
              <a:t>same or a higher precedence than O</a:t>
            </a:r>
            <a:r>
              <a:rPr lang="en-US" dirty="0"/>
              <a:t>.(</a:t>
            </a:r>
            <a:r>
              <a:rPr lang="en-US" b="1" dirty="0"/>
              <a:t>except ^ : </a:t>
            </a:r>
            <a:r>
              <a:rPr lang="en-US" dirty="0"/>
              <a:t>Only higher precedence operators)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Push the operator </a:t>
            </a:r>
            <a:r>
              <a:rPr lang="en-US" sz="2000" b="1" dirty="0"/>
              <a:t>O</a:t>
            </a:r>
            <a:r>
              <a:rPr lang="en-US" b="1" dirty="0"/>
              <a:t> </a:t>
            </a:r>
            <a:r>
              <a:rPr lang="en-US" dirty="0"/>
              <a:t>to the stack.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7719" y="5049183"/>
            <a:ext cx="36000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FABA08-0C5B-3F43-FF6B-1A59D959F202}"/>
              </a:ext>
            </a:extLst>
          </p:cNvPr>
          <p:cNvSpPr/>
          <p:nvPr/>
        </p:nvSpPr>
        <p:spPr>
          <a:xfrm>
            <a:off x="346995" y="1953535"/>
            <a:ext cx="9701978" cy="430887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Repeat until each character in the infix notation is scanned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9FE1C7-F66F-6B18-541A-43B7AFDBD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676924"/>
              </p:ext>
            </p:extLst>
          </p:nvPr>
        </p:nvGraphicFramePr>
        <p:xfrm>
          <a:off x="10379712" y="799511"/>
          <a:ext cx="1807027" cy="1483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07027">
                  <a:extLst>
                    <a:ext uri="{9D8B030D-6E8A-4147-A177-3AD203B41FA5}">
                      <a16:colId xmlns:a16="http://schemas.microsoft.com/office/drawing/2014/main" val="4187900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Precedence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892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^ ($ -sometimes)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175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*, / ,%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314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-, 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68043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B338-3FEF-F432-A0C8-66DFD4F2173D}"/>
              </a:ext>
            </a:extLst>
          </p:cNvPr>
          <p:cNvCxnSpPr>
            <a:cxnSpLocks/>
          </p:cNvCxnSpPr>
          <p:nvPr/>
        </p:nvCxnSpPr>
        <p:spPr>
          <a:xfrm>
            <a:off x="11498282" y="1455352"/>
            <a:ext cx="0" cy="846975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DB3AD35-9490-9891-F8A4-7741D3C3D613}"/>
              </a:ext>
            </a:extLst>
          </p:cNvPr>
          <p:cNvCxnSpPr>
            <a:cxnSpLocks/>
          </p:cNvCxnSpPr>
          <p:nvPr/>
        </p:nvCxnSpPr>
        <p:spPr>
          <a:xfrm flipV="1">
            <a:off x="11753657" y="1435896"/>
            <a:ext cx="0" cy="846975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65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" grpId="0" animBg="1"/>
      <p:bldP spid="5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/>
            <a:r>
              <a:rPr lang="pt-BR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Example : Infix to Postfix : a + b * c – d / e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56250" y="825282"/>
            <a:ext cx="2561220" cy="535582"/>
          </a:xfrm>
        </p:spPr>
        <p:txBody>
          <a:bodyPr/>
          <a:lstStyle/>
          <a:p>
            <a:pPr marL="0" indent="0">
              <a:buNone/>
            </a:pPr>
            <a:r>
              <a:rPr lang="pt-BR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 + b * c – d / e 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9994744"/>
              </p:ext>
            </p:extLst>
          </p:nvPr>
        </p:nvGraphicFramePr>
        <p:xfrm>
          <a:off x="816747" y="1406735"/>
          <a:ext cx="7031113" cy="502397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0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7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5338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</a:t>
                      </a: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DFB64C7-0D84-1BB1-D1E9-0AD947E9F1C5}"/>
              </a:ext>
            </a:extLst>
          </p:cNvPr>
          <p:cNvSpPr txBox="1"/>
          <p:nvPr/>
        </p:nvSpPr>
        <p:spPr>
          <a:xfrm>
            <a:off x="2459993" y="2051479"/>
            <a:ext cx="52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3EC4D-D09B-7800-7888-3BF1E73088D3}"/>
              </a:ext>
            </a:extLst>
          </p:cNvPr>
          <p:cNvSpPr txBox="1"/>
          <p:nvPr/>
        </p:nvSpPr>
        <p:spPr>
          <a:xfrm>
            <a:off x="2459993" y="2439554"/>
            <a:ext cx="52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65A13E-1182-F344-CEAF-B30264628A50}"/>
              </a:ext>
            </a:extLst>
          </p:cNvPr>
          <p:cNvSpPr txBox="1"/>
          <p:nvPr/>
        </p:nvSpPr>
        <p:spPr>
          <a:xfrm>
            <a:off x="2459993" y="2808771"/>
            <a:ext cx="52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82AC18-6A11-AEF5-48B7-E2CD16D7BFCF}"/>
              </a:ext>
            </a:extLst>
          </p:cNvPr>
          <p:cNvSpPr txBox="1"/>
          <p:nvPr/>
        </p:nvSpPr>
        <p:spPr>
          <a:xfrm>
            <a:off x="2459993" y="3240134"/>
            <a:ext cx="52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1C390F-11D6-1A0B-27E7-32983BA013DB}"/>
              </a:ext>
            </a:extLst>
          </p:cNvPr>
          <p:cNvSpPr txBox="1"/>
          <p:nvPr/>
        </p:nvSpPr>
        <p:spPr>
          <a:xfrm>
            <a:off x="2459993" y="3622619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+ *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8C03EB-C321-D801-2954-14876F573B68}"/>
              </a:ext>
            </a:extLst>
          </p:cNvPr>
          <p:cNvSpPr txBox="1"/>
          <p:nvPr/>
        </p:nvSpPr>
        <p:spPr>
          <a:xfrm>
            <a:off x="2459993" y="4020117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+ *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593EA1-DEA9-7113-E501-A6EBBA99614B}"/>
              </a:ext>
            </a:extLst>
          </p:cNvPr>
          <p:cNvSpPr txBox="1"/>
          <p:nvPr/>
        </p:nvSpPr>
        <p:spPr>
          <a:xfrm>
            <a:off x="2459993" y="4408189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643BF-7532-DA6C-7820-0D07752E7A76}"/>
              </a:ext>
            </a:extLst>
          </p:cNvPr>
          <p:cNvSpPr txBox="1"/>
          <p:nvPr/>
        </p:nvSpPr>
        <p:spPr>
          <a:xfrm>
            <a:off x="2459993" y="4852819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912274-260A-7F60-6958-5A7A1288D2E2}"/>
              </a:ext>
            </a:extLst>
          </p:cNvPr>
          <p:cNvSpPr txBox="1"/>
          <p:nvPr/>
        </p:nvSpPr>
        <p:spPr>
          <a:xfrm>
            <a:off x="2459993" y="5259743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- 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D9F680-E10E-9B28-4C62-A7371145E286}"/>
              </a:ext>
            </a:extLst>
          </p:cNvPr>
          <p:cNvSpPr txBox="1"/>
          <p:nvPr/>
        </p:nvSpPr>
        <p:spPr>
          <a:xfrm>
            <a:off x="2459993" y="5638390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- /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736478-1E75-9085-04CD-4A6CB2BB993D}"/>
              </a:ext>
            </a:extLst>
          </p:cNvPr>
          <p:cNvSpPr txBox="1"/>
          <p:nvPr/>
        </p:nvSpPr>
        <p:spPr>
          <a:xfrm>
            <a:off x="2459993" y="6007607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ADE73C-5A53-5BCE-D3D6-06A32E06AC2D}"/>
              </a:ext>
            </a:extLst>
          </p:cNvPr>
          <p:cNvSpPr txBox="1"/>
          <p:nvPr/>
        </p:nvSpPr>
        <p:spPr>
          <a:xfrm>
            <a:off x="3970751" y="2024847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6CE067-D87B-16D5-F070-9FEDECB5C405}"/>
              </a:ext>
            </a:extLst>
          </p:cNvPr>
          <p:cNvSpPr txBox="1"/>
          <p:nvPr/>
        </p:nvSpPr>
        <p:spPr>
          <a:xfrm>
            <a:off x="4068409" y="2469478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BB5642-12DD-AA2A-0DE6-55BEE93D5898}"/>
              </a:ext>
            </a:extLst>
          </p:cNvPr>
          <p:cNvSpPr txBox="1"/>
          <p:nvPr/>
        </p:nvSpPr>
        <p:spPr>
          <a:xfrm>
            <a:off x="4068409" y="2829265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92BB5B-C41F-F6A7-3A61-3B39BB5195E8}"/>
              </a:ext>
            </a:extLst>
          </p:cNvPr>
          <p:cNvSpPr txBox="1"/>
          <p:nvPr/>
        </p:nvSpPr>
        <p:spPr>
          <a:xfrm>
            <a:off x="4069726" y="3224609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7D74D9-CCD7-A5A8-039E-6AEECB520779}"/>
              </a:ext>
            </a:extLst>
          </p:cNvPr>
          <p:cNvSpPr txBox="1"/>
          <p:nvPr/>
        </p:nvSpPr>
        <p:spPr>
          <a:xfrm>
            <a:off x="4069726" y="3612089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06F5C-54C6-D5FA-AF03-C0A305D44090}"/>
              </a:ext>
            </a:extLst>
          </p:cNvPr>
          <p:cNvSpPr txBox="1"/>
          <p:nvPr/>
        </p:nvSpPr>
        <p:spPr>
          <a:xfrm>
            <a:off x="4069726" y="4021756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 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335250-80F1-2268-E608-A4B34FB35987}"/>
              </a:ext>
            </a:extLst>
          </p:cNvPr>
          <p:cNvSpPr txBox="1"/>
          <p:nvPr/>
        </p:nvSpPr>
        <p:spPr>
          <a:xfrm>
            <a:off x="4069726" y="4409831"/>
            <a:ext cx="102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 c * +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A1EB50-804F-1ADC-AFBF-AB2CC167EE5A}"/>
              </a:ext>
            </a:extLst>
          </p:cNvPr>
          <p:cNvSpPr txBox="1"/>
          <p:nvPr/>
        </p:nvSpPr>
        <p:spPr>
          <a:xfrm>
            <a:off x="4069726" y="4816756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 c * + 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7E9C03-C525-7FF9-5A10-29440823882E}"/>
              </a:ext>
            </a:extLst>
          </p:cNvPr>
          <p:cNvSpPr txBox="1"/>
          <p:nvPr/>
        </p:nvSpPr>
        <p:spPr>
          <a:xfrm>
            <a:off x="4069726" y="5223680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 c * + 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2B616C-30AA-B0D2-D60C-EE2E86ECB139}"/>
              </a:ext>
            </a:extLst>
          </p:cNvPr>
          <p:cNvSpPr txBox="1"/>
          <p:nvPr/>
        </p:nvSpPr>
        <p:spPr>
          <a:xfrm>
            <a:off x="4069726" y="5611750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 c * + 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ED0A74-A35B-B51C-03E0-9D87A0ACAF83}"/>
              </a:ext>
            </a:extLst>
          </p:cNvPr>
          <p:cNvSpPr txBox="1"/>
          <p:nvPr/>
        </p:nvSpPr>
        <p:spPr>
          <a:xfrm>
            <a:off x="4069726" y="5980967"/>
            <a:ext cx="1560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 c * + d e / 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E0988-A194-2881-6500-0ED691F2E220}"/>
              </a:ext>
            </a:extLst>
          </p:cNvPr>
          <p:cNvSpPr txBox="1"/>
          <p:nvPr/>
        </p:nvSpPr>
        <p:spPr>
          <a:xfrm>
            <a:off x="1220777" y="2487964"/>
            <a:ext cx="56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176BB0-ADA5-C888-3B88-77FD4D2D5A24}"/>
              </a:ext>
            </a:extLst>
          </p:cNvPr>
          <p:cNvSpPr txBox="1"/>
          <p:nvPr/>
        </p:nvSpPr>
        <p:spPr>
          <a:xfrm>
            <a:off x="1220777" y="2865440"/>
            <a:ext cx="56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A8AD1C-1CC6-DF95-5DE3-B526A70B8D54}"/>
              </a:ext>
            </a:extLst>
          </p:cNvPr>
          <p:cNvSpPr txBox="1"/>
          <p:nvPr/>
        </p:nvSpPr>
        <p:spPr>
          <a:xfrm>
            <a:off x="1220777" y="3248660"/>
            <a:ext cx="56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30DFE1-AA37-1D06-D2F7-AA5405F491BA}"/>
              </a:ext>
            </a:extLst>
          </p:cNvPr>
          <p:cNvSpPr txBox="1"/>
          <p:nvPr/>
        </p:nvSpPr>
        <p:spPr>
          <a:xfrm>
            <a:off x="1220777" y="3664616"/>
            <a:ext cx="56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71B0B5-2530-0CA7-EA1A-99900611370F}"/>
              </a:ext>
            </a:extLst>
          </p:cNvPr>
          <p:cNvSpPr txBox="1"/>
          <p:nvPr/>
        </p:nvSpPr>
        <p:spPr>
          <a:xfrm>
            <a:off x="1220777" y="4073316"/>
            <a:ext cx="56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AC02E4-F4AD-9BCC-8CEF-573A963653DB}"/>
              </a:ext>
            </a:extLst>
          </p:cNvPr>
          <p:cNvSpPr txBox="1"/>
          <p:nvPr/>
        </p:nvSpPr>
        <p:spPr>
          <a:xfrm>
            <a:off x="1220777" y="4466263"/>
            <a:ext cx="56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B7E9FD-96D2-E23C-96D9-6BD32A4FE795}"/>
              </a:ext>
            </a:extLst>
          </p:cNvPr>
          <p:cNvSpPr txBox="1"/>
          <p:nvPr/>
        </p:nvSpPr>
        <p:spPr>
          <a:xfrm>
            <a:off x="1220777" y="4873264"/>
            <a:ext cx="56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73DB61-24C7-B3C7-C6F0-1415B4C2B114}"/>
              </a:ext>
            </a:extLst>
          </p:cNvPr>
          <p:cNvSpPr txBox="1"/>
          <p:nvPr/>
        </p:nvSpPr>
        <p:spPr>
          <a:xfrm>
            <a:off x="1220777" y="5220484"/>
            <a:ext cx="56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0D00EE-9DC0-E2A7-9C76-E5713E6A6E77}"/>
              </a:ext>
            </a:extLst>
          </p:cNvPr>
          <p:cNvSpPr txBox="1"/>
          <p:nvPr/>
        </p:nvSpPr>
        <p:spPr>
          <a:xfrm>
            <a:off x="1220777" y="5638975"/>
            <a:ext cx="56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348A74-66A7-E52E-FB1B-241845A7F795}"/>
              </a:ext>
            </a:extLst>
          </p:cNvPr>
          <p:cNvSpPr txBox="1"/>
          <p:nvPr/>
        </p:nvSpPr>
        <p:spPr>
          <a:xfrm>
            <a:off x="1220777" y="6029637"/>
            <a:ext cx="56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FD892D-0A01-A815-30E2-A81F480534D4}"/>
              </a:ext>
            </a:extLst>
          </p:cNvPr>
          <p:cNvSpPr txBox="1"/>
          <p:nvPr/>
        </p:nvSpPr>
        <p:spPr>
          <a:xfrm>
            <a:off x="2728280" y="806685"/>
            <a:ext cx="1178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sz="2400" b="1" dirty="0"/>
              <a:t>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1A147B-9F71-3911-D88B-D6395F37C001}"/>
              </a:ext>
            </a:extLst>
          </p:cNvPr>
          <p:cNvSpPr txBox="1"/>
          <p:nvPr/>
        </p:nvSpPr>
        <p:spPr>
          <a:xfrm>
            <a:off x="954077" y="1425614"/>
            <a:ext cx="1178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Character Scanned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4EC139-01DB-11C8-96A0-0D2BFC7093FE}"/>
              </a:ext>
            </a:extLst>
          </p:cNvPr>
          <p:cNvSpPr txBox="1"/>
          <p:nvPr/>
        </p:nvSpPr>
        <p:spPr>
          <a:xfrm>
            <a:off x="2313840" y="1427088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Stack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994D0F-4B24-100C-77C9-DCB1FC4555BD}"/>
              </a:ext>
            </a:extLst>
          </p:cNvPr>
          <p:cNvSpPr txBox="1"/>
          <p:nvPr/>
        </p:nvSpPr>
        <p:spPr>
          <a:xfrm>
            <a:off x="3906660" y="1428776"/>
            <a:ext cx="192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Postfix Expression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C7D0CCB3-5026-E8E1-AD9E-4BD56AE9E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855566"/>
              </p:ext>
            </p:extLst>
          </p:nvPr>
        </p:nvGraphicFramePr>
        <p:xfrm>
          <a:off x="10289218" y="932681"/>
          <a:ext cx="1566782" cy="1483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66782">
                  <a:extLst>
                    <a:ext uri="{9D8B030D-6E8A-4147-A177-3AD203B41FA5}">
                      <a16:colId xmlns:a16="http://schemas.microsoft.com/office/drawing/2014/main" val="4187900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Precedence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892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^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175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*, </a:t>
                      </a:r>
                      <a:r>
                        <a:rPr lang="en-US" b="1"/>
                        <a:t>/ 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314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-, 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68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56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" grpId="0"/>
      <p:bldP spid="1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  <p:bldP spid="42" grpId="0"/>
      <p:bldP spid="43" grpId="0"/>
      <p:bldP spid="4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: Infix to Postfix &amp; Prefix Conversion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969A1A0-0107-6EA8-7043-8E880963A5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201060"/>
              </p:ext>
            </p:extLst>
          </p:nvPr>
        </p:nvGraphicFramePr>
        <p:xfrm>
          <a:off x="258763" y="911812"/>
          <a:ext cx="9329737" cy="5029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54581">
                  <a:extLst>
                    <a:ext uri="{9D8B030D-6E8A-4147-A177-3AD203B41FA5}">
                      <a16:colId xmlns:a16="http://schemas.microsoft.com/office/drawing/2014/main" val="85069131"/>
                    </a:ext>
                  </a:extLst>
                </a:gridCol>
                <a:gridCol w="8575156">
                  <a:extLst>
                    <a:ext uri="{9D8B030D-6E8A-4147-A177-3AD203B41FA5}">
                      <a16:colId xmlns:a16="http://schemas.microsoft.com/office/drawing/2014/main" val="1046304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Sr.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Infix Expressions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6335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353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187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729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4682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32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3067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357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892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1772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308565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0087BA3-0609-F817-1042-34495FDB4C2E}"/>
              </a:ext>
            </a:extLst>
          </p:cNvPr>
          <p:cNvSpPr txBox="1"/>
          <p:nvPr/>
        </p:nvSpPr>
        <p:spPr>
          <a:xfrm>
            <a:off x="967659" y="1376037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b * c – d / e * h </a:t>
            </a:r>
            <a:endParaRPr lang="en-US" sz="2400" b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60317-AEA7-6456-44E5-210C582F2EBB}"/>
              </a:ext>
            </a:extLst>
          </p:cNvPr>
          <p:cNvSpPr txBox="1"/>
          <p:nvPr/>
        </p:nvSpPr>
        <p:spPr>
          <a:xfrm>
            <a:off x="960256" y="1807480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^ B – C * D + E ^ F / G</a:t>
            </a:r>
            <a:endParaRPr lang="en-US" sz="24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D99EFA-9F0F-A1D0-A3DC-84B01671109D}"/>
              </a:ext>
            </a:extLst>
          </p:cNvPr>
          <p:cNvSpPr txBox="1"/>
          <p:nvPr/>
        </p:nvSpPr>
        <p:spPr>
          <a:xfrm>
            <a:off x="970607" y="2316302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B – C * D * E ^ F ^ G</a:t>
            </a:r>
            <a:endParaRPr lang="en-US" sz="2400" b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B66BDF-6F2A-C043-2A16-C4AB1C0DFC87}"/>
              </a:ext>
            </a:extLst>
          </p:cNvPr>
          <p:cNvSpPr txBox="1"/>
          <p:nvPr/>
        </p:nvSpPr>
        <p:spPr>
          <a:xfrm>
            <a:off x="980953" y="2777967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2 * 3 / (2 – 1) + 5 * 3</a:t>
            </a:r>
            <a:endParaRPr lang="en-US" sz="2400" b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65E167-2730-18F0-037F-D4B4B7285F2A}"/>
              </a:ext>
            </a:extLst>
          </p:cNvPr>
          <p:cNvSpPr txBox="1"/>
          <p:nvPr/>
        </p:nvSpPr>
        <p:spPr>
          <a:xfrm>
            <a:off x="991297" y="3195579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(B * (C – D) / E)</a:t>
            </a:r>
            <a:endParaRPr lang="en-US" sz="2400" b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22445E-5181-19F7-7897-656BF5D7DCAB}"/>
              </a:ext>
            </a:extLst>
          </p:cNvPr>
          <p:cNvSpPr txBox="1"/>
          <p:nvPr/>
        </p:nvSpPr>
        <p:spPr>
          <a:xfrm>
            <a:off x="972066" y="3605432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/>
              <a:t>( A + B ) * C + D / ( B + A * C ) + 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713438-5685-80AC-B773-30380ABE42FF}"/>
              </a:ext>
            </a:extLst>
          </p:cNvPr>
          <p:cNvSpPr txBox="1"/>
          <p:nvPr/>
        </p:nvSpPr>
        <p:spPr>
          <a:xfrm>
            <a:off x="1000170" y="4102702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dirty="0"/>
              <a:t>((a+b^c^d)*(e+f/d))</a:t>
            </a:r>
            <a:endParaRPr lang="en-US" sz="2400" b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4AED96-87A1-A088-0580-F1B411E98571}"/>
              </a:ext>
            </a:extLst>
          </p:cNvPr>
          <p:cNvSpPr txBox="1"/>
          <p:nvPr/>
        </p:nvSpPr>
        <p:spPr>
          <a:xfrm>
            <a:off x="1001662" y="4554400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( A + B * C / D - E + F / G / ( H + I ))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219267-BFBC-DD8F-9477-507B56B4F934}"/>
              </a:ext>
            </a:extLst>
          </p:cNvPr>
          <p:cNvSpPr txBox="1"/>
          <p:nvPr/>
        </p:nvSpPr>
        <p:spPr>
          <a:xfrm>
            <a:off x="1000170" y="4998370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 a + ((b * c) / (d – e))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1FF4BF-37BA-CE8F-00C2-F72F60918FD9}"/>
              </a:ext>
            </a:extLst>
          </p:cNvPr>
          <p:cNvSpPr txBox="1"/>
          <p:nvPr/>
        </p:nvSpPr>
        <p:spPr>
          <a:xfrm>
            <a:off x="1001651" y="5470367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 A + ( B * C – (D / E – F) * G) * H</a:t>
            </a:r>
          </a:p>
        </p:txBody>
      </p:sp>
    </p:spTree>
    <p:extLst>
      <p:ext uri="{BB962C8B-B14F-4D97-AF65-F5344CB8AC3E}">
        <p14:creationId xmlns:p14="http://schemas.microsoft.com/office/powerpoint/2010/main" val="426762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: Infix to Postfix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969A1A0-0107-6EA8-7043-8E880963A5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973655"/>
              </p:ext>
            </p:extLst>
          </p:nvPr>
        </p:nvGraphicFramePr>
        <p:xfrm>
          <a:off x="246787" y="988011"/>
          <a:ext cx="9583013" cy="5029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50029">
                  <a:extLst>
                    <a:ext uri="{9D8B030D-6E8A-4147-A177-3AD203B41FA5}">
                      <a16:colId xmlns:a16="http://schemas.microsoft.com/office/drawing/2014/main" val="85069131"/>
                    </a:ext>
                  </a:extLst>
                </a:gridCol>
                <a:gridCol w="4510433">
                  <a:extLst>
                    <a:ext uri="{9D8B030D-6E8A-4147-A177-3AD203B41FA5}">
                      <a16:colId xmlns:a16="http://schemas.microsoft.com/office/drawing/2014/main" val="1046304600"/>
                    </a:ext>
                  </a:extLst>
                </a:gridCol>
                <a:gridCol w="4322551">
                  <a:extLst>
                    <a:ext uri="{9D8B030D-6E8A-4147-A177-3AD203B41FA5}">
                      <a16:colId xmlns:a16="http://schemas.microsoft.com/office/drawing/2014/main" val="2312024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Sr.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Infix Expressions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Postfix Expression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6335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</a:t>
                      </a:r>
                      <a:r>
                        <a:rPr lang="en-US" sz="2400" b="0" baseline="0" dirty="0"/>
                        <a:t> b c * + d e / h * -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353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 B ^ C D * - E F ^ G /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187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 B + C D * E F</a:t>
                      </a:r>
                      <a:r>
                        <a:rPr lang="en-US" sz="2400" b="0" baseline="0" dirty="0"/>
                        <a:t> G ^ ^ * -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729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2 3 * 2 1 - / 5 3 *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4682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 B C D - * E /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32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 B + C * D B A C * + / + D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3067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a</a:t>
                      </a:r>
                      <a:r>
                        <a:rPr lang="en-US" sz="2400" b="0" baseline="0" dirty="0"/>
                        <a:t> b c d ^ ^ + e f d / + *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357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A B C * D / + E - F G / H I + /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892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</a:t>
                      </a:r>
                      <a:r>
                        <a:rPr lang="en-US" sz="2400" b="0" baseline="0" dirty="0"/>
                        <a:t> b c * d e - / +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1772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 B C * D E / F – G * - H *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308565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0087BA3-0609-F817-1042-34495FDB4C2E}"/>
              </a:ext>
            </a:extLst>
          </p:cNvPr>
          <p:cNvSpPr txBox="1"/>
          <p:nvPr/>
        </p:nvSpPr>
        <p:spPr>
          <a:xfrm>
            <a:off x="1056559" y="1452237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b * c – d / e * h </a:t>
            </a:r>
            <a:endParaRPr lang="en-US" sz="2400" b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60317-AEA7-6456-44E5-210C582F2EBB}"/>
              </a:ext>
            </a:extLst>
          </p:cNvPr>
          <p:cNvSpPr txBox="1"/>
          <p:nvPr/>
        </p:nvSpPr>
        <p:spPr>
          <a:xfrm>
            <a:off x="1049156" y="1883680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^ B – C * D + E ^ F / G</a:t>
            </a:r>
            <a:endParaRPr lang="en-US" sz="24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D99EFA-9F0F-A1D0-A3DC-84B01671109D}"/>
              </a:ext>
            </a:extLst>
          </p:cNvPr>
          <p:cNvSpPr txBox="1"/>
          <p:nvPr/>
        </p:nvSpPr>
        <p:spPr>
          <a:xfrm>
            <a:off x="1059507" y="2392502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B – C * D * E ^ F ^ G</a:t>
            </a:r>
            <a:endParaRPr lang="en-US" sz="2400" b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B66BDF-6F2A-C043-2A16-C4AB1C0DFC87}"/>
              </a:ext>
            </a:extLst>
          </p:cNvPr>
          <p:cNvSpPr txBox="1"/>
          <p:nvPr/>
        </p:nvSpPr>
        <p:spPr>
          <a:xfrm>
            <a:off x="1069853" y="2854167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2 * 3 / (2 – 1) + 5 * 3</a:t>
            </a:r>
            <a:endParaRPr lang="en-US" sz="2400" b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65E167-2730-18F0-037F-D4B4B7285F2A}"/>
              </a:ext>
            </a:extLst>
          </p:cNvPr>
          <p:cNvSpPr txBox="1"/>
          <p:nvPr/>
        </p:nvSpPr>
        <p:spPr>
          <a:xfrm>
            <a:off x="1080197" y="3271779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(B * (C – D) / E)</a:t>
            </a:r>
            <a:endParaRPr lang="en-US" sz="2400" b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22445E-5181-19F7-7897-656BF5D7DCAB}"/>
              </a:ext>
            </a:extLst>
          </p:cNvPr>
          <p:cNvSpPr txBox="1"/>
          <p:nvPr/>
        </p:nvSpPr>
        <p:spPr>
          <a:xfrm>
            <a:off x="1060966" y="3681632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/>
              <a:t>( A + B ) * C + D / ( B + A * C ) + 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713438-5685-80AC-B773-30380ABE42FF}"/>
              </a:ext>
            </a:extLst>
          </p:cNvPr>
          <p:cNvSpPr txBox="1"/>
          <p:nvPr/>
        </p:nvSpPr>
        <p:spPr>
          <a:xfrm>
            <a:off x="1089070" y="4178902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dirty="0"/>
              <a:t>((a+b^c^d)*(e+f/d))</a:t>
            </a:r>
            <a:endParaRPr lang="en-US" sz="2400" b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4AED96-87A1-A088-0580-F1B411E98571}"/>
              </a:ext>
            </a:extLst>
          </p:cNvPr>
          <p:cNvSpPr txBox="1"/>
          <p:nvPr/>
        </p:nvSpPr>
        <p:spPr>
          <a:xfrm>
            <a:off x="1090562" y="4630600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( A + B * C / D - E + F / G / ( H + I ))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219267-BFBC-DD8F-9477-507B56B4F934}"/>
              </a:ext>
            </a:extLst>
          </p:cNvPr>
          <p:cNvSpPr txBox="1"/>
          <p:nvPr/>
        </p:nvSpPr>
        <p:spPr>
          <a:xfrm>
            <a:off x="1089070" y="5074570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 a + ((b * c) / (d – e))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1FF4BF-37BA-CE8F-00C2-F72F60918FD9}"/>
              </a:ext>
            </a:extLst>
          </p:cNvPr>
          <p:cNvSpPr txBox="1"/>
          <p:nvPr/>
        </p:nvSpPr>
        <p:spPr>
          <a:xfrm>
            <a:off x="1090551" y="5546567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 A + ( B * C – (D / E – F) * G) * H</a:t>
            </a:r>
          </a:p>
        </p:txBody>
      </p:sp>
    </p:spTree>
    <p:extLst>
      <p:ext uri="{BB962C8B-B14F-4D97-AF65-F5344CB8AC3E}">
        <p14:creationId xmlns:p14="http://schemas.microsoft.com/office/powerpoint/2010/main" val="212176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429978" y="1822305"/>
            <a:ext cx="36000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Infix to Prefix Conversion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98856" y="951238"/>
            <a:ext cx="11160000" cy="70788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Reverse the infix expression. </a:t>
            </a:r>
          </a:p>
          <a:p>
            <a:r>
              <a:rPr lang="en-US" sz="2000" dirty="0"/>
              <a:t>Note : while reversing </a:t>
            </a:r>
            <a:r>
              <a:rPr lang="en-US" sz="2000" b="1" dirty="0"/>
              <a:t>each ‘(‘ will become ‘)’ </a:t>
            </a:r>
            <a:r>
              <a:rPr lang="en-US" sz="2000" dirty="0"/>
              <a:t>and each </a:t>
            </a:r>
            <a:r>
              <a:rPr lang="en-US" sz="2000" b="1" dirty="0"/>
              <a:t>‘)’ becomes ‘(‘</a:t>
            </a:r>
            <a:r>
              <a:rPr lang="en-US" sz="20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856" y="951240"/>
            <a:ext cx="36000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8856" y="1813971"/>
            <a:ext cx="11160000" cy="163121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Convert the reversed infix expression to </a:t>
            </a:r>
            <a:r>
              <a:rPr lang="en-US" sz="2000" b="1" dirty="0"/>
              <a:t>“nearly” postfix </a:t>
            </a:r>
            <a:r>
              <a:rPr lang="en-US" sz="2000" dirty="0"/>
              <a:t>expression.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While converting, </a:t>
            </a:r>
            <a:r>
              <a:rPr lang="en-US" sz="2000" b="1" dirty="0"/>
              <a:t>instead of popping operators with greater than or equal precedence</a:t>
            </a:r>
            <a:r>
              <a:rPr lang="en-US" sz="2000" dirty="0"/>
              <a:t>, here we will </a:t>
            </a:r>
            <a:r>
              <a:rPr lang="en-US" sz="2000" b="1" dirty="0"/>
              <a:t>only pop the operators from stack that have greater precedence</a:t>
            </a:r>
            <a:r>
              <a:rPr lang="en-US" sz="2000" dirty="0"/>
              <a:t>. (</a:t>
            </a:r>
            <a:r>
              <a:rPr lang="en-US" sz="2000" b="1" dirty="0"/>
              <a:t>except ^ : same or higher </a:t>
            </a:r>
            <a:r>
              <a:rPr lang="en-US" sz="2000" dirty="0"/>
              <a:t>precedence operators)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Push the operator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8856" y="3514753"/>
            <a:ext cx="11160000" cy="40011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Reverse the postfix expression.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856" y="3514759"/>
            <a:ext cx="36000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0020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8" grpId="0" animBg="1"/>
      <p:bldP spid="9" grpId="0" animBg="1"/>
      <p:bldP spid="12" grpId="0" animBg="1"/>
      <p:bldP spid="1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Convert Infix to Prefix Expression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325007"/>
              </p:ext>
            </p:extLst>
          </p:nvPr>
        </p:nvGraphicFramePr>
        <p:xfrm>
          <a:off x="248771" y="826341"/>
          <a:ext cx="11694458" cy="43277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45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2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9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7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327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Input precedence</a:t>
                      </a:r>
                      <a:b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function (F)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Stack precedence</a:t>
                      </a:r>
                      <a:b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function (G)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Rank function (R)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+, -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libri"/>
                          <a:ea typeface="Calibri"/>
                          <a:cs typeface="Shruti"/>
                        </a:rPr>
                        <a:t>2</a:t>
                      </a: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4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*, /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24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24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^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sz="24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24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Variables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7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8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9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8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05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Infix to Postfix &amp; Prefix Conversion : Exercise 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969A1A0-0107-6EA8-7043-8E880963A5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227631"/>
              </p:ext>
            </p:extLst>
          </p:nvPr>
        </p:nvGraphicFramePr>
        <p:xfrm>
          <a:off x="336039" y="911812"/>
          <a:ext cx="8243752" cy="5029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39232">
                  <a:extLst>
                    <a:ext uri="{9D8B030D-6E8A-4147-A177-3AD203B41FA5}">
                      <a16:colId xmlns:a16="http://schemas.microsoft.com/office/drawing/2014/main" val="85069131"/>
                    </a:ext>
                  </a:extLst>
                </a:gridCol>
                <a:gridCol w="7604520">
                  <a:extLst>
                    <a:ext uri="{9D8B030D-6E8A-4147-A177-3AD203B41FA5}">
                      <a16:colId xmlns:a16="http://schemas.microsoft.com/office/drawing/2014/main" val="1046304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Sr.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  Infix Expressions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335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53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87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29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82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2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067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57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92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772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08565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0087BA3-0609-F817-1042-34495FDB4C2E}"/>
              </a:ext>
            </a:extLst>
          </p:cNvPr>
          <p:cNvSpPr txBox="1"/>
          <p:nvPr/>
        </p:nvSpPr>
        <p:spPr>
          <a:xfrm>
            <a:off x="1191391" y="1376037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b * c – d / e * h </a:t>
            </a:r>
            <a:endParaRPr lang="en-US" sz="2400" b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60317-AEA7-6456-44E5-210C582F2EBB}"/>
              </a:ext>
            </a:extLst>
          </p:cNvPr>
          <p:cNvSpPr txBox="1"/>
          <p:nvPr/>
        </p:nvSpPr>
        <p:spPr>
          <a:xfrm>
            <a:off x="1183988" y="1807480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^ B – C * D + E ^ F / G</a:t>
            </a:r>
            <a:endParaRPr lang="en-US" sz="24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D99EFA-9F0F-A1D0-A3DC-84B01671109D}"/>
              </a:ext>
            </a:extLst>
          </p:cNvPr>
          <p:cNvSpPr txBox="1"/>
          <p:nvPr/>
        </p:nvSpPr>
        <p:spPr>
          <a:xfrm>
            <a:off x="1194339" y="2316302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B – C * D * E ^ F ^ G</a:t>
            </a:r>
            <a:endParaRPr lang="en-US" sz="2400" b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B66BDF-6F2A-C043-2A16-C4AB1C0DFC87}"/>
              </a:ext>
            </a:extLst>
          </p:cNvPr>
          <p:cNvSpPr txBox="1"/>
          <p:nvPr/>
        </p:nvSpPr>
        <p:spPr>
          <a:xfrm>
            <a:off x="1204685" y="2777967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2 * 3 / (2 – 1) + 5 * 3</a:t>
            </a:r>
            <a:endParaRPr lang="en-US" sz="2400" b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65E167-2730-18F0-037F-D4B4B7285F2A}"/>
              </a:ext>
            </a:extLst>
          </p:cNvPr>
          <p:cNvSpPr txBox="1"/>
          <p:nvPr/>
        </p:nvSpPr>
        <p:spPr>
          <a:xfrm>
            <a:off x="1215029" y="3195579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(B * (C – D) / E)</a:t>
            </a:r>
            <a:endParaRPr lang="en-US" sz="2400" b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22445E-5181-19F7-7897-656BF5D7DCAB}"/>
              </a:ext>
            </a:extLst>
          </p:cNvPr>
          <p:cNvSpPr txBox="1"/>
          <p:nvPr/>
        </p:nvSpPr>
        <p:spPr>
          <a:xfrm>
            <a:off x="1195798" y="3605432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/>
              <a:t>( A + B ) * C + D / ( B + A * C ) + 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713438-5685-80AC-B773-30380ABE42FF}"/>
              </a:ext>
            </a:extLst>
          </p:cNvPr>
          <p:cNvSpPr txBox="1"/>
          <p:nvPr/>
        </p:nvSpPr>
        <p:spPr>
          <a:xfrm>
            <a:off x="1223902" y="4102702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dirty="0"/>
              <a:t>((a+b^c^d)*(e+f/d))</a:t>
            </a:r>
            <a:endParaRPr lang="en-US" sz="2400" b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4AED96-87A1-A088-0580-F1B411E98571}"/>
              </a:ext>
            </a:extLst>
          </p:cNvPr>
          <p:cNvSpPr txBox="1"/>
          <p:nvPr/>
        </p:nvSpPr>
        <p:spPr>
          <a:xfrm>
            <a:off x="1225394" y="4554400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( A + B * C / D - E + F / G / ( H + I ))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219267-BFBC-DD8F-9477-507B56B4F934}"/>
              </a:ext>
            </a:extLst>
          </p:cNvPr>
          <p:cNvSpPr txBox="1"/>
          <p:nvPr/>
        </p:nvSpPr>
        <p:spPr>
          <a:xfrm>
            <a:off x="1223902" y="4998370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 a + ((b * c) / (d – e))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1FF4BF-37BA-CE8F-00C2-F72F60918FD9}"/>
              </a:ext>
            </a:extLst>
          </p:cNvPr>
          <p:cNvSpPr txBox="1"/>
          <p:nvPr/>
        </p:nvSpPr>
        <p:spPr>
          <a:xfrm>
            <a:off x="1225383" y="5470367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 A + ( B * C – (D / E – F) * G) * H</a:t>
            </a:r>
          </a:p>
        </p:txBody>
      </p:sp>
    </p:spTree>
    <p:extLst>
      <p:ext uri="{BB962C8B-B14F-4D97-AF65-F5344CB8AC3E}">
        <p14:creationId xmlns:p14="http://schemas.microsoft.com/office/powerpoint/2010/main" val="7692534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: Infix to Prefix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969A1A0-0107-6EA8-7043-8E880963A5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4347128"/>
              </p:ext>
            </p:extLst>
          </p:nvPr>
        </p:nvGraphicFramePr>
        <p:xfrm>
          <a:off x="157887" y="911811"/>
          <a:ext cx="9830844" cy="5029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69426">
                  <a:extLst>
                    <a:ext uri="{9D8B030D-6E8A-4147-A177-3AD203B41FA5}">
                      <a16:colId xmlns:a16="http://schemas.microsoft.com/office/drawing/2014/main" val="85069131"/>
                    </a:ext>
                  </a:extLst>
                </a:gridCol>
                <a:gridCol w="4921112">
                  <a:extLst>
                    <a:ext uri="{9D8B030D-6E8A-4147-A177-3AD203B41FA5}">
                      <a16:colId xmlns:a16="http://schemas.microsoft.com/office/drawing/2014/main" val="1046304600"/>
                    </a:ext>
                  </a:extLst>
                </a:gridCol>
                <a:gridCol w="4140306">
                  <a:extLst>
                    <a:ext uri="{9D8B030D-6E8A-4147-A177-3AD203B41FA5}">
                      <a16:colId xmlns:a16="http://schemas.microsoft.com/office/drawing/2014/main" val="2312024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Sr.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Infix Expressions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Prefix Expressions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6335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- + a * b c * / d e 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353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+ - ^ A</a:t>
                      </a:r>
                      <a:r>
                        <a:rPr lang="en-US" sz="2400" b="0" baseline="0" dirty="0"/>
                        <a:t> B * C D / ^ E F G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187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- + A B * * C D ^  E ^ F 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729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+</a:t>
                      </a:r>
                      <a:r>
                        <a:rPr lang="en-US" sz="2400" b="0" baseline="0" dirty="0"/>
                        <a:t> / * 2 3 – 2  1 * 5 3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4682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/>
                        <a:t>+ A / * B – C D E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32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+ + * + A</a:t>
                      </a:r>
                      <a:r>
                        <a:rPr lang="en-US" sz="2400" b="0" baseline="0" dirty="0"/>
                        <a:t> B C / D + B * A C D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3067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* + </a:t>
                      </a:r>
                      <a:r>
                        <a:rPr lang="en-US" sz="2400" b="0" baseline="0" dirty="0"/>
                        <a:t>a ^ b ^ c d + e / f d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357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+ - + A /</a:t>
                      </a:r>
                      <a:r>
                        <a:rPr lang="en-US" sz="2400" b="0" baseline="0" dirty="0"/>
                        <a:t> * B C D E / / F G + H I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892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+ a / * b c – d 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1772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+ A * - * B C * - / D E F G 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308565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0087BA3-0609-F817-1042-34495FDB4C2E}"/>
              </a:ext>
            </a:extLst>
          </p:cNvPr>
          <p:cNvSpPr txBox="1"/>
          <p:nvPr/>
        </p:nvSpPr>
        <p:spPr>
          <a:xfrm>
            <a:off x="967659" y="1376037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b * c – d / e * h </a:t>
            </a:r>
            <a:endParaRPr lang="en-US" sz="2400" b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60317-AEA7-6456-44E5-210C582F2EBB}"/>
              </a:ext>
            </a:extLst>
          </p:cNvPr>
          <p:cNvSpPr txBox="1"/>
          <p:nvPr/>
        </p:nvSpPr>
        <p:spPr>
          <a:xfrm>
            <a:off x="960256" y="1807480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^ B – C * D + E ^ F / G</a:t>
            </a:r>
            <a:endParaRPr lang="en-US" sz="24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D99EFA-9F0F-A1D0-A3DC-84B01671109D}"/>
              </a:ext>
            </a:extLst>
          </p:cNvPr>
          <p:cNvSpPr txBox="1"/>
          <p:nvPr/>
        </p:nvSpPr>
        <p:spPr>
          <a:xfrm>
            <a:off x="970607" y="2316302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B – C * D * E ^ F ^ G</a:t>
            </a:r>
            <a:endParaRPr lang="en-US" sz="2400" b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B66BDF-6F2A-C043-2A16-C4AB1C0DFC87}"/>
              </a:ext>
            </a:extLst>
          </p:cNvPr>
          <p:cNvSpPr txBox="1"/>
          <p:nvPr/>
        </p:nvSpPr>
        <p:spPr>
          <a:xfrm>
            <a:off x="980953" y="2777967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2 * 3 / (2 – 1) + 5 * 3</a:t>
            </a:r>
            <a:endParaRPr lang="en-US" sz="2400" b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65E167-2730-18F0-037F-D4B4B7285F2A}"/>
              </a:ext>
            </a:extLst>
          </p:cNvPr>
          <p:cNvSpPr txBox="1"/>
          <p:nvPr/>
        </p:nvSpPr>
        <p:spPr>
          <a:xfrm>
            <a:off x="991297" y="3195579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(B * (C – D) / E)</a:t>
            </a:r>
            <a:endParaRPr lang="en-US" sz="2400" b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22445E-5181-19F7-7897-656BF5D7DCAB}"/>
              </a:ext>
            </a:extLst>
          </p:cNvPr>
          <p:cNvSpPr txBox="1"/>
          <p:nvPr/>
        </p:nvSpPr>
        <p:spPr>
          <a:xfrm>
            <a:off x="972066" y="3605432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/>
              <a:t>( A + B ) * C + D / ( B + A * C ) + 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713438-5685-80AC-B773-30380ABE42FF}"/>
              </a:ext>
            </a:extLst>
          </p:cNvPr>
          <p:cNvSpPr txBox="1"/>
          <p:nvPr/>
        </p:nvSpPr>
        <p:spPr>
          <a:xfrm>
            <a:off x="1000170" y="4102702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dirty="0"/>
              <a:t>((a+b^c^d)*(e+f/d))</a:t>
            </a:r>
            <a:endParaRPr lang="en-US" sz="2400" b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4AED96-87A1-A088-0580-F1B411E98571}"/>
              </a:ext>
            </a:extLst>
          </p:cNvPr>
          <p:cNvSpPr txBox="1"/>
          <p:nvPr/>
        </p:nvSpPr>
        <p:spPr>
          <a:xfrm>
            <a:off x="1001662" y="4554400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( A + B * C / D - E + F / G / ( H + I ))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219267-BFBC-DD8F-9477-507B56B4F934}"/>
              </a:ext>
            </a:extLst>
          </p:cNvPr>
          <p:cNvSpPr txBox="1"/>
          <p:nvPr/>
        </p:nvSpPr>
        <p:spPr>
          <a:xfrm>
            <a:off x="1000170" y="4998370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 a + ((b * c) / (d – e))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1FF4BF-37BA-CE8F-00C2-F72F60918FD9}"/>
              </a:ext>
            </a:extLst>
          </p:cNvPr>
          <p:cNvSpPr txBox="1"/>
          <p:nvPr/>
        </p:nvSpPr>
        <p:spPr>
          <a:xfrm>
            <a:off x="1001651" y="5470367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 A + ( B * C – (D / E – F) * G) * H</a:t>
            </a:r>
          </a:p>
        </p:txBody>
      </p:sp>
    </p:spTree>
    <p:extLst>
      <p:ext uri="{BB962C8B-B14F-4D97-AF65-F5344CB8AC3E}">
        <p14:creationId xmlns:p14="http://schemas.microsoft.com/office/powerpoint/2010/main" val="12392463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Infix to Postfix Conversion : Exercise (Solution)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969A1A0-0107-6EA8-7043-8E880963A5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0037425"/>
              </p:ext>
            </p:extLst>
          </p:nvPr>
        </p:nvGraphicFramePr>
        <p:xfrm>
          <a:off x="279891" y="925968"/>
          <a:ext cx="9379676" cy="5029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4115">
                  <a:extLst>
                    <a:ext uri="{9D8B030D-6E8A-4147-A177-3AD203B41FA5}">
                      <a16:colId xmlns:a16="http://schemas.microsoft.com/office/drawing/2014/main" val="85069131"/>
                    </a:ext>
                  </a:extLst>
                </a:gridCol>
                <a:gridCol w="4581704">
                  <a:extLst>
                    <a:ext uri="{9D8B030D-6E8A-4147-A177-3AD203B41FA5}">
                      <a16:colId xmlns:a16="http://schemas.microsoft.com/office/drawing/2014/main" val="1046304600"/>
                    </a:ext>
                  </a:extLst>
                </a:gridCol>
                <a:gridCol w="4063857">
                  <a:extLst>
                    <a:ext uri="{9D8B030D-6E8A-4147-A177-3AD203B41FA5}">
                      <a16:colId xmlns:a16="http://schemas.microsoft.com/office/drawing/2014/main" val="2312024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Sr.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Infix Expressions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Postfix Expression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335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  <a:r>
                        <a:rPr lang="en-US" sz="2400" baseline="0" dirty="0"/>
                        <a:t> b c * + d e / h * -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53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 B ^ C D * - E F ^ G / +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87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 B + C D * E F</a:t>
                      </a:r>
                      <a:r>
                        <a:rPr lang="en-US" sz="2400" baseline="0" dirty="0"/>
                        <a:t> G ^ ^ * -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29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 3 * 2 1 - / 5 3 * +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82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 B C D - * E / +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2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 B + C * D B A C * + / + D +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067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0" dirty="0"/>
                        <a:t> b c d ^ ^ + e f d / + *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57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 B C * D / + E - F G / H I + / +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92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  <a:r>
                        <a:rPr lang="en-US" sz="2400" baseline="0" dirty="0"/>
                        <a:t> b c * d e - / +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772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 B C * D E / F – G * - H * +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08565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0087BA3-0609-F817-1042-34495FDB4C2E}"/>
              </a:ext>
            </a:extLst>
          </p:cNvPr>
          <p:cNvSpPr txBox="1"/>
          <p:nvPr/>
        </p:nvSpPr>
        <p:spPr>
          <a:xfrm>
            <a:off x="967659" y="1376037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b * c – d / e * h </a:t>
            </a:r>
            <a:endParaRPr lang="en-US" sz="2400" b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60317-AEA7-6456-44E5-210C582F2EBB}"/>
              </a:ext>
            </a:extLst>
          </p:cNvPr>
          <p:cNvSpPr txBox="1"/>
          <p:nvPr/>
        </p:nvSpPr>
        <p:spPr>
          <a:xfrm>
            <a:off x="960256" y="1807480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^ B – C * D + E ^ F / G</a:t>
            </a:r>
            <a:endParaRPr lang="en-US" sz="24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D99EFA-9F0F-A1D0-A3DC-84B01671109D}"/>
              </a:ext>
            </a:extLst>
          </p:cNvPr>
          <p:cNvSpPr txBox="1"/>
          <p:nvPr/>
        </p:nvSpPr>
        <p:spPr>
          <a:xfrm>
            <a:off x="970607" y="2316302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B – C * D * E ^ F ^ G</a:t>
            </a:r>
            <a:endParaRPr lang="en-US" sz="2400" b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B66BDF-6F2A-C043-2A16-C4AB1C0DFC87}"/>
              </a:ext>
            </a:extLst>
          </p:cNvPr>
          <p:cNvSpPr txBox="1"/>
          <p:nvPr/>
        </p:nvSpPr>
        <p:spPr>
          <a:xfrm>
            <a:off x="980953" y="2777967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2 * 3 / (2 – 1) + 5 * 3</a:t>
            </a:r>
            <a:endParaRPr lang="en-US" sz="2400" b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65E167-2730-18F0-037F-D4B4B7285F2A}"/>
              </a:ext>
            </a:extLst>
          </p:cNvPr>
          <p:cNvSpPr txBox="1"/>
          <p:nvPr/>
        </p:nvSpPr>
        <p:spPr>
          <a:xfrm>
            <a:off x="991297" y="3195579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(B * (C – D) / E)</a:t>
            </a:r>
            <a:endParaRPr lang="en-US" sz="2400" b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22445E-5181-19F7-7897-656BF5D7DCAB}"/>
              </a:ext>
            </a:extLst>
          </p:cNvPr>
          <p:cNvSpPr txBox="1"/>
          <p:nvPr/>
        </p:nvSpPr>
        <p:spPr>
          <a:xfrm>
            <a:off x="972066" y="3605432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/>
              <a:t>( A + B ) * C + D / ( B + A * C ) + 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713438-5685-80AC-B773-30380ABE42FF}"/>
              </a:ext>
            </a:extLst>
          </p:cNvPr>
          <p:cNvSpPr txBox="1"/>
          <p:nvPr/>
        </p:nvSpPr>
        <p:spPr>
          <a:xfrm>
            <a:off x="1000170" y="4102702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dirty="0"/>
              <a:t>((a+b^c^d)*(e+f/d))</a:t>
            </a:r>
            <a:endParaRPr lang="en-US" sz="2400" b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4AED96-87A1-A088-0580-F1B411E98571}"/>
              </a:ext>
            </a:extLst>
          </p:cNvPr>
          <p:cNvSpPr txBox="1"/>
          <p:nvPr/>
        </p:nvSpPr>
        <p:spPr>
          <a:xfrm>
            <a:off x="1001662" y="4554400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( A + B * C / D - E + F / G / ( H + I ))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219267-BFBC-DD8F-9477-507B56B4F934}"/>
              </a:ext>
            </a:extLst>
          </p:cNvPr>
          <p:cNvSpPr txBox="1"/>
          <p:nvPr/>
        </p:nvSpPr>
        <p:spPr>
          <a:xfrm>
            <a:off x="1000170" y="4998370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 a + ((b * c) / (d – e))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1FF4BF-37BA-CE8F-00C2-F72F60918FD9}"/>
              </a:ext>
            </a:extLst>
          </p:cNvPr>
          <p:cNvSpPr txBox="1"/>
          <p:nvPr/>
        </p:nvSpPr>
        <p:spPr>
          <a:xfrm>
            <a:off x="1001651" y="5470367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 A + ( B * C – (D / E – F) * G) * H</a:t>
            </a:r>
          </a:p>
        </p:txBody>
      </p:sp>
    </p:spTree>
    <p:extLst>
      <p:ext uri="{BB962C8B-B14F-4D97-AF65-F5344CB8AC3E}">
        <p14:creationId xmlns:p14="http://schemas.microsoft.com/office/powerpoint/2010/main" val="10983756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Postfix Expression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Stack Application </a:t>
            </a:r>
          </a:p>
        </p:txBody>
      </p:sp>
    </p:spTree>
    <p:extLst>
      <p:ext uri="{BB962C8B-B14F-4D97-AF65-F5344CB8AC3E}">
        <p14:creationId xmlns:p14="http://schemas.microsoft.com/office/powerpoint/2010/main" val="36711561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Evaluation of Postfix Expression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Each </a:t>
            </a:r>
            <a:r>
              <a:rPr lang="en-IN" b="1" dirty="0">
                <a:solidFill>
                  <a:srgbClr val="C00000"/>
                </a:solidFill>
              </a:rPr>
              <a:t>operator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in </a:t>
            </a:r>
            <a:r>
              <a:rPr lang="en-IN" b="1" dirty="0"/>
              <a:t>postfix </a:t>
            </a:r>
            <a:r>
              <a:rPr lang="en-IN" dirty="0"/>
              <a:t>string </a:t>
            </a:r>
            <a:r>
              <a:rPr lang="en-IN" b="1" dirty="0"/>
              <a:t>refers</a:t>
            </a:r>
            <a:r>
              <a:rPr lang="en-IN" dirty="0"/>
              <a:t> to the </a:t>
            </a:r>
            <a:r>
              <a:rPr lang="en-IN" i="1" dirty="0">
                <a:solidFill>
                  <a:srgbClr val="C00000"/>
                </a:solidFill>
              </a:rPr>
              <a:t>previous two operands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in the string.</a:t>
            </a:r>
          </a:p>
          <a:p>
            <a:r>
              <a:rPr lang="en-IN" dirty="0"/>
              <a:t>Each time we </a:t>
            </a:r>
            <a:r>
              <a:rPr lang="en-IN" b="1" dirty="0"/>
              <a:t>read</a:t>
            </a:r>
            <a:r>
              <a:rPr lang="en-IN" dirty="0"/>
              <a:t> an </a:t>
            </a:r>
            <a:r>
              <a:rPr lang="en-IN" b="1" dirty="0"/>
              <a:t>operand</a:t>
            </a:r>
            <a:r>
              <a:rPr lang="en-IN" dirty="0"/>
              <a:t>, we </a:t>
            </a:r>
            <a:r>
              <a:rPr lang="en-IN" b="1" dirty="0"/>
              <a:t>PUSH</a:t>
            </a:r>
            <a:r>
              <a:rPr lang="en-IN" dirty="0"/>
              <a:t> it onto </a:t>
            </a:r>
            <a:r>
              <a:rPr lang="en-IN" b="1" dirty="0"/>
              <a:t>Stack</a:t>
            </a:r>
            <a:r>
              <a:rPr lang="en-IN" dirty="0"/>
              <a:t>.</a:t>
            </a:r>
          </a:p>
          <a:p>
            <a:r>
              <a:rPr lang="en-IN" dirty="0"/>
              <a:t>When we reach an </a:t>
            </a:r>
            <a:r>
              <a:rPr lang="en-IN" b="1" dirty="0"/>
              <a:t>operator</a:t>
            </a:r>
            <a:r>
              <a:rPr lang="en-IN" dirty="0"/>
              <a:t>, its </a:t>
            </a:r>
            <a:r>
              <a:rPr lang="en-IN" b="1" dirty="0"/>
              <a:t>operands</a:t>
            </a:r>
            <a:r>
              <a:rPr lang="en-IN" dirty="0"/>
              <a:t> will be </a:t>
            </a:r>
            <a:r>
              <a:rPr lang="en-IN" b="1" dirty="0"/>
              <a:t>top two elements</a:t>
            </a:r>
            <a:r>
              <a:rPr lang="en-IN" dirty="0"/>
              <a:t> on the stack.</a:t>
            </a:r>
          </a:p>
          <a:p>
            <a:r>
              <a:rPr lang="en-IN" dirty="0"/>
              <a:t>We can then </a:t>
            </a:r>
            <a:r>
              <a:rPr lang="en-IN" b="1" dirty="0"/>
              <a:t>POP</a:t>
            </a:r>
            <a:r>
              <a:rPr lang="en-IN" dirty="0"/>
              <a:t> these two elements, perform the indicated operation on them and PUSH the result on the stack so that it will available for use as an operand for the next operator.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310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Evaluation of Postfix Expression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000" y="803562"/>
            <a:ext cx="115200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Evaluate Expression: 5 6 2 - +</a:t>
            </a:r>
            <a:endParaRPr lang="en-US" sz="24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125058"/>
              </p:ext>
            </p:extLst>
          </p:nvPr>
        </p:nvGraphicFramePr>
        <p:xfrm>
          <a:off x="1814943" y="1896684"/>
          <a:ext cx="6858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33943" y="1485787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Empty Stack</a:t>
            </a:r>
            <a:endParaRPr lang="en-US" sz="2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109080"/>
              </p:ext>
            </p:extLst>
          </p:nvPr>
        </p:nvGraphicFramePr>
        <p:xfrm>
          <a:off x="5486400" y="1896684"/>
          <a:ext cx="6858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2774008" y="3121672"/>
            <a:ext cx="2483792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67000" y="1896684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Read 5, is it operand? PUSH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486400" y="2941558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5</a:t>
            </a:r>
            <a:endParaRPr lang="en-US" sz="28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667000" y="229422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Read 6, is it operand? PUSH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486400" y="257827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6</a:t>
            </a:r>
            <a:endParaRPr lang="en-US" sz="28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667000" y="269177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Read 2, is it operand? PUSH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486400" y="2204876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2</a:t>
            </a:r>
            <a:endParaRPr lang="en-US" sz="2800" b="1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835975"/>
              </p:ext>
            </p:extLst>
          </p:nvPr>
        </p:nvGraphicFramePr>
        <p:xfrm>
          <a:off x="9220200" y="1896684"/>
          <a:ext cx="6858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0" name="Straight Arrow Connector 19"/>
          <p:cNvCxnSpPr/>
          <p:nvPr/>
        </p:nvCxnSpPr>
        <p:spPr>
          <a:xfrm>
            <a:off x="6355408" y="2667000"/>
            <a:ext cx="2483792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03932" y="1529485"/>
            <a:ext cx="2790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Read </a:t>
            </a:r>
            <a:r>
              <a:rPr lang="en-IN" sz="2800" b="1" dirty="0">
                <a:solidFill>
                  <a:srgbClr val="FF0000"/>
                </a:solidFill>
              </a:rPr>
              <a:t>–</a:t>
            </a:r>
            <a:r>
              <a:rPr lang="en-IN" b="1" dirty="0"/>
              <a:t> , is it operator? POP two symbols and perform operation and PUSH result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324600" y="3126501"/>
            <a:ext cx="11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Operand 1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7902104" y="3124890"/>
            <a:ext cx="11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Operand 2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7444904" y="2935070"/>
            <a:ext cx="461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–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10472" y="2952465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5</a:t>
            </a:r>
            <a:endParaRPr lang="en-US" sz="28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9210472" y="2579449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4</a:t>
            </a:r>
            <a:endParaRPr lang="en-US" sz="2800" b="1" dirty="0"/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85200"/>
              </p:ext>
            </p:extLst>
          </p:nvPr>
        </p:nvGraphicFramePr>
        <p:xfrm>
          <a:off x="5486400" y="4024745"/>
          <a:ext cx="6858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9" name="Straight Connector 28"/>
          <p:cNvCxnSpPr/>
          <p:nvPr/>
        </p:nvCxnSpPr>
        <p:spPr>
          <a:xfrm>
            <a:off x="9553372" y="3581400"/>
            <a:ext cx="0" cy="1219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6705600" y="4800600"/>
            <a:ext cx="2847772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93958" y="3699161"/>
            <a:ext cx="30379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Read </a:t>
            </a:r>
            <a:r>
              <a:rPr lang="en-IN" sz="2800" b="1" dirty="0">
                <a:solidFill>
                  <a:srgbClr val="FF0000"/>
                </a:solidFill>
              </a:rPr>
              <a:t>+</a:t>
            </a:r>
            <a:r>
              <a:rPr lang="en-IN" b="1" dirty="0"/>
              <a:t> , is it operator? POP two symbols and perform operation and PUSH result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6827192" y="5336301"/>
            <a:ext cx="11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Operand 1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8404696" y="5334690"/>
            <a:ext cx="11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Operand 2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7947496" y="5144870"/>
            <a:ext cx="461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rgbClr val="FF0000"/>
                </a:solidFill>
              </a:rPr>
              <a:t>+</a:t>
            </a:r>
            <a:endParaRPr lang="en-US" sz="4000" dirty="0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3048000" y="5105400"/>
            <a:ext cx="22098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752600" y="4191001"/>
            <a:ext cx="914400" cy="819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TextBox 38"/>
          <p:cNvSpPr txBox="1"/>
          <p:nvPr/>
        </p:nvSpPr>
        <p:spPr>
          <a:xfrm>
            <a:off x="2836358" y="4061972"/>
            <a:ext cx="25276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Read next symbol, if it is end of string, POP answer from Stack</a:t>
            </a:r>
            <a:endParaRPr lang="en-US" sz="20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716741" y="5105400"/>
            <a:ext cx="1021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Answer</a:t>
            </a:r>
            <a:endParaRPr lang="en-US" sz="20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0" y="5097297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9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4436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5047 L -3.33333E-6 -0.00047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19583 L -3.33333E-6 -0.00139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12362 L -3.33333E-6 4.44444E-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7.40741E-7 L 0.2112 0.06945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60" y="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7037E-7 L 0.08191 0.0162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89" y="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0.15833 L 5E-6 1.11111E-6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3.7037E-7 L -0.05794 0.33611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4" y="16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0.18138 0.28171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76" y="1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0.2544 L 8.33333E-7 -0.0044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0.0044 L -0.29609 -0.1125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05" y="-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2" grpId="0"/>
      <p:bldP spid="14" grpId="0"/>
      <p:bldP spid="14" grpId="1"/>
      <p:bldP spid="15" grpId="0"/>
      <p:bldP spid="16" grpId="0"/>
      <p:bldP spid="16" grpId="1"/>
      <p:bldP spid="16" grpId="2"/>
      <p:bldP spid="17" grpId="0"/>
      <p:bldP spid="18" grpId="0"/>
      <p:bldP spid="18" grpId="1"/>
      <p:bldP spid="18" grpId="2"/>
      <p:bldP spid="21" grpId="0"/>
      <p:bldP spid="22" grpId="0"/>
      <p:bldP spid="23" grpId="0"/>
      <p:bldP spid="24" grpId="0"/>
      <p:bldP spid="25" grpId="0"/>
      <p:bldP spid="25" grpId="1"/>
      <p:bldP spid="26" grpId="0"/>
      <p:bldP spid="26" grpId="1"/>
      <p:bldP spid="26" grpId="2"/>
      <p:bldP spid="32" grpId="0"/>
      <p:bldP spid="33" grpId="0"/>
      <p:bldP spid="34" grpId="0"/>
      <p:bldP spid="35" grpId="0"/>
      <p:bldP spid="41" grpId="0" animBg="1"/>
      <p:bldP spid="39" grpId="0"/>
      <p:bldP spid="42" grpId="0"/>
      <p:bldP spid="36" grpId="0" build="allAtOnce"/>
      <p:bldP spid="36" grpId="1" build="allAtOnce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/>
            <a:r>
              <a:rPr lang="pt-BR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 Evaluation of Postfix Expression : 5,4,6,+,*,4,9,3,/,+,*</a:t>
            </a:r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7432415"/>
              </p:ext>
            </p:extLst>
          </p:nvPr>
        </p:nvGraphicFramePr>
        <p:xfrm>
          <a:off x="339523" y="825463"/>
          <a:ext cx="8953499" cy="502397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34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7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1194825094"/>
                    </a:ext>
                  </a:extLst>
                </a:gridCol>
                <a:gridCol w="1606347">
                  <a:extLst>
                    <a:ext uri="{9D8B030D-6E8A-4147-A177-3AD203B41FA5}">
                      <a16:colId xmlns:a16="http://schemas.microsoft.com/office/drawing/2014/main" val="3336022134"/>
                    </a:ext>
                  </a:extLst>
                </a:gridCol>
              </a:tblGrid>
              <a:tr h="665338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</a:t>
                      </a: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DFB64C7-0D84-1BB1-D1E9-0AD947E9F1C5}"/>
              </a:ext>
            </a:extLst>
          </p:cNvPr>
          <p:cNvSpPr txBox="1"/>
          <p:nvPr/>
        </p:nvSpPr>
        <p:spPr>
          <a:xfrm>
            <a:off x="1932091" y="1512780"/>
            <a:ext cx="52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3EC4D-D09B-7800-7888-3BF1E73088D3}"/>
              </a:ext>
            </a:extLst>
          </p:cNvPr>
          <p:cNvSpPr txBox="1"/>
          <p:nvPr/>
        </p:nvSpPr>
        <p:spPr>
          <a:xfrm>
            <a:off x="1932091" y="1937259"/>
            <a:ext cx="52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5, 4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65A13E-1182-F344-CEAF-B30264628A50}"/>
              </a:ext>
            </a:extLst>
          </p:cNvPr>
          <p:cNvSpPr txBox="1"/>
          <p:nvPr/>
        </p:nvSpPr>
        <p:spPr>
          <a:xfrm>
            <a:off x="1927453" y="2316098"/>
            <a:ext cx="98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5, 4, 6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82AC18-6A11-AEF5-48B7-E2CD16D7BFCF}"/>
              </a:ext>
            </a:extLst>
          </p:cNvPr>
          <p:cNvSpPr txBox="1"/>
          <p:nvPr/>
        </p:nvSpPr>
        <p:spPr>
          <a:xfrm>
            <a:off x="1917928" y="2691482"/>
            <a:ext cx="882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5, 10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1C390F-11D6-1A0B-27E7-32983BA013DB}"/>
              </a:ext>
            </a:extLst>
          </p:cNvPr>
          <p:cNvSpPr txBox="1"/>
          <p:nvPr/>
        </p:nvSpPr>
        <p:spPr>
          <a:xfrm>
            <a:off x="1910718" y="3090934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8C03EB-C321-D801-2954-14876F573B68}"/>
              </a:ext>
            </a:extLst>
          </p:cNvPr>
          <p:cNvSpPr txBox="1"/>
          <p:nvPr/>
        </p:nvSpPr>
        <p:spPr>
          <a:xfrm>
            <a:off x="1856640" y="3480256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50, 4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6CE067-D87B-16D5-F070-9FEDECB5C405}"/>
              </a:ext>
            </a:extLst>
          </p:cNvPr>
          <p:cNvSpPr txBox="1"/>
          <p:nvPr/>
        </p:nvSpPr>
        <p:spPr>
          <a:xfrm>
            <a:off x="4801834" y="2663153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E0988-A194-2881-6500-0ED691F2E220}"/>
              </a:ext>
            </a:extLst>
          </p:cNvPr>
          <p:cNvSpPr txBox="1"/>
          <p:nvPr/>
        </p:nvSpPr>
        <p:spPr>
          <a:xfrm>
            <a:off x="820727" y="1504312"/>
            <a:ext cx="52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176BB0-ADA5-C888-3B88-77FD4D2D5A24}"/>
              </a:ext>
            </a:extLst>
          </p:cNvPr>
          <p:cNvSpPr txBox="1"/>
          <p:nvPr/>
        </p:nvSpPr>
        <p:spPr>
          <a:xfrm>
            <a:off x="819555" y="1923970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A8AD1C-1CC6-DF95-5DE3-B526A70B8D54}"/>
              </a:ext>
            </a:extLst>
          </p:cNvPr>
          <p:cNvSpPr txBox="1"/>
          <p:nvPr/>
        </p:nvSpPr>
        <p:spPr>
          <a:xfrm>
            <a:off x="820093" y="2324901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30DFE1-AA37-1D06-D2F7-AA5405F491BA}"/>
              </a:ext>
            </a:extLst>
          </p:cNvPr>
          <p:cNvSpPr txBox="1"/>
          <p:nvPr/>
        </p:nvSpPr>
        <p:spPr>
          <a:xfrm>
            <a:off x="819555" y="2720337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71B0B5-2530-0CA7-EA1A-99900611370F}"/>
              </a:ext>
            </a:extLst>
          </p:cNvPr>
          <p:cNvSpPr txBox="1"/>
          <p:nvPr/>
        </p:nvSpPr>
        <p:spPr>
          <a:xfrm>
            <a:off x="819555" y="3101325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AC02E4-F4AD-9BCC-8CEF-573A963653DB}"/>
              </a:ext>
            </a:extLst>
          </p:cNvPr>
          <p:cNvSpPr txBox="1"/>
          <p:nvPr/>
        </p:nvSpPr>
        <p:spPr>
          <a:xfrm>
            <a:off x="819555" y="3480313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B7E9FD-96D2-E23C-96D9-6BD32A4FE795}"/>
              </a:ext>
            </a:extLst>
          </p:cNvPr>
          <p:cNvSpPr txBox="1"/>
          <p:nvPr/>
        </p:nvSpPr>
        <p:spPr>
          <a:xfrm>
            <a:off x="799871" y="3902647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73DB61-24C7-B3C7-C6F0-1415B4C2B114}"/>
              </a:ext>
            </a:extLst>
          </p:cNvPr>
          <p:cNvSpPr txBox="1"/>
          <p:nvPr/>
        </p:nvSpPr>
        <p:spPr>
          <a:xfrm>
            <a:off x="819555" y="4296891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0D00EE-9DC0-E2A7-9C76-E5713E6A6E77}"/>
              </a:ext>
            </a:extLst>
          </p:cNvPr>
          <p:cNvSpPr txBox="1"/>
          <p:nvPr/>
        </p:nvSpPr>
        <p:spPr>
          <a:xfrm>
            <a:off x="819555" y="4706734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348A74-66A7-E52E-FB1B-241845A7F795}"/>
              </a:ext>
            </a:extLst>
          </p:cNvPr>
          <p:cNvSpPr txBox="1"/>
          <p:nvPr/>
        </p:nvSpPr>
        <p:spPr>
          <a:xfrm>
            <a:off x="834908" y="5099455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1A147B-9F71-3911-D88B-D6395F37C001}"/>
              </a:ext>
            </a:extLst>
          </p:cNvPr>
          <p:cNvSpPr txBox="1"/>
          <p:nvPr/>
        </p:nvSpPr>
        <p:spPr>
          <a:xfrm>
            <a:off x="582374" y="808683"/>
            <a:ext cx="1178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Character Scanned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4EC139-01DB-11C8-96A0-0D2BFC7093FE}"/>
              </a:ext>
            </a:extLst>
          </p:cNvPr>
          <p:cNvSpPr txBox="1"/>
          <p:nvPr/>
        </p:nvSpPr>
        <p:spPr>
          <a:xfrm>
            <a:off x="1856640" y="906388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Stack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994D0F-4B24-100C-77C9-DCB1FC4555BD}"/>
              </a:ext>
            </a:extLst>
          </p:cNvPr>
          <p:cNvSpPr txBox="1"/>
          <p:nvPr/>
        </p:nvSpPr>
        <p:spPr>
          <a:xfrm>
            <a:off x="4360365" y="898376"/>
            <a:ext cx="1161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Operand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C772E5-33E4-4C6F-B399-37E10AB771C7}"/>
              </a:ext>
            </a:extLst>
          </p:cNvPr>
          <p:cNvSpPr txBox="1"/>
          <p:nvPr/>
        </p:nvSpPr>
        <p:spPr>
          <a:xfrm>
            <a:off x="6177363" y="898376"/>
            <a:ext cx="1161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Operand 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B59A2E-5D2F-67E6-98D1-56668EE27836}"/>
              </a:ext>
            </a:extLst>
          </p:cNvPr>
          <p:cNvSpPr txBox="1"/>
          <p:nvPr/>
        </p:nvSpPr>
        <p:spPr>
          <a:xfrm>
            <a:off x="8131147" y="906388"/>
            <a:ext cx="1161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68A7A4-7194-B5F3-C20B-9A36454FF249}"/>
              </a:ext>
            </a:extLst>
          </p:cNvPr>
          <p:cNvSpPr txBox="1"/>
          <p:nvPr/>
        </p:nvSpPr>
        <p:spPr>
          <a:xfrm>
            <a:off x="833276" y="5487565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4D4E2C-FB05-045E-071B-AB6B550B1BE4}"/>
              </a:ext>
            </a:extLst>
          </p:cNvPr>
          <p:cNvSpPr txBox="1"/>
          <p:nvPr/>
        </p:nvSpPr>
        <p:spPr>
          <a:xfrm>
            <a:off x="6630835" y="2672502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893FDA-64D1-1566-D94A-73F376DC6627}"/>
              </a:ext>
            </a:extLst>
          </p:cNvPr>
          <p:cNvSpPr txBox="1"/>
          <p:nvPr/>
        </p:nvSpPr>
        <p:spPr>
          <a:xfrm>
            <a:off x="8298599" y="2662977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A6B9ED-EA2E-7E81-C513-A5017A556C81}"/>
              </a:ext>
            </a:extLst>
          </p:cNvPr>
          <p:cNvSpPr txBox="1"/>
          <p:nvPr/>
        </p:nvSpPr>
        <p:spPr>
          <a:xfrm>
            <a:off x="4776230" y="3121785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5ADCF6-625A-EC46-BD99-DEE6CB648BA7}"/>
              </a:ext>
            </a:extLst>
          </p:cNvPr>
          <p:cNvSpPr txBox="1"/>
          <p:nvPr/>
        </p:nvSpPr>
        <p:spPr>
          <a:xfrm>
            <a:off x="6630835" y="3091468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DC6731-CAF5-2C31-8B49-07759A258200}"/>
              </a:ext>
            </a:extLst>
          </p:cNvPr>
          <p:cNvSpPr txBox="1"/>
          <p:nvPr/>
        </p:nvSpPr>
        <p:spPr>
          <a:xfrm>
            <a:off x="8298599" y="3074139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62ACE6-D929-5CAB-2FD6-8027D290FA58}"/>
              </a:ext>
            </a:extLst>
          </p:cNvPr>
          <p:cNvSpPr txBox="1"/>
          <p:nvPr/>
        </p:nvSpPr>
        <p:spPr>
          <a:xfrm>
            <a:off x="1856640" y="3871358"/>
            <a:ext cx="943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50, 4, 9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4AD65B-10DB-AF54-22A6-DD16C226E7DE}"/>
              </a:ext>
            </a:extLst>
          </p:cNvPr>
          <p:cNvSpPr txBox="1"/>
          <p:nvPr/>
        </p:nvSpPr>
        <p:spPr>
          <a:xfrm>
            <a:off x="1856639" y="4262104"/>
            <a:ext cx="1178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50, 4, 9, 3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D15B35-CB20-176E-3820-61E715756E74}"/>
              </a:ext>
            </a:extLst>
          </p:cNvPr>
          <p:cNvSpPr txBox="1"/>
          <p:nvPr/>
        </p:nvSpPr>
        <p:spPr>
          <a:xfrm>
            <a:off x="1856639" y="4683578"/>
            <a:ext cx="1178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50, 4, 3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842179-B820-9560-9EC5-9D57A77AA831}"/>
              </a:ext>
            </a:extLst>
          </p:cNvPr>
          <p:cNvSpPr txBox="1"/>
          <p:nvPr/>
        </p:nvSpPr>
        <p:spPr>
          <a:xfrm>
            <a:off x="4776230" y="4675308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357C6C-906E-1DB4-1502-EE21BDF4C212}"/>
              </a:ext>
            </a:extLst>
          </p:cNvPr>
          <p:cNvSpPr txBox="1"/>
          <p:nvPr/>
        </p:nvSpPr>
        <p:spPr>
          <a:xfrm>
            <a:off x="6652415" y="4668069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A94534-4DD9-4D52-A35F-18089FEAA62E}"/>
              </a:ext>
            </a:extLst>
          </p:cNvPr>
          <p:cNvSpPr txBox="1"/>
          <p:nvPr/>
        </p:nvSpPr>
        <p:spPr>
          <a:xfrm>
            <a:off x="8257646" y="4675308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FEB21B-AC7D-CB3B-2FCF-22930510B6FD}"/>
              </a:ext>
            </a:extLst>
          </p:cNvPr>
          <p:cNvSpPr txBox="1"/>
          <p:nvPr/>
        </p:nvSpPr>
        <p:spPr>
          <a:xfrm>
            <a:off x="1855267" y="5054819"/>
            <a:ext cx="1178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50, 7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C15E6C-62BC-FEA1-C6CA-B430B296CDDB}"/>
              </a:ext>
            </a:extLst>
          </p:cNvPr>
          <p:cNvSpPr txBox="1"/>
          <p:nvPr/>
        </p:nvSpPr>
        <p:spPr>
          <a:xfrm>
            <a:off x="4801834" y="5089658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E8E2FF-B057-D5C5-A47D-ECF91AF50D97}"/>
              </a:ext>
            </a:extLst>
          </p:cNvPr>
          <p:cNvSpPr txBox="1"/>
          <p:nvPr/>
        </p:nvSpPr>
        <p:spPr>
          <a:xfrm>
            <a:off x="6652415" y="5056978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960A0F-CD31-377E-C1AB-9F9BC9DD9327}"/>
              </a:ext>
            </a:extLst>
          </p:cNvPr>
          <p:cNvSpPr txBox="1"/>
          <p:nvPr/>
        </p:nvSpPr>
        <p:spPr>
          <a:xfrm>
            <a:off x="8295770" y="5057420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714322-5952-DA1E-D324-506335D0C059}"/>
              </a:ext>
            </a:extLst>
          </p:cNvPr>
          <p:cNvSpPr txBox="1"/>
          <p:nvPr/>
        </p:nvSpPr>
        <p:spPr>
          <a:xfrm>
            <a:off x="1870803" y="5485770"/>
            <a:ext cx="1178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350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DF9018-C8AD-9658-89F1-B7AE3286F72A}"/>
              </a:ext>
            </a:extLst>
          </p:cNvPr>
          <p:cNvSpPr txBox="1"/>
          <p:nvPr/>
        </p:nvSpPr>
        <p:spPr>
          <a:xfrm>
            <a:off x="4801834" y="5457076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E4AB80-D775-2564-7749-72DDF4375183}"/>
              </a:ext>
            </a:extLst>
          </p:cNvPr>
          <p:cNvSpPr txBox="1"/>
          <p:nvPr/>
        </p:nvSpPr>
        <p:spPr>
          <a:xfrm>
            <a:off x="6652415" y="5475197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317B52-ACF1-E1AE-C29A-D79561D91263}"/>
              </a:ext>
            </a:extLst>
          </p:cNvPr>
          <p:cNvSpPr txBox="1"/>
          <p:nvPr/>
        </p:nvSpPr>
        <p:spPr>
          <a:xfrm>
            <a:off x="8316748" y="5506787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350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37A4145-E993-8670-9FD8-B74D91F3DDA2}"/>
              </a:ext>
            </a:extLst>
          </p:cNvPr>
          <p:cNvSpPr/>
          <p:nvPr/>
        </p:nvSpPr>
        <p:spPr>
          <a:xfrm>
            <a:off x="2908503" y="6014842"/>
            <a:ext cx="3400425" cy="52728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Answer = pop() = 350 </a:t>
            </a:r>
          </a:p>
        </p:txBody>
      </p:sp>
    </p:spTree>
    <p:extLst>
      <p:ext uri="{BB962C8B-B14F-4D97-AF65-F5344CB8AC3E}">
        <p14:creationId xmlns:p14="http://schemas.microsoft.com/office/powerpoint/2010/main" val="113827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8" grpId="0"/>
      <p:bldP spid="3" grpId="0"/>
      <p:bldP spid="1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42" grpId="0"/>
      <p:bldP spid="43" grpId="0"/>
      <p:bldP spid="44" grpId="0"/>
      <p:bldP spid="29" grpId="0"/>
      <p:bldP spid="38" grpId="0"/>
      <p:bldP spid="40" grpId="0"/>
      <p:bldP spid="41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Algorithm: EVALUATE_POSTFIX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an input string </a:t>
            </a:r>
            <a:r>
              <a:rPr lang="en-IN" b="1" dirty="0">
                <a:solidFill>
                  <a:srgbClr val="C00000"/>
                </a:solidFill>
              </a:rPr>
              <a:t>POSTFIX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representing postfix expression. </a:t>
            </a:r>
          </a:p>
          <a:p>
            <a:r>
              <a:rPr lang="en-IN" dirty="0"/>
              <a:t>This algorithm evaluates postfix expression and put the result into variable </a:t>
            </a:r>
            <a:r>
              <a:rPr lang="en-IN" b="1" dirty="0">
                <a:solidFill>
                  <a:srgbClr val="C00000"/>
                </a:solidFill>
              </a:rPr>
              <a:t>VALUE</a:t>
            </a:r>
            <a:r>
              <a:rPr lang="en-IN" dirty="0"/>
              <a:t>. </a:t>
            </a:r>
          </a:p>
          <a:p>
            <a:r>
              <a:rPr lang="en-IN" dirty="0"/>
              <a:t>Stack is represented by a vector </a:t>
            </a:r>
            <a:r>
              <a:rPr lang="en-IN" b="1" dirty="0">
                <a:solidFill>
                  <a:srgbClr val="C00000"/>
                </a:solidFill>
              </a:rPr>
              <a:t>S, TOP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denotes the top of the stack, Algorithm </a:t>
            </a:r>
            <a:r>
              <a:rPr lang="en-IN" b="1" dirty="0">
                <a:solidFill>
                  <a:srgbClr val="C00000"/>
                </a:solidFill>
              </a:rPr>
              <a:t>PUSH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POP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dirty="0"/>
              <a:t>are used for stack manipulation.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dirty="0"/>
              <a:t>Function </a:t>
            </a:r>
            <a:r>
              <a:rPr lang="en-IN" b="1" dirty="0">
                <a:solidFill>
                  <a:srgbClr val="C00000"/>
                </a:solidFill>
              </a:rPr>
              <a:t>NEXTCHAR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returns the next symbol in given input string.</a:t>
            </a:r>
          </a:p>
          <a:p>
            <a:r>
              <a:rPr lang="en-IN" b="1" dirty="0">
                <a:solidFill>
                  <a:srgbClr val="C00000"/>
                </a:solidFill>
              </a:rPr>
              <a:t>OPERAND1</a:t>
            </a:r>
            <a:r>
              <a:rPr lang="en-IN" dirty="0"/>
              <a:t>, </a:t>
            </a:r>
            <a:r>
              <a:rPr lang="en-IN" b="1" dirty="0">
                <a:solidFill>
                  <a:srgbClr val="C00000"/>
                </a:solidFill>
              </a:rPr>
              <a:t>OPERAND2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TEMP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are used for temporary variables </a:t>
            </a:r>
          </a:p>
          <a:p>
            <a:r>
              <a:rPr lang="en-IN" b="1" dirty="0">
                <a:solidFill>
                  <a:srgbClr val="C00000"/>
                </a:solidFill>
              </a:rPr>
              <a:t>PERFORM_OPERATION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a function which performs required operation on </a:t>
            </a:r>
            <a:r>
              <a:rPr lang="en-IN" b="1" dirty="0"/>
              <a:t>OPERAND1</a:t>
            </a:r>
            <a:r>
              <a:rPr lang="en-IN" dirty="0"/>
              <a:t> &amp; </a:t>
            </a:r>
            <a:r>
              <a:rPr lang="en-IN" b="1" dirty="0"/>
              <a:t>OPERAND2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48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Algorithm: EVALUATE_POSTFIX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6000" y="804648"/>
            <a:ext cx="1152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[Initialize Stack]</a:t>
            </a:r>
          </a:p>
          <a:p>
            <a:r>
              <a:rPr lang="en-IN" sz="2000" b="1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TOP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-1</a:t>
            </a:r>
            <a:endParaRPr lang="en-US" sz="2000" dirty="0">
              <a:latin typeface="Consolas" pitchFamily="49" charset="0"/>
              <a:cs typeface="Consolas" pitchFamily="49" charset="0"/>
            </a:endParaRP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VALUE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000" y="1886761"/>
            <a:ext cx="115200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[Evaluate the postfix expression]</a:t>
            </a:r>
          </a:p>
          <a:p>
            <a:pPr marL="450850"/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 until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 last character</a:t>
            </a:r>
          </a:p>
          <a:p>
            <a:pPr marL="900113"/>
            <a:r>
              <a:rPr lang="en-IN" sz="2000" dirty="0">
                <a:latin typeface="Consolas" pitchFamily="49" charset="0"/>
                <a:cs typeface="Consolas" pitchFamily="49" charset="0"/>
              </a:rPr>
              <a:t>TEMP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NEXTCHAR (POSTFIX)</a:t>
            </a:r>
          </a:p>
          <a:p>
            <a:pPr marL="900113"/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 TEMP is DIGIT</a:t>
            </a:r>
          </a:p>
          <a:p>
            <a:pPr marL="900113"/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0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PUSH (S, TOP, TEMP)</a:t>
            </a:r>
          </a:p>
          <a:p>
            <a:pPr marL="900113"/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20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OPERAND2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POP (S, TOP)</a:t>
            </a:r>
          </a:p>
          <a:p>
            <a:pPr marL="900113"/>
            <a:r>
              <a:rPr lang="en-IN" sz="2000" dirty="0">
                <a:latin typeface="Consolas" pitchFamily="49" charset="0"/>
                <a:cs typeface="Consolas" pitchFamily="49" charset="0"/>
              </a:rPr>
              <a:t>     OPERAND1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POP (S, TOP)</a:t>
            </a:r>
          </a:p>
          <a:p>
            <a:pPr marL="900113"/>
            <a:r>
              <a:rPr lang="en-IN" sz="2000" dirty="0">
                <a:latin typeface="Consolas" pitchFamily="49" charset="0"/>
                <a:cs typeface="Consolas" pitchFamily="49" charset="0"/>
              </a:rPr>
              <a:t>     VALUE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PERFORM_OPERATION(OPERAND1, OPERAND2, TEMP)</a:t>
            </a:r>
          </a:p>
          <a:p>
            <a:pPr marL="900113"/>
            <a:r>
              <a:rPr lang="en-IN" sz="2000" dirty="0">
                <a:latin typeface="Consolas" pitchFamily="49" charset="0"/>
                <a:cs typeface="Consolas" pitchFamily="49" charset="0"/>
              </a:rPr>
              <a:t>     PUSH (S, TOP, 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000" y="4827114"/>
            <a:ext cx="11520000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[Return answer from stack]    </a:t>
            </a:r>
          </a:p>
          <a:p>
            <a:r>
              <a:rPr lang="en-IN" sz="2000" b="1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Return (POP (S, TOP))</a:t>
            </a:r>
          </a:p>
        </p:txBody>
      </p:sp>
    </p:spTree>
    <p:extLst>
      <p:ext uri="{BB962C8B-B14F-4D97-AF65-F5344CB8AC3E}">
        <p14:creationId xmlns:p14="http://schemas.microsoft.com/office/powerpoint/2010/main" val="244454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: Evaluation of Postfix Expression</a:t>
            </a:r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0B05D20C-7E9C-0255-DE4C-446B23F61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883511"/>
              </p:ext>
            </p:extLst>
          </p:nvPr>
        </p:nvGraphicFramePr>
        <p:xfrm>
          <a:off x="131763" y="914400"/>
          <a:ext cx="9731328" cy="2743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54581">
                  <a:extLst>
                    <a:ext uri="{9D8B030D-6E8A-4147-A177-3AD203B41FA5}">
                      <a16:colId xmlns:a16="http://schemas.microsoft.com/office/drawing/2014/main" val="85069131"/>
                    </a:ext>
                  </a:extLst>
                </a:gridCol>
                <a:gridCol w="8976747">
                  <a:extLst>
                    <a:ext uri="{9D8B030D-6E8A-4147-A177-3AD203B41FA5}">
                      <a16:colId xmlns:a16="http://schemas.microsoft.com/office/drawing/2014/main" val="1046304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Sr.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Postfix Expressions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6335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7 5 2 + * 4 1 1 + /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353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0" dirty="0"/>
                        <a:t>12, 7, 3, -, /, 2, 1, 5, +, *, +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187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2, 3, 1, *, +, 9,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729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5, 6, 2, +, *, 12, 4, /,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4682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12, 2, /, 34, 20, -, +, 5,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328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7008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Prefix Expression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Stack Application </a:t>
            </a:r>
          </a:p>
        </p:txBody>
      </p:sp>
    </p:spTree>
    <p:extLst>
      <p:ext uri="{BB962C8B-B14F-4D97-AF65-F5344CB8AC3E}">
        <p14:creationId xmlns:p14="http://schemas.microsoft.com/office/powerpoint/2010/main" val="27666434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Algorithm: EVALUATE_PREFIX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an input string </a:t>
            </a:r>
            <a:r>
              <a:rPr lang="en-IN" b="1" dirty="0">
                <a:solidFill>
                  <a:srgbClr val="C00000"/>
                </a:solidFill>
              </a:rPr>
              <a:t>PREFIX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representing prefix expression. </a:t>
            </a:r>
          </a:p>
          <a:p>
            <a:r>
              <a:rPr lang="en-IN" dirty="0"/>
              <a:t>This algorithm evaluates prefix expression and put the result into variable </a:t>
            </a:r>
            <a:r>
              <a:rPr lang="en-IN" b="1" dirty="0">
                <a:solidFill>
                  <a:srgbClr val="C00000"/>
                </a:solidFill>
              </a:rPr>
              <a:t>VALUE</a:t>
            </a:r>
            <a:r>
              <a:rPr lang="en-IN" dirty="0"/>
              <a:t>. </a:t>
            </a:r>
          </a:p>
          <a:p>
            <a:r>
              <a:rPr lang="en-IN" dirty="0"/>
              <a:t>Stack is represented by a vector </a:t>
            </a:r>
            <a:r>
              <a:rPr lang="en-IN" b="1" dirty="0">
                <a:solidFill>
                  <a:srgbClr val="C00000"/>
                </a:solidFill>
              </a:rPr>
              <a:t>S, TOP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denotes the top of the stack, Algorithm </a:t>
            </a:r>
            <a:r>
              <a:rPr lang="en-IN" b="1" dirty="0">
                <a:solidFill>
                  <a:srgbClr val="C00000"/>
                </a:solidFill>
              </a:rPr>
              <a:t>PUSH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POP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dirty="0"/>
              <a:t>are used for stack manipulation.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dirty="0"/>
              <a:t>Function </a:t>
            </a:r>
            <a:r>
              <a:rPr lang="en-IN" b="1" dirty="0">
                <a:solidFill>
                  <a:srgbClr val="C00000"/>
                </a:solidFill>
              </a:rPr>
              <a:t>NEXTCHAR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returns the next symbol in given input string.</a:t>
            </a:r>
          </a:p>
          <a:p>
            <a:r>
              <a:rPr lang="en-IN" b="1" dirty="0">
                <a:solidFill>
                  <a:srgbClr val="C00000"/>
                </a:solidFill>
              </a:rPr>
              <a:t>OPERAND1</a:t>
            </a:r>
            <a:r>
              <a:rPr lang="en-IN" dirty="0"/>
              <a:t>, </a:t>
            </a:r>
            <a:r>
              <a:rPr lang="en-IN" b="1" dirty="0">
                <a:solidFill>
                  <a:srgbClr val="C00000"/>
                </a:solidFill>
              </a:rPr>
              <a:t>OPERAND2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TEMP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are used for temporary variables </a:t>
            </a:r>
          </a:p>
          <a:p>
            <a:r>
              <a:rPr lang="en-IN" b="1" dirty="0">
                <a:solidFill>
                  <a:srgbClr val="C00000"/>
                </a:solidFill>
              </a:rPr>
              <a:t>PERFORM_OPERATION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a function which performs required operation on </a:t>
            </a:r>
            <a:r>
              <a:rPr lang="en-IN" b="1" dirty="0"/>
              <a:t>OPERAND1</a:t>
            </a:r>
            <a:r>
              <a:rPr lang="en-IN" dirty="0"/>
              <a:t> &amp; </a:t>
            </a:r>
            <a:r>
              <a:rPr lang="en-IN" b="1" dirty="0"/>
              <a:t>OPERAND2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51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Algorithm: EVALUATE_PREFIX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6000" y="818720"/>
            <a:ext cx="1152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[Initialize Stack]</a:t>
            </a:r>
          </a:p>
          <a:p>
            <a:r>
              <a:rPr lang="en-IN" sz="2000" b="1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TOP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-1</a:t>
            </a:r>
            <a:endParaRPr lang="en-US" sz="2000" dirty="0">
              <a:latin typeface="Consolas" pitchFamily="49" charset="0"/>
              <a:cs typeface="Consolas" pitchFamily="49" charset="0"/>
            </a:endParaRP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VALUE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000" y="1900833"/>
            <a:ext cx="115200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[Evaluate the prefix expression]</a:t>
            </a:r>
          </a:p>
          <a:p>
            <a:pPr lvl="1"/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 from last character up to first</a:t>
            </a:r>
          </a:p>
          <a:p>
            <a:pPr lvl="1"/>
            <a:r>
              <a:rPr lang="en-IN" sz="20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NEXTCHAR (PREFIX)</a:t>
            </a:r>
          </a:p>
          <a:p>
            <a:pPr lvl="1"/>
            <a:r>
              <a:rPr lang="en-IN" sz="2000" b="1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   TEMP is DIGIT</a:t>
            </a:r>
          </a:p>
          <a:p>
            <a:pPr lvl="1"/>
            <a:r>
              <a:rPr lang="en-IN" sz="20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0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PUSH (S, TOP, TEMP)</a:t>
            </a:r>
          </a:p>
          <a:p>
            <a:pPr lvl="1"/>
            <a:r>
              <a:rPr lang="en-IN" sz="2000" b="1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20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OPERAND1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POP (S, TOP)</a:t>
            </a:r>
          </a:p>
          <a:p>
            <a:pPr lvl="1"/>
            <a:r>
              <a:rPr lang="en-IN" sz="2000" dirty="0">
                <a:latin typeface="Consolas" pitchFamily="49" charset="0"/>
                <a:cs typeface="Consolas" pitchFamily="49" charset="0"/>
              </a:rPr>
              <a:t>         OPERAND2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POP (S, TOP)</a:t>
            </a:r>
          </a:p>
          <a:p>
            <a:pPr lvl="1"/>
            <a:r>
              <a:rPr lang="en-IN" sz="2000" dirty="0">
                <a:latin typeface="Consolas" pitchFamily="49" charset="0"/>
                <a:cs typeface="Consolas" pitchFamily="49" charset="0"/>
              </a:rPr>
              <a:t>         VALUE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PERFORM_OPERATION(OPERAND1, OPERAND2, TEMP)</a:t>
            </a:r>
          </a:p>
          <a:p>
            <a:pPr lvl="1"/>
            <a:r>
              <a:rPr lang="en-IN" sz="2000" dirty="0">
                <a:latin typeface="Consolas" pitchFamily="49" charset="0"/>
                <a:cs typeface="Consolas" pitchFamily="49" charset="0"/>
              </a:rPr>
              <a:t>         PUSH (S, TOP, 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000" y="4841186"/>
            <a:ext cx="11520000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[Return answer from stack]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    </a:t>
            </a:r>
          </a:p>
          <a:p>
            <a:r>
              <a:rPr lang="en-IN" sz="2000" b="1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Return (POP (S, TOP))</a:t>
            </a:r>
          </a:p>
        </p:txBody>
      </p:sp>
    </p:spTree>
    <p:extLst>
      <p:ext uri="{BB962C8B-B14F-4D97-AF65-F5344CB8AC3E}">
        <p14:creationId xmlns:p14="http://schemas.microsoft.com/office/powerpoint/2010/main" val="321273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/>
            <a:r>
              <a:rPr lang="pt-BR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 Evaluation of Prefix Expression : -, *, +, 4, 3, 2, 5</a:t>
            </a:r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5360730"/>
              </p:ext>
            </p:extLst>
          </p:nvPr>
        </p:nvGraphicFramePr>
        <p:xfrm>
          <a:off x="339523" y="825463"/>
          <a:ext cx="8953499" cy="343901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34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7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1194825094"/>
                    </a:ext>
                  </a:extLst>
                </a:gridCol>
                <a:gridCol w="1606347">
                  <a:extLst>
                    <a:ext uri="{9D8B030D-6E8A-4147-A177-3AD203B41FA5}">
                      <a16:colId xmlns:a16="http://schemas.microsoft.com/office/drawing/2014/main" val="3336022134"/>
                    </a:ext>
                  </a:extLst>
                </a:gridCol>
              </a:tblGrid>
              <a:tr h="665338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</a:t>
                      </a: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DFB64C7-0D84-1BB1-D1E9-0AD947E9F1C5}"/>
              </a:ext>
            </a:extLst>
          </p:cNvPr>
          <p:cNvSpPr txBox="1"/>
          <p:nvPr/>
        </p:nvSpPr>
        <p:spPr>
          <a:xfrm>
            <a:off x="1932091" y="1512780"/>
            <a:ext cx="52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3EC4D-D09B-7800-7888-3BF1E73088D3}"/>
              </a:ext>
            </a:extLst>
          </p:cNvPr>
          <p:cNvSpPr txBox="1"/>
          <p:nvPr/>
        </p:nvSpPr>
        <p:spPr>
          <a:xfrm>
            <a:off x="1932091" y="1937259"/>
            <a:ext cx="52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5, 2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65A13E-1182-F344-CEAF-B30264628A50}"/>
              </a:ext>
            </a:extLst>
          </p:cNvPr>
          <p:cNvSpPr txBox="1"/>
          <p:nvPr/>
        </p:nvSpPr>
        <p:spPr>
          <a:xfrm>
            <a:off x="1927453" y="2316098"/>
            <a:ext cx="98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5, 2, 3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82AC18-6A11-AEF5-48B7-E2CD16D7BFCF}"/>
              </a:ext>
            </a:extLst>
          </p:cNvPr>
          <p:cNvSpPr txBox="1"/>
          <p:nvPr/>
        </p:nvSpPr>
        <p:spPr>
          <a:xfrm>
            <a:off x="1917928" y="2691482"/>
            <a:ext cx="1117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5, 2, 3, 4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1C390F-11D6-1A0B-27E7-32983BA013DB}"/>
              </a:ext>
            </a:extLst>
          </p:cNvPr>
          <p:cNvSpPr txBox="1"/>
          <p:nvPr/>
        </p:nvSpPr>
        <p:spPr>
          <a:xfrm>
            <a:off x="1910718" y="3090934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5, 2, 7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8C03EB-C321-D801-2954-14876F573B68}"/>
              </a:ext>
            </a:extLst>
          </p:cNvPr>
          <p:cNvSpPr txBox="1"/>
          <p:nvPr/>
        </p:nvSpPr>
        <p:spPr>
          <a:xfrm>
            <a:off x="1904265" y="3489781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5,14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E0988-A194-2881-6500-0ED691F2E220}"/>
              </a:ext>
            </a:extLst>
          </p:cNvPr>
          <p:cNvSpPr txBox="1"/>
          <p:nvPr/>
        </p:nvSpPr>
        <p:spPr>
          <a:xfrm>
            <a:off x="820727" y="1504312"/>
            <a:ext cx="52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176BB0-ADA5-C888-3B88-77FD4D2D5A24}"/>
              </a:ext>
            </a:extLst>
          </p:cNvPr>
          <p:cNvSpPr txBox="1"/>
          <p:nvPr/>
        </p:nvSpPr>
        <p:spPr>
          <a:xfrm>
            <a:off x="819555" y="1923970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A8AD1C-1CC6-DF95-5DE3-B526A70B8D54}"/>
              </a:ext>
            </a:extLst>
          </p:cNvPr>
          <p:cNvSpPr txBox="1"/>
          <p:nvPr/>
        </p:nvSpPr>
        <p:spPr>
          <a:xfrm>
            <a:off x="820093" y="2324901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30DFE1-AA37-1D06-D2F7-AA5405F491BA}"/>
              </a:ext>
            </a:extLst>
          </p:cNvPr>
          <p:cNvSpPr txBox="1"/>
          <p:nvPr/>
        </p:nvSpPr>
        <p:spPr>
          <a:xfrm>
            <a:off x="819555" y="2720337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71B0B5-2530-0CA7-EA1A-99900611370F}"/>
              </a:ext>
            </a:extLst>
          </p:cNvPr>
          <p:cNvSpPr txBox="1"/>
          <p:nvPr/>
        </p:nvSpPr>
        <p:spPr>
          <a:xfrm>
            <a:off x="819555" y="3101325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AC02E4-F4AD-9BCC-8CEF-573A963653DB}"/>
              </a:ext>
            </a:extLst>
          </p:cNvPr>
          <p:cNvSpPr txBox="1"/>
          <p:nvPr/>
        </p:nvSpPr>
        <p:spPr>
          <a:xfrm>
            <a:off x="819555" y="3480313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B7E9FD-96D2-E23C-96D9-6BD32A4FE795}"/>
              </a:ext>
            </a:extLst>
          </p:cNvPr>
          <p:cNvSpPr txBox="1"/>
          <p:nvPr/>
        </p:nvSpPr>
        <p:spPr>
          <a:xfrm>
            <a:off x="828446" y="3874072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1A147B-9F71-3911-D88B-D6395F37C001}"/>
              </a:ext>
            </a:extLst>
          </p:cNvPr>
          <p:cNvSpPr txBox="1"/>
          <p:nvPr/>
        </p:nvSpPr>
        <p:spPr>
          <a:xfrm>
            <a:off x="582374" y="808683"/>
            <a:ext cx="1178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Character Scanned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4EC139-01DB-11C8-96A0-0D2BFC7093FE}"/>
              </a:ext>
            </a:extLst>
          </p:cNvPr>
          <p:cNvSpPr txBox="1"/>
          <p:nvPr/>
        </p:nvSpPr>
        <p:spPr>
          <a:xfrm>
            <a:off x="1856640" y="906388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Stack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994D0F-4B24-100C-77C9-DCB1FC4555BD}"/>
              </a:ext>
            </a:extLst>
          </p:cNvPr>
          <p:cNvSpPr txBox="1"/>
          <p:nvPr/>
        </p:nvSpPr>
        <p:spPr>
          <a:xfrm>
            <a:off x="4360365" y="898376"/>
            <a:ext cx="1161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Operand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C772E5-33E4-4C6F-B399-37E10AB771C7}"/>
              </a:ext>
            </a:extLst>
          </p:cNvPr>
          <p:cNvSpPr txBox="1"/>
          <p:nvPr/>
        </p:nvSpPr>
        <p:spPr>
          <a:xfrm>
            <a:off x="6177363" y="898376"/>
            <a:ext cx="1161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Operand 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B59A2E-5D2F-67E6-98D1-56668EE27836}"/>
              </a:ext>
            </a:extLst>
          </p:cNvPr>
          <p:cNvSpPr txBox="1"/>
          <p:nvPr/>
        </p:nvSpPr>
        <p:spPr>
          <a:xfrm>
            <a:off x="8131147" y="906388"/>
            <a:ext cx="1161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Value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A6B9ED-EA2E-7E81-C513-A5017A556C81}"/>
              </a:ext>
            </a:extLst>
          </p:cNvPr>
          <p:cNvSpPr txBox="1"/>
          <p:nvPr/>
        </p:nvSpPr>
        <p:spPr>
          <a:xfrm>
            <a:off x="4776230" y="3121785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5ADCF6-625A-EC46-BD99-DEE6CB648BA7}"/>
              </a:ext>
            </a:extLst>
          </p:cNvPr>
          <p:cNvSpPr txBox="1"/>
          <p:nvPr/>
        </p:nvSpPr>
        <p:spPr>
          <a:xfrm>
            <a:off x="6630835" y="3091468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DC6731-CAF5-2C31-8B49-07759A258200}"/>
              </a:ext>
            </a:extLst>
          </p:cNvPr>
          <p:cNvSpPr txBox="1"/>
          <p:nvPr/>
        </p:nvSpPr>
        <p:spPr>
          <a:xfrm>
            <a:off x="8298599" y="3074139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62ACE6-D929-5CAB-2FD6-8027D290FA58}"/>
              </a:ext>
            </a:extLst>
          </p:cNvPr>
          <p:cNvSpPr txBox="1"/>
          <p:nvPr/>
        </p:nvSpPr>
        <p:spPr>
          <a:xfrm>
            <a:off x="1913790" y="3880883"/>
            <a:ext cx="943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37A4145-E993-8670-9FD8-B74D91F3DDA2}"/>
              </a:ext>
            </a:extLst>
          </p:cNvPr>
          <p:cNvSpPr/>
          <p:nvPr/>
        </p:nvSpPr>
        <p:spPr>
          <a:xfrm>
            <a:off x="2908503" y="4976617"/>
            <a:ext cx="3400425" cy="52728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Answer = pop() = 9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F1FE9A-610D-B1DF-DBFF-4C8767DBD1EE}"/>
              </a:ext>
            </a:extLst>
          </p:cNvPr>
          <p:cNvSpPr txBox="1"/>
          <p:nvPr/>
        </p:nvSpPr>
        <p:spPr>
          <a:xfrm>
            <a:off x="4774375" y="3502026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2077EF-EB57-ABF4-C077-4F47D260035F}"/>
              </a:ext>
            </a:extLst>
          </p:cNvPr>
          <p:cNvSpPr txBox="1"/>
          <p:nvPr/>
        </p:nvSpPr>
        <p:spPr>
          <a:xfrm>
            <a:off x="6634727" y="3502026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103722-101F-75A7-DF1C-BC64064E96B5}"/>
              </a:ext>
            </a:extLst>
          </p:cNvPr>
          <p:cNvSpPr txBox="1"/>
          <p:nvPr/>
        </p:nvSpPr>
        <p:spPr>
          <a:xfrm>
            <a:off x="8273027" y="3492501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B0E750-718A-FE1A-19FA-0A1883F27A7B}"/>
              </a:ext>
            </a:extLst>
          </p:cNvPr>
          <p:cNvSpPr txBox="1"/>
          <p:nvPr/>
        </p:nvSpPr>
        <p:spPr>
          <a:xfrm>
            <a:off x="4774375" y="3883026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16F118-E14E-6FFD-4E59-F8530B48E1CB}"/>
              </a:ext>
            </a:extLst>
          </p:cNvPr>
          <p:cNvSpPr txBox="1"/>
          <p:nvPr/>
        </p:nvSpPr>
        <p:spPr>
          <a:xfrm>
            <a:off x="6622225" y="3883026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2E84C0-FEE0-92F9-B036-427A226D3998}"/>
              </a:ext>
            </a:extLst>
          </p:cNvPr>
          <p:cNvSpPr txBox="1"/>
          <p:nvPr/>
        </p:nvSpPr>
        <p:spPr>
          <a:xfrm>
            <a:off x="8273027" y="3883026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7898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3" grpId="0"/>
      <p:bldP spid="19" grpId="0"/>
      <p:bldP spid="30" grpId="0"/>
      <p:bldP spid="31" grpId="0"/>
      <p:bldP spid="32" grpId="0"/>
      <p:bldP spid="33" grpId="0"/>
      <p:bldP spid="34" grpId="0"/>
      <p:bldP spid="42" grpId="0"/>
      <p:bldP spid="43" grpId="0"/>
      <p:bldP spid="44" grpId="0"/>
      <p:bldP spid="29" grpId="0"/>
      <p:bldP spid="38" grpId="0"/>
      <p:bldP spid="47" grpId="0"/>
      <p:bldP spid="48" grpId="0"/>
      <p:bldP spid="49" grpId="0"/>
      <p:bldP spid="50" grpId="0"/>
      <p:bldP spid="64" grpId="0" animBg="1"/>
      <p:bldP spid="15" grpId="0"/>
      <p:bldP spid="16" grpId="0"/>
      <p:bldP spid="17" grpId="0"/>
      <p:bldP spid="20" grpId="0"/>
      <p:bldP spid="21" grpId="0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: Evaluation of Prefix Expression</a:t>
            </a:r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0B05D20C-7E9C-0255-DE4C-446B23F61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4182085"/>
              </p:ext>
            </p:extLst>
          </p:nvPr>
        </p:nvGraphicFramePr>
        <p:xfrm>
          <a:off x="131763" y="914400"/>
          <a:ext cx="9731328" cy="2743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54581">
                  <a:extLst>
                    <a:ext uri="{9D8B030D-6E8A-4147-A177-3AD203B41FA5}">
                      <a16:colId xmlns:a16="http://schemas.microsoft.com/office/drawing/2014/main" val="85069131"/>
                    </a:ext>
                  </a:extLst>
                </a:gridCol>
                <a:gridCol w="8976747">
                  <a:extLst>
                    <a:ext uri="{9D8B030D-6E8A-4147-A177-3AD203B41FA5}">
                      <a16:colId xmlns:a16="http://schemas.microsoft.com/office/drawing/2014/main" val="1046304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Sr.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Prefix Expressions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6335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+, *, 2, +, /, 14, 2, 5,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353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-, *, 6, 3, -, 4,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187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+, +, 2, 6, +, -, 13, 2,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729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-, /, *, 2, *, 5, +, 3, 6, 5,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4682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-, *, 3, +, 16, 2, /, 12,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328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9855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Stack Application </a:t>
            </a:r>
          </a:p>
        </p:txBody>
      </p:sp>
    </p:spTree>
    <p:extLst>
      <p:ext uri="{BB962C8B-B14F-4D97-AF65-F5344CB8AC3E}">
        <p14:creationId xmlns:p14="http://schemas.microsoft.com/office/powerpoint/2010/main" val="23894006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36000" y="875714"/>
            <a:ext cx="11520000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 </a:t>
            </a:r>
            <a:r>
              <a:rPr lang="en-US" sz="2400" b="1" dirty="0">
                <a:solidFill>
                  <a:srgbClr val="C00000"/>
                </a:solidFill>
              </a:rPr>
              <a:t>procedure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contains a </a:t>
            </a:r>
            <a:r>
              <a:rPr lang="en-US" sz="2400" b="1" dirty="0">
                <a:solidFill>
                  <a:srgbClr val="C00000"/>
                </a:solidFill>
              </a:rPr>
              <a:t>procedure call to itself </a:t>
            </a:r>
            <a:r>
              <a:rPr lang="en-US" sz="2400" dirty="0"/>
              <a:t>or a procedure </a:t>
            </a:r>
            <a:r>
              <a:rPr lang="en-US" sz="2400" b="1" dirty="0">
                <a:solidFill>
                  <a:srgbClr val="C00000"/>
                </a:solidFill>
              </a:rPr>
              <a:t>call to second procedure </a:t>
            </a:r>
            <a:r>
              <a:rPr lang="en-US" sz="2400" dirty="0"/>
              <a:t>which eventually </a:t>
            </a:r>
            <a:r>
              <a:rPr lang="en-US" sz="2400" b="1" dirty="0">
                <a:solidFill>
                  <a:srgbClr val="C00000"/>
                </a:solidFill>
              </a:rPr>
              <a:t>causes the first procedure to be called</a:t>
            </a:r>
            <a:r>
              <a:rPr lang="en-US" sz="2400" dirty="0"/>
              <a:t> is known as </a:t>
            </a:r>
            <a:r>
              <a:rPr lang="en-US" sz="2400" b="1" dirty="0">
                <a:solidFill>
                  <a:srgbClr val="C00000"/>
                </a:solidFill>
              </a:rPr>
              <a:t>recursive procedure</a:t>
            </a:r>
            <a:r>
              <a:rPr lang="en-US" sz="2400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336000" y="2105510"/>
            <a:ext cx="11520000" cy="46166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Two important conditions for any recursive procedure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96257" y="2564048"/>
            <a:ext cx="11160000" cy="40011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Each time a procedure calls itself it must be nearer in some sense to a solution.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000" y="2564048"/>
            <a:ext cx="360000" cy="40011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257" y="2972074"/>
            <a:ext cx="11160000" cy="40011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There must be a decision criterion for stopping the process </a:t>
            </a:r>
            <a:r>
              <a:rPr lang="en-US" sz="2000"/>
              <a:t>or computation.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336000" y="2972074"/>
            <a:ext cx="360000" cy="40011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000" y="3782582"/>
            <a:ext cx="11520000" cy="46166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Two types of recursion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000" y="4650726"/>
            <a:ext cx="5699039" cy="70788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This is </a:t>
            </a:r>
            <a:r>
              <a:rPr lang="en-US" sz="2000" b="1" dirty="0"/>
              <a:t>recursive defined function</a:t>
            </a:r>
            <a:r>
              <a:rPr lang="en-US" sz="2000" dirty="0"/>
              <a:t>. </a:t>
            </a:r>
          </a:p>
          <a:p>
            <a:r>
              <a:rPr lang="en-US" sz="2000" dirty="0"/>
              <a:t>E.g. Factorial function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000" y="4244247"/>
            <a:ext cx="2812008" cy="40011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Primitive Recursion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39" y="4650726"/>
            <a:ext cx="5818611" cy="70788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r"/>
            <a:r>
              <a:rPr lang="en-US" sz="2000" dirty="0"/>
              <a:t>This is </a:t>
            </a:r>
            <a:r>
              <a:rPr lang="en-US" sz="2000" b="1" dirty="0"/>
              <a:t>recursive use of procedure</a:t>
            </a:r>
            <a:r>
              <a:rPr lang="en-US" sz="2000" dirty="0"/>
              <a:t>. </a:t>
            </a:r>
          </a:p>
          <a:p>
            <a:pPr algn="r"/>
            <a:r>
              <a:rPr lang="en-US" sz="2000" dirty="0"/>
              <a:t>E.g. Find GCD of given two numbers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3992" y="4244247"/>
            <a:ext cx="2812008" cy="40011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Non-Primitive Recursion</a:t>
            </a:r>
          </a:p>
        </p:txBody>
      </p:sp>
    </p:spTree>
    <p:extLst>
      <p:ext uri="{BB962C8B-B14F-4D97-AF65-F5344CB8AC3E}">
        <p14:creationId xmlns:p14="http://schemas.microsoft.com/office/powerpoint/2010/main" val="222226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Recursion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76144"/>
            <a:ext cx="5240920" cy="5590565"/>
          </a:xfrm>
        </p:spPr>
        <p:txBody>
          <a:bodyPr/>
          <a:lstStyle/>
          <a:p>
            <a:pPr marL="0" indent="0">
              <a:buNone/>
            </a:pPr>
            <a:r>
              <a:rPr lang="en-US" sz="2100" b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int</a:t>
            </a:r>
            <a:r>
              <a:rPr lang="en-US" sz="2100" b="1" dirty="0">
                <a:solidFill>
                  <a:schemeClr val="accent6"/>
                </a:solidFill>
                <a:latin typeface="Consolas" panose="020B0609020204030204" pitchFamily="49" charset="0"/>
              </a:rPr>
              <a:t> factorial(</a:t>
            </a:r>
            <a:r>
              <a:rPr lang="en-US" sz="2100" b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int</a:t>
            </a:r>
            <a:r>
              <a:rPr lang="en-US" sz="2100" b="1" dirty="0">
                <a:solidFill>
                  <a:schemeClr val="accent6"/>
                </a:solidFill>
                <a:latin typeface="Consolas" panose="020B0609020204030204" pitchFamily="49" charset="0"/>
              </a:rPr>
              <a:t> n)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	if(n==0)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	</a:t>
            </a:r>
            <a:r>
              <a:rPr lang="en-US" sz="2100" dirty="0" smtClean="0">
                <a:latin typeface="Consolas" panose="020B0609020204030204" pitchFamily="49" charset="0"/>
              </a:rPr>
              <a:t>   return </a:t>
            </a:r>
            <a:r>
              <a:rPr lang="en-US" sz="2100" dirty="0">
                <a:latin typeface="Consolas" panose="020B0609020204030204" pitchFamily="49" charset="0"/>
              </a:rPr>
              <a:t>1;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	else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	</a:t>
            </a:r>
            <a:r>
              <a:rPr lang="en-US" sz="2100" dirty="0" smtClean="0">
                <a:latin typeface="Consolas" panose="020B0609020204030204" pitchFamily="49" charset="0"/>
              </a:rPr>
              <a:t>   return </a:t>
            </a:r>
            <a:r>
              <a:rPr lang="en-US" sz="2100" dirty="0">
                <a:latin typeface="Consolas" panose="020B0609020204030204" pitchFamily="49" charset="0"/>
              </a:rPr>
              <a:t>n*factorial(n-1);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937344" y="876144"/>
            <a:ext cx="5498911" cy="42619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100" b="1" dirty="0" err="1" smtClean="0">
                <a:solidFill>
                  <a:schemeClr val="accent6"/>
                </a:solidFill>
                <a:latin typeface="Consolas" panose="020B0609020204030204" pitchFamily="49" charset="0"/>
              </a:rPr>
              <a:t>int</a:t>
            </a:r>
            <a:r>
              <a:rPr lang="en-US" sz="2100" b="1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en-US" sz="2100" b="1" dirty="0" err="1" smtClean="0">
                <a:solidFill>
                  <a:schemeClr val="accent6"/>
                </a:solidFill>
                <a:latin typeface="Consolas" panose="020B0609020204030204" pitchFamily="49" charset="0"/>
              </a:rPr>
              <a:t>gcd</a:t>
            </a:r>
            <a:r>
              <a:rPr lang="en-US" sz="2100" b="1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(</a:t>
            </a:r>
            <a:r>
              <a:rPr lang="en-US" sz="2100" b="1" dirty="0" err="1" smtClean="0">
                <a:solidFill>
                  <a:schemeClr val="accent6"/>
                </a:solidFill>
                <a:latin typeface="Consolas" panose="020B0609020204030204" pitchFamily="49" charset="0"/>
              </a:rPr>
              <a:t>int</a:t>
            </a:r>
            <a:r>
              <a:rPr lang="en-US" sz="2100" b="1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 n1, </a:t>
            </a:r>
            <a:r>
              <a:rPr lang="en-US" sz="2100" b="1" dirty="0" err="1" smtClean="0">
                <a:solidFill>
                  <a:schemeClr val="accent6"/>
                </a:solidFill>
                <a:latin typeface="Consolas" panose="020B0609020204030204" pitchFamily="49" charset="0"/>
              </a:rPr>
              <a:t>int</a:t>
            </a:r>
            <a:r>
              <a:rPr lang="en-US" sz="2100" b="1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 n2)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100" dirty="0" smtClean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100" dirty="0" smtClean="0">
                <a:latin typeface="Consolas" panose="020B0609020204030204" pitchFamily="49" charset="0"/>
              </a:rPr>
              <a:t>	if(n2==0)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100" dirty="0" smtClean="0">
                <a:latin typeface="Consolas" panose="020B0609020204030204" pitchFamily="49" charset="0"/>
              </a:rPr>
              <a:t>		return n1;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100" dirty="0" smtClean="0">
                <a:latin typeface="Consolas" panose="020B0609020204030204" pitchFamily="49" charset="0"/>
              </a:rPr>
              <a:t>	else if(n2&gt;n1)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100" dirty="0" smtClean="0">
                <a:latin typeface="Consolas" panose="020B0609020204030204" pitchFamily="49" charset="0"/>
              </a:rPr>
              <a:t>		return </a:t>
            </a:r>
            <a:r>
              <a:rPr lang="en-US" sz="2100" dirty="0" err="1" smtClean="0">
                <a:latin typeface="Consolas" panose="020B0609020204030204" pitchFamily="49" charset="0"/>
              </a:rPr>
              <a:t>gcd</a:t>
            </a:r>
            <a:r>
              <a:rPr lang="en-US" sz="2100" dirty="0" smtClean="0">
                <a:latin typeface="Consolas" panose="020B0609020204030204" pitchFamily="49" charset="0"/>
              </a:rPr>
              <a:t>(n2,n1);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100" dirty="0" smtClean="0">
                <a:latin typeface="Consolas" panose="020B0609020204030204" pitchFamily="49" charset="0"/>
              </a:rPr>
              <a:t>	else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100" dirty="0" smtClean="0">
                <a:latin typeface="Consolas" panose="020B0609020204030204" pitchFamily="49" charset="0"/>
              </a:rPr>
              <a:t>		return </a:t>
            </a:r>
            <a:r>
              <a:rPr lang="en-US" sz="2100" dirty="0" err="1" smtClean="0">
                <a:latin typeface="Consolas" panose="020B0609020204030204" pitchFamily="49" charset="0"/>
              </a:rPr>
              <a:t>gcd</a:t>
            </a:r>
            <a:r>
              <a:rPr lang="en-US" sz="2100" dirty="0" smtClean="0">
                <a:latin typeface="Consolas" panose="020B0609020204030204" pitchFamily="49" charset="0"/>
              </a:rPr>
              <a:t>(n2, n1%n2);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100" dirty="0" smtClean="0">
                <a:latin typeface="Consolas" panose="020B0609020204030204" pitchFamily="49" charset="0"/>
              </a:rPr>
              <a:t>}</a:t>
            </a:r>
            <a:endParaRPr lang="en-US" sz="2100" dirty="0">
              <a:latin typeface="Consolas" panose="020B060902020403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5582640" y="702812"/>
            <a:ext cx="30760" cy="59077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53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Recursion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6" y="736597"/>
            <a:ext cx="4477505" cy="2154021"/>
          </a:xfrm>
          <a:solidFill>
            <a:schemeClr val="tx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l">
              <a:lnSpc>
                <a:spcPts val="1425"/>
              </a:lnSpc>
              <a:buNone/>
            </a:pPr>
            <a:endParaRPr lang="en-IN" sz="22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425"/>
              </a:lnSpc>
              <a:buNone/>
            </a:pP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 fact(</a:t>
            </a: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 n){</a:t>
            </a:r>
          </a:p>
          <a:p>
            <a:pPr algn="l">
              <a:lnSpc>
                <a:spcPts val="1425"/>
              </a:lnSpc>
              <a:buNone/>
            </a:pP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(n==</a:t>
            </a:r>
            <a:r>
              <a:rPr lang="en-IN" sz="2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algn="l">
              <a:lnSpc>
                <a:spcPts val="1425"/>
              </a:lnSpc>
              <a:buNone/>
            </a:pP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else</a:t>
            </a:r>
            <a:endParaRPr lang="en-IN" sz="2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425"/>
              </a:lnSpc>
              <a:buNone/>
            </a:pP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22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 n*fact(n-</a:t>
            </a:r>
            <a:r>
              <a:rPr lang="en-IN" sz="2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 algn="l">
              <a:lnSpc>
                <a:spcPts val="1425"/>
              </a:lnSpc>
              <a:buNone/>
            </a:pPr>
            <a:r>
              <a:rPr lang="en-IN" sz="22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0FDCC6-9C45-CDF7-4F96-4D3537931C1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619560" y="1176855"/>
          <a:ext cx="1285132" cy="217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5132">
                  <a:extLst>
                    <a:ext uri="{9D8B030D-6E8A-4147-A177-3AD203B41FA5}">
                      <a16:colId xmlns:a16="http://schemas.microsoft.com/office/drawing/2014/main" val="418039028"/>
                    </a:ext>
                  </a:extLst>
                </a:gridCol>
              </a:tblGrid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15361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70113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654286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1377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F9E002-0730-2757-3218-4ADCA05A49F3}"/>
              </a:ext>
            </a:extLst>
          </p:cNvPr>
          <p:cNvSpPr txBox="1"/>
          <p:nvPr/>
        </p:nvSpPr>
        <p:spPr>
          <a:xfrm>
            <a:off x="4645962" y="2903829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 * fact(3)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BDD0B4-3D9E-D34E-E9CF-AAA52A67727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231109" y="1167128"/>
          <a:ext cx="1285132" cy="217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5132">
                  <a:extLst>
                    <a:ext uri="{9D8B030D-6E8A-4147-A177-3AD203B41FA5}">
                      <a16:colId xmlns:a16="http://schemas.microsoft.com/office/drawing/2014/main" val="418039028"/>
                    </a:ext>
                  </a:extLst>
                </a:gridCol>
              </a:tblGrid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15361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70113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654286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1377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B2E2D5C-5071-1F94-C8CD-7D5F8157C6E0}"/>
              </a:ext>
            </a:extLst>
          </p:cNvPr>
          <p:cNvSpPr txBox="1"/>
          <p:nvPr/>
        </p:nvSpPr>
        <p:spPr>
          <a:xfrm>
            <a:off x="6261371" y="2879376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 * fact(3)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CD8291-B7F9-0199-2951-A828CFA4CF0D}"/>
              </a:ext>
            </a:extLst>
          </p:cNvPr>
          <p:cNvSpPr txBox="1"/>
          <p:nvPr/>
        </p:nvSpPr>
        <p:spPr>
          <a:xfrm>
            <a:off x="6261371" y="2344346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 * fact(2)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5FC6FB1-AAEF-1F38-DBC7-F07DB6C715ED}"/>
              </a:ext>
            </a:extLst>
          </p:cNvPr>
          <p:cNvGrpSpPr/>
          <p:nvPr/>
        </p:nvGrpSpPr>
        <p:grpSpPr>
          <a:xfrm>
            <a:off x="7542646" y="2373499"/>
            <a:ext cx="474120" cy="817560"/>
            <a:chOff x="3515392" y="2645885"/>
            <a:chExt cx="474120" cy="81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2A75EDE-D353-2604-CE77-25A150CCBF64}"/>
                    </a:ext>
                  </a:extLst>
                </p14:cNvPr>
                <p14:cNvContentPartPr/>
                <p14:nvPr/>
              </p14:nvContentPartPr>
              <p14:xfrm>
                <a:off x="3551392" y="2732285"/>
                <a:ext cx="438120" cy="731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2A75EDE-D353-2604-CE77-25A150CCBF6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33752" y="2714285"/>
                  <a:ext cx="47376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68E9B8-D0CC-FF00-6E90-F318276492DB}"/>
                    </a:ext>
                  </a:extLst>
                </p14:cNvPr>
                <p14:cNvContentPartPr/>
                <p14:nvPr/>
              </p14:nvContentPartPr>
              <p14:xfrm>
                <a:off x="3515392" y="2645885"/>
                <a:ext cx="211320" cy="184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68E9B8-D0CC-FF00-6E90-F318276492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97752" y="2627885"/>
                  <a:ext cx="246960" cy="21996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2623540-1B62-A77E-4AA0-CAB029F5D30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280403" y="1167128"/>
          <a:ext cx="1285132" cy="217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5132">
                  <a:extLst>
                    <a:ext uri="{9D8B030D-6E8A-4147-A177-3AD203B41FA5}">
                      <a16:colId xmlns:a16="http://schemas.microsoft.com/office/drawing/2014/main" val="418039028"/>
                    </a:ext>
                  </a:extLst>
                </a:gridCol>
              </a:tblGrid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15361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70113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654286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13770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E2B4EB5-847C-C870-6373-8BE90C1E2801}"/>
              </a:ext>
            </a:extLst>
          </p:cNvPr>
          <p:cNvSpPr txBox="1"/>
          <p:nvPr/>
        </p:nvSpPr>
        <p:spPr>
          <a:xfrm>
            <a:off x="8310665" y="2908560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 * fact(3)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BA4B70-3873-A754-676D-CFEC8712D979}"/>
              </a:ext>
            </a:extLst>
          </p:cNvPr>
          <p:cNvSpPr txBox="1"/>
          <p:nvPr/>
        </p:nvSpPr>
        <p:spPr>
          <a:xfrm>
            <a:off x="8310665" y="2344346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 * fact(2)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5924B0-5475-84FB-B5CD-C12A843F2EF3}"/>
              </a:ext>
            </a:extLst>
          </p:cNvPr>
          <p:cNvSpPr txBox="1"/>
          <p:nvPr/>
        </p:nvSpPr>
        <p:spPr>
          <a:xfrm>
            <a:off x="8310665" y="1803763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 * fact(1)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0CCF127-2574-2514-6AB6-4CBAC9EDDDD6}"/>
              </a:ext>
            </a:extLst>
          </p:cNvPr>
          <p:cNvGrpSpPr/>
          <p:nvPr/>
        </p:nvGrpSpPr>
        <p:grpSpPr>
          <a:xfrm>
            <a:off x="9601360" y="1847368"/>
            <a:ext cx="463526" cy="858030"/>
            <a:chOff x="3455692" y="2645885"/>
            <a:chExt cx="474120" cy="87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7F386C6-1E1A-2E9A-CD57-CC76CD30E204}"/>
                    </a:ext>
                  </a:extLst>
                </p14:cNvPr>
                <p14:cNvContentPartPr/>
                <p14:nvPr/>
              </p14:nvContentPartPr>
              <p14:xfrm>
                <a:off x="3455692" y="2732285"/>
                <a:ext cx="474120" cy="791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7F386C6-1E1A-2E9A-CD57-CC76CD30E20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37655" y="2713867"/>
                  <a:ext cx="510562" cy="8277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866DBFC-1641-4DF5-2A82-A532998B42A2}"/>
                    </a:ext>
                  </a:extLst>
                </p14:cNvPr>
                <p14:cNvContentPartPr/>
                <p14:nvPr/>
              </p14:nvContentPartPr>
              <p14:xfrm>
                <a:off x="3515392" y="2645885"/>
                <a:ext cx="211320" cy="184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866DBFC-1641-4DF5-2A82-A532998B42A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97352" y="2627453"/>
                  <a:ext cx="247767" cy="220815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B8EAFEC-D088-EC41-4EC2-8A0BB9CCD31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329697" y="1167128"/>
          <a:ext cx="1285132" cy="217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5132">
                  <a:extLst>
                    <a:ext uri="{9D8B030D-6E8A-4147-A177-3AD203B41FA5}">
                      <a16:colId xmlns:a16="http://schemas.microsoft.com/office/drawing/2014/main" val="418039028"/>
                    </a:ext>
                  </a:extLst>
                </a:gridCol>
              </a:tblGrid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15361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70113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654286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13770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4EF00247-D95E-0755-F624-71B0A3DBE936}"/>
              </a:ext>
            </a:extLst>
          </p:cNvPr>
          <p:cNvSpPr txBox="1"/>
          <p:nvPr/>
        </p:nvSpPr>
        <p:spPr>
          <a:xfrm>
            <a:off x="10359959" y="2908560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 * fact(3)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E9B380-A2D8-8C68-49B4-2926DC0FDCE3}"/>
              </a:ext>
            </a:extLst>
          </p:cNvPr>
          <p:cNvSpPr txBox="1"/>
          <p:nvPr/>
        </p:nvSpPr>
        <p:spPr>
          <a:xfrm>
            <a:off x="10359959" y="2344346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 * fact(2)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4D072B-EC41-B553-9986-FBFC97548CDD}"/>
              </a:ext>
            </a:extLst>
          </p:cNvPr>
          <p:cNvSpPr txBox="1"/>
          <p:nvPr/>
        </p:nvSpPr>
        <p:spPr>
          <a:xfrm>
            <a:off x="10359959" y="1803763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 * fact(1)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CE947AE-CEEC-7D77-D571-7FE87CF7B9B4}"/>
              </a:ext>
            </a:extLst>
          </p:cNvPr>
          <p:cNvGrpSpPr/>
          <p:nvPr/>
        </p:nvGrpSpPr>
        <p:grpSpPr>
          <a:xfrm>
            <a:off x="11618693" y="1240717"/>
            <a:ext cx="463526" cy="858030"/>
            <a:chOff x="3455692" y="2645885"/>
            <a:chExt cx="474120" cy="87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A3C9747-7E2D-2B75-C47B-B972185EFC37}"/>
                    </a:ext>
                  </a:extLst>
                </p14:cNvPr>
                <p14:cNvContentPartPr/>
                <p14:nvPr/>
              </p14:nvContentPartPr>
              <p14:xfrm>
                <a:off x="3455692" y="2732285"/>
                <a:ext cx="474120" cy="791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A3C9747-7E2D-2B75-C47B-B972185EFC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37655" y="2713867"/>
                  <a:ext cx="510562" cy="8277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679221B-139C-0E1D-2A41-43E50085F701}"/>
                    </a:ext>
                  </a:extLst>
                </p14:cNvPr>
                <p14:cNvContentPartPr/>
                <p14:nvPr/>
              </p14:nvContentPartPr>
              <p14:xfrm>
                <a:off x="3515392" y="2645885"/>
                <a:ext cx="211320" cy="184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679221B-139C-0E1D-2A41-43E50085F70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97352" y="2627453"/>
                  <a:ext cx="247767" cy="22081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670DB937-53D0-D0D0-8C4E-D7554F21B6D7}"/>
              </a:ext>
            </a:extLst>
          </p:cNvPr>
          <p:cNvSpPr txBox="1"/>
          <p:nvPr/>
        </p:nvSpPr>
        <p:spPr>
          <a:xfrm>
            <a:off x="10359959" y="1263180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fact(1) = 1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D8A025C7-2CCC-E01F-5E91-284E18D26B5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7269" y="4403204"/>
          <a:ext cx="1285132" cy="217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5132">
                  <a:extLst>
                    <a:ext uri="{9D8B030D-6E8A-4147-A177-3AD203B41FA5}">
                      <a16:colId xmlns:a16="http://schemas.microsoft.com/office/drawing/2014/main" val="418039028"/>
                    </a:ext>
                  </a:extLst>
                </a:gridCol>
              </a:tblGrid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15361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70113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654286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137704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50812182-FBC1-9C15-95BB-E9BA1D729034}"/>
              </a:ext>
            </a:extLst>
          </p:cNvPr>
          <p:cNvSpPr txBox="1"/>
          <p:nvPr/>
        </p:nvSpPr>
        <p:spPr>
          <a:xfrm>
            <a:off x="127531" y="6134908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 * fact(3)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1CD4CD-AB11-7A71-87F7-BF9A22120583}"/>
              </a:ext>
            </a:extLst>
          </p:cNvPr>
          <p:cNvSpPr txBox="1"/>
          <p:nvPr/>
        </p:nvSpPr>
        <p:spPr>
          <a:xfrm>
            <a:off x="127531" y="5570694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 * fact(2)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9D6F19-5C3A-0FD6-F281-310C90798D48}"/>
              </a:ext>
            </a:extLst>
          </p:cNvPr>
          <p:cNvSpPr txBox="1"/>
          <p:nvPr/>
        </p:nvSpPr>
        <p:spPr>
          <a:xfrm>
            <a:off x="127531" y="5059291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 * fact(1)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963DAF-4C52-C7E0-5F23-C12FDA6E002E}"/>
              </a:ext>
            </a:extLst>
          </p:cNvPr>
          <p:cNvSpPr txBox="1"/>
          <p:nvPr/>
        </p:nvSpPr>
        <p:spPr>
          <a:xfrm>
            <a:off x="127531" y="4489535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fact(1) = 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A3145F9-FD90-470A-E2E6-2DBE97E81C7C}"/>
                  </a:ext>
                </a:extLst>
              </p14:cNvPr>
              <p14:cNvContentPartPr/>
              <p14:nvPr/>
            </p14:nvContentPartPr>
            <p14:xfrm>
              <a:off x="1400392" y="4639908"/>
              <a:ext cx="361080" cy="7617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A3145F9-FD90-470A-E2E6-2DBE97E81C7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82752" y="4622268"/>
                <a:ext cx="396720" cy="79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076E644-C595-6215-5E2F-0E79D4312221}"/>
                  </a:ext>
                </a:extLst>
              </p14:cNvPr>
              <p14:cNvContentPartPr/>
              <p14:nvPr/>
            </p14:nvContentPartPr>
            <p14:xfrm>
              <a:off x="1397152" y="5233548"/>
              <a:ext cx="138960" cy="2577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076E644-C595-6215-5E2F-0E79D431222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79152" y="5215548"/>
                <a:ext cx="174600" cy="293400"/>
              </a:xfrm>
              <a:prstGeom prst="rect">
                <a:avLst/>
              </a:prstGeom>
            </p:spPr>
          </p:pic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6946F5E3-B7AA-F587-2D06-341508B324C8}"/>
              </a:ext>
            </a:extLst>
          </p:cNvPr>
          <p:cNvSpPr txBox="1"/>
          <p:nvPr/>
        </p:nvSpPr>
        <p:spPr>
          <a:xfrm>
            <a:off x="1409652" y="4777744"/>
            <a:ext cx="252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</a:t>
            </a:r>
            <a:endParaRPr lang="en-IN" sz="2000" b="1" dirty="0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3418D683-1593-C514-18B8-F0B99C1D17E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126024" y="4403204"/>
          <a:ext cx="1285132" cy="217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5132">
                  <a:extLst>
                    <a:ext uri="{9D8B030D-6E8A-4147-A177-3AD203B41FA5}">
                      <a16:colId xmlns:a16="http://schemas.microsoft.com/office/drawing/2014/main" val="418039028"/>
                    </a:ext>
                  </a:extLst>
                </a:gridCol>
              </a:tblGrid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15361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70113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654286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137704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F7544276-AEC5-93CC-C102-AC9387965BE0}"/>
              </a:ext>
            </a:extLst>
          </p:cNvPr>
          <p:cNvSpPr txBox="1"/>
          <p:nvPr/>
        </p:nvSpPr>
        <p:spPr>
          <a:xfrm>
            <a:off x="2156286" y="6134908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 * fact(3)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305C43-6603-86B5-FAA3-5C3F962F525F}"/>
              </a:ext>
            </a:extLst>
          </p:cNvPr>
          <p:cNvSpPr txBox="1"/>
          <p:nvPr/>
        </p:nvSpPr>
        <p:spPr>
          <a:xfrm>
            <a:off x="2156286" y="5570694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 * fact(2)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03D514-ED32-1D9D-6ABC-5B7A91A920F1}"/>
              </a:ext>
            </a:extLst>
          </p:cNvPr>
          <p:cNvSpPr txBox="1"/>
          <p:nvPr/>
        </p:nvSpPr>
        <p:spPr>
          <a:xfrm>
            <a:off x="2156286" y="5030111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 * fact(1)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490FFD6-BF8D-1EE6-00DE-1B2D7C39E05F}"/>
                  </a:ext>
                </a:extLst>
              </p14:cNvPr>
              <p14:cNvContentPartPr/>
              <p14:nvPr/>
            </p14:nvContentPartPr>
            <p14:xfrm>
              <a:off x="3429147" y="5106837"/>
              <a:ext cx="361080" cy="7617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490FFD6-BF8D-1EE6-00DE-1B2D7C39E05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11507" y="5089197"/>
                <a:ext cx="396720" cy="797400"/>
              </a:xfrm>
              <a:prstGeom prst="rect">
                <a:avLst/>
              </a:prstGeom>
            </p:spPr>
          </p:pic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C4F4F0C4-44F1-9CF8-6C46-54E7F59BD6A7}"/>
              </a:ext>
            </a:extLst>
          </p:cNvPr>
          <p:cNvSpPr txBox="1"/>
          <p:nvPr/>
        </p:nvSpPr>
        <p:spPr>
          <a:xfrm>
            <a:off x="3436638" y="5236343"/>
            <a:ext cx="252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</a:t>
            </a:r>
            <a:endParaRPr lang="en-IN" sz="20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D591797-6529-C08A-9D5A-D0F80BA3A024}"/>
                  </a:ext>
                </a:extLst>
              </p14:cNvPr>
              <p14:cNvContentPartPr/>
              <p14:nvPr/>
            </p14:nvContentPartPr>
            <p14:xfrm>
              <a:off x="3434172" y="5681074"/>
              <a:ext cx="138960" cy="2577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D591797-6529-C08A-9D5A-D0F80BA3A02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16172" y="5663074"/>
                <a:ext cx="174600" cy="2934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96CF8F8C-0301-0AB8-3B5D-AF286F54646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028639" y="4403204"/>
          <a:ext cx="1285132" cy="217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5132">
                  <a:extLst>
                    <a:ext uri="{9D8B030D-6E8A-4147-A177-3AD203B41FA5}">
                      <a16:colId xmlns:a16="http://schemas.microsoft.com/office/drawing/2014/main" val="418039028"/>
                    </a:ext>
                  </a:extLst>
                </a:gridCol>
              </a:tblGrid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15361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70113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654286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137704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03822ADF-CDFD-D0B8-89AC-F9DA40F03FD5}"/>
              </a:ext>
            </a:extLst>
          </p:cNvPr>
          <p:cNvSpPr txBox="1"/>
          <p:nvPr/>
        </p:nvSpPr>
        <p:spPr>
          <a:xfrm>
            <a:off x="4058901" y="6134908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 * fact(3)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5EB34C2-A41C-6D07-3E7F-6AC8795AEF30}"/>
                  </a:ext>
                </a:extLst>
              </p14:cNvPr>
              <p14:cNvContentPartPr/>
              <p14:nvPr/>
            </p14:nvContentPartPr>
            <p14:xfrm>
              <a:off x="5331762" y="5671042"/>
              <a:ext cx="361080" cy="7617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5EB34C2-A41C-6D07-3E7F-6AC8795AEF3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14122" y="5653402"/>
                <a:ext cx="396720" cy="797400"/>
              </a:xfrm>
              <a:prstGeom prst="rect">
                <a:avLst/>
              </a:prstGeom>
            </p:spPr>
          </p:pic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AED6892B-10C8-EE27-C3B1-B5D2E525EA76}"/>
              </a:ext>
            </a:extLst>
          </p:cNvPr>
          <p:cNvSpPr txBox="1"/>
          <p:nvPr/>
        </p:nvSpPr>
        <p:spPr>
          <a:xfrm>
            <a:off x="5343540" y="5845169"/>
            <a:ext cx="252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6</a:t>
            </a:r>
            <a:endParaRPr lang="en-IN" sz="20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E938169-47D0-3395-2BFE-623F5C136F99}"/>
                  </a:ext>
                </a:extLst>
              </p14:cNvPr>
              <p14:cNvContentPartPr/>
              <p14:nvPr/>
            </p14:nvContentPartPr>
            <p14:xfrm>
              <a:off x="5336787" y="6245279"/>
              <a:ext cx="138960" cy="2577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E938169-47D0-3395-2BFE-623F5C136F9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18787" y="6227279"/>
                <a:ext cx="174600" cy="293400"/>
              </a:xfrm>
              <a:prstGeom prst="rect">
                <a:avLst/>
              </a:prstGeom>
            </p:spPr>
          </p:pic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0E59446D-1568-72F9-A7DA-1DFBCC0E325C}"/>
              </a:ext>
            </a:extLst>
          </p:cNvPr>
          <p:cNvSpPr txBox="1"/>
          <p:nvPr/>
        </p:nvSpPr>
        <p:spPr>
          <a:xfrm>
            <a:off x="4028639" y="5565404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 * fact(2)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836D2357-2AD1-96C3-1D32-FF5DCB0FAEA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900992" y="4401718"/>
          <a:ext cx="1285132" cy="217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5132">
                  <a:extLst>
                    <a:ext uri="{9D8B030D-6E8A-4147-A177-3AD203B41FA5}">
                      <a16:colId xmlns:a16="http://schemas.microsoft.com/office/drawing/2014/main" val="418039028"/>
                    </a:ext>
                  </a:extLst>
                </a:gridCol>
              </a:tblGrid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15361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701137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654286"/>
                  </a:ext>
                </a:extLst>
              </a:tr>
              <a:tr h="5447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137704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57369DBB-EFA9-A265-8BAA-3E8762F9A810}"/>
              </a:ext>
            </a:extLst>
          </p:cNvPr>
          <p:cNvSpPr txBox="1"/>
          <p:nvPr/>
        </p:nvSpPr>
        <p:spPr>
          <a:xfrm>
            <a:off x="5931254" y="6133422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 * 6 = 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2AC1B0-1339-5E3F-88B4-7722B14E6441}"/>
              </a:ext>
            </a:extLst>
          </p:cNvPr>
          <p:cNvSpPr txBox="1"/>
          <p:nvPr/>
        </p:nvSpPr>
        <p:spPr>
          <a:xfrm>
            <a:off x="5262125" y="726007"/>
            <a:ext cx="5623126" cy="430887"/>
          </a:xfrm>
          <a:prstGeom prst="rect">
            <a:avLst/>
          </a:prstGeom>
          <a:solidFill>
            <a:srgbClr val="1D3064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200" b="1">
                <a:solidFill>
                  <a:srgbClr val="1D3064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Recursive calls till the base case reaches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74041DC-80D8-BB92-59FC-821099120548}"/>
              </a:ext>
            </a:extLst>
          </p:cNvPr>
          <p:cNvSpPr txBox="1"/>
          <p:nvPr/>
        </p:nvSpPr>
        <p:spPr>
          <a:xfrm>
            <a:off x="458653" y="3966302"/>
            <a:ext cx="6302067" cy="430887"/>
          </a:xfrm>
          <a:prstGeom prst="rect">
            <a:avLst/>
          </a:prstGeom>
          <a:solidFill>
            <a:srgbClr val="1D306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Returning values from base case to caller function</a:t>
            </a:r>
            <a:endParaRPr lang="en-IN" sz="22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F6BE14-F969-D564-D67D-C5ED3F4443D6}"/>
              </a:ext>
            </a:extLst>
          </p:cNvPr>
          <p:cNvSpPr txBox="1"/>
          <p:nvPr/>
        </p:nvSpPr>
        <p:spPr>
          <a:xfrm>
            <a:off x="4523010" y="3391500"/>
            <a:ext cx="1478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first call</a:t>
            </a:r>
            <a:endParaRPr lang="en-IN" sz="2000" b="1" dirty="0">
              <a:solidFill>
                <a:srgbClr val="C0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14894B-FDD8-B90C-8946-AC8FD85A5A6F}"/>
              </a:ext>
            </a:extLst>
          </p:cNvPr>
          <p:cNvSpPr txBox="1"/>
          <p:nvPr/>
        </p:nvSpPr>
        <p:spPr>
          <a:xfrm>
            <a:off x="6078325" y="3379515"/>
            <a:ext cx="1611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second call</a:t>
            </a:r>
            <a:endParaRPr lang="en-IN" sz="2000" b="1" dirty="0">
              <a:solidFill>
                <a:srgbClr val="C00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66E5D0B-7971-FF3D-05E9-D245E5A491B1}"/>
              </a:ext>
            </a:extLst>
          </p:cNvPr>
          <p:cNvSpPr txBox="1"/>
          <p:nvPr/>
        </p:nvSpPr>
        <p:spPr>
          <a:xfrm>
            <a:off x="8125685" y="3356302"/>
            <a:ext cx="1646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third call</a:t>
            </a:r>
            <a:endParaRPr lang="en-IN" sz="2000" b="1" dirty="0">
              <a:solidFill>
                <a:srgbClr val="C0000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0E3488D-BA0D-4195-B89F-3359D32DAD5C}"/>
              </a:ext>
            </a:extLst>
          </p:cNvPr>
          <p:cNvSpPr txBox="1"/>
          <p:nvPr/>
        </p:nvSpPr>
        <p:spPr>
          <a:xfrm>
            <a:off x="10164698" y="3360211"/>
            <a:ext cx="1646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fourth call</a:t>
            </a:r>
            <a:endParaRPr lang="en-IN" sz="2000" b="1" dirty="0">
              <a:solidFill>
                <a:srgbClr val="C00000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08A09F3-B876-9E87-2643-324629AD5A0B}"/>
              </a:ext>
            </a:extLst>
          </p:cNvPr>
          <p:cNvSpPr/>
          <p:nvPr/>
        </p:nvSpPr>
        <p:spPr>
          <a:xfrm>
            <a:off x="10243229" y="1292364"/>
            <a:ext cx="1488330" cy="3496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BFD9BC1-1F1D-7D23-891A-78ECB5870419}"/>
              </a:ext>
            </a:extLst>
          </p:cNvPr>
          <p:cNvSpPr/>
          <p:nvPr/>
        </p:nvSpPr>
        <p:spPr>
          <a:xfrm>
            <a:off x="7542646" y="5945194"/>
            <a:ext cx="2254136" cy="5272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Answer = 24 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039BE25-C6B3-D76A-F027-F0F12EB7B64F}"/>
              </a:ext>
            </a:extLst>
          </p:cNvPr>
          <p:cNvSpPr txBox="1"/>
          <p:nvPr/>
        </p:nvSpPr>
        <p:spPr>
          <a:xfrm>
            <a:off x="263004" y="3079431"/>
            <a:ext cx="3999163" cy="4924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C00000"/>
                </a:solidFill>
              </a:rPr>
              <a:t>Suppose, fact(4) is called</a:t>
            </a:r>
            <a:endParaRPr lang="en-IN" sz="2600" b="1" dirty="0">
              <a:solidFill>
                <a:srgbClr val="C00000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27C21D1-55F9-6A47-7009-5AA359FBF882}"/>
              </a:ext>
            </a:extLst>
          </p:cNvPr>
          <p:cNvSpPr txBox="1"/>
          <p:nvPr/>
        </p:nvSpPr>
        <p:spPr>
          <a:xfrm>
            <a:off x="10867276" y="824062"/>
            <a:ext cx="13308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Base case</a:t>
            </a:r>
            <a:endParaRPr lang="en-IN" sz="2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2FC1716-C614-2134-5135-ADD06F5FF7FF}"/>
                  </a:ext>
                </a:extLst>
              </p14:cNvPr>
              <p14:cNvContentPartPr/>
              <p14:nvPr/>
            </p14:nvContentPartPr>
            <p14:xfrm>
              <a:off x="7189912" y="5359557"/>
              <a:ext cx="1478880" cy="8078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2FC1716-C614-2134-5135-ADD06F5FF7F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171912" y="5341917"/>
                <a:ext cx="1514520" cy="84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724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3" dur="1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000"/>
                            </p:stCondLst>
                            <p:childTnLst>
                              <p:par>
                                <p:cTn id="1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6" grpId="0"/>
      <p:bldP spid="8" grpId="0"/>
      <p:bldP spid="9" grpId="0"/>
      <p:bldP spid="19" grpId="0"/>
      <p:bldP spid="20" grpId="0"/>
      <p:bldP spid="21" grpId="0"/>
      <p:bldP spid="26" grpId="0"/>
      <p:bldP spid="27" grpId="0"/>
      <p:bldP spid="28" grpId="0"/>
      <p:bldP spid="32" grpId="0"/>
      <p:bldP spid="40" grpId="0"/>
      <p:bldP spid="41" grpId="0"/>
      <p:bldP spid="42" grpId="0"/>
      <p:bldP spid="43" grpId="0"/>
      <p:bldP spid="48" grpId="0"/>
      <p:bldP spid="52" grpId="0"/>
      <p:bldP spid="53" grpId="0"/>
      <p:bldP spid="54" grpId="0"/>
      <p:bldP spid="56" grpId="0"/>
      <p:bldP spid="59" grpId="0"/>
      <p:bldP spid="61" grpId="0"/>
      <p:bldP spid="63" grpId="0"/>
      <p:bldP spid="65" grpId="0"/>
      <p:bldP spid="69" grpId="0" animBg="1"/>
      <p:bldP spid="70" grpId="0" animBg="1"/>
      <p:bldP spid="71" grpId="0"/>
      <p:bldP spid="72" grpId="0"/>
      <p:bldP spid="73" grpId="0"/>
      <p:bldP spid="74" grpId="0"/>
      <p:bldP spid="89" grpId="0" animBg="1"/>
      <p:bldP spid="90" grpId="0" animBg="1"/>
      <p:bldP spid="91" grpId="0" animBg="1"/>
      <p:bldP spid="9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89DA3-779A-B8D0-CDDF-471F971F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04C92-11A2-1E62-2F6E-E540E544F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Recursion is a technique where a </a:t>
            </a:r>
            <a:r>
              <a:rPr lang="en-IN" b="1" dirty="0"/>
              <a:t>function calls itself </a:t>
            </a:r>
            <a:r>
              <a:rPr lang="en-IN" dirty="0"/>
              <a:t>to solve a smaller instance of the same problem. </a:t>
            </a:r>
          </a:p>
          <a:p>
            <a:r>
              <a:rPr lang="en-IN" dirty="0"/>
              <a:t>Every recursive function must have: </a:t>
            </a:r>
          </a:p>
          <a:p>
            <a:pPr lvl="1"/>
            <a:r>
              <a:rPr lang="en-IN" b="1" i="1" dirty="0">
                <a:solidFill>
                  <a:srgbClr val="C00000"/>
                </a:solidFill>
              </a:rPr>
              <a:t>Base Case:</a:t>
            </a:r>
            <a:r>
              <a:rPr lang="en-IN" i="1" dirty="0">
                <a:solidFill>
                  <a:srgbClr val="C00000"/>
                </a:solidFill>
              </a:rPr>
              <a:t> </a:t>
            </a:r>
            <a:r>
              <a:rPr lang="en-IN" dirty="0"/>
              <a:t>The terminating condition that stops further recursive calls. </a:t>
            </a:r>
          </a:p>
          <a:p>
            <a:pPr lvl="1"/>
            <a:r>
              <a:rPr lang="en-IN" b="1" i="1" dirty="0">
                <a:solidFill>
                  <a:srgbClr val="C00000"/>
                </a:solidFill>
              </a:rPr>
              <a:t>Recursive Case:</a:t>
            </a:r>
            <a:r>
              <a:rPr lang="en-IN" i="1" dirty="0">
                <a:solidFill>
                  <a:srgbClr val="C00000"/>
                </a:solidFill>
              </a:rPr>
              <a:t> </a:t>
            </a:r>
            <a:r>
              <a:rPr lang="en-IN" dirty="0"/>
              <a:t>The part where the function calls itself with a smaller subproblem. </a:t>
            </a:r>
          </a:p>
          <a:p>
            <a:r>
              <a:rPr lang="en-IN" dirty="0"/>
              <a:t>Every recursive call is stored in the system</a:t>
            </a:r>
            <a:r>
              <a:rPr lang="en-IN" b="1" dirty="0"/>
              <a:t> call stack</a:t>
            </a:r>
            <a:r>
              <a:rPr lang="en-IN" dirty="0"/>
              <a:t>.</a:t>
            </a:r>
            <a:endParaRPr lang="en-IN" b="1" dirty="0"/>
          </a:p>
          <a:p>
            <a:r>
              <a:rPr lang="en-IN" dirty="0"/>
              <a:t>The </a:t>
            </a:r>
            <a:r>
              <a:rPr lang="en-IN" b="1" dirty="0"/>
              <a:t>call stack</a:t>
            </a:r>
            <a:r>
              <a:rPr lang="en-IN" dirty="0"/>
              <a:t> is a stack maintained by the </a:t>
            </a:r>
            <a:r>
              <a:rPr lang="en-IN" b="1" dirty="0"/>
              <a:t>operating system </a:t>
            </a:r>
            <a:r>
              <a:rPr lang="en-IN" dirty="0"/>
              <a:t>that </a:t>
            </a:r>
            <a:r>
              <a:rPr lang="en-IN" i="1" dirty="0"/>
              <a:t>keeps track of active function calls during program execution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When a function is called, it is </a:t>
            </a:r>
            <a:r>
              <a:rPr lang="en-IN" b="1" dirty="0"/>
              <a:t>pushed</a:t>
            </a:r>
            <a:r>
              <a:rPr lang="en-IN" dirty="0"/>
              <a:t> onto the call stack. </a:t>
            </a:r>
          </a:p>
          <a:p>
            <a:pPr lvl="1"/>
            <a:r>
              <a:rPr lang="en-IN" dirty="0"/>
              <a:t>If it calls another function (or itself), the new function is </a:t>
            </a:r>
            <a:r>
              <a:rPr lang="en-IN" b="1" dirty="0"/>
              <a:t>pushed on top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When a function finishes, it is </a:t>
            </a:r>
            <a:r>
              <a:rPr lang="en-IN" b="1" dirty="0"/>
              <a:t>popped</a:t>
            </a:r>
            <a:r>
              <a:rPr lang="en-IN" dirty="0"/>
              <a:t> from the call stack. </a:t>
            </a:r>
          </a:p>
          <a:p>
            <a:pPr lvl="1"/>
            <a:r>
              <a:rPr lang="en-IN" dirty="0"/>
              <a:t>Thus, function calls are managed in </a:t>
            </a:r>
            <a:r>
              <a:rPr lang="en-IN" b="1" dirty="0"/>
              <a:t>LIFO (Last In, First Out)</a:t>
            </a:r>
            <a:r>
              <a:rPr lang="en-IN" dirty="0"/>
              <a:t> order.</a:t>
            </a:r>
          </a:p>
        </p:txBody>
      </p:sp>
    </p:spTree>
    <p:extLst>
      <p:ext uri="{BB962C8B-B14F-4D97-AF65-F5344CB8AC3E}">
        <p14:creationId xmlns:p14="http://schemas.microsoft.com/office/powerpoint/2010/main" val="143641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16972-9DEA-9648-5833-30CCA57C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Real Time Applications of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A6A15-549B-FBC6-3911-7B63414B2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Following are some more real time applications of Stack:</a:t>
            </a:r>
          </a:p>
          <a:p>
            <a:r>
              <a:rPr lang="en-IN" b="1" dirty="0"/>
              <a:t>Browser Back Navigation :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dirty="0"/>
              <a:t>The most recently visited webpage is removed first when the user clicks </a:t>
            </a:r>
            <a:r>
              <a:rPr lang="en-IN" b="1" dirty="0"/>
              <a:t>Back</a:t>
            </a:r>
            <a:r>
              <a:rPr lang="en-IN" dirty="0"/>
              <a:t>.</a:t>
            </a:r>
          </a:p>
          <a:p>
            <a:r>
              <a:rPr lang="en-IN" b="1" dirty="0"/>
              <a:t>Undo Operation :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dirty="0"/>
              <a:t>The latest action is reversed first, making Undo a natural LIFO operation.</a:t>
            </a:r>
          </a:p>
          <a:p>
            <a:r>
              <a:rPr lang="en-IN" b="1" dirty="0"/>
              <a:t>Function Calls &amp; Recursion :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dirty="0"/>
              <a:t>Active function calls are stored in the </a:t>
            </a:r>
            <a:r>
              <a:rPr lang="en-IN" b="1" dirty="0"/>
              <a:t>call stack</a:t>
            </a:r>
            <a:r>
              <a:rPr lang="en-IN" dirty="0"/>
              <a:t> until they complete.</a:t>
            </a:r>
          </a:p>
          <a:p>
            <a:r>
              <a:rPr lang="en-IN" b="1" dirty="0"/>
              <a:t>Compiler Syntax Parsing :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dirty="0"/>
              <a:t>Compilers use stacks to parse program syntax and detect syntax errors.</a:t>
            </a:r>
          </a:p>
          <a:p>
            <a:r>
              <a:rPr lang="en-IN" b="1" dirty="0"/>
              <a:t>Puzzle Games (Sudoku, Maze) :</a:t>
            </a:r>
          </a:p>
          <a:p>
            <a:pPr marL="982663" indent="0">
              <a:buNone/>
            </a:pPr>
            <a:r>
              <a:rPr lang="en-IN" dirty="0"/>
              <a:t>The game uses a stack (or the recursive call stack) to backtrack to previous moves when the current path cannot lead to a solution.</a:t>
            </a:r>
            <a:r>
              <a:rPr lang="en-IN" b="1" dirty="0"/>
              <a:t>	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019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Frequently asked questions: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State algorithms for following operations on Stack:  PUSH, POP, PEEP, CHANGE. </a:t>
            </a:r>
            <a:endParaRPr lang="en-US" dirty="0"/>
          </a:p>
          <a:p>
            <a:r>
              <a:rPr lang="en-US" sz="2400" dirty="0"/>
              <a:t>Write an algorithm to evaluate POSTFIX Expression. </a:t>
            </a:r>
          </a:p>
          <a:p>
            <a:r>
              <a:rPr lang="en-US" sz="2400" dirty="0"/>
              <a:t>Write an algorithm to convert an infix expression to postfix expression. </a:t>
            </a:r>
          </a:p>
          <a:p>
            <a:r>
              <a:rPr lang="en-US" sz="2400" dirty="0"/>
              <a:t>Consider the stack S of characters, where S is allocated 8 memory cells. </a:t>
            </a:r>
          </a:p>
          <a:p>
            <a:pPr lvl="1"/>
            <a:r>
              <a:rPr lang="en-US" dirty="0"/>
              <a:t>S: A,C,D, F, K, _, _, _. Sketch the stack after each of the following operations. </a:t>
            </a:r>
          </a:p>
          <a:p>
            <a:pPr lvl="1"/>
            <a:r>
              <a:rPr lang="en-US" dirty="0"/>
              <a:t>Pop(), Pop() ,Push(L), Push(P), Pop(), Push(R), Push (S), Pop(). </a:t>
            </a:r>
          </a:p>
          <a:p>
            <a:r>
              <a:rPr lang="en-US" sz="2400" dirty="0"/>
              <a:t>Solve the Postfix Expression 6 2 3 + - 3 8 2 / + * 2 $ 3 + using Stack. </a:t>
            </a:r>
          </a:p>
        </p:txBody>
      </p:sp>
    </p:spTree>
    <p:extLst>
      <p:ext uri="{BB962C8B-B14F-4D97-AF65-F5344CB8AC3E}">
        <p14:creationId xmlns:p14="http://schemas.microsoft.com/office/powerpoint/2010/main" val="4072377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98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IN" dirty="0"/>
              <a:t>Recursion</a:t>
            </a:r>
          </a:p>
          <a:p>
            <a:pPr>
              <a:spcBef>
                <a:spcPts val="600"/>
              </a:spcBef>
            </a:pPr>
            <a:r>
              <a:rPr lang="en-IN" dirty="0"/>
              <a:t>Keeping track of function calls</a:t>
            </a:r>
          </a:p>
          <a:p>
            <a:pPr>
              <a:spcBef>
                <a:spcPts val="600"/>
              </a:spcBef>
            </a:pPr>
            <a:r>
              <a:rPr lang="en-IN" dirty="0"/>
              <a:t>Evaluation of expressions</a:t>
            </a:r>
          </a:p>
          <a:p>
            <a:pPr>
              <a:spcBef>
                <a:spcPts val="600"/>
              </a:spcBef>
            </a:pPr>
            <a:r>
              <a:rPr lang="en-IN" dirty="0"/>
              <a:t>Reversing characters</a:t>
            </a:r>
          </a:p>
          <a:p>
            <a:pPr>
              <a:spcBef>
                <a:spcPts val="600"/>
              </a:spcBef>
            </a:pPr>
            <a:r>
              <a:rPr lang="en-IN" dirty="0"/>
              <a:t>Servicing hardware interrupts</a:t>
            </a:r>
          </a:p>
          <a:p>
            <a:pPr>
              <a:spcBef>
                <a:spcPts val="600"/>
              </a:spcBef>
            </a:pPr>
            <a:r>
              <a:rPr lang="en-IN" dirty="0"/>
              <a:t>Solving combinatorial problems using backtracking</a:t>
            </a:r>
          </a:p>
          <a:p>
            <a:pPr>
              <a:spcBef>
                <a:spcPts val="600"/>
              </a:spcBef>
            </a:pPr>
            <a:r>
              <a:rPr lang="en-IN" dirty="0"/>
              <a:t>Expression Conversion (Infix to Postfix, Infix to Prefix)</a:t>
            </a:r>
          </a:p>
          <a:p>
            <a:pPr>
              <a:spcBef>
                <a:spcPts val="600"/>
              </a:spcBef>
            </a:pPr>
            <a:r>
              <a:rPr lang="en-IN" dirty="0"/>
              <a:t>Game Playing (Chess)</a:t>
            </a:r>
          </a:p>
          <a:p>
            <a:pPr>
              <a:spcBef>
                <a:spcPts val="600"/>
              </a:spcBef>
            </a:pPr>
            <a:r>
              <a:rPr lang="en-IN" dirty="0"/>
              <a:t>Microsoft Word (Undo / Redo)</a:t>
            </a:r>
          </a:p>
          <a:p>
            <a:pPr>
              <a:spcBef>
                <a:spcPts val="600"/>
              </a:spcBef>
            </a:pPr>
            <a:r>
              <a:rPr lang="en-IN" dirty="0"/>
              <a:t>Compiler – Parsing syntax &amp; expression</a:t>
            </a:r>
          </a:p>
          <a:p>
            <a:pPr>
              <a:spcBef>
                <a:spcPts val="600"/>
              </a:spcBef>
            </a:pPr>
            <a:r>
              <a:rPr lang="en-IN" dirty="0"/>
              <a:t>Finding paths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28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Pradyumansinh</a:t>
            </a:r>
            <a:r>
              <a:rPr lang="en-IN" dirty="0"/>
              <a:t> </a:t>
            </a:r>
            <a:r>
              <a:rPr lang="en-IN" dirty="0" err="1"/>
              <a:t>Jadeja</a:t>
            </a:r>
            <a:endParaRPr lang="en-IN" dirty="0"/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70745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6834</TotalTime>
  <Words>7266</Words>
  <Application>Microsoft Office PowerPoint</Application>
  <PresentationFormat>Widescreen</PresentationFormat>
  <Paragraphs>1984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5" baseType="lpstr">
      <vt:lpstr>Roboto Condensed Light</vt:lpstr>
      <vt:lpstr>Shruti</vt:lpstr>
      <vt:lpstr>Wingdings 3</vt:lpstr>
      <vt:lpstr>Segoe UI Black</vt:lpstr>
      <vt:lpstr>Wingdings 2</vt:lpstr>
      <vt:lpstr>Open Sans</vt:lpstr>
      <vt:lpstr>Open Sans Semibold</vt:lpstr>
      <vt:lpstr>Times New Roman</vt:lpstr>
      <vt:lpstr>Wingdings</vt:lpstr>
      <vt:lpstr>Calibri</vt:lpstr>
      <vt:lpstr>Consolas</vt:lpstr>
      <vt:lpstr>Roboto Condensed</vt:lpstr>
      <vt:lpstr>Arial</vt:lpstr>
      <vt:lpstr>Office Theme</vt:lpstr>
      <vt:lpstr>Unit-1 (Part 3)  Stack  Linear Data Structure</vt:lpstr>
      <vt:lpstr>PowerPoint Presentation</vt:lpstr>
      <vt:lpstr>Stack</vt:lpstr>
      <vt:lpstr>Stack</vt:lpstr>
      <vt:lpstr>Stack </vt:lpstr>
      <vt:lpstr>Operations on Stack</vt:lpstr>
      <vt:lpstr>Procedure : PUSH (S, TOP, X)</vt:lpstr>
      <vt:lpstr>Function : POP (S, TOP)</vt:lpstr>
      <vt:lpstr>Function : PEEP (S, TOP, I)</vt:lpstr>
      <vt:lpstr>Function : PEEK (S, TOP)</vt:lpstr>
      <vt:lpstr>PROCEDURE : CHANGE (S, TOP, X, I)</vt:lpstr>
      <vt:lpstr>Stack Implementation using Array</vt:lpstr>
      <vt:lpstr>Stack Implementation using Array</vt:lpstr>
      <vt:lpstr>Stack Implementation using Array</vt:lpstr>
      <vt:lpstr>Check the grammar of the input string</vt:lpstr>
      <vt:lpstr>Algorithm: RECOGNIZE</vt:lpstr>
      <vt:lpstr>Algorithm: RECOGNIZE</vt:lpstr>
      <vt:lpstr>Algorithm: RECOGNIZE</vt:lpstr>
      <vt:lpstr>Algorithm: RECOGNIZE</vt:lpstr>
      <vt:lpstr>Algorithm : RECOGNIZE</vt:lpstr>
      <vt:lpstr>Polish Notations</vt:lpstr>
      <vt:lpstr>Polish Expression &amp; their Compilation</vt:lpstr>
      <vt:lpstr>Polish Notation</vt:lpstr>
      <vt:lpstr>Polish Notation</vt:lpstr>
      <vt:lpstr>Infix to Postfix Conversion</vt:lpstr>
      <vt:lpstr>Finding Rank of any Expression</vt:lpstr>
      <vt:lpstr>Convert Infix to Postfix Expression</vt:lpstr>
      <vt:lpstr>Algorithm : REVPOL | Infix to Postfix Conversion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General Infix to Postfix Conversion</vt:lpstr>
      <vt:lpstr>Example : Infix to Postfix : a + b * c – d / e </vt:lpstr>
      <vt:lpstr>Exercise : Infix to Postfix &amp; Prefix Conversion</vt:lpstr>
      <vt:lpstr>Exercise : Infix to Postfix</vt:lpstr>
      <vt:lpstr>General Infix to Prefix Conversion</vt:lpstr>
      <vt:lpstr>Convert Infix to Prefix Expression</vt:lpstr>
      <vt:lpstr>Infix to Postfix &amp; Prefix Conversion : Exercise </vt:lpstr>
      <vt:lpstr>Exercise : Infix to Prefix</vt:lpstr>
      <vt:lpstr>Infix to Postfix Conversion : Exercise (Solution)</vt:lpstr>
      <vt:lpstr>Evaluation of Postfix Expression</vt:lpstr>
      <vt:lpstr> Evaluation of Postfix Expression</vt:lpstr>
      <vt:lpstr> Evaluation of Postfix Expression</vt:lpstr>
      <vt:lpstr> Evaluation of Postfix Expression : 5,4,6,+,*,4,9,3,/,+,*</vt:lpstr>
      <vt:lpstr>Algorithm: EVALUATE_POSTFIX</vt:lpstr>
      <vt:lpstr>Algorithm: EVALUATE_POSTFIX</vt:lpstr>
      <vt:lpstr>Exercise : Evaluation of Postfix Expression</vt:lpstr>
      <vt:lpstr>Evaluation of Prefix Expression</vt:lpstr>
      <vt:lpstr>Algorithm: EVALUATE_PREFIX</vt:lpstr>
      <vt:lpstr>Algorithm: EVALUATE_PREFIX</vt:lpstr>
      <vt:lpstr> Evaluation of Prefix Expression : -, *, +, 4, 3, 2, 5</vt:lpstr>
      <vt:lpstr>Exercise : Evaluation of Prefix Expression</vt:lpstr>
      <vt:lpstr>Recursion</vt:lpstr>
      <vt:lpstr>Recursion</vt:lpstr>
      <vt:lpstr>Recursion - Example</vt:lpstr>
      <vt:lpstr>Recursion - Example</vt:lpstr>
      <vt:lpstr>Recursion</vt:lpstr>
      <vt:lpstr>Some Real Time Applications of Stack</vt:lpstr>
      <vt:lpstr>Frequently asked questions:</vt:lpstr>
      <vt:lpstr>Applications of Stack</vt:lpstr>
      <vt:lpstr>Applications of Stack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- Linear Data Structure</dc:title>
  <dc:creator>ADMIN</dc:creator>
  <cp:keywords>Stack, Data Structure, Darshan Institute of Engineering &amp; Technology, DIET</cp:keywords>
  <cp:lastModifiedBy>DELL</cp:lastModifiedBy>
  <cp:revision>461</cp:revision>
  <dcterms:created xsi:type="dcterms:W3CDTF">2020-05-01T05:09:15Z</dcterms:created>
  <dcterms:modified xsi:type="dcterms:W3CDTF">2026-07-01T04:16:00Z</dcterms:modified>
</cp:coreProperties>
</file>