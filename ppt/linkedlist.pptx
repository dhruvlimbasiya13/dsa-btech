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74"/>
  </p:notesMasterIdLst>
  <p:handoutMasterIdLst>
    <p:handoutMasterId r:id="rId75"/>
  </p:handoutMasterIdLst>
  <p:sldIdLst>
    <p:sldId id="283" r:id="rId2"/>
    <p:sldId id="417" r:id="rId3"/>
    <p:sldId id="422" r:id="rId4"/>
    <p:sldId id="301" r:id="rId5"/>
    <p:sldId id="412" r:id="rId6"/>
    <p:sldId id="368" r:id="rId7"/>
    <p:sldId id="369" r:id="rId8"/>
    <p:sldId id="370" r:id="rId9"/>
    <p:sldId id="371" r:id="rId10"/>
    <p:sldId id="372" r:id="rId11"/>
    <p:sldId id="419" r:id="rId12"/>
    <p:sldId id="420" r:id="rId13"/>
    <p:sldId id="309" r:id="rId14"/>
    <p:sldId id="373" r:id="rId15"/>
    <p:sldId id="311" r:id="rId16"/>
    <p:sldId id="374" r:id="rId17"/>
    <p:sldId id="312" r:id="rId18"/>
    <p:sldId id="376" r:id="rId19"/>
    <p:sldId id="315" r:id="rId20"/>
    <p:sldId id="316" r:id="rId21"/>
    <p:sldId id="384" r:id="rId22"/>
    <p:sldId id="377" r:id="rId23"/>
    <p:sldId id="318" r:id="rId24"/>
    <p:sldId id="319" r:id="rId25"/>
    <p:sldId id="379" r:id="rId26"/>
    <p:sldId id="393" r:id="rId27"/>
    <p:sldId id="321" r:id="rId28"/>
    <p:sldId id="322" r:id="rId29"/>
    <p:sldId id="323" r:id="rId30"/>
    <p:sldId id="385" r:id="rId31"/>
    <p:sldId id="394" r:id="rId32"/>
    <p:sldId id="325" r:id="rId33"/>
    <p:sldId id="326" r:id="rId34"/>
    <p:sldId id="418" r:id="rId35"/>
    <p:sldId id="395" r:id="rId36"/>
    <p:sldId id="396" r:id="rId37"/>
    <p:sldId id="330" r:id="rId38"/>
    <p:sldId id="331" r:id="rId39"/>
    <p:sldId id="332" r:id="rId40"/>
    <p:sldId id="416" r:id="rId41"/>
    <p:sldId id="397" r:id="rId42"/>
    <p:sldId id="398" r:id="rId43"/>
    <p:sldId id="399" r:id="rId44"/>
    <p:sldId id="337" r:id="rId45"/>
    <p:sldId id="400" r:id="rId46"/>
    <p:sldId id="340" r:id="rId47"/>
    <p:sldId id="401" r:id="rId48"/>
    <p:sldId id="343" r:id="rId49"/>
    <p:sldId id="344" r:id="rId50"/>
    <p:sldId id="345" r:id="rId51"/>
    <p:sldId id="402" r:id="rId52"/>
    <p:sldId id="347" r:id="rId53"/>
    <p:sldId id="348" r:id="rId54"/>
    <p:sldId id="404" r:id="rId55"/>
    <p:sldId id="405" r:id="rId56"/>
    <p:sldId id="351" r:id="rId57"/>
    <p:sldId id="406" r:id="rId58"/>
    <p:sldId id="353" r:id="rId59"/>
    <p:sldId id="407" r:id="rId60"/>
    <p:sldId id="355" r:id="rId61"/>
    <p:sldId id="408" r:id="rId62"/>
    <p:sldId id="409" r:id="rId63"/>
    <p:sldId id="387" r:id="rId64"/>
    <p:sldId id="388" r:id="rId65"/>
    <p:sldId id="358" r:id="rId66"/>
    <p:sldId id="359" r:id="rId67"/>
    <p:sldId id="410" r:id="rId68"/>
    <p:sldId id="361" r:id="rId69"/>
    <p:sldId id="411" r:id="rId70"/>
    <p:sldId id="365" r:id="rId71"/>
    <p:sldId id="364" r:id="rId72"/>
    <p:sldId id="366" r:id="rId73"/>
  </p:sldIdLst>
  <p:sldSz cx="12192000" cy="6858000"/>
  <p:notesSz cx="6858000" cy="9144000"/>
  <p:embeddedFontLst>
    <p:embeddedFont>
      <p:font typeface="Open Sans Semibold" panose="020B0604020202020204" charset="0"/>
      <p:bold r:id="rId76"/>
      <p:boldItalic r:id="rId77"/>
    </p:embeddedFont>
    <p:embeddedFont>
      <p:font typeface="Open Sans" panose="020B0604020202020204" charset="0"/>
      <p:regular r:id="rId78"/>
      <p:bold r:id="rId79"/>
      <p:italic r:id="rId80"/>
      <p:boldItalic r:id="rId81"/>
    </p:embeddedFont>
    <p:embeddedFont>
      <p:font typeface="Roboto Condensed" panose="02000000000000000000" pitchFamily="2" charset="0"/>
      <p:regular r:id="rId82"/>
      <p:bold r:id="rId83"/>
      <p:italic r:id="rId84"/>
      <p:boldItalic r:id="rId85"/>
    </p:embeddedFont>
    <p:embeddedFont>
      <p:font typeface="Calibri" panose="020F0502020204030204" pitchFamily="34" charset="0"/>
      <p:regular r:id="rId86"/>
      <p:bold r:id="rId87"/>
      <p:italic r:id="rId88"/>
      <p:boldItalic r:id="rId89"/>
    </p:embeddedFont>
    <p:embeddedFont>
      <p:font typeface="Consolas" panose="020B0609020204030204" pitchFamily="49" charset="0"/>
      <p:regular r:id="rId90"/>
      <p:bold r:id="rId91"/>
      <p:italic r:id="rId92"/>
      <p:boldItalic r:id="rId93"/>
    </p:embeddedFont>
    <p:embeddedFont>
      <p:font typeface="Roboto Condensed Light" panose="02000000000000000000" pitchFamily="2" charset="0"/>
      <p:regular r:id="rId94"/>
      <p:italic r:id="rId95"/>
    </p:embeddedFont>
    <p:embeddedFont>
      <p:font typeface="Cascadia Mono" panose="020B0609020000020004" pitchFamily="49" charset="0"/>
      <p:regular r:id="rId96"/>
      <p:bold r:id="rId97"/>
      <p:italic r:id="rId98"/>
      <p:boldItalic r:id="rId99"/>
    </p:embeddedFont>
    <p:embeddedFont>
      <p:font typeface="Wingdings 3" panose="05040102010807070707" pitchFamily="18" charset="2"/>
      <p:regular r:id="rId100"/>
    </p:embeddedFont>
    <p:embeddedFont>
      <p:font typeface="Segoe UI Black" panose="020B0A02040204020203" pitchFamily="34" charset="0"/>
      <p:bold r:id="rId101"/>
      <p:boldItalic r:id="rId102"/>
    </p:embeddedFont>
    <p:embeddedFont>
      <p:font typeface="Wingdings 2" panose="05020102010507070707" pitchFamily="18" charset="2"/>
      <p:regular r:id="rId10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F8KJktjNtJsHN7jH6AtqZg==" hashData="VD+dyQhwipMQG85Z0pnytyjZMhVcKeDb+VHHobJznMlTiYwQ1e7dhGetIiZa5AM9E3PDEJu8/O5SikvtdU/zzg=="/>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4742"/>
    <a:srgbClr val="2FA0AE"/>
    <a:srgbClr val="558ED5"/>
    <a:srgbClr val="5C0000"/>
    <a:srgbClr val="1D3064"/>
    <a:srgbClr val="F54337"/>
    <a:srgbClr val="ED524F"/>
    <a:srgbClr val="3366FF"/>
    <a:srgbClr val="301B92"/>
    <a:srgbClr val="673B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03" autoAdjust="0"/>
    <p:restoredTop sz="96370" autoAdjust="0"/>
  </p:normalViewPr>
  <p:slideViewPr>
    <p:cSldViewPr snapToGrid="0">
      <p:cViewPr varScale="1">
        <p:scale>
          <a:sx n="83" d="100"/>
          <a:sy n="83" d="100"/>
        </p:scale>
        <p:origin x="792" y="86"/>
      </p:cViewPr>
      <p:guideLst/>
    </p:cSldViewPr>
  </p:slideViewPr>
  <p:notesTextViewPr>
    <p:cViewPr>
      <p:scale>
        <a:sx n="1" d="1"/>
        <a:sy n="1" d="1"/>
      </p:scale>
      <p:origin x="0" y="0"/>
    </p:cViewPr>
  </p:notesTextViewPr>
  <p:sorterViewPr>
    <p:cViewPr>
      <p:scale>
        <a:sx n="200" d="100"/>
        <a:sy n="200" d="100"/>
      </p:scale>
      <p:origin x="0" y="0"/>
    </p:cViewPr>
  </p:sorterViewPr>
  <p:notesViewPr>
    <p:cSldViewPr snapToGrid="0">
      <p:cViewPr varScale="1">
        <p:scale>
          <a:sx n="54" d="100"/>
          <a:sy n="54" d="100"/>
        </p:scale>
        <p:origin x="1944" y="4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9.fntdata"/><Relationship Id="rId89" Type="http://schemas.openxmlformats.org/officeDocument/2006/relationships/font" Target="fonts/font14.fntdata"/><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notesMaster" Target="notesMasters/notesMaster1.xml"/><Relationship Id="rId79" Type="http://schemas.openxmlformats.org/officeDocument/2006/relationships/font" Target="fonts/font4.fntdata"/><Relationship Id="rId102" Type="http://schemas.openxmlformats.org/officeDocument/2006/relationships/font" Target="fonts/font27.fntdata"/><Relationship Id="rId5" Type="http://schemas.openxmlformats.org/officeDocument/2006/relationships/slide" Target="slides/slide4.xml"/><Relationship Id="rId90" Type="http://schemas.openxmlformats.org/officeDocument/2006/relationships/font" Target="fonts/font15.fntdata"/><Relationship Id="rId95" Type="http://schemas.openxmlformats.org/officeDocument/2006/relationships/font" Target="fonts/font20.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font" Target="fonts/font5.fntdata"/><Relationship Id="rId85" Type="http://schemas.openxmlformats.org/officeDocument/2006/relationships/font" Target="fonts/font10.fnt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28.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font" Target="fonts/font13.fntdata"/><Relationship Id="rId91" Type="http://schemas.openxmlformats.org/officeDocument/2006/relationships/font" Target="fonts/font16.fntdata"/><Relationship Id="rId96" Type="http://schemas.openxmlformats.org/officeDocument/2006/relationships/font" Target="fonts/font2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94" Type="http://schemas.openxmlformats.org/officeDocument/2006/relationships/font" Target="fonts/font19.fntdata"/><Relationship Id="rId99" Type="http://schemas.openxmlformats.org/officeDocument/2006/relationships/font" Target="fonts/font24.fntdata"/><Relationship Id="rId101" Type="http://schemas.openxmlformats.org/officeDocument/2006/relationships/font" Target="fonts/font26.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fntdata"/><Relationship Id="rId97" Type="http://schemas.openxmlformats.org/officeDocument/2006/relationships/font" Target="fonts/font22.fntdata"/><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7.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2.fntdata"/><Relationship Id="rId61" Type="http://schemas.openxmlformats.org/officeDocument/2006/relationships/slide" Target="slides/slide60.xml"/><Relationship Id="rId82" Type="http://schemas.openxmlformats.org/officeDocument/2006/relationships/font" Target="fonts/font7.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font" Target="fonts/font2.fntdata"/><Relationship Id="rId100" Type="http://schemas.openxmlformats.org/officeDocument/2006/relationships/font" Target="fonts/font25.fntdata"/><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18.fntdata"/><Relationship Id="rId98" Type="http://schemas.openxmlformats.org/officeDocument/2006/relationships/font" Target="fonts/font23.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587FD0-6366-498E-B5AA-8D5EAADA1318}" type="datetimeFigureOut">
              <a:rPr lang="en-IN" smtClean="0"/>
              <a:t>16-06-2026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FD5F676-4FC3-4D3C-BE37-3352AFB195B1}" type="slidenum">
              <a:rPr lang="en-IN" smtClean="0"/>
              <a:t>‹#›</a:t>
            </a:fld>
            <a:endParaRPr lang="en-IN"/>
          </a:p>
        </p:txBody>
      </p:sp>
    </p:spTree>
    <p:extLst>
      <p:ext uri="{BB962C8B-B14F-4D97-AF65-F5344CB8AC3E}">
        <p14:creationId xmlns:p14="http://schemas.microsoft.com/office/powerpoint/2010/main" val="1072425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6/16/2026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C79BDEF-6165-4E72-B1A6-6E8034CEC248}" type="slidenum">
              <a:rPr lang="en-US" smtClean="0"/>
              <a:t>24</a:t>
            </a:fld>
            <a:endParaRPr lang="en-US"/>
          </a:p>
        </p:txBody>
      </p:sp>
    </p:spTree>
    <p:extLst>
      <p:ext uri="{BB962C8B-B14F-4D97-AF65-F5344CB8AC3E}">
        <p14:creationId xmlns:p14="http://schemas.microsoft.com/office/powerpoint/2010/main" val="3239650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C79BDEF-6165-4E72-B1A6-6E8034CEC248}" type="slidenum">
              <a:rPr lang="en-US" smtClean="0"/>
              <a:t>30</a:t>
            </a:fld>
            <a:endParaRPr lang="en-US"/>
          </a:p>
        </p:txBody>
      </p:sp>
    </p:spTree>
    <p:extLst>
      <p:ext uri="{BB962C8B-B14F-4D97-AF65-F5344CB8AC3E}">
        <p14:creationId xmlns:p14="http://schemas.microsoft.com/office/powerpoint/2010/main" val="1015028744"/>
      </p:ext>
    </p:extLst>
  </p:cSld>
  <p:clrMapOvr>
    <a:masterClrMapping/>
  </p:clrMapOvr>
</p:notes>
</file>

<file path=ppt/slideLayouts/_rels/slideLayout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jpeg"/><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8.jpeg"/><Relationship Id="rId4" Type="http://schemas.openxmlformats.org/officeDocument/2006/relationships/image" Target="../media/image3.png"/><Relationship Id="rId9"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2.png"/><Relationship Id="rId9" Type="http://schemas.microsoft.com/office/2007/relationships/hdphoto" Target="../media/hdphoto1.wdp"/></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2.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2.png"/><Relationship Id="rId9" Type="http://schemas.microsoft.com/office/2007/relationships/hdphoto" Target="../media/hdphoto1.wdp"/></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2.png"/><Relationship Id="rId9" Type="http://schemas.microsoft.com/office/2007/relationships/hdphoto" Target="../media/hdphoto1.wdp"/></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2.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2.png"/><Relationship Id="rId9" Type="http://schemas.microsoft.com/office/2007/relationships/hdphoto" Target="../media/hdphoto1.wdp"/></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2.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2.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2.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8.jpeg"/><Relationship Id="rId5" Type="http://schemas.openxmlformats.org/officeDocument/2006/relationships/image" Target="../media/image3.png"/><Relationship Id="rId10" Type="http://schemas.openxmlformats.org/officeDocument/2006/relationships/image" Target="../media/image14.jpeg"/><Relationship Id="rId4" Type="http://schemas.openxmlformats.org/officeDocument/2006/relationships/image" Target="../media/image12.png"/><Relationship Id="rId9" Type="http://schemas.microsoft.com/office/2007/relationships/hdphoto" Target="../media/hdphoto1.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2.png"/><Relationship Id="rId9" Type="http://schemas.microsoft.com/office/2007/relationships/hdphoto" Target="../media/hdphoto1.wdp"/></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err="1"/>
              <a:t>Darshan</a:t>
            </a:r>
            <a:r>
              <a:rPr lang="en-US" sz="1600" dirty="0"/>
              <a:t>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8730762" y="307556"/>
            <a:ext cx="270404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DU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1">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7239853" y="2673461"/>
            <a:ext cx="4818221" cy="1453114"/>
          </a:xfrm>
          <a:prstGeom prst="rect">
            <a:avLst/>
          </a:prstGeom>
        </p:spPr>
      </p:pic>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hank You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err="1"/>
              <a:t>Darshan</a:t>
            </a:r>
            <a:r>
              <a:rPr lang="en-US" sz="1600" dirty="0"/>
              <a:t>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8730762" y="307556"/>
            <a:ext cx="270404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DU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
        <p:nvSpPr>
          <p:cNvPr id="30" name="Hexagon 29"/>
          <p:cNvSpPr/>
          <p:nvPr userDrawn="1"/>
        </p:nvSpPr>
        <p:spPr>
          <a:xfrm rot="5400000">
            <a:off x="4309292" y="1717040"/>
            <a:ext cx="3461658" cy="2984188"/>
          </a:xfrm>
          <a:prstGeom prst="hexagon">
            <a:avLst/>
          </a:prstGeom>
          <a:solidFill>
            <a:schemeClr val="bg1">
              <a:lumMod val="95000"/>
            </a:schemeClr>
          </a:solidFill>
          <a:ln w="57150">
            <a:solidFill>
              <a:srgbClr val="1D3064"/>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1" name="TextBox 30"/>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34" name="Rectangle 33"/>
          <p:cNvSpPr/>
          <p:nvPr userDrawn="1"/>
        </p:nvSpPr>
        <p:spPr>
          <a:xfrm>
            <a:off x="7678346" y="2221532"/>
            <a:ext cx="4513654" cy="1951692"/>
          </a:xfrm>
          <a:prstGeom prst="rect">
            <a:avLst/>
          </a:prstGeom>
          <a:solidFill>
            <a:srgbClr val="1D3064"/>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Rectangle 34"/>
          <p:cNvSpPr/>
          <p:nvPr userDrawn="1"/>
        </p:nvSpPr>
        <p:spPr>
          <a:xfrm>
            <a:off x="0" y="2221532"/>
            <a:ext cx="4402106" cy="1951692"/>
          </a:xfrm>
          <a:prstGeom prst="rect">
            <a:avLst/>
          </a:prstGeom>
          <a:solidFill>
            <a:srgbClr val="1D3064"/>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65701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userDrawn="1"/>
        </p:nvGrpSpPr>
        <p:grpSpPr>
          <a:xfrm>
            <a:off x="9716596" y="886592"/>
            <a:ext cx="2554142" cy="587454"/>
            <a:chOff x="9424496" y="861192"/>
            <a:chExt cx="2554142" cy="587454"/>
          </a:xfrm>
        </p:grpSpPr>
        <p:pic>
          <p:nvPicPr>
            <p:cNvPr id="33" name="Picture 32">
              <a:extLst>
                <a:ext uri="{FF2B5EF4-FFF2-40B4-BE49-F238E27FC236}">
                  <a16:creationId xmlns:a16="http://schemas.microsoft.com/office/drawing/2014/main" id="{23F8D339-A0AA-4150-B7E8-C84E7F2AB7D0}"/>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875018" y="861192"/>
              <a:ext cx="1932495" cy="587453"/>
            </a:xfrm>
            <a:prstGeom prst="rect">
              <a:avLst/>
            </a:prstGeom>
          </p:spPr>
        </p:pic>
        <p:sp>
          <p:nvSpPr>
            <p:cNvPr id="34" name="Rectangle 33">
              <a:extLst>
                <a:ext uri="{FF2B5EF4-FFF2-40B4-BE49-F238E27FC236}">
                  <a16:creationId xmlns:a16="http://schemas.microsoft.com/office/drawing/2014/main" id="{6112BAB0-1CB8-413D-970D-4F482F1A0EDB}"/>
                </a:ext>
              </a:extLst>
            </p:cNvPr>
            <p:cNvSpPr/>
            <p:nvPr userDrawn="1"/>
          </p:nvSpPr>
          <p:spPr>
            <a:xfrm>
              <a:off x="9424496" y="861192"/>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56580" y="9015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6" name="Straight Connector 35">
            <a:extLst>
              <a:ext uri="{FF2B5EF4-FFF2-40B4-BE49-F238E27FC236}">
                <a16:creationId xmlns:a16="http://schemas.microsoft.com/office/drawing/2014/main" id="{F86BF578-C91A-4942-95D5-11408C3CCACF}"/>
              </a:ext>
            </a:extLst>
          </p:cNvPr>
          <p:cNvCxnSpPr/>
          <p:nvPr userDrawn="1"/>
        </p:nvCxnSpPr>
        <p:spPr>
          <a:xfrm>
            <a:off x="4180" y="7239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Pradyumansinh</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Jadeja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571998"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2301CS301(DS)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(Part</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 2)</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 Linked List - Linear Data Structure</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33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Pradyumansinh</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Jadeja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571998"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2301CS301(DS)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(Part</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 2)</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 Linked List - Linear Data Structure</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p:cNvGrpSpPr/>
          <p:nvPr userDrawn="1"/>
        </p:nvGrpSpPr>
        <p:grpSpPr>
          <a:xfrm>
            <a:off x="9792796" y="5890392"/>
            <a:ext cx="2554142" cy="587454"/>
            <a:chOff x="9475296" y="5890392"/>
            <a:chExt cx="2554142" cy="587454"/>
          </a:xfrm>
        </p:grpSpPr>
        <p:pic>
          <p:nvPicPr>
            <p:cNvPr id="15" name="Picture 14">
              <a:extLst>
                <a:ext uri="{FF2B5EF4-FFF2-40B4-BE49-F238E27FC236}">
                  <a16:creationId xmlns:a16="http://schemas.microsoft.com/office/drawing/2014/main" id="{23F8D339-A0AA-4150-B7E8-C84E7F2AB7D0}"/>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824218" y="5890392"/>
              <a:ext cx="1932495" cy="587453"/>
            </a:xfrm>
            <a:prstGeom prst="rect">
              <a:avLst/>
            </a:prstGeom>
          </p:spPr>
        </p:pic>
        <p:sp>
          <p:nvSpPr>
            <p:cNvPr id="21" name="Rectangle 20">
              <a:extLst>
                <a:ext uri="{FF2B5EF4-FFF2-40B4-BE49-F238E27FC236}">
                  <a16:creationId xmlns:a16="http://schemas.microsoft.com/office/drawing/2014/main" id="{6112BAB0-1CB8-413D-970D-4F482F1A0EDB}"/>
                </a:ext>
              </a:extLst>
            </p:cNvPr>
            <p:cNvSpPr/>
            <p:nvPr userDrawn="1"/>
          </p:nvSpPr>
          <p:spPr>
            <a:xfrm>
              <a:off x="9475296" y="5890392"/>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76144"/>
            <a:ext cx="11929641" cy="5590565"/>
          </a:xfrm>
        </p:spPr>
        <p:txBody>
          <a:bodyPr>
            <a:noAutofit/>
          </a:bodyPr>
          <a:lstStyle>
            <a:lvl1pPr marL="265113" indent="-265113" algn="just">
              <a:spcBef>
                <a:spcPts val="1000"/>
              </a:spcBef>
              <a:buClr>
                <a:schemeClr val="accent6"/>
              </a:buClr>
              <a:buFont typeface="Wingdings 3" panose="05040102010807070707" pitchFamily="18" charset="2"/>
              <a:buChar char=""/>
              <a:defRPr sz="2400">
                <a:solidFill>
                  <a:schemeClr val="tx1"/>
                </a:solidFill>
              </a:defRPr>
            </a:lvl1pPr>
            <a:lvl2pPr marL="809625" indent="-352425" algn="just">
              <a:spcBef>
                <a:spcPts val="1000"/>
              </a:spcBef>
              <a:buClr>
                <a:schemeClr val="accent6"/>
              </a:buClr>
              <a:buFont typeface="Wingdings 3" panose="05040102010807070707" pitchFamily="18" charset="2"/>
              <a:buChar char=""/>
              <a:defRPr sz="2000">
                <a:solidFill>
                  <a:schemeClr val="tx1"/>
                </a:solidFill>
              </a:defRPr>
            </a:lvl2pPr>
            <a:lvl3pPr marL="1143000" indent="-228600" algn="just">
              <a:spcBef>
                <a:spcPts val="1000"/>
              </a:spcBef>
              <a:buClr>
                <a:schemeClr val="accent6"/>
              </a:buClr>
              <a:buFont typeface="Wingdings" panose="05000000000000000000" pitchFamily="2" charset="2"/>
              <a:buChar char="§"/>
              <a:defRPr sz="1800">
                <a:solidFill>
                  <a:schemeClr val="tx1"/>
                </a:solidFill>
              </a:defRPr>
            </a:lvl3pPr>
            <a:lvl4pPr algn="just">
              <a:spcBef>
                <a:spcPts val="1000"/>
              </a:spcBef>
              <a:buClr>
                <a:schemeClr val="accent6"/>
              </a:buClr>
              <a:defRPr sz="1600">
                <a:solidFill>
                  <a:schemeClr val="tx1"/>
                </a:solidFill>
              </a:defRPr>
            </a:lvl4pPr>
            <a:lvl5pPr algn="just">
              <a:spcBef>
                <a:spcPts val="1000"/>
              </a:spcBef>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02761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p:cNvGrpSpPr/>
          <p:nvPr userDrawn="1"/>
        </p:nvGrpSpPr>
        <p:grpSpPr>
          <a:xfrm>
            <a:off x="-62404" y="5890392"/>
            <a:ext cx="2554142" cy="587454"/>
            <a:chOff x="242396" y="5890392"/>
            <a:chExt cx="2554142" cy="587454"/>
          </a:xfrm>
        </p:grpSpPr>
        <p:pic>
          <p:nvPicPr>
            <p:cNvPr id="15" name="Picture 14">
              <a:extLst>
                <a:ext uri="{FF2B5EF4-FFF2-40B4-BE49-F238E27FC236}">
                  <a16:creationId xmlns:a16="http://schemas.microsoft.com/office/drawing/2014/main" id="{23F8D339-A0AA-4150-B7E8-C84E7F2AB7D0}"/>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438918" y="5890392"/>
              <a:ext cx="1932495" cy="587453"/>
            </a:xfrm>
            <a:prstGeom prst="rect">
              <a:avLst/>
            </a:prstGeom>
          </p:spPr>
        </p:pic>
        <p:sp>
          <p:nvSpPr>
            <p:cNvPr id="21" name="Rectangle 20">
              <a:extLst>
                <a:ext uri="{FF2B5EF4-FFF2-40B4-BE49-F238E27FC236}">
                  <a16:creationId xmlns:a16="http://schemas.microsoft.com/office/drawing/2014/main" id="{6112BAB0-1CB8-413D-970D-4F482F1A0EDB}"/>
                </a:ext>
              </a:extLst>
            </p:cNvPr>
            <p:cNvSpPr/>
            <p:nvPr userDrawn="1"/>
          </p:nvSpPr>
          <p:spPr>
            <a:xfrm>
              <a:off x="242396" y="5890392"/>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888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Pradyumansinh</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Jadeja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571998"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2301CS301(DS)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(Part</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 2)</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 Linked List - Linear Data Structure</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862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grpSp>
        <p:nvGrpSpPr>
          <p:cNvPr id="22" name="Group 21"/>
          <p:cNvGrpSpPr/>
          <p:nvPr userDrawn="1"/>
        </p:nvGrpSpPr>
        <p:grpSpPr>
          <a:xfrm>
            <a:off x="9818224" y="6087939"/>
            <a:ext cx="2554142" cy="650953"/>
            <a:chOff x="9437224" y="6087939"/>
            <a:chExt cx="2554142" cy="650953"/>
          </a:xfrm>
        </p:grpSpPr>
        <p:pic>
          <p:nvPicPr>
            <p:cNvPr id="23" name="Picture 22">
              <a:extLst>
                <a:ext uri="{FF2B5EF4-FFF2-40B4-BE49-F238E27FC236}">
                  <a16:creationId xmlns:a16="http://schemas.microsoft.com/office/drawing/2014/main" id="{8DD61FEC-075B-4EDD-97CA-36E6F72630F4}"/>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48046" y="6151439"/>
              <a:ext cx="1932495" cy="587453"/>
            </a:xfrm>
            <a:prstGeom prst="rect">
              <a:avLst/>
            </a:prstGeom>
          </p:spPr>
        </p:pic>
        <p:sp>
          <p:nvSpPr>
            <p:cNvPr id="24" name="Rectangle 23">
              <a:extLst>
                <a:ext uri="{FF2B5EF4-FFF2-40B4-BE49-F238E27FC236}">
                  <a16:creationId xmlns:a16="http://schemas.microsoft.com/office/drawing/2014/main" id="{CB550E12-AA95-4B1B-A8D2-ED01E515FC43}"/>
                </a:ext>
              </a:extLst>
            </p:cNvPr>
            <p:cNvSpPr/>
            <p:nvPr userDrawn="1"/>
          </p:nvSpPr>
          <p:spPr>
            <a:xfrm>
              <a:off x="9437224" y="6087939"/>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5" name="Picture 24">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26" name="Picture 25">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7"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28"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29"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001692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grpSp>
        <p:nvGrpSpPr>
          <p:cNvPr id="14" name="Group 13"/>
          <p:cNvGrpSpPr/>
          <p:nvPr userDrawn="1"/>
        </p:nvGrpSpPr>
        <p:grpSpPr>
          <a:xfrm>
            <a:off x="9726758" y="149992"/>
            <a:ext cx="2554142" cy="587454"/>
            <a:chOff x="9475296" y="5890392"/>
            <a:chExt cx="2554142" cy="587454"/>
          </a:xfrm>
        </p:grpSpPr>
        <p:pic>
          <p:nvPicPr>
            <p:cNvPr id="15" name="Picture 14">
              <a:extLst>
                <a:ext uri="{FF2B5EF4-FFF2-40B4-BE49-F238E27FC236}">
                  <a16:creationId xmlns:a16="http://schemas.microsoft.com/office/drawing/2014/main" id="{23F8D339-A0AA-4150-B7E8-C84E7F2AB7D0}"/>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24218" y="5890392"/>
              <a:ext cx="1932495" cy="587453"/>
            </a:xfrm>
            <a:prstGeom prst="rect">
              <a:avLst/>
            </a:prstGeom>
          </p:spPr>
        </p:pic>
        <p:sp>
          <p:nvSpPr>
            <p:cNvPr id="19" name="Rectangle 18">
              <a:extLst>
                <a:ext uri="{FF2B5EF4-FFF2-40B4-BE49-F238E27FC236}">
                  <a16:creationId xmlns:a16="http://schemas.microsoft.com/office/drawing/2014/main" id="{6112BAB0-1CB8-413D-970D-4F482F1A0EDB}"/>
                </a:ext>
              </a:extLst>
            </p:cNvPr>
            <p:cNvSpPr/>
            <p:nvPr userDrawn="1"/>
          </p:nvSpPr>
          <p:spPr>
            <a:xfrm>
              <a:off x="9475296" y="5890392"/>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Pradyumansinh</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Jadeja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571998"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2301CS301(DS)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(Part</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 2)</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 Linked List - Linear Data Structure</a:t>
            </a:r>
          </a:p>
        </p:txBody>
      </p:sp>
      <p:sp>
        <p:nvSpPr>
          <p:cNvPr id="18"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1972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grpSp>
        <p:nvGrpSpPr>
          <p:cNvPr id="20" name="Group 19"/>
          <p:cNvGrpSpPr/>
          <p:nvPr userDrawn="1"/>
        </p:nvGrpSpPr>
        <p:grpSpPr>
          <a:xfrm>
            <a:off x="9726758" y="6003345"/>
            <a:ext cx="2554142" cy="587454"/>
            <a:chOff x="9475296" y="5890392"/>
            <a:chExt cx="2554142" cy="587454"/>
          </a:xfrm>
        </p:grpSpPr>
        <p:pic>
          <p:nvPicPr>
            <p:cNvPr id="21" name="Picture 20">
              <a:extLst>
                <a:ext uri="{FF2B5EF4-FFF2-40B4-BE49-F238E27FC236}">
                  <a16:creationId xmlns:a16="http://schemas.microsoft.com/office/drawing/2014/main" id="{23F8D339-A0AA-4150-B7E8-C84E7F2AB7D0}"/>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24218" y="5890392"/>
              <a:ext cx="1932495" cy="587453"/>
            </a:xfrm>
            <a:prstGeom prst="rect">
              <a:avLst/>
            </a:prstGeom>
          </p:spPr>
        </p:pic>
        <p:sp>
          <p:nvSpPr>
            <p:cNvPr id="23" name="Rectangle 22">
              <a:extLst>
                <a:ext uri="{FF2B5EF4-FFF2-40B4-BE49-F238E27FC236}">
                  <a16:creationId xmlns:a16="http://schemas.microsoft.com/office/drawing/2014/main" id="{6112BAB0-1CB8-413D-970D-4F482F1A0EDB}"/>
                </a:ext>
              </a:extLst>
            </p:cNvPr>
            <p:cNvSpPr/>
            <p:nvPr userDrawn="1"/>
          </p:nvSpPr>
          <p:spPr>
            <a:xfrm>
              <a:off x="9475296" y="5890392"/>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Pradyumansinh</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Jadeja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571998"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2301CS301(DS)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(Part</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 2)</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 Linked List - Linear Data Structure</a:t>
            </a:r>
          </a:p>
        </p:txBody>
      </p:sp>
      <p:sp>
        <p:nvSpPr>
          <p:cNvPr id="18"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19" name="Straight Connector 18">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6247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grpSp>
        <p:nvGrpSpPr>
          <p:cNvPr id="14" name="Group 13"/>
          <p:cNvGrpSpPr/>
          <p:nvPr userDrawn="1"/>
        </p:nvGrpSpPr>
        <p:grpSpPr>
          <a:xfrm>
            <a:off x="-249812" y="5977321"/>
            <a:ext cx="2554142" cy="587454"/>
            <a:chOff x="9475296" y="5890392"/>
            <a:chExt cx="2554142" cy="587454"/>
          </a:xfrm>
        </p:grpSpPr>
        <p:pic>
          <p:nvPicPr>
            <p:cNvPr id="15" name="Picture 14">
              <a:extLst>
                <a:ext uri="{FF2B5EF4-FFF2-40B4-BE49-F238E27FC236}">
                  <a16:creationId xmlns:a16="http://schemas.microsoft.com/office/drawing/2014/main" id="{23F8D339-A0AA-4150-B7E8-C84E7F2AB7D0}"/>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24218" y="5890392"/>
              <a:ext cx="1932495" cy="587453"/>
            </a:xfrm>
            <a:prstGeom prst="rect">
              <a:avLst/>
            </a:prstGeom>
          </p:spPr>
        </p:pic>
        <p:sp>
          <p:nvSpPr>
            <p:cNvPr id="19" name="Rectangle 18">
              <a:extLst>
                <a:ext uri="{FF2B5EF4-FFF2-40B4-BE49-F238E27FC236}">
                  <a16:creationId xmlns:a16="http://schemas.microsoft.com/office/drawing/2014/main" id="{6112BAB0-1CB8-413D-970D-4F482F1A0EDB}"/>
                </a:ext>
              </a:extLst>
            </p:cNvPr>
            <p:cNvSpPr/>
            <p:nvPr userDrawn="1"/>
          </p:nvSpPr>
          <p:spPr>
            <a:xfrm>
              <a:off x="9475296" y="5890392"/>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Pradyumansinh</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Jadeja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571998"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2301CS301(DS)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(Part</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 2)</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 Linked List - Linear Data Structure</a:t>
            </a:r>
          </a:p>
        </p:txBody>
      </p:sp>
      <p:sp>
        <p:nvSpPr>
          <p:cNvPr id="18"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3314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6158597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4000" y="106364"/>
            <a:ext cx="11684000" cy="808037"/>
          </a:xfrm>
        </p:spPr>
        <p:txBody>
          <a:bodyPr>
            <a:normAutofit/>
          </a:bodyPr>
          <a:lstStyle>
            <a:lvl1pPr algn="l">
              <a:defRPr lang="en-US" sz="4400" b="0" kern="1200" dirty="0">
                <a:solidFill>
                  <a:schemeClr val="tx1"/>
                </a:solidFill>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254000" y="990600"/>
            <a:ext cx="11684000" cy="5334000"/>
          </a:xfrm>
        </p:spPr>
        <p:txBody>
          <a:bodyPr>
            <a:normAutofit/>
          </a:bodyPr>
          <a:lstStyle>
            <a:lvl1pPr marL="342900" indent="-342900" algn="just" defTabSz="914400" rtl="0" eaLnBrk="1" latinLnBrk="0" hangingPunct="1">
              <a:lnSpc>
                <a:spcPct val="90000"/>
              </a:lnSpc>
              <a:spcBef>
                <a:spcPts val="600"/>
              </a:spcBef>
              <a:buClrTx/>
              <a:buFont typeface="Wingdings" panose="05000000000000000000" pitchFamily="2" charset="2"/>
              <a:buChar char="§"/>
              <a:defRPr lang="en-US" sz="2400" kern="1200" dirty="0" smtClean="0">
                <a:solidFill>
                  <a:schemeClr val="tx1"/>
                </a:solidFill>
                <a:latin typeface="+mj-lt"/>
                <a:ea typeface="Times New Roman" panose="02020603050405020304" pitchFamily="18" charset="0"/>
                <a:cs typeface="Times New Roman" panose="02020603050405020304" pitchFamily="18" charset="0"/>
              </a:defRPr>
            </a:lvl1pPr>
            <a:lvl2pPr marL="704850" indent="-342900" algn="just" defTabSz="914400" rtl="0" eaLnBrk="1" latinLnBrk="0" hangingPunct="1">
              <a:lnSpc>
                <a:spcPct val="90000"/>
              </a:lnSpc>
              <a:spcBef>
                <a:spcPts val="600"/>
              </a:spcBef>
              <a:buClrTx/>
              <a:buFont typeface="Arial" panose="020B0604020202020204" pitchFamily="34" charset="0"/>
              <a:buChar char="•"/>
              <a:defRPr lang="en-US" sz="2300" kern="1200" dirty="0" smtClean="0">
                <a:solidFill>
                  <a:schemeClr val="tx1"/>
                </a:solidFill>
                <a:latin typeface="+mj-lt"/>
                <a:ea typeface="Times New Roman" panose="02020603050405020304" pitchFamily="18" charset="0"/>
                <a:cs typeface="Times New Roman" panose="02020603050405020304" pitchFamily="18" charset="0"/>
              </a:defRPr>
            </a:lvl2pPr>
            <a:lvl3pPr marL="968375" indent="-342900" algn="just" defTabSz="914400" rtl="0" eaLnBrk="1" latinLnBrk="0" hangingPunct="1">
              <a:lnSpc>
                <a:spcPct val="90000"/>
              </a:lnSpc>
              <a:spcBef>
                <a:spcPts val="600"/>
              </a:spcBef>
              <a:buClrTx/>
              <a:defRPr lang="en-US" sz="2200" kern="1200" dirty="0" smtClean="0">
                <a:solidFill>
                  <a:schemeClr val="tx1"/>
                </a:solidFill>
                <a:latin typeface="+mj-lt"/>
                <a:ea typeface="Times New Roman" panose="02020603050405020304" pitchFamily="18" charset="0"/>
                <a:cs typeface="Times New Roman" panose="02020603050405020304" pitchFamily="18" charset="0"/>
              </a:defRPr>
            </a:lvl3pPr>
            <a:lvl4pPr marL="1239837" indent="-342900" algn="just" defTabSz="914400" rtl="0" eaLnBrk="1" latinLnBrk="0" hangingPunct="1">
              <a:lnSpc>
                <a:spcPct val="90000"/>
              </a:lnSpc>
              <a:spcBef>
                <a:spcPts val="600"/>
              </a:spcBef>
              <a:buClrTx/>
              <a:defRPr lang="en-US" sz="2000" kern="1200" dirty="0" smtClean="0">
                <a:solidFill>
                  <a:schemeClr val="tx1"/>
                </a:solidFill>
                <a:latin typeface="+mj-lt"/>
                <a:ea typeface="Times New Roman" panose="02020603050405020304" pitchFamily="18" charset="0"/>
                <a:cs typeface="Times New Roman" panose="02020603050405020304" pitchFamily="18" charset="0"/>
              </a:defRPr>
            </a:lvl4pPr>
            <a:lvl5pPr marL="1454150" indent="-285750" algn="just" defTabSz="914400" rtl="0" eaLnBrk="1" latinLnBrk="0" hangingPunct="1">
              <a:lnSpc>
                <a:spcPct val="90000"/>
              </a:lnSpc>
              <a:spcBef>
                <a:spcPts val="600"/>
              </a:spcBef>
              <a:buClrTx/>
              <a:defRPr lang="en-US" sz="1600" kern="1200" dirty="0">
                <a:solidFill>
                  <a:schemeClr val="tx1"/>
                </a:solidFill>
                <a:latin typeface="+mj-lt"/>
                <a:ea typeface="Times New Roman" panose="02020603050405020304" pitchFamily="18" charset="0"/>
                <a:cs typeface="Times New Roman" panose="02020603050405020304" pitchFamily="18" charset="0"/>
              </a:defRPr>
            </a:lvl5pPr>
          </a:lstStyle>
          <a:p>
            <a:pPr marL="342900" lvl="0" indent="-342900" algn="l" defTabSz="914400" rtl="0" eaLnBrk="1" latinLnBrk="0" hangingPunct="1">
              <a:lnSpc>
                <a:spcPct val="90000"/>
              </a:lnSpc>
              <a:spcBef>
                <a:spcPts val="600"/>
              </a:spcBef>
              <a:buClrTx/>
              <a:buFont typeface="Wingdings" panose="05000000000000000000" pitchFamily="2" charset="2"/>
              <a:buChar char="§"/>
            </a:pPr>
            <a:r>
              <a:rPr lang="en-US" dirty="0"/>
              <a:t>Click to edit Master text styles</a:t>
            </a:r>
          </a:p>
          <a:p>
            <a:pPr marL="625475" lvl="1" indent="-263525" algn="just" defTabSz="914400" rtl="0" eaLnBrk="1" latinLnBrk="0" hangingPunct="1">
              <a:lnSpc>
                <a:spcPct val="90000"/>
              </a:lnSpc>
              <a:spcBef>
                <a:spcPts val="600"/>
              </a:spcBef>
              <a:buClrTx/>
              <a:buFont typeface="Arial" panose="020B0604020202020204" pitchFamily="34" charset="0"/>
              <a:buChar char="•"/>
            </a:pPr>
            <a:r>
              <a:rPr lang="en-US" dirty="0"/>
              <a:t>Second level</a:t>
            </a:r>
          </a:p>
          <a:p>
            <a:pPr marL="896938" lvl="2" indent="-271463" algn="just" defTabSz="914400" rtl="0" eaLnBrk="1" latinLnBrk="0" hangingPunct="1">
              <a:lnSpc>
                <a:spcPct val="90000"/>
              </a:lnSpc>
              <a:spcBef>
                <a:spcPts val="600"/>
              </a:spcBef>
              <a:buClrTx/>
              <a:buFont typeface="Arial" pitchFamily="34" charset="0"/>
              <a:buChar char="•"/>
            </a:pPr>
            <a:r>
              <a:rPr lang="en-US" dirty="0"/>
              <a:t>Third level</a:t>
            </a:r>
          </a:p>
          <a:p>
            <a:pPr marL="1168400" lvl="3" indent="-271463" algn="just" defTabSz="914400" rtl="0" eaLnBrk="1" latinLnBrk="0" hangingPunct="1">
              <a:lnSpc>
                <a:spcPct val="90000"/>
              </a:lnSpc>
              <a:spcBef>
                <a:spcPts val="600"/>
              </a:spcBef>
              <a:buClrTx/>
              <a:buFont typeface="Arial" pitchFamily="34" charset="0"/>
              <a:buChar char="–"/>
            </a:pPr>
            <a:r>
              <a:rPr lang="en-US" dirty="0"/>
              <a:t>Fourth level</a:t>
            </a:r>
          </a:p>
          <a:p>
            <a:pPr marL="1439863" lvl="4" indent="-271463" algn="just" defTabSz="914400" rtl="0" eaLnBrk="1" latinLnBrk="0" hangingPunct="1">
              <a:lnSpc>
                <a:spcPct val="90000"/>
              </a:lnSpc>
              <a:spcBef>
                <a:spcPts val="600"/>
              </a:spcBef>
              <a:buClrTx/>
              <a:buFont typeface="Arial" pitchFamily="34" charset="0"/>
              <a:buChar char="»"/>
            </a:pPr>
            <a:r>
              <a:rPr lang="en-US" dirty="0"/>
              <a:t>Fifth level</a:t>
            </a:r>
          </a:p>
        </p:txBody>
      </p:sp>
      <p:sp>
        <p:nvSpPr>
          <p:cNvPr id="5" name="Rektangel 11"/>
          <p:cNvSpPr/>
          <p:nvPr userDrawn="1"/>
        </p:nvSpPr>
        <p:spPr>
          <a:xfrm>
            <a:off x="0" y="6477000"/>
            <a:ext cx="53848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defRPr/>
            </a:pPr>
            <a:r>
              <a:rPr lang="da-DK" sz="1800" noProof="1">
                <a:solidFill>
                  <a:srgbClr val="FFFFFF"/>
                </a:solidFill>
                <a:latin typeface="+mj-lt"/>
                <a:ea typeface="Open Sans" panose="020B0606030504020204" pitchFamily="34" charset="0"/>
                <a:cs typeface="Open Sans" panose="020B0606030504020204" pitchFamily="34" charset="0"/>
              </a:rPr>
              <a:t>Unit</a:t>
            </a:r>
            <a:r>
              <a:rPr lang="da-DK" sz="1800" baseline="0" noProof="1">
                <a:solidFill>
                  <a:srgbClr val="FFFFFF"/>
                </a:solidFill>
                <a:latin typeface="+mj-lt"/>
                <a:ea typeface="Open Sans" panose="020B0606030504020204" pitchFamily="34" charset="0"/>
                <a:cs typeface="Open Sans" panose="020B0606030504020204" pitchFamily="34" charset="0"/>
              </a:rPr>
              <a:t> – 2: </a:t>
            </a:r>
            <a:r>
              <a:rPr lang="en-US" sz="1800" dirty="0"/>
              <a:t>Linear Data Structure</a:t>
            </a:r>
            <a:endParaRPr lang="da-DK" sz="18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254000" y="914400"/>
            <a:ext cx="11684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 name="Rektangel 11"/>
          <p:cNvSpPr/>
          <p:nvPr userDrawn="1"/>
        </p:nvSpPr>
        <p:spPr>
          <a:xfrm>
            <a:off x="6197600" y="6480727"/>
            <a:ext cx="59944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defRPr/>
            </a:pPr>
            <a:r>
              <a:rPr lang="en-US" sz="1800" noProof="1">
                <a:solidFill>
                  <a:srgbClr val="FFFFFF"/>
                </a:solidFill>
                <a:latin typeface="+mj-lt"/>
                <a:ea typeface="Open Sans" panose="020B0606030504020204" pitchFamily="34" charset="0"/>
                <a:cs typeface="Open Sans" panose="020B0606030504020204" pitchFamily="34" charset="0"/>
              </a:rPr>
              <a:t>Darshan</a:t>
            </a:r>
            <a:r>
              <a:rPr lang="en-US" sz="1800" baseline="0" noProof="1">
                <a:solidFill>
                  <a:srgbClr val="FFFFFF"/>
                </a:solidFill>
                <a:latin typeface="+mj-lt"/>
                <a:ea typeface="Open Sans" panose="020B0606030504020204" pitchFamily="34" charset="0"/>
                <a:cs typeface="Open Sans" panose="020B0606030504020204" pitchFamily="34" charset="0"/>
              </a:rPr>
              <a:t> Institute of Engineering &amp; Technology</a:t>
            </a:r>
            <a:endParaRPr lang="da-DK" sz="1800" noProof="1">
              <a:solidFill>
                <a:srgbClr val="FFFFFF"/>
              </a:solidFill>
              <a:latin typeface="+mj-lt"/>
              <a:ea typeface="Open Sans" panose="020B0606030504020204" pitchFamily="34" charset="0"/>
              <a:cs typeface="Open Sans" panose="020B0606030504020204" pitchFamily="34" charset="0"/>
            </a:endParaRPr>
          </a:p>
        </p:txBody>
      </p:sp>
      <p:sp>
        <p:nvSpPr>
          <p:cNvPr id="10" name="Rektangel 11"/>
          <p:cNvSpPr/>
          <p:nvPr userDrawn="1"/>
        </p:nvSpPr>
        <p:spPr>
          <a:xfrm>
            <a:off x="5384800" y="6477000"/>
            <a:ext cx="8128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fld id="{4CCBBDC9-ADEB-48F3-A42C-1AD0249F062A}" type="slidenum">
              <a:rPr lang="da-DK" sz="1800" noProof="1" smtClean="0">
                <a:solidFill>
                  <a:srgbClr val="FFFFFF"/>
                </a:solidFill>
                <a:latin typeface="+mj-lt"/>
                <a:ea typeface="Open Sans" panose="020B0606030504020204" pitchFamily="34" charset="0"/>
                <a:cs typeface="Open Sans" panose="020B0606030504020204" pitchFamily="34" charset="0"/>
              </a:rPr>
              <a:pPr indent="-342900" algn="ctr">
                <a:defRPr/>
              </a:pPr>
              <a:t>‹#›</a:t>
            </a:fld>
            <a:endParaRPr lang="da-DK" sz="1800" noProof="1">
              <a:solidFill>
                <a:srgbClr val="FFFFFF"/>
              </a:solidFill>
              <a:latin typeface="+mj-lt"/>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0305711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extLst>
      <p:ext uri="{BB962C8B-B14F-4D97-AF65-F5344CB8AC3E}">
        <p14:creationId xmlns:p14="http://schemas.microsoft.com/office/powerpoint/2010/main" val="3625638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6/16/2026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93" r:id="rId2"/>
    <p:sldLayoutId id="2147483670" r:id="rId3"/>
    <p:sldLayoutId id="2147483687" r:id="rId4"/>
    <p:sldLayoutId id="2147483688" r:id="rId5"/>
    <p:sldLayoutId id="2147483671" r:id="rId6"/>
    <p:sldLayoutId id="2147483672" r:id="rId7"/>
    <p:sldLayoutId id="2147483689" r:id="rId8"/>
    <p:sldLayoutId id="2147483690" r:id="rId9"/>
    <p:sldLayoutId id="2147483673" r:id="rId10"/>
    <p:sldLayoutId id="2147483691" r:id="rId11"/>
    <p:sldLayoutId id="2147483674" r:id="rId12"/>
    <p:sldLayoutId id="2147483676" r:id="rId13"/>
    <p:sldLayoutId id="2147483677" r:id="rId14"/>
    <p:sldLayoutId id="2147483678" r:id="rId15"/>
    <p:sldLayoutId id="2147483679" r:id="rId16"/>
    <p:sldLayoutId id="2147483681" r:id="rId17"/>
    <p:sldLayoutId id="2147483683" r:id="rId18"/>
    <p:sldLayoutId id="2147483682" r:id="rId19"/>
    <p:sldLayoutId id="2147483684" r:id="rId20"/>
    <p:sldLayoutId id="2147483685" r:id="rId21"/>
    <p:sldLayoutId id="2147483686" r:id="rId22"/>
    <p:sldLayoutId id="2147483694" r:id="rId23"/>
    <p:sldLayoutId id="2147483695" r:id="rId2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A5353-D4D5-43D7-A039-6CFC6871D64F}"/>
              </a:ext>
            </a:extLst>
          </p:cNvPr>
          <p:cNvSpPr>
            <a:spLocks noGrp="1"/>
          </p:cNvSpPr>
          <p:nvPr>
            <p:ph type="ctrTitle"/>
          </p:nvPr>
        </p:nvSpPr>
        <p:spPr>
          <a:xfrm>
            <a:off x="559490" y="1122364"/>
            <a:ext cx="7060510" cy="2563094"/>
          </a:xfrm>
        </p:spPr>
        <p:txBody>
          <a:bodyPr/>
          <a:lstStyle/>
          <a:p>
            <a:r>
              <a:rPr lang="en-US" sz="4400" b="0" dirty="0">
                <a:latin typeface="Roboto Condensed Light" panose="02000000000000000000" pitchFamily="2" charset="0"/>
                <a:ea typeface="Roboto Condensed Light" panose="02000000000000000000" pitchFamily="2" charset="0"/>
              </a:rPr>
              <a:t>Unit-2 (Part 2)</a:t>
            </a:r>
            <a:r>
              <a:rPr lang="en-US" sz="6000" dirty="0"/>
              <a:t> </a:t>
            </a:r>
            <a:br>
              <a:rPr lang="en-US" sz="6000" dirty="0"/>
            </a:br>
            <a:r>
              <a:rPr lang="en-US" sz="6000" dirty="0"/>
              <a:t>Linked List</a:t>
            </a:r>
            <a:br>
              <a:rPr lang="en-US" sz="6000" dirty="0"/>
            </a:br>
            <a:r>
              <a:rPr lang="en-US" sz="6000" b="0" dirty="0"/>
              <a:t>Linear Data Structure</a:t>
            </a:r>
          </a:p>
        </p:txBody>
      </p:sp>
      <p:sp>
        <p:nvSpPr>
          <p:cNvPr id="3" name="Text Placeholder 2">
            <a:extLst>
              <a:ext uri="{FF2B5EF4-FFF2-40B4-BE49-F238E27FC236}">
                <a16:creationId xmlns:a16="http://schemas.microsoft.com/office/drawing/2014/main" id="{E4D4005A-4647-4086-9144-7BCC7DFEFB1B}"/>
              </a:ext>
            </a:extLst>
          </p:cNvPr>
          <p:cNvSpPr>
            <a:spLocks noGrp="1"/>
          </p:cNvSpPr>
          <p:nvPr>
            <p:ph type="body" sz="quarter" idx="11"/>
          </p:nvPr>
        </p:nvSpPr>
        <p:spPr/>
        <p:txBody>
          <a:bodyPr/>
          <a:lstStyle/>
          <a:p>
            <a:r>
              <a:rPr lang="en-US" dirty="0"/>
              <a:t>pradyuman.jadeja@darshan.ac.in</a:t>
            </a:r>
          </a:p>
        </p:txBody>
      </p:sp>
      <p:sp>
        <p:nvSpPr>
          <p:cNvPr id="4" name="Text Placeholder 3">
            <a:extLst>
              <a:ext uri="{FF2B5EF4-FFF2-40B4-BE49-F238E27FC236}">
                <a16:creationId xmlns:a16="http://schemas.microsoft.com/office/drawing/2014/main" id="{6F817D43-889A-4049-ACFD-9B3B648B6A91}"/>
              </a:ext>
            </a:extLst>
          </p:cNvPr>
          <p:cNvSpPr>
            <a:spLocks noGrp="1"/>
          </p:cNvSpPr>
          <p:nvPr>
            <p:ph type="body" sz="quarter" idx="12"/>
          </p:nvPr>
        </p:nvSpPr>
        <p:spPr/>
        <p:txBody>
          <a:bodyPr/>
          <a:lstStyle/>
          <a:p>
            <a:r>
              <a:rPr lang="en-US" dirty="0"/>
              <a:t>+91 9879461848</a:t>
            </a:r>
          </a:p>
        </p:txBody>
      </p:sp>
      <p:sp>
        <p:nvSpPr>
          <p:cNvPr id="5" name="Text Placeholder 4">
            <a:extLst>
              <a:ext uri="{FF2B5EF4-FFF2-40B4-BE49-F238E27FC236}">
                <a16:creationId xmlns:a16="http://schemas.microsoft.com/office/drawing/2014/main" id="{B786D614-6447-4787-8025-9C902A1B7344}"/>
              </a:ext>
            </a:extLst>
          </p:cNvPr>
          <p:cNvSpPr>
            <a:spLocks noGrp="1"/>
          </p:cNvSpPr>
          <p:nvPr>
            <p:ph type="body" sz="quarter" idx="13"/>
          </p:nvPr>
        </p:nvSpPr>
        <p:spPr/>
        <p:txBody>
          <a:bodyPr/>
          <a:lstStyle/>
          <a:p>
            <a:r>
              <a:rPr lang="en-US" dirty="0"/>
              <a:t>Computer Engineering Department</a:t>
            </a:r>
          </a:p>
        </p:txBody>
      </p:sp>
      <p:sp>
        <p:nvSpPr>
          <p:cNvPr id="6" name="Text Placeholder 5">
            <a:extLst>
              <a:ext uri="{FF2B5EF4-FFF2-40B4-BE49-F238E27FC236}">
                <a16:creationId xmlns:a16="http://schemas.microsoft.com/office/drawing/2014/main" id="{1F7AB9BC-FE08-46B2-A19C-803CB5DF0CD1}"/>
              </a:ext>
            </a:extLst>
          </p:cNvPr>
          <p:cNvSpPr>
            <a:spLocks noGrp="1"/>
          </p:cNvSpPr>
          <p:nvPr>
            <p:ph type="body" sz="quarter" idx="14"/>
          </p:nvPr>
        </p:nvSpPr>
        <p:spPr/>
        <p:txBody>
          <a:bodyPr/>
          <a:lstStyle/>
          <a:p>
            <a:r>
              <a:rPr lang="en-US" dirty="0"/>
              <a:t>Dr. </a:t>
            </a:r>
            <a:r>
              <a:rPr lang="en-US" dirty="0" err="1"/>
              <a:t>Pradyumansinh</a:t>
            </a:r>
            <a:r>
              <a:rPr lang="en-US" dirty="0"/>
              <a:t> </a:t>
            </a:r>
            <a:r>
              <a:rPr lang="en-US" dirty="0" err="1"/>
              <a:t>Jadeja</a:t>
            </a:r>
            <a:endParaRPr lang="en-US" dirty="0"/>
          </a:p>
        </p:txBody>
      </p:sp>
      <p:sp>
        <p:nvSpPr>
          <p:cNvPr id="1027" name="Text Placeholder 1026">
            <a:extLst>
              <a:ext uri="{FF2B5EF4-FFF2-40B4-BE49-F238E27FC236}">
                <a16:creationId xmlns:a16="http://schemas.microsoft.com/office/drawing/2014/main" id="{D1F0AA94-EAF3-4868-942A-0125EFC5C764}"/>
              </a:ext>
            </a:extLst>
          </p:cNvPr>
          <p:cNvSpPr>
            <a:spLocks noGrp="1"/>
          </p:cNvSpPr>
          <p:nvPr>
            <p:ph type="body" sz="quarter" idx="16"/>
          </p:nvPr>
        </p:nvSpPr>
        <p:spPr/>
        <p:txBody>
          <a:bodyPr/>
          <a:lstStyle/>
          <a:p>
            <a:r>
              <a:rPr lang="en-US" b="1" dirty="0"/>
              <a:t>Data Structures </a:t>
            </a:r>
            <a:r>
              <a:rPr lang="en-US" dirty="0">
                <a:latin typeface="Roboto Condensed Light" panose="02000000000000000000" pitchFamily="2" charset="0"/>
                <a:ea typeface="Roboto Condensed Light" panose="02000000000000000000" pitchFamily="2" charset="0"/>
              </a:rPr>
              <a:t>(DS)</a:t>
            </a:r>
          </a:p>
          <a:p>
            <a:r>
              <a:rPr lang="en-US" dirty="0">
                <a:latin typeface="Roboto Condensed Light" panose="02000000000000000000" pitchFamily="2" charset="0"/>
                <a:ea typeface="Roboto Condensed Light" panose="02000000000000000000" pitchFamily="2" charset="0"/>
              </a:rPr>
              <a:t>DU #2301CS301</a:t>
            </a:r>
          </a:p>
        </p:txBody>
      </p:sp>
      <p:sp>
        <p:nvSpPr>
          <p:cNvPr id="11" name="AutoShape 3">
            <a:extLst>
              <a:ext uri="{FF2B5EF4-FFF2-40B4-BE49-F238E27FC236}">
                <a16:creationId xmlns:a16="http://schemas.microsoft.com/office/drawing/2014/main"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8" name="Picture Placeholder 7"/>
          <p:cNvPicPr>
            <a:picLocks noGrp="1" noChangeAspect="1"/>
          </p:cNvPicPr>
          <p:nvPr>
            <p:ph type="pic" sz="quarter" idx="10"/>
          </p:nvPr>
        </p:nvPicPr>
        <p:blipFill>
          <a:blip r:embed="rId2" cstate="hqprint">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661001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397907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2" y="1157831"/>
            <a:ext cx="9688649" cy="5262979"/>
          </a:xfrm>
          <a:prstGeom prst="rect">
            <a:avLst/>
          </a:prstGeom>
          <a:noFill/>
        </p:spPr>
        <p:txBody>
          <a:bodyPr wrap="square" rtlCol="0">
            <a:spAutoFit/>
          </a:bodyPr>
          <a:lstStyle/>
          <a:p>
            <a:r>
              <a:rPr lang="en-US" sz="2400" b="1" dirty="0"/>
              <a:t>Topics to be covered</a:t>
            </a:r>
          </a:p>
          <a:p>
            <a:pPr marL="800100" lvl="1" indent="-342900">
              <a:buFont typeface="Wingdings" panose="05000000000000000000" pitchFamily="2" charset="2"/>
              <a:buChar char="§"/>
            </a:pPr>
            <a:r>
              <a:rPr lang="en-US" sz="2400" dirty="0">
                <a:solidFill>
                  <a:schemeClr val="bg1">
                    <a:lumMod val="50000"/>
                  </a:schemeClr>
                </a:solidFill>
              </a:rPr>
              <a:t>What is a Linked List?</a:t>
            </a:r>
          </a:p>
          <a:p>
            <a:pPr marL="800100" lvl="1" indent="-342900">
              <a:buFont typeface="Wingdings" panose="05000000000000000000" pitchFamily="2" charset="2"/>
              <a:buChar char="§"/>
            </a:pPr>
            <a:r>
              <a:rPr lang="en-US" sz="2400" dirty="0">
                <a:solidFill>
                  <a:schemeClr val="bg1">
                    <a:lumMod val="50000"/>
                  </a:schemeClr>
                </a:solidFill>
              </a:rPr>
              <a:t>Linked Storage Representation vs. Continuous Storage Representation</a:t>
            </a:r>
          </a:p>
          <a:p>
            <a:pPr marL="800100" lvl="1" indent="-342900">
              <a:buFont typeface="Wingdings" panose="05000000000000000000" pitchFamily="2" charset="2"/>
              <a:buChar char="§"/>
            </a:pPr>
            <a:r>
              <a:rPr lang="en-US" sz="2400" dirty="0">
                <a:solidFill>
                  <a:schemeClr val="bg1">
                    <a:lumMod val="50000"/>
                  </a:schemeClr>
                </a:solidFill>
              </a:rPr>
              <a:t>Type of Linked List</a:t>
            </a:r>
          </a:p>
          <a:p>
            <a:pPr marL="800100" lvl="1" indent="-342900">
              <a:buFont typeface="Wingdings" panose="05000000000000000000" pitchFamily="2" charset="2"/>
              <a:buChar char="§"/>
            </a:pPr>
            <a:r>
              <a:rPr lang="en-US" sz="2400" dirty="0">
                <a:solidFill>
                  <a:schemeClr val="bg1">
                    <a:lumMod val="50000"/>
                  </a:schemeClr>
                </a:solidFill>
              </a:rPr>
              <a:t>Operations on Linked List</a:t>
            </a:r>
          </a:p>
          <a:p>
            <a:pPr marL="800100" lvl="1" indent="-342900">
              <a:buFont typeface="Wingdings" panose="05000000000000000000" pitchFamily="2" charset="2"/>
              <a:buChar char="§"/>
            </a:pPr>
            <a:r>
              <a:rPr lang="en-US" sz="2400" dirty="0">
                <a:solidFill>
                  <a:schemeClr val="bg1">
                    <a:lumMod val="50000"/>
                  </a:schemeClr>
                </a:solidFill>
              </a:rPr>
              <a:t>Singly Linked List</a:t>
            </a:r>
          </a:p>
          <a:p>
            <a:pPr marL="1257300" lvl="2" indent="-342900">
              <a:buFont typeface="Arial" panose="020B0604020202020204" pitchFamily="34" charset="0"/>
              <a:buChar char="•"/>
            </a:pPr>
            <a:r>
              <a:rPr lang="en-US" sz="2400" dirty="0">
                <a:solidFill>
                  <a:schemeClr val="bg1">
                    <a:lumMod val="50000"/>
                  </a:schemeClr>
                </a:solidFill>
              </a:rPr>
              <a:t>Node Structure of Singly List</a:t>
            </a:r>
          </a:p>
          <a:p>
            <a:pPr marL="1257300" lvl="2" indent="-342900">
              <a:buFont typeface="Arial" panose="020B0604020202020204" pitchFamily="34" charset="0"/>
              <a:buChar char="•"/>
            </a:pPr>
            <a:r>
              <a:rPr lang="en-US" sz="2400" dirty="0">
                <a:solidFill>
                  <a:schemeClr val="bg1">
                    <a:lumMod val="50000"/>
                  </a:schemeClr>
                </a:solidFill>
              </a:rPr>
              <a:t>Operations on Singly Linked List</a:t>
            </a:r>
          </a:p>
          <a:p>
            <a:pPr marL="800100" lvl="1" indent="-342900">
              <a:buFont typeface="Wingdings" panose="05000000000000000000" pitchFamily="2" charset="2"/>
              <a:buChar char="§"/>
            </a:pPr>
            <a:r>
              <a:rPr lang="en-US" sz="2400" dirty="0">
                <a:solidFill>
                  <a:schemeClr val="bg1">
                    <a:lumMod val="50000"/>
                  </a:schemeClr>
                </a:solidFill>
              </a:rPr>
              <a:t>Circularly Linked Linear List</a:t>
            </a:r>
          </a:p>
          <a:p>
            <a:pPr marL="1257300" lvl="2" indent="-342900">
              <a:buFont typeface="Arial" panose="020B0604020202020204" pitchFamily="34" charset="0"/>
              <a:buChar char="•"/>
            </a:pPr>
            <a:r>
              <a:rPr lang="en-US" sz="2400" dirty="0">
                <a:solidFill>
                  <a:schemeClr val="bg1">
                    <a:lumMod val="50000"/>
                  </a:schemeClr>
                </a:solidFill>
              </a:rPr>
              <a:t>Operations on Circularly Linked List</a:t>
            </a:r>
          </a:p>
          <a:p>
            <a:pPr marL="1257300" lvl="2" indent="-342900">
              <a:buFont typeface="Arial" panose="020B0604020202020204" pitchFamily="34" charset="0"/>
              <a:buChar char="•"/>
            </a:pPr>
            <a:r>
              <a:rPr lang="en-US" sz="2400" dirty="0">
                <a:solidFill>
                  <a:schemeClr val="bg1">
                    <a:lumMod val="50000"/>
                  </a:schemeClr>
                </a:solidFill>
              </a:rPr>
              <a:t>Circularly Linked List with Header Node</a:t>
            </a:r>
          </a:p>
          <a:p>
            <a:pPr marL="800100" lvl="1" indent="-342900">
              <a:buFont typeface="Wingdings" panose="05000000000000000000" pitchFamily="2" charset="2"/>
              <a:buChar char="§"/>
            </a:pPr>
            <a:r>
              <a:rPr lang="en-US" sz="2400" dirty="0">
                <a:solidFill>
                  <a:schemeClr val="bg1">
                    <a:lumMod val="50000"/>
                  </a:schemeClr>
                </a:solidFill>
              </a:rPr>
              <a:t>Doubly Linked Linear List</a:t>
            </a:r>
          </a:p>
          <a:p>
            <a:pPr marL="1257300" lvl="2" indent="-342900">
              <a:buFont typeface="Arial" panose="020B0604020202020204" pitchFamily="34" charset="0"/>
              <a:buChar char="•"/>
            </a:pPr>
            <a:r>
              <a:rPr lang="en-US" sz="2400" dirty="0">
                <a:solidFill>
                  <a:schemeClr val="bg1">
                    <a:lumMod val="50000"/>
                  </a:schemeClr>
                </a:solidFill>
              </a:rPr>
              <a:t>Node Structure of Doubly Linked List</a:t>
            </a:r>
          </a:p>
          <a:p>
            <a:pPr marL="1257300" lvl="2" indent="-342900">
              <a:buFont typeface="Arial" panose="020B0604020202020204" pitchFamily="34" charset="0"/>
              <a:buChar char="•"/>
            </a:pPr>
            <a:r>
              <a:rPr lang="en-US" sz="2400" dirty="0">
                <a:solidFill>
                  <a:schemeClr val="bg1">
                    <a:lumMod val="50000"/>
                  </a:schemeClr>
                </a:solidFill>
              </a:rPr>
              <a:t>Operations on Doubly Linked List</a:t>
            </a:r>
          </a:p>
        </p:txBody>
      </p:sp>
    </p:spTree>
    <p:extLst>
      <p:ext uri="{BB962C8B-B14F-4D97-AF65-F5344CB8AC3E}">
        <p14:creationId xmlns:p14="http://schemas.microsoft.com/office/powerpoint/2010/main" val="4139638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par>
                          <p:cTn id="14" fill="hold">
                            <p:stCondLst>
                              <p:cond delay="1000"/>
                            </p:stCondLst>
                            <p:childTnLst>
                              <p:par>
                                <p:cTn id="15" presetID="1"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up)">
                                      <p:cBhvr>
                                        <p:cTn id="20" dur="500"/>
                                        <p:tgtEl>
                                          <p:spTgt spid="8"/>
                                        </p:tgtEl>
                                      </p:cBhvr>
                                    </p:animEffect>
                                  </p:childTnLst>
                                </p:cTn>
                              </p:par>
                            </p:childTnLst>
                          </p:cTn>
                        </p:par>
                        <p:par>
                          <p:cTn id="21" fill="hold">
                            <p:stCondLst>
                              <p:cond delay="1500"/>
                            </p:stCondLst>
                            <p:childTnLst>
                              <p:par>
                                <p:cTn id="22" presetID="22" presetClass="entr" presetSubtype="1"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up)">
                                      <p:cBhvr>
                                        <p:cTn id="24" dur="500"/>
                                        <p:tgtEl>
                                          <p:spTgt spid="5"/>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up)">
                                      <p:cBhvr>
                                        <p:cTn id="2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Rectangle 169"/>
          <p:cNvSpPr/>
          <p:nvPr/>
        </p:nvSpPr>
        <p:spPr>
          <a:xfrm>
            <a:off x="0" y="711202"/>
            <a:ext cx="12192000" cy="6212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Title 49"/>
          <p:cNvSpPr>
            <a:spLocks noGrp="1"/>
          </p:cNvSpPr>
          <p:nvPr>
            <p:ph type="title"/>
          </p:nvPr>
        </p:nvSpPr>
        <p:spPr/>
        <p:txBody>
          <a:bodyPr/>
          <a:lstStyle/>
          <a:p>
            <a:r>
              <a:rPr lang="en-IN" dirty="0"/>
              <a:t>Linked List Concepts</a:t>
            </a:r>
          </a:p>
        </p:txBody>
      </p:sp>
      <p:sp>
        <p:nvSpPr>
          <p:cNvPr id="4" name="Rectangle 3"/>
          <p:cNvSpPr/>
          <p:nvPr/>
        </p:nvSpPr>
        <p:spPr>
          <a:xfrm>
            <a:off x="311499" y="1630974"/>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5" name="Rectangle 4"/>
          <p:cNvSpPr/>
          <p:nvPr/>
        </p:nvSpPr>
        <p:spPr>
          <a:xfrm>
            <a:off x="796558" y="1630973"/>
            <a:ext cx="485059" cy="418613"/>
          </a:xfrm>
          <a:prstGeom prst="rect">
            <a:avLst/>
          </a:prstGeom>
          <a:no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1</a:t>
            </a:r>
          </a:p>
        </p:txBody>
      </p:sp>
      <p:sp>
        <p:nvSpPr>
          <p:cNvPr id="6" name="Rectangle 5"/>
          <p:cNvSpPr/>
          <p:nvPr/>
        </p:nvSpPr>
        <p:spPr>
          <a:xfrm>
            <a:off x="1281617" y="1630973"/>
            <a:ext cx="485059" cy="418613"/>
          </a:xfrm>
          <a:prstGeom prst="rect">
            <a:avLst/>
          </a:prstGeom>
          <a:no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2</a:t>
            </a:r>
          </a:p>
        </p:txBody>
      </p:sp>
      <p:sp>
        <p:nvSpPr>
          <p:cNvPr id="7" name="Rectangle 6"/>
          <p:cNvSpPr/>
          <p:nvPr/>
        </p:nvSpPr>
        <p:spPr>
          <a:xfrm>
            <a:off x="1766676" y="1630972"/>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8" name="Rectangle 7"/>
          <p:cNvSpPr/>
          <p:nvPr/>
        </p:nvSpPr>
        <p:spPr>
          <a:xfrm>
            <a:off x="2251735" y="1630972"/>
            <a:ext cx="485059" cy="418613"/>
          </a:xfrm>
          <a:prstGeom prst="rect">
            <a:avLst/>
          </a:prstGeom>
          <a:no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3</a:t>
            </a:r>
          </a:p>
        </p:txBody>
      </p:sp>
      <p:sp>
        <p:nvSpPr>
          <p:cNvPr id="9" name="Rectangle 8"/>
          <p:cNvSpPr/>
          <p:nvPr/>
        </p:nvSpPr>
        <p:spPr>
          <a:xfrm>
            <a:off x="2736794" y="1630971"/>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10" name="Rectangle 9"/>
          <p:cNvSpPr/>
          <p:nvPr/>
        </p:nvSpPr>
        <p:spPr>
          <a:xfrm>
            <a:off x="311499" y="2049587"/>
            <a:ext cx="485059" cy="418613"/>
          </a:xfrm>
          <a:prstGeom prst="rect">
            <a:avLst/>
          </a:prstGeom>
          <a:no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4</a:t>
            </a:r>
          </a:p>
        </p:txBody>
      </p:sp>
      <p:sp>
        <p:nvSpPr>
          <p:cNvPr id="11" name="Rectangle 10"/>
          <p:cNvSpPr/>
          <p:nvPr/>
        </p:nvSpPr>
        <p:spPr>
          <a:xfrm>
            <a:off x="796558" y="2049586"/>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12" name="Rectangle 11"/>
          <p:cNvSpPr/>
          <p:nvPr/>
        </p:nvSpPr>
        <p:spPr>
          <a:xfrm>
            <a:off x="1281617" y="2049586"/>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13" name="Rectangle 12"/>
          <p:cNvSpPr/>
          <p:nvPr/>
        </p:nvSpPr>
        <p:spPr>
          <a:xfrm>
            <a:off x="1766676" y="2049585"/>
            <a:ext cx="485059" cy="418613"/>
          </a:xfrm>
          <a:prstGeom prst="rect">
            <a:avLst/>
          </a:prstGeom>
          <a:no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5</a:t>
            </a:r>
          </a:p>
        </p:txBody>
      </p:sp>
      <p:sp>
        <p:nvSpPr>
          <p:cNvPr id="14" name="Rectangle 13"/>
          <p:cNvSpPr/>
          <p:nvPr/>
        </p:nvSpPr>
        <p:spPr>
          <a:xfrm>
            <a:off x="2251735" y="2049585"/>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15" name="Rectangle 14"/>
          <p:cNvSpPr/>
          <p:nvPr/>
        </p:nvSpPr>
        <p:spPr>
          <a:xfrm>
            <a:off x="2736794" y="2049584"/>
            <a:ext cx="485059" cy="418613"/>
          </a:xfrm>
          <a:prstGeom prst="rect">
            <a:avLst/>
          </a:prstGeom>
          <a:no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6</a:t>
            </a:r>
          </a:p>
        </p:txBody>
      </p:sp>
      <p:sp>
        <p:nvSpPr>
          <p:cNvPr id="16" name="Rectangle 15"/>
          <p:cNvSpPr/>
          <p:nvPr/>
        </p:nvSpPr>
        <p:spPr>
          <a:xfrm>
            <a:off x="311499" y="2468193"/>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17" name="Rectangle 16"/>
          <p:cNvSpPr/>
          <p:nvPr/>
        </p:nvSpPr>
        <p:spPr>
          <a:xfrm>
            <a:off x="796558" y="2468192"/>
            <a:ext cx="485059" cy="418613"/>
          </a:xfrm>
          <a:prstGeom prst="rect">
            <a:avLst/>
          </a:prstGeom>
          <a:no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7</a:t>
            </a:r>
          </a:p>
        </p:txBody>
      </p:sp>
      <p:sp>
        <p:nvSpPr>
          <p:cNvPr id="18" name="Rectangle 17"/>
          <p:cNvSpPr/>
          <p:nvPr/>
        </p:nvSpPr>
        <p:spPr>
          <a:xfrm>
            <a:off x="1281617" y="2468192"/>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19" name="Rectangle 18"/>
          <p:cNvSpPr/>
          <p:nvPr/>
        </p:nvSpPr>
        <p:spPr>
          <a:xfrm>
            <a:off x="1766676" y="2468191"/>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20" name="Rectangle 19"/>
          <p:cNvSpPr/>
          <p:nvPr/>
        </p:nvSpPr>
        <p:spPr>
          <a:xfrm>
            <a:off x="2251735" y="2468191"/>
            <a:ext cx="485059" cy="418613"/>
          </a:xfrm>
          <a:prstGeom prst="rect">
            <a:avLst/>
          </a:prstGeom>
          <a:no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8</a:t>
            </a:r>
          </a:p>
        </p:txBody>
      </p:sp>
      <p:sp>
        <p:nvSpPr>
          <p:cNvPr id="21" name="Rectangle 20"/>
          <p:cNvSpPr/>
          <p:nvPr/>
        </p:nvSpPr>
        <p:spPr>
          <a:xfrm>
            <a:off x="2736794" y="2468190"/>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22" name="Rectangle 21"/>
          <p:cNvSpPr/>
          <p:nvPr/>
        </p:nvSpPr>
        <p:spPr>
          <a:xfrm>
            <a:off x="311499" y="2886805"/>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23" name="Rectangle 22"/>
          <p:cNvSpPr/>
          <p:nvPr/>
        </p:nvSpPr>
        <p:spPr>
          <a:xfrm>
            <a:off x="796558" y="2886804"/>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24" name="Rectangle 23"/>
          <p:cNvSpPr/>
          <p:nvPr/>
        </p:nvSpPr>
        <p:spPr>
          <a:xfrm>
            <a:off x="1281617" y="2886804"/>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25" name="Rectangle 24"/>
          <p:cNvSpPr/>
          <p:nvPr/>
        </p:nvSpPr>
        <p:spPr>
          <a:xfrm>
            <a:off x="1766676" y="2886803"/>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26" name="Rectangle 25"/>
          <p:cNvSpPr/>
          <p:nvPr/>
        </p:nvSpPr>
        <p:spPr>
          <a:xfrm>
            <a:off x="2251735" y="2886803"/>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27" name="Rectangle 26"/>
          <p:cNvSpPr/>
          <p:nvPr/>
        </p:nvSpPr>
        <p:spPr>
          <a:xfrm>
            <a:off x="2736794" y="2886802"/>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28" name="Rectangle 27"/>
          <p:cNvSpPr/>
          <p:nvPr/>
        </p:nvSpPr>
        <p:spPr>
          <a:xfrm>
            <a:off x="311499" y="3305404"/>
            <a:ext cx="485059" cy="418613"/>
          </a:xfrm>
          <a:prstGeom prst="rect">
            <a:avLst/>
          </a:prstGeom>
          <a:no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9</a:t>
            </a:r>
          </a:p>
        </p:txBody>
      </p:sp>
      <p:sp>
        <p:nvSpPr>
          <p:cNvPr id="29" name="Rectangle 28"/>
          <p:cNvSpPr/>
          <p:nvPr/>
        </p:nvSpPr>
        <p:spPr>
          <a:xfrm>
            <a:off x="796558" y="3305403"/>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30" name="Rectangle 29"/>
          <p:cNvSpPr/>
          <p:nvPr/>
        </p:nvSpPr>
        <p:spPr>
          <a:xfrm>
            <a:off x="1281617" y="3305403"/>
            <a:ext cx="485059" cy="418613"/>
          </a:xfrm>
          <a:prstGeom prst="rect">
            <a:avLst/>
          </a:prstGeom>
          <a:no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10</a:t>
            </a:r>
          </a:p>
        </p:txBody>
      </p:sp>
      <p:sp>
        <p:nvSpPr>
          <p:cNvPr id="31" name="Rectangle 30"/>
          <p:cNvSpPr/>
          <p:nvPr/>
        </p:nvSpPr>
        <p:spPr>
          <a:xfrm>
            <a:off x="1766676" y="3305402"/>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32" name="Rectangle 31"/>
          <p:cNvSpPr/>
          <p:nvPr/>
        </p:nvSpPr>
        <p:spPr>
          <a:xfrm>
            <a:off x="2251735" y="3305402"/>
            <a:ext cx="485059" cy="418613"/>
          </a:xfrm>
          <a:prstGeom prst="rect">
            <a:avLst/>
          </a:prstGeom>
          <a:no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11</a:t>
            </a:r>
          </a:p>
        </p:txBody>
      </p:sp>
      <p:sp>
        <p:nvSpPr>
          <p:cNvPr id="33" name="Rectangle 32"/>
          <p:cNvSpPr/>
          <p:nvPr/>
        </p:nvSpPr>
        <p:spPr>
          <a:xfrm>
            <a:off x="2736794" y="3305401"/>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34" name="Rectangle 33"/>
          <p:cNvSpPr/>
          <p:nvPr/>
        </p:nvSpPr>
        <p:spPr>
          <a:xfrm>
            <a:off x="311499" y="3723994"/>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35" name="Rectangle 34"/>
          <p:cNvSpPr/>
          <p:nvPr/>
        </p:nvSpPr>
        <p:spPr>
          <a:xfrm>
            <a:off x="796558" y="3723993"/>
            <a:ext cx="485059" cy="418613"/>
          </a:xfrm>
          <a:prstGeom prst="rect">
            <a:avLst/>
          </a:prstGeom>
          <a:no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12</a:t>
            </a:r>
          </a:p>
        </p:txBody>
      </p:sp>
      <p:sp>
        <p:nvSpPr>
          <p:cNvPr id="36" name="Rectangle 35"/>
          <p:cNvSpPr/>
          <p:nvPr/>
        </p:nvSpPr>
        <p:spPr>
          <a:xfrm>
            <a:off x="1281617" y="3723993"/>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37" name="Rectangle 36"/>
          <p:cNvSpPr/>
          <p:nvPr/>
        </p:nvSpPr>
        <p:spPr>
          <a:xfrm>
            <a:off x="1766676" y="3723992"/>
            <a:ext cx="485059" cy="418613"/>
          </a:xfrm>
          <a:prstGeom prst="rect">
            <a:avLst/>
          </a:prstGeom>
          <a:no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13</a:t>
            </a:r>
          </a:p>
        </p:txBody>
      </p:sp>
      <p:sp>
        <p:nvSpPr>
          <p:cNvPr id="38" name="Rectangle 37"/>
          <p:cNvSpPr/>
          <p:nvPr/>
        </p:nvSpPr>
        <p:spPr>
          <a:xfrm>
            <a:off x="2251735" y="3723992"/>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39" name="Rectangle 38"/>
          <p:cNvSpPr/>
          <p:nvPr/>
        </p:nvSpPr>
        <p:spPr>
          <a:xfrm>
            <a:off x="2736794" y="3723991"/>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40" name="Rectangle 39"/>
          <p:cNvSpPr/>
          <p:nvPr/>
        </p:nvSpPr>
        <p:spPr>
          <a:xfrm>
            <a:off x="143718" y="4404460"/>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41" name="Rectangle 40"/>
          <p:cNvSpPr/>
          <p:nvPr/>
        </p:nvSpPr>
        <p:spPr>
          <a:xfrm>
            <a:off x="143718" y="4900568"/>
            <a:ext cx="485059" cy="418613"/>
          </a:xfrm>
          <a:prstGeom prst="rect">
            <a:avLst/>
          </a:prstGeom>
          <a:no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42" name="TextBox 41"/>
          <p:cNvSpPr txBox="1"/>
          <p:nvPr/>
        </p:nvSpPr>
        <p:spPr>
          <a:xfrm>
            <a:off x="722368" y="4429100"/>
            <a:ext cx="2343911" cy="369332"/>
          </a:xfrm>
          <a:prstGeom prst="rect">
            <a:avLst/>
          </a:prstGeom>
          <a:noFill/>
        </p:spPr>
        <p:txBody>
          <a:bodyPr wrap="none" rtlCol="0">
            <a:spAutoFit/>
          </a:bodyPr>
          <a:lstStyle/>
          <a:p>
            <a:r>
              <a:rPr lang="en-US" dirty="0"/>
              <a:t>Occupied Memory Slots</a:t>
            </a:r>
            <a:endParaRPr lang="en-IN" dirty="0"/>
          </a:p>
        </p:txBody>
      </p:sp>
      <p:sp>
        <p:nvSpPr>
          <p:cNvPr id="48" name="TextBox 47"/>
          <p:cNvSpPr txBox="1"/>
          <p:nvPr/>
        </p:nvSpPr>
        <p:spPr>
          <a:xfrm>
            <a:off x="3617382" y="1770100"/>
            <a:ext cx="4100491" cy="692497"/>
          </a:xfrm>
          <a:prstGeom prst="rect">
            <a:avLst/>
          </a:prstGeom>
          <a:noFill/>
        </p:spPr>
        <p:txBody>
          <a:bodyPr wrap="square" rtlCol="0">
            <a:spAutoFit/>
          </a:bodyPr>
          <a:lstStyle/>
          <a:p>
            <a:pPr algn="ctr"/>
            <a:r>
              <a:rPr lang="en-US" sz="2100" dirty="0"/>
              <a:t>Need to 5 KB array </a:t>
            </a:r>
          </a:p>
          <a:p>
            <a:pPr algn="ctr"/>
            <a:r>
              <a:rPr lang="en-US" sz="1700" dirty="0"/>
              <a:t>(each element is of 1 KB)</a:t>
            </a:r>
            <a:endParaRPr lang="en-IN" sz="1700" dirty="0"/>
          </a:p>
        </p:txBody>
      </p:sp>
      <p:sp>
        <p:nvSpPr>
          <p:cNvPr id="43" name="TextBox 42"/>
          <p:cNvSpPr txBox="1"/>
          <p:nvPr/>
        </p:nvSpPr>
        <p:spPr>
          <a:xfrm>
            <a:off x="682640" y="4933909"/>
            <a:ext cx="2829621" cy="369332"/>
          </a:xfrm>
          <a:prstGeom prst="rect">
            <a:avLst/>
          </a:prstGeom>
          <a:noFill/>
        </p:spPr>
        <p:txBody>
          <a:bodyPr wrap="none" rtlCol="0">
            <a:spAutoFit/>
          </a:bodyPr>
          <a:lstStyle/>
          <a:p>
            <a:r>
              <a:rPr lang="en-US" dirty="0"/>
              <a:t>Free Memory Slots (13 Slots)</a:t>
            </a:r>
            <a:endParaRPr lang="en-IN" dirty="0"/>
          </a:p>
        </p:txBody>
      </p:sp>
      <p:sp>
        <p:nvSpPr>
          <p:cNvPr id="44" name="TextBox 43"/>
          <p:cNvSpPr txBox="1"/>
          <p:nvPr/>
        </p:nvSpPr>
        <p:spPr>
          <a:xfrm>
            <a:off x="103530" y="5395663"/>
            <a:ext cx="3276859" cy="369332"/>
          </a:xfrm>
          <a:prstGeom prst="rect">
            <a:avLst/>
          </a:prstGeom>
          <a:noFill/>
        </p:spPr>
        <p:txBody>
          <a:bodyPr wrap="none" rtlCol="0">
            <a:spAutoFit/>
          </a:bodyPr>
          <a:lstStyle/>
          <a:p>
            <a:r>
              <a:rPr lang="en-US" dirty="0"/>
              <a:t>Each memory block is of 1 kb size</a:t>
            </a:r>
            <a:endParaRPr lang="en-IN" dirty="0"/>
          </a:p>
        </p:txBody>
      </p:sp>
      <p:cxnSp>
        <p:nvCxnSpPr>
          <p:cNvPr id="46" name="Straight Connector 45"/>
          <p:cNvCxnSpPr/>
          <p:nvPr/>
        </p:nvCxnSpPr>
        <p:spPr>
          <a:xfrm>
            <a:off x="3547368" y="711201"/>
            <a:ext cx="0" cy="5874157"/>
          </a:xfrm>
          <a:prstGeom prst="line">
            <a:avLst/>
          </a:prstGeom>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0" y="766741"/>
            <a:ext cx="3547368" cy="461665"/>
          </a:xfrm>
          <a:prstGeom prst="rect">
            <a:avLst/>
          </a:prstGeom>
          <a:noFill/>
        </p:spPr>
        <p:txBody>
          <a:bodyPr wrap="square" rtlCol="0">
            <a:spAutoFit/>
          </a:bodyPr>
          <a:lstStyle/>
          <a:p>
            <a:pPr algn="ctr"/>
            <a:r>
              <a:rPr lang="en-US" sz="2400" b="1" dirty="0"/>
              <a:t>Memory Map (Fragments)</a:t>
            </a:r>
            <a:endParaRPr lang="en-IN" sz="2400" b="1" dirty="0"/>
          </a:p>
        </p:txBody>
      </p:sp>
      <p:sp>
        <p:nvSpPr>
          <p:cNvPr id="49" name="TextBox 48"/>
          <p:cNvSpPr txBox="1"/>
          <p:nvPr/>
        </p:nvSpPr>
        <p:spPr>
          <a:xfrm>
            <a:off x="3644181" y="4718487"/>
            <a:ext cx="4100490" cy="384721"/>
          </a:xfrm>
          <a:prstGeom prst="rect">
            <a:avLst/>
          </a:prstGeom>
          <a:noFill/>
        </p:spPr>
        <p:txBody>
          <a:bodyPr wrap="square" rtlCol="0">
            <a:spAutoFit/>
          </a:bodyPr>
          <a:lstStyle/>
          <a:p>
            <a:pPr algn="ctr"/>
            <a:r>
              <a:rPr lang="en-US" sz="1900" dirty="0"/>
              <a:t>Memory has </a:t>
            </a:r>
            <a:r>
              <a:rPr lang="en-US" sz="1900" b="1" dirty="0"/>
              <a:t>13 KB free </a:t>
            </a:r>
            <a:r>
              <a:rPr lang="en-US" sz="1900" dirty="0"/>
              <a:t>scattered </a:t>
            </a:r>
            <a:r>
              <a:rPr lang="en-US" sz="1900" b="1" dirty="0"/>
              <a:t>space</a:t>
            </a:r>
            <a:endParaRPr lang="en-IN" sz="1900" b="1" dirty="0"/>
          </a:p>
        </p:txBody>
      </p:sp>
      <p:sp>
        <p:nvSpPr>
          <p:cNvPr id="55" name="Rectangle 54"/>
          <p:cNvSpPr/>
          <p:nvPr/>
        </p:nvSpPr>
        <p:spPr>
          <a:xfrm>
            <a:off x="4391015" y="3332131"/>
            <a:ext cx="485059" cy="418613"/>
          </a:xfrm>
          <a:prstGeom prst="rect">
            <a:avLst/>
          </a:prstGeom>
          <a:solidFill>
            <a:srgbClr val="A5D6D3"/>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57" name="Rectangle 56"/>
          <p:cNvSpPr/>
          <p:nvPr/>
        </p:nvSpPr>
        <p:spPr>
          <a:xfrm>
            <a:off x="4872086" y="3332130"/>
            <a:ext cx="485059" cy="418613"/>
          </a:xfrm>
          <a:prstGeom prst="rect">
            <a:avLst/>
          </a:prstGeom>
          <a:solidFill>
            <a:srgbClr val="A5D6D3"/>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58" name="Rectangle 57"/>
          <p:cNvSpPr/>
          <p:nvPr/>
        </p:nvSpPr>
        <p:spPr>
          <a:xfrm>
            <a:off x="5357145" y="3332130"/>
            <a:ext cx="485059" cy="418613"/>
          </a:xfrm>
          <a:prstGeom prst="rect">
            <a:avLst/>
          </a:prstGeom>
          <a:solidFill>
            <a:srgbClr val="A5D6D3"/>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59" name="Rectangle 58"/>
          <p:cNvSpPr/>
          <p:nvPr/>
        </p:nvSpPr>
        <p:spPr>
          <a:xfrm>
            <a:off x="5838216" y="3332129"/>
            <a:ext cx="485059" cy="418613"/>
          </a:xfrm>
          <a:prstGeom prst="rect">
            <a:avLst/>
          </a:prstGeom>
          <a:solidFill>
            <a:srgbClr val="A5D6D3"/>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60" name="Rectangle 59"/>
          <p:cNvSpPr/>
          <p:nvPr/>
        </p:nvSpPr>
        <p:spPr>
          <a:xfrm>
            <a:off x="6312974" y="3332128"/>
            <a:ext cx="485059" cy="418613"/>
          </a:xfrm>
          <a:prstGeom prst="rect">
            <a:avLst/>
          </a:prstGeom>
          <a:solidFill>
            <a:srgbClr val="A5D6D3"/>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cxnSp>
        <p:nvCxnSpPr>
          <p:cNvPr id="61" name="Straight Connector 60"/>
          <p:cNvCxnSpPr/>
          <p:nvPr/>
        </p:nvCxnSpPr>
        <p:spPr>
          <a:xfrm>
            <a:off x="7793595" y="711201"/>
            <a:ext cx="0" cy="5874157"/>
          </a:xfrm>
          <a:prstGeom prst="line">
            <a:avLst/>
          </a:prstGeom>
        </p:spPr>
        <p:style>
          <a:lnRef idx="1">
            <a:schemeClr val="accent1"/>
          </a:lnRef>
          <a:fillRef idx="0">
            <a:schemeClr val="accent1"/>
          </a:fillRef>
          <a:effectRef idx="0">
            <a:schemeClr val="accent1"/>
          </a:effectRef>
          <a:fontRef idx="minor">
            <a:schemeClr val="tx1"/>
          </a:fontRef>
        </p:style>
      </p:cxnSp>
      <p:sp>
        <p:nvSpPr>
          <p:cNvPr id="62" name="Multiply 61"/>
          <p:cNvSpPr/>
          <p:nvPr/>
        </p:nvSpPr>
        <p:spPr>
          <a:xfrm>
            <a:off x="6867018" y="3305401"/>
            <a:ext cx="453006" cy="512452"/>
          </a:xfrm>
          <a:prstGeom prst="mathMultiply">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63" name="Rectangle 62"/>
          <p:cNvSpPr/>
          <p:nvPr/>
        </p:nvSpPr>
        <p:spPr>
          <a:xfrm>
            <a:off x="8607490" y="1830657"/>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64" name="Rectangle 63"/>
          <p:cNvSpPr/>
          <p:nvPr/>
        </p:nvSpPr>
        <p:spPr>
          <a:xfrm>
            <a:off x="9092549" y="1830656"/>
            <a:ext cx="485059" cy="418613"/>
          </a:xfrm>
          <a:prstGeom prst="rect">
            <a:avLst/>
          </a:prstGeom>
          <a:solidFill>
            <a:srgbClr val="A5D6D3"/>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1</a:t>
            </a:r>
          </a:p>
        </p:txBody>
      </p:sp>
      <p:sp>
        <p:nvSpPr>
          <p:cNvPr id="65" name="Rectangle 64"/>
          <p:cNvSpPr/>
          <p:nvPr/>
        </p:nvSpPr>
        <p:spPr>
          <a:xfrm>
            <a:off x="9577608" y="1830656"/>
            <a:ext cx="485059" cy="418613"/>
          </a:xfrm>
          <a:prstGeom prst="rect">
            <a:avLst/>
          </a:prstGeom>
          <a:solidFill>
            <a:srgbClr val="A5D6D3"/>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2</a:t>
            </a:r>
          </a:p>
        </p:txBody>
      </p:sp>
      <p:sp>
        <p:nvSpPr>
          <p:cNvPr id="66" name="Rectangle 65"/>
          <p:cNvSpPr/>
          <p:nvPr/>
        </p:nvSpPr>
        <p:spPr>
          <a:xfrm>
            <a:off x="10062667" y="1830655"/>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67" name="Rectangle 66"/>
          <p:cNvSpPr/>
          <p:nvPr/>
        </p:nvSpPr>
        <p:spPr>
          <a:xfrm>
            <a:off x="10547726" y="1830655"/>
            <a:ext cx="485059" cy="418613"/>
          </a:xfrm>
          <a:prstGeom prst="rect">
            <a:avLst/>
          </a:prstGeom>
          <a:no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3</a:t>
            </a:r>
          </a:p>
        </p:txBody>
      </p:sp>
      <p:sp>
        <p:nvSpPr>
          <p:cNvPr id="68" name="Rectangle 67"/>
          <p:cNvSpPr/>
          <p:nvPr/>
        </p:nvSpPr>
        <p:spPr>
          <a:xfrm>
            <a:off x="11032785" y="1830654"/>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69" name="Rectangle 68"/>
          <p:cNvSpPr/>
          <p:nvPr/>
        </p:nvSpPr>
        <p:spPr>
          <a:xfrm>
            <a:off x="8607490" y="2249270"/>
            <a:ext cx="485059" cy="418613"/>
          </a:xfrm>
          <a:prstGeom prst="rect">
            <a:avLst/>
          </a:prstGeom>
          <a:solidFill>
            <a:srgbClr val="A5D6D3"/>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4</a:t>
            </a:r>
          </a:p>
        </p:txBody>
      </p:sp>
      <p:sp>
        <p:nvSpPr>
          <p:cNvPr id="70" name="Rectangle 69"/>
          <p:cNvSpPr/>
          <p:nvPr/>
        </p:nvSpPr>
        <p:spPr>
          <a:xfrm>
            <a:off x="9092549" y="2249269"/>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71" name="Rectangle 70"/>
          <p:cNvSpPr/>
          <p:nvPr/>
        </p:nvSpPr>
        <p:spPr>
          <a:xfrm>
            <a:off x="9577608" y="2249269"/>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72" name="Rectangle 71"/>
          <p:cNvSpPr/>
          <p:nvPr/>
        </p:nvSpPr>
        <p:spPr>
          <a:xfrm>
            <a:off x="10062667" y="2249268"/>
            <a:ext cx="485059" cy="418613"/>
          </a:xfrm>
          <a:prstGeom prst="rect">
            <a:avLst/>
          </a:prstGeom>
          <a:solidFill>
            <a:srgbClr val="A5D6D3"/>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5</a:t>
            </a:r>
          </a:p>
        </p:txBody>
      </p:sp>
      <p:sp>
        <p:nvSpPr>
          <p:cNvPr id="73" name="Rectangle 72"/>
          <p:cNvSpPr/>
          <p:nvPr/>
        </p:nvSpPr>
        <p:spPr>
          <a:xfrm>
            <a:off x="10547726" y="2249268"/>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74" name="Rectangle 73"/>
          <p:cNvSpPr/>
          <p:nvPr/>
        </p:nvSpPr>
        <p:spPr>
          <a:xfrm>
            <a:off x="11032785" y="2249267"/>
            <a:ext cx="485059" cy="418613"/>
          </a:xfrm>
          <a:prstGeom prst="rect">
            <a:avLst/>
          </a:prstGeom>
          <a:no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6</a:t>
            </a:r>
          </a:p>
        </p:txBody>
      </p:sp>
      <p:sp>
        <p:nvSpPr>
          <p:cNvPr id="75" name="Rectangle 74"/>
          <p:cNvSpPr/>
          <p:nvPr/>
        </p:nvSpPr>
        <p:spPr>
          <a:xfrm>
            <a:off x="8607490" y="2667876"/>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76" name="Rectangle 75"/>
          <p:cNvSpPr/>
          <p:nvPr/>
        </p:nvSpPr>
        <p:spPr>
          <a:xfrm>
            <a:off x="9092549" y="2667875"/>
            <a:ext cx="485059" cy="418613"/>
          </a:xfrm>
          <a:prstGeom prst="rect">
            <a:avLst/>
          </a:prstGeom>
          <a:solidFill>
            <a:srgbClr val="A5D6D3"/>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7</a:t>
            </a:r>
          </a:p>
        </p:txBody>
      </p:sp>
      <p:sp>
        <p:nvSpPr>
          <p:cNvPr id="77" name="Rectangle 76"/>
          <p:cNvSpPr/>
          <p:nvPr/>
        </p:nvSpPr>
        <p:spPr>
          <a:xfrm>
            <a:off x="9577608" y="2667875"/>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78" name="Rectangle 77"/>
          <p:cNvSpPr/>
          <p:nvPr/>
        </p:nvSpPr>
        <p:spPr>
          <a:xfrm>
            <a:off x="10062667" y="2667874"/>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79" name="Rectangle 78"/>
          <p:cNvSpPr/>
          <p:nvPr/>
        </p:nvSpPr>
        <p:spPr>
          <a:xfrm>
            <a:off x="10547726" y="2667874"/>
            <a:ext cx="485059" cy="418613"/>
          </a:xfrm>
          <a:prstGeom prst="rect">
            <a:avLst/>
          </a:prstGeom>
          <a:no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8</a:t>
            </a:r>
          </a:p>
        </p:txBody>
      </p:sp>
      <p:sp>
        <p:nvSpPr>
          <p:cNvPr id="80" name="Rectangle 79"/>
          <p:cNvSpPr/>
          <p:nvPr/>
        </p:nvSpPr>
        <p:spPr>
          <a:xfrm>
            <a:off x="11032785" y="2667873"/>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81" name="Rectangle 80"/>
          <p:cNvSpPr/>
          <p:nvPr/>
        </p:nvSpPr>
        <p:spPr>
          <a:xfrm>
            <a:off x="8607490" y="3086488"/>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82" name="Rectangle 81"/>
          <p:cNvSpPr/>
          <p:nvPr/>
        </p:nvSpPr>
        <p:spPr>
          <a:xfrm>
            <a:off x="9092549" y="3086487"/>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83" name="Rectangle 82"/>
          <p:cNvSpPr/>
          <p:nvPr/>
        </p:nvSpPr>
        <p:spPr>
          <a:xfrm>
            <a:off x="9577608" y="3086487"/>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84" name="Rectangle 83"/>
          <p:cNvSpPr/>
          <p:nvPr/>
        </p:nvSpPr>
        <p:spPr>
          <a:xfrm>
            <a:off x="10062667" y="3086486"/>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85" name="Rectangle 84"/>
          <p:cNvSpPr/>
          <p:nvPr/>
        </p:nvSpPr>
        <p:spPr>
          <a:xfrm>
            <a:off x="10547726" y="3086486"/>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86" name="Rectangle 85"/>
          <p:cNvSpPr/>
          <p:nvPr/>
        </p:nvSpPr>
        <p:spPr>
          <a:xfrm>
            <a:off x="11032785" y="3086485"/>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87" name="Rectangle 86"/>
          <p:cNvSpPr/>
          <p:nvPr/>
        </p:nvSpPr>
        <p:spPr>
          <a:xfrm>
            <a:off x="8607490" y="3505087"/>
            <a:ext cx="485059" cy="418613"/>
          </a:xfrm>
          <a:prstGeom prst="rect">
            <a:avLst/>
          </a:prstGeom>
          <a:no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9</a:t>
            </a:r>
          </a:p>
        </p:txBody>
      </p:sp>
      <p:sp>
        <p:nvSpPr>
          <p:cNvPr id="88" name="Rectangle 87"/>
          <p:cNvSpPr/>
          <p:nvPr/>
        </p:nvSpPr>
        <p:spPr>
          <a:xfrm>
            <a:off x="9092549" y="3505086"/>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89" name="Rectangle 88"/>
          <p:cNvSpPr/>
          <p:nvPr/>
        </p:nvSpPr>
        <p:spPr>
          <a:xfrm>
            <a:off x="9577608" y="3505086"/>
            <a:ext cx="485059" cy="418613"/>
          </a:xfrm>
          <a:prstGeom prst="rect">
            <a:avLst/>
          </a:prstGeom>
          <a:no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10</a:t>
            </a:r>
          </a:p>
        </p:txBody>
      </p:sp>
      <p:sp>
        <p:nvSpPr>
          <p:cNvPr id="90" name="Rectangle 89"/>
          <p:cNvSpPr/>
          <p:nvPr/>
        </p:nvSpPr>
        <p:spPr>
          <a:xfrm>
            <a:off x="10062667" y="3505085"/>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91" name="Rectangle 90"/>
          <p:cNvSpPr/>
          <p:nvPr/>
        </p:nvSpPr>
        <p:spPr>
          <a:xfrm>
            <a:off x="10547726" y="3505085"/>
            <a:ext cx="485059" cy="418613"/>
          </a:xfrm>
          <a:prstGeom prst="rect">
            <a:avLst/>
          </a:prstGeom>
          <a:no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11</a:t>
            </a:r>
          </a:p>
        </p:txBody>
      </p:sp>
      <p:sp>
        <p:nvSpPr>
          <p:cNvPr id="92" name="Rectangle 91"/>
          <p:cNvSpPr/>
          <p:nvPr/>
        </p:nvSpPr>
        <p:spPr>
          <a:xfrm>
            <a:off x="11032785" y="3505084"/>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93" name="Rectangle 92"/>
          <p:cNvSpPr/>
          <p:nvPr/>
        </p:nvSpPr>
        <p:spPr>
          <a:xfrm>
            <a:off x="8607490" y="3923677"/>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94" name="Rectangle 93"/>
          <p:cNvSpPr/>
          <p:nvPr/>
        </p:nvSpPr>
        <p:spPr>
          <a:xfrm>
            <a:off x="9092549" y="3923676"/>
            <a:ext cx="485059" cy="418613"/>
          </a:xfrm>
          <a:prstGeom prst="rect">
            <a:avLst/>
          </a:prstGeom>
          <a:no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12</a:t>
            </a:r>
          </a:p>
        </p:txBody>
      </p:sp>
      <p:sp>
        <p:nvSpPr>
          <p:cNvPr id="95" name="Rectangle 94"/>
          <p:cNvSpPr/>
          <p:nvPr/>
        </p:nvSpPr>
        <p:spPr>
          <a:xfrm>
            <a:off x="9577608" y="3923676"/>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96" name="Rectangle 95"/>
          <p:cNvSpPr/>
          <p:nvPr/>
        </p:nvSpPr>
        <p:spPr>
          <a:xfrm>
            <a:off x="10062667" y="3923675"/>
            <a:ext cx="485059" cy="418613"/>
          </a:xfrm>
          <a:prstGeom prst="rect">
            <a:avLst/>
          </a:prstGeom>
          <a:no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13</a:t>
            </a:r>
          </a:p>
        </p:txBody>
      </p:sp>
      <p:sp>
        <p:nvSpPr>
          <p:cNvPr id="97" name="Rectangle 96"/>
          <p:cNvSpPr/>
          <p:nvPr/>
        </p:nvSpPr>
        <p:spPr>
          <a:xfrm>
            <a:off x="10547726" y="3923675"/>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98" name="Rectangle 97"/>
          <p:cNvSpPr/>
          <p:nvPr/>
        </p:nvSpPr>
        <p:spPr>
          <a:xfrm>
            <a:off x="11032785" y="3923674"/>
            <a:ext cx="485059" cy="418613"/>
          </a:xfrm>
          <a:prstGeom prst="rect">
            <a:avLst/>
          </a:prstGeom>
          <a:solidFill>
            <a:srgbClr val="1D666C"/>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cxnSp>
        <p:nvCxnSpPr>
          <p:cNvPr id="100" name="Elbow Connector 99"/>
          <p:cNvCxnSpPr>
            <a:stCxn id="64" idx="1"/>
            <a:endCxn id="69" idx="0"/>
          </p:cNvCxnSpPr>
          <p:nvPr/>
        </p:nvCxnSpPr>
        <p:spPr>
          <a:xfrm rot="10800000" flipV="1">
            <a:off x="8850021" y="2039962"/>
            <a:ext cx="242529" cy="209307"/>
          </a:xfrm>
          <a:prstGeom prst="bentConnector2">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Elbow Connector 105"/>
          <p:cNvCxnSpPr>
            <a:stCxn id="70" idx="1"/>
            <a:endCxn id="76" idx="0"/>
          </p:cNvCxnSpPr>
          <p:nvPr/>
        </p:nvCxnSpPr>
        <p:spPr>
          <a:xfrm rot="10800000" flipH="1" flipV="1">
            <a:off x="9092549" y="2458575"/>
            <a:ext cx="242530" cy="209299"/>
          </a:xfrm>
          <a:prstGeom prst="bentConnector4">
            <a:avLst>
              <a:gd name="adj1" fmla="val 98184"/>
              <a:gd name="adj2" fmla="val 1633"/>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Elbow Connector 109"/>
          <p:cNvCxnSpPr>
            <a:stCxn id="77" idx="1"/>
            <a:endCxn id="71" idx="0"/>
          </p:cNvCxnSpPr>
          <p:nvPr/>
        </p:nvCxnSpPr>
        <p:spPr>
          <a:xfrm rot="10800000" flipH="1">
            <a:off x="9577608" y="2249270"/>
            <a:ext cx="242530" cy="627913"/>
          </a:xfrm>
          <a:prstGeom prst="bentConnector4">
            <a:avLst>
              <a:gd name="adj1" fmla="val 100802"/>
              <a:gd name="adj2" fmla="val 100000"/>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Elbow Connector 121"/>
          <p:cNvCxnSpPr>
            <a:stCxn id="66" idx="1"/>
            <a:endCxn id="72" idx="0"/>
          </p:cNvCxnSpPr>
          <p:nvPr/>
        </p:nvCxnSpPr>
        <p:spPr>
          <a:xfrm rot="10800000" flipH="1" flipV="1">
            <a:off x="10062667" y="2039962"/>
            <a:ext cx="242530" cy="209306"/>
          </a:xfrm>
          <a:prstGeom prst="bentConnector4">
            <a:avLst>
              <a:gd name="adj1" fmla="val 22255"/>
              <a:gd name="adj2" fmla="val -263"/>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6" name="Rectangle 125"/>
          <p:cNvSpPr/>
          <p:nvPr/>
        </p:nvSpPr>
        <p:spPr>
          <a:xfrm>
            <a:off x="8084850" y="5040045"/>
            <a:ext cx="485059" cy="418613"/>
          </a:xfrm>
          <a:prstGeom prst="rect">
            <a:avLst/>
          </a:prstGeom>
          <a:solidFill>
            <a:srgbClr val="A5D6D3"/>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1</a:t>
            </a:r>
          </a:p>
        </p:txBody>
      </p:sp>
      <p:sp>
        <p:nvSpPr>
          <p:cNvPr id="127" name="Rectangle 126"/>
          <p:cNvSpPr/>
          <p:nvPr/>
        </p:nvSpPr>
        <p:spPr>
          <a:xfrm>
            <a:off x="8877002" y="5040044"/>
            <a:ext cx="485059" cy="418613"/>
          </a:xfrm>
          <a:prstGeom prst="rect">
            <a:avLst/>
          </a:prstGeom>
          <a:solidFill>
            <a:srgbClr val="A5D6D3"/>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4</a:t>
            </a:r>
          </a:p>
        </p:txBody>
      </p:sp>
      <p:sp>
        <p:nvSpPr>
          <p:cNvPr id="128" name="Rectangle 127"/>
          <p:cNvSpPr/>
          <p:nvPr/>
        </p:nvSpPr>
        <p:spPr>
          <a:xfrm>
            <a:off x="9669154" y="5040044"/>
            <a:ext cx="485059" cy="418613"/>
          </a:xfrm>
          <a:prstGeom prst="rect">
            <a:avLst/>
          </a:prstGeom>
          <a:solidFill>
            <a:srgbClr val="A5D6D3"/>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7</a:t>
            </a:r>
          </a:p>
        </p:txBody>
      </p:sp>
      <p:sp>
        <p:nvSpPr>
          <p:cNvPr id="129" name="Rectangle 128"/>
          <p:cNvSpPr/>
          <p:nvPr/>
        </p:nvSpPr>
        <p:spPr>
          <a:xfrm>
            <a:off x="10461306" y="5040043"/>
            <a:ext cx="485059" cy="418613"/>
          </a:xfrm>
          <a:prstGeom prst="rect">
            <a:avLst/>
          </a:prstGeom>
          <a:solidFill>
            <a:srgbClr val="A5D6D3"/>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2</a:t>
            </a:r>
          </a:p>
        </p:txBody>
      </p:sp>
      <p:sp>
        <p:nvSpPr>
          <p:cNvPr id="130" name="Rectangle 129"/>
          <p:cNvSpPr/>
          <p:nvPr/>
        </p:nvSpPr>
        <p:spPr>
          <a:xfrm>
            <a:off x="11253458" y="5040043"/>
            <a:ext cx="485059" cy="418613"/>
          </a:xfrm>
          <a:prstGeom prst="rect">
            <a:avLst/>
          </a:prstGeom>
          <a:solidFill>
            <a:srgbClr val="A5D6D3"/>
          </a:solidFill>
          <a:ln>
            <a:solidFill>
              <a:srgbClr val="1A4D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5</a:t>
            </a:r>
          </a:p>
        </p:txBody>
      </p:sp>
      <p:cxnSp>
        <p:nvCxnSpPr>
          <p:cNvPr id="134" name="Straight Arrow Connector 133"/>
          <p:cNvCxnSpPr>
            <a:stCxn id="126" idx="3"/>
            <a:endCxn id="127" idx="1"/>
          </p:cNvCxnSpPr>
          <p:nvPr/>
        </p:nvCxnSpPr>
        <p:spPr>
          <a:xfrm flipV="1">
            <a:off x="8569909" y="5249351"/>
            <a:ext cx="307093"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134"/>
          <p:cNvCxnSpPr>
            <a:stCxn id="127" idx="3"/>
            <a:endCxn id="128" idx="1"/>
          </p:cNvCxnSpPr>
          <p:nvPr/>
        </p:nvCxnSpPr>
        <p:spPr>
          <a:xfrm>
            <a:off x="9362061" y="5249351"/>
            <a:ext cx="30709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p:cNvCxnSpPr>
            <a:stCxn id="128" idx="3"/>
            <a:endCxn id="129" idx="1"/>
          </p:cNvCxnSpPr>
          <p:nvPr/>
        </p:nvCxnSpPr>
        <p:spPr>
          <a:xfrm flipV="1">
            <a:off x="10154213" y="5249350"/>
            <a:ext cx="307093"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p:cNvCxnSpPr>
            <a:stCxn id="129" idx="3"/>
            <a:endCxn id="130" idx="1"/>
          </p:cNvCxnSpPr>
          <p:nvPr/>
        </p:nvCxnSpPr>
        <p:spPr>
          <a:xfrm>
            <a:off x="10946365" y="5249350"/>
            <a:ext cx="30709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60" name="Group 159"/>
          <p:cNvGrpSpPr/>
          <p:nvPr/>
        </p:nvGrpSpPr>
        <p:grpSpPr>
          <a:xfrm>
            <a:off x="11738517" y="5242429"/>
            <a:ext cx="349296" cy="264588"/>
            <a:chOff x="11719355" y="4321621"/>
            <a:chExt cx="349296" cy="264588"/>
          </a:xfrm>
        </p:grpSpPr>
        <p:cxnSp>
          <p:nvCxnSpPr>
            <p:cNvPr id="145" name="Straight Connector 144"/>
            <p:cNvCxnSpPr/>
            <p:nvPr/>
          </p:nvCxnSpPr>
          <p:spPr>
            <a:xfrm>
              <a:off x="11789569" y="4471742"/>
              <a:ext cx="27908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a:xfrm>
              <a:off x="11811000" y="4509898"/>
              <a:ext cx="2362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p:cNvCxnSpPr/>
            <p:nvPr/>
          </p:nvCxnSpPr>
          <p:spPr>
            <a:xfrm>
              <a:off x="11858625" y="4548054"/>
              <a:ext cx="14525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p:cNvCxnSpPr/>
            <p:nvPr/>
          </p:nvCxnSpPr>
          <p:spPr>
            <a:xfrm>
              <a:off x="11895772" y="4586209"/>
              <a:ext cx="666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Elbow Connector 157"/>
            <p:cNvCxnSpPr/>
            <p:nvPr/>
          </p:nvCxnSpPr>
          <p:spPr>
            <a:xfrm>
              <a:off x="11719355" y="4321621"/>
              <a:ext cx="209754" cy="257667"/>
            </a:xfrm>
            <a:prstGeom prst="bentConnector2">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1" name="Rectangle 160"/>
          <p:cNvSpPr/>
          <p:nvPr/>
        </p:nvSpPr>
        <p:spPr>
          <a:xfrm>
            <a:off x="3645642" y="3911450"/>
            <a:ext cx="3970376" cy="646331"/>
          </a:xfrm>
          <a:prstGeom prst="rect">
            <a:avLst/>
          </a:prstGeom>
        </p:spPr>
        <p:txBody>
          <a:bodyPr wrap="square">
            <a:spAutoFit/>
          </a:bodyPr>
          <a:lstStyle/>
          <a:p>
            <a:pPr algn="ctr"/>
            <a:r>
              <a:rPr lang="en-US" dirty="0"/>
              <a:t>Operating System is not be able to provide continuous space for an array.</a:t>
            </a:r>
            <a:endParaRPr lang="en-IN" dirty="0"/>
          </a:p>
        </p:txBody>
      </p:sp>
      <p:sp>
        <p:nvSpPr>
          <p:cNvPr id="165" name="TextBox 164"/>
          <p:cNvSpPr txBox="1"/>
          <p:nvPr/>
        </p:nvSpPr>
        <p:spPr>
          <a:xfrm>
            <a:off x="9765042" y="1335972"/>
            <a:ext cx="1896673" cy="461665"/>
          </a:xfrm>
          <a:prstGeom prst="rect">
            <a:avLst/>
          </a:prstGeom>
          <a:noFill/>
        </p:spPr>
        <p:txBody>
          <a:bodyPr wrap="none" rtlCol="0">
            <a:spAutoFit/>
          </a:bodyPr>
          <a:lstStyle/>
          <a:p>
            <a:r>
              <a:rPr lang="en-US" sz="2400" b="1" dirty="0"/>
              <a:t>Physical View</a:t>
            </a:r>
            <a:endParaRPr lang="en-IN" sz="2400" b="1" dirty="0"/>
          </a:p>
        </p:txBody>
      </p:sp>
      <p:sp>
        <p:nvSpPr>
          <p:cNvPr id="166" name="TextBox 165"/>
          <p:cNvSpPr txBox="1"/>
          <p:nvPr/>
        </p:nvSpPr>
        <p:spPr>
          <a:xfrm>
            <a:off x="8978656" y="4473724"/>
            <a:ext cx="1749197" cy="461665"/>
          </a:xfrm>
          <a:prstGeom prst="rect">
            <a:avLst/>
          </a:prstGeom>
          <a:noFill/>
        </p:spPr>
        <p:txBody>
          <a:bodyPr wrap="none" rtlCol="0">
            <a:spAutoFit/>
          </a:bodyPr>
          <a:lstStyle/>
          <a:p>
            <a:r>
              <a:rPr lang="en-US" sz="2400" b="1" dirty="0"/>
              <a:t>Logical View</a:t>
            </a:r>
            <a:endParaRPr lang="en-IN" sz="2400" b="1" dirty="0"/>
          </a:p>
        </p:txBody>
      </p:sp>
      <p:sp>
        <p:nvSpPr>
          <p:cNvPr id="168" name="TextBox 167"/>
          <p:cNvSpPr txBox="1"/>
          <p:nvPr/>
        </p:nvSpPr>
        <p:spPr>
          <a:xfrm>
            <a:off x="3547368" y="766741"/>
            <a:ext cx="4246226" cy="461665"/>
          </a:xfrm>
          <a:prstGeom prst="rect">
            <a:avLst/>
          </a:prstGeom>
          <a:noFill/>
        </p:spPr>
        <p:txBody>
          <a:bodyPr wrap="square" rtlCol="0">
            <a:spAutoFit/>
          </a:bodyPr>
          <a:lstStyle/>
          <a:p>
            <a:pPr algn="ctr"/>
            <a:r>
              <a:rPr lang="en-US" sz="2400" b="1" dirty="0"/>
              <a:t>Allocation Conflict for Array</a:t>
            </a:r>
            <a:endParaRPr lang="en-IN" sz="2400" b="1" dirty="0"/>
          </a:p>
        </p:txBody>
      </p:sp>
      <p:sp>
        <p:nvSpPr>
          <p:cNvPr id="169" name="TextBox 168"/>
          <p:cNvSpPr txBox="1"/>
          <p:nvPr/>
        </p:nvSpPr>
        <p:spPr>
          <a:xfrm>
            <a:off x="7793594" y="766741"/>
            <a:ext cx="4275057" cy="461665"/>
          </a:xfrm>
          <a:prstGeom prst="rect">
            <a:avLst/>
          </a:prstGeom>
          <a:noFill/>
        </p:spPr>
        <p:txBody>
          <a:bodyPr wrap="square" rtlCol="0">
            <a:spAutoFit/>
          </a:bodyPr>
          <a:lstStyle/>
          <a:p>
            <a:pPr algn="ctr"/>
            <a:r>
              <a:rPr lang="en-US" sz="2400" b="1" dirty="0"/>
              <a:t>Linked List Solution</a:t>
            </a:r>
            <a:endParaRPr lang="en-IN" sz="2400" b="1" dirty="0"/>
          </a:p>
        </p:txBody>
      </p:sp>
      <p:sp>
        <p:nvSpPr>
          <p:cNvPr id="171" name="Rectangle 170"/>
          <p:cNvSpPr/>
          <p:nvPr/>
        </p:nvSpPr>
        <p:spPr>
          <a:xfrm>
            <a:off x="4985766" y="1378790"/>
            <a:ext cx="1196161" cy="415498"/>
          </a:xfrm>
          <a:prstGeom prst="rect">
            <a:avLst/>
          </a:prstGeom>
        </p:spPr>
        <p:txBody>
          <a:bodyPr wrap="none">
            <a:spAutoFit/>
          </a:bodyPr>
          <a:lstStyle/>
          <a:p>
            <a:pPr algn="ctr"/>
            <a:r>
              <a:rPr lang="en-US" sz="2100" b="1" dirty="0"/>
              <a:t>Scenario </a:t>
            </a:r>
            <a:endParaRPr lang="en-IN" sz="2100" b="1" dirty="0"/>
          </a:p>
        </p:txBody>
      </p:sp>
      <p:sp>
        <p:nvSpPr>
          <p:cNvPr id="172" name="TextBox 171"/>
          <p:cNvSpPr txBox="1"/>
          <p:nvPr/>
        </p:nvSpPr>
        <p:spPr>
          <a:xfrm>
            <a:off x="3644180" y="2503347"/>
            <a:ext cx="4100491" cy="692497"/>
          </a:xfrm>
          <a:prstGeom prst="rect">
            <a:avLst/>
          </a:prstGeom>
          <a:noFill/>
        </p:spPr>
        <p:txBody>
          <a:bodyPr wrap="square" rtlCol="0">
            <a:spAutoFit/>
          </a:bodyPr>
          <a:lstStyle/>
          <a:p>
            <a:pPr algn="ctr"/>
            <a:r>
              <a:rPr lang="en-US" sz="2100" b="1" dirty="0"/>
              <a:t>Memory Full?</a:t>
            </a:r>
          </a:p>
          <a:p>
            <a:pPr algn="ctr"/>
            <a:r>
              <a:rPr lang="en-US" dirty="0"/>
              <a:t>Fail to allocate continuous 5 KB space</a:t>
            </a:r>
          </a:p>
        </p:txBody>
      </p:sp>
      <p:sp>
        <p:nvSpPr>
          <p:cNvPr id="173" name="Rounded Rectangle 172"/>
          <p:cNvSpPr/>
          <p:nvPr/>
        </p:nvSpPr>
        <p:spPr>
          <a:xfrm>
            <a:off x="3891730" y="5361438"/>
            <a:ext cx="3615655" cy="10057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2400" b="1" dirty="0"/>
              <a:t>Logical to Physical Mapping Conflict</a:t>
            </a:r>
          </a:p>
        </p:txBody>
      </p:sp>
      <p:sp>
        <p:nvSpPr>
          <p:cNvPr id="174" name="Rounded Rectangular Callout 173"/>
          <p:cNvSpPr/>
          <p:nvPr/>
        </p:nvSpPr>
        <p:spPr>
          <a:xfrm>
            <a:off x="8361756" y="1430896"/>
            <a:ext cx="722675" cy="311071"/>
          </a:xfrm>
          <a:prstGeom prst="wedgeRoundRectCallout">
            <a:avLst>
              <a:gd name="adj1" fmla="val 84802"/>
              <a:gd name="adj2" fmla="val 73287"/>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t>Start</a:t>
            </a:r>
          </a:p>
        </p:txBody>
      </p:sp>
      <p:sp>
        <p:nvSpPr>
          <p:cNvPr id="175" name="Rounded Rectangle 174"/>
          <p:cNvSpPr/>
          <p:nvPr/>
        </p:nvSpPr>
        <p:spPr>
          <a:xfrm>
            <a:off x="7933138" y="5748217"/>
            <a:ext cx="4154675" cy="7053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This list utilizes 5 separate 1 KB blocks connected with each other.</a:t>
            </a:r>
            <a:endParaRPr lang="en-IN" sz="2000" dirty="0"/>
          </a:p>
        </p:txBody>
      </p:sp>
      <p:cxnSp>
        <p:nvCxnSpPr>
          <p:cNvPr id="177" name="Straight Connector 176"/>
          <p:cNvCxnSpPr/>
          <p:nvPr/>
        </p:nvCxnSpPr>
        <p:spPr>
          <a:xfrm>
            <a:off x="0" y="1332438"/>
            <a:ext cx="12192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265479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Linked Storage Representation</a:t>
            </a:r>
          </a:p>
        </p:txBody>
      </p:sp>
      <p:sp>
        <p:nvSpPr>
          <p:cNvPr id="3" name="Content Placeholder 2"/>
          <p:cNvSpPr>
            <a:spLocks noGrp="1"/>
          </p:cNvSpPr>
          <p:nvPr>
            <p:ph idx="4294967295"/>
          </p:nvPr>
        </p:nvSpPr>
        <p:spPr>
          <a:xfrm>
            <a:off x="131180" y="863444"/>
            <a:ext cx="11929641" cy="3304347"/>
          </a:xfrm>
        </p:spPr>
        <p:txBody>
          <a:bodyPr vert="horz" lIns="91440" tIns="45720" rIns="91440" bIns="45720" rtlCol="0">
            <a:noAutofit/>
          </a:bodyPr>
          <a:lstStyle/>
          <a:p>
            <a:pPr marL="265113" indent="-265113" algn="just">
              <a:buClr>
                <a:schemeClr val="accent6"/>
              </a:buClr>
              <a:buFont typeface="Wingdings 3" panose="05040102010807070707" pitchFamily="18" charset="2"/>
              <a:buChar char=""/>
            </a:pPr>
            <a:r>
              <a:rPr lang="en-IN" sz="2400" dirty="0"/>
              <a:t>There are many applications where </a:t>
            </a:r>
            <a:r>
              <a:rPr lang="en-IN" sz="2400" dirty="0">
                <a:solidFill>
                  <a:schemeClr val="accent6"/>
                </a:solidFill>
              </a:rPr>
              <a:t>sequential allocation method is unacceptable</a:t>
            </a:r>
            <a:r>
              <a:rPr lang="en-IN" sz="2400" dirty="0"/>
              <a:t> because of following characteristics</a:t>
            </a:r>
          </a:p>
          <a:p>
            <a:pPr marL="809625" lvl="1" indent="-352425" algn="just">
              <a:spcBef>
                <a:spcPts val="1000"/>
              </a:spcBef>
              <a:buClr>
                <a:schemeClr val="accent6"/>
              </a:buClr>
              <a:buFont typeface="Wingdings 3" panose="05040102010807070707" pitchFamily="18" charset="2"/>
              <a:buChar char=""/>
            </a:pPr>
            <a:r>
              <a:rPr lang="en-IN" sz="2000" dirty="0">
                <a:solidFill>
                  <a:schemeClr val="accent6"/>
                </a:solidFill>
              </a:rPr>
              <a:t>Unpredictable storage requirement</a:t>
            </a:r>
          </a:p>
          <a:p>
            <a:pPr marL="809625" lvl="1" indent="-352425" algn="just">
              <a:spcBef>
                <a:spcPts val="1000"/>
              </a:spcBef>
              <a:buClr>
                <a:schemeClr val="accent6"/>
              </a:buClr>
              <a:buFont typeface="Wingdings 3" panose="05040102010807070707" pitchFamily="18" charset="2"/>
              <a:buChar char=""/>
            </a:pPr>
            <a:r>
              <a:rPr lang="en-IN" sz="2000" dirty="0">
                <a:solidFill>
                  <a:schemeClr val="accent6"/>
                </a:solidFill>
              </a:rPr>
              <a:t>Extensive manipulation of stored data</a:t>
            </a:r>
          </a:p>
          <a:p>
            <a:pPr marL="265113" indent="-265113" algn="just">
              <a:buClr>
                <a:schemeClr val="accent6"/>
              </a:buClr>
              <a:buFont typeface="Wingdings 3" panose="05040102010807070707" pitchFamily="18" charset="2"/>
              <a:buChar char=""/>
            </a:pPr>
            <a:r>
              <a:rPr lang="en-IN" sz="2400" dirty="0"/>
              <a:t>One method of </a:t>
            </a:r>
            <a:r>
              <a:rPr lang="en-IN" sz="2400" dirty="0">
                <a:solidFill>
                  <a:schemeClr val="accent6"/>
                </a:solidFill>
              </a:rPr>
              <a:t>obtaining the address of node</a:t>
            </a:r>
            <a:r>
              <a:rPr lang="en-IN" sz="2400" dirty="0"/>
              <a:t> is to </a:t>
            </a:r>
            <a:r>
              <a:rPr lang="en-IN" sz="2400" dirty="0">
                <a:solidFill>
                  <a:schemeClr val="accent6"/>
                </a:solidFill>
              </a:rPr>
              <a:t>store address in computer’s main memory</a:t>
            </a:r>
            <a:r>
              <a:rPr lang="en-IN" sz="2400" dirty="0"/>
              <a:t>, we refer this addressing mode as </a:t>
            </a:r>
            <a:r>
              <a:rPr lang="en-IN" sz="2400" b="1" dirty="0"/>
              <a:t>pointer of link addressing</a:t>
            </a:r>
            <a:r>
              <a:rPr lang="en-IN" sz="2400" dirty="0"/>
              <a:t>.</a:t>
            </a:r>
          </a:p>
          <a:p>
            <a:pPr marL="265113" indent="-265113" algn="just">
              <a:buClr>
                <a:schemeClr val="accent6"/>
              </a:buClr>
              <a:buFont typeface="Wingdings 3" panose="05040102010807070707" pitchFamily="18" charset="2"/>
              <a:buChar char=""/>
            </a:pPr>
            <a:r>
              <a:rPr lang="en-IN" sz="2400" dirty="0"/>
              <a:t>A simple way to represent a linear list is to expand each node to contain a link or pointer to the next node. This representation is called one-way chain or Singly Linked Linear List.</a:t>
            </a:r>
          </a:p>
          <a:p>
            <a:pPr marL="265113" indent="-265113" algn="just">
              <a:buClr>
                <a:schemeClr val="accent6"/>
              </a:buClr>
              <a:buFont typeface="Wingdings 3" panose="05040102010807070707" pitchFamily="18" charset="2"/>
              <a:buChar char=""/>
            </a:pPr>
            <a:endParaRPr lang="en-IN" sz="2400" dirty="0"/>
          </a:p>
          <a:p>
            <a:pPr marL="265113" indent="-265113" algn="just">
              <a:buClr>
                <a:schemeClr val="accent6"/>
              </a:buClr>
              <a:buFont typeface="Wingdings 3" panose="05040102010807070707" pitchFamily="18" charset="2"/>
              <a:buChar char=""/>
            </a:pPr>
            <a:endParaRPr lang="en-US" sz="2400" dirty="0"/>
          </a:p>
        </p:txBody>
      </p:sp>
      <p:grpSp>
        <p:nvGrpSpPr>
          <p:cNvPr id="4" name="Group 3"/>
          <p:cNvGrpSpPr/>
          <p:nvPr/>
        </p:nvGrpSpPr>
        <p:grpSpPr>
          <a:xfrm>
            <a:off x="1978768" y="4792657"/>
            <a:ext cx="1532242" cy="533400"/>
            <a:chOff x="951919" y="5486400"/>
            <a:chExt cx="1532242" cy="533400"/>
          </a:xfrm>
        </p:grpSpPr>
        <p:sp>
          <p:nvSpPr>
            <p:cNvPr id="5" name="Rectangle 4"/>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A</a:t>
              </a:r>
              <a:endParaRPr lang="en-US" sz="2400" b="1" dirty="0"/>
            </a:p>
          </p:txBody>
        </p:sp>
        <p:sp>
          <p:nvSpPr>
            <p:cNvPr id="6" name="Rectangle 5"/>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7" name="Group 6"/>
          <p:cNvGrpSpPr/>
          <p:nvPr/>
        </p:nvGrpSpPr>
        <p:grpSpPr>
          <a:xfrm>
            <a:off x="3914207" y="4792657"/>
            <a:ext cx="1532242" cy="533400"/>
            <a:chOff x="951919" y="5486400"/>
            <a:chExt cx="1532242" cy="533400"/>
          </a:xfrm>
        </p:grpSpPr>
        <p:sp>
          <p:nvSpPr>
            <p:cNvPr id="8" name="Rectangle 7"/>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B</a:t>
              </a:r>
              <a:endParaRPr lang="en-US" sz="2400" b="1" dirty="0"/>
            </a:p>
          </p:txBody>
        </p:sp>
        <p:sp>
          <p:nvSpPr>
            <p:cNvPr id="9" name="Rectangle 8"/>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0" name="Group 9"/>
          <p:cNvGrpSpPr/>
          <p:nvPr/>
        </p:nvGrpSpPr>
        <p:grpSpPr>
          <a:xfrm>
            <a:off x="5819207" y="4792657"/>
            <a:ext cx="1532242" cy="533400"/>
            <a:chOff x="951919" y="5486400"/>
            <a:chExt cx="1532242" cy="533400"/>
          </a:xfrm>
        </p:grpSpPr>
        <p:sp>
          <p:nvSpPr>
            <p:cNvPr id="11" name="Rectangle 10"/>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12" name="Rectangle 11"/>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3" name="Group 12"/>
          <p:cNvGrpSpPr/>
          <p:nvPr/>
        </p:nvGrpSpPr>
        <p:grpSpPr>
          <a:xfrm>
            <a:off x="7724207" y="4792657"/>
            <a:ext cx="1532242" cy="533400"/>
            <a:chOff x="951919" y="5486400"/>
            <a:chExt cx="1532242" cy="533400"/>
          </a:xfrm>
        </p:grpSpPr>
        <p:sp>
          <p:nvSpPr>
            <p:cNvPr id="14" name="Rectangle 13"/>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D</a:t>
              </a:r>
              <a:endParaRPr lang="en-US" sz="2400" b="1" dirty="0"/>
            </a:p>
          </p:txBody>
        </p:sp>
        <p:sp>
          <p:nvSpPr>
            <p:cNvPr id="15" name="Rectangle 14"/>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16" name="Straight Arrow Connector 15"/>
          <p:cNvCxnSpPr>
            <a:stCxn id="6" idx="3"/>
            <a:endCxn id="8" idx="1"/>
          </p:cNvCxnSpPr>
          <p:nvPr/>
        </p:nvCxnSpPr>
        <p:spPr>
          <a:xfrm>
            <a:off x="3511011" y="5059357"/>
            <a:ext cx="403197"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7" name="Straight Arrow Connector 16"/>
          <p:cNvCxnSpPr>
            <a:stCxn id="9" idx="3"/>
            <a:endCxn id="11" idx="1"/>
          </p:cNvCxnSpPr>
          <p:nvPr/>
        </p:nvCxnSpPr>
        <p:spPr>
          <a:xfrm>
            <a:off x="5446449" y="5059357"/>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8" name="Straight Arrow Connector 17"/>
          <p:cNvCxnSpPr>
            <a:stCxn id="12" idx="3"/>
            <a:endCxn id="14" idx="1"/>
          </p:cNvCxnSpPr>
          <p:nvPr/>
        </p:nvCxnSpPr>
        <p:spPr>
          <a:xfrm>
            <a:off x="7351449" y="5059357"/>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9" name="Straight Connector 18"/>
          <p:cNvCxnSpPr/>
          <p:nvPr/>
        </p:nvCxnSpPr>
        <p:spPr>
          <a:xfrm flipH="1">
            <a:off x="8486207" y="4792657"/>
            <a:ext cx="770242"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20" name="TextBox 19"/>
          <p:cNvSpPr txBox="1"/>
          <p:nvPr/>
        </p:nvSpPr>
        <p:spPr>
          <a:xfrm>
            <a:off x="4740601" y="5666152"/>
            <a:ext cx="1716496" cy="461665"/>
          </a:xfrm>
          <a:prstGeom prst="rect">
            <a:avLst/>
          </a:prstGeom>
          <a:noFill/>
        </p:spPr>
        <p:txBody>
          <a:bodyPr wrap="none" rtlCol="0">
            <a:spAutoFit/>
          </a:bodyPr>
          <a:lstStyle/>
          <a:p>
            <a:r>
              <a:rPr lang="en-IN" sz="2400" b="1" dirty="0"/>
              <a:t>A linked List</a:t>
            </a:r>
            <a:endParaRPr lang="en-US" sz="2400" b="1" dirty="0"/>
          </a:p>
        </p:txBody>
      </p:sp>
      <p:sp>
        <p:nvSpPr>
          <p:cNvPr id="21" name="TextBox 20"/>
          <p:cNvSpPr txBox="1"/>
          <p:nvPr/>
        </p:nvSpPr>
        <p:spPr>
          <a:xfrm>
            <a:off x="4372576" y="5306764"/>
            <a:ext cx="652743" cy="369332"/>
          </a:xfrm>
          <a:prstGeom prst="rect">
            <a:avLst/>
          </a:prstGeom>
          <a:noFill/>
        </p:spPr>
        <p:txBody>
          <a:bodyPr wrap="none" rtlCol="0">
            <a:spAutoFit/>
          </a:bodyPr>
          <a:lstStyle/>
          <a:p>
            <a:r>
              <a:rPr lang="en-IN" b="1" dirty="0">
                <a:solidFill>
                  <a:srgbClr val="C00000"/>
                </a:solidFill>
              </a:rPr>
              <a:t>1000</a:t>
            </a:r>
            <a:endParaRPr lang="en-US" b="1" dirty="0">
              <a:solidFill>
                <a:srgbClr val="C00000"/>
              </a:solidFill>
            </a:endParaRPr>
          </a:p>
        </p:txBody>
      </p:sp>
      <p:sp>
        <p:nvSpPr>
          <p:cNvPr id="22" name="TextBox 21"/>
          <p:cNvSpPr txBox="1"/>
          <p:nvPr/>
        </p:nvSpPr>
        <p:spPr>
          <a:xfrm>
            <a:off x="6279191" y="5320015"/>
            <a:ext cx="652743" cy="369332"/>
          </a:xfrm>
          <a:prstGeom prst="rect">
            <a:avLst/>
          </a:prstGeom>
          <a:noFill/>
        </p:spPr>
        <p:txBody>
          <a:bodyPr wrap="none" rtlCol="0">
            <a:spAutoFit/>
          </a:bodyPr>
          <a:lstStyle/>
          <a:p>
            <a:r>
              <a:rPr lang="en-IN" b="1" dirty="0">
                <a:solidFill>
                  <a:srgbClr val="C00000"/>
                </a:solidFill>
              </a:rPr>
              <a:t>2050</a:t>
            </a:r>
            <a:endParaRPr lang="en-US" b="1" dirty="0">
              <a:solidFill>
                <a:srgbClr val="C00000"/>
              </a:solidFill>
            </a:endParaRPr>
          </a:p>
        </p:txBody>
      </p:sp>
      <p:sp>
        <p:nvSpPr>
          <p:cNvPr id="23" name="TextBox 22"/>
          <p:cNvSpPr txBox="1"/>
          <p:nvPr/>
        </p:nvSpPr>
        <p:spPr>
          <a:xfrm>
            <a:off x="8207309" y="5320015"/>
            <a:ext cx="652743" cy="369332"/>
          </a:xfrm>
          <a:prstGeom prst="rect">
            <a:avLst/>
          </a:prstGeom>
          <a:noFill/>
        </p:spPr>
        <p:txBody>
          <a:bodyPr wrap="none" rtlCol="0">
            <a:spAutoFit/>
          </a:bodyPr>
          <a:lstStyle/>
          <a:p>
            <a:r>
              <a:rPr lang="en-IN" b="1" dirty="0">
                <a:solidFill>
                  <a:srgbClr val="C00000"/>
                </a:solidFill>
              </a:rPr>
              <a:t>3335</a:t>
            </a:r>
            <a:endParaRPr lang="en-US" b="1" dirty="0">
              <a:solidFill>
                <a:srgbClr val="C00000"/>
              </a:solidFill>
            </a:endParaRPr>
          </a:p>
        </p:txBody>
      </p:sp>
      <p:sp>
        <p:nvSpPr>
          <p:cNvPr id="24" name="TextBox 23"/>
          <p:cNvSpPr txBox="1"/>
          <p:nvPr/>
        </p:nvSpPr>
        <p:spPr>
          <a:xfrm>
            <a:off x="2442686" y="5318432"/>
            <a:ext cx="652743" cy="369332"/>
          </a:xfrm>
          <a:prstGeom prst="rect">
            <a:avLst/>
          </a:prstGeom>
          <a:noFill/>
        </p:spPr>
        <p:txBody>
          <a:bodyPr wrap="none" rtlCol="0">
            <a:spAutoFit/>
          </a:bodyPr>
          <a:lstStyle/>
          <a:p>
            <a:r>
              <a:rPr lang="en-IN" b="1" dirty="0">
                <a:solidFill>
                  <a:srgbClr val="C00000"/>
                </a:solidFill>
              </a:rPr>
              <a:t>5000</a:t>
            </a:r>
            <a:endParaRPr lang="en-US" b="1" dirty="0">
              <a:solidFill>
                <a:srgbClr val="C00000"/>
              </a:solidFill>
            </a:endParaRPr>
          </a:p>
        </p:txBody>
      </p:sp>
      <p:sp>
        <p:nvSpPr>
          <p:cNvPr id="25" name="TextBox 24"/>
          <p:cNvSpPr txBox="1"/>
          <p:nvPr/>
        </p:nvSpPr>
        <p:spPr>
          <a:xfrm>
            <a:off x="2812507" y="4880525"/>
            <a:ext cx="652743" cy="369332"/>
          </a:xfrm>
          <a:prstGeom prst="rect">
            <a:avLst/>
          </a:prstGeom>
          <a:noFill/>
        </p:spPr>
        <p:txBody>
          <a:bodyPr wrap="none" rtlCol="0">
            <a:spAutoFit/>
          </a:bodyPr>
          <a:lstStyle/>
          <a:p>
            <a:r>
              <a:rPr lang="en-IN" b="1" dirty="0">
                <a:solidFill>
                  <a:srgbClr val="FFFF00"/>
                </a:solidFill>
              </a:rPr>
              <a:t>1000</a:t>
            </a:r>
            <a:endParaRPr lang="en-US" b="1" dirty="0">
              <a:solidFill>
                <a:srgbClr val="FFFF00"/>
              </a:solidFill>
            </a:endParaRPr>
          </a:p>
        </p:txBody>
      </p:sp>
      <p:sp>
        <p:nvSpPr>
          <p:cNvPr id="26" name="TextBox 25"/>
          <p:cNvSpPr txBox="1"/>
          <p:nvPr/>
        </p:nvSpPr>
        <p:spPr>
          <a:xfrm>
            <a:off x="4737385" y="4868857"/>
            <a:ext cx="652743" cy="369332"/>
          </a:xfrm>
          <a:prstGeom prst="rect">
            <a:avLst/>
          </a:prstGeom>
          <a:noFill/>
        </p:spPr>
        <p:txBody>
          <a:bodyPr wrap="none" rtlCol="0">
            <a:spAutoFit/>
          </a:bodyPr>
          <a:lstStyle/>
          <a:p>
            <a:r>
              <a:rPr lang="en-IN" b="1" dirty="0">
                <a:solidFill>
                  <a:srgbClr val="FFFF00"/>
                </a:solidFill>
              </a:rPr>
              <a:t>2050</a:t>
            </a:r>
            <a:endParaRPr lang="en-US" b="1" dirty="0">
              <a:solidFill>
                <a:srgbClr val="FFFF00"/>
              </a:solidFill>
            </a:endParaRPr>
          </a:p>
        </p:txBody>
      </p:sp>
      <p:sp>
        <p:nvSpPr>
          <p:cNvPr id="27" name="TextBox 26"/>
          <p:cNvSpPr txBox="1"/>
          <p:nvPr/>
        </p:nvSpPr>
        <p:spPr>
          <a:xfrm>
            <a:off x="6649012" y="4868857"/>
            <a:ext cx="652743" cy="369332"/>
          </a:xfrm>
          <a:prstGeom prst="rect">
            <a:avLst/>
          </a:prstGeom>
          <a:noFill/>
        </p:spPr>
        <p:txBody>
          <a:bodyPr wrap="none" rtlCol="0">
            <a:spAutoFit/>
          </a:bodyPr>
          <a:lstStyle/>
          <a:p>
            <a:r>
              <a:rPr lang="en-IN" b="1" dirty="0">
                <a:solidFill>
                  <a:srgbClr val="FFFF00"/>
                </a:solidFill>
              </a:rPr>
              <a:t>3335</a:t>
            </a:r>
            <a:endParaRPr lang="en-US" b="1" dirty="0">
              <a:solidFill>
                <a:srgbClr val="FFFF00"/>
              </a:solidFill>
            </a:endParaRPr>
          </a:p>
        </p:txBody>
      </p:sp>
      <p:cxnSp>
        <p:nvCxnSpPr>
          <p:cNvPr id="28" name="Straight Arrow Connector 27"/>
          <p:cNvCxnSpPr>
            <a:endCxn id="15" idx="0"/>
          </p:cNvCxnSpPr>
          <p:nvPr/>
        </p:nvCxnSpPr>
        <p:spPr>
          <a:xfrm>
            <a:off x="8875449" y="4564057"/>
            <a:ext cx="0" cy="2286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9" name="Straight Connector 28"/>
          <p:cNvCxnSpPr/>
          <p:nvPr/>
        </p:nvCxnSpPr>
        <p:spPr>
          <a:xfrm>
            <a:off x="8875449" y="4564057"/>
            <a:ext cx="381000"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30" name="TextBox 29"/>
          <p:cNvSpPr txBox="1"/>
          <p:nvPr/>
        </p:nvSpPr>
        <p:spPr>
          <a:xfrm>
            <a:off x="9263002" y="4255659"/>
            <a:ext cx="736099" cy="646331"/>
          </a:xfrm>
          <a:prstGeom prst="rect">
            <a:avLst/>
          </a:prstGeom>
          <a:noFill/>
        </p:spPr>
        <p:txBody>
          <a:bodyPr wrap="none" rtlCol="0">
            <a:spAutoFit/>
          </a:bodyPr>
          <a:lstStyle/>
          <a:p>
            <a:r>
              <a:rPr lang="en-IN" b="1" dirty="0">
                <a:solidFill>
                  <a:srgbClr val="C00000"/>
                </a:solidFill>
              </a:rPr>
              <a:t>NULL </a:t>
            </a:r>
            <a:br>
              <a:rPr lang="en-IN" b="1" dirty="0">
                <a:solidFill>
                  <a:srgbClr val="C00000"/>
                </a:solidFill>
              </a:rPr>
            </a:br>
            <a:r>
              <a:rPr lang="en-IN" b="1" dirty="0">
                <a:solidFill>
                  <a:srgbClr val="C00000"/>
                </a:solidFill>
              </a:rPr>
              <a:t>Value</a:t>
            </a:r>
            <a:endParaRPr lang="en-US" b="1" dirty="0">
              <a:solidFill>
                <a:srgbClr val="C00000"/>
              </a:solidFill>
            </a:endParaRPr>
          </a:p>
        </p:txBody>
      </p:sp>
      <p:sp>
        <p:nvSpPr>
          <p:cNvPr id="31" name="TextBox 30"/>
          <p:cNvSpPr txBox="1"/>
          <p:nvPr/>
        </p:nvSpPr>
        <p:spPr>
          <a:xfrm>
            <a:off x="7736214" y="4420832"/>
            <a:ext cx="1132682" cy="369332"/>
          </a:xfrm>
          <a:prstGeom prst="rect">
            <a:avLst/>
          </a:prstGeom>
          <a:noFill/>
        </p:spPr>
        <p:txBody>
          <a:bodyPr wrap="none" rtlCol="0">
            <a:spAutoFit/>
          </a:bodyPr>
          <a:lstStyle/>
          <a:p>
            <a:r>
              <a:rPr lang="en-IN" b="1" dirty="0"/>
              <a:t>Last Node</a:t>
            </a:r>
            <a:endParaRPr lang="en-US" b="1" dirty="0"/>
          </a:p>
        </p:txBody>
      </p:sp>
    </p:spTree>
    <p:extLst>
      <p:ext uri="{BB962C8B-B14F-4D97-AF65-F5344CB8AC3E}">
        <p14:creationId xmlns:p14="http://schemas.microsoft.com/office/powerpoint/2010/main" val="119339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7"/>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29"/>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2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0"/>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31"/>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4" grpId="0"/>
      <p:bldP spid="25" grpId="0"/>
      <p:bldP spid="26" grpId="0"/>
      <p:bldP spid="27" grpId="0"/>
      <p:bldP spid="30" grpId="0"/>
      <p:bldP spid="3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Linked Storage Representation</a:t>
            </a:r>
          </a:p>
        </p:txBody>
      </p:sp>
      <p:sp>
        <p:nvSpPr>
          <p:cNvPr id="3" name="Content Placeholder 2"/>
          <p:cNvSpPr>
            <a:spLocks noGrp="1"/>
          </p:cNvSpPr>
          <p:nvPr>
            <p:ph idx="1"/>
          </p:nvPr>
        </p:nvSpPr>
        <p:spPr/>
        <p:txBody>
          <a:bodyPr/>
          <a:lstStyle/>
          <a:p>
            <a:r>
              <a:rPr lang="en-IN" dirty="0"/>
              <a:t>The linked allocation method of storage can result in both efficient use of computer storage and computer time.</a:t>
            </a:r>
          </a:p>
          <a:p>
            <a:pPr lvl="1"/>
            <a:r>
              <a:rPr lang="en-IN" dirty="0"/>
              <a:t>A </a:t>
            </a:r>
            <a:r>
              <a:rPr lang="en-IN" dirty="0">
                <a:solidFill>
                  <a:schemeClr val="accent6"/>
                </a:solidFill>
              </a:rPr>
              <a:t>linked list </a:t>
            </a:r>
            <a:r>
              <a:rPr lang="en-IN" dirty="0"/>
              <a:t>is a </a:t>
            </a:r>
            <a:r>
              <a:rPr lang="en-IN" dirty="0">
                <a:solidFill>
                  <a:schemeClr val="accent6"/>
                </a:solidFill>
              </a:rPr>
              <a:t>non-sequential collection of data items</a:t>
            </a:r>
            <a:r>
              <a:rPr lang="en-IN" dirty="0"/>
              <a:t>.</a:t>
            </a:r>
          </a:p>
          <a:p>
            <a:pPr lvl="1"/>
            <a:r>
              <a:rPr lang="en-IN" dirty="0">
                <a:solidFill>
                  <a:schemeClr val="accent6"/>
                </a:solidFill>
              </a:rPr>
              <a:t>Each node</a:t>
            </a:r>
            <a:r>
              <a:rPr lang="en-IN" dirty="0"/>
              <a:t> is </a:t>
            </a:r>
            <a:r>
              <a:rPr lang="en-IN" b="1" dirty="0"/>
              <a:t>divided</a:t>
            </a:r>
            <a:r>
              <a:rPr lang="en-IN" dirty="0"/>
              <a:t> into </a:t>
            </a:r>
            <a:r>
              <a:rPr lang="en-IN" dirty="0">
                <a:solidFill>
                  <a:schemeClr val="accent6"/>
                </a:solidFill>
              </a:rPr>
              <a:t>two parts</a:t>
            </a:r>
            <a:r>
              <a:rPr lang="en-IN" dirty="0"/>
              <a:t>, the </a:t>
            </a:r>
            <a:r>
              <a:rPr lang="en-IN" dirty="0">
                <a:solidFill>
                  <a:schemeClr val="accent6"/>
                </a:solidFill>
              </a:rPr>
              <a:t>first part represents the information</a:t>
            </a:r>
            <a:r>
              <a:rPr lang="en-IN" dirty="0"/>
              <a:t> of the element and the </a:t>
            </a:r>
            <a:r>
              <a:rPr lang="en-IN" dirty="0">
                <a:solidFill>
                  <a:schemeClr val="accent6"/>
                </a:solidFill>
              </a:rPr>
              <a:t>second part contains the address</a:t>
            </a:r>
            <a:r>
              <a:rPr lang="en-IN" dirty="0"/>
              <a:t> of the </a:t>
            </a:r>
            <a:r>
              <a:rPr lang="en-IN" dirty="0">
                <a:solidFill>
                  <a:schemeClr val="accent6"/>
                </a:solidFill>
              </a:rPr>
              <a:t>next mode</a:t>
            </a:r>
            <a:r>
              <a:rPr lang="en-IN" dirty="0"/>
              <a:t>.</a:t>
            </a:r>
          </a:p>
          <a:p>
            <a:pPr lvl="1"/>
            <a:r>
              <a:rPr lang="en-IN" dirty="0"/>
              <a:t>The </a:t>
            </a:r>
            <a:r>
              <a:rPr lang="en-IN" dirty="0">
                <a:solidFill>
                  <a:schemeClr val="accent6"/>
                </a:solidFill>
              </a:rPr>
              <a:t>last node</a:t>
            </a:r>
            <a:r>
              <a:rPr lang="en-IN" dirty="0"/>
              <a:t> of the list does not have successor node, so </a:t>
            </a:r>
            <a:r>
              <a:rPr lang="en-IN" dirty="0">
                <a:solidFill>
                  <a:schemeClr val="accent6"/>
                </a:solidFill>
              </a:rPr>
              <a:t>null value is stored as the address</a:t>
            </a:r>
            <a:r>
              <a:rPr lang="en-IN" dirty="0"/>
              <a:t>.</a:t>
            </a:r>
          </a:p>
          <a:p>
            <a:pPr lvl="1"/>
            <a:r>
              <a:rPr lang="en-IN" dirty="0"/>
              <a:t>It is possible for a list to have no nodes at all, such a list is called empty list.</a:t>
            </a:r>
            <a:endParaRPr lang="en-US" dirty="0"/>
          </a:p>
          <a:p>
            <a:endParaRPr lang="en-US" dirty="0"/>
          </a:p>
        </p:txBody>
      </p:sp>
    </p:spTree>
    <p:extLst>
      <p:ext uri="{BB962C8B-B14F-4D97-AF65-F5344CB8AC3E}">
        <p14:creationId xmlns:p14="http://schemas.microsoft.com/office/powerpoint/2010/main" val="3003450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Pros &amp; Cons of Linked Allocation Cont.</a:t>
            </a:r>
            <a:endParaRPr lang="en-US" dirty="0"/>
          </a:p>
        </p:txBody>
      </p:sp>
      <p:sp>
        <p:nvSpPr>
          <p:cNvPr id="3" name="Content Placeholder 2"/>
          <p:cNvSpPr>
            <a:spLocks noGrp="1"/>
          </p:cNvSpPr>
          <p:nvPr>
            <p:ph idx="1"/>
          </p:nvPr>
        </p:nvSpPr>
        <p:spPr>
          <a:xfrm>
            <a:off x="131180" y="876145"/>
            <a:ext cx="11929641" cy="1645114"/>
          </a:xfrm>
        </p:spPr>
        <p:txBody>
          <a:bodyPr/>
          <a:lstStyle/>
          <a:p>
            <a:r>
              <a:rPr lang="en-US" dirty="0">
                <a:solidFill>
                  <a:srgbClr val="C00000"/>
                </a:solidFill>
              </a:rPr>
              <a:t>Insertion Operation</a:t>
            </a:r>
          </a:p>
          <a:p>
            <a:pPr lvl="1"/>
            <a:r>
              <a:rPr lang="en-US" dirty="0"/>
              <a:t>We have an </a:t>
            </a:r>
            <a:r>
              <a:rPr lang="en-US" i="1" dirty="0"/>
              <a:t>n</a:t>
            </a:r>
            <a:r>
              <a:rPr lang="en-US" dirty="0"/>
              <a:t> elements in list and it is required to insert a new element between the first and second element, what to do with sequential allocation &amp; linked allocation?</a:t>
            </a:r>
          </a:p>
          <a:p>
            <a:pPr lvl="1"/>
            <a:r>
              <a:rPr lang="en-US" dirty="0"/>
              <a:t>Insertion operation is more efficient in Linked allocation.</a:t>
            </a:r>
            <a:endParaRPr lang="en-IN" dirty="0"/>
          </a:p>
          <a:p>
            <a:endParaRPr lang="en-US" dirty="0">
              <a:solidFill>
                <a:srgbClr val="C00000"/>
              </a:solidFill>
            </a:endParaRPr>
          </a:p>
          <a:p>
            <a:endParaRPr lang="en-US" dirty="0"/>
          </a:p>
        </p:txBody>
      </p:sp>
      <p:grpSp>
        <p:nvGrpSpPr>
          <p:cNvPr id="4" name="Group 3"/>
          <p:cNvGrpSpPr/>
          <p:nvPr/>
        </p:nvGrpSpPr>
        <p:grpSpPr>
          <a:xfrm>
            <a:off x="2190468" y="3048000"/>
            <a:ext cx="1532242" cy="533400"/>
            <a:chOff x="951919" y="5486400"/>
            <a:chExt cx="1532242" cy="533400"/>
          </a:xfrm>
        </p:grpSpPr>
        <p:sp>
          <p:nvSpPr>
            <p:cNvPr id="5" name="Rectangle 4"/>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A</a:t>
              </a:r>
              <a:endParaRPr lang="en-US" sz="2400" b="1" dirty="0"/>
            </a:p>
          </p:txBody>
        </p:sp>
        <p:sp>
          <p:nvSpPr>
            <p:cNvPr id="6" name="Rectangle 5"/>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7" name="Group 6"/>
          <p:cNvGrpSpPr/>
          <p:nvPr/>
        </p:nvGrpSpPr>
        <p:grpSpPr>
          <a:xfrm>
            <a:off x="4125907" y="3048000"/>
            <a:ext cx="1532242" cy="533400"/>
            <a:chOff x="951919" y="5486400"/>
            <a:chExt cx="1532242" cy="533400"/>
          </a:xfrm>
        </p:grpSpPr>
        <p:sp>
          <p:nvSpPr>
            <p:cNvPr id="8" name="Rectangle 7"/>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B</a:t>
              </a:r>
              <a:endParaRPr lang="en-US" sz="2400" b="1" dirty="0"/>
            </a:p>
          </p:txBody>
        </p:sp>
        <p:sp>
          <p:nvSpPr>
            <p:cNvPr id="9" name="Rectangle 8"/>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0" name="Group 9"/>
          <p:cNvGrpSpPr/>
          <p:nvPr/>
        </p:nvGrpSpPr>
        <p:grpSpPr>
          <a:xfrm>
            <a:off x="6030907" y="3048000"/>
            <a:ext cx="1532242" cy="533400"/>
            <a:chOff x="951919" y="5486400"/>
            <a:chExt cx="1532242" cy="533400"/>
          </a:xfrm>
        </p:grpSpPr>
        <p:sp>
          <p:nvSpPr>
            <p:cNvPr id="11" name="Rectangle 10"/>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12" name="Rectangle 11"/>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3" name="Group 12"/>
          <p:cNvGrpSpPr/>
          <p:nvPr/>
        </p:nvGrpSpPr>
        <p:grpSpPr>
          <a:xfrm>
            <a:off x="7935907" y="3048000"/>
            <a:ext cx="1532242" cy="533400"/>
            <a:chOff x="951919" y="5486400"/>
            <a:chExt cx="1532242" cy="533400"/>
          </a:xfrm>
        </p:grpSpPr>
        <p:sp>
          <p:nvSpPr>
            <p:cNvPr id="14" name="Rectangle 13"/>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D</a:t>
              </a:r>
              <a:endParaRPr lang="en-US" sz="2400" b="1" dirty="0"/>
            </a:p>
          </p:txBody>
        </p:sp>
        <p:sp>
          <p:nvSpPr>
            <p:cNvPr id="15" name="Rectangle 14"/>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16" name="Straight Arrow Connector 15"/>
          <p:cNvCxnSpPr>
            <a:stCxn id="6" idx="3"/>
            <a:endCxn id="8" idx="1"/>
          </p:cNvCxnSpPr>
          <p:nvPr/>
        </p:nvCxnSpPr>
        <p:spPr>
          <a:xfrm>
            <a:off x="3722711" y="3314700"/>
            <a:ext cx="403197"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7" name="Straight Arrow Connector 16"/>
          <p:cNvCxnSpPr>
            <a:stCxn id="9" idx="3"/>
            <a:endCxn id="11" idx="1"/>
          </p:cNvCxnSpPr>
          <p:nvPr/>
        </p:nvCxnSpPr>
        <p:spPr>
          <a:xfrm>
            <a:off x="5658149" y="3314700"/>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8" name="Straight Arrow Connector 17"/>
          <p:cNvCxnSpPr>
            <a:stCxn id="12" idx="3"/>
            <a:endCxn id="14" idx="1"/>
          </p:cNvCxnSpPr>
          <p:nvPr/>
        </p:nvCxnSpPr>
        <p:spPr>
          <a:xfrm>
            <a:off x="7563149" y="3314700"/>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9" name="Straight Connector 18"/>
          <p:cNvCxnSpPr/>
          <p:nvPr/>
        </p:nvCxnSpPr>
        <p:spPr>
          <a:xfrm flipH="1">
            <a:off x="8697907" y="3048000"/>
            <a:ext cx="770242" cy="5334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sp>
        <p:nvSpPr>
          <p:cNvPr id="20" name="TextBox 19"/>
          <p:cNvSpPr txBox="1"/>
          <p:nvPr/>
        </p:nvSpPr>
        <p:spPr>
          <a:xfrm>
            <a:off x="4570829" y="3521766"/>
            <a:ext cx="652743" cy="369332"/>
          </a:xfrm>
          <a:prstGeom prst="rect">
            <a:avLst/>
          </a:prstGeom>
          <a:noFill/>
        </p:spPr>
        <p:txBody>
          <a:bodyPr wrap="none" rtlCol="0">
            <a:spAutoFit/>
          </a:bodyPr>
          <a:lstStyle/>
          <a:p>
            <a:r>
              <a:rPr lang="en-IN" b="1" dirty="0">
                <a:solidFill>
                  <a:srgbClr val="C00000"/>
                </a:solidFill>
              </a:rPr>
              <a:t>1000</a:t>
            </a:r>
            <a:endParaRPr lang="en-US" b="1" dirty="0">
              <a:solidFill>
                <a:srgbClr val="C00000"/>
              </a:solidFill>
            </a:endParaRPr>
          </a:p>
        </p:txBody>
      </p:sp>
      <p:sp>
        <p:nvSpPr>
          <p:cNvPr id="21" name="TextBox 20"/>
          <p:cNvSpPr txBox="1"/>
          <p:nvPr/>
        </p:nvSpPr>
        <p:spPr>
          <a:xfrm>
            <a:off x="6477444" y="3535017"/>
            <a:ext cx="652743" cy="369332"/>
          </a:xfrm>
          <a:prstGeom prst="rect">
            <a:avLst/>
          </a:prstGeom>
          <a:noFill/>
        </p:spPr>
        <p:txBody>
          <a:bodyPr wrap="none" rtlCol="0">
            <a:spAutoFit/>
          </a:bodyPr>
          <a:lstStyle/>
          <a:p>
            <a:r>
              <a:rPr lang="en-IN" b="1" dirty="0">
                <a:solidFill>
                  <a:srgbClr val="C00000"/>
                </a:solidFill>
              </a:rPr>
              <a:t>2050</a:t>
            </a:r>
            <a:endParaRPr lang="en-US" b="1" dirty="0">
              <a:solidFill>
                <a:srgbClr val="C00000"/>
              </a:solidFill>
            </a:endParaRPr>
          </a:p>
        </p:txBody>
      </p:sp>
      <p:sp>
        <p:nvSpPr>
          <p:cNvPr id="22" name="TextBox 21"/>
          <p:cNvSpPr txBox="1"/>
          <p:nvPr/>
        </p:nvSpPr>
        <p:spPr>
          <a:xfrm>
            <a:off x="8405562" y="3535017"/>
            <a:ext cx="652743" cy="369332"/>
          </a:xfrm>
          <a:prstGeom prst="rect">
            <a:avLst/>
          </a:prstGeom>
          <a:noFill/>
        </p:spPr>
        <p:txBody>
          <a:bodyPr wrap="none" rtlCol="0">
            <a:spAutoFit/>
          </a:bodyPr>
          <a:lstStyle/>
          <a:p>
            <a:r>
              <a:rPr lang="en-IN" b="1" dirty="0">
                <a:solidFill>
                  <a:srgbClr val="C00000"/>
                </a:solidFill>
              </a:rPr>
              <a:t>3335</a:t>
            </a:r>
            <a:endParaRPr lang="en-US" b="1" dirty="0">
              <a:solidFill>
                <a:srgbClr val="C00000"/>
              </a:solidFill>
            </a:endParaRPr>
          </a:p>
        </p:txBody>
      </p:sp>
      <p:sp>
        <p:nvSpPr>
          <p:cNvPr id="23" name="TextBox 22"/>
          <p:cNvSpPr txBox="1"/>
          <p:nvPr/>
        </p:nvSpPr>
        <p:spPr>
          <a:xfrm>
            <a:off x="2640939" y="3533434"/>
            <a:ext cx="652743" cy="369332"/>
          </a:xfrm>
          <a:prstGeom prst="rect">
            <a:avLst/>
          </a:prstGeom>
          <a:noFill/>
        </p:spPr>
        <p:txBody>
          <a:bodyPr wrap="none" rtlCol="0">
            <a:spAutoFit/>
          </a:bodyPr>
          <a:lstStyle/>
          <a:p>
            <a:r>
              <a:rPr lang="en-IN" b="1" dirty="0">
                <a:solidFill>
                  <a:srgbClr val="C00000"/>
                </a:solidFill>
              </a:rPr>
              <a:t>5000</a:t>
            </a:r>
            <a:endParaRPr lang="en-US" b="1" dirty="0">
              <a:solidFill>
                <a:srgbClr val="C00000"/>
              </a:solidFill>
            </a:endParaRPr>
          </a:p>
        </p:txBody>
      </p:sp>
      <p:sp>
        <p:nvSpPr>
          <p:cNvPr id="24" name="TextBox 23"/>
          <p:cNvSpPr txBox="1"/>
          <p:nvPr/>
        </p:nvSpPr>
        <p:spPr>
          <a:xfrm>
            <a:off x="3024207" y="3135868"/>
            <a:ext cx="652743" cy="369332"/>
          </a:xfrm>
          <a:prstGeom prst="rect">
            <a:avLst/>
          </a:prstGeom>
          <a:noFill/>
        </p:spPr>
        <p:txBody>
          <a:bodyPr wrap="none" rtlCol="0">
            <a:spAutoFit/>
          </a:bodyPr>
          <a:lstStyle/>
          <a:p>
            <a:r>
              <a:rPr lang="en-IN" b="1" dirty="0">
                <a:solidFill>
                  <a:srgbClr val="FFFF00"/>
                </a:solidFill>
              </a:rPr>
              <a:t>1000</a:t>
            </a:r>
            <a:endParaRPr lang="en-US" b="1" dirty="0">
              <a:solidFill>
                <a:srgbClr val="FFFF00"/>
              </a:solidFill>
            </a:endParaRPr>
          </a:p>
        </p:txBody>
      </p:sp>
      <p:sp>
        <p:nvSpPr>
          <p:cNvPr id="25" name="TextBox 24"/>
          <p:cNvSpPr txBox="1"/>
          <p:nvPr/>
        </p:nvSpPr>
        <p:spPr>
          <a:xfrm>
            <a:off x="4949085" y="3124200"/>
            <a:ext cx="652743" cy="369332"/>
          </a:xfrm>
          <a:prstGeom prst="rect">
            <a:avLst/>
          </a:prstGeom>
          <a:noFill/>
        </p:spPr>
        <p:txBody>
          <a:bodyPr wrap="none" rtlCol="0">
            <a:spAutoFit/>
          </a:bodyPr>
          <a:lstStyle/>
          <a:p>
            <a:r>
              <a:rPr lang="en-IN" b="1" dirty="0">
                <a:solidFill>
                  <a:srgbClr val="FFFF00"/>
                </a:solidFill>
              </a:rPr>
              <a:t>2050</a:t>
            </a:r>
            <a:endParaRPr lang="en-US" b="1" dirty="0">
              <a:solidFill>
                <a:srgbClr val="FFFF00"/>
              </a:solidFill>
            </a:endParaRPr>
          </a:p>
        </p:txBody>
      </p:sp>
      <p:sp>
        <p:nvSpPr>
          <p:cNvPr id="26" name="TextBox 25"/>
          <p:cNvSpPr txBox="1"/>
          <p:nvPr/>
        </p:nvSpPr>
        <p:spPr>
          <a:xfrm>
            <a:off x="6860712" y="3124200"/>
            <a:ext cx="652743" cy="369332"/>
          </a:xfrm>
          <a:prstGeom prst="rect">
            <a:avLst/>
          </a:prstGeom>
          <a:noFill/>
        </p:spPr>
        <p:txBody>
          <a:bodyPr wrap="none" rtlCol="0">
            <a:spAutoFit/>
          </a:bodyPr>
          <a:lstStyle/>
          <a:p>
            <a:r>
              <a:rPr lang="en-IN" b="1" dirty="0">
                <a:solidFill>
                  <a:srgbClr val="FFFF00"/>
                </a:solidFill>
              </a:rPr>
              <a:t>3335</a:t>
            </a:r>
            <a:endParaRPr lang="en-US" b="1" dirty="0">
              <a:solidFill>
                <a:srgbClr val="FFFF00"/>
              </a:solidFill>
            </a:endParaRPr>
          </a:p>
        </p:txBody>
      </p:sp>
      <p:grpSp>
        <p:nvGrpSpPr>
          <p:cNvPr id="27" name="Group 26"/>
          <p:cNvGrpSpPr/>
          <p:nvPr/>
        </p:nvGrpSpPr>
        <p:grpSpPr>
          <a:xfrm>
            <a:off x="2131363" y="4169252"/>
            <a:ext cx="1532242" cy="533400"/>
            <a:chOff x="951919" y="5486400"/>
            <a:chExt cx="1532242" cy="533400"/>
          </a:xfrm>
        </p:grpSpPr>
        <p:sp>
          <p:nvSpPr>
            <p:cNvPr id="28" name="Rectangle 27"/>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A</a:t>
              </a:r>
              <a:endParaRPr lang="en-US" sz="2400" b="1" dirty="0"/>
            </a:p>
          </p:txBody>
        </p:sp>
        <p:sp>
          <p:nvSpPr>
            <p:cNvPr id="29" name="Rectangle 28"/>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30" name="Group 29"/>
          <p:cNvGrpSpPr/>
          <p:nvPr/>
        </p:nvGrpSpPr>
        <p:grpSpPr>
          <a:xfrm>
            <a:off x="4948070" y="4169252"/>
            <a:ext cx="1532242" cy="533400"/>
            <a:chOff x="951919" y="5486400"/>
            <a:chExt cx="1532242" cy="533400"/>
          </a:xfrm>
        </p:grpSpPr>
        <p:sp>
          <p:nvSpPr>
            <p:cNvPr id="31" name="Rectangle 30"/>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B</a:t>
              </a:r>
              <a:endParaRPr lang="en-US" sz="2400" b="1" dirty="0"/>
            </a:p>
          </p:txBody>
        </p:sp>
        <p:sp>
          <p:nvSpPr>
            <p:cNvPr id="32" name="Rectangle 31"/>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33" name="Group 32"/>
          <p:cNvGrpSpPr/>
          <p:nvPr/>
        </p:nvGrpSpPr>
        <p:grpSpPr>
          <a:xfrm>
            <a:off x="6853070" y="4169252"/>
            <a:ext cx="1532242" cy="533400"/>
            <a:chOff x="951919" y="5486400"/>
            <a:chExt cx="1532242" cy="533400"/>
          </a:xfrm>
        </p:grpSpPr>
        <p:sp>
          <p:nvSpPr>
            <p:cNvPr id="34" name="Rectangle 33"/>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35" name="Rectangle 34"/>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36" name="Group 35"/>
          <p:cNvGrpSpPr/>
          <p:nvPr/>
        </p:nvGrpSpPr>
        <p:grpSpPr>
          <a:xfrm>
            <a:off x="8758070" y="4169252"/>
            <a:ext cx="1532242" cy="533400"/>
            <a:chOff x="951919" y="5486400"/>
            <a:chExt cx="1532242" cy="533400"/>
          </a:xfrm>
        </p:grpSpPr>
        <p:sp>
          <p:nvSpPr>
            <p:cNvPr id="37" name="Rectangle 36"/>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D</a:t>
              </a:r>
              <a:endParaRPr lang="en-US" sz="2400" b="1" dirty="0"/>
            </a:p>
          </p:txBody>
        </p:sp>
        <p:sp>
          <p:nvSpPr>
            <p:cNvPr id="38" name="Rectangle 37"/>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39" name="Straight Arrow Connector 38"/>
          <p:cNvCxnSpPr>
            <a:stCxn id="32" idx="3"/>
            <a:endCxn id="34" idx="1"/>
          </p:cNvCxnSpPr>
          <p:nvPr/>
        </p:nvCxnSpPr>
        <p:spPr>
          <a:xfrm>
            <a:off x="6480312" y="4435952"/>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0" name="Straight Arrow Connector 39"/>
          <p:cNvCxnSpPr>
            <a:stCxn id="35" idx="3"/>
            <a:endCxn id="37" idx="1"/>
          </p:cNvCxnSpPr>
          <p:nvPr/>
        </p:nvCxnSpPr>
        <p:spPr>
          <a:xfrm>
            <a:off x="8385312" y="4435952"/>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1" name="Straight Connector 40"/>
          <p:cNvCxnSpPr/>
          <p:nvPr/>
        </p:nvCxnSpPr>
        <p:spPr>
          <a:xfrm flipH="1">
            <a:off x="9520070" y="4169252"/>
            <a:ext cx="770242" cy="5334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sp>
        <p:nvSpPr>
          <p:cNvPr id="42" name="TextBox 41"/>
          <p:cNvSpPr txBox="1"/>
          <p:nvPr/>
        </p:nvSpPr>
        <p:spPr>
          <a:xfrm>
            <a:off x="5392992" y="4643018"/>
            <a:ext cx="652743" cy="369332"/>
          </a:xfrm>
          <a:prstGeom prst="rect">
            <a:avLst/>
          </a:prstGeom>
          <a:noFill/>
        </p:spPr>
        <p:txBody>
          <a:bodyPr wrap="none" rtlCol="0">
            <a:spAutoFit/>
          </a:bodyPr>
          <a:lstStyle/>
          <a:p>
            <a:r>
              <a:rPr lang="en-IN" b="1" dirty="0">
                <a:solidFill>
                  <a:srgbClr val="C00000"/>
                </a:solidFill>
              </a:rPr>
              <a:t>1000</a:t>
            </a:r>
            <a:endParaRPr lang="en-US" b="1" dirty="0">
              <a:solidFill>
                <a:srgbClr val="C00000"/>
              </a:solidFill>
            </a:endParaRPr>
          </a:p>
        </p:txBody>
      </p:sp>
      <p:sp>
        <p:nvSpPr>
          <p:cNvPr id="43" name="TextBox 42"/>
          <p:cNvSpPr txBox="1"/>
          <p:nvPr/>
        </p:nvSpPr>
        <p:spPr>
          <a:xfrm>
            <a:off x="7299607" y="4656269"/>
            <a:ext cx="652743" cy="369332"/>
          </a:xfrm>
          <a:prstGeom prst="rect">
            <a:avLst/>
          </a:prstGeom>
          <a:noFill/>
        </p:spPr>
        <p:txBody>
          <a:bodyPr wrap="none" rtlCol="0">
            <a:spAutoFit/>
          </a:bodyPr>
          <a:lstStyle/>
          <a:p>
            <a:r>
              <a:rPr lang="en-IN" b="1" dirty="0">
                <a:solidFill>
                  <a:srgbClr val="C00000"/>
                </a:solidFill>
              </a:rPr>
              <a:t>2050</a:t>
            </a:r>
            <a:endParaRPr lang="en-US" b="1" dirty="0">
              <a:solidFill>
                <a:srgbClr val="C00000"/>
              </a:solidFill>
            </a:endParaRPr>
          </a:p>
        </p:txBody>
      </p:sp>
      <p:sp>
        <p:nvSpPr>
          <p:cNvPr id="44" name="TextBox 43"/>
          <p:cNvSpPr txBox="1"/>
          <p:nvPr/>
        </p:nvSpPr>
        <p:spPr>
          <a:xfrm>
            <a:off x="9227725" y="4656269"/>
            <a:ext cx="652743" cy="369332"/>
          </a:xfrm>
          <a:prstGeom prst="rect">
            <a:avLst/>
          </a:prstGeom>
          <a:noFill/>
        </p:spPr>
        <p:txBody>
          <a:bodyPr wrap="none" rtlCol="0">
            <a:spAutoFit/>
          </a:bodyPr>
          <a:lstStyle/>
          <a:p>
            <a:r>
              <a:rPr lang="en-IN" b="1" dirty="0">
                <a:solidFill>
                  <a:srgbClr val="C00000"/>
                </a:solidFill>
              </a:rPr>
              <a:t>3335</a:t>
            </a:r>
            <a:endParaRPr lang="en-US" b="1" dirty="0">
              <a:solidFill>
                <a:srgbClr val="C00000"/>
              </a:solidFill>
            </a:endParaRPr>
          </a:p>
        </p:txBody>
      </p:sp>
      <p:sp>
        <p:nvSpPr>
          <p:cNvPr id="45" name="TextBox 44"/>
          <p:cNvSpPr txBox="1"/>
          <p:nvPr/>
        </p:nvSpPr>
        <p:spPr>
          <a:xfrm>
            <a:off x="2407023" y="4654686"/>
            <a:ext cx="652743" cy="369332"/>
          </a:xfrm>
          <a:prstGeom prst="rect">
            <a:avLst/>
          </a:prstGeom>
          <a:noFill/>
        </p:spPr>
        <p:txBody>
          <a:bodyPr wrap="none" rtlCol="0">
            <a:spAutoFit/>
          </a:bodyPr>
          <a:lstStyle/>
          <a:p>
            <a:r>
              <a:rPr lang="en-IN" b="1" dirty="0">
                <a:solidFill>
                  <a:srgbClr val="C00000"/>
                </a:solidFill>
              </a:rPr>
              <a:t>5000</a:t>
            </a:r>
            <a:endParaRPr lang="en-US" b="1" dirty="0">
              <a:solidFill>
                <a:srgbClr val="C00000"/>
              </a:solidFill>
            </a:endParaRPr>
          </a:p>
        </p:txBody>
      </p:sp>
      <p:sp>
        <p:nvSpPr>
          <p:cNvPr id="46" name="TextBox 45"/>
          <p:cNvSpPr txBox="1"/>
          <p:nvPr/>
        </p:nvSpPr>
        <p:spPr>
          <a:xfrm>
            <a:off x="2965102" y="4257120"/>
            <a:ext cx="652743" cy="369332"/>
          </a:xfrm>
          <a:prstGeom prst="rect">
            <a:avLst/>
          </a:prstGeom>
          <a:noFill/>
        </p:spPr>
        <p:txBody>
          <a:bodyPr wrap="none" rtlCol="0">
            <a:spAutoFit/>
          </a:bodyPr>
          <a:lstStyle/>
          <a:p>
            <a:r>
              <a:rPr lang="en-IN" b="1" dirty="0">
                <a:solidFill>
                  <a:srgbClr val="FFFF00"/>
                </a:solidFill>
              </a:rPr>
              <a:t>2100</a:t>
            </a:r>
            <a:endParaRPr lang="en-US" b="1" dirty="0">
              <a:solidFill>
                <a:srgbClr val="FFFF00"/>
              </a:solidFill>
            </a:endParaRPr>
          </a:p>
        </p:txBody>
      </p:sp>
      <p:sp>
        <p:nvSpPr>
          <p:cNvPr id="47" name="TextBox 46"/>
          <p:cNvSpPr txBox="1"/>
          <p:nvPr/>
        </p:nvSpPr>
        <p:spPr>
          <a:xfrm>
            <a:off x="5771248" y="4245452"/>
            <a:ext cx="652743" cy="369332"/>
          </a:xfrm>
          <a:prstGeom prst="rect">
            <a:avLst/>
          </a:prstGeom>
          <a:noFill/>
        </p:spPr>
        <p:txBody>
          <a:bodyPr wrap="none" rtlCol="0">
            <a:spAutoFit/>
          </a:bodyPr>
          <a:lstStyle/>
          <a:p>
            <a:r>
              <a:rPr lang="en-IN" b="1" dirty="0">
                <a:solidFill>
                  <a:srgbClr val="FFFF00"/>
                </a:solidFill>
              </a:rPr>
              <a:t>2050</a:t>
            </a:r>
            <a:endParaRPr lang="en-US" b="1" dirty="0">
              <a:solidFill>
                <a:srgbClr val="FFFF00"/>
              </a:solidFill>
            </a:endParaRPr>
          </a:p>
        </p:txBody>
      </p:sp>
      <p:sp>
        <p:nvSpPr>
          <p:cNvPr id="48" name="TextBox 47"/>
          <p:cNvSpPr txBox="1"/>
          <p:nvPr/>
        </p:nvSpPr>
        <p:spPr>
          <a:xfrm>
            <a:off x="7682875" y="4245452"/>
            <a:ext cx="652743" cy="369332"/>
          </a:xfrm>
          <a:prstGeom prst="rect">
            <a:avLst/>
          </a:prstGeom>
          <a:noFill/>
        </p:spPr>
        <p:txBody>
          <a:bodyPr wrap="none" rtlCol="0">
            <a:spAutoFit/>
          </a:bodyPr>
          <a:lstStyle/>
          <a:p>
            <a:r>
              <a:rPr lang="en-IN" b="1" dirty="0">
                <a:solidFill>
                  <a:srgbClr val="FFFF00"/>
                </a:solidFill>
              </a:rPr>
              <a:t>3335</a:t>
            </a:r>
            <a:endParaRPr lang="en-US" b="1" dirty="0">
              <a:solidFill>
                <a:srgbClr val="FFFF00"/>
              </a:solidFill>
            </a:endParaRPr>
          </a:p>
        </p:txBody>
      </p:sp>
      <p:grpSp>
        <p:nvGrpSpPr>
          <p:cNvPr id="49" name="Group 48"/>
          <p:cNvGrpSpPr/>
          <p:nvPr/>
        </p:nvGrpSpPr>
        <p:grpSpPr>
          <a:xfrm>
            <a:off x="3451197" y="5325503"/>
            <a:ext cx="1532242" cy="533400"/>
            <a:chOff x="951919" y="5486400"/>
            <a:chExt cx="1532242" cy="533400"/>
          </a:xfrm>
        </p:grpSpPr>
        <p:sp>
          <p:nvSpPr>
            <p:cNvPr id="50" name="Rectangle 49"/>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X</a:t>
              </a:r>
              <a:endParaRPr lang="en-US" sz="2400" b="1" dirty="0"/>
            </a:p>
          </p:txBody>
        </p:sp>
        <p:sp>
          <p:nvSpPr>
            <p:cNvPr id="51" name="Rectangle 50"/>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52" name="Straight Arrow Connector 51"/>
          <p:cNvCxnSpPr>
            <a:endCxn id="50" idx="1"/>
          </p:cNvCxnSpPr>
          <p:nvPr/>
        </p:nvCxnSpPr>
        <p:spPr>
          <a:xfrm>
            <a:off x="3024207" y="5592203"/>
            <a:ext cx="426991"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53" name="TextBox 52"/>
          <p:cNvSpPr txBox="1"/>
          <p:nvPr/>
        </p:nvSpPr>
        <p:spPr>
          <a:xfrm>
            <a:off x="3896119" y="5799269"/>
            <a:ext cx="652743" cy="369332"/>
          </a:xfrm>
          <a:prstGeom prst="rect">
            <a:avLst/>
          </a:prstGeom>
          <a:noFill/>
        </p:spPr>
        <p:txBody>
          <a:bodyPr wrap="none" rtlCol="0">
            <a:spAutoFit/>
          </a:bodyPr>
          <a:lstStyle/>
          <a:p>
            <a:r>
              <a:rPr lang="en-IN" b="1" dirty="0">
                <a:solidFill>
                  <a:srgbClr val="C00000"/>
                </a:solidFill>
              </a:rPr>
              <a:t>2100</a:t>
            </a:r>
            <a:endParaRPr lang="en-US" b="1" dirty="0">
              <a:solidFill>
                <a:srgbClr val="C00000"/>
              </a:solidFill>
            </a:endParaRPr>
          </a:p>
        </p:txBody>
      </p:sp>
      <p:sp>
        <p:nvSpPr>
          <p:cNvPr id="54" name="TextBox 53"/>
          <p:cNvSpPr txBox="1"/>
          <p:nvPr/>
        </p:nvSpPr>
        <p:spPr>
          <a:xfrm>
            <a:off x="4274375" y="5401703"/>
            <a:ext cx="652743" cy="369332"/>
          </a:xfrm>
          <a:prstGeom prst="rect">
            <a:avLst/>
          </a:prstGeom>
          <a:noFill/>
        </p:spPr>
        <p:txBody>
          <a:bodyPr wrap="none" rtlCol="0">
            <a:spAutoFit/>
          </a:bodyPr>
          <a:lstStyle/>
          <a:p>
            <a:r>
              <a:rPr lang="en-IN" b="1" dirty="0">
                <a:solidFill>
                  <a:srgbClr val="FFFF00"/>
                </a:solidFill>
              </a:rPr>
              <a:t>1000</a:t>
            </a:r>
            <a:endParaRPr lang="en-US" b="1" dirty="0">
              <a:solidFill>
                <a:srgbClr val="FFFF00"/>
              </a:solidFill>
            </a:endParaRPr>
          </a:p>
        </p:txBody>
      </p:sp>
      <p:cxnSp>
        <p:nvCxnSpPr>
          <p:cNvPr id="55" name="Straight Connector 54"/>
          <p:cNvCxnSpPr/>
          <p:nvPr/>
        </p:nvCxnSpPr>
        <p:spPr>
          <a:xfrm>
            <a:off x="3674847" y="4430118"/>
            <a:ext cx="306464"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6" name="Straight Connector 55"/>
          <p:cNvCxnSpPr/>
          <p:nvPr/>
        </p:nvCxnSpPr>
        <p:spPr>
          <a:xfrm>
            <a:off x="3981311" y="4430119"/>
            <a:ext cx="0" cy="410817"/>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7" name="Straight Connector 56"/>
          <p:cNvCxnSpPr/>
          <p:nvPr/>
        </p:nvCxnSpPr>
        <p:spPr>
          <a:xfrm flipH="1">
            <a:off x="3024207" y="4827684"/>
            <a:ext cx="957105"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8" name="Straight Connector 57"/>
          <p:cNvCxnSpPr/>
          <p:nvPr/>
        </p:nvCxnSpPr>
        <p:spPr>
          <a:xfrm>
            <a:off x="3024206" y="4827685"/>
            <a:ext cx="0" cy="764519"/>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9" name="Straight Connector 58"/>
          <p:cNvCxnSpPr>
            <a:stCxn id="51" idx="3"/>
          </p:cNvCxnSpPr>
          <p:nvPr/>
        </p:nvCxnSpPr>
        <p:spPr>
          <a:xfrm flipV="1">
            <a:off x="4983439" y="5586369"/>
            <a:ext cx="211490" cy="5834"/>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60" name="Straight Connector 59"/>
          <p:cNvCxnSpPr/>
          <p:nvPr/>
        </p:nvCxnSpPr>
        <p:spPr>
          <a:xfrm flipV="1">
            <a:off x="5194929" y="5178001"/>
            <a:ext cx="0" cy="408368"/>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61" name="Straight Connector 60"/>
          <p:cNvCxnSpPr/>
          <p:nvPr/>
        </p:nvCxnSpPr>
        <p:spPr>
          <a:xfrm flipH="1">
            <a:off x="4600745" y="5178001"/>
            <a:ext cx="594184"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62" name="Straight Connector 61"/>
          <p:cNvCxnSpPr/>
          <p:nvPr/>
        </p:nvCxnSpPr>
        <p:spPr>
          <a:xfrm flipV="1">
            <a:off x="4600745" y="4441787"/>
            <a:ext cx="0" cy="736215"/>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63" name="Straight Arrow Connector 62"/>
          <p:cNvCxnSpPr/>
          <p:nvPr/>
        </p:nvCxnSpPr>
        <p:spPr>
          <a:xfrm>
            <a:off x="4602440" y="4441961"/>
            <a:ext cx="331431"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4077065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6"/>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0"/>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3"/>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46"/>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58"/>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52"/>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57"/>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56"/>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55"/>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54"/>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59"/>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60"/>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61"/>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62"/>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0" grpId="0"/>
      <p:bldP spid="21" grpId="0"/>
      <p:bldP spid="22" grpId="0"/>
      <p:bldP spid="23" grpId="0"/>
      <p:bldP spid="24" grpId="0"/>
      <p:bldP spid="25" grpId="0"/>
      <p:bldP spid="26" grpId="0"/>
      <p:bldP spid="42" grpId="0"/>
      <p:bldP spid="43" grpId="0"/>
      <p:bldP spid="44" grpId="0"/>
      <p:bldP spid="45" grpId="0"/>
      <p:bldP spid="46" grpId="0"/>
      <p:bldP spid="47" grpId="0"/>
      <p:bldP spid="48" grpId="0"/>
      <p:bldP spid="53" grpId="0"/>
      <p:bldP spid="5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Pros &amp; Cons of Linked Allocation Cont.</a:t>
            </a:r>
            <a:endParaRPr lang="en-US" dirty="0"/>
          </a:p>
        </p:txBody>
      </p:sp>
      <p:sp>
        <p:nvSpPr>
          <p:cNvPr id="3" name="Content Placeholder 2"/>
          <p:cNvSpPr>
            <a:spLocks noGrp="1"/>
          </p:cNvSpPr>
          <p:nvPr>
            <p:ph idx="1"/>
          </p:nvPr>
        </p:nvSpPr>
        <p:spPr>
          <a:xfrm>
            <a:off x="131180" y="876144"/>
            <a:ext cx="11929641" cy="1032555"/>
          </a:xfrm>
        </p:spPr>
        <p:txBody>
          <a:bodyPr/>
          <a:lstStyle/>
          <a:p>
            <a:r>
              <a:rPr lang="en-US" dirty="0">
                <a:solidFill>
                  <a:srgbClr val="C00000"/>
                </a:solidFill>
              </a:rPr>
              <a:t>Deletion Operation</a:t>
            </a:r>
          </a:p>
          <a:p>
            <a:pPr lvl="1"/>
            <a:r>
              <a:rPr lang="en-IN" dirty="0"/>
              <a:t>Deletion operation is more efficient in Linked Allocation</a:t>
            </a:r>
            <a:endParaRPr lang="en-US" dirty="0"/>
          </a:p>
          <a:p>
            <a:endParaRPr lang="en-US" dirty="0"/>
          </a:p>
        </p:txBody>
      </p:sp>
      <p:grpSp>
        <p:nvGrpSpPr>
          <p:cNvPr id="4" name="Group 3"/>
          <p:cNvGrpSpPr/>
          <p:nvPr/>
        </p:nvGrpSpPr>
        <p:grpSpPr>
          <a:xfrm>
            <a:off x="2190468" y="2209800"/>
            <a:ext cx="1532242" cy="533400"/>
            <a:chOff x="951919" y="5486400"/>
            <a:chExt cx="1532242" cy="533400"/>
          </a:xfrm>
        </p:grpSpPr>
        <p:sp>
          <p:nvSpPr>
            <p:cNvPr id="5" name="Rectangle 4"/>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A</a:t>
              </a:r>
              <a:endParaRPr lang="en-US" sz="2400" b="1" dirty="0"/>
            </a:p>
          </p:txBody>
        </p:sp>
        <p:sp>
          <p:nvSpPr>
            <p:cNvPr id="6" name="Rectangle 5"/>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7" name="Group 6"/>
          <p:cNvGrpSpPr/>
          <p:nvPr/>
        </p:nvGrpSpPr>
        <p:grpSpPr>
          <a:xfrm>
            <a:off x="4125907" y="2209800"/>
            <a:ext cx="1532242" cy="533400"/>
            <a:chOff x="951919" y="5486400"/>
            <a:chExt cx="1532242" cy="533400"/>
          </a:xfrm>
        </p:grpSpPr>
        <p:sp>
          <p:nvSpPr>
            <p:cNvPr id="8" name="Rectangle 7"/>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B</a:t>
              </a:r>
              <a:endParaRPr lang="en-US" sz="2400" b="1" dirty="0"/>
            </a:p>
          </p:txBody>
        </p:sp>
        <p:sp>
          <p:nvSpPr>
            <p:cNvPr id="9" name="Rectangle 8"/>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0" name="Group 9"/>
          <p:cNvGrpSpPr/>
          <p:nvPr/>
        </p:nvGrpSpPr>
        <p:grpSpPr>
          <a:xfrm>
            <a:off x="6030907" y="2209800"/>
            <a:ext cx="1532242" cy="533400"/>
            <a:chOff x="951919" y="5486400"/>
            <a:chExt cx="1532242" cy="533400"/>
          </a:xfrm>
        </p:grpSpPr>
        <p:sp>
          <p:nvSpPr>
            <p:cNvPr id="11" name="Rectangle 10"/>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12" name="Rectangle 11"/>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3" name="Group 12"/>
          <p:cNvGrpSpPr/>
          <p:nvPr/>
        </p:nvGrpSpPr>
        <p:grpSpPr>
          <a:xfrm>
            <a:off x="7935907" y="2209800"/>
            <a:ext cx="1532242" cy="533400"/>
            <a:chOff x="951919" y="5486400"/>
            <a:chExt cx="1532242" cy="533400"/>
          </a:xfrm>
        </p:grpSpPr>
        <p:sp>
          <p:nvSpPr>
            <p:cNvPr id="14" name="Rectangle 13"/>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D</a:t>
              </a:r>
              <a:endParaRPr lang="en-US" sz="2400" b="1" dirty="0"/>
            </a:p>
          </p:txBody>
        </p:sp>
        <p:sp>
          <p:nvSpPr>
            <p:cNvPr id="15" name="Rectangle 14"/>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16" name="Straight Arrow Connector 15"/>
          <p:cNvCxnSpPr>
            <a:stCxn id="6" idx="3"/>
            <a:endCxn id="8" idx="1"/>
          </p:cNvCxnSpPr>
          <p:nvPr/>
        </p:nvCxnSpPr>
        <p:spPr>
          <a:xfrm>
            <a:off x="3722711" y="2476500"/>
            <a:ext cx="403197"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7" name="Straight Arrow Connector 16"/>
          <p:cNvCxnSpPr>
            <a:stCxn id="9" idx="3"/>
            <a:endCxn id="11" idx="1"/>
          </p:cNvCxnSpPr>
          <p:nvPr/>
        </p:nvCxnSpPr>
        <p:spPr>
          <a:xfrm>
            <a:off x="5658149" y="2476500"/>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8" name="Straight Arrow Connector 17"/>
          <p:cNvCxnSpPr>
            <a:stCxn id="12" idx="3"/>
            <a:endCxn id="14" idx="1"/>
          </p:cNvCxnSpPr>
          <p:nvPr/>
        </p:nvCxnSpPr>
        <p:spPr>
          <a:xfrm>
            <a:off x="7563149" y="2476500"/>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9" name="Straight Connector 18"/>
          <p:cNvCxnSpPr/>
          <p:nvPr/>
        </p:nvCxnSpPr>
        <p:spPr>
          <a:xfrm flipH="1">
            <a:off x="8697907" y="2209800"/>
            <a:ext cx="770242" cy="5334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sp>
        <p:nvSpPr>
          <p:cNvPr id="20" name="TextBox 19"/>
          <p:cNvSpPr txBox="1"/>
          <p:nvPr/>
        </p:nvSpPr>
        <p:spPr>
          <a:xfrm>
            <a:off x="6477444" y="2696817"/>
            <a:ext cx="652743" cy="369332"/>
          </a:xfrm>
          <a:prstGeom prst="rect">
            <a:avLst/>
          </a:prstGeom>
          <a:noFill/>
        </p:spPr>
        <p:txBody>
          <a:bodyPr wrap="none" rtlCol="0">
            <a:spAutoFit/>
          </a:bodyPr>
          <a:lstStyle/>
          <a:p>
            <a:r>
              <a:rPr lang="en-IN" b="1" dirty="0">
                <a:solidFill>
                  <a:srgbClr val="C00000"/>
                </a:solidFill>
              </a:rPr>
              <a:t>2050</a:t>
            </a:r>
            <a:endParaRPr lang="en-US" b="1" dirty="0">
              <a:solidFill>
                <a:srgbClr val="C00000"/>
              </a:solidFill>
            </a:endParaRPr>
          </a:p>
        </p:txBody>
      </p:sp>
      <p:sp>
        <p:nvSpPr>
          <p:cNvPr id="21" name="TextBox 20"/>
          <p:cNvSpPr txBox="1"/>
          <p:nvPr/>
        </p:nvSpPr>
        <p:spPr>
          <a:xfrm>
            <a:off x="8405562" y="2696817"/>
            <a:ext cx="652743" cy="369332"/>
          </a:xfrm>
          <a:prstGeom prst="rect">
            <a:avLst/>
          </a:prstGeom>
          <a:noFill/>
        </p:spPr>
        <p:txBody>
          <a:bodyPr wrap="none" rtlCol="0">
            <a:spAutoFit/>
          </a:bodyPr>
          <a:lstStyle/>
          <a:p>
            <a:r>
              <a:rPr lang="en-IN" b="1" dirty="0">
                <a:solidFill>
                  <a:srgbClr val="C00000"/>
                </a:solidFill>
              </a:rPr>
              <a:t>3335</a:t>
            </a:r>
            <a:endParaRPr lang="en-US" b="1" dirty="0">
              <a:solidFill>
                <a:srgbClr val="C00000"/>
              </a:solidFill>
            </a:endParaRPr>
          </a:p>
        </p:txBody>
      </p:sp>
      <p:sp>
        <p:nvSpPr>
          <p:cNvPr id="22" name="TextBox 21"/>
          <p:cNvSpPr txBox="1"/>
          <p:nvPr/>
        </p:nvSpPr>
        <p:spPr>
          <a:xfrm>
            <a:off x="2640939" y="2695234"/>
            <a:ext cx="652743" cy="369332"/>
          </a:xfrm>
          <a:prstGeom prst="rect">
            <a:avLst/>
          </a:prstGeom>
          <a:noFill/>
        </p:spPr>
        <p:txBody>
          <a:bodyPr wrap="none" rtlCol="0">
            <a:spAutoFit/>
          </a:bodyPr>
          <a:lstStyle/>
          <a:p>
            <a:r>
              <a:rPr lang="en-IN" b="1" dirty="0">
                <a:solidFill>
                  <a:srgbClr val="C00000"/>
                </a:solidFill>
              </a:rPr>
              <a:t>5000</a:t>
            </a:r>
            <a:endParaRPr lang="en-US" b="1" dirty="0">
              <a:solidFill>
                <a:srgbClr val="C00000"/>
              </a:solidFill>
            </a:endParaRPr>
          </a:p>
        </p:txBody>
      </p:sp>
      <p:sp>
        <p:nvSpPr>
          <p:cNvPr id="23" name="TextBox 22"/>
          <p:cNvSpPr txBox="1"/>
          <p:nvPr/>
        </p:nvSpPr>
        <p:spPr>
          <a:xfrm>
            <a:off x="3024207" y="2297668"/>
            <a:ext cx="652743" cy="369332"/>
          </a:xfrm>
          <a:prstGeom prst="rect">
            <a:avLst/>
          </a:prstGeom>
          <a:noFill/>
        </p:spPr>
        <p:txBody>
          <a:bodyPr wrap="none" rtlCol="0">
            <a:spAutoFit/>
          </a:bodyPr>
          <a:lstStyle/>
          <a:p>
            <a:r>
              <a:rPr lang="en-IN" b="1" dirty="0">
                <a:solidFill>
                  <a:srgbClr val="FFFF00"/>
                </a:solidFill>
              </a:rPr>
              <a:t>1000</a:t>
            </a:r>
            <a:endParaRPr lang="en-US" b="1" dirty="0">
              <a:solidFill>
                <a:srgbClr val="FFFF00"/>
              </a:solidFill>
            </a:endParaRPr>
          </a:p>
        </p:txBody>
      </p:sp>
      <p:sp>
        <p:nvSpPr>
          <p:cNvPr id="24" name="TextBox 23"/>
          <p:cNvSpPr txBox="1"/>
          <p:nvPr/>
        </p:nvSpPr>
        <p:spPr>
          <a:xfrm>
            <a:off x="4949085" y="2286000"/>
            <a:ext cx="652743" cy="369332"/>
          </a:xfrm>
          <a:prstGeom prst="rect">
            <a:avLst/>
          </a:prstGeom>
          <a:noFill/>
        </p:spPr>
        <p:txBody>
          <a:bodyPr wrap="none" rtlCol="0">
            <a:spAutoFit/>
          </a:bodyPr>
          <a:lstStyle/>
          <a:p>
            <a:r>
              <a:rPr lang="en-IN" b="1" dirty="0">
                <a:solidFill>
                  <a:srgbClr val="FFFF00"/>
                </a:solidFill>
              </a:rPr>
              <a:t>2050</a:t>
            </a:r>
            <a:endParaRPr lang="en-US" b="1" dirty="0">
              <a:solidFill>
                <a:srgbClr val="FFFF00"/>
              </a:solidFill>
            </a:endParaRPr>
          </a:p>
        </p:txBody>
      </p:sp>
      <p:sp>
        <p:nvSpPr>
          <p:cNvPr id="25" name="TextBox 24"/>
          <p:cNvSpPr txBox="1"/>
          <p:nvPr/>
        </p:nvSpPr>
        <p:spPr>
          <a:xfrm>
            <a:off x="6860712" y="2286000"/>
            <a:ext cx="652743" cy="369332"/>
          </a:xfrm>
          <a:prstGeom prst="rect">
            <a:avLst/>
          </a:prstGeom>
          <a:noFill/>
        </p:spPr>
        <p:txBody>
          <a:bodyPr wrap="none" rtlCol="0">
            <a:spAutoFit/>
          </a:bodyPr>
          <a:lstStyle/>
          <a:p>
            <a:r>
              <a:rPr lang="en-IN" b="1" dirty="0">
                <a:solidFill>
                  <a:srgbClr val="FFFF00"/>
                </a:solidFill>
              </a:rPr>
              <a:t>3335</a:t>
            </a:r>
            <a:endParaRPr lang="en-US" b="1" dirty="0">
              <a:solidFill>
                <a:srgbClr val="FFFF00"/>
              </a:solidFill>
            </a:endParaRPr>
          </a:p>
        </p:txBody>
      </p:sp>
      <p:sp>
        <p:nvSpPr>
          <p:cNvPr id="26" name="Multiply 25"/>
          <p:cNvSpPr/>
          <p:nvPr/>
        </p:nvSpPr>
        <p:spPr>
          <a:xfrm>
            <a:off x="4253458" y="2209800"/>
            <a:ext cx="1285383" cy="1524000"/>
          </a:xfrm>
          <a:prstGeom prst="mathMultiply">
            <a:avLst/>
          </a:prstGeom>
          <a:solidFill>
            <a:srgbClr val="B84742"/>
          </a:solidFill>
          <a:ln>
            <a:solidFill>
              <a:srgbClr val="B84742"/>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grpSp>
        <p:nvGrpSpPr>
          <p:cNvPr id="27" name="Group 26"/>
          <p:cNvGrpSpPr/>
          <p:nvPr/>
        </p:nvGrpSpPr>
        <p:grpSpPr>
          <a:xfrm>
            <a:off x="2131363" y="4477651"/>
            <a:ext cx="1532242" cy="533400"/>
            <a:chOff x="951919" y="5486400"/>
            <a:chExt cx="1532242" cy="533400"/>
          </a:xfrm>
        </p:grpSpPr>
        <p:sp>
          <p:nvSpPr>
            <p:cNvPr id="28" name="Rectangle 27"/>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A</a:t>
              </a:r>
              <a:endParaRPr lang="en-US" sz="2400" b="1" dirty="0"/>
            </a:p>
          </p:txBody>
        </p:sp>
        <p:sp>
          <p:nvSpPr>
            <p:cNvPr id="29" name="Rectangle 28"/>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30" name="Group 29"/>
          <p:cNvGrpSpPr/>
          <p:nvPr/>
        </p:nvGrpSpPr>
        <p:grpSpPr>
          <a:xfrm>
            <a:off x="4066802" y="4477651"/>
            <a:ext cx="1532242" cy="533400"/>
            <a:chOff x="951919" y="5486400"/>
            <a:chExt cx="1532242" cy="533400"/>
          </a:xfrm>
        </p:grpSpPr>
        <p:sp>
          <p:nvSpPr>
            <p:cNvPr id="31" name="Rectangle 30"/>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B</a:t>
              </a:r>
              <a:endParaRPr lang="en-US" sz="2400" b="1" dirty="0"/>
            </a:p>
          </p:txBody>
        </p:sp>
        <p:sp>
          <p:nvSpPr>
            <p:cNvPr id="32" name="Rectangle 31"/>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33" name="Group 32"/>
          <p:cNvGrpSpPr/>
          <p:nvPr/>
        </p:nvGrpSpPr>
        <p:grpSpPr>
          <a:xfrm>
            <a:off x="5971802" y="4477651"/>
            <a:ext cx="1532242" cy="533400"/>
            <a:chOff x="951919" y="5486400"/>
            <a:chExt cx="1532242" cy="533400"/>
          </a:xfrm>
        </p:grpSpPr>
        <p:sp>
          <p:nvSpPr>
            <p:cNvPr id="34" name="Rectangle 33"/>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35" name="Rectangle 34"/>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36" name="Group 35"/>
          <p:cNvGrpSpPr/>
          <p:nvPr/>
        </p:nvGrpSpPr>
        <p:grpSpPr>
          <a:xfrm>
            <a:off x="7876802" y="4477651"/>
            <a:ext cx="1532242" cy="533400"/>
            <a:chOff x="951919" y="5486400"/>
            <a:chExt cx="1532242" cy="533400"/>
          </a:xfrm>
        </p:grpSpPr>
        <p:sp>
          <p:nvSpPr>
            <p:cNvPr id="37" name="Rectangle 36"/>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D</a:t>
              </a:r>
              <a:endParaRPr lang="en-US" sz="2400" b="1" dirty="0"/>
            </a:p>
          </p:txBody>
        </p:sp>
        <p:sp>
          <p:nvSpPr>
            <p:cNvPr id="38" name="Rectangle 37"/>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39" name="Straight Arrow Connector 38"/>
          <p:cNvCxnSpPr>
            <a:endCxn id="34" idx="1"/>
          </p:cNvCxnSpPr>
          <p:nvPr/>
        </p:nvCxnSpPr>
        <p:spPr>
          <a:xfrm>
            <a:off x="5715000" y="4744351"/>
            <a:ext cx="256802"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0" name="Straight Arrow Connector 39"/>
          <p:cNvCxnSpPr>
            <a:stCxn id="35" idx="3"/>
            <a:endCxn id="37" idx="1"/>
          </p:cNvCxnSpPr>
          <p:nvPr/>
        </p:nvCxnSpPr>
        <p:spPr>
          <a:xfrm>
            <a:off x="7504044" y="4744351"/>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1" name="Straight Connector 40"/>
          <p:cNvCxnSpPr/>
          <p:nvPr/>
        </p:nvCxnSpPr>
        <p:spPr>
          <a:xfrm flipH="1">
            <a:off x="8638802" y="4477651"/>
            <a:ext cx="770242" cy="5334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sp>
        <p:nvSpPr>
          <p:cNvPr id="42" name="TextBox 41"/>
          <p:cNvSpPr txBox="1"/>
          <p:nvPr/>
        </p:nvSpPr>
        <p:spPr>
          <a:xfrm>
            <a:off x="4511724" y="4951417"/>
            <a:ext cx="652743" cy="369332"/>
          </a:xfrm>
          <a:prstGeom prst="rect">
            <a:avLst/>
          </a:prstGeom>
          <a:noFill/>
        </p:spPr>
        <p:txBody>
          <a:bodyPr wrap="none" rtlCol="0">
            <a:spAutoFit/>
          </a:bodyPr>
          <a:lstStyle/>
          <a:p>
            <a:r>
              <a:rPr lang="en-IN" b="1" dirty="0">
                <a:solidFill>
                  <a:srgbClr val="C00000"/>
                </a:solidFill>
              </a:rPr>
              <a:t>1000</a:t>
            </a:r>
            <a:endParaRPr lang="en-US" b="1" dirty="0">
              <a:solidFill>
                <a:srgbClr val="C00000"/>
              </a:solidFill>
            </a:endParaRPr>
          </a:p>
        </p:txBody>
      </p:sp>
      <p:sp>
        <p:nvSpPr>
          <p:cNvPr id="43" name="TextBox 42"/>
          <p:cNvSpPr txBox="1"/>
          <p:nvPr/>
        </p:nvSpPr>
        <p:spPr>
          <a:xfrm>
            <a:off x="6418339" y="4964668"/>
            <a:ext cx="652743" cy="369332"/>
          </a:xfrm>
          <a:prstGeom prst="rect">
            <a:avLst/>
          </a:prstGeom>
          <a:noFill/>
        </p:spPr>
        <p:txBody>
          <a:bodyPr wrap="none" rtlCol="0">
            <a:spAutoFit/>
          </a:bodyPr>
          <a:lstStyle/>
          <a:p>
            <a:r>
              <a:rPr lang="en-IN" b="1" dirty="0">
                <a:solidFill>
                  <a:srgbClr val="C00000"/>
                </a:solidFill>
              </a:rPr>
              <a:t>2050</a:t>
            </a:r>
            <a:endParaRPr lang="en-US" b="1" dirty="0">
              <a:solidFill>
                <a:srgbClr val="C00000"/>
              </a:solidFill>
            </a:endParaRPr>
          </a:p>
        </p:txBody>
      </p:sp>
      <p:sp>
        <p:nvSpPr>
          <p:cNvPr id="44" name="TextBox 43"/>
          <p:cNvSpPr txBox="1"/>
          <p:nvPr/>
        </p:nvSpPr>
        <p:spPr>
          <a:xfrm>
            <a:off x="8346457" y="4964668"/>
            <a:ext cx="652743" cy="369332"/>
          </a:xfrm>
          <a:prstGeom prst="rect">
            <a:avLst/>
          </a:prstGeom>
          <a:noFill/>
        </p:spPr>
        <p:txBody>
          <a:bodyPr wrap="none" rtlCol="0">
            <a:spAutoFit/>
          </a:bodyPr>
          <a:lstStyle/>
          <a:p>
            <a:r>
              <a:rPr lang="en-IN" b="1" dirty="0">
                <a:solidFill>
                  <a:srgbClr val="C00000"/>
                </a:solidFill>
              </a:rPr>
              <a:t>3335</a:t>
            </a:r>
            <a:endParaRPr lang="en-US" b="1" dirty="0">
              <a:solidFill>
                <a:srgbClr val="C00000"/>
              </a:solidFill>
            </a:endParaRPr>
          </a:p>
        </p:txBody>
      </p:sp>
      <p:sp>
        <p:nvSpPr>
          <p:cNvPr id="45" name="TextBox 44"/>
          <p:cNvSpPr txBox="1"/>
          <p:nvPr/>
        </p:nvSpPr>
        <p:spPr>
          <a:xfrm>
            <a:off x="2581834" y="4963085"/>
            <a:ext cx="652743" cy="369332"/>
          </a:xfrm>
          <a:prstGeom prst="rect">
            <a:avLst/>
          </a:prstGeom>
          <a:noFill/>
        </p:spPr>
        <p:txBody>
          <a:bodyPr wrap="none" rtlCol="0">
            <a:spAutoFit/>
          </a:bodyPr>
          <a:lstStyle/>
          <a:p>
            <a:r>
              <a:rPr lang="en-IN" b="1" dirty="0">
                <a:solidFill>
                  <a:srgbClr val="C00000"/>
                </a:solidFill>
              </a:rPr>
              <a:t>5000</a:t>
            </a:r>
            <a:endParaRPr lang="en-US" b="1" dirty="0">
              <a:solidFill>
                <a:srgbClr val="C00000"/>
              </a:solidFill>
            </a:endParaRPr>
          </a:p>
        </p:txBody>
      </p:sp>
      <p:sp>
        <p:nvSpPr>
          <p:cNvPr id="46" name="TextBox 45"/>
          <p:cNvSpPr txBox="1"/>
          <p:nvPr/>
        </p:nvSpPr>
        <p:spPr>
          <a:xfrm>
            <a:off x="2965102" y="4565519"/>
            <a:ext cx="652743" cy="369332"/>
          </a:xfrm>
          <a:prstGeom prst="rect">
            <a:avLst/>
          </a:prstGeom>
          <a:noFill/>
        </p:spPr>
        <p:txBody>
          <a:bodyPr wrap="none" rtlCol="0">
            <a:spAutoFit/>
          </a:bodyPr>
          <a:lstStyle/>
          <a:p>
            <a:r>
              <a:rPr lang="en-IN" b="1" dirty="0">
                <a:solidFill>
                  <a:srgbClr val="FFFF00"/>
                </a:solidFill>
              </a:rPr>
              <a:t>2050</a:t>
            </a:r>
            <a:endParaRPr lang="en-US" b="1" dirty="0">
              <a:solidFill>
                <a:srgbClr val="FFFF00"/>
              </a:solidFill>
            </a:endParaRPr>
          </a:p>
        </p:txBody>
      </p:sp>
      <p:sp>
        <p:nvSpPr>
          <p:cNvPr id="47" name="TextBox 46"/>
          <p:cNvSpPr txBox="1"/>
          <p:nvPr/>
        </p:nvSpPr>
        <p:spPr>
          <a:xfrm>
            <a:off x="4889980" y="4553851"/>
            <a:ext cx="652743" cy="369332"/>
          </a:xfrm>
          <a:prstGeom prst="rect">
            <a:avLst/>
          </a:prstGeom>
          <a:noFill/>
        </p:spPr>
        <p:txBody>
          <a:bodyPr wrap="none" rtlCol="0">
            <a:spAutoFit/>
          </a:bodyPr>
          <a:lstStyle/>
          <a:p>
            <a:r>
              <a:rPr lang="en-IN" b="1" dirty="0">
                <a:solidFill>
                  <a:srgbClr val="FFFF00"/>
                </a:solidFill>
              </a:rPr>
              <a:t>2050</a:t>
            </a:r>
            <a:endParaRPr lang="en-US" b="1" dirty="0">
              <a:solidFill>
                <a:srgbClr val="FFFF00"/>
              </a:solidFill>
            </a:endParaRPr>
          </a:p>
        </p:txBody>
      </p:sp>
      <p:sp>
        <p:nvSpPr>
          <p:cNvPr id="48" name="TextBox 47"/>
          <p:cNvSpPr txBox="1"/>
          <p:nvPr/>
        </p:nvSpPr>
        <p:spPr>
          <a:xfrm>
            <a:off x="6801607" y="4553851"/>
            <a:ext cx="652743" cy="369332"/>
          </a:xfrm>
          <a:prstGeom prst="rect">
            <a:avLst/>
          </a:prstGeom>
          <a:noFill/>
        </p:spPr>
        <p:txBody>
          <a:bodyPr wrap="none" rtlCol="0">
            <a:spAutoFit/>
          </a:bodyPr>
          <a:lstStyle/>
          <a:p>
            <a:r>
              <a:rPr lang="en-IN" b="1" dirty="0">
                <a:solidFill>
                  <a:srgbClr val="FFFF00"/>
                </a:solidFill>
              </a:rPr>
              <a:t>3335</a:t>
            </a:r>
            <a:endParaRPr lang="en-US" b="1" dirty="0">
              <a:solidFill>
                <a:srgbClr val="FFFF00"/>
              </a:solidFill>
            </a:endParaRPr>
          </a:p>
        </p:txBody>
      </p:sp>
      <p:cxnSp>
        <p:nvCxnSpPr>
          <p:cNvPr id="49" name="Straight Connector 48"/>
          <p:cNvCxnSpPr>
            <a:stCxn id="29" idx="3"/>
          </p:cNvCxnSpPr>
          <p:nvPr/>
        </p:nvCxnSpPr>
        <p:spPr>
          <a:xfrm>
            <a:off x="3663606" y="4744351"/>
            <a:ext cx="146395" cy="5834"/>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0" name="Straight Connector 49"/>
          <p:cNvCxnSpPr/>
          <p:nvPr/>
        </p:nvCxnSpPr>
        <p:spPr>
          <a:xfrm flipV="1">
            <a:off x="3810000" y="4038601"/>
            <a:ext cx="0" cy="699917"/>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1" name="Straight Connector 50"/>
          <p:cNvCxnSpPr/>
          <p:nvPr/>
        </p:nvCxnSpPr>
        <p:spPr>
          <a:xfrm>
            <a:off x="3810000" y="4038600"/>
            <a:ext cx="1905000"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2" name="Straight Connector 51"/>
          <p:cNvCxnSpPr/>
          <p:nvPr/>
        </p:nvCxnSpPr>
        <p:spPr>
          <a:xfrm>
            <a:off x="5715000" y="4038601"/>
            <a:ext cx="0" cy="711585"/>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53" name="TextBox 52"/>
          <p:cNvSpPr txBox="1"/>
          <p:nvPr/>
        </p:nvSpPr>
        <p:spPr>
          <a:xfrm>
            <a:off x="4570829" y="2683566"/>
            <a:ext cx="652743" cy="369332"/>
          </a:xfrm>
          <a:prstGeom prst="rect">
            <a:avLst/>
          </a:prstGeom>
          <a:noFill/>
        </p:spPr>
        <p:txBody>
          <a:bodyPr wrap="none" rtlCol="0">
            <a:spAutoFit/>
          </a:bodyPr>
          <a:lstStyle/>
          <a:p>
            <a:r>
              <a:rPr lang="en-IN" b="1" dirty="0">
                <a:solidFill>
                  <a:srgbClr val="C00000"/>
                </a:solidFill>
              </a:rPr>
              <a:t>1000</a:t>
            </a:r>
            <a:endParaRPr lang="en-US" b="1" dirty="0">
              <a:solidFill>
                <a:srgbClr val="C00000"/>
              </a:solidFill>
            </a:endParaRPr>
          </a:p>
        </p:txBody>
      </p:sp>
    </p:spTree>
    <p:extLst>
      <p:ext uri="{BB962C8B-B14F-4D97-AF65-F5344CB8AC3E}">
        <p14:creationId xmlns:p14="http://schemas.microsoft.com/office/powerpoint/2010/main" val="524990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6"/>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0"/>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9"/>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50"/>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51"/>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52"/>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3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nodeType="clickEffect">
                                  <p:stCondLst>
                                    <p:cond delay="0"/>
                                  </p:stCondLst>
                                  <p:childTnLst>
                                    <p:set>
                                      <p:cBhvr>
                                        <p:cTn id="90" dur="1" fill="hold">
                                          <p:stCondLst>
                                            <p:cond delay="0"/>
                                          </p:stCondLst>
                                        </p:cTn>
                                        <p:tgtEl>
                                          <p:spTgt spid="30"/>
                                        </p:tgtEl>
                                        <p:attrNameLst>
                                          <p:attrName>style.visibility</p:attrName>
                                        </p:attrNameLst>
                                      </p:cBhvr>
                                      <p:to>
                                        <p:strVal val="hidden"/>
                                      </p:to>
                                    </p:set>
                                  </p:childTnLst>
                                </p:cTn>
                              </p:par>
                              <p:par>
                                <p:cTn id="91" presetID="1" presetClass="exit" presetSubtype="0" fill="hold" grpId="1" nodeType="withEffect">
                                  <p:stCondLst>
                                    <p:cond delay="0"/>
                                  </p:stCondLst>
                                  <p:childTnLst>
                                    <p:set>
                                      <p:cBhvr>
                                        <p:cTn id="92" dur="1" fill="hold">
                                          <p:stCondLst>
                                            <p:cond delay="0"/>
                                          </p:stCondLst>
                                        </p:cTn>
                                        <p:tgtEl>
                                          <p:spTgt spid="42"/>
                                        </p:tgtEl>
                                        <p:attrNameLst>
                                          <p:attrName>style.visibility</p:attrName>
                                        </p:attrNameLst>
                                      </p:cBhvr>
                                      <p:to>
                                        <p:strVal val="hidden"/>
                                      </p:to>
                                    </p:set>
                                  </p:childTnLst>
                                </p:cTn>
                              </p:par>
                              <p:par>
                                <p:cTn id="93" presetID="1" presetClass="exit" presetSubtype="0" fill="hold" grpId="1" nodeType="withEffect">
                                  <p:stCondLst>
                                    <p:cond delay="0"/>
                                  </p:stCondLst>
                                  <p:childTnLst>
                                    <p:set>
                                      <p:cBhvr>
                                        <p:cTn id="94" dur="1" fill="hold">
                                          <p:stCondLst>
                                            <p:cond delay="0"/>
                                          </p:stCondLst>
                                        </p:cTn>
                                        <p:tgtEl>
                                          <p:spTgt spid="4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0" grpId="0"/>
      <p:bldP spid="21" grpId="0"/>
      <p:bldP spid="22" grpId="0"/>
      <p:bldP spid="23" grpId="0"/>
      <p:bldP spid="24" grpId="0"/>
      <p:bldP spid="25" grpId="0"/>
      <p:bldP spid="26" grpId="0" animBg="1"/>
      <p:bldP spid="42" grpId="0"/>
      <p:bldP spid="42" grpId="1"/>
      <p:bldP spid="43" grpId="0"/>
      <p:bldP spid="44" grpId="0"/>
      <p:bldP spid="45" grpId="0"/>
      <p:bldP spid="46" grpId="0"/>
      <p:bldP spid="47" grpId="0"/>
      <p:bldP spid="47" grpId="1"/>
      <p:bldP spid="48" grpId="0"/>
      <p:bldP spid="5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Pros &amp; Cons of Linked Allocation Cont.</a:t>
            </a:r>
            <a:endParaRPr lang="en-US" dirty="0"/>
          </a:p>
        </p:txBody>
      </p:sp>
      <p:sp>
        <p:nvSpPr>
          <p:cNvPr id="3" name="Content Placeholder 2"/>
          <p:cNvSpPr>
            <a:spLocks noGrp="1"/>
          </p:cNvSpPr>
          <p:nvPr>
            <p:ph idx="1"/>
          </p:nvPr>
        </p:nvSpPr>
        <p:spPr>
          <a:xfrm>
            <a:off x="131180" y="876145"/>
            <a:ext cx="11929641" cy="2621658"/>
          </a:xfrm>
        </p:spPr>
        <p:txBody>
          <a:bodyPr/>
          <a:lstStyle/>
          <a:p>
            <a:r>
              <a:rPr lang="en-US" dirty="0">
                <a:solidFill>
                  <a:srgbClr val="C00000"/>
                </a:solidFill>
              </a:rPr>
              <a:t>Search Operation</a:t>
            </a:r>
          </a:p>
          <a:p>
            <a:pPr lvl="1"/>
            <a:r>
              <a:rPr lang="en-IN" b="1" dirty="0">
                <a:solidFill>
                  <a:srgbClr val="34495E"/>
                </a:solidFill>
              </a:rPr>
              <a:t>If particular node in the list is required</a:t>
            </a:r>
            <a:r>
              <a:rPr lang="en-IN" dirty="0"/>
              <a:t>, it is necessary to follow links from the first node onwards until the desired node is found, in this situation </a:t>
            </a:r>
            <a:r>
              <a:rPr lang="en-IN" b="1" dirty="0"/>
              <a:t>it is more time consuming </a:t>
            </a:r>
            <a:r>
              <a:rPr lang="en-IN" dirty="0"/>
              <a:t>to go through linked list than a sequential list.</a:t>
            </a:r>
          </a:p>
          <a:p>
            <a:pPr lvl="1"/>
            <a:r>
              <a:rPr lang="en-IN" dirty="0"/>
              <a:t>Search operation is more time consuming in Linked Allocation.</a:t>
            </a:r>
          </a:p>
          <a:p>
            <a:r>
              <a:rPr lang="en-US" dirty="0">
                <a:solidFill>
                  <a:srgbClr val="C00000"/>
                </a:solidFill>
              </a:rPr>
              <a:t>Join Operation</a:t>
            </a:r>
          </a:p>
          <a:p>
            <a:pPr marL="606425" lvl="2"/>
            <a:r>
              <a:rPr lang="en-IN" dirty="0"/>
              <a:t>Join operation is more efficient in Linked Allocation.</a:t>
            </a:r>
          </a:p>
          <a:p>
            <a:endParaRPr lang="en-US" dirty="0"/>
          </a:p>
        </p:txBody>
      </p:sp>
      <p:grpSp>
        <p:nvGrpSpPr>
          <p:cNvPr id="4" name="Group 3"/>
          <p:cNvGrpSpPr/>
          <p:nvPr/>
        </p:nvGrpSpPr>
        <p:grpSpPr>
          <a:xfrm>
            <a:off x="1007130" y="4020451"/>
            <a:ext cx="1532242" cy="533400"/>
            <a:chOff x="951919" y="5486400"/>
            <a:chExt cx="1532242" cy="533400"/>
          </a:xfrm>
        </p:grpSpPr>
        <p:sp>
          <p:nvSpPr>
            <p:cNvPr id="5" name="Rectangle 4"/>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A</a:t>
              </a:r>
              <a:endParaRPr lang="en-US" sz="2400" b="1" dirty="0"/>
            </a:p>
          </p:txBody>
        </p:sp>
        <p:sp>
          <p:nvSpPr>
            <p:cNvPr id="6" name="Rectangle 5"/>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7" name="Group 6"/>
          <p:cNvGrpSpPr/>
          <p:nvPr/>
        </p:nvGrpSpPr>
        <p:grpSpPr>
          <a:xfrm>
            <a:off x="2942569" y="4020451"/>
            <a:ext cx="1532242" cy="533400"/>
            <a:chOff x="951919" y="5486400"/>
            <a:chExt cx="1532242" cy="533400"/>
          </a:xfrm>
        </p:grpSpPr>
        <p:sp>
          <p:nvSpPr>
            <p:cNvPr id="8" name="Rectangle 7"/>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B</a:t>
              </a:r>
              <a:endParaRPr lang="en-US" sz="2400" b="1" dirty="0"/>
            </a:p>
          </p:txBody>
        </p:sp>
        <p:sp>
          <p:nvSpPr>
            <p:cNvPr id="9" name="Rectangle 8"/>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0" name="Group 9"/>
          <p:cNvGrpSpPr/>
          <p:nvPr/>
        </p:nvGrpSpPr>
        <p:grpSpPr>
          <a:xfrm>
            <a:off x="4847569" y="4020451"/>
            <a:ext cx="1532242" cy="533400"/>
            <a:chOff x="951919" y="5486400"/>
            <a:chExt cx="1532242" cy="533400"/>
          </a:xfrm>
        </p:grpSpPr>
        <p:sp>
          <p:nvSpPr>
            <p:cNvPr id="11" name="Rectangle 10"/>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12" name="Rectangle 11"/>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3" name="Group 12"/>
          <p:cNvGrpSpPr/>
          <p:nvPr/>
        </p:nvGrpSpPr>
        <p:grpSpPr>
          <a:xfrm>
            <a:off x="6752569" y="4020451"/>
            <a:ext cx="1532242" cy="533400"/>
            <a:chOff x="951919" y="5486400"/>
            <a:chExt cx="1532242" cy="533400"/>
          </a:xfrm>
        </p:grpSpPr>
        <p:sp>
          <p:nvSpPr>
            <p:cNvPr id="14" name="Rectangle 13"/>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D</a:t>
              </a:r>
              <a:endParaRPr lang="en-US" sz="2400" b="1" dirty="0"/>
            </a:p>
          </p:txBody>
        </p:sp>
        <p:sp>
          <p:nvSpPr>
            <p:cNvPr id="15" name="Rectangle 14"/>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16" name="Straight Arrow Connector 15"/>
          <p:cNvCxnSpPr>
            <a:stCxn id="6" idx="3"/>
            <a:endCxn id="8" idx="1"/>
          </p:cNvCxnSpPr>
          <p:nvPr/>
        </p:nvCxnSpPr>
        <p:spPr>
          <a:xfrm>
            <a:off x="2539373" y="4287151"/>
            <a:ext cx="403197"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7" name="Straight Arrow Connector 16"/>
          <p:cNvCxnSpPr>
            <a:stCxn id="9" idx="3"/>
            <a:endCxn id="11" idx="1"/>
          </p:cNvCxnSpPr>
          <p:nvPr/>
        </p:nvCxnSpPr>
        <p:spPr>
          <a:xfrm>
            <a:off x="4474811" y="4287151"/>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8" name="Straight Arrow Connector 17"/>
          <p:cNvCxnSpPr>
            <a:stCxn id="12" idx="3"/>
            <a:endCxn id="14" idx="1"/>
          </p:cNvCxnSpPr>
          <p:nvPr/>
        </p:nvCxnSpPr>
        <p:spPr>
          <a:xfrm>
            <a:off x="6379811" y="4287151"/>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9" name="Straight Connector 18"/>
          <p:cNvCxnSpPr/>
          <p:nvPr/>
        </p:nvCxnSpPr>
        <p:spPr>
          <a:xfrm flipH="1">
            <a:off x="7514569" y="4020451"/>
            <a:ext cx="770242" cy="5334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sp>
        <p:nvSpPr>
          <p:cNvPr id="20" name="TextBox 19"/>
          <p:cNvSpPr txBox="1"/>
          <p:nvPr/>
        </p:nvSpPr>
        <p:spPr>
          <a:xfrm>
            <a:off x="3387491" y="4548005"/>
            <a:ext cx="652743" cy="369332"/>
          </a:xfrm>
          <a:prstGeom prst="rect">
            <a:avLst/>
          </a:prstGeom>
          <a:noFill/>
        </p:spPr>
        <p:txBody>
          <a:bodyPr wrap="none" rtlCol="0">
            <a:spAutoFit/>
          </a:bodyPr>
          <a:lstStyle/>
          <a:p>
            <a:r>
              <a:rPr lang="en-IN" b="1" dirty="0">
                <a:solidFill>
                  <a:srgbClr val="C00000"/>
                </a:solidFill>
              </a:rPr>
              <a:t>1000</a:t>
            </a:r>
            <a:endParaRPr lang="en-US" b="1" dirty="0">
              <a:solidFill>
                <a:srgbClr val="C00000"/>
              </a:solidFill>
            </a:endParaRPr>
          </a:p>
        </p:txBody>
      </p:sp>
      <p:sp>
        <p:nvSpPr>
          <p:cNvPr id="21" name="TextBox 20"/>
          <p:cNvSpPr txBox="1"/>
          <p:nvPr/>
        </p:nvSpPr>
        <p:spPr>
          <a:xfrm>
            <a:off x="5294106" y="4561256"/>
            <a:ext cx="652743" cy="369332"/>
          </a:xfrm>
          <a:prstGeom prst="rect">
            <a:avLst/>
          </a:prstGeom>
          <a:noFill/>
        </p:spPr>
        <p:txBody>
          <a:bodyPr wrap="none" rtlCol="0">
            <a:spAutoFit/>
          </a:bodyPr>
          <a:lstStyle/>
          <a:p>
            <a:r>
              <a:rPr lang="en-IN" b="1" dirty="0">
                <a:solidFill>
                  <a:srgbClr val="C00000"/>
                </a:solidFill>
              </a:rPr>
              <a:t>2050</a:t>
            </a:r>
            <a:endParaRPr lang="en-US" b="1" dirty="0">
              <a:solidFill>
                <a:srgbClr val="C00000"/>
              </a:solidFill>
            </a:endParaRPr>
          </a:p>
        </p:txBody>
      </p:sp>
      <p:sp>
        <p:nvSpPr>
          <p:cNvPr id="22" name="TextBox 21"/>
          <p:cNvSpPr txBox="1"/>
          <p:nvPr/>
        </p:nvSpPr>
        <p:spPr>
          <a:xfrm>
            <a:off x="7222224" y="4561256"/>
            <a:ext cx="652743" cy="369332"/>
          </a:xfrm>
          <a:prstGeom prst="rect">
            <a:avLst/>
          </a:prstGeom>
          <a:noFill/>
        </p:spPr>
        <p:txBody>
          <a:bodyPr wrap="none" rtlCol="0">
            <a:spAutoFit/>
          </a:bodyPr>
          <a:lstStyle/>
          <a:p>
            <a:r>
              <a:rPr lang="en-IN" b="1" dirty="0">
                <a:solidFill>
                  <a:srgbClr val="C00000"/>
                </a:solidFill>
              </a:rPr>
              <a:t>3335</a:t>
            </a:r>
            <a:endParaRPr lang="en-US" b="1" dirty="0">
              <a:solidFill>
                <a:srgbClr val="C00000"/>
              </a:solidFill>
            </a:endParaRPr>
          </a:p>
        </p:txBody>
      </p:sp>
      <p:sp>
        <p:nvSpPr>
          <p:cNvPr id="23" name="TextBox 22"/>
          <p:cNvSpPr txBox="1"/>
          <p:nvPr/>
        </p:nvSpPr>
        <p:spPr>
          <a:xfrm>
            <a:off x="1457601" y="4559673"/>
            <a:ext cx="652743" cy="369332"/>
          </a:xfrm>
          <a:prstGeom prst="rect">
            <a:avLst/>
          </a:prstGeom>
          <a:noFill/>
        </p:spPr>
        <p:txBody>
          <a:bodyPr wrap="none" rtlCol="0">
            <a:spAutoFit/>
          </a:bodyPr>
          <a:lstStyle/>
          <a:p>
            <a:r>
              <a:rPr lang="en-IN" b="1" dirty="0">
                <a:solidFill>
                  <a:srgbClr val="C00000"/>
                </a:solidFill>
              </a:rPr>
              <a:t>5000</a:t>
            </a:r>
            <a:endParaRPr lang="en-US" b="1" dirty="0">
              <a:solidFill>
                <a:srgbClr val="C00000"/>
              </a:solidFill>
            </a:endParaRPr>
          </a:p>
        </p:txBody>
      </p:sp>
      <p:sp>
        <p:nvSpPr>
          <p:cNvPr id="24" name="TextBox 23"/>
          <p:cNvSpPr txBox="1"/>
          <p:nvPr/>
        </p:nvSpPr>
        <p:spPr>
          <a:xfrm>
            <a:off x="1840869" y="4108319"/>
            <a:ext cx="652743" cy="369332"/>
          </a:xfrm>
          <a:prstGeom prst="rect">
            <a:avLst/>
          </a:prstGeom>
          <a:noFill/>
        </p:spPr>
        <p:txBody>
          <a:bodyPr wrap="none" rtlCol="0">
            <a:spAutoFit/>
          </a:bodyPr>
          <a:lstStyle/>
          <a:p>
            <a:r>
              <a:rPr lang="en-IN" b="1" dirty="0">
                <a:solidFill>
                  <a:srgbClr val="FFFF00"/>
                </a:solidFill>
              </a:rPr>
              <a:t>1000</a:t>
            </a:r>
            <a:endParaRPr lang="en-US" b="1" dirty="0">
              <a:solidFill>
                <a:srgbClr val="FFFF00"/>
              </a:solidFill>
            </a:endParaRPr>
          </a:p>
        </p:txBody>
      </p:sp>
      <p:sp>
        <p:nvSpPr>
          <p:cNvPr id="25" name="TextBox 24"/>
          <p:cNvSpPr txBox="1"/>
          <p:nvPr/>
        </p:nvSpPr>
        <p:spPr>
          <a:xfrm>
            <a:off x="3765747" y="4096651"/>
            <a:ext cx="652743" cy="369332"/>
          </a:xfrm>
          <a:prstGeom prst="rect">
            <a:avLst/>
          </a:prstGeom>
          <a:noFill/>
        </p:spPr>
        <p:txBody>
          <a:bodyPr wrap="none" rtlCol="0">
            <a:spAutoFit/>
          </a:bodyPr>
          <a:lstStyle/>
          <a:p>
            <a:r>
              <a:rPr lang="en-IN" b="1" dirty="0">
                <a:solidFill>
                  <a:srgbClr val="FFFF00"/>
                </a:solidFill>
              </a:rPr>
              <a:t>2050</a:t>
            </a:r>
            <a:endParaRPr lang="en-US" b="1" dirty="0">
              <a:solidFill>
                <a:srgbClr val="FFFF00"/>
              </a:solidFill>
            </a:endParaRPr>
          </a:p>
        </p:txBody>
      </p:sp>
      <p:sp>
        <p:nvSpPr>
          <p:cNvPr id="26" name="TextBox 25"/>
          <p:cNvSpPr txBox="1"/>
          <p:nvPr/>
        </p:nvSpPr>
        <p:spPr>
          <a:xfrm>
            <a:off x="5677374" y="4096651"/>
            <a:ext cx="652743" cy="369332"/>
          </a:xfrm>
          <a:prstGeom prst="rect">
            <a:avLst/>
          </a:prstGeom>
          <a:noFill/>
        </p:spPr>
        <p:txBody>
          <a:bodyPr wrap="none" rtlCol="0">
            <a:spAutoFit/>
          </a:bodyPr>
          <a:lstStyle/>
          <a:p>
            <a:r>
              <a:rPr lang="en-IN" b="1" dirty="0">
                <a:solidFill>
                  <a:srgbClr val="FFFF00"/>
                </a:solidFill>
              </a:rPr>
              <a:t>3335</a:t>
            </a:r>
            <a:endParaRPr lang="en-US" b="1" dirty="0">
              <a:solidFill>
                <a:srgbClr val="FFFF00"/>
              </a:solidFill>
            </a:endParaRPr>
          </a:p>
        </p:txBody>
      </p:sp>
      <p:grpSp>
        <p:nvGrpSpPr>
          <p:cNvPr id="27" name="Group 26"/>
          <p:cNvGrpSpPr/>
          <p:nvPr/>
        </p:nvGrpSpPr>
        <p:grpSpPr>
          <a:xfrm>
            <a:off x="1902181" y="5544451"/>
            <a:ext cx="1532242" cy="533400"/>
            <a:chOff x="951919" y="5486400"/>
            <a:chExt cx="1532242" cy="533400"/>
          </a:xfrm>
        </p:grpSpPr>
        <p:sp>
          <p:nvSpPr>
            <p:cNvPr id="28" name="Rectangle 27"/>
            <p:cNvSpPr/>
            <p:nvPr/>
          </p:nvSpPr>
          <p:spPr>
            <a:xfrm>
              <a:off x="951919" y="5486400"/>
              <a:ext cx="762000" cy="5334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sz="2400" b="1" dirty="0"/>
                <a:t>12</a:t>
              </a:r>
              <a:endParaRPr lang="en-US" sz="2400" b="1" dirty="0"/>
            </a:p>
          </p:txBody>
        </p:sp>
        <p:sp>
          <p:nvSpPr>
            <p:cNvPr id="29" name="Rectangle 28"/>
            <p:cNvSpPr/>
            <p:nvPr/>
          </p:nvSpPr>
          <p:spPr>
            <a:xfrm>
              <a:off x="1722161" y="5486400"/>
              <a:ext cx="762000" cy="5334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400" b="1" dirty="0"/>
            </a:p>
          </p:txBody>
        </p:sp>
      </p:grpSp>
      <p:grpSp>
        <p:nvGrpSpPr>
          <p:cNvPr id="30" name="Group 29"/>
          <p:cNvGrpSpPr/>
          <p:nvPr/>
        </p:nvGrpSpPr>
        <p:grpSpPr>
          <a:xfrm>
            <a:off x="3837620" y="5544451"/>
            <a:ext cx="1532242" cy="533400"/>
            <a:chOff x="951919" y="5486400"/>
            <a:chExt cx="1532242" cy="533400"/>
          </a:xfrm>
        </p:grpSpPr>
        <p:sp>
          <p:nvSpPr>
            <p:cNvPr id="31" name="Rectangle 30"/>
            <p:cNvSpPr/>
            <p:nvPr/>
          </p:nvSpPr>
          <p:spPr>
            <a:xfrm>
              <a:off x="951919" y="5486400"/>
              <a:ext cx="762000" cy="5334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sz="2400" b="1" dirty="0"/>
                <a:t>52</a:t>
              </a:r>
              <a:endParaRPr lang="en-US" sz="2400" b="1" dirty="0"/>
            </a:p>
          </p:txBody>
        </p:sp>
        <p:sp>
          <p:nvSpPr>
            <p:cNvPr id="32" name="Rectangle 31"/>
            <p:cNvSpPr/>
            <p:nvPr/>
          </p:nvSpPr>
          <p:spPr>
            <a:xfrm>
              <a:off x="1722161" y="5486400"/>
              <a:ext cx="762000" cy="5334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400" b="1" dirty="0"/>
            </a:p>
          </p:txBody>
        </p:sp>
      </p:grpSp>
      <p:grpSp>
        <p:nvGrpSpPr>
          <p:cNvPr id="33" name="Group 32"/>
          <p:cNvGrpSpPr/>
          <p:nvPr/>
        </p:nvGrpSpPr>
        <p:grpSpPr>
          <a:xfrm>
            <a:off x="5742620" y="5544451"/>
            <a:ext cx="1532242" cy="533400"/>
            <a:chOff x="951919" y="5486400"/>
            <a:chExt cx="1532242" cy="533400"/>
          </a:xfrm>
        </p:grpSpPr>
        <p:sp>
          <p:nvSpPr>
            <p:cNvPr id="34" name="Rectangle 33"/>
            <p:cNvSpPr/>
            <p:nvPr/>
          </p:nvSpPr>
          <p:spPr>
            <a:xfrm>
              <a:off x="951919" y="5486400"/>
              <a:ext cx="762000" cy="5334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sz="2400" b="1" dirty="0"/>
                <a:t>15</a:t>
              </a:r>
              <a:endParaRPr lang="en-US" sz="2400" b="1" dirty="0"/>
            </a:p>
          </p:txBody>
        </p:sp>
        <p:sp>
          <p:nvSpPr>
            <p:cNvPr id="35" name="Rectangle 34"/>
            <p:cNvSpPr/>
            <p:nvPr/>
          </p:nvSpPr>
          <p:spPr>
            <a:xfrm>
              <a:off x="1722161" y="5486400"/>
              <a:ext cx="762000" cy="5334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400" b="1" dirty="0"/>
            </a:p>
          </p:txBody>
        </p:sp>
      </p:grpSp>
      <p:grpSp>
        <p:nvGrpSpPr>
          <p:cNvPr id="36" name="Group 35"/>
          <p:cNvGrpSpPr/>
          <p:nvPr/>
        </p:nvGrpSpPr>
        <p:grpSpPr>
          <a:xfrm>
            <a:off x="7647620" y="5544451"/>
            <a:ext cx="1532242" cy="533400"/>
            <a:chOff x="951919" y="5486400"/>
            <a:chExt cx="1532242" cy="533400"/>
          </a:xfrm>
        </p:grpSpPr>
        <p:sp>
          <p:nvSpPr>
            <p:cNvPr id="37" name="Rectangle 36"/>
            <p:cNvSpPr/>
            <p:nvPr/>
          </p:nvSpPr>
          <p:spPr>
            <a:xfrm>
              <a:off x="951919" y="5486400"/>
              <a:ext cx="762000" cy="5334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sz="2400" b="1" dirty="0"/>
                <a:t>100</a:t>
              </a:r>
              <a:endParaRPr lang="en-US" sz="2400" b="1" dirty="0"/>
            </a:p>
          </p:txBody>
        </p:sp>
        <p:sp>
          <p:nvSpPr>
            <p:cNvPr id="38" name="Rectangle 37"/>
            <p:cNvSpPr/>
            <p:nvPr/>
          </p:nvSpPr>
          <p:spPr>
            <a:xfrm>
              <a:off x="1722161" y="5486400"/>
              <a:ext cx="762000" cy="5334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400" b="1" dirty="0"/>
            </a:p>
          </p:txBody>
        </p:sp>
      </p:grpSp>
      <p:cxnSp>
        <p:nvCxnSpPr>
          <p:cNvPr id="39" name="Straight Arrow Connector 38"/>
          <p:cNvCxnSpPr>
            <a:stCxn id="29" idx="3"/>
            <a:endCxn id="31" idx="1"/>
          </p:cNvCxnSpPr>
          <p:nvPr/>
        </p:nvCxnSpPr>
        <p:spPr>
          <a:xfrm>
            <a:off x="3434424" y="5811151"/>
            <a:ext cx="403197"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0" name="Straight Arrow Connector 39"/>
          <p:cNvCxnSpPr>
            <a:stCxn id="32" idx="3"/>
            <a:endCxn id="34" idx="1"/>
          </p:cNvCxnSpPr>
          <p:nvPr/>
        </p:nvCxnSpPr>
        <p:spPr>
          <a:xfrm>
            <a:off x="5369862" y="5811151"/>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1" name="Straight Arrow Connector 40"/>
          <p:cNvCxnSpPr>
            <a:stCxn id="35" idx="3"/>
            <a:endCxn id="37" idx="1"/>
          </p:cNvCxnSpPr>
          <p:nvPr/>
        </p:nvCxnSpPr>
        <p:spPr>
          <a:xfrm>
            <a:off x="7274862" y="5811151"/>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2" name="Straight Connector 41"/>
          <p:cNvCxnSpPr/>
          <p:nvPr/>
        </p:nvCxnSpPr>
        <p:spPr>
          <a:xfrm flipH="1">
            <a:off x="8409620" y="5544451"/>
            <a:ext cx="770242" cy="5334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sp>
        <p:nvSpPr>
          <p:cNvPr id="43" name="TextBox 42"/>
          <p:cNvSpPr txBox="1"/>
          <p:nvPr/>
        </p:nvSpPr>
        <p:spPr>
          <a:xfrm>
            <a:off x="4282541" y="6072005"/>
            <a:ext cx="535724" cy="369332"/>
          </a:xfrm>
          <a:prstGeom prst="rect">
            <a:avLst/>
          </a:prstGeom>
          <a:noFill/>
        </p:spPr>
        <p:txBody>
          <a:bodyPr wrap="none" rtlCol="0">
            <a:spAutoFit/>
          </a:bodyPr>
          <a:lstStyle/>
          <a:p>
            <a:r>
              <a:rPr lang="en-IN" b="1" dirty="0">
                <a:solidFill>
                  <a:srgbClr val="C00000"/>
                </a:solidFill>
              </a:rPr>
              <a:t>580</a:t>
            </a:r>
            <a:endParaRPr lang="en-US" b="1" dirty="0">
              <a:solidFill>
                <a:srgbClr val="C00000"/>
              </a:solidFill>
            </a:endParaRPr>
          </a:p>
        </p:txBody>
      </p:sp>
      <p:sp>
        <p:nvSpPr>
          <p:cNvPr id="44" name="TextBox 43"/>
          <p:cNvSpPr txBox="1"/>
          <p:nvPr/>
        </p:nvSpPr>
        <p:spPr>
          <a:xfrm>
            <a:off x="6189157" y="6085256"/>
            <a:ext cx="652743" cy="369332"/>
          </a:xfrm>
          <a:prstGeom prst="rect">
            <a:avLst/>
          </a:prstGeom>
          <a:noFill/>
        </p:spPr>
        <p:txBody>
          <a:bodyPr wrap="none" rtlCol="0">
            <a:spAutoFit/>
          </a:bodyPr>
          <a:lstStyle/>
          <a:p>
            <a:r>
              <a:rPr lang="en-IN" b="1" dirty="0">
                <a:solidFill>
                  <a:srgbClr val="C00000"/>
                </a:solidFill>
              </a:rPr>
              <a:t>5096</a:t>
            </a:r>
            <a:endParaRPr lang="en-US" b="1" dirty="0">
              <a:solidFill>
                <a:srgbClr val="C00000"/>
              </a:solidFill>
            </a:endParaRPr>
          </a:p>
        </p:txBody>
      </p:sp>
      <p:sp>
        <p:nvSpPr>
          <p:cNvPr id="45" name="TextBox 44"/>
          <p:cNvSpPr txBox="1"/>
          <p:nvPr/>
        </p:nvSpPr>
        <p:spPr>
          <a:xfrm>
            <a:off x="8117275" y="6085256"/>
            <a:ext cx="652743" cy="369332"/>
          </a:xfrm>
          <a:prstGeom prst="rect">
            <a:avLst/>
          </a:prstGeom>
          <a:noFill/>
        </p:spPr>
        <p:txBody>
          <a:bodyPr wrap="none" rtlCol="0">
            <a:spAutoFit/>
          </a:bodyPr>
          <a:lstStyle/>
          <a:p>
            <a:r>
              <a:rPr lang="en-IN" b="1" dirty="0">
                <a:solidFill>
                  <a:srgbClr val="C00000"/>
                </a:solidFill>
              </a:rPr>
              <a:t>5145</a:t>
            </a:r>
            <a:endParaRPr lang="en-US" b="1" dirty="0">
              <a:solidFill>
                <a:srgbClr val="C00000"/>
              </a:solidFill>
            </a:endParaRPr>
          </a:p>
        </p:txBody>
      </p:sp>
      <p:sp>
        <p:nvSpPr>
          <p:cNvPr id="46" name="TextBox 45"/>
          <p:cNvSpPr txBox="1"/>
          <p:nvPr/>
        </p:nvSpPr>
        <p:spPr>
          <a:xfrm>
            <a:off x="2352652" y="6083673"/>
            <a:ext cx="652743" cy="369332"/>
          </a:xfrm>
          <a:prstGeom prst="rect">
            <a:avLst/>
          </a:prstGeom>
          <a:noFill/>
        </p:spPr>
        <p:txBody>
          <a:bodyPr wrap="none" rtlCol="0">
            <a:spAutoFit/>
          </a:bodyPr>
          <a:lstStyle/>
          <a:p>
            <a:r>
              <a:rPr lang="en-IN" b="1" dirty="0">
                <a:solidFill>
                  <a:srgbClr val="C00000"/>
                </a:solidFill>
              </a:rPr>
              <a:t>5050</a:t>
            </a:r>
            <a:endParaRPr lang="en-US" b="1" dirty="0">
              <a:solidFill>
                <a:srgbClr val="C00000"/>
              </a:solidFill>
            </a:endParaRPr>
          </a:p>
        </p:txBody>
      </p:sp>
      <p:sp>
        <p:nvSpPr>
          <p:cNvPr id="47" name="TextBox 46"/>
          <p:cNvSpPr txBox="1"/>
          <p:nvPr/>
        </p:nvSpPr>
        <p:spPr>
          <a:xfrm>
            <a:off x="2735919" y="5632319"/>
            <a:ext cx="535724" cy="369332"/>
          </a:xfrm>
          <a:prstGeom prst="rect">
            <a:avLst/>
          </a:prstGeom>
          <a:noFill/>
        </p:spPr>
        <p:txBody>
          <a:bodyPr wrap="none" rtlCol="0">
            <a:spAutoFit/>
          </a:bodyPr>
          <a:lstStyle/>
          <a:p>
            <a:r>
              <a:rPr lang="en-IN" b="1" dirty="0">
                <a:solidFill>
                  <a:srgbClr val="FFFF00"/>
                </a:solidFill>
              </a:rPr>
              <a:t>580</a:t>
            </a:r>
            <a:endParaRPr lang="en-US" b="1" dirty="0">
              <a:solidFill>
                <a:srgbClr val="FFFF00"/>
              </a:solidFill>
            </a:endParaRPr>
          </a:p>
        </p:txBody>
      </p:sp>
      <p:sp>
        <p:nvSpPr>
          <p:cNvPr id="48" name="TextBox 47"/>
          <p:cNvSpPr txBox="1"/>
          <p:nvPr/>
        </p:nvSpPr>
        <p:spPr>
          <a:xfrm>
            <a:off x="4660798" y="5620651"/>
            <a:ext cx="652743" cy="369332"/>
          </a:xfrm>
          <a:prstGeom prst="rect">
            <a:avLst/>
          </a:prstGeom>
          <a:noFill/>
        </p:spPr>
        <p:txBody>
          <a:bodyPr wrap="none" rtlCol="0">
            <a:spAutoFit/>
          </a:bodyPr>
          <a:lstStyle/>
          <a:p>
            <a:r>
              <a:rPr lang="en-IN" b="1" dirty="0">
                <a:solidFill>
                  <a:srgbClr val="FFFF00"/>
                </a:solidFill>
              </a:rPr>
              <a:t>5096</a:t>
            </a:r>
            <a:endParaRPr lang="en-US" b="1" dirty="0">
              <a:solidFill>
                <a:srgbClr val="FFFF00"/>
              </a:solidFill>
            </a:endParaRPr>
          </a:p>
        </p:txBody>
      </p:sp>
      <p:sp>
        <p:nvSpPr>
          <p:cNvPr id="49" name="TextBox 48"/>
          <p:cNvSpPr txBox="1"/>
          <p:nvPr/>
        </p:nvSpPr>
        <p:spPr>
          <a:xfrm>
            <a:off x="6572425" y="5620651"/>
            <a:ext cx="652743" cy="369332"/>
          </a:xfrm>
          <a:prstGeom prst="rect">
            <a:avLst/>
          </a:prstGeom>
          <a:noFill/>
        </p:spPr>
        <p:txBody>
          <a:bodyPr wrap="none" rtlCol="0">
            <a:spAutoFit/>
          </a:bodyPr>
          <a:lstStyle/>
          <a:p>
            <a:r>
              <a:rPr lang="en-IN" b="1" dirty="0">
                <a:solidFill>
                  <a:srgbClr val="FFFF00"/>
                </a:solidFill>
              </a:rPr>
              <a:t>5145</a:t>
            </a:r>
            <a:endParaRPr lang="en-US" b="1" dirty="0">
              <a:solidFill>
                <a:srgbClr val="FFFF00"/>
              </a:solidFill>
            </a:endParaRPr>
          </a:p>
        </p:txBody>
      </p:sp>
      <p:grpSp>
        <p:nvGrpSpPr>
          <p:cNvPr id="50" name="Group 49"/>
          <p:cNvGrpSpPr/>
          <p:nvPr/>
        </p:nvGrpSpPr>
        <p:grpSpPr>
          <a:xfrm>
            <a:off x="1388130" y="4281318"/>
            <a:ext cx="7410732" cy="1529833"/>
            <a:chOff x="1388130" y="4281318"/>
            <a:chExt cx="7410732" cy="1529833"/>
          </a:xfrm>
        </p:grpSpPr>
        <p:cxnSp>
          <p:nvCxnSpPr>
            <p:cNvPr id="51" name="Straight Connector 50"/>
            <p:cNvCxnSpPr>
              <a:stCxn id="15" idx="3"/>
            </p:cNvCxnSpPr>
            <p:nvPr/>
          </p:nvCxnSpPr>
          <p:spPr>
            <a:xfrm>
              <a:off x="8284811" y="4287151"/>
              <a:ext cx="509930" cy="5834"/>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2" name="Straight Connector 51"/>
            <p:cNvCxnSpPr/>
            <p:nvPr/>
          </p:nvCxnSpPr>
          <p:spPr>
            <a:xfrm>
              <a:off x="8794741" y="4281318"/>
              <a:ext cx="0" cy="824083"/>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3" name="Straight Connector 52"/>
            <p:cNvCxnSpPr/>
            <p:nvPr/>
          </p:nvCxnSpPr>
          <p:spPr>
            <a:xfrm flipH="1">
              <a:off x="1388130" y="5105400"/>
              <a:ext cx="7410732"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4" name="Straight Connector 53"/>
            <p:cNvCxnSpPr/>
            <p:nvPr/>
          </p:nvCxnSpPr>
          <p:spPr>
            <a:xfrm>
              <a:off x="1388130" y="5105401"/>
              <a:ext cx="0" cy="699917"/>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5" name="Straight Arrow Connector 54"/>
            <p:cNvCxnSpPr>
              <a:endCxn id="28" idx="1"/>
            </p:cNvCxnSpPr>
            <p:nvPr/>
          </p:nvCxnSpPr>
          <p:spPr>
            <a:xfrm>
              <a:off x="1388131" y="5805317"/>
              <a:ext cx="514051" cy="583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56" name="TextBox 55"/>
          <p:cNvSpPr txBox="1"/>
          <p:nvPr/>
        </p:nvSpPr>
        <p:spPr>
          <a:xfrm>
            <a:off x="7612720" y="4114800"/>
            <a:ext cx="652743" cy="369332"/>
          </a:xfrm>
          <a:prstGeom prst="rect">
            <a:avLst/>
          </a:prstGeom>
          <a:noFill/>
        </p:spPr>
        <p:txBody>
          <a:bodyPr wrap="none" rtlCol="0">
            <a:spAutoFit/>
          </a:bodyPr>
          <a:lstStyle/>
          <a:p>
            <a:r>
              <a:rPr lang="en-IN" b="1" dirty="0">
                <a:solidFill>
                  <a:srgbClr val="FFFF00"/>
                </a:solidFill>
              </a:rPr>
              <a:t>5050</a:t>
            </a:r>
            <a:endParaRPr lang="en-US" b="1" dirty="0">
              <a:solidFill>
                <a:srgbClr val="FFFF00"/>
              </a:solidFill>
            </a:endParaRPr>
          </a:p>
        </p:txBody>
      </p:sp>
    </p:spTree>
    <p:extLst>
      <p:ext uri="{BB962C8B-B14F-4D97-AF65-F5344CB8AC3E}">
        <p14:creationId xmlns:p14="http://schemas.microsoft.com/office/powerpoint/2010/main" val="3591089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0"/>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3"/>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0"/>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6"/>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7"/>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nodeType="clickEffect">
                                  <p:stCondLst>
                                    <p:cond delay="0"/>
                                  </p:stCondLst>
                                  <p:childTnLst>
                                    <p:set>
                                      <p:cBhvr>
                                        <p:cTn id="90" dur="1" fill="hold">
                                          <p:stCondLst>
                                            <p:cond delay="0"/>
                                          </p:stCondLst>
                                        </p:cTn>
                                        <p:tgtEl>
                                          <p:spTgt spid="19"/>
                                        </p:tgtEl>
                                        <p:attrNameLst>
                                          <p:attrName>style.visibility</p:attrName>
                                        </p:attrNameLst>
                                      </p:cBhvr>
                                      <p:to>
                                        <p:strVal val="hidden"/>
                                      </p:to>
                                    </p:set>
                                  </p:childTnLst>
                                </p:cTn>
                              </p:par>
                              <p:par>
                                <p:cTn id="91" presetID="1" presetClass="entr" presetSubtype="0" fill="hold" grpId="0" nodeType="withEffect">
                                  <p:stCondLst>
                                    <p:cond delay="0"/>
                                  </p:stCondLst>
                                  <p:childTnLst>
                                    <p:set>
                                      <p:cBhvr>
                                        <p:cTn id="92" dur="1" fill="hold">
                                          <p:stCondLst>
                                            <p:cond delay="0"/>
                                          </p:stCondLst>
                                        </p:cTn>
                                        <p:tgtEl>
                                          <p:spTgt spid="56"/>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22" presetClass="entr" presetSubtype="1" fill="hold" nodeType="clickEffect">
                                  <p:stCondLst>
                                    <p:cond delay="0"/>
                                  </p:stCondLst>
                                  <p:childTnLst>
                                    <p:set>
                                      <p:cBhvr>
                                        <p:cTn id="96" dur="1" fill="hold">
                                          <p:stCondLst>
                                            <p:cond delay="0"/>
                                          </p:stCondLst>
                                        </p:cTn>
                                        <p:tgtEl>
                                          <p:spTgt spid="50"/>
                                        </p:tgtEl>
                                        <p:attrNameLst>
                                          <p:attrName>style.visibility</p:attrName>
                                        </p:attrNameLst>
                                      </p:cBhvr>
                                      <p:to>
                                        <p:strVal val="visible"/>
                                      </p:to>
                                    </p:set>
                                    <p:animEffect transition="in" filter="wipe(up)">
                                      <p:cBhvr>
                                        <p:cTn id="9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0" grpId="0"/>
      <p:bldP spid="21" grpId="0"/>
      <p:bldP spid="22" grpId="0"/>
      <p:bldP spid="23" grpId="0"/>
      <p:bldP spid="24" grpId="0"/>
      <p:bldP spid="25" grpId="0"/>
      <p:bldP spid="26" grpId="0"/>
      <p:bldP spid="43" grpId="0"/>
      <p:bldP spid="44" grpId="0"/>
      <p:bldP spid="45" grpId="0"/>
      <p:bldP spid="46" grpId="0"/>
      <p:bldP spid="47" grpId="0"/>
      <p:bldP spid="48" grpId="0"/>
      <p:bldP spid="49" grpId="0"/>
      <p:bldP spid="5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Pros &amp; Cons of Linked Allocation</a:t>
            </a:r>
            <a:endParaRPr lang="en-US" dirty="0"/>
          </a:p>
        </p:txBody>
      </p:sp>
      <p:sp>
        <p:nvSpPr>
          <p:cNvPr id="3" name="Content Placeholder 2"/>
          <p:cNvSpPr>
            <a:spLocks noGrp="1"/>
          </p:cNvSpPr>
          <p:nvPr>
            <p:ph idx="1"/>
          </p:nvPr>
        </p:nvSpPr>
        <p:spPr>
          <a:xfrm>
            <a:off x="156580" y="901545"/>
            <a:ext cx="11929641" cy="936134"/>
          </a:xfrm>
        </p:spPr>
        <p:txBody>
          <a:bodyPr/>
          <a:lstStyle/>
          <a:p>
            <a:r>
              <a:rPr lang="en-IN" dirty="0">
                <a:solidFill>
                  <a:srgbClr val="C00000"/>
                </a:solidFill>
              </a:rPr>
              <a:t>Split Operation</a:t>
            </a:r>
          </a:p>
          <a:p>
            <a:pPr lvl="1"/>
            <a:r>
              <a:rPr lang="en-IN" dirty="0"/>
              <a:t>Split operation is more efficient in Linked Allocation</a:t>
            </a:r>
          </a:p>
          <a:p>
            <a:endParaRPr lang="en-US" dirty="0"/>
          </a:p>
        </p:txBody>
      </p:sp>
      <p:sp>
        <p:nvSpPr>
          <p:cNvPr id="4" name="Rectangle 3"/>
          <p:cNvSpPr/>
          <p:nvPr/>
        </p:nvSpPr>
        <p:spPr>
          <a:xfrm>
            <a:off x="2190468" y="21849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A</a:t>
            </a:r>
            <a:endParaRPr lang="en-US" sz="2400" b="1" dirty="0"/>
          </a:p>
        </p:txBody>
      </p:sp>
      <p:sp>
        <p:nvSpPr>
          <p:cNvPr id="5" name="Rectangle 4"/>
          <p:cNvSpPr/>
          <p:nvPr/>
        </p:nvSpPr>
        <p:spPr>
          <a:xfrm>
            <a:off x="2960710" y="21849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6" name="Rectangle 5"/>
          <p:cNvSpPr/>
          <p:nvPr/>
        </p:nvSpPr>
        <p:spPr>
          <a:xfrm>
            <a:off x="4125907" y="21849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B</a:t>
            </a:r>
            <a:endParaRPr lang="en-US" sz="2400" b="1" dirty="0"/>
          </a:p>
        </p:txBody>
      </p:sp>
      <p:sp>
        <p:nvSpPr>
          <p:cNvPr id="7" name="Rectangle 6"/>
          <p:cNvSpPr/>
          <p:nvPr/>
        </p:nvSpPr>
        <p:spPr>
          <a:xfrm>
            <a:off x="4896149" y="21849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8" name="Rectangle 7"/>
          <p:cNvSpPr/>
          <p:nvPr/>
        </p:nvSpPr>
        <p:spPr>
          <a:xfrm>
            <a:off x="6030907" y="21849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9" name="Rectangle 8"/>
          <p:cNvSpPr/>
          <p:nvPr/>
        </p:nvSpPr>
        <p:spPr>
          <a:xfrm>
            <a:off x="6801149" y="21849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10" name="Rectangle 9"/>
          <p:cNvSpPr/>
          <p:nvPr/>
        </p:nvSpPr>
        <p:spPr>
          <a:xfrm>
            <a:off x="7935907" y="21849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D</a:t>
            </a:r>
            <a:endParaRPr lang="en-US" sz="2400" b="1" dirty="0"/>
          </a:p>
        </p:txBody>
      </p:sp>
      <p:sp>
        <p:nvSpPr>
          <p:cNvPr id="11" name="Rectangle 10"/>
          <p:cNvSpPr/>
          <p:nvPr/>
        </p:nvSpPr>
        <p:spPr>
          <a:xfrm>
            <a:off x="8706149" y="21849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cxnSp>
        <p:nvCxnSpPr>
          <p:cNvPr id="12" name="Straight Arrow Connector 11"/>
          <p:cNvCxnSpPr>
            <a:stCxn id="5" idx="3"/>
            <a:endCxn id="6" idx="1"/>
          </p:cNvCxnSpPr>
          <p:nvPr/>
        </p:nvCxnSpPr>
        <p:spPr>
          <a:xfrm>
            <a:off x="3722711" y="2451629"/>
            <a:ext cx="403197"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3" name="Straight Arrow Connector 12"/>
          <p:cNvCxnSpPr>
            <a:stCxn id="7" idx="3"/>
            <a:endCxn id="8" idx="1"/>
          </p:cNvCxnSpPr>
          <p:nvPr/>
        </p:nvCxnSpPr>
        <p:spPr>
          <a:xfrm>
            <a:off x="5658149" y="2451629"/>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4" name="Straight Arrow Connector 13"/>
          <p:cNvCxnSpPr>
            <a:stCxn id="9" idx="3"/>
            <a:endCxn id="10" idx="1"/>
          </p:cNvCxnSpPr>
          <p:nvPr/>
        </p:nvCxnSpPr>
        <p:spPr>
          <a:xfrm>
            <a:off x="7563149" y="2451629"/>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5" name="Straight Connector 14"/>
          <p:cNvCxnSpPr/>
          <p:nvPr/>
        </p:nvCxnSpPr>
        <p:spPr>
          <a:xfrm flipH="1">
            <a:off x="8697907" y="2184929"/>
            <a:ext cx="770242" cy="5334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sp>
        <p:nvSpPr>
          <p:cNvPr id="16" name="TextBox 15"/>
          <p:cNvSpPr txBox="1"/>
          <p:nvPr/>
        </p:nvSpPr>
        <p:spPr>
          <a:xfrm>
            <a:off x="3024207" y="2272797"/>
            <a:ext cx="652743" cy="369332"/>
          </a:xfrm>
          <a:prstGeom prst="rect">
            <a:avLst/>
          </a:prstGeom>
          <a:noFill/>
        </p:spPr>
        <p:txBody>
          <a:bodyPr wrap="none" rtlCol="0">
            <a:spAutoFit/>
          </a:bodyPr>
          <a:lstStyle/>
          <a:p>
            <a:r>
              <a:rPr lang="en-IN" b="1" dirty="0">
                <a:solidFill>
                  <a:srgbClr val="FFFF00"/>
                </a:solidFill>
              </a:rPr>
              <a:t>1000</a:t>
            </a:r>
            <a:endParaRPr lang="en-US" b="1" dirty="0">
              <a:solidFill>
                <a:srgbClr val="FFFF00"/>
              </a:solidFill>
            </a:endParaRPr>
          </a:p>
        </p:txBody>
      </p:sp>
      <p:sp>
        <p:nvSpPr>
          <p:cNvPr id="17" name="TextBox 16"/>
          <p:cNvSpPr txBox="1"/>
          <p:nvPr/>
        </p:nvSpPr>
        <p:spPr>
          <a:xfrm>
            <a:off x="4949085" y="2261129"/>
            <a:ext cx="652743" cy="369332"/>
          </a:xfrm>
          <a:prstGeom prst="rect">
            <a:avLst/>
          </a:prstGeom>
          <a:noFill/>
        </p:spPr>
        <p:txBody>
          <a:bodyPr wrap="none" rtlCol="0">
            <a:spAutoFit/>
          </a:bodyPr>
          <a:lstStyle/>
          <a:p>
            <a:r>
              <a:rPr lang="en-IN" b="1" dirty="0">
                <a:solidFill>
                  <a:srgbClr val="FFFF00"/>
                </a:solidFill>
              </a:rPr>
              <a:t>2050</a:t>
            </a:r>
            <a:endParaRPr lang="en-US" b="1" dirty="0">
              <a:solidFill>
                <a:srgbClr val="FFFF00"/>
              </a:solidFill>
            </a:endParaRPr>
          </a:p>
        </p:txBody>
      </p:sp>
      <p:sp>
        <p:nvSpPr>
          <p:cNvPr id="18" name="TextBox 17"/>
          <p:cNvSpPr txBox="1"/>
          <p:nvPr/>
        </p:nvSpPr>
        <p:spPr>
          <a:xfrm>
            <a:off x="6860712" y="2261129"/>
            <a:ext cx="652743" cy="369332"/>
          </a:xfrm>
          <a:prstGeom prst="rect">
            <a:avLst/>
          </a:prstGeom>
          <a:noFill/>
        </p:spPr>
        <p:txBody>
          <a:bodyPr wrap="none" rtlCol="0">
            <a:spAutoFit/>
          </a:bodyPr>
          <a:lstStyle/>
          <a:p>
            <a:r>
              <a:rPr lang="en-IN" b="1" dirty="0">
                <a:solidFill>
                  <a:srgbClr val="FFFF00"/>
                </a:solidFill>
              </a:rPr>
              <a:t>3335</a:t>
            </a:r>
            <a:endParaRPr lang="en-US" b="1" dirty="0">
              <a:solidFill>
                <a:srgbClr val="FFFF00"/>
              </a:solidFill>
            </a:endParaRPr>
          </a:p>
        </p:txBody>
      </p:sp>
      <p:sp>
        <p:nvSpPr>
          <p:cNvPr id="19" name="Rectangle 18"/>
          <p:cNvSpPr/>
          <p:nvPr/>
        </p:nvSpPr>
        <p:spPr>
          <a:xfrm>
            <a:off x="2209800" y="34803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A</a:t>
            </a:r>
            <a:endParaRPr lang="en-US" sz="2400" b="1" dirty="0"/>
          </a:p>
        </p:txBody>
      </p:sp>
      <p:sp>
        <p:nvSpPr>
          <p:cNvPr id="20" name="Rectangle 19"/>
          <p:cNvSpPr/>
          <p:nvPr/>
        </p:nvSpPr>
        <p:spPr>
          <a:xfrm>
            <a:off x="2980042" y="34803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21" name="Rectangle 20"/>
          <p:cNvSpPr/>
          <p:nvPr/>
        </p:nvSpPr>
        <p:spPr>
          <a:xfrm>
            <a:off x="4145239" y="34803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B</a:t>
            </a:r>
            <a:endParaRPr lang="en-US" sz="2400" b="1" dirty="0"/>
          </a:p>
        </p:txBody>
      </p:sp>
      <p:sp>
        <p:nvSpPr>
          <p:cNvPr id="22" name="Rectangle 21"/>
          <p:cNvSpPr/>
          <p:nvPr/>
        </p:nvSpPr>
        <p:spPr>
          <a:xfrm>
            <a:off x="4915481" y="34803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23" name="Rectangle 22"/>
          <p:cNvSpPr/>
          <p:nvPr/>
        </p:nvSpPr>
        <p:spPr>
          <a:xfrm>
            <a:off x="6050239" y="34803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24" name="Rectangle 23"/>
          <p:cNvSpPr/>
          <p:nvPr/>
        </p:nvSpPr>
        <p:spPr>
          <a:xfrm>
            <a:off x="6820481" y="34803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25" name="Rectangle 24"/>
          <p:cNvSpPr/>
          <p:nvPr/>
        </p:nvSpPr>
        <p:spPr>
          <a:xfrm>
            <a:off x="7955239" y="34803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D</a:t>
            </a:r>
            <a:endParaRPr lang="en-US" sz="2400" b="1" dirty="0"/>
          </a:p>
        </p:txBody>
      </p:sp>
      <p:sp>
        <p:nvSpPr>
          <p:cNvPr id="26" name="Rectangle 25"/>
          <p:cNvSpPr/>
          <p:nvPr/>
        </p:nvSpPr>
        <p:spPr>
          <a:xfrm>
            <a:off x="8725481" y="34803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cxnSp>
        <p:nvCxnSpPr>
          <p:cNvPr id="27" name="Straight Arrow Connector 26"/>
          <p:cNvCxnSpPr/>
          <p:nvPr/>
        </p:nvCxnSpPr>
        <p:spPr>
          <a:xfrm>
            <a:off x="3742043" y="3708929"/>
            <a:ext cx="403197"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8" name="Straight Arrow Connector 27"/>
          <p:cNvCxnSpPr/>
          <p:nvPr/>
        </p:nvCxnSpPr>
        <p:spPr>
          <a:xfrm>
            <a:off x="7582481" y="3785129"/>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9" name="Straight Connector 28"/>
          <p:cNvCxnSpPr/>
          <p:nvPr/>
        </p:nvCxnSpPr>
        <p:spPr>
          <a:xfrm flipH="1">
            <a:off x="8717239" y="3480329"/>
            <a:ext cx="770242" cy="5334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sp>
        <p:nvSpPr>
          <p:cNvPr id="30" name="TextBox 29"/>
          <p:cNvSpPr txBox="1"/>
          <p:nvPr/>
        </p:nvSpPr>
        <p:spPr>
          <a:xfrm>
            <a:off x="3043539" y="3568197"/>
            <a:ext cx="652743" cy="369332"/>
          </a:xfrm>
          <a:prstGeom prst="rect">
            <a:avLst/>
          </a:prstGeom>
          <a:noFill/>
        </p:spPr>
        <p:txBody>
          <a:bodyPr wrap="none" rtlCol="0">
            <a:spAutoFit/>
          </a:bodyPr>
          <a:lstStyle/>
          <a:p>
            <a:r>
              <a:rPr lang="en-IN" b="1" dirty="0">
                <a:solidFill>
                  <a:srgbClr val="FFFF00"/>
                </a:solidFill>
              </a:rPr>
              <a:t>1000</a:t>
            </a:r>
            <a:endParaRPr lang="en-US" b="1" dirty="0">
              <a:solidFill>
                <a:srgbClr val="FFFF00"/>
              </a:solidFill>
            </a:endParaRPr>
          </a:p>
        </p:txBody>
      </p:sp>
      <p:sp>
        <p:nvSpPr>
          <p:cNvPr id="31" name="TextBox 30"/>
          <p:cNvSpPr txBox="1"/>
          <p:nvPr/>
        </p:nvSpPr>
        <p:spPr>
          <a:xfrm>
            <a:off x="6880044" y="3556529"/>
            <a:ext cx="652743" cy="369332"/>
          </a:xfrm>
          <a:prstGeom prst="rect">
            <a:avLst/>
          </a:prstGeom>
          <a:noFill/>
        </p:spPr>
        <p:txBody>
          <a:bodyPr wrap="none" rtlCol="0">
            <a:spAutoFit/>
          </a:bodyPr>
          <a:lstStyle/>
          <a:p>
            <a:r>
              <a:rPr lang="en-IN" b="1" dirty="0">
                <a:solidFill>
                  <a:srgbClr val="FFFF00"/>
                </a:solidFill>
              </a:rPr>
              <a:t>3335</a:t>
            </a:r>
            <a:endParaRPr lang="en-US" b="1" dirty="0">
              <a:solidFill>
                <a:srgbClr val="FFFF00"/>
              </a:solidFill>
            </a:endParaRPr>
          </a:p>
        </p:txBody>
      </p:sp>
      <p:sp>
        <p:nvSpPr>
          <p:cNvPr id="32" name="TextBox 31"/>
          <p:cNvSpPr txBox="1"/>
          <p:nvPr/>
        </p:nvSpPr>
        <p:spPr>
          <a:xfrm>
            <a:off x="4968417" y="3578563"/>
            <a:ext cx="652743" cy="369332"/>
          </a:xfrm>
          <a:prstGeom prst="rect">
            <a:avLst/>
          </a:prstGeom>
          <a:noFill/>
        </p:spPr>
        <p:txBody>
          <a:bodyPr wrap="none" rtlCol="0">
            <a:spAutoFit/>
          </a:bodyPr>
          <a:lstStyle/>
          <a:p>
            <a:r>
              <a:rPr lang="en-IN" b="1" dirty="0">
                <a:solidFill>
                  <a:srgbClr val="FFFF00"/>
                </a:solidFill>
              </a:rPr>
              <a:t>2050</a:t>
            </a:r>
            <a:endParaRPr lang="en-US" b="1" dirty="0">
              <a:solidFill>
                <a:srgbClr val="FFFF00"/>
              </a:solidFill>
            </a:endParaRPr>
          </a:p>
        </p:txBody>
      </p:sp>
      <p:cxnSp>
        <p:nvCxnSpPr>
          <p:cNvPr id="33" name="Straight Connector 32"/>
          <p:cNvCxnSpPr/>
          <p:nvPr/>
        </p:nvCxnSpPr>
        <p:spPr>
          <a:xfrm flipH="1">
            <a:off x="4915502" y="3479870"/>
            <a:ext cx="770242" cy="5334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sp>
        <p:nvSpPr>
          <p:cNvPr id="34" name="TextBox 33"/>
          <p:cNvSpPr txBox="1"/>
          <p:nvPr/>
        </p:nvSpPr>
        <p:spPr>
          <a:xfrm>
            <a:off x="4597723" y="2696795"/>
            <a:ext cx="652743" cy="369332"/>
          </a:xfrm>
          <a:prstGeom prst="rect">
            <a:avLst/>
          </a:prstGeom>
          <a:noFill/>
        </p:spPr>
        <p:txBody>
          <a:bodyPr wrap="none" rtlCol="0">
            <a:spAutoFit/>
          </a:bodyPr>
          <a:lstStyle/>
          <a:p>
            <a:r>
              <a:rPr lang="en-IN" b="1" dirty="0">
                <a:solidFill>
                  <a:srgbClr val="C00000"/>
                </a:solidFill>
              </a:rPr>
              <a:t>1000</a:t>
            </a:r>
            <a:endParaRPr lang="en-US" b="1" dirty="0">
              <a:solidFill>
                <a:srgbClr val="C00000"/>
              </a:solidFill>
            </a:endParaRPr>
          </a:p>
        </p:txBody>
      </p:sp>
      <p:sp>
        <p:nvSpPr>
          <p:cNvPr id="35" name="TextBox 34"/>
          <p:cNvSpPr txBox="1"/>
          <p:nvPr/>
        </p:nvSpPr>
        <p:spPr>
          <a:xfrm>
            <a:off x="6504338" y="2710046"/>
            <a:ext cx="652743" cy="369332"/>
          </a:xfrm>
          <a:prstGeom prst="rect">
            <a:avLst/>
          </a:prstGeom>
          <a:noFill/>
        </p:spPr>
        <p:txBody>
          <a:bodyPr wrap="none" rtlCol="0">
            <a:spAutoFit/>
          </a:bodyPr>
          <a:lstStyle/>
          <a:p>
            <a:r>
              <a:rPr lang="en-IN" b="1" dirty="0">
                <a:solidFill>
                  <a:srgbClr val="C00000"/>
                </a:solidFill>
              </a:rPr>
              <a:t>2050</a:t>
            </a:r>
            <a:endParaRPr lang="en-US" b="1" dirty="0">
              <a:solidFill>
                <a:srgbClr val="C00000"/>
              </a:solidFill>
            </a:endParaRPr>
          </a:p>
        </p:txBody>
      </p:sp>
      <p:sp>
        <p:nvSpPr>
          <p:cNvPr id="36" name="TextBox 35"/>
          <p:cNvSpPr txBox="1"/>
          <p:nvPr/>
        </p:nvSpPr>
        <p:spPr>
          <a:xfrm>
            <a:off x="8432456" y="2710046"/>
            <a:ext cx="652743" cy="369332"/>
          </a:xfrm>
          <a:prstGeom prst="rect">
            <a:avLst/>
          </a:prstGeom>
          <a:noFill/>
        </p:spPr>
        <p:txBody>
          <a:bodyPr wrap="none" rtlCol="0">
            <a:spAutoFit/>
          </a:bodyPr>
          <a:lstStyle/>
          <a:p>
            <a:r>
              <a:rPr lang="en-IN" b="1" dirty="0">
                <a:solidFill>
                  <a:srgbClr val="C00000"/>
                </a:solidFill>
              </a:rPr>
              <a:t>3335</a:t>
            </a:r>
            <a:endParaRPr lang="en-US" b="1" dirty="0">
              <a:solidFill>
                <a:srgbClr val="C00000"/>
              </a:solidFill>
            </a:endParaRPr>
          </a:p>
        </p:txBody>
      </p:sp>
      <p:sp>
        <p:nvSpPr>
          <p:cNvPr id="37" name="TextBox 36"/>
          <p:cNvSpPr txBox="1"/>
          <p:nvPr/>
        </p:nvSpPr>
        <p:spPr>
          <a:xfrm>
            <a:off x="2667833" y="2708463"/>
            <a:ext cx="652743" cy="369332"/>
          </a:xfrm>
          <a:prstGeom prst="rect">
            <a:avLst/>
          </a:prstGeom>
          <a:noFill/>
        </p:spPr>
        <p:txBody>
          <a:bodyPr wrap="none" rtlCol="0">
            <a:spAutoFit/>
          </a:bodyPr>
          <a:lstStyle/>
          <a:p>
            <a:r>
              <a:rPr lang="en-IN" b="1" dirty="0">
                <a:solidFill>
                  <a:srgbClr val="C00000"/>
                </a:solidFill>
              </a:rPr>
              <a:t>5000</a:t>
            </a:r>
            <a:endParaRPr lang="en-US" b="1" dirty="0">
              <a:solidFill>
                <a:srgbClr val="C00000"/>
              </a:solidFill>
            </a:endParaRPr>
          </a:p>
        </p:txBody>
      </p:sp>
      <p:cxnSp>
        <p:nvCxnSpPr>
          <p:cNvPr id="38" name="Straight Arrow Connector 37"/>
          <p:cNvCxnSpPr/>
          <p:nvPr/>
        </p:nvCxnSpPr>
        <p:spPr>
          <a:xfrm>
            <a:off x="5690191" y="3785129"/>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39" name="TextBox 38"/>
          <p:cNvSpPr txBox="1"/>
          <p:nvPr/>
        </p:nvSpPr>
        <p:spPr>
          <a:xfrm>
            <a:off x="4597723" y="3992195"/>
            <a:ext cx="652743" cy="369332"/>
          </a:xfrm>
          <a:prstGeom prst="rect">
            <a:avLst/>
          </a:prstGeom>
          <a:noFill/>
        </p:spPr>
        <p:txBody>
          <a:bodyPr wrap="none" rtlCol="0">
            <a:spAutoFit/>
          </a:bodyPr>
          <a:lstStyle/>
          <a:p>
            <a:r>
              <a:rPr lang="en-IN" b="1" dirty="0">
                <a:solidFill>
                  <a:srgbClr val="C00000"/>
                </a:solidFill>
              </a:rPr>
              <a:t>1000</a:t>
            </a:r>
            <a:endParaRPr lang="en-US" b="1" dirty="0">
              <a:solidFill>
                <a:srgbClr val="C00000"/>
              </a:solidFill>
            </a:endParaRPr>
          </a:p>
        </p:txBody>
      </p:sp>
      <p:sp>
        <p:nvSpPr>
          <p:cNvPr id="40" name="TextBox 39"/>
          <p:cNvSpPr txBox="1"/>
          <p:nvPr/>
        </p:nvSpPr>
        <p:spPr>
          <a:xfrm>
            <a:off x="6504338" y="4005446"/>
            <a:ext cx="652743" cy="369332"/>
          </a:xfrm>
          <a:prstGeom prst="rect">
            <a:avLst/>
          </a:prstGeom>
          <a:noFill/>
        </p:spPr>
        <p:txBody>
          <a:bodyPr wrap="none" rtlCol="0">
            <a:spAutoFit/>
          </a:bodyPr>
          <a:lstStyle/>
          <a:p>
            <a:r>
              <a:rPr lang="en-IN" b="1" dirty="0">
                <a:solidFill>
                  <a:srgbClr val="C00000"/>
                </a:solidFill>
              </a:rPr>
              <a:t>2050</a:t>
            </a:r>
            <a:endParaRPr lang="en-US" b="1" dirty="0">
              <a:solidFill>
                <a:srgbClr val="C00000"/>
              </a:solidFill>
            </a:endParaRPr>
          </a:p>
        </p:txBody>
      </p:sp>
      <p:sp>
        <p:nvSpPr>
          <p:cNvPr id="41" name="TextBox 40"/>
          <p:cNvSpPr txBox="1"/>
          <p:nvPr/>
        </p:nvSpPr>
        <p:spPr>
          <a:xfrm>
            <a:off x="8432456" y="4005446"/>
            <a:ext cx="652743" cy="369332"/>
          </a:xfrm>
          <a:prstGeom prst="rect">
            <a:avLst/>
          </a:prstGeom>
          <a:noFill/>
        </p:spPr>
        <p:txBody>
          <a:bodyPr wrap="none" rtlCol="0">
            <a:spAutoFit/>
          </a:bodyPr>
          <a:lstStyle/>
          <a:p>
            <a:r>
              <a:rPr lang="en-IN" b="1" dirty="0">
                <a:solidFill>
                  <a:srgbClr val="C00000"/>
                </a:solidFill>
              </a:rPr>
              <a:t>3335</a:t>
            </a:r>
            <a:endParaRPr lang="en-US" b="1" dirty="0">
              <a:solidFill>
                <a:srgbClr val="C00000"/>
              </a:solidFill>
            </a:endParaRPr>
          </a:p>
        </p:txBody>
      </p:sp>
      <p:sp>
        <p:nvSpPr>
          <p:cNvPr id="42" name="TextBox 41"/>
          <p:cNvSpPr txBox="1"/>
          <p:nvPr/>
        </p:nvSpPr>
        <p:spPr>
          <a:xfrm>
            <a:off x="2667833" y="4003863"/>
            <a:ext cx="652743" cy="369332"/>
          </a:xfrm>
          <a:prstGeom prst="rect">
            <a:avLst/>
          </a:prstGeom>
          <a:noFill/>
        </p:spPr>
        <p:txBody>
          <a:bodyPr wrap="none" rtlCol="0">
            <a:spAutoFit/>
          </a:bodyPr>
          <a:lstStyle/>
          <a:p>
            <a:r>
              <a:rPr lang="en-IN" b="1" dirty="0">
                <a:solidFill>
                  <a:srgbClr val="C00000"/>
                </a:solidFill>
              </a:rPr>
              <a:t>5000</a:t>
            </a:r>
            <a:endParaRPr lang="en-US" b="1" dirty="0">
              <a:solidFill>
                <a:srgbClr val="C00000"/>
              </a:solidFill>
            </a:endParaRPr>
          </a:p>
        </p:txBody>
      </p:sp>
      <p:sp>
        <p:nvSpPr>
          <p:cNvPr id="43" name="Content Placeholder 2"/>
          <p:cNvSpPr txBox="1">
            <a:spLocks/>
          </p:cNvSpPr>
          <p:nvPr/>
        </p:nvSpPr>
        <p:spPr>
          <a:xfrm>
            <a:off x="156580" y="4720445"/>
            <a:ext cx="11759485" cy="188675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Linked list require </a:t>
            </a:r>
            <a:r>
              <a:rPr lang="en-IN" b="1" dirty="0">
                <a:solidFill>
                  <a:srgbClr val="C00000"/>
                </a:solidFill>
              </a:rPr>
              <a:t>more memory</a:t>
            </a:r>
            <a:r>
              <a:rPr lang="en-IN" b="1" dirty="0">
                <a:solidFill>
                  <a:srgbClr val="FF0000"/>
                </a:solidFill>
              </a:rPr>
              <a:t> </a:t>
            </a:r>
            <a:r>
              <a:rPr lang="en-IN" dirty="0"/>
              <a:t>compared to array because along with value it stores pointer to next node.</a:t>
            </a:r>
          </a:p>
          <a:p>
            <a:r>
              <a:rPr lang="en-IN" dirty="0"/>
              <a:t>Linked lists are among the simplest and most common data structures. They can be used to implement other data structures like stacks, queues, and symbolic expressions, etc…</a:t>
            </a:r>
            <a:endParaRPr lang="en-US" dirty="0"/>
          </a:p>
        </p:txBody>
      </p:sp>
    </p:spTree>
    <p:extLst>
      <p:ext uri="{BB962C8B-B14F-4D97-AF65-F5344CB8AC3E}">
        <p14:creationId xmlns:p14="http://schemas.microsoft.com/office/powerpoint/2010/main" val="3134744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7"/>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8"/>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2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2"/>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3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1"/>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42"/>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xit" presetSubtype="0" fill="hold" grpId="1" nodeType="clickEffect">
                                  <p:stCondLst>
                                    <p:cond delay="0"/>
                                  </p:stCondLst>
                                  <p:childTnLst>
                                    <p:set>
                                      <p:cBhvr>
                                        <p:cTn id="92" dur="1" fill="hold">
                                          <p:stCondLst>
                                            <p:cond delay="0"/>
                                          </p:stCondLst>
                                        </p:cTn>
                                        <p:tgtEl>
                                          <p:spTgt spid="32"/>
                                        </p:tgtEl>
                                        <p:attrNameLst>
                                          <p:attrName>style.visibility</p:attrName>
                                        </p:attrNameLst>
                                      </p:cBhvr>
                                      <p:to>
                                        <p:strVal val="hidden"/>
                                      </p:to>
                                    </p:set>
                                  </p:childTnLst>
                                </p:cTn>
                              </p:par>
                              <p:par>
                                <p:cTn id="93" presetID="1" presetClass="exit" presetSubtype="0" fill="hold" nodeType="withEffect">
                                  <p:stCondLst>
                                    <p:cond delay="0"/>
                                  </p:stCondLst>
                                  <p:childTnLst>
                                    <p:set>
                                      <p:cBhvr>
                                        <p:cTn id="94" dur="1" fill="hold">
                                          <p:stCondLst>
                                            <p:cond delay="0"/>
                                          </p:stCondLst>
                                        </p:cTn>
                                        <p:tgtEl>
                                          <p:spTgt spid="38"/>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3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43">
                                            <p:txEl>
                                              <p:pRg st="0" end="0"/>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4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7" grpId="0" animBg="1"/>
      <p:bldP spid="8" grpId="0" animBg="1"/>
      <p:bldP spid="9" grpId="0" animBg="1"/>
      <p:bldP spid="10" grpId="0" animBg="1"/>
      <p:bldP spid="11" grpId="0" animBg="1"/>
      <p:bldP spid="16" grpId="0"/>
      <p:bldP spid="17" grpId="0"/>
      <p:bldP spid="18" grpId="0"/>
      <p:bldP spid="19" grpId="0" animBg="1"/>
      <p:bldP spid="20" grpId="0" animBg="1"/>
      <p:bldP spid="21" grpId="0" animBg="1"/>
      <p:bldP spid="22" grpId="0" animBg="1"/>
      <p:bldP spid="23" grpId="0" animBg="1"/>
      <p:bldP spid="24" grpId="0" animBg="1"/>
      <p:bldP spid="25" grpId="0" animBg="1"/>
      <p:bldP spid="26" grpId="0" animBg="1"/>
      <p:bldP spid="30" grpId="0"/>
      <p:bldP spid="31" grpId="0"/>
      <p:bldP spid="32" grpId="0"/>
      <p:bldP spid="32" grpId="1"/>
      <p:bldP spid="34" grpId="0"/>
      <p:bldP spid="35" grpId="0"/>
      <p:bldP spid="36" grpId="0"/>
      <p:bldP spid="37" grpId="0"/>
      <p:bldP spid="39" grpId="0"/>
      <p:bldP spid="40" grpId="0"/>
      <p:bldP spid="41" grpId="0"/>
      <p:bldP spid="42" grpId="0"/>
      <p:bldP spid="4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Summary of Array vs. Linked List</a:t>
            </a:r>
          </a:p>
        </p:txBody>
      </p:sp>
      <p:graphicFrame>
        <p:nvGraphicFramePr>
          <p:cNvPr id="4" name="Table 3"/>
          <p:cNvGraphicFramePr>
            <a:graphicFrameLocks noGrp="1"/>
          </p:cNvGraphicFramePr>
          <p:nvPr>
            <p:extLst>
              <p:ext uri="{D42A27DB-BD31-4B8C-83A1-F6EECF244321}">
                <p14:modId xmlns:p14="http://schemas.microsoft.com/office/powerpoint/2010/main" val="2218021208"/>
              </p:ext>
            </p:extLst>
          </p:nvPr>
        </p:nvGraphicFramePr>
        <p:xfrm>
          <a:off x="229832" y="923853"/>
          <a:ext cx="11675123" cy="4693920"/>
        </p:xfrm>
        <a:graphic>
          <a:graphicData uri="http://schemas.openxmlformats.org/drawingml/2006/table">
            <a:tbl>
              <a:tblPr firstRow="1" bandRow="1">
                <a:tableStyleId>{5940675A-B579-460E-94D1-54222C63F5DA}</a:tableStyleId>
              </a:tblPr>
              <a:tblGrid>
                <a:gridCol w="480382">
                  <a:extLst>
                    <a:ext uri="{9D8B030D-6E8A-4147-A177-3AD203B41FA5}">
                      <a16:colId xmlns:a16="http://schemas.microsoft.com/office/drawing/2014/main" val="20000"/>
                    </a:ext>
                  </a:extLst>
                </a:gridCol>
                <a:gridCol w="7075503">
                  <a:extLst>
                    <a:ext uri="{9D8B030D-6E8A-4147-A177-3AD203B41FA5}">
                      <a16:colId xmlns:a16="http://schemas.microsoft.com/office/drawing/2014/main" val="20001"/>
                    </a:ext>
                  </a:extLst>
                </a:gridCol>
                <a:gridCol w="1944209">
                  <a:extLst>
                    <a:ext uri="{9D8B030D-6E8A-4147-A177-3AD203B41FA5}">
                      <a16:colId xmlns:a16="http://schemas.microsoft.com/office/drawing/2014/main" val="20002"/>
                    </a:ext>
                  </a:extLst>
                </a:gridCol>
                <a:gridCol w="2175029">
                  <a:extLst>
                    <a:ext uri="{9D8B030D-6E8A-4147-A177-3AD203B41FA5}">
                      <a16:colId xmlns:a16="http://schemas.microsoft.com/office/drawing/2014/main" val="20003"/>
                    </a:ext>
                  </a:extLst>
                </a:gridCol>
              </a:tblGrid>
              <a:tr h="370840">
                <a:tc>
                  <a:txBody>
                    <a:bodyPr/>
                    <a:lstStyle/>
                    <a:p>
                      <a:pPr algn="ctr"/>
                      <a:r>
                        <a:rPr lang="en-US" sz="2200" b="1" dirty="0"/>
                        <a:t>#</a:t>
                      </a:r>
                    </a:p>
                  </a:txBody>
                  <a:tcPr>
                    <a:solidFill>
                      <a:schemeClr val="bg1">
                        <a:lumMod val="85000"/>
                      </a:schemeClr>
                    </a:solidFill>
                  </a:tcPr>
                </a:tc>
                <a:tc>
                  <a:txBody>
                    <a:bodyPr/>
                    <a:lstStyle/>
                    <a:p>
                      <a:r>
                        <a:rPr lang="en-US" sz="2200" b="1" dirty="0"/>
                        <a:t>Point</a:t>
                      </a:r>
                    </a:p>
                  </a:txBody>
                  <a:tcPr>
                    <a:solidFill>
                      <a:schemeClr val="bg1">
                        <a:lumMod val="85000"/>
                      </a:schemeClr>
                    </a:solidFill>
                  </a:tcPr>
                </a:tc>
                <a:tc>
                  <a:txBody>
                    <a:bodyPr/>
                    <a:lstStyle/>
                    <a:p>
                      <a:pPr algn="ctr"/>
                      <a:r>
                        <a:rPr lang="en-US" sz="2200" b="1" dirty="0"/>
                        <a:t>Array</a:t>
                      </a:r>
                    </a:p>
                  </a:txBody>
                  <a:tcPr>
                    <a:solidFill>
                      <a:schemeClr val="bg1">
                        <a:lumMod val="85000"/>
                      </a:schemeClr>
                    </a:solidFill>
                  </a:tcPr>
                </a:tc>
                <a:tc>
                  <a:txBody>
                    <a:bodyPr/>
                    <a:lstStyle/>
                    <a:p>
                      <a:pPr algn="ctr"/>
                      <a:r>
                        <a:rPr lang="en-US" sz="2200" b="1" dirty="0"/>
                        <a:t>Linked List</a:t>
                      </a:r>
                    </a:p>
                  </a:txBody>
                  <a:tcPr>
                    <a:solidFill>
                      <a:schemeClr val="bg1">
                        <a:lumMod val="85000"/>
                      </a:schemeClr>
                    </a:solidFill>
                  </a:tcPr>
                </a:tc>
                <a:extLst>
                  <a:ext uri="{0D108BD9-81ED-4DB2-BD59-A6C34878D82A}">
                    <a16:rowId xmlns:a16="http://schemas.microsoft.com/office/drawing/2014/main" val="10000"/>
                  </a:ext>
                </a:extLst>
              </a:tr>
              <a:tr h="370840">
                <a:tc>
                  <a:txBody>
                    <a:bodyPr/>
                    <a:lstStyle/>
                    <a:p>
                      <a:pPr algn="ctr"/>
                      <a:r>
                        <a:rPr lang="en-US" sz="2200" dirty="0"/>
                        <a:t>1</a:t>
                      </a:r>
                    </a:p>
                  </a:txBody>
                  <a:tcPr>
                    <a:solidFill>
                      <a:schemeClr val="bg1">
                        <a:lumMod val="85000"/>
                      </a:schemeClr>
                    </a:solidFill>
                  </a:tcPr>
                </a:tc>
                <a:tc>
                  <a:txBody>
                    <a:bodyPr/>
                    <a:lstStyle/>
                    <a:p>
                      <a:r>
                        <a:rPr lang="en-US" sz="2200" dirty="0"/>
                        <a:t>An existing data structure in the programming language</a:t>
                      </a:r>
                    </a:p>
                  </a:txBody>
                  <a:tcPr/>
                </a:tc>
                <a:tc>
                  <a:txBody>
                    <a:bodyPr/>
                    <a:lstStyle/>
                    <a:p>
                      <a:pPr algn="ctr"/>
                      <a:r>
                        <a:rPr lang="en-US" sz="2200" dirty="0"/>
                        <a:t>Yes</a:t>
                      </a:r>
                    </a:p>
                  </a:txBody>
                  <a:tcPr>
                    <a:solidFill>
                      <a:schemeClr val="accent3">
                        <a:lumMod val="20000"/>
                        <a:lumOff val="80000"/>
                      </a:schemeClr>
                    </a:solidFill>
                  </a:tcPr>
                </a:tc>
                <a:tc>
                  <a:txBody>
                    <a:bodyPr/>
                    <a:lstStyle/>
                    <a:p>
                      <a:pPr algn="ctr"/>
                      <a:r>
                        <a:rPr lang="en-US" sz="2200" dirty="0"/>
                        <a:t>No</a:t>
                      </a:r>
                    </a:p>
                  </a:txBody>
                  <a:tcPr>
                    <a:solidFill>
                      <a:schemeClr val="accent6">
                        <a:lumMod val="20000"/>
                        <a:lumOff val="80000"/>
                      </a:schemeClr>
                    </a:solidFill>
                  </a:tcPr>
                </a:tc>
                <a:extLst>
                  <a:ext uri="{0D108BD9-81ED-4DB2-BD59-A6C34878D82A}">
                    <a16:rowId xmlns:a16="http://schemas.microsoft.com/office/drawing/2014/main" val="10001"/>
                  </a:ext>
                </a:extLst>
              </a:tr>
              <a:tr h="370840">
                <a:tc>
                  <a:txBody>
                    <a:bodyPr/>
                    <a:lstStyle/>
                    <a:p>
                      <a:pPr algn="ctr"/>
                      <a:r>
                        <a:rPr lang="en-US" sz="2200" dirty="0"/>
                        <a:t>2</a:t>
                      </a:r>
                    </a:p>
                  </a:txBody>
                  <a:tcPr>
                    <a:solidFill>
                      <a:schemeClr val="bg1">
                        <a:lumMod val="85000"/>
                      </a:schemeClr>
                    </a:solidFill>
                  </a:tcPr>
                </a:tc>
                <a:tc>
                  <a:txBody>
                    <a:bodyPr/>
                    <a:lstStyle/>
                    <a:p>
                      <a:r>
                        <a:rPr lang="en-US" sz="2200" dirty="0"/>
                        <a:t>Fixed size in memory</a:t>
                      </a:r>
                    </a:p>
                  </a:txBody>
                  <a:tcPr/>
                </a:tc>
                <a:tc>
                  <a:txBody>
                    <a:bodyPr/>
                    <a:lstStyle/>
                    <a:p>
                      <a:pPr algn="ctr"/>
                      <a:r>
                        <a:rPr lang="en-US" sz="2200" dirty="0"/>
                        <a:t>Yes</a:t>
                      </a:r>
                    </a:p>
                  </a:txBody>
                  <a:tcPr>
                    <a:solidFill>
                      <a:schemeClr val="accent3">
                        <a:lumMod val="20000"/>
                        <a:lumOff val="80000"/>
                      </a:schemeClr>
                    </a:solidFill>
                  </a:tcPr>
                </a:tc>
                <a:tc>
                  <a:txBody>
                    <a:bodyPr/>
                    <a:lstStyle/>
                    <a:p>
                      <a:pPr algn="ctr"/>
                      <a:r>
                        <a:rPr lang="en-US" sz="2200" dirty="0"/>
                        <a:t>No</a:t>
                      </a:r>
                    </a:p>
                  </a:txBody>
                  <a:tcPr>
                    <a:solidFill>
                      <a:schemeClr val="accent6">
                        <a:lumMod val="20000"/>
                        <a:lumOff val="80000"/>
                      </a:schemeClr>
                    </a:solidFill>
                  </a:tcPr>
                </a:tc>
                <a:extLst>
                  <a:ext uri="{0D108BD9-81ED-4DB2-BD59-A6C34878D82A}">
                    <a16:rowId xmlns:a16="http://schemas.microsoft.com/office/drawing/2014/main" val="10002"/>
                  </a:ext>
                </a:extLst>
              </a:tr>
              <a:tr h="370840">
                <a:tc>
                  <a:txBody>
                    <a:bodyPr/>
                    <a:lstStyle/>
                    <a:p>
                      <a:pPr algn="ctr"/>
                      <a:r>
                        <a:rPr lang="en-US" sz="2200" dirty="0"/>
                        <a:t>3</a:t>
                      </a:r>
                    </a:p>
                  </a:txBody>
                  <a:tcPr>
                    <a:solidFill>
                      <a:schemeClr val="bg1">
                        <a:lumMod val="85000"/>
                      </a:schemeClr>
                    </a:solidFill>
                  </a:tcPr>
                </a:tc>
                <a:tc>
                  <a:txBody>
                    <a:bodyPr/>
                    <a:lstStyle/>
                    <a:p>
                      <a:r>
                        <a:rPr lang="en-US" sz="2200" dirty="0"/>
                        <a:t>Elements or nodes are stored contiguously in memory</a:t>
                      </a:r>
                    </a:p>
                  </a:txBody>
                  <a:tcPr/>
                </a:tc>
                <a:tc>
                  <a:txBody>
                    <a:bodyPr/>
                    <a:lstStyle/>
                    <a:p>
                      <a:pPr algn="ctr"/>
                      <a:r>
                        <a:rPr lang="en-US" sz="2200" dirty="0"/>
                        <a:t>Yes</a:t>
                      </a:r>
                    </a:p>
                  </a:txBody>
                  <a:tcPr>
                    <a:solidFill>
                      <a:schemeClr val="accent3">
                        <a:lumMod val="20000"/>
                        <a:lumOff val="80000"/>
                      </a:schemeClr>
                    </a:solidFill>
                  </a:tcPr>
                </a:tc>
                <a:tc>
                  <a:txBody>
                    <a:bodyPr/>
                    <a:lstStyle/>
                    <a:p>
                      <a:pPr algn="ctr"/>
                      <a:r>
                        <a:rPr lang="en-US" sz="2200" dirty="0"/>
                        <a:t>No</a:t>
                      </a:r>
                    </a:p>
                  </a:txBody>
                  <a:tcPr>
                    <a:solidFill>
                      <a:schemeClr val="accent6">
                        <a:lumMod val="20000"/>
                        <a:lumOff val="80000"/>
                      </a:schemeClr>
                    </a:solidFill>
                  </a:tcPr>
                </a:tc>
                <a:extLst>
                  <a:ext uri="{0D108BD9-81ED-4DB2-BD59-A6C34878D82A}">
                    <a16:rowId xmlns:a16="http://schemas.microsoft.com/office/drawing/2014/main" val="10003"/>
                  </a:ext>
                </a:extLst>
              </a:tr>
              <a:tr h="370840">
                <a:tc>
                  <a:txBody>
                    <a:bodyPr/>
                    <a:lstStyle/>
                    <a:p>
                      <a:pPr algn="ctr"/>
                      <a:r>
                        <a:rPr lang="en-US" sz="2200" dirty="0"/>
                        <a:t>4</a:t>
                      </a:r>
                    </a:p>
                  </a:txBody>
                  <a:tcPr>
                    <a:solidFill>
                      <a:schemeClr val="bg1">
                        <a:lumMod val="85000"/>
                      </a:schemeClr>
                    </a:solidFill>
                  </a:tcPr>
                </a:tc>
                <a:tc>
                  <a:txBody>
                    <a:bodyPr/>
                    <a:lstStyle/>
                    <a:p>
                      <a:r>
                        <a:rPr lang="en-US" sz="2200" dirty="0"/>
                        <a:t>Memory usage</a:t>
                      </a:r>
                    </a:p>
                  </a:txBody>
                  <a:tcPr/>
                </a:tc>
                <a:tc>
                  <a:txBody>
                    <a:bodyPr/>
                    <a:lstStyle/>
                    <a:p>
                      <a:pPr algn="ctr"/>
                      <a:r>
                        <a:rPr lang="en-US" sz="2200" dirty="0"/>
                        <a:t>Low</a:t>
                      </a:r>
                    </a:p>
                  </a:txBody>
                  <a:tcPr>
                    <a:solidFill>
                      <a:schemeClr val="accent6">
                        <a:lumMod val="20000"/>
                        <a:lumOff val="80000"/>
                      </a:schemeClr>
                    </a:solidFill>
                  </a:tcPr>
                </a:tc>
                <a:tc>
                  <a:txBody>
                    <a:bodyPr/>
                    <a:lstStyle/>
                    <a:p>
                      <a:pPr algn="ctr"/>
                      <a:r>
                        <a:rPr lang="en-US" sz="2200" dirty="0"/>
                        <a:t>High</a:t>
                      </a:r>
                    </a:p>
                  </a:txBody>
                  <a:tcPr>
                    <a:solidFill>
                      <a:schemeClr val="accent3">
                        <a:lumMod val="20000"/>
                        <a:lumOff val="80000"/>
                      </a:schemeClr>
                    </a:solidFill>
                  </a:tcPr>
                </a:tc>
                <a:extLst>
                  <a:ext uri="{0D108BD9-81ED-4DB2-BD59-A6C34878D82A}">
                    <a16:rowId xmlns:a16="http://schemas.microsoft.com/office/drawing/2014/main" val="10004"/>
                  </a:ext>
                </a:extLst>
              </a:tr>
              <a:tr h="370840">
                <a:tc>
                  <a:txBody>
                    <a:bodyPr/>
                    <a:lstStyle/>
                    <a:p>
                      <a:pPr algn="ctr"/>
                      <a:r>
                        <a:rPr lang="en-US" sz="2200" dirty="0"/>
                        <a:t>5</a:t>
                      </a:r>
                    </a:p>
                  </a:txBody>
                  <a:tcPr>
                    <a:solidFill>
                      <a:schemeClr val="bg1">
                        <a:lumMod val="85000"/>
                      </a:schemeClr>
                    </a:solidFill>
                  </a:tcPr>
                </a:tc>
                <a:tc>
                  <a:txBody>
                    <a:bodyPr/>
                    <a:lstStyle/>
                    <a:p>
                      <a:r>
                        <a:rPr lang="en-US" sz="2200" dirty="0"/>
                        <a:t>Direct (random) access to elements</a:t>
                      </a:r>
                    </a:p>
                  </a:txBody>
                  <a:tcPr/>
                </a:tc>
                <a:tc>
                  <a:txBody>
                    <a:bodyPr/>
                    <a:lstStyle/>
                    <a:p>
                      <a:pPr algn="ctr"/>
                      <a:r>
                        <a:rPr lang="en-US" sz="2200" dirty="0"/>
                        <a:t>No</a:t>
                      </a:r>
                    </a:p>
                  </a:txBody>
                  <a:tcPr>
                    <a:solidFill>
                      <a:schemeClr val="accent6">
                        <a:lumMod val="20000"/>
                        <a:lumOff val="80000"/>
                      </a:schemeClr>
                    </a:solidFill>
                  </a:tcPr>
                </a:tc>
                <a:tc>
                  <a:txBody>
                    <a:bodyPr/>
                    <a:lstStyle/>
                    <a:p>
                      <a:pPr algn="ctr"/>
                      <a:r>
                        <a:rPr lang="en-US" sz="2200" dirty="0"/>
                        <a:t>Yes</a:t>
                      </a:r>
                    </a:p>
                  </a:txBody>
                  <a:tcPr>
                    <a:solidFill>
                      <a:schemeClr val="accent3">
                        <a:lumMod val="20000"/>
                        <a:lumOff val="80000"/>
                      </a:schemeClr>
                    </a:solidFill>
                  </a:tcPr>
                </a:tc>
                <a:extLst>
                  <a:ext uri="{0D108BD9-81ED-4DB2-BD59-A6C34878D82A}">
                    <a16:rowId xmlns:a16="http://schemas.microsoft.com/office/drawing/2014/main" val="10005"/>
                  </a:ext>
                </a:extLst>
              </a:tr>
              <a:tr h="370840">
                <a:tc>
                  <a:txBody>
                    <a:bodyPr/>
                    <a:lstStyle/>
                    <a:p>
                      <a:pPr algn="ctr"/>
                      <a:r>
                        <a:rPr lang="en-US" sz="2200" dirty="0"/>
                        <a:t>6</a:t>
                      </a:r>
                    </a:p>
                  </a:txBody>
                  <a:tcPr>
                    <a:solidFill>
                      <a:schemeClr val="bg1">
                        <a:lumMod val="85000"/>
                      </a:schemeClr>
                    </a:solidFill>
                  </a:tcPr>
                </a:tc>
                <a:tc>
                  <a:txBody>
                    <a:bodyPr/>
                    <a:lstStyle/>
                    <a:p>
                      <a:r>
                        <a:rPr lang="en-US" sz="2200" dirty="0"/>
                        <a:t>Insertion Operation</a:t>
                      </a:r>
                    </a:p>
                  </a:txBody>
                  <a:tcPr/>
                </a:tc>
                <a:tc>
                  <a:txBody>
                    <a:bodyPr/>
                    <a:lstStyle/>
                    <a:p>
                      <a:pPr algn="ctr"/>
                      <a:r>
                        <a:rPr lang="en-US" sz="2200" dirty="0"/>
                        <a:t>Less efficient</a:t>
                      </a:r>
                    </a:p>
                  </a:txBody>
                  <a:tcPr>
                    <a:solidFill>
                      <a:schemeClr val="accent6">
                        <a:lumMod val="20000"/>
                        <a:lumOff val="80000"/>
                      </a:schemeClr>
                    </a:solidFill>
                  </a:tcPr>
                </a:tc>
                <a:tc>
                  <a:txBody>
                    <a:bodyPr/>
                    <a:lstStyle/>
                    <a:p>
                      <a:pPr algn="ctr"/>
                      <a:r>
                        <a:rPr lang="en-US" sz="2200" dirty="0"/>
                        <a:t>More</a:t>
                      </a:r>
                      <a:r>
                        <a:rPr lang="en-US" sz="2200" baseline="0" dirty="0"/>
                        <a:t> </a:t>
                      </a:r>
                      <a:r>
                        <a:rPr lang="en-US" sz="2200" dirty="0"/>
                        <a:t>efficient</a:t>
                      </a:r>
                    </a:p>
                  </a:txBody>
                  <a:tcPr>
                    <a:solidFill>
                      <a:schemeClr val="accent3">
                        <a:lumMod val="20000"/>
                        <a:lumOff val="80000"/>
                      </a:schemeClr>
                    </a:solidFill>
                  </a:tcPr>
                </a:tc>
                <a:extLst>
                  <a:ext uri="{0D108BD9-81ED-4DB2-BD59-A6C34878D82A}">
                    <a16:rowId xmlns:a16="http://schemas.microsoft.com/office/drawing/2014/main" val="10006"/>
                  </a:ext>
                </a:extLst>
              </a:tr>
              <a:tr h="370840">
                <a:tc>
                  <a:txBody>
                    <a:bodyPr/>
                    <a:lstStyle/>
                    <a:p>
                      <a:pPr algn="ctr"/>
                      <a:r>
                        <a:rPr lang="en-US" sz="2200" dirty="0"/>
                        <a:t>7</a:t>
                      </a:r>
                    </a:p>
                  </a:txBody>
                  <a:tcPr>
                    <a:solidFill>
                      <a:schemeClr val="bg1">
                        <a:lumMod val="85000"/>
                      </a:schemeClr>
                    </a:solidFill>
                  </a:tcPr>
                </a:tc>
                <a:tc>
                  <a:txBody>
                    <a:bodyPr/>
                    <a:lstStyle/>
                    <a:p>
                      <a:r>
                        <a:rPr lang="en-US" sz="2200" dirty="0"/>
                        <a:t>Deletion Operation</a:t>
                      </a:r>
                    </a:p>
                  </a:txBody>
                  <a:tcPr/>
                </a:tc>
                <a:tc>
                  <a:txBody>
                    <a:bodyPr/>
                    <a:lstStyle/>
                    <a:p>
                      <a:pPr algn="ctr"/>
                      <a:r>
                        <a:rPr lang="en-US" sz="2200" dirty="0"/>
                        <a:t>Less efficient</a:t>
                      </a:r>
                    </a:p>
                  </a:txBody>
                  <a:tcPr>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200" dirty="0"/>
                        <a:t>More</a:t>
                      </a:r>
                      <a:r>
                        <a:rPr lang="en-US" sz="2200" baseline="0" dirty="0"/>
                        <a:t> </a:t>
                      </a:r>
                      <a:r>
                        <a:rPr lang="en-US" sz="2200" dirty="0"/>
                        <a:t>efficient</a:t>
                      </a:r>
                    </a:p>
                  </a:txBody>
                  <a:tcPr>
                    <a:solidFill>
                      <a:schemeClr val="accent3">
                        <a:lumMod val="20000"/>
                        <a:lumOff val="80000"/>
                      </a:schemeClr>
                    </a:solidFill>
                  </a:tcPr>
                </a:tc>
                <a:extLst>
                  <a:ext uri="{0D108BD9-81ED-4DB2-BD59-A6C34878D82A}">
                    <a16:rowId xmlns:a16="http://schemas.microsoft.com/office/drawing/2014/main" val="10007"/>
                  </a:ext>
                </a:extLst>
              </a:tr>
              <a:tr h="370840">
                <a:tc>
                  <a:txBody>
                    <a:bodyPr/>
                    <a:lstStyle/>
                    <a:p>
                      <a:pPr algn="ctr"/>
                      <a:r>
                        <a:rPr lang="en-US" sz="2200" dirty="0"/>
                        <a:t>8</a:t>
                      </a:r>
                    </a:p>
                  </a:txBody>
                  <a:tcPr>
                    <a:solidFill>
                      <a:schemeClr val="bg1">
                        <a:lumMod val="85000"/>
                      </a:schemeClr>
                    </a:solidFill>
                  </a:tcPr>
                </a:tc>
                <a:tc>
                  <a:txBody>
                    <a:bodyPr/>
                    <a:lstStyle/>
                    <a:p>
                      <a:r>
                        <a:rPr lang="en-US" sz="2200" dirty="0"/>
                        <a:t>Search Operation</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200" dirty="0"/>
                        <a:t>More</a:t>
                      </a:r>
                      <a:r>
                        <a:rPr lang="en-US" sz="2200" baseline="0" dirty="0"/>
                        <a:t> </a:t>
                      </a:r>
                      <a:r>
                        <a:rPr lang="en-US" sz="2200" dirty="0"/>
                        <a:t>efficient</a:t>
                      </a:r>
                    </a:p>
                  </a:txBody>
                  <a:tcPr>
                    <a:solidFill>
                      <a:schemeClr val="accent3">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200" dirty="0"/>
                        <a:t>Less efficient</a:t>
                      </a:r>
                    </a:p>
                  </a:txBody>
                  <a:tcPr>
                    <a:solidFill>
                      <a:schemeClr val="accent6">
                        <a:lumMod val="20000"/>
                        <a:lumOff val="80000"/>
                      </a:schemeClr>
                    </a:solidFill>
                  </a:tcPr>
                </a:tc>
                <a:extLst>
                  <a:ext uri="{0D108BD9-81ED-4DB2-BD59-A6C34878D82A}">
                    <a16:rowId xmlns:a16="http://schemas.microsoft.com/office/drawing/2014/main" val="10008"/>
                  </a:ext>
                </a:extLst>
              </a:tr>
              <a:tr h="370840">
                <a:tc>
                  <a:txBody>
                    <a:bodyPr/>
                    <a:lstStyle/>
                    <a:p>
                      <a:pPr algn="ctr"/>
                      <a:r>
                        <a:rPr lang="en-US" sz="2200" dirty="0"/>
                        <a:t>9</a:t>
                      </a:r>
                    </a:p>
                  </a:txBody>
                  <a:tcPr>
                    <a:solidFill>
                      <a:schemeClr val="bg1">
                        <a:lumMod val="85000"/>
                      </a:schemeClr>
                    </a:solidFill>
                  </a:tcPr>
                </a:tc>
                <a:tc>
                  <a:txBody>
                    <a:bodyPr/>
                    <a:lstStyle/>
                    <a:p>
                      <a:r>
                        <a:rPr lang="en-US" sz="2200" dirty="0"/>
                        <a:t>Join Operation</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200" dirty="0"/>
                        <a:t>Less efficient</a:t>
                      </a:r>
                    </a:p>
                  </a:txBody>
                  <a:tcPr>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200" dirty="0"/>
                        <a:t>More</a:t>
                      </a:r>
                      <a:r>
                        <a:rPr lang="en-US" sz="2200" baseline="0" dirty="0"/>
                        <a:t> </a:t>
                      </a:r>
                      <a:r>
                        <a:rPr lang="en-US" sz="2200" dirty="0"/>
                        <a:t>efficient</a:t>
                      </a:r>
                    </a:p>
                  </a:txBody>
                  <a:tcPr>
                    <a:solidFill>
                      <a:schemeClr val="accent3">
                        <a:lumMod val="20000"/>
                        <a:lumOff val="80000"/>
                      </a:schemeClr>
                    </a:solidFill>
                  </a:tcPr>
                </a:tc>
                <a:extLst>
                  <a:ext uri="{0D108BD9-81ED-4DB2-BD59-A6C34878D82A}">
                    <a16:rowId xmlns:a16="http://schemas.microsoft.com/office/drawing/2014/main" val="10009"/>
                  </a:ext>
                </a:extLst>
              </a:tr>
              <a:tr h="370840">
                <a:tc>
                  <a:txBody>
                    <a:bodyPr/>
                    <a:lstStyle/>
                    <a:p>
                      <a:pPr algn="ctr"/>
                      <a:r>
                        <a:rPr lang="en-US" sz="2200" dirty="0"/>
                        <a:t>10</a:t>
                      </a:r>
                    </a:p>
                  </a:txBody>
                  <a:tcPr>
                    <a:solidFill>
                      <a:schemeClr val="bg1">
                        <a:lumMod val="85000"/>
                      </a:schemeClr>
                    </a:solidFill>
                  </a:tcPr>
                </a:tc>
                <a:tc>
                  <a:txBody>
                    <a:bodyPr/>
                    <a:lstStyle/>
                    <a:p>
                      <a:r>
                        <a:rPr lang="en-US" sz="2200" dirty="0"/>
                        <a:t>Split Operation</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200" dirty="0"/>
                        <a:t>Less efficient</a:t>
                      </a:r>
                    </a:p>
                  </a:txBody>
                  <a:tcPr>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200" dirty="0"/>
                        <a:t>More</a:t>
                      </a:r>
                      <a:r>
                        <a:rPr lang="en-US" sz="2200" baseline="0" dirty="0"/>
                        <a:t> </a:t>
                      </a:r>
                      <a:r>
                        <a:rPr lang="en-US" sz="2200" dirty="0"/>
                        <a:t>efficient</a:t>
                      </a:r>
                    </a:p>
                  </a:txBody>
                  <a:tcPr>
                    <a:solidFill>
                      <a:schemeClr val="accent3">
                        <a:lumMod val="20000"/>
                        <a:lumOff val="80000"/>
                      </a:scheme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913434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Applications of Linked Lists</a:t>
            </a:r>
            <a:endParaRPr lang="en-IN" dirty="0"/>
          </a:p>
        </p:txBody>
      </p:sp>
      <p:sp>
        <p:nvSpPr>
          <p:cNvPr id="3" name="Content Placeholder 2"/>
          <p:cNvSpPr>
            <a:spLocks noGrp="1"/>
          </p:cNvSpPr>
          <p:nvPr>
            <p:ph idx="1"/>
          </p:nvPr>
        </p:nvSpPr>
        <p:spPr>
          <a:xfrm>
            <a:off x="131180" y="933651"/>
            <a:ext cx="11929641" cy="5669280"/>
          </a:xfrm>
        </p:spPr>
        <p:txBody>
          <a:bodyPr/>
          <a:lstStyle/>
          <a:p>
            <a:r>
              <a:rPr lang="en-US" sz="2200" b="1" dirty="0"/>
              <a:t>Stack &amp; Queue Implementation</a:t>
            </a:r>
          </a:p>
          <a:p>
            <a:r>
              <a:rPr lang="en-US" sz="2200" b="1" dirty="0"/>
              <a:t>Graph Representation</a:t>
            </a:r>
          </a:p>
          <a:p>
            <a:r>
              <a:rPr lang="en-US" sz="2200" b="1" dirty="0"/>
              <a:t>Dynamic Memory Allocation: </a:t>
            </a:r>
            <a:r>
              <a:rPr lang="en-US" sz="2200" dirty="0"/>
              <a:t>OS often manage free memory blocks using a linked list.</a:t>
            </a:r>
          </a:p>
          <a:p>
            <a:r>
              <a:rPr lang="en-US" sz="2200" b="1" dirty="0"/>
              <a:t>Name Directory Management: </a:t>
            </a:r>
            <a:r>
              <a:rPr lang="en-US" sz="2200" dirty="0"/>
              <a:t>Linked lists can be used to maintain directories or databases of names.</a:t>
            </a:r>
          </a:p>
          <a:p>
            <a:r>
              <a:rPr lang="en-US" sz="2200" b="1" dirty="0"/>
              <a:t>Arithmetic on Long Integers: </a:t>
            </a:r>
            <a:r>
              <a:rPr lang="en-US" sz="2200" dirty="0"/>
              <a:t>It enable the storage and manipulation of long integers that exceed the standard data type limits, allowing digit-by-digit operations.</a:t>
            </a:r>
          </a:p>
          <a:p>
            <a:r>
              <a:rPr lang="en-US" sz="2200" b="1" dirty="0"/>
              <a:t>Polynomial Manipulation: </a:t>
            </a:r>
            <a:r>
              <a:rPr lang="en-US" sz="2200" dirty="0"/>
              <a:t>Polynomials can be efficiently represented and manipulated using linked lists, with each node storing a coefficient and exponent.</a:t>
            </a:r>
          </a:p>
          <a:p>
            <a:r>
              <a:rPr lang="en-US" sz="2200" b="1" dirty="0"/>
              <a:t>Sparse Matrix Representation: </a:t>
            </a:r>
            <a:r>
              <a:rPr lang="en-US" sz="2200" dirty="0"/>
              <a:t>Linked lists are ideal for representing sparse matrices, where only non-zero elements are stored, saving memory and processing time</a:t>
            </a:r>
          </a:p>
          <a:p>
            <a:r>
              <a:rPr lang="en-US" b="1" dirty="0"/>
              <a:t>Image Viewer:</a:t>
            </a:r>
            <a:r>
              <a:rPr lang="en-US" dirty="0"/>
              <a:t> It allow users to navigate between images using "previous" and "next" buttons, as each image node points to its adjacent images.</a:t>
            </a:r>
          </a:p>
          <a:p>
            <a:r>
              <a:rPr lang="en-US" b="1" dirty="0"/>
              <a:t>Web Browser Navigation:</a:t>
            </a:r>
            <a:r>
              <a:rPr lang="en-US" dirty="0"/>
              <a:t> Browsers maintain browsing history using a doubly linked list</a:t>
            </a:r>
          </a:p>
          <a:p>
            <a:endParaRPr lang="en-IN" dirty="0"/>
          </a:p>
        </p:txBody>
      </p:sp>
    </p:spTree>
    <p:extLst>
      <p:ext uri="{BB962C8B-B14F-4D97-AF65-F5344CB8AC3E}">
        <p14:creationId xmlns:p14="http://schemas.microsoft.com/office/powerpoint/2010/main" val="3158670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 of Linked Lists Cont.</a:t>
            </a:r>
            <a:endParaRPr lang="en-IN" dirty="0"/>
          </a:p>
        </p:txBody>
      </p:sp>
      <p:sp>
        <p:nvSpPr>
          <p:cNvPr id="3" name="Content Placeholder 2"/>
          <p:cNvSpPr>
            <a:spLocks noGrp="1"/>
          </p:cNvSpPr>
          <p:nvPr>
            <p:ph idx="1"/>
          </p:nvPr>
        </p:nvSpPr>
        <p:spPr/>
        <p:txBody>
          <a:bodyPr/>
          <a:lstStyle/>
          <a:p>
            <a:r>
              <a:rPr lang="en-US" b="1" dirty="0"/>
              <a:t>Music Players:</a:t>
            </a:r>
            <a:r>
              <a:rPr lang="en-US" dirty="0"/>
              <a:t> Songs in a playlist are often linked sequentially.</a:t>
            </a:r>
          </a:p>
          <a:p>
            <a:r>
              <a:rPr lang="en-US" b="1" dirty="0"/>
              <a:t>GPS Navigation Systems:</a:t>
            </a:r>
            <a:r>
              <a:rPr lang="en-US" dirty="0"/>
              <a:t> Locations and routes can be stored as nodes in a linked list</a:t>
            </a:r>
          </a:p>
          <a:p>
            <a:r>
              <a:rPr lang="en-US" b="1" dirty="0"/>
              <a:t>Robotics:</a:t>
            </a:r>
            <a:r>
              <a:rPr lang="en-US" dirty="0"/>
              <a:t> Control systems in robotics may utilize linked lists to manage sequential tasks or sensor data.</a:t>
            </a:r>
          </a:p>
          <a:p>
            <a:r>
              <a:rPr lang="en-US" b="1" dirty="0"/>
              <a:t>Task Scheduling:</a:t>
            </a:r>
            <a:r>
              <a:rPr lang="en-US" dirty="0"/>
              <a:t> OS implement process scheduling using linked lists, where each process is represented as a node in a queue-like structure.</a:t>
            </a:r>
          </a:p>
          <a:p>
            <a:r>
              <a:rPr lang="en-US" b="1" dirty="0"/>
              <a:t>Image Processing:</a:t>
            </a:r>
            <a:r>
              <a:rPr lang="en-US" dirty="0"/>
              <a:t> Images can be represented using linked lists where each pixel or group of pixels is stored as a node</a:t>
            </a:r>
          </a:p>
          <a:p>
            <a:r>
              <a:rPr lang="en-US" b="1" dirty="0"/>
              <a:t>File Systems:</a:t>
            </a:r>
            <a:r>
              <a:rPr lang="en-US" dirty="0"/>
              <a:t> Many file systems use linked lists to represent files and directories, especially for handling dynamic allocation and hierarchical structures.</a:t>
            </a:r>
          </a:p>
          <a:p>
            <a:r>
              <a:rPr lang="en-US" b="1" dirty="0"/>
              <a:t>Symbol Tables in Compilers:</a:t>
            </a:r>
            <a:r>
              <a:rPr lang="en-US" dirty="0"/>
              <a:t> Compilers use linked lists to construct symbol tables.</a:t>
            </a:r>
          </a:p>
          <a:p>
            <a:r>
              <a:rPr lang="en-US" b="1" dirty="0"/>
              <a:t>Speech Recognition:</a:t>
            </a:r>
            <a:r>
              <a:rPr lang="en-US" dirty="0"/>
              <a:t> Phonetic possibilities for words in speech recognition engines can be represented using linked lists, with each node capturing a possible pronunciation.</a:t>
            </a:r>
            <a:endParaRPr lang="en-IN" dirty="0"/>
          </a:p>
          <a:p>
            <a:endParaRPr lang="en-IN" dirty="0"/>
          </a:p>
        </p:txBody>
      </p:sp>
    </p:spTree>
    <p:extLst>
      <p:ext uri="{BB962C8B-B14F-4D97-AF65-F5344CB8AC3E}">
        <p14:creationId xmlns:p14="http://schemas.microsoft.com/office/powerpoint/2010/main" val="3148809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Operations &amp; Type of Linked List</a:t>
            </a:r>
            <a:endParaRPr lang="en-US" dirty="0"/>
          </a:p>
        </p:txBody>
      </p:sp>
      <p:sp>
        <p:nvSpPr>
          <p:cNvPr id="5" name="Content Placeholder 2"/>
          <p:cNvSpPr txBox="1">
            <a:spLocks/>
          </p:cNvSpPr>
          <p:nvPr/>
        </p:nvSpPr>
        <p:spPr>
          <a:xfrm>
            <a:off x="6252707" y="1461527"/>
            <a:ext cx="3429000" cy="1447800"/>
          </a:xfrm>
          <a:prstGeom prst="rect">
            <a:avLst/>
          </a:prstGeom>
        </p:spPr>
        <p:txBody>
          <a:bodyPr vert="horz" lIns="91440" tIns="45720" rIns="91440" bIns="45720" rtlCol="0">
            <a:normAutofit/>
          </a:bodyPr>
          <a:lstStyle>
            <a:lvl1pPr marL="342900" indent="-342900" algn="just" defTabSz="914400" rtl="0" eaLnBrk="1" latinLnBrk="0" hangingPunct="1">
              <a:lnSpc>
                <a:spcPct val="90000"/>
              </a:lnSpc>
              <a:spcBef>
                <a:spcPts val="600"/>
              </a:spcBef>
              <a:buClrTx/>
              <a:buFont typeface="Wingdings" panose="05000000000000000000" pitchFamily="2" charset="2"/>
              <a:buChar char="§"/>
              <a:defRPr lang="en-US" sz="2400" kern="1200" dirty="0" smtClean="0">
                <a:solidFill>
                  <a:schemeClr val="tx1"/>
                </a:solidFill>
                <a:latin typeface="+mj-lt"/>
                <a:ea typeface="Times New Roman" panose="02020603050405020304" pitchFamily="18" charset="0"/>
                <a:cs typeface="Times New Roman" panose="02020603050405020304" pitchFamily="18" charset="0"/>
              </a:defRPr>
            </a:lvl1pPr>
            <a:lvl2pPr marL="704850" indent="-342900" algn="just" defTabSz="914400" rtl="0" eaLnBrk="1" latinLnBrk="0" hangingPunct="1">
              <a:lnSpc>
                <a:spcPct val="90000"/>
              </a:lnSpc>
              <a:spcBef>
                <a:spcPts val="600"/>
              </a:spcBef>
              <a:buClrTx/>
              <a:buFont typeface="Arial" panose="020B0604020202020204" pitchFamily="34" charset="0"/>
              <a:buChar char="•"/>
              <a:defRPr lang="en-US" sz="2300" kern="1200" dirty="0" smtClean="0">
                <a:solidFill>
                  <a:schemeClr val="tx1"/>
                </a:solidFill>
                <a:latin typeface="+mj-lt"/>
                <a:ea typeface="Times New Roman" panose="02020603050405020304" pitchFamily="18" charset="0"/>
                <a:cs typeface="Times New Roman" panose="02020603050405020304" pitchFamily="18" charset="0"/>
              </a:defRPr>
            </a:lvl2pPr>
            <a:lvl3pPr marL="968375" indent="-342900" algn="just" defTabSz="914400" rtl="0" eaLnBrk="1" latinLnBrk="0" hangingPunct="1">
              <a:lnSpc>
                <a:spcPct val="90000"/>
              </a:lnSpc>
              <a:spcBef>
                <a:spcPts val="600"/>
              </a:spcBef>
              <a:buClrTx/>
              <a:buFont typeface="Arial" pitchFamily="34" charset="0"/>
              <a:buChar char="•"/>
              <a:defRPr lang="en-US" sz="2200" kern="1200" dirty="0" smtClean="0">
                <a:solidFill>
                  <a:schemeClr val="tx1"/>
                </a:solidFill>
                <a:latin typeface="+mj-lt"/>
                <a:ea typeface="Times New Roman" panose="02020603050405020304" pitchFamily="18" charset="0"/>
                <a:cs typeface="Times New Roman" panose="02020603050405020304" pitchFamily="18" charset="0"/>
              </a:defRPr>
            </a:lvl3pPr>
            <a:lvl4pPr marL="1239837" indent="-342900" algn="just" defTabSz="914400" rtl="0" eaLnBrk="1" latinLnBrk="0" hangingPunct="1">
              <a:lnSpc>
                <a:spcPct val="90000"/>
              </a:lnSpc>
              <a:spcBef>
                <a:spcPts val="600"/>
              </a:spcBef>
              <a:buClrTx/>
              <a:buFont typeface="Arial" pitchFamily="34" charset="0"/>
              <a:buChar char="–"/>
              <a:defRPr lang="en-US" sz="2000" kern="1200" dirty="0" smtClean="0">
                <a:solidFill>
                  <a:schemeClr val="tx1"/>
                </a:solidFill>
                <a:latin typeface="+mj-lt"/>
                <a:ea typeface="Times New Roman" panose="02020603050405020304" pitchFamily="18" charset="0"/>
                <a:cs typeface="Times New Roman" panose="02020603050405020304" pitchFamily="18" charset="0"/>
              </a:defRPr>
            </a:lvl4pPr>
            <a:lvl5pPr marL="1454150" indent="-285750" algn="just" defTabSz="914400" rtl="0" eaLnBrk="1" latinLnBrk="0" hangingPunct="1">
              <a:lnSpc>
                <a:spcPct val="90000"/>
              </a:lnSpc>
              <a:spcBef>
                <a:spcPts val="600"/>
              </a:spcBef>
              <a:buClrTx/>
              <a:buFont typeface="Arial" pitchFamily="34" charset="0"/>
              <a:buChar char="»"/>
              <a:defRPr lang="en-US" sz="1600" kern="1200" dirty="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IN" dirty="0"/>
              <a:t>Singly Linked List</a:t>
            </a:r>
          </a:p>
          <a:p>
            <a:r>
              <a:rPr lang="en-IN" dirty="0"/>
              <a:t>Circular Linked List</a:t>
            </a:r>
          </a:p>
          <a:p>
            <a:r>
              <a:rPr lang="en-IN" dirty="0"/>
              <a:t>Doubly Linked List</a:t>
            </a:r>
          </a:p>
        </p:txBody>
      </p:sp>
      <p:sp>
        <p:nvSpPr>
          <p:cNvPr id="7" name="Content Placeholder 2"/>
          <p:cNvSpPr txBox="1">
            <a:spLocks/>
          </p:cNvSpPr>
          <p:nvPr/>
        </p:nvSpPr>
        <p:spPr>
          <a:xfrm>
            <a:off x="179294" y="1461527"/>
            <a:ext cx="4114800" cy="2971800"/>
          </a:xfrm>
          <a:prstGeom prst="rect">
            <a:avLst/>
          </a:prstGeom>
        </p:spPr>
        <p:txBody>
          <a:bodyPr vert="horz" lIns="91440" tIns="45720" rIns="91440" bIns="45720" rtlCol="0">
            <a:normAutofit/>
          </a:bodyPr>
          <a:lstStyle>
            <a:lvl1pPr marL="342900" indent="-342900" algn="just" defTabSz="914400" rtl="0" eaLnBrk="1" latinLnBrk="0" hangingPunct="1">
              <a:lnSpc>
                <a:spcPct val="90000"/>
              </a:lnSpc>
              <a:spcBef>
                <a:spcPts val="600"/>
              </a:spcBef>
              <a:buClrTx/>
              <a:buFont typeface="Wingdings" panose="05000000000000000000" pitchFamily="2" charset="2"/>
              <a:buChar char="§"/>
              <a:defRPr lang="en-US" sz="2400" kern="1200" dirty="0" smtClean="0">
                <a:solidFill>
                  <a:schemeClr val="tx1"/>
                </a:solidFill>
                <a:latin typeface="+mj-lt"/>
                <a:ea typeface="Times New Roman" panose="02020603050405020304" pitchFamily="18" charset="0"/>
                <a:cs typeface="Times New Roman" panose="02020603050405020304" pitchFamily="18" charset="0"/>
              </a:defRPr>
            </a:lvl1pPr>
            <a:lvl2pPr marL="704850" indent="-342900" algn="just" defTabSz="914400" rtl="0" eaLnBrk="1" latinLnBrk="0" hangingPunct="1">
              <a:lnSpc>
                <a:spcPct val="90000"/>
              </a:lnSpc>
              <a:spcBef>
                <a:spcPts val="600"/>
              </a:spcBef>
              <a:buClrTx/>
              <a:buFont typeface="Arial" panose="020B0604020202020204" pitchFamily="34" charset="0"/>
              <a:buChar char="•"/>
              <a:defRPr lang="en-US" sz="2300" kern="1200" dirty="0" smtClean="0">
                <a:solidFill>
                  <a:schemeClr val="tx1"/>
                </a:solidFill>
                <a:latin typeface="+mj-lt"/>
                <a:ea typeface="Times New Roman" panose="02020603050405020304" pitchFamily="18" charset="0"/>
                <a:cs typeface="Times New Roman" panose="02020603050405020304" pitchFamily="18" charset="0"/>
              </a:defRPr>
            </a:lvl2pPr>
            <a:lvl3pPr marL="968375" indent="-342900" algn="just" defTabSz="914400" rtl="0" eaLnBrk="1" latinLnBrk="0" hangingPunct="1">
              <a:lnSpc>
                <a:spcPct val="90000"/>
              </a:lnSpc>
              <a:spcBef>
                <a:spcPts val="600"/>
              </a:spcBef>
              <a:buClrTx/>
              <a:buFont typeface="Arial" pitchFamily="34" charset="0"/>
              <a:buChar char="•"/>
              <a:defRPr lang="en-US" sz="2200" kern="1200" dirty="0" smtClean="0">
                <a:solidFill>
                  <a:schemeClr val="tx1"/>
                </a:solidFill>
                <a:latin typeface="+mj-lt"/>
                <a:ea typeface="Times New Roman" panose="02020603050405020304" pitchFamily="18" charset="0"/>
                <a:cs typeface="Times New Roman" panose="02020603050405020304" pitchFamily="18" charset="0"/>
              </a:defRPr>
            </a:lvl3pPr>
            <a:lvl4pPr marL="1239837" indent="-342900" algn="just" defTabSz="914400" rtl="0" eaLnBrk="1" latinLnBrk="0" hangingPunct="1">
              <a:lnSpc>
                <a:spcPct val="90000"/>
              </a:lnSpc>
              <a:spcBef>
                <a:spcPts val="600"/>
              </a:spcBef>
              <a:buClrTx/>
              <a:buFont typeface="Arial" pitchFamily="34" charset="0"/>
              <a:buChar char="–"/>
              <a:defRPr lang="en-US" sz="2000" kern="1200" dirty="0" smtClean="0">
                <a:solidFill>
                  <a:schemeClr val="tx1"/>
                </a:solidFill>
                <a:latin typeface="+mj-lt"/>
                <a:ea typeface="Times New Roman" panose="02020603050405020304" pitchFamily="18" charset="0"/>
                <a:cs typeface="Times New Roman" panose="02020603050405020304" pitchFamily="18" charset="0"/>
              </a:defRPr>
            </a:lvl4pPr>
            <a:lvl5pPr marL="1454150" indent="-285750" algn="just" defTabSz="914400" rtl="0" eaLnBrk="1" latinLnBrk="0" hangingPunct="1">
              <a:lnSpc>
                <a:spcPct val="90000"/>
              </a:lnSpc>
              <a:spcBef>
                <a:spcPts val="600"/>
              </a:spcBef>
              <a:buClrTx/>
              <a:buFont typeface="Arial" pitchFamily="34" charset="0"/>
              <a:buChar char="»"/>
              <a:defRPr lang="en-US" sz="1600" kern="1200" dirty="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IN" dirty="0"/>
              <a:t>Insert</a:t>
            </a:r>
          </a:p>
          <a:p>
            <a:pPr lvl="1"/>
            <a:r>
              <a:rPr lang="en-IN" dirty="0"/>
              <a:t>Insert at first position</a:t>
            </a:r>
          </a:p>
          <a:p>
            <a:pPr lvl="1"/>
            <a:r>
              <a:rPr lang="en-IN" dirty="0"/>
              <a:t>Insert at last position</a:t>
            </a:r>
          </a:p>
          <a:p>
            <a:pPr lvl="1"/>
            <a:r>
              <a:rPr lang="en-IN" dirty="0"/>
              <a:t>Insert into ordered list</a:t>
            </a:r>
          </a:p>
          <a:p>
            <a:r>
              <a:rPr lang="en-IN" dirty="0"/>
              <a:t>Delete</a:t>
            </a:r>
          </a:p>
          <a:p>
            <a:r>
              <a:rPr lang="en-IN" dirty="0"/>
              <a:t>Traverse list (Print list)</a:t>
            </a:r>
          </a:p>
          <a:p>
            <a:r>
              <a:rPr lang="en-US" dirty="0"/>
              <a:t>Copy linked list</a:t>
            </a:r>
          </a:p>
        </p:txBody>
      </p:sp>
      <p:sp>
        <p:nvSpPr>
          <p:cNvPr id="8" name="TextBox 7"/>
          <p:cNvSpPr txBox="1"/>
          <p:nvPr/>
        </p:nvSpPr>
        <p:spPr>
          <a:xfrm>
            <a:off x="179294" y="824754"/>
            <a:ext cx="5760000"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IN" sz="2800" b="1" dirty="0"/>
              <a:t>Operations on Linked List</a:t>
            </a:r>
          </a:p>
        </p:txBody>
      </p:sp>
      <p:sp>
        <p:nvSpPr>
          <p:cNvPr id="9" name="TextBox 8"/>
          <p:cNvSpPr txBox="1"/>
          <p:nvPr/>
        </p:nvSpPr>
        <p:spPr>
          <a:xfrm>
            <a:off x="6239260" y="824754"/>
            <a:ext cx="5760000"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IN" sz="2800" b="1" dirty="0"/>
              <a:t>Types of Linked List</a:t>
            </a:r>
          </a:p>
        </p:txBody>
      </p:sp>
      <p:cxnSp>
        <p:nvCxnSpPr>
          <p:cNvPr id="11" name="Straight Connector 10"/>
          <p:cNvCxnSpPr/>
          <p:nvPr/>
        </p:nvCxnSpPr>
        <p:spPr>
          <a:xfrm>
            <a:off x="6096000" y="824754"/>
            <a:ext cx="0" cy="388620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972496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Singly Linked List</a:t>
            </a:r>
            <a:endParaRPr lang="en-US" dirty="0"/>
          </a:p>
        </p:txBody>
      </p:sp>
      <p:sp>
        <p:nvSpPr>
          <p:cNvPr id="3" name="Content Placeholder 2"/>
          <p:cNvSpPr>
            <a:spLocks noGrp="1"/>
          </p:cNvSpPr>
          <p:nvPr>
            <p:ph idx="1"/>
          </p:nvPr>
        </p:nvSpPr>
        <p:spPr>
          <a:xfrm>
            <a:off x="131180" y="2725912"/>
            <a:ext cx="11929641" cy="3740798"/>
          </a:xfrm>
        </p:spPr>
        <p:txBody>
          <a:bodyPr/>
          <a:lstStyle/>
          <a:p>
            <a:r>
              <a:rPr lang="en-IN" dirty="0"/>
              <a:t>It is basic type of linked list. </a:t>
            </a:r>
          </a:p>
          <a:p>
            <a:r>
              <a:rPr lang="en-IN" dirty="0"/>
              <a:t>Each node contains data and pointer to next node.  </a:t>
            </a:r>
          </a:p>
          <a:p>
            <a:r>
              <a:rPr lang="en-IN" dirty="0"/>
              <a:t>Last node’s pointer is null. </a:t>
            </a:r>
          </a:p>
          <a:p>
            <a:r>
              <a:rPr lang="en-IN" dirty="0"/>
              <a:t>First node address is available with pointer variable </a:t>
            </a:r>
            <a:r>
              <a:rPr lang="en-IN" b="1" dirty="0">
                <a:solidFill>
                  <a:srgbClr val="C00000"/>
                </a:solidFill>
              </a:rPr>
              <a:t>FIRST</a:t>
            </a:r>
            <a:r>
              <a:rPr lang="en-IN" dirty="0"/>
              <a:t>.</a:t>
            </a:r>
          </a:p>
          <a:p>
            <a:r>
              <a:rPr lang="en-IN" b="1" dirty="0">
                <a:solidFill>
                  <a:srgbClr val="C00000"/>
                </a:solidFill>
              </a:rPr>
              <a:t>Limitation</a:t>
            </a:r>
            <a:r>
              <a:rPr lang="en-IN" dirty="0">
                <a:solidFill>
                  <a:srgbClr val="C00000"/>
                </a:solidFill>
              </a:rPr>
              <a:t> </a:t>
            </a:r>
            <a:r>
              <a:rPr lang="en-IN" dirty="0"/>
              <a:t>of singly linked list is </a:t>
            </a:r>
            <a:r>
              <a:rPr lang="en-IN" b="1" dirty="0">
                <a:solidFill>
                  <a:srgbClr val="C00000"/>
                </a:solidFill>
              </a:rPr>
              <a:t>we can traverse only in one direction</a:t>
            </a:r>
            <a:r>
              <a:rPr lang="en-IN" dirty="0"/>
              <a:t>, forward direction.</a:t>
            </a:r>
          </a:p>
          <a:p>
            <a:endParaRPr lang="en-US" dirty="0"/>
          </a:p>
        </p:txBody>
      </p:sp>
      <p:grpSp>
        <p:nvGrpSpPr>
          <p:cNvPr id="4" name="Group 3"/>
          <p:cNvGrpSpPr/>
          <p:nvPr/>
        </p:nvGrpSpPr>
        <p:grpSpPr>
          <a:xfrm>
            <a:off x="2133600" y="1141222"/>
            <a:ext cx="1532242" cy="533400"/>
            <a:chOff x="951919" y="5486400"/>
            <a:chExt cx="1532242" cy="533400"/>
          </a:xfrm>
        </p:grpSpPr>
        <p:sp>
          <p:nvSpPr>
            <p:cNvPr id="5" name="Rectangle 4"/>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A</a:t>
              </a:r>
              <a:endParaRPr lang="en-US" sz="2400" b="1" dirty="0"/>
            </a:p>
          </p:txBody>
        </p:sp>
        <p:sp>
          <p:nvSpPr>
            <p:cNvPr id="6" name="Rectangle 5"/>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next</a:t>
              </a:r>
              <a:endParaRPr lang="en-US" sz="2400" b="1" dirty="0"/>
            </a:p>
          </p:txBody>
        </p:sp>
      </p:grpSp>
      <p:grpSp>
        <p:nvGrpSpPr>
          <p:cNvPr id="7" name="Group 6"/>
          <p:cNvGrpSpPr/>
          <p:nvPr/>
        </p:nvGrpSpPr>
        <p:grpSpPr>
          <a:xfrm>
            <a:off x="4069039" y="1141222"/>
            <a:ext cx="1532242" cy="533400"/>
            <a:chOff x="951919" y="5486400"/>
            <a:chExt cx="1532242" cy="533400"/>
          </a:xfrm>
        </p:grpSpPr>
        <p:sp>
          <p:nvSpPr>
            <p:cNvPr id="8" name="Rectangle 7"/>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B</a:t>
              </a:r>
              <a:endParaRPr lang="en-US" sz="2400" b="1" dirty="0"/>
            </a:p>
          </p:txBody>
        </p:sp>
        <p:sp>
          <p:nvSpPr>
            <p:cNvPr id="9" name="Rectangle 8"/>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next</a:t>
              </a:r>
              <a:endParaRPr lang="en-US" sz="2400" b="1" dirty="0"/>
            </a:p>
          </p:txBody>
        </p:sp>
      </p:grpSp>
      <p:grpSp>
        <p:nvGrpSpPr>
          <p:cNvPr id="10" name="Group 9"/>
          <p:cNvGrpSpPr/>
          <p:nvPr/>
        </p:nvGrpSpPr>
        <p:grpSpPr>
          <a:xfrm>
            <a:off x="5974039" y="1141222"/>
            <a:ext cx="1532242" cy="533400"/>
            <a:chOff x="951919" y="5486400"/>
            <a:chExt cx="1532242" cy="533400"/>
          </a:xfrm>
        </p:grpSpPr>
        <p:sp>
          <p:nvSpPr>
            <p:cNvPr id="11" name="Rectangle 10"/>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12" name="Rectangle 11"/>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next</a:t>
              </a:r>
              <a:endParaRPr lang="en-US" sz="2400" b="1" dirty="0"/>
            </a:p>
          </p:txBody>
        </p:sp>
      </p:grpSp>
      <p:grpSp>
        <p:nvGrpSpPr>
          <p:cNvPr id="13" name="Group 12"/>
          <p:cNvGrpSpPr/>
          <p:nvPr/>
        </p:nvGrpSpPr>
        <p:grpSpPr>
          <a:xfrm>
            <a:off x="7879039" y="1141222"/>
            <a:ext cx="1532242" cy="533400"/>
            <a:chOff x="951919" y="5486400"/>
            <a:chExt cx="1532242" cy="533400"/>
          </a:xfrm>
        </p:grpSpPr>
        <p:sp>
          <p:nvSpPr>
            <p:cNvPr id="14" name="Rectangle 13"/>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D</a:t>
              </a:r>
              <a:endParaRPr lang="en-US" sz="2400" b="1" dirty="0"/>
            </a:p>
          </p:txBody>
        </p:sp>
        <p:sp>
          <p:nvSpPr>
            <p:cNvPr id="15" name="Rectangle 14"/>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16" name="Straight Arrow Connector 15"/>
          <p:cNvCxnSpPr>
            <a:stCxn id="6" idx="3"/>
            <a:endCxn id="8" idx="1"/>
          </p:cNvCxnSpPr>
          <p:nvPr/>
        </p:nvCxnSpPr>
        <p:spPr>
          <a:xfrm>
            <a:off x="3665843" y="1407922"/>
            <a:ext cx="403197"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7" name="Straight Arrow Connector 16"/>
          <p:cNvCxnSpPr>
            <a:stCxn id="9" idx="3"/>
            <a:endCxn id="11" idx="1"/>
          </p:cNvCxnSpPr>
          <p:nvPr/>
        </p:nvCxnSpPr>
        <p:spPr>
          <a:xfrm>
            <a:off x="5601281" y="1407922"/>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8" name="Straight Arrow Connector 17"/>
          <p:cNvCxnSpPr>
            <a:stCxn id="12" idx="3"/>
            <a:endCxn id="14" idx="1"/>
          </p:cNvCxnSpPr>
          <p:nvPr/>
        </p:nvCxnSpPr>
        <p:spPr>
          <a:xfrm>
            <a:off x="7506281" y="1407922"/>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9" name="Straight Connector 18"/>
          <p:cNvCxnSpPr/>
          <p:nvPr/>
        </p:nvCxnSpPr>
        <p:spPr>
          <a:xfrm flipH="1">
            <a:off x="8641039" y="1141222"/>
            <a:ext cx="770242"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20" name="TextBox 19"/>
          <p:cNvSpPr txBox="1"/>
          <p:nvPr/>
        </p:nvSpPr>
        <p:spPr>
          <a:xfrm>
            <a:off x="2217322" y="1903222"/>
            <a:ext cx="734496" cy="369332"/>
          </a:xfrm>
          <a:prstGeom prst="rect">
            <a:avLst/>
          </a:prstGeom>
          <a:noFill/>
        </p:spPr>
        <p:txBody>
          <a:bodyPr wrap="none" rtlCol="0">
            <a:spAutoFit/>
          </a:bodyPr>
          <a:lstStyle/>
          <a:p>
            <a:r>
              <a:rPr lang="en-IN" b="1" dirty="0">
                <a:solidFill>
                  <a:srgbClr val="C00000"/>
                </a:solidFill>
              </a:rPr>
              <a:t>FIRST</a:t>
            </a:r>
            <a:endParaRPr lang="en-US" b="1" dirty="0">
              <a:solidFill>
                <a:srgbClr val="C00000"/>
              </a:solidFill>
            </a:endParaRPr>
          </a:p>
        </p:txBody>
      </p:sp>
      <p:cxnSp>
        <p:nvCxnSpPr>
          <p:cNvPr id="21" name="Straight Arrow Connector 20"/>
          <p:cNvCxnSpPr>
            <a:endCxn id="5" idx="2"/>
          </p:cNvCxnSpPr>
          <p:nvPr/>
        </p:nvCxnSpPr>
        <p:spPr>
          <a:xfrm flipV="1">
            <a:off x="2514600" y="1674622"/>
            <a:ext cx="0" cy="304800"/>
          </a:xfrm>
          <a:prstGeom prst="straightConnector1">
            <a:avLst/>
          </a:prstGeom>
          <a:ln w="28575">
            <a:solidFill>
              <a:srgbClr val="B84742"/>
            </a:solidFill>
            <a:tailEnd type="arrow"/>
          </a:ln>
        </p:spPr>
        <p:style>
          <a:lnRef idx="2">
            <a:schemeClr val="dk1"/>
          </a:lnRef>
          <a:fillRef idx="0">
            <a:schemeClr val="dk1"/>
          </a:fillRef>
          <a:effectRef idx="1">
            <a:schemeClr val="dk1"/>
          </a:effectRef>
          <a:fontRef idx="minor">
            <a:schemeClr val="tx1"/>
          </a:fontRef>
        </p:style>
      </p:cxnSp>
      <p:cxnSp>
        <p:nvCxnSpPr>
          <p:cNvPr id="22" name="Straight Arrow Connector 21"/>
          <p:cNvCxnSpPr>
            <a:endCxn id="15" idx="2"/>
          </p:cNvCxnSpPr>
          <p:nvPr/>
        </p:nvCxnSpPr>
        <p:spPr>
          <a:xfrm flipV="1">
            <a:off x="9030281" y="1674622"/>
            <a:ext cx="0" cy="3048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3" name="Straight Connector 22"/>
          <p:cNvCxnSpPr/>
          <p:nvPr/>
        </p:nvCxnSpPr>
        <p:spPr>
          <a:xfrm>
            <a:off x="9030281" y="1979422"/>
            <a:ext cx="381000"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24" name="TextBox 23"/>
          <p:cNvSpPr txBox="1"/>
          <p:nvPr/>
        </p:nvSpPr>
        <p:spPr>
          <a:xfrm>
            <a:off x="9474702" y="1762490"/>
            <a:ext cx="736099" cy="369332"/>
          </a:xfrm>
          <a:prstGeom prst="rect">
            <a:avLst/>
          </a:prstGeom>
          <a:noFill/>
        </p:spPr>
        <p:txBody>
          <a:bodyPr wrap="none" rtlCol="0">
            <a:spAutoFit/>
          </a:bodyPr>
          <a:lstStyle/>
          <a:p>
            <a:r>
              <a:rPr lang="en-IN" b="1" dirty="0">
                <a:solidFill>
                  <a:srgbClr val="C00000"/>
                </a:solidFill>
              </a:rPr>
              <a:t>NULL </a:t>
            </a:r>
            <a:endParaRPr lang="en-US" b="1" dirty="0">
              <a:solidFill>
                <a:srgbClr val="C00000"/>
              </a:solidFill>
            </a:endParaRPr>
          </a:p>
        </p:txBody>
      </p:sp>
    </p:spTree>
    <p:extLst>
      <p:ext uri="{BB962C8B-B14F-4D97-AF65-F5344CB8AC3E}">
        <p14:creationId xmlns:p14="http://schemas.microsoft.com/office/powerpoint/2010/main" val="429063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0" grpId="0"/>
      <p:bldP spid="2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Node Structure of Singly List</a:t>
            </a:r>
            <a:endParaRPr lang="en-US" dirty="0"/>
          </a:p>
        </p:txBody>
      </p:sp>
      <p:sp>
        <p:nvSpPr>
          <p:cNvPr id="20" name="Rectangle 19"/>
          <p:cNvSpPr/>
          <p:nvPr/>
        </p:nvSpPr>
        <p:spPr>
          <a:xfrm>
            <a:off x="4425479" y="1502381"/>
            <a:ext cx="5181600" cy="268168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5597811" y="1750015"/>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Info</a:t>
            </a:r>
            <a:endParaRPr lang="en-US" sz="2400" b="1" dirty="0"/>
          </a:p>
        </p:txBody>
      </p:sp>
      <p:sp>
        <p:nvSpPr>
          <p:cNvPr id="22" name="Rectangle 21"/>
          <p:cNvSpPr/>
          <p:nvPr/>
        </p:nvSpPr>
        <p:spPr>
          <a:xfrm>
            <a:off x="6368053" y="1750015"/>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Link</a:t>
            </a:r>
            <a:endParaRPr lang="en-US" sz="2400" b="1" dirty="0"/>
          </a:p>
        </p:txBody>
      </p:sp>
      <p:sp>
        <p:nvSpPr>
          <p:cNvPr id="23" name="TextBox 22"/>
          <p:cNvSpPr txBox="1"/>
          <p:nvPr/>
        </p:nvSpPr>
        <p:spPr>
          <a:xfrm>
            <a:off x="5583297" y="2969216"/>
            <a:ext cx="740908" cy="461665"/>
          </a:xfrm>
          <a:prstGeom prst="rect">
            <a:avLst/>
          </a:prstGeom>
          <a:noFill/>
        </p:spPr>
        <p:txBody>
          <a:bodyPr wrap="none" rtlCol="0">
            <a:spAutoFit/>
          </a:bodyPr>
          <a:lstStyle/>
          <a:p>
            <a:r>
              <a:rPr lang="en-IN" sz="2400" b="1" dirty="0"/>
              <a:t>Data</a:t>
            </a:r>
            <a:endParaRPr lang="en-US" sz="2400" b="1" dirty="0"/>
          </a:p>
        </p:txBody>
      </p:sp>
      <p:sp>
        <p:nvSpPr>
          <p:cNvPr id="24" name="TextBox 23"/>
          <p:cNvSpPr txBox="1"/>
          <p:nvPr/>
        </p:nvSpPr>
        <p:spPr>
          <a:xfrm>
            <a:off x="6534913" y="2983733"/>
            <a:ext cx="1476686" cy="830997"/>
          </a:xfrm>
          <a:prstGeom prst="rect">
            <a:avLst/>
          </a:prstGeom>
          <a:noFill/>
        </p:spPr>
        <p:txBody>
          <a:bodyPr wrap="none" rtlCol="0">
            <a:spAutoFit/>
          </a:bodyPr>
          <a:lstStyle/>
          <a:p>
            <a:r>
              <a:rPr lang="en-IN" sz="2400" b="1" dirty="0"/>
              <a:t>Pointer to </a:t>
            </a:r>
            <a:br>
              <a:rPr lang="en-IN" sz="2400" b="1" dirty="0"/>
            </a:br>
            <a:r>
              <a:rPr lang="en-IN" sz="2400" b="1" dirty="0"/>
              <a:t>Next Node</a:t>
            </a:r>
            <a:endParaRPr lang="en-US" sz="2400" b="1" dirty="0"/>
          </a:p>
        </p:txBody>
      </p:sp>
      <p:cxnSp>
        <p:nvCxnSpPr>
          <p:cNvPr id="25" name="Straight Arrow Connector 24"/>
          <p:cNvCxnSpPr>
            <a:stCxn id="23" idx="0"/>
            <a:endCxn id="21" idx="2"/>
          </p:cNvCxnSpPr>
          <p:nvPr/>
        </p:nvCxnSpPr>
        <p:spPr>
          <a:xfrm flipV="1">
            <a:off x="5953751" y="2283415"/>
            <a:ext cx="25060" cy="6858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6" name="Straight Arrow Connector 25"/>
          <p:cNvCxnSpPr/>
          <p:nvPr/>
        </p:nvCxnSpPr>
        <p:spPr>
          <a:xfrm flipV="1">
            <a:off x="6749053" y="2283416"/>
            <a:ext cx="0" cy="70031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7" name="Left Brace 26"/>
          <p:cNvSpPr/>
          <p:nvPr/>
        </p:nvSpPr>
        <p:spPr>
          <a:xfrm>
            <a:off x="5105523" y="1672981"/>
            <a:ext cx="457200" cy="1909465"/>
          </a:xfrm>
          <a:prstGeom prst="leftBrace">
            <a:avLst/>
          </a:prstGeom>
          <a:ln w="28575">
            <a:solidFill>
              <a:srgbClr val="B84742"/>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28" name="TextBox 27"/>
          <p:cNvSpPr txBox="1"/>
          <p:nvPr/>
        </p:nvSpPr>
        <p:spPr>
          <a:xfrm>
            <a:off x="4577879" y="2284757"/>
            <a:ext cx="553998" cy="735138"/>
          </a:xfrm>
          <a:prstGeom prst="rect">
            <a:avLst/>
          </a:prstGeom>
          <a:noFill/>
        </p:spPr>
        <p:txBody>
          <a:bodyPr vert="vert270" wrap="none" rtlCol="0">
            <a:spAutoFit/>
          </a:bodyPr>
          <a:lstStyle/>
          <a:p>
            <a:r>
              <a:rPr lang="en-IN" sz="2400" b="1" dirty="0"/>
              <a:t>Node</a:t>
            </a:r>
            <a:endParaRPr lang="en-US" sz="2400" b="1" dirty="0"/>
          </a:p>
        </p:txBody>
      </p:sp>
      <p:cxnSp>
        <p:nvCxnSpPr>
          <p:cNvPr id="29" name="Straight Arrow Connector 28"/>
          <p:cNvCxnSpPr>
            <a:stCxn id="22" idx="3"/>
          </p:cNvCxnSpPr>
          <p:nvPr/>
        </p:nvCxnSpPr>
        <p:spPr>
          <a:xfrm>
            <a:off x="7130053" y="2016715"/>
            <a:ext cx="49007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43" name="TextBox 42"/>
          <p:cNvSpPr txBox="1"/>
          <p:nvPr/>
        </p:nvSpPr>
        <p:spPr>
          <a:xfrm>
            <a:off x="973115" y="2388953"/>
            <a:ext cx="2799434" cy="630942"/>
          </a:xfrm>
          <a:prstGeom prst="rect">
            <a:avLst/>
          </a:prstGeom>
          <a:noFill/>
        </p:spPr>
        <p:txBody>
          <a:bodyPr wrap="square" rtlCol="0">
            <a:spAutoFit/>
          </a:bodyPr>
          <a:lstStyle/>
          <a:p>
            <a:pPr algn="ctr"/>
            <a:r>
              <a:rPr lang="en-IN" sz="3500" b="1" dirty="0"/>
              <a:t>Typical Node</a:t>
            </a:r>
          </a:p>
        </p:txBody>
      </p:sp>
      <p:sp>
        <p:nvSpPr>
          <p:cNvPr id="3" name="TextBox 2"/>
          <p:cNvSpPr txBox="1"/>
          <p:nvPr/>
        </p:nvSpPr>
        <p:spPr>
          <a:xfrm>
            <a:off x="7988366" y="2128173"/>
            <a:ext cx="1633782" cy="1200329"/>
          </a:xfrm>
          <a:prstGeom prst="rect">
            <a:avLst/>
          </a:prstGeom>
          <a:noFill/>
        </p:spPr>
        <p:txBody>
          <a:bodyPr wrap="none" rtlCol="0">
            <a:spAutoFit/>
          </a:bodyPr>
          <a:lstStyle/>
          <a:p>
            <a:pPr algn="ctr"/>
            <a:r>
              <a:rPr lang="en-IN" b="1" dirty="0"/>
              <a:t>Accessing Part </a:t>
            </a:r>
          </a:p>
          <a:p>
            <a:pPr algn="ctr"/>
            <a:r>
              <a:rPr lang="en-IN" b="1" dirty="0"/>
              <a:t>of Node</a:t>
            </a:r>
          </a:p>
          <a:p>
            <a:pPr algn="ctr"/>
            <a:r>
              <a:rPr lang="en-IN" b="1" dirty="0">
                <a:solidFill>
                  <a:srgbClr val="B84742"/>
                </a:solidFill>
              </a:rPr>
              <a:t>Info (Node) </a:t>
            </a:r>
          </a:p>
          <a:p>
            <a:pPr algn="ctr"/>
            <a:r>
              <a:rPr lang="en-IN" b="1" dirty="0">
                <a:solidFill>
                  <a:srgbClr val="B84742"/>
                </a:solidFill>
              </a:rPr>
              <a:t>Link (Node)</a:t>
            </a:r>
            <a:endParaRPr lang="en-US" b="1" dirty="0">
              <a:solidFill>
                <a:srgbClr val="B84742"/>
              </a:solidFill>
            </a:endParaRPr>
          </a:p>
        </p:txBody>
      </p:sp>
      <p:grpSp>
        <p:nvGrpSpPr>
          <p:cNvPr id="18" name="Group 17"/>
          <p:cNvGrpSpPr/>
          <p:nvPr/>
        </p:nvGrpSpPr>
        <p:grpSpPr>
          <a:xfrm>
            <a:off x="1258833" y="5241940"/>
            <a:ext cx="1532242" cy="533400"/>
            <a:chOff x="951919" y="5486400"/>
            <a:chExt cx="1532242" cy="533400"/>
          </a:xfrm>
        </p:grpSpPr>
        <p:sp>
          <p:nvSpPr>
            <p:cNvPr id="31" name="Rectangle 30"/>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A</a:t>
              </a:r>
              <a:endParaRPr lang="en-US" sz="2400" b="1" dirty="0"/>
            </a:p>
          </p:txBody>
        </p:sp>
        <p:sp>
          <p:nvSpPr>
            <p:cNvPr id="32" name="Rectangle 31"/>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33" name="Group 32"/>
          <p:cNvGrpSpPr/>
          <p:nvPr/>
        </p:nvGrpSpPr>
        <p:grpSpPr>
          <a:xfrm>
            <a:off x="3194272" y="5241940"/>
            <a:ext cx="1532242" cy="533400"/>
            <a:chOff x="951919" y="5486400"/>
            <a:chExt cx="1532242" cy="533400"/>
          </a:xfrm>
        </p:grpSpPr>
        <p:sp>
          <p:nvSpPr>
            <p:cNvPr id="34" name="Rectangle 33"/>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B</a:t>
              </a:r>
              <a:endParaRPr lang="en-US" sz="2400" b="1" dirty="0"/>
            </a:p>
          </p:txBody>
        </p:sp>
        <p:sp>
          <p:nvSpPr>
            <p:cNvPr id="35" name="Rectangle 34"/>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36" name="Group 35"/>
          <p:cNvGrpSpPr/>
          <p:nvPr/>
        </p:nvGrpSpPr>
        <p:grpSpPr>
          <a:xfrm>
            <a:off x="5099272" y="5241940"/>
            <a:ext cx="1532242" cy="533400"/>
            <a:chOff x="951919" y="5486400"/>
            <a:chExt cx="1532242" cy="533400"/>
          </a:xfrm>
        </p:grpSpPr>
        <p:sp>
          <p:nvSpPr>
            <p:cNvPr id="37" name="Rectangle 36"/>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38" name="Rectangle 37"/>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39" name="Group 38"/>
          <p:cNvGrpSpPr/>
          <p:nvPr/>
        </p:nvGrpSpPr>
        <p:grpSpPr>
          <a:xfrm>
            <a:off x="7004272" y="5241940"/>
            <a:ext cx="1532242" cy="533400"/>
            <a:chOff x="951919" y="5486400"/>
            <a:chExt cx="1532242" cy="533400"/>
          </a:xfrm>
        </p:grpSpPr>
        <p:sp>
          <p:nvSpPr>
            <p:cNvPr id="40" name="Rectangle 39"/>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D</a:t>
              </a:r>
              <a:endParaRPr lang="en-US" sz="2400" b="1" dirty="0"/>
            </a:p>
          </p:txBody>
        </p:sp>
        <p:sp>
          <p:nvSpPr>
            <p:cNvPr id="41" name="Rectangle 40"/>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42" name="Straight Arrow Connector 41"/>
          <p:cNvCxnSpPr>
            <a:stCxn id="32" idx="3"/>
            <a:endCxn id="34" idx="1"/>
          </p:cNvCxnSpPr>
          <p:nvPr/>
        </p:nvCxnSpPr>
        <p:spPr>
          <a:xfrm>
            <a:off x="2791076" y="5508640"/>
            <a:ext cx="403197"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5" name="Straight Arrow Connector 44"/>
          <p:cNvCxnSpPr>
            <a:stCxn id="35" idx="3"/>
            <a:endCxn id="37" idx="1"/>
          </p:cNvCxnSpPr>
          <p:nvPr/>
        </p:nvCxnSpPr>
        <p:spPr>
          <a:xfrm>
            <a:off x="4726514" y="5508640"/>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6" name="Straight Arrow Connector 45"/>
          <p:cNvCxnSpPr>
            <a:stCxn id="38" idx="3"/>
            <a:endCxn id="40" idx="1"/>
          </p:cNvCxnSpPr>
          <p:nvPr/>
        </p:nvCxnSpPr>
        <p:spPr>
          <a:xfrm>
            <a:off x="6631514" y="5508640"/>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7" name="Straight Connector 46"/>
          <p:cNvCxnSpPr/>
          <p:nvPr/>
        </p:nvCxnSpPr>
        <p:spPr>
          <a:xfrm flipH="1">
            <a:off x="7766272" y="5241940"/>
            <a:ext cx="770242"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48" name="TextBox 47"/>
          <p:cNvSpPr txBox="1"/>
          <p:nvPr/>
        </p:nvSpPr>
        <p:spPr>
          <a:xfrm>
            <a:off x="3652641" y="5756047"/>
            <a:ext cx="652743" cy="369332"/>
          </a:xfrm>
          <a:prstGeom prst="rect">
            <a:avLst/>
          </a:prstGeom>
          <a:noFill/>
        </p:spPr>
        <p:txBody>
          <a:bodyPr wrap="none" rtlCol="0">
            <a:spAutoFit/>
          </a:bodyPr>
          <a:lstStyle/>
          <a:p>
            <a:r>
              <a:rPr lang="en-IN" b="1" dirty="0">
                <a:solidFill>
                  <a:srgbClr val="C00000"/>
                </a:solidFill>
              </a:rPr>
              <a:t>1000</a:t>
            </a:r>
            <a:endParaRPr lang="en-US" b="1" dirty="0">
              <a:solidFill>
                <a:srgbClr val="C00000"/>
              </a:solidFill>
            </a:endParaRPr>
          </a:p>
        </p:txBody>
      </p:sp>
      <p:sp>
        <p:nvSpPr>
          <p:cNvPr id="49" name="TextBox 48"/>
          <p:cNvSpPr txBox="1"/>
          <p:nvPr/>
        </p:nvSpPr>
        <p:spPr>
          <a:xfrm>
            <a:off x="5559256" y="5769298"/>
            <a:ext cx="652743" cy="369332"/>
          </a:xfrm>
          <a:prstGeom prst="rect">
            <a:avLst/>
          </a:prstGeom>
          <a:noFill/>
        </p:spPr>
        <p:txBody>
          <a:bodyPr wrap="none" rtlCol="0">
            <a:spAutoFit/>
          </a:bodyPr>
          <a:lstStyle/>
          <a:p>
            <a:r>
              <a:rPr lang="en-IN" b="1" dirty="0">
                <a:solidFill>
                  <a:srgbClr val="C00000"/>
                </a:solidFill>
              </a:rPr>
              <a:t>2050</a:t>
            </a:r>
            <a:endParaRPr lang="en-US" b="1" dirty="0">
              <a:solidFill>
                <a:srgbClr val="C00000"/>
              </a:solidFill>
            </a:endParaRPr>
          </a:p>
        </p:txBody>
      </p:sp>
      <p:sp>
        <p:nvSpPr>
          <p:cNvPr id="50" name="TextBox 49"/>
          <p:cNvSpPr txBox="1"/>
          <p:nvPr/>
        </p:nvSpPr>
        <p:spPr>
          <a:xfrm>
            <a:off x="7487374" y="5769298"/>
            <a:ext cx="652743" cy="369332"/>
          </a:xfrm>
          <a:prstGeom prst="rect">
            <a:avLst/>
          </a:prstGeom>
          <a:noFill/>
        </p:spPr>
        <p:txBody>
          <a:bodyPr wrap="none" rtlCol="0">
            <a:spAutoFit/>
          </a:bodyPr>
          <a:lstStyle/>
          <a:p>
            <a:r>
              <a:rPr lang="en-IN" b="1" dirty="0">
                <a:solidFill>
                  <a:srgbClr val="C00000"/>
                </a:solidFill>
              </a:rPr>
              <a:t>3335</a:t>
            </a:r>
            <a:endParaRPr lang="en-US" b="1" dirty="0">
              <a:solidFill>
                <a:srgbClr val="C00000"/>
              </a:solidFill>
            </a:endParaRPr>
          </a:p>
        </p:txBody>
      </p:sp>
      <p:sp>
        <p:nvSpPr>
          <p:cNvPr id="51" name="TextBox 50"/>
          <p:cNvSpPr txBox="1"/>
          <p:nvPr/>
        </p:nvSpPr>
        <p:spPr>
          <a:xfrm>
            <a:off x="1722751" y="5767715"/>
            <a:ext cx="652743" cy="369332"/>
          </a:xfrm>
          <a:prstGeom prst="rect">
            <a:avLst/>
          </a:prstGeom>
          <a:noFill/>
        </p:spPr>
        <p:txBody>
          <a:bodyPr wrap="none" rtlCol="0">
            <a:spAutoFit/>
          </a:bodyPr>
          <a:lstStyle/>
          <a:p>
            <a:r>
              <a:rPr lang="en-IN" b="1" dirty="0">
                <a:solidFill>
                  <a:srgbClr val="C00000"/>
                </a:solidFill>
              </a:rPr>
              <a:t>5000</a:t>
            </a:r>
            <a:endParaRPr lang="en-US" b="1" dirty="0">
              <a:solidFill>
                <a:srgbClr val="C00000"/>
              </a:solidFill>
            </a:endParaRPr>
          </a:p>
        </p:txBody>
      </p:sp>
      <p:sp>
        <p:nvSpPr>
          <p:cNvPr id="52" name="TextBox 51"/>
          <p:cNvSpPr txBox="1"/>
          <p:nvPr/>
        </p:nvSpPr>
        <p:spPr>
          <a:xfrm>
            <a:off x="2092572" y="5329808"/>
            <a:ext cx="652743" cy="369332"/>
          </a:xfrm>
          <a:prstGeom prst="rect">
            <a:avLst/>
          </a:prstGeom>
          <a:noFill/>
        </p:spPr>
        <p:txBody>
          <a:bodyPr wrap="none" rtlCol="0">
            <a:spAutoFit/>
          </a:bodyPr>
          <a:lstStyle/>
          <a:p>
            <a:r>
              <a:rPr lang="en-IN" b="1" dirty="0">
                <a:solidFill>
                  <a:srgbClr val="FFFF00"/>
                </a:solidFill>
              </a:rPr>
              <a:t>1000</a:t>
            </a:r>
            <a:endParaRPr lang="en-US" b="1" dirty="0">
              <a:solidFill>
                <a:srgbClr val="FFFF00"/>
              </a:solidFill>
            </a:endParaRPr>
          </a:p>
        </p:txBody>
      </p:sp>
      <p:sp>
        <p:nvSpPr>
          <p:cNvPr id="53" name="TextBox 52"/>
          <p:cNvSpPr txBox="1"/>
          <p:nvPr/>
        </p:nvSpPr>
        <p:spPr>
          <a:xfrm>
            <a:off x="4017450" y="5318140"/>
            <a:ext cx="652743" cy="369332"/>
          </a:xfrm>
          <a:prstGeom prst="rect">
            <a:avLst/>
          </a:prstGeom>
          <a:noFill/>
        </p:spPr>
        <p:txBody>
          <a:bodyPr wrap="none" rtlCol="0">
            <a:spAutoFit/>
          </a:bodyPr>
          <a:lstStyle/>
          <a:p>
            <a:r>
              <a:rPr lang="en-IN" b="1" dirty="0">
                <a:solidFill>
                  <a:srgbClr val="FFFF00"/>
                </a:solidFill>
              </a:rPr>
              <a:t>2050</a:t>
            </a:r>
            <a:endParaRPr lang="en-US" b="1" dirty="0">
              <a:solidFill>
                <a:srgbClr val="FFFF00"/>
              </a:solidFill>
            </a:endParaRPr>
          </a:p>
        </p:txBody>
      </p:sp>
      <p:sp>
        <p:nvSpPr>
          <p:cNvPr id="54" name="TextBox 53"/>
          <p:cNvSpPr txBox="1"/>
          <p:nvPr/>
        </p:nvSpPr>
        <p:spPr>
          <a:xfrm>
            <a:off x="5929077" y="5318140"/>
            <a:ext cx="652743" cy="369332"/>
          </a:xfrm>
          <a:prstGeom prst="rect">
            <a:avLst/>
          </a:prstGeom>
          <a:noFill/>
        </p:spPr>
        <p:txBody>
          <a:bodyPr wrap="none" rtlCol="0">
            <a:spAutoFit/>
          </a:bodyPr>
          <a:lstStyle/>
          <a:p>
            <a:r>
              <a:rPr lang="en-IN" b="1" dirty="0">
                <a:solidFill>
                  <a:srgbClr val="FFFF00"/>
                </a:solidFill>
              </a:rPr>
              <a:t>3335</a:t>
            </a:r>
            <a:endParaRPr lang="en-US" b="1" dirty="0">
              <a:solidFill>
                <a:srgbClr val="FFFF00"/>
              </a:solidFill>
            </a:endParaRPr>
          </a:p>
        </p:txBody>
      </p:sp>
      <p:cxnSp>
        <p:nvCxnSpPr>
          <p:cNvPr id="55" name="Straight Arrow Connector 54"/>
          <p:cNvCxnSpPr>
            <a:endCxn id="41" idx="0"/>
          </p:cNvCxnSpPr>
          <p:nvPr/>
        </p:nvCxnSpPr>
        <p:spPr>
          <a:xfrm>
            <a:off x="8155514" y="5013340"/>
            <a:ext cx="0" cy="2286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56" name="Straight Connector 55"/>
          <p:cNvCxnSpPr/>
          <p:nvPr/>
        </p:nvCxnSpPr>
        <p:spPr>
          <a:xfrm>
            <a:off x="8155514" y="5013340"/>
            <a:ext cx="381000"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57" name="TextBox 56"/>
          <p:cNvSpPr txBox="1"/>
          <p:nvPr/>
        </p:nvSpPr>
        <p:spPr>
          <a:xfrm>
            <a:off x="8543067" y="4704942"/>
            <a:ext cx="736099" cy="646331"/>
          </a:xfrm>
          <a:prstGeom prst="rect">
            <a:avLst/>
          </a:prstGeom>
          <a:noFill/>
        </p:spPr>
        <p:txBody>
          <a:bodyPr wrap="none" rtlCol="0">
            <a:spAutoFit/>
          </a:bodyPr>
          <a:lstStyle/>
          <a:p>
            <a:r>
              <a:rPr lang="en-IN" b="1" dirty="0">
                <a:solidFill>
                  <a:srgbClr val="C00000"/>
                </a:solidFill>
              </a:rPr>
              <a:t>NULL </a:t>
            </a:r>
            <a:br>
              <a:rPr lang="en-IN" b="1" dirty="0">
                <a:solidFill>
                  <a:srgbClr val="C00000"/>
                </a:solidFill>
              </a:rPr>
            </a:br>
            <a:r>
              <a:rPr lang="en-IN" b="1" dirty="0">
                <a:solidFill>
                  <a:srgbClr val="C00000"/>
                </a:solidFill>
              </a:rPr>
              <a:t>Value</a:t>
            </a:r>
            <a:endParaRPr lang="en-US" b="1" dirty="0">
              <a:solidFill>
                <a:srgbClr val="C00000"/>
              </a:solidFill>
            </a:endParaRPr>
          </a:p>
        </p:txBody>
      </p:sp>
      <p:sp>
        <p:nvSpPr>
          <p:cNvPr id="58" name="TextBox 57"/>
          <p:cNvSpPr txBox="1"/>
          <p:nvPr/>
        </p:nvSpPr>
        <p:spPr>
          <a:xfrm>
            <a:off x="7016279" y="4870115"/>
            <a:ext cx="1132682" cy="369332"/>
          </a:xfrm>
          <a:prstGeom prst="rect">
            <a:avLst/>
          </a:prstGeom>
          <a:noFill/>
        </p:spPr>
        <p:txBody>
          <a:bodyPr wrap="none" rtlCol="0">
            <a:spAutoFit/>
          </a:bodyPr>
          <a:lstStyle/>
          <a:p>
            <a:r>
              <a:rPr lang="en-IN" b="1" dirty="0"/>
              <a:t>Last Node</a:t>
            </a:r>
            <a:endParaRPr lang="en-US" b="1" dirty="0"/>
          </a:p>
        </p:txBody>
      </p:sp>
    </p:spTree>
    <p:extLst>
      <p:ext uri="{BB962C8B-B14F-4D97-AF65-F5344CB8AC3E}">
        <p14:creationId xmlns:p14="http://schemas.microsoft.com/office/powerpoint/2010/main" val="2289934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p:bldP spid="24" grpId="0"/>
      <p:bldP spid="27" grpId="0" animBg="1"/>
      <p:bldP spid="28" grpId="0"/>
      <p:bldP spid="43" grpId="0"/>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Node Structure of Singly List</a:t>
            </a:r>
            <a:endParaRPr lang="en-US" dirty="0"/>
          </a:p>
        </p:txBody>
      </p:sp>
      <p:grpSp>
        <p:nvGrpSpPr>
          <p:cNvPr id="8" name="Group 7"/>
          <p:cNvGrpSpPr/>
          <p:nvPr/>
        </p:nvGrpSpPr>
        <p:grpSpPr>
          <a:xfrm>
            <a:off x="303346" y="893246"/>
            <a:ext cx="5000174" cy="1821766"/>
            <a:chOff x="8409307" y="102828"/>
            <a:chExt cx="5000174" cy="1821766"/>
          </a:xfrm>
        </p:grpSpPr>
        <p:sp>
          <p:nvSpPr>
            <p:cNvPr id="20" name="Rectangle 19"/>
            <p:cNvSpPr/>
            <p:nvPr/>
          </p:nvSpPr>
          <p:spPr>
            <a:xfrm>
              <a:off x="8409307" y="102828"/>
              <a:ext cx="5000174" cy="1821766"/>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10095453" y="350462"/>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Info</a:t>
              </a:r>
              <a:endParaRPr lang="en-US" sz="2400" b="1" dirty="0"/>
            </a:p>
          </p:txBody>
        </p:sp>
        <p:sp>
          <p:nvSpPr>
            <p:cNvPr id="22" name="Rectangle 21"/>
            <p:cNvSpPr/>
            <p:nvPr/>
          </p:nvSpPr>
          <p:spPr>
            <a:xfrm>
              <a:off x="10865695" y="350462"/>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Link</a:t>
              </a:r>
              <a:endParaRPr lang="en-US" sz="2400" b="1" dirty="0"/>
            </a:p>
          </p:txBody>
        </p:sp>
        <p:sp>
          <p:nvSpPr>
            <p:cNvPr id="23" name="TextBox 22"/>
            <p:cNvSpPr txBox="1"/>
            <p:nvPr/>
          </p:nvSpPr>
          <p:spPr>
            <a:xfrm>
              <a:off x="10080939" y="1140403"/>
              <a:ext cx="647934" cy="400110"/>
            </a:xfrm>
            <a:prstGeom prst="rect">
              <a:avLst/>
            </a:prstGeom>
            <a:noFill/>
          </p:spPr>
          <p:txBody>
            <a:bodyPr wrap="none" rtlCol="0">
              <a:spAutoFit/>
            </a:bodyPr>
            <a:lstStyle/>
            <a:p>
              <a:r>
                <a:rPr lang="en-IN" sz="2000" b="1" dirty="0"/>
                <a:t>Data</a:t>
              </a:r>
              <a:endParaRPr lang="en-US" sz="2000" b="1" dirty="0"/>
            </a:p>
          </p:txBody>
        </p:sp>
        <p:sp>
          <p:nvSpPr>
            <p:cNvPr id="24" name="TextBox 23"/>
            <p:cNvSpPr txBox="1"/>
            <p:nvPr/>
          </p:nvSpPr>
          <p:spPr>
            <a:xfrm>
              <a:off x="11032555" y="1154920"/>
              <a:ext cx="1261884" cy="707886"/>
            </a:xfrm>
            <a:prstGeom prst="rect">
              <a:avLst/>
            </a:prstGeom>
            <a:noFill/>
          </p:spPr>
          <p:txBody>
            <a:bodyPr wrap="none" rtlCol="0">
              <a:spAutoFit/>
            </a:bodyPr>
            <a:lstStyle/>
            <a:p>
              <a:r>
                <a:rPr lang="en-IN" sz="2000" b="1" dirty="0"/>
                <a:t>Pointer to </a:t>
              </a:r>
              <a:br>
                <a:rPr lang="en-IN" sz="2000" b="1" dirty="0"/>
              </a:br>
              <a:r>
                <a:rPr lang="en-IN" sz="2000" b="1" dirty="0"/>
                <a:t>Next Node</a:t>
              </a:r>
              <a:endParaRPr lang="en-US" sz="2000" b="1" dirty="0"/>
            </a:p>
          </p:txBody>
        </p:sp>
        <p:cxnSp>
          <p:nvCxnSpPr>
            <p:cNvPr id="25" name="Straight Arrow Connector 24"/>
            <p:cNvCxnSpPr>
              <a:endCxn id="21" idx="2"/>
            </p:cNvCxnSpPr>
            <p:nvPr/>
          </p:nvCxnSpPr>
          <p:spPr>
            <a:xfrm flipV="1">
              <a:off x="10464445" y="883862"/>
              <a:ext cx="12008" cy="32861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6" name="Straight Arrow Connector 25"/>
            <p:cNvCxnSpPr/>
            <p:nvPr/>
          </p:nvCxnSpPr>
          <p:spPr>
            <a:xfrm flipV="1">
              <a:off x="11246695" y="883864"/>
              <a:ext cx="0" cy="32752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7" name="Left Brace 26"/>
            <p:cNvSpPr/>
            <p:nvPr/>
          </p:nvSpPr>
          <p:spPr>
            <a:xfrm>
              <a:off x="9603166" y="273428"/>
              <a:ext cx="358158" cy="1495823"/>
            </a:xfrm>
            <a:prstGeom prst="leftBrace">
              <a:avLst/>
            </a:prstGeom>
            <a:ln w="28575">
              <a:solidFill>
                <a:srgbClr val="B84742"/>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28" name="TextBox 27"/>
            <p:cNvSpPr txBox="1"/>
            <p:nvPr/>
          </p:nvSpPr>
          <p:spPr>
            <a:xfrm>
              <a:off x="9066813" y="615233"/>
              <a:ext cx="553998" cy="735138"/>
            </a:xfrm>
            <a:prstGeom prst="rect">
              <a:avLst/>
            </a:prstGeom>
            <a:noFill/>
          </p:spPr>
          <p:txBody>
            <a:bodyPr vert="vert270" wrap="none" rtlCol="0">
              <a:spAutoFit/>
            </a:bodyPr>
            <a:lstStyle/>
            <a:p>
              <a:r>
                <a:rPr lang="en-IN" sz="2400" b="1" dirty="0"/>
                <a:t>Node</a:t>
              </a:r>
              <a:endParaRPr lang="en-US" sz="2400" b="1" dirty="0"/>
            </a:p>
          </p:txBody>
        </p:sp>
        <p:cxnSp>
          <p:nvCxnSpPr>
            <p:cNvPr id="29" name="Straight Arrow Connector 28"/>
            <p:cNvCxnSpPr>
              <a:stCxn id="22" idx="3"/>
            </p:cNvCxnSpPr>
            <p:nvPr/>
          </p:nvCxnSpPr>
          <p:spPr>
            <a:xfrm>
              <a:off x="11627695" y="617162"/>
              <a:ext cx="49007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9" name="Group 8"/>
          <p:cNvGrpSpPr/>
          <p:nvPr/>
        </p:nvGrpSpPr>
        <p:grpSpPr>
          <a:xfrm>
            <a:off x="303346" y="2897058"/>
            <a:ext cx="5000174" cy="2693131"/>
            <a:chOff x="4084321" y="3631469"/>
            <a:chExt cx="5000174" cy="2693131"/>
          </a:xfrm>
        </p:grpSpPr>
        <p:sp>
          <p:nvSpPr>
            <p:cNvPr id="19" name="Rectangle 18"/>
            <p:cNvSpPr/>
            <p:nvPr/>
          </p:nvSpPr>
          <p:spPr>
            <a:xfrm>
              <a:off x="4084321" y="3631469"/>
              <a:ext cx="5000174" cy="2693131"/>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4303280" y="3841447"/>
              <a:ext cx="4464139" cy="1938992"/>
            </a:xfrm>
            <a:prstGeom prst="rect">
              <a:avLst/>
            </a:prstGeom>
            <a:noFill/>
          </p:spPr>
          <p:txBody>
            <a:bodyPr wrap="square" rtlCol="0">
              <a:spAutoFit/>
            </a:bodyPr>
            <a:lstStyle/>
            <a:p>
              <a:r>
                <a:rPr lang="en-US" sz="2400" b="1" dirty="0" err="1">
                  <a:solidFill>
                    <a:schemeClr val="tx2"/>
                  </a:solidFill>
                  <a:latin typeface="Consolas" pitchFamily="49" charset="0"/>
                  <a:cs typeface="Consolas" pitchFamily="49" charset="0"/>
                </a:rPr>
                <a:t>struct</a:t>
              </a:r>
              <a:r>
                <a:rPr lang="en-US" sz="2400" b="1" dirty="0">
                  <a:solidFill>
                    <a:schemeClr val="tx2"/>
                  </a:solidFill>
                  <a:latin typeface="Consolas" pitchFamily="49" charset="0"/>
                  <a:cs typeface="Consolas" pitchFamily="49" charset="0"/>
                </a:rPr>
                <a:t> </a:t>
              </a:r>
              <a:r>
                <a:rPr lang="en-US" sz="2400" b="1" dirty="0">
                  <a:solidFill>
                    <a:schemeClr val="accent6"/>
                  </a:solidFill>
                  <a:latin typeface="Consolas" pitchFamily="49" charset="0"/>
                  <a:cs typeface="Consolas" pitchFamily="49" charset="0"/>
                </a:rPr>
                <a:t>node</a:t>
              </a:r>
            </a:p>
            <a:p>
              <a:r>
                <a:rPr lang="en-US" sz="2400" b="1" dirty="0">
                  <a:latin typeface="Consolas" pitchFamily="49" charset="0"/>
                  <a:cs typeface="Consolas" pitchFamily="49" charset="0"/>
                </a:rPr>
                <a:t>{</a:t>
              </a:r>
            </a:p>
            <a:p>
              <a:r>
                <a:rPr lang="en-US" sz="2400" b="1" dirty="0">
                  <a:latin typeface="Consolas" pitchFamily="49" charset="0"/>
                  <a:cs typeface="Consolas" pitchFamily="49" charset="0"/>
                </a:rPr>
                <a:t>	</a:t>
              </a:r>
              <a:r>
                <a:rPr lang="en-US" sz="2400" b="1" dirty="0" err="1">
                  <a:solidFill>
                    <a:schemeClr val="accent3">
                      <a:lumMod val="75000"/>
                    </a:schemeClr>
                  </a:solidFill>
                  <a:latin typeface="Consolas" pitchFamily="49" charset="0"/>
                  <a:cs typeface="Consolas" pitchFamily="49" charset="0"/>
                </a:rPr>
                <a:t>int</a:t>
              </a:r>
              <a:r>
                <a:rPr lang="en-US" sz="2400" b="1" dirty="0">
                  <a:solidFill>
                    <a:schemeClr val="accent3">
                      <a:lumMod val="75000"/>
                    </a:schemeClr>
                  </a:solidFill>
                  <a:latin typeface="Consolas" pitchFamily="49" charset="0"/>
                  <a:cs typeface="Consolas" pitchFamily="49" charset="0"/>
                </a:rPr>
                <a:t> </a:t>
              </a:r>
              <a:r>
                <a:rPr lang="en-US" sz="2400" b="1" dirty="0">
                  <a:latin typeface="Consolas" pitchFamily="49" charset="0"/>
                  <a:cs typeface="Consolas" pitchFamily="49" charset="0"/>
                </a:rPr>
                <a:t>info;</a:t>
              </a:r>
            </a:p>
            <a:p>
              <a:r>
                <a:rPr lang="en-US" sz="2400" b="1" dirty="0">
                  <a:latin typeface="Consolas" pitchFamily="49" charset="0"/>
                  <a:cs typeface="Consolas" pitchFamily="49" charset="0"/>
                </a:rPr>
                <a:t>	</a:t>
              </a:r>
              <a:r>
                <a:rPr lang="en-US" sz="2400" b="1" dirty="0" err="1">
                  <a:solidFill>
                    <a:schemeClr val="accent3">
                      <a:lumMod val="75000"/>
                    </a:schemeClr>
                  </a:solidFill>
                  <a:latin typeface="Consolas" pitchFamily="49" charset="0"/>
                  <a:cs typeface="Consolas" pitchFamily="49" charset="0"/>
                </a:rPr>
                <a:t>struct</a:t>
              </a:r>
              <a:r>
                <a:rPr lang="en-US" sz="2400" b="1" dirty="0">
                  <a:solidFill>
                    <a:schemeClr val="accent3">
                      <a:lumMod val="75000"/>
                    </a:schemeClr>
                  </a:solidFill>
                  <a:latin typeface="Consolas" pitchFamily="49" charset="0"/>
                  <a:cs typeface="Consolas" pitchFamily="49" charset="0"/>
                </a:rPr>
                <a:t> </a:t>
              </a:r>
              <a:r>
                <a:rPr lang="en-US" sz="2400" b="1" dirty="0">
                  <a:latin typeface="Consolas" pitchFamily="49" charset="0"/>
                  <a:cs typeface="Consolas" pitchFamily="49" charset="0"/>
                </a:rPr>
                <a:t>node *link;</a:t>
              </a:r>
            </a:p>
            <a:p>
              <a:r>
                <a:rPr lang="en-US" sz="2400" b="1" dirty="0">
                  <a:latin typeface="Consolas" pitchFamily="49" charset="0"/>
                  <a:cs typeface="Consolas" pitchFamily="49" charset="0"/>
                </a:rPr>
                <a:t>};</a:t>
              </a:r>
            </a:p>
          </p:txBody>
        </p:sp>
      </p:grpSp>
      <p:sp>
        <p:nvSpPr>
          <p:cNvPr id="44" name="TextBox 43"/>
          <p:cNvSpPr txBox="1"/>
          <p:nvPr/>
        </p:nvSpPr>
        <p:spPr>
          <a:xfrm>
            <a:off x="303346" y="5723480"/>
            <a:ext cx="5000174" cy="553998"/>
          </a:xfrm>
          <a:prstGeom prst="rect">
            <a:avLst/>
          </a:prstGeom>
          <a:noFill/>
        </p:spPr>
        <p:txBody>
          <a:bodyPr wrap="square" rtlCol="0">
            <a:spAutoFit/>
          </a:bodyPr>
          <a:lstStyle/>
          <a:p>
            <a:pPr algn="ctr"/>
            <a:r>
              <a:rPr lang="en-IN" sz="3000" b="1" dirty="0"/>
              <a:t>C Structure to represent a node</a:t>
            </a:r>
          </a:p>
        </p:txBody>
      </p:sp>
      <p:grpSp>
        <p:nvGrpSpPr>
          <p:cNvPr id="32" name="Group 31"/>
          <p:cNvGrpSpPr/>
          <p:nvPr/>
        </p:nvGrpSpPr>
        <p:grpSpPr>
          <a:xfrm>
            <a:off x="5479598" y="1864312"/>
            <a:ext cx="6409507" cy="3706616"/>
            <a:chOff x="4211776" y="2689450"/>
            <a:chExt cx="3680632" cy="4448102"/>
          </a:xfrm>
        </p:grpSpPr>
        <p:sp>
          <p:nvSpPr>
            <p:cNvPr id="33" name="Rectangle 32"/>
            <p:cNvSpPr/>
            <p:nvPr/>
          </p:nvSpPr>
          <p:spPr>
            <a:xfrm>
              <a:off x="4211776" y="2689450"/>
              <a:ext cx="3680632" cy="444810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p:cNvSpPr txBox="1"/>
            <p:nvPr/>
          </p:nvSpPr>
          <p:spPr>
            <a:xfrm>
              <a:off x="4265975" y="2854445"/>
              <a:ext cx="3626432" cy="4173606"/>
            </a:xfrm>
            <a:prstGeom prst="rect">
              <a:avLst/>
            </a:prstGeom>
            <a:noFill/>
          </p:spPr>
          <p:txBody>
            <a:bodyPr wrap="square" rtlCol="0">
              <a:spAutoFit/>
            </a:bodyPr>
            <a:lstStyle/>
            <a:p>
              <a:r>
                <a:rPr lang="en-US" sz="2000" b="1" dirty="0">
                  <a:latin typeface="Consolas" panose="020B0609020204030204" pitchFamily="49" charset="0"/>
                  <a:cs typeface="Consolas" pitchFamily="49" charset="0"/>
                </a:rPr>
                <a:t>static </a:t>
              </a:r>
              <a:r>
                <a:rPr lang="en-US" sz="2000" b="1" dirty="0">
                  <a:solidFill>
                    <a:schemeClr val="tx2"/>
                  </a:solidFill>
                  <a:latin typeface="Consolas" pitchFamily="49" charset="0"/>
                  <a:cs typeface="Consolas" pitchFamily="49" charset="0"/>
                </a:rPr>
                <a:t>class</a:t>
              </a:r>
              <a:r>
                <a:rPr lang="en-US" sz="2000" b="1" dirty="0">
                  <a:latin typeface="Consolas" pitchFamily="49" charset="0"/>
                  <a:cs typeface="Consolas" pitchFamily="49" charset="0"/>
                </a:rPr>
                <a:t> </a:t>
              </a:r>
              <a:r>
                <a:rPr lang="en-US" sz="2000" b="1" dirty="0">
                  <a:solidFill>
                    <a:schemeClr val="accent6"/>
                  </a:solidFill>
                  <a:latin typeface="Consolas" pitchFamily="49" charset="0"/>
                  <a:cs typeface="Consolas" pitchFamily="49" charset="0"/>
                </a:rPr>
                <a:t>Node</a:t>
              </a:r>
              <a:r>
                <a:rPr lang="en-US" sz="2000" b="1" dirty="0">
                  <a:latin typeface="Consolas" pitchFamily="49" charset="0"/>
                  <a:cs typeface="Consolas" pitchFamily="49" charset="0"/>
                </a:rPr>
                <a:t> {</a:t>
              </a:r>
            </a:p>
            <a:p>
              <a:r>
                <a:rPr lang="en-US" sz="2000" b="1" dirty="0">
                  <a:latin typeface="Consolas" pitchFamily="49" charset="0"/>
                  <a:cs typeface="Consolas" pitchFamily="49" charset="0"/>
                </a:rPr>
                <a:t>	</a:t>
              </a:r>
              <a:r>
                <a:rPr lang="en-US" sz="2000" b="1" dirty="0" err="1">
                  <a:solidFill>
                    <a:schemeClr val="accent3">
                      <a:lumMod val="75000"/>
                    </a:schemeClr>
                  </a:solidFill>
                  <a:latin typeface="Consolas" pitchFamily="49" charset="0"/>
                  <a:cs typeface="Consolas" pitchFamily="49" charset="0"/>
                </a:rPr>
                <a:t>int</a:t>
              </a:r>
              <a:r>
                <a:rPr lang="en-US" sz="2000" b="1" dirty="0">
                  <a:solidFill>
                    <a:schemeClr val="accent3">
                      <a:lumMod val="75000"/>
                    </a:schemeClr>
                  </a:solidFill>
                  <a:latin typeface="Consolas" pitchFamily="49" charset="0"/>
                  <a:cs typeface="Consolas" pitchFamily="49" charset="0"/>
                </a:rPr>
                <a:t> </a:t>
              </a:r>
              <a:r>
                <a:rPr lang="en-US" sz="2000" b="1" dirty="0">
                  <a:latin typeface="Consolas" pitchFamily="49" charset="0"/>
                  <a:cs typeface="Consolas" pitchFamily="49" charset="0"/>
                </a:rPr>
                <a:t>info;</a:t>
              </a:r>
            </a:p>
            <a:p>
              <a:r>
                <a:rPr lang="en-US" sz="2000" b="1" dirty="0">
                  <a:latin typeface="Consolas" pitchFamily="49" charset="0"/>
                  <a:cs typeface="Consolas" pitchFamily="49" charset="0"/>
                </a:rPr>
                <a:t>	</a:t>
              </a:r>
              <a:r>
                <a:rPr lang="en-US" sz="2000" b="1" dirty="0">
                  <a:solidFill>
                    <a:schemeClr val="accent3">
                      <a:lumMod val="75000"/>
                    </a:schemeClr>
                  </a:solidFill>
                  <a:latin typeface="Consolas" pitchFamily="49" charset="0"/>
                  <a:cs typeface="Consolas" pitchFamily="49" charset="0"/>
                </a:rPr>
                <a:t>Node</a:t>
              </a:r>
              <a:r>
                <a:rPr lang="en-US" sz="2000" b="1" dirty="0">
                  <a:latin typeface="Consolas" pitchFamily="49" charset="0"/>
                  <a:cs typeface="Consolas" pitchFamily="49" charset="0"/>
                </a:rPr>
                <a:t> link;</a:t>
              </a:r>
            </a:p>
            <a:p>
              <a:endParaRPr lang="en-US" sz="2000" b="1" dirty="0">
                <a:latin typeface="Consolas" pitchFamily="49" charset="0"/>
                <a:cs typeface="Consolas" pitchFamily="49" charset="0"/>
              </a:endParaRPr>
            </a:p>
            <a:p>
              <a:r>
                <a:rPr lang="en-US" sz="2000" b="1" dirty="0">
                  <a:latin typeface="Consolas" pitchFamily="49" charset="0"/>
                  <a:cs typeface="Consolas" pitchFamily="49" charset="0"/>
                </a:rPr>
                <a:t>	</a:t>
              </a:r>
              <a:r>
                <a:rPr lang="en-US" sz="2000" b="1" i="1" dirty="0">
                  <a:solidFill>
                    <a:schemeClr val="tx2">
                      <a:lumMod val="40000"/>
                      <a:lumOff val="60000"/>
                    </a:schemeClr>
                  </a:solidFill>
                  <a:latin typeface="Consolas" pitchFamily="49" charset="0"/>
                  <a:cs typeface="Consolas" pitchFamily="49" charset="0"/>
                </a:rPr>
                <a:t>// Constructor to create a new node</a:t>
              </a:r>
            </a:p>
            <a:p>
              <a:r>
                <a:rPr lang="en-US" sz="2000" b="1" i="1" dirty="0">
                  <a:solidFill>
                    <a:schemeClr val="tx2">
                      <a:lumMod val="40000"/>
                      <a:lumOff val="60000"/>
                    </a:schemeClr>
                  </a:solidFill>
                  <a:latin typeface="Consolas" pitchFamily="49" charset="0"/>
                  <a:cs typeface="Consolas" pitchFamily="49" charset="0"/>
                </a:rPr>
                <a:t>	//</a:t>
              </a:r>
              <a:r>
                <a:rPr lang="en-US" b="1" i="1" dirty="0">
                  <a:solidFill>
                    <a:schemeClr val="tx2">
                      <a:lumMod val="40000"/>
                      <a:lumOff val="60000"/>
                    </a:schemeClr>
                  </a:solidFill>
                  <a:latin typeface="Consolas" pitchFamily="49" charset="0"/>
                  <a:cs typeface="Consolas" pitchFamily="49" charset="0"/>
                </a:rPr>
                <a:t> Next is by default initialized as null</a:t>
              </a:r>
            </a:p>
            <a:p>
              <a:r>
                <a:rPr lang="en-US" sz="2000" b="1" dirty="0">
                  <a:latin typeface="Consolas" pitchFamily="49" charset="0"/>
                  <a:cs typeface="Consolas" pitchFamily="49" charset="0"/>
                </a:rPr>
                <a:t>	</a:t>
              </a:r>
              <a:r>
                <a:rPr lang="en-US" sz="2000" b="1" dirty="0">
                  <a:latin typeface="Consolas" panose="020B0609020204030204" pitchFamily="49" charset="0"/>
                </a:rPr>
                <a:t>public</a:t>
              </a:r>
              <a:r>
                <a:rPr lang="en-US" sz="2000" dirty="0">
                  <a:latin typeface="Consolas" panose="020B0609020204030204" pitchFamily="49" charset="0"/>
                </a:rPr>
                <a:t> </a:t>
              </a:r>
              <a:r>
                <a:rPr lang="en-US" sz="2000" dirty="0">
                  <a:solidFill>
                    <a:schemeClr val="accent2">
                      <a:lumMod val="75000"/>
                    </a:schemeClr>
                  </a:solidFill>
                  <a:latin typeface="Consolas" panose="020B0609020204030204" pitchFamily="49" charset="0"/>
                </a:rPr>
                <a:t>Node</a:t>
              </a:r>
              <a:r>
                <a:rPr lang="en-US" sz="2000" dirty="0">
                  <a:latin typeface="Consolas" panose="020B0609020204030204" pitchFamily="49" charset="0"/>
                </a:rPr>
                <a:t> (</a:t>
              </a:r>
              <a:r>
                <a:rPr lang="en-US" sz="2000" b="1" dirty="0" err="1">
                  <a:solidFill>
                    <a:schemeClr val="accent3"/>
                  </a:solidFill>
                  <a:latin typeface="Consolas" panose="020B0609020204030204" pitchFamily="49" charset="0"/>
                </a:rPr>
                <a:t>int</a:t>
              </a:r>
              <a:r>
                <a:rPr lang="en-US" sz="2000" dirty="0">
                  <a:latin typeface="Consolas" panose="020B0609020204030204" pitchFamily="49" charset="0"/>
                </a:rPr>
                <a:t> data) {  </a:t>
              </a:r>
            </a:p>
            <a:p>
              <a:r>
                <a:rPr lang="en-US" sz="2000" dirty="0">
                  <a:latin typeface="Consolas" panose="020B0609020204030204" pitchFamily="49" charset="0"/>
                </a:rPr>
                <a:t>            </a:t>
              </a:r>
              <a:r>
                <a:rPr lang="en-US" sz="2000" b="1" dirty="0">
                  <a:latin typeface="Consolas" panose="020B0609020204030204" pitchFamily="49" charset="0"/>
                </a:rPr>
                <a:t>this</a:t>
              </a:r>
              <a:r>
                <a:rPr lang="en-US" sz="2000" dirty="0">
                  <a:latin typeface="Consolas" panose="020B0609020204030204" pitchFamily="49" charset="0"/>
                </a:rPr>
                <a:t>.info = data;   </a:t>
              </a:r>
            </a:p>
            <a:p>
              <a:r>
                <a:rPr lang="en-US" sz="2000" b="1" dirty="0">
                  <a:latin typeface="Consolas" panose="020B0609020204030204" pitchFamily="49" charset="0"/>
                </a:rPr>
                <a:t>            </a:t>
              </a:r>
              <a:r>
                <a:rPr lang="en-US" sz="2000" b="1" dirty="0" err="1">
                  <a:latin typeface="Consolas" panose="020B0609020204030204" pitchFamily="49" charset="0"/>
                </a:rPr>
                <a:t>this</a:t>
              </a:r>
              <a:r>
                <a:rPr lang="en-US" sz="2000" dirty="0" err="1">
                  <a:latin typeface="Consolas" panose="020B0609020204030204" pitchFamily="49" charset="0"/>
                </a:rPr>
                <a:t>.link</a:t>
              </a:r>
              <a:r>
                <a:rPr lang="en-US" sz="2000" dirty="0">
                  <a:latin typeface="Consolas" panose="020B0609020204030204" pitchFamily="49" charset="0"/>
                </a:rPr>
                <a:t> = </a:t>
              </a:r>
              <a:r>
                <a:rPr lang="en-US" sz="2000" b="1" dirty="0">
                  <a:latin typeface="Consolas" panose="020B0609020204030204" pitchFamily="49" charset="0"/>
                </a:rPr>
                <a:t>null</a:t>
              </a:r>
              <a:r>
                <a:rPr lang="en-US" sz="2000" dirty="0">
                  <a:latin typeface="Consolas" panose="020B0609020204030204" pitchFamily="49" charset="0"/>
                </a:rPr>
                <a:t>;  </a:t>
              </a:r>
            </a:p>
            <a:p>
              <a:r>
                <a:rPr lang="en-US" sz="2000" dirty="0">
                  <a:latin typeface="Consolas" panose="020B0609020204030204" pitchFamily="49" charset="0"/>
                </a:rPr>
                <a:t>        }  </a:t>
              </a:r>
            </a:p>
            <a:p>
              <a:r>
                <a:rPr lang="en-US" sz="2000" b="1" dirty="0">
                  <a:latin typeface="Consolas" pitchFamily="49" charset="0"/>
                  <a:cs typeface="Consolas" pitchFamily="49" charset="0"/>
                </a:rPr>
                <a:t>}</a:t>
              </a:r>
            </a:p>
          </p:txBody>
        </p:sp>
      </p:grpSp>
      <p:sp>
        <p:nvSpPr>
          <p:cNvPr id="35" name="TextBox 34"/>
          <p:cNvSpPr txBox="1"/>
          <p:nvPr/>
        </p:nvSpPr>
        <p:spPr>
          <a:xfrm>
            <a:off x="5479598" y="5723480"/>
            <a:ext cx="6409506" cy="553998"/>
          </a:xfrm>
          <a:prstGeom prst="rect">
            <a:avLst/>
          </a:prstGeom>
          <a:noFill/>
        </p:spPr>
        <p:txBody>
          <a:bodyPr wrap="square" rtlCol="0">
            <a:spAutoFit/>
          </a:bodyPr>
          <a:lstStyle/>
          <a:p>
            <a:pPr algn="ctr"/>
            <a:r>
              <a:rPr lang="en-IN" sz="3000" b="1" dirty="0"/>
              <a:t>Java class to represent a node</a:t>
            </a:r>
          </a:p>
        </p:txBody>
      </p:sp>
    </p:spTree>
    <p:extLst>
      <p:ext uri="{BB962C8B-B14F-4D97-AF65-F5344CB8AC3E}">
        <p14:creationId xmlns:p14="http://schemas.microsoft.com/office/powerpoint/2010/main" val="1933419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3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Algorithms for singly linked list</a:t>
            </a:r>
            <a:endParaRPr lang="en-US" dirty="0"/>
          </a:p>
        </p:txBody>
      </p:sp>
      <p:sp>
        <p:nvSpPr>
          <p:cNvPr id="3" name="Content Placeholder 2"/>
          <p:cNvSpPr>
            <a:spLocks noGrp="1"/>
          </p:cNvSpPr>
          <p:nvPr>
            <p:ph idx="4294967295"/>
          </p:nvPr>
        </p:nvSpPr>
        <p:spPr>
          <a:xfrm>
            <a:off x="131180" y="863444"/>
            <a:ext cx="11929641" cy="5590565"/>
          </a:xfrm>
        </p:spPr>
        <p:txBody>
          <a:bodyPr>
            <a:normAutofit/>
          </a:bodyPr>
          <a:lstStyle/>
          <a:p>
            <a:pPr marL="457200" indent="-457200">
              <a:buFont typeface="+mj-lt"/>
              <a:buAutoNum type="arabicPeriod"/>
            </a:pPr>
            <a:r>
              <a:rPr lang="en-US" sz="2400" dirty="0"/>
              <a:t>Insert at first position</a:t>
            </a:r>
          </a:p>
          <a:p>
            <a:pPr marL="457200" indent="-457200">
              <a:buFont typeface="+mj-lt"/>
              <a:buAutoNum type="arabicPeriod"/>
            </a:pPr>
            <a:r>
              <a:rPr lang="en-US" sz="2400" dirty="0"/>
              <a:t>Insert at last position</a:t>
            </a:r>
          </a:p>
          <a:p>
            <a:pPr marL="457200" indent="-457200">
              <a:buFont typeface="+mj-lt"/>
              <a:buAutoNum type="arabicPeriod"/>
            </a:pPr>
            <a:r>
              <a:rPr lang="en-US" sz="2400" dirty="0"/>
              <a:t>Insert in Ordered Linked list</a:t>
            </a:r>
          </a:p>
          <a:p>
            <a:pPr marL="457200" indent="-457200">
              <a:buFont typeface="+mj-lt"/>
              <a:buAutoNum type="arabicPeriod"/>
            </a:pPr>
            <a:r>
              <a:rPr lang="en-US" sz="2400" dirty="0"/>
              <a:t>Delete Element</a:t>
            </a:r>
          </a:p>
          <a:p>
            <a:pPr marL="457200" indent="-457200">
              <a:buFont typeface="+mj-lt"/>
              <a:buAutoNum type="arabicPeriod"/>
            </a:pPr>
            <a:r>
              <a:rPr lang="en-US" sz="2400" dirty="0"/>
              <a:t>Copy Linked List</a:t>
            </a:r>
          </a:p>
        </p:txBody>
      </p:sp>
    </p:spTree>
    <p:extLst>
      <p:ext uri="{BB962C8B-B14F-4D97-AF65-F5344CB8AC3E}">
        <p14:creationId xmlns:p14="http://schemas.microsoft.com/office/powerpoint/2010/main" val="567917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Procedure: </a:t>
            </a:r>
            <a:r>
              <a:rPr lang="en-US" dirty="0"/>
              <a:t>INSERT(X, FIRST)</a:t>
            </a:r>
          </a:p>
        </p:txBody>
      </p:sp>
      <p:sp>
        <p:nvSpPr>
          <p:cNvPr id="3" name="Content Placeholder 2"/>
          <p:cNvSpPr>
            <a:spLocks noGrp="1"/>
          </p:cNvSpPr>
          <p:nvPr>
            <p:ph idx="1"/>
          </p:nvPr>
        </p:nvSpPr>
        <p:spPr/>
        <p:txBody>
          <a:bodyPr/>
          <a:lstStyle/>
          <a:p>
            <a:r>
              <a:rPr lang="en-IN" dirty="0"/>
              <a:t>This </a:t>
            </a:r>
            <a:r>
              <a:rPr lang="en-IN" dirty="0" smtClean="0"/>
              <a:t>procedure </a:t>
            </a:r>
            <a:r>
              <a:rPr lang="en-IN" b="1" dirty="0">
                <a:solidFill>
                  <a:srgbClr val="C00000"/>
                </a:solidFill>
              </a:rPr>
              <a:t>inserts a new node at the first position</a:t>
            </a:r>
            <a:r>
              <a:rPr lang="en-IN" b="1" dirty="0">
                <a:solidFill>
                  <a:srgbClr val="FF0000"/>
                </a:solidFill>
              </a:rPr>
              <a:t> </a:t>
            </a:r>
            <a:r>
              <a:rPr lang="en-IN" dirty="0"/>
              <a:t>of Singly linked list. </a:t>
            </a:r>
          </a:p>
          <a:p>
            <a:r>
              <a:rPr lang="en-IN" b="1" dirty="0" smtClean="0">
                <a:solidFill>
                  <a:srgbClr val="C00000"/>
                </a:solidFill>
              </a:rPr>
              <a:t>X</a:t>
            </a:r>
            <a:r>
              <a:rPr lang="en-IN" dirty="0" smtClean="0">
                <a:solidFill>
                  <a:srgbClr val="C00000"/>
                </a:solidFill>
              </a:rPr>
              <a:t> </a:t>
            </a:r>
            <a:r>
              <a:rPr lang="en-IN" dirty="0"/>
              <a:t>is a new element to be inserted.</a:t>
            </a:r>
          </a:p>
          <a:p>
            <a:r>
              <a:rPr lang="en-IN" b="1" dirty="0">
                <a:solidFill>
                  <a:srgbClr val="C00000"/>
                </a:solidFill>
              </a:rPr>
              <a:t>FIRST</a:t>
            </a:r>
            <a:r>
              <a:rPr lang="en-IN" dirty="0">
                <a:solidFill>
                  <a:srgbClr val="C00000"/>
                </a:solidFill>
              </a:rPr>
              <a:t> </a:t>
            </a:r>
            <a:r>
              <a:rPr lang="en-IN" dirty="0"/>
              <a:t>is a </a:t>
            </a:r>
            <a:r>
              <a:rPr lang="en-IN" b="1" dirty="0"/>
              <a:t>pointer to the first element</a:t>
            </a:r>
            <a:r>
              <a:rPr lang="en-IN" dirty="0"/>
              <a:t> of a Singly linked linear list. </a:t>
            </a:r>
          </a:p>
          <a:p>
            <a:r>
              <a:rPr lang="en-IN" dirty="0"/>
              <a:t>Typical node contains </a:t>
            </a:r>
            <a:r>
              <a:rPr lang="en-IN" b="1" dirty="0">
                <a:solidFill>
                  <a:srgbClr val="C00000"/>
                </a:solidFill>
              </a:rPr>
              <a:t>INFO</a:t>
            </a:r>
            <a:r>
              <a:rPr lang="en-IN" dirty="0">
                <a:solidFill>
                  <a:srgbClr val="C00000"/>
                </a:solidFill>
              </a:rPr>
              <a:t> </a:t>
            </a:r>
            <a:r>
              <a:rPr lang="en-IN" dirty="0"/>
              <a:t>and </a:t>
            </a:r>
            <a:r>
              <a:rPr lang="en-IN" b="1" dirty="0">
                <a:solidFill>
                  <a:srgbClr val="C00000"/>
                </a:solidFill>
              </a:rPr>
              <a:t>LINK</a:t>
            </a:r>
            <a:r>
              <a:rPr lang="en-IN" dirty="0">
                <a:solidFill>
                  <a:srgbClr val="C00000"/>
                </a:solidFill>
              </a:rPr>
              <a:t> </a:t>
            </a:r>
            <a:r>
              <a:rPr lang="en-IN" dirty="0"/>
              <a:t>fields. </a:t>
            </a:r>
          </a:p>
          <a:p>
            <a:r>
              <a:rPr lang="en-IN" b="1" dirty="0">
                <a:solidFill>
                  <a:srgbClr val="C00000"/>
                </a:solidFill>
              </a:rPr>
              <a:t>NEW</a:t>
            </a:r>
            <a:r>
              <a:rPr lang="en-IN" dirty="0">
                <a:solidFill>
                  <a:srgbClr val="C00000"/>
                </a:solidFill>
              </a:rPr>
              <a:t> </a:t>
            </a:r>
            <a:r>
              <a:rPr lang="en-IN" dirty="0"/>
              <a:t>is a temporary pointer variable. </a:t>
            </a:r>
          </a:p>
          <a:p>
            <a:endParaRPr lang="en-US" dirty="0"/>
          </a:p>
        </p:txBody>
      </p:sp>
    </p:spTree>
    <p:extLst>
      <p:ext uri="{BB962C8B-B14F-4D97-AF65-F5344CB8AC3E}">
        <p14:creationId xmlns:p14="http://schemas.microsoft.com/office/powerpoint/2010/main" val="257155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Procedure: </a:t>
            </a:r>
            <a:r>
              <a:rPr lang="en-US" dirty="0"/>
              <a:t>INSERT(X,FIRST) </a:t>
            </a:r>
            <a:r>
              <a:rPr lang="en-US" dirty="0" err="1"/>
              <a:t>Cont</a:t>
            </a:r>
            <a:r>
              <a:rPr lang="en-US" dirty="0"/>
              <a:t>…</a:t>
            </a:r>
          </a:p>
        </p:txBody>
      </p:sp>
      <p:sp>
        <p:nvSpPr>
          <p:cNvPr id="4" name="TextBox 3"/>
          <p:cNvSpPr txBox="1"/>
          <p:nvPr/>
        </p:nvSpPr>
        <p:spPr>
          <a:xfrm>
            <a:off x="336000" y="923060"/>
            <a:ext cx="11520000" cy="2523768"/>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200" b="1" dirty="0">
                <a:solidFill>
                  <a:schemeClr val="tx2"/>
                </a:solidFill>
                <a:latin typeface="Consolas" pitchFamily="49" charset="0"/>
                <a:cs typeface="Consolas" pitchFamily="49" charset="0"/>
              </a:rPr>
              <a:t>1. [</a:t>
            </a:r>
            <a:r>
              <a:rPr lang="en-IN" sz="2400" b="1" dirty="0">
                <a:solidFill>
                  <a:schemeClr val="tx2"/>
                </a:solidFill>
                <a:latin typeface="Consolas" pitchFamily="49" charset="0"/>
                <a:cs typeface="Consolas" pitchFamily="49" charset="0"/>
              </a:rPr>
              <a:t>Creates a new empty node</a:t>
            </a:r>
            <a:r>
              <a:rPr lang="en-IN" sz="2200" b="1" dirty="0">
                <a:solidFill>
                  <a:schemeClr val="tx2"/>
                </a:solidFill>
                <a:latin typeface="Consolas" pitchFamily="49" charset="0"/>
                <a:cs typeface="Consolas" pitchFamily="49" charset="0"/>
              </a:rPr>
              <a:t>]</a:t>
            </a:r>
          </a:p>
          <a:p>
            <a:r>
              <a:rPr lang="en-IN" sz="2200" dirty="0">
                <a:latin typeface="Consolas" pitchFamily="49" charset="0"/>
                <a:cs typeface="Consolas" pitchFamily="49" charset="0"/>
              </a:rPr>
              <a:t>    </a:t>
            </a:r>
            <a:r>
              <a:rPr lang="en-IN" sz="2400" dirty="0">
                <a:latin typeface="Consolas" pitchFamily="49" charset="0"/>
                <a:cs typeface="Consolas" pitchFamily="49" charset="0"/>
              </a:rPr>
              <a:t>NEW </a:t>
            </a:r>
            <a:r>
              <a:rPr lang="en-IN" sz="2400" b="1" dirty="0" smtClean="0">
                <a:solidFill>
                  <a:schemeClr val="accent6"/>
                </a:solidFill>
                <a:latin typeface="Consolas" pitchFamily="49" charset="0"/>
                <a:cs typeface="Consolas" pitchFamily="49" charset="0"/>
              </a:rPr>
              <a:t>&lt;=</a:t>
            </a:r>
            <a:r>
              <a:rPr lang="en-IN" sz="2400" dirty="0" smtClean="0">
                <a:latin typeface="Consolas" pitchFamily="49" charset="0"/>
                <a:cs typeface="Consolas" pitchFamily="49" charset="0"/>
              </a:rPr>
              <a:t> </a:t>
            </a:r>
            <a:r>
              <a:rPr lang="en-IN" sz="2400" dirty="0">
                <a:latin typeface="Consolas" pitchFamily="49" charset="0"/>
                <a:cs typeface="Consolas" pitchFamily="49" charset="0"/>
              </a:rPr>
              <a:t>NODE</a:t>
            </a:r>
            <a:endParaRPr lang="en-IN" sz="2200" dirty="0">
              <a:latin typeface="Consolas" pitchFamily="49" charset="0"/>
              <a:cs typeface="Consolas" pitchFamily="49" charset="0"/>
            </a:endParaRPr>
          </a:p>
          <a:p>
            <a:r>
              <a:rPr lang="en-IN" sz="2200" b="1" dirty="0">
                <a:solidFill>
                  <a:schemeClr val="tx2"/>
                </a:solidFill>
                <a:latin typeface="Consolas" pitchFamily="49" charset="0"/>
                <a:cs typeface="Consolas" pitchFamily="49" charset="0"/>
              </a:rPr>
              <a:t>2. [Initialize fields of new node and its link to the list]</a:t>
            </a:r>
          </a:p>
          <a:p>
            <a:r>
              <a:rPr lang="en-IN" sz="2200" dirty="0">
                <a:latin typeface="Consolas" pitchFamily="49" charset="0"/>
                <a:cs typeface="Consolas" pitchFamily="49" charset="0"/>
              </a:rPr>
              <a:t>    INFO(NEW) </a:t>
            </a:r>
            <a:r>
              <a:rPr lang="en-IN" sz="2200" dirty="0">
                <a:latin typeface="Consolas" pitchFamily="49" charset="0"/>
                <a:cs typeface="Consolas" pitchFamily="49" charset="0"/>
                <a:sym typeface="Wingdings" pitchFamily="2" charset="2"/>
              </a:rPr>
              <a:t> </a:t>
            </a:r>
            <a:r>
              <a:rPr lang="en-IN" sz="2200" dirty="0">
                <a:latin typeface="Consolas" pitchFamily="49" charset="0"/>
                <a:cs typeface="Consolas" pitchFamily="49" charset="0"/>
              </a:rPr>
              <a:t>X</a:t>
            </a:r>
          </a:p>
          <a:p>
            <a:r>
              <a:rPr lang="en-IN" sz="2200" dirty="0">
                <a:latin typeface="Consolas" pitchFamily="49" charset="0"/>
                <a:cs typeface="Consolas" pitchFamily="49" charset="0"/>
              </a:rPr>
              <a:t>    </a:t>
            </a:r>
            <a:r>
              <a:rPr lang="en-IN" sz="2200" dirty="0" smtClean="0">
                <a:latin typeface="Consolas" pitchFamily="49" charset="0"/>
                <a:cs typeface="Consolas" pitchFamily="49" charset="0"/>
              </a:rPr>
              <a:t>LINK(NEW</a:t>
            </a:r>
            <a:r>
              <a:rPr lang="en-IN" sz="2200" dirty="0">
                <a:latin typeface="Consolas" pitchFamily="49" charset="0"/>
                <a:cs typeface="Consolas" pitchFamily="49" charset="0"/>
              </a:rPr>
              <a:t>) </a:t>
            </a:r>
            <a:r>
              <a:rPr lang="en-IN" sz="2200" dirty="0">
                <a:latin typeface="Consolas" pitchFamily="49" charset="0"/>
                <a:cs typeface="Consolas" pitchFamily="49" charset="0"/>
                <a:sym typeface="Wingdings" pitchFamily="2" charset="2"/>
              </a:rPr>
              <a:t> </a:t>
            </a:r>
            <a:r>
              <a:rPr lang="en-IN" sz="2200" dirty="0">
                <a:latin typeface="Consolas" pitchFamily="49" charset="0"/>
                <a:cs typeface="Consolas" pitchFamily="49" charset="0"/>
              </a:rPr>
              <a:t>FIRST</a:t>
            </a:r>
          </a:p>
          <a:p>
            <a:r>
              <a:rPr lang="en-IN" sz="2200" b="1" dirty="0">
                <a:solidFill>
                  <a:schemeClr val="tx2"/>
                </a:solidFill>
                <a:latin typeface="Consolas" pitchFamily="49" charset="0"/>
                <a:cs typeface="Consolas" pitchFamily="49" charset="0"/>
              </a:rPr>
              <a:t>3. </a:t>
            </a:r>
            <a:r>
              <a:rPr lang="en-IN" sz="2200" b="1" dirty="0" smtClean="0">
                <a:solidFill>
                  <a:schemeClr val="tx2"/>
                </a:solidFill>
                <a:latin typeface="Consolas" pitchFamily="49" charset="0"/>
                <a:cs typeface="Consolas" pitchFamily="49" charset="0"/>
              </a:rPr>
              <a:t>[Set the address of First node with New node]</a:t>
            </a:r>
            <a:endParaRPr lang="en-IN" sz="2200" b="1" dirty="0">
              <a:solidFill>
                <a:schemeClr val="tx2"/>
              </a:solidFill>
              <a:latin typeface="Consolas" pitchFamily="49" charset="0"/>
              <a:cs typeface="Consolas" pitchFamily="49" charset="0"/>
            </a:endParaRPr>
          </a:p>
          <a:p>
            <a:r>
              <a:rPr lang="en-IN" sz="2200" dirty="0">
                <a:latin typeface="Consolas" pitchFamily="49" charset="0"/>
                <a:cs typeface="Consolas" pitchFamily="49" charset="0"/>
              </a:rPr>
              <a:t>    </a:t>
            </a:r>
            <a:r>
              <a:rPr lang="en-IN" sz="2200" dirty="0" smtClean="0">
                <a:latin typeface="Consolas" pitchFamily="49" charset="0"/>
                <a:cs typeface="Consolas" pitchFamily="49" charset="0"/>
              </a:rPr>
              <a:t>FIRST </a:t>
            </a:r>
            <a:r>
              <a:rPr lang="en-IN" sz="2200" dirty="0" smtClean="0">
                <a:latin typeface="Consolas" pitchFamily="49" charset="0"/>
                <a:cs typeface="Consolas" pitchFamily="49" charset="0"/>
                <a:sym typeface="Wingdings" panose="05000000000000000000" pitchFamily="2" charset="2"/>
              </a:rPr>
              <a:t> </a:t>
            </a:r>
            <a:r>
              <a:rPr lang="en-IN" sz="2200" dirty="0" smtClean="0">
                <a:latin typeface="Consolas" pitchFamily="49" charset="0"/>
                <a:cs typeface="Consolas" pitchFamily="49" charset="0"/>
              </a:rPr>
              <a:t>NEW</a:t>
            </a:r>
            <a:endParaRPr lang="en-IN" sz="2200" b="1" dirty="0">
              <a:solidFill>
                <a:schemeClr val="tx2">
                  <a:lumMod val="60000"/>
                  <a:lumOff val="40000"/>
                </a:schemeClr>
              </a:solidFill>
              <a:latin typeface="Consolas" pitchFamily="49" charset="0"/>
              <a:cs typeface="Consolas" pitchFamily="49" charset="0"/>
            </a:endParaRPr>
          </a:p>
        </p:txBody>
      </p:sp>
    </p:spTree>
    <p:extLst>
      <p:ext uri="{BB962C8B-B14F-4D97-AF65-F5344CB8AC3E}">
        <p14:creationId xmlns:p14="http://schemas.microsoft.com/office/powerpoint/2010/main" val="3776662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INSERT(50, FIRST)</a:t>
            </a:r>
          </a:p>
        </p:txBody>
      </p:sp>
      <p:grpSp>
        <p:nvGrpSpPr>
          <p:cNvPr id="4" name="Group 3"/>
          <p:cNvGrpSpPr/>
          <p:nvPr/>
        </p:nvGrpSpPr>
        <p:grpSpPr>
          <a:xfrm>
            <a:off x="3085519" y="1381023"/>
            <a:ext cx="1532242" cy="533400"/>
            <a:chOff x="951919" y="5486400"/>
            <a:chExt cx="1532242" cy="533400"/>
          </a:xfrm>
        </p:grpSpPr>
        <p:sp>
          <p:nvSpPr>
            <p:cNvPr id="5" name="Rectangle 4"/>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6" name="Rectangle 5"/>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link</a:t>
              </a:r>
              <a:endParaRPr lang="en-US" sz="2400" b="1" dirty="0"/>
            </a:p>
          </p:txBody>
        </p:sp>
      </p:grpSp>
      <p:grpSp>
        <p:nvGrpSpPr>
          <p:cNvPr id="7" name="Group 6"/>
          <p:cNvGrpSpPr/>
          <p:nvPr/>
        </p:nvGrpSpPr>
        <p:grpSpPr>
          <a:xfrm>
            <a:off x="5020958" y="1383268"/>
            <a:ext cx="1532242" cy="533400"/>
            <a:chOff x="951919" y="5486400"/>
            <a:chExt cx="1532242" cy="533400"/>
          </a:xfrm>
        </p:grpSpPr>
        <p:sp>
          <p:nvSpPr>
            <p:cNvPr id="8" name="Rectangle 7"/>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50</a:t>
              </a:r>
              <a:endParaRPr lang="en-US" sz="2400" b="1" dirty="0"/>
            </a:p>
          </p:txBody>
        </p:sp>
        <p:sp>
          <p:nvSpPr>
            <p:cNvPr id="9" name="Rectangle 8"/>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link</a:t>
              </a:r>
              <a:endParaRPr lang="en-US" sz="2400" b="1" dirty="0"/>
            </a:p>
          </p:txBody>
        </p:sp>
      </p:grpSp>
      <p:grpSp>
        <p:nvGrpSpPr>
          <p:cNvPr id="10" name="Group 9"/>
          <p:cNvGrpSpPr/>
          <p:nvPr/>
        </p:nvGrpSpPr>
        <p:grpSpPr>
          <a:xfrm>
            <a:off x="6925958" y="1383268"/>
            <a:ext cx="1532242" cy="533400"/>
            <a:chOff x="951919" y="5486400"/>
            <a:chExt cx="1532242" cy="533400"/>
          </a:xfrm>
        </p:grpSpPr>
        <p:sp>
          <p:nvSpPr>
            <p:cNvPr id="11" name="Rectangle 10"/>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35</a:t>
              </a:r>
              <a:endParaRPr lang="en-US" sz="2400" b="1" dirty="0"/>
            </a:p>
          </p:txBody>
        </p:sp>
        <p:sp>
          <p:nvSpPr>
            <p:cNvPr id="12" name="Rectangle 11"/>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link</a:t>
              </a:r>
              <a:endParaRPr lang="en-US" sz="2400" b="1" dirty="0"/>
            </a:p>
          </p:txBody>
        </p:sp>
      </p:grpSp>
      <p:grpSp>
        <p:nvGrpSpPr>
          <p:cNvPr id="13" name="Group 12"/>
          <p:cNvGrpSpPr/>
          <p:nvPr/>
        </p:nvGrpSpPr>
        <p:grpSpPr>
          <a:xfrm>
            <a:off x="8830958" y="1383268"/>
            <a:ext cx="1532242" cy="533400"/>
            <a:chOff x="951919" y="5486400"/>
            <a:chExt cx="1532242" cy="533400"/>
          </a:xfrm>
        </p:grpSpPr>
        <p:sp>
          <p:nvSpPr>
            <p:cNvPr id="14" name="Rectangle 13"/>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20</a:t>
              </a:r>
              <a:endParaRPr lang="en-US" sz="2400" b="1" dirty="0"/>
            </a:p>
          </p:txBody>
        </p:sp>
        <p:sp>
          <p:nvSpPr>
            <p:cNvPr id="15" name="Rectangle 14"/>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16" name="Straight Arrow Connector 15"/>
          <p:cNvCxnSpPr>
            <a:stCxn id="6" idx="3"/>
            <a:endCxn id="8" idx="1"/>
          </p:cNvCxnSpPr>
          <p:nvPr/>
        </p:nvCxnSpPr>
        <p:spPr>
          <a:xfrm>
            <a:off x="4617761" y="1647723"/>
            <a:ext cx="403197" cy="224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7" name="Straight Arrow Connector 16"/>
          <p:cNvCxnSpPr>
            <a:stCxn id="9" idx="3"/>
            <a:endCxn id="11" idx="1"/>
          </p:cNvCxnSpPr>
          <p:nvPr/>
        </p:nvCxnSpPr>
        <p:spPr>
          <a:xfrm>
            <a:off x="6553200" y="1649968"/>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8" name="Straight Arrow Connector 17"/>
          <p:cNvCxnSpPr>
            <a:stCxn id="12" idx="3"/>
            <a:endCxn id="14" idx="1"/>
          </p:cNvCxnSpPr>
          <p:nvPr/>
        </p:nvCxnSpPr>
        <p:spPr>
          <a:xfrm>
            <a:off x="8458200" y="1649968"/>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9" name="Straight Connector 18"/>
          <p:cNvCxnSpPr/>
          <p:nvPr/>
        </p:nvCxnSpPr>
        <p:spPr>
          <a:xfrm flipH="1">
            <a:off x="9592958" y="1383268"/>
            <a:ext cx="770242"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pSp>
        <p:nvGrpSpPr>
          <p:cNvPr id="24" name="Group 23"/>
          <p:cNvGrpSpPr/>
          <p:nvPr/>
        </p:nvGrpSpPr>
        <p:grpSpPr>
          <a:xfrm>
            <a:off x="3169241" y="1914423"/>
            <a:ext cx="734496" cy="720492"/>
            <a:chOff x="3169241" y="1914423"/>
            <a:chExt cx="734496" cy="720492"/>
          </a:xfrm>
        </p:grpSpPr>
        <p:sp>
          <p:nvSpPr>
            <p:cNvPr id="20" name="TextBox 19"/>
            <p:cNvSpPr txBox="1"/>
            <p:nvPr/>
          </p:nvSpPr>
          <p:spPr>
            <a:xfrm>
              <a:off x="3169241" y="2265583"/>
              <a:ext cx="734496" cy="369332"/>
            </a:xfrm>
            <a:prstGeom prst="rect">
              <a:avLst/>
            </a:prstGeom>
            <a:noFill/>
          </p:spPr>
          <p:txBody>
            <a:bodyPr wrap="none" rtlCol="0">
              <a:spAutoFit/>
            </a:bodyPr>
            <a:lstStyle/>
            <a:p>
              <a:r>
                <a:rPr lang="en-IN" b="1" dirty="0">
                  <a:solidFill>
                    <a:srgbClr val="C00000"/>
                  </a:solidFill>
                </a:rPr>
                <a:t>FIRST</a:t>
              </a:r>
              <a:endParaRPr lang="en-US" b="1" dirty="0">
                <a:solidFill>
                  <a:srgbClr val="C00000"/>
                </a:solidFill>
              </a:endParaRPr>
            </a:p>
          </p:txBody>
        </p:sp>
        <p:cxnSp>
          <p:nvCxnSpPr>
            <p:cNvPr id="21" name="Straight Arrow Connector 20"/>
            <p:cNvCxnSpPr>
              <a:endCxn id="5" idx="2"/>
            </p:cNvCxnSpPr>
            <p:nvPr/>
          </p:nvCxnSpPr>
          <p:spPr>
            <a:xfrm flipV="1">
              <a:off x="3466519" y="1914423"/>
              <a:ext cx="0" cy="307045"/>
            </a:xfrm>
            <a:prstGeom prst="straightConnector1">
              <a:avLst/>
            </a:prstGeom>
            <a:ln w="28575">
              <a:solidFill>
                <a:srgbClr val="B84742"/>
              </a:solidFill>
              <a:tailEnd type="arrow"/>
            </a:ln>
          </p:spPr>
          <p:style>
            <a:lnRef idx="2">
              <a:schemeClr val="dk1"/>
            </a:lnRef>
            <a:fillRef idx="0">
              <a:schemeClr val="dk1"/>
            </a:fillRef>
            <a:effectRef idx="1">
              <a:schemeClr val="dk1"/>
            </a:effectRef>
            <a:fontRef idx="minor">
              <a:schemeClr val="tx1"/>
            </a:fontRef>
          </p:style>
        </p:cxnSp>
      </p:grpSp>
      <p:grpSp>
        <p:nvGrpSpPr>
          <p:cNvPr id="25" name="Group 24"/>
          <p:cNvGrpSpPr/>
          <p:nvPr/>
        </p:nvGrpSpPr>
        <p:grpSpPr>
          <a:xfrm>
            <a:off x="1164035" y="1381023"/>
            <a:ext cx="1532242" cy="533400"/>
            <a:chOff x="951919" y="5486400"/>
            <a:chExt cx="1532242" cy="533400"/>
          </a:xfrm>
        </p:grpSpPr>
        <p:sp>
          <p:nvSpPr>
            <p:cNvPr id="26" name="Rectangle 25"/>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27" name="Rectangle 26"/>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link</a:t>
              </a:r>
              <a:endParaRPr lang="en-US" sz="2400" b="1" dirty="0"/>
            </a:p>
          </p:txBody>
        </p:sp>
      </p:grpSp>
      <p:sp>
        <p:nvSpPr>
          <p:cNvPr id="28" name="TextBox 27"/>
          <p:cNvSpPr txBox="1"/>
          <p:nvPr/>
        </p:nvSpPr>
        <p:spPr>
          <a:xfrm>
            <a:off x="1666404" y="1954102"/>
            <a:ext cx="612668" cy="369332"/>
          </a:xfrm>
          <a:prstGeom prst="rect">
            <a:avLst/>
          </a:prstGeom>
          <a:noFill/>
        </p:spPr>
        <p:txBody>
          <a:bodyPr wrap="none" rtlCol="0">
            <a:spAutoFit/>
          </a:bodyPr>
          <a:lstStyle/>
          <a:p>
            <a:r>
              <a:rPr lang="en-IN" b="1" dirty="0">
                <a:solidFill>
                  <a:srgbClr val="C00000"/>
                </a:solidFill>
              </a:rPr>
              <a:t>NEW</a:t>
            </a:r>
            <a:endParaRPr lang="en-US" b="1" dirty="0">
              <a:solidFill>
                <a:srgbClr val="C00000"/>
              </a:solidFill>
            </a:endParaRPr>
          </a:p>
        </p:txBody>
      </p:sp>
      <p:sp>
        <p:nvSpPr>
          <p:cNvPr id="29" name="TextBox 28"/>
          <p:cNvSpPr txBox="1"/>
          <p:nvPr/>
        </p:nvSpPr>
        <p:spPr>
          <a:xfrm>
            <a:off x="1213790" y="1318786"/>
            <a:ext cx="704039" cy="707886"/>
          </a:xfrm>
          <a:prstGeom prst="rect">
            <a:avLst/>
          </a:prstGeom>
          <a:noFill/>
        </p:spPr>
        <p:txBody>
          <a:bodyPr wrap="none" rtlCol="0">
            <a:spAutoFit/>
          </a:bodyPr>
          <a:lstStyle/>
          <a:p>
            <a:r>
              <a:rPr lang="en-IN" sz="4000" b="1" dirty="0">
                <a:solidFill>
                  <a:schemeClr val="bg1"/>
                </a:solidFill>
              </a:rPr>
              <a:t>50</a:t>
            </a:r>
            <a:endParaRPr lang="en-US" sz="4000" b="1" dirty="0">
              <a:solidFill>
                <a:schemeClr val="bg1"/>
              </a:solidFill>
            </a:endParaRPr>
          </a:p>
        </p:txBody>
      </p:sp>
      <p:sp>
        <p:nvSpPr>
          <p:cNvPr id="30" name="TextBox 29"/>
          <p:cNvSpPr txBox="1"/>
          <p:nvPr/>
        </p:nvSpPr>
        <p:spPr>
          <a:xfrm>
            <a:off x="336000" y="3334333"/>
            <a:ext cx="11520000" cy="1938992"/>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400" b="1" dirty="0">
                <a:solidFill>
                  <a:schemeClr val="tx2"/>
                </a:solidFill>
                <a:latin typeface="Consolas" pitchFamily="49" charset="0"/>
                <a:cs typeface="Consolas" pitchFamily="49" charset="0"/>
              </a:rPr>
              <a:t>2. [Initialize fields of new node and its link to the list]</a:t>
            </a:r>
          </a:p>
          <a:p>
            <a:r>
              <a:rPr lang="en-IN" sz="2400" dirty="0">
                <a:latin typeface="Consolas" pitchFamily="49" charset="0"/>
                <a:cs typeface="Consolas" pitchFamily="49" charset="0"/>
              </a:rPr>
              <a:t>    INFO(NEW) </a:t>
            </a:r>
            <a:r>
              <a:rPr lang="en-IN" sz="2400" dirty="0">
                <a:latin typeface="Consolas" pitchFamily="49" charset="0"/>
                <a:cs typeface="Consolas" pitchFamily="49" charset="0"/>
                <a:sym typeface="Wingdings" pitchFamily="2" charset="2"/>
              </a:rPr>
              <a:t> </a:t>
            </a:r>
            <a:r>
              <a:rPr lang="en-IN" sz="2400" dirty="0">
                <a:latin typeface="Consolas" pitchFamily="49" charset="0"/>
                <a:cs typeface="Consolas" pitchFamily="49" charset="0"/>
              </a:rPr>
              <a:t>X</a:t>
            </a:r>
          </a:p>
          <a:p>
            <a:r>
              <a:rPr lang="en-IN" sz="2400" dirty="0">
                <a:latin typeface="Consolas" pitchFamily="49" charset="0"/>
                <a:cs typeface="Consolas" pitchFamily="49" charset="0"/>
              </a:rPr>
              <a:t>    LINK (NEW) </a:t>
            </a:r>
            <a:r>
              <a:rPr lang="en-IN" sz="2400" dirty="0">
                <a:latin typeface="Consolas" pitchFamily="49" charset="0"/>
                <a:cs typeface="Consolas" pitchFamily="49" charset="0"/>
                <a:sym typeface="Wingdings" pitchFamily="2" charset="2"/>
              </a:rPr>
              <a:t> </a:t>
            </a:r>
            <a:r>
              <a:rPr lang="en-IN" sz="2400" dirty="0">
                <a:latin typeface="Consolas" pitchFamily="49" charset="0"/>
                <a:cs typeface="Consolas" pitchFamily="49" charset="0"/>
              </a:rPr>
              <a:t>FIRST</a:t>
            </a:r>
          </a:p>
          <a:p>
            <a:r>
              <a:rPr lang="en-IN" sz="2400" b="1" dirty="0">
                <a:solidFill>
                  <a:schemeClr val="tx2"/>
                </a:solidFill>
                <a:latin typeface="Consolas" pitchFamily="49" charset="0"/>
                <a:cs typeface="Consolas" pitchFamily="49" charset="0"/>
              </a:rPr>
              <a:t>3. [Set the address of First node with New node]</a:t>
            </a:r>
          </a:p>
          <a:p>
            <a:r>
              <a:rPr lang="en-IN" sz="2400" dirty="0">
                <a:latin typeface="Consolas" pitchFamily="49" charset="0"/>
                <a:cs typeface="Consolas" pitchFamily="49" charset="0"/>
              </a:rPr>
              <a:t>    FIRST </a:t>
            </a:r>
            <a:r>
              <a:rPr lang="en-IN" sz="2400" dirty="0">
                <a:latin typeface="Consolas" pitchFamily="49" charset="0"/>
                <a:cs typeface="Consolas" pitchFamily="49" charset="0"/>
                <a:sym typeface="Wingdings" panose="05000000000000000000" pitchFamily="2" charset="2"/>
              </a:rPr>
              <a:t> </a:t>
            </a:r>
            <a:r>
              <a:rPr lang="en-IN" sz="2400" dirty="0">
                <a:latin typeface="Consolas" pitchFamily="49" charset="0"/>
                <a:cs typeface="Consolas" pitchFamily="49" charset="0"/>
              </a:rPr>
              <a:t>NEW</a:t>
            </a:r>
            <a:endParaRPr lang="en-IN" sz="2400" b="1" dirty="0">
              <a:solidFill>
                <a:schemeClr val="tx2">
                  <a:lumMod val="60000"/>
                  <a:lumOff val="40000"/>
                </a:schemeClr>
              </a:solidFill>
              <a:latin typeface="Consolas" pitchFamily="49" charset="0"/>
              <a:cs typeface="Consolas" pitchFamily="49" charset="0"/>
            </a:endParaRPr>
          </a:p>
        </p:txBody>
      </p:sp>
      <p:cxnSp>
        <p:nvCxnSpPr>
          <p:cNvPr id="36" name="Straight Arrow Connector 35"/>
          <p:cNvCxnSpPr>
            <a:stCxn id="27" idx="3"/>
            <a:endCxn id="5" idx="1"/>
          </p:cNvCxnSpPr>
          <p:nvPr/>
        </p:nvCxnSpPr>
        <p:spPr>
          <a:xfrm>
            <a:off x="2696277" y="1647723"/>
            <a:ext cx="389242"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502196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wipe(left)">
                                      <p:cBhvr>
                                        <p:cTn id="41" dur="500"/>
                                        <p:tgtEl>
                                          <p:spTgt spid="36"/>
                                        </p:tgtEl>
                                      </p:cBhvr>
                                    </p:animEffect>
                                  </p:childTnLst>
                                </p:cTn>
                              </p:par>
                            </p:childTnLst>
                          </p:cTn>
                        </p:par>
                      </p:childTnLst>
                    </p:cTn>
                  </p:par>
                  <p:par>
                    <p:cTn id="42" fill="hold">
                      <p:stCondLst>
                        <p:cond delay="indefinite"/>
                      </p:stCondLst>
                      <p:childTnLst>
                        <p:par>
                          <p:cTn id="43" fill="hold">
                            <p:stCondLst>
                              <p:cond delay="0"/>
                            </p:stCondLst>
                            <p:childTnLst>
                              <p:par>
                                <p:cTn id="44" presetID="35" presetClass="path" presetSubtype="0" accel="50000" decel="50000" fill="hold" nodeType="clickEffect">
                                  <p:stCondLst>
                                    <p:cond delay="0"/>
                                  </p:stCondLst>
                                  <p:childTnLst>
                                    <p:animMotion origin="layout" path="M -3.95833E-6 -2.96296E-6 L -0.15325 -2.96296E-6 " pathEditMode="relative" rAng="0" ptsTypes="AA">
                                      <p:cBhvr>
                                        <p:cTn id="45" dur="2000" fill="hold"/>
                                        <p:tgtEl>
                                          <p:spTgt spid="24"/>
                                        </p:tgtEl>
                                        <p:attrNameLst>
                                          <p:attrName>ppt_x</p:attrName>
                                          <p:attrName>ppt_y</p:attrName>
                                        </p:attrNameLst>
                                      </p:cBhvr>
                                      <p:rCtr x="-766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a:t>C code to insert a Node at First Location</a:t>
            </a:r>
          </a:p>
        </p:txBody>
      </p:sp>
      <p:sp>
        <p:nvSpPr>
          <p:cNvPr id="3" name="Rectangle 2"/>
          <p:cNvSpPr/>
          <p:nvPr/>
        </p:nvSpPr>
        <p:spPr>
          <a:xfrm>
            <a:off x="160424" y="955801"/>
            <a:ext cx="3343172" cy="646331"/>
          </a:xfrm>
          <a:prstGeom prst="rect">
            <a:avLst/>
          </a:prstGeom>
        </p:spPr>
        <p:txBody>
          <a:bodyPr wrap="square">
            <a:spAutoFit/>
          </a:bodyPr>
          <a:lstStyle/>
          <a:p>
            <a:r>
              <a:rPr lang="en-IN" dirty="0">
                <a:solidFill>
                  <a:srgbClr val="000000"/>
                </a:solidFill>
                <a:highlight>
                  <a:srgbClr val="FFFFFF"/>
                </a:highlight>
                <a:latin typeface="Cascadia Mono" panose="020B0609020000020004" pitchFamily="49" charset="0"/>
              </a:rPr>
              <a:t>#</a:t>
            </a:r>
            <a:r>
              <a:rPr lang="en-IN" dirty="0">
                <a:solidFill>
                  <a:srgbClr val="808080"/>
                </a:solidFill>
                <a:highlight>
                  <a:srgbClr val="FFFFFF"/>
                </a:highlight>
                <a:latin typeface="Cascadia Mono" panose="020B0609020000020004" pitchFamily="49" charset="0"/>
              </a:rPr>
              <a:t>include</a:t>
            </a:r>
            <a:r>
              <a:rPr lang="en-IN" dirty="0">
                <a:solidFill>
                  <a:srgbClr val="000000"/>
                </a:solidFill>
                <a:highlight>
                  <a:srgbClr val="FFFFFF"/>
                </a:highlight>
                <a:latin typeface="Cascadia Mono" panose="020B0609020000020004" pitchFamily="49" charset="0"/>
              </a:rPr>
              <a:t> </a:t>
            </a:r>
            <a:r>
              <a:rPr lang="en-IN" dirty="0">
                <a:solidFill>
                  <a:srgbClr val="A31515"/>
                </a:solidFill>
                <a:highlight>
                  <a:srgbClr val="FFFFFF"/>
                </a:highlight>
                <a:latin typeface="Cascadia Mono" panose="020B0609020000020004" pitchFamily="49" charset="0"/>
              </a:rPr>
              <a:t>&lt;</a:t>
            </a:r>
            <a:r>
              <a:rPr lang="en-IN" dirty="0" err="1">
                <a:solidFill>
                  <a:srgbClr val="A31515"/>
                </a:solidFill>
                <a:highlight>
                  <a:srgbClr val="FFFFFF"/>
                </a:highlight>
                <a:latin typeface="Cascadia Mono" panose="020B0609020000020004" pitchFamily="49" charset="0"/>
              </a:rPr>
              <a:t>stdio.h</a:t>
            </a:r>
            <a:r>
              <a:rPr lang="en-IN" dirty="0">
                <a:solidFill>
                  <a:srgbClr val="A31515"/>
                </a:solidFill>
                <a:highlight>
                  <a:srgbClr val="FFFFFF"/>
                </a:highlight>
                <a:latin typeface="Cascadia Mono" panose="020B0609020000020004" pitchFamily="49" charset="0"/>
              </a:rPr>
              <a:t>&gt;</a:t>
            </a:r>
            <a:endParaRPr lang="en-IN" dirty="0">
              <a:solidFill>
                <a:srgbClr val="000000"/>
              </a:solidFill>
              <a:highlight>
                <a:srgbClr val="FFFFFF"/>
              </a:highlight>
              <a:latin typeface="Cascadia Mono" panose="020B0609020000020004" pitchFamily="49" charset="0"/>
            </a:endParaRPr>
          </a:p>
          <a:p>
            <a:r>
              <a:rPr lang="en-IN" dirty="0">
                <a:solidFill>
                  <a:srgbClr val="000000"/>
                </a:solidFill>
                <a:highlight>
                  <a:srgbClr val="FFFFFF"/>
                </a:highlight>
                <a:latin typeface="Cascadia Mono" panose="020B0609020000020004" pitchFamily="49" charset="0"/>
              </a:rPr>
              <a:t>#</a:t>
            </a:r>
            <a:r>
              <a:rPr lang="en-IN" dirty="0">
                <a:solidFill>
                  <a:srgbClr val="808080"/>
                </a:solidFill>
                <a:highlight>
                  <a:srgbClr val="FFFFFF"/>
                </a:highlight>
                <a:latin typeface="Cascadia Mono" panose="020B0609020000020004" pitchFamily="49" charset="0"/>
              </a:rPr>
              <a:t>include</a:t>
            </a:r>
            <a:r>
              <a:rPr lang="en-IN" dirty="0">
                <a:solidFill>
                  <a:srgbClr val="000000"/>
                </a:solidFill>
                <a:highlight>
                  <a:srgbClr val="FFFFFF"/>
                </a:highlight>
                <a:latin typeface="Cascadia Mono" panose="020B0609020000020004" pitchFamily="49" charset="0"/>
              </a:rPr>
              <a:t> </a:t>
            </a:r>
            <a:r>
              <a:rPr lang="en-IN" dirty="0">
                <a:solidFill>
                  <a:srgbClr val="A31515"/>
                </a:solidFill>
                <a:highlight>
                  <a:srgbClr val="FFFFFF"/>
                </a:highlight>
                <a:latin typeface="Cascadia Mono" panose="020B0609020000020004" pitchFamily="49" charset="0"/>
              </a:rPr>
              <a:t>&lt;</a:t>
            </a:r>
            <a:r>
              <a:rPr lang="en-IN" dirty="0" err="1">
                <a:solidFill>
                  <a:srgbClr val="A31515"/>
                </a:solidFill>
                <a:highlight>
                  <a:srgbClr val="FFFFFF"/>
                </a:highlight>
                <a:latin typeface="Cascadia Mono" panose="020B0609020000020004" pitchFamily="49" charset="0"/>
              </a:rPr>
              <a:t>stdlib.h</a:t>
            </a:r>
            <a:r>
              <a:rPr lang="en-IN" dirty="0">
                <a:solidFill>
                  <a:srgbClr val="A31515"/>
                </a:solidFill>
                <a:highlight>
                  <a:srgbClr val="FFFFFF"/>
                </a:highlight>
                <a:latin typeface="Cascadia Mono" panose="020B0609020000020004" pitchFamily="49" charset="0"/>
              </a:rPr>
              <a:t>&gt;</a:t>
            </a:r>
            <a:endParaRPr lang="en-IN" dirty="0"/>
          </a:p>
        </p:txBody>
      </p:sp>
      <p:sp>
        <p:nvSpPr>
          <p:cNvPr id="4" name="Rectangle 3"/>
          <p:cNvSpPr/>
          <p:nvPr/>
        </p:nvSpPr>
        <p:spPr>
          <a:xfrm>
            <a:off x="160424" y="1708812"/>
            <a:ext cx="3561347" cy="1477328"/>
          </a:xfrm>
          <a:prstGeom prst="rect">
            <a:avLst/>
          </a:prstGeom>
        </p:spPr>
        <p:txBody>
          <a:bodyPr wrap="square">
            <a:spAutoFit/>
          </a:bodyPr>
          <a:lstStyle/>
          <a:p>
            <a:r>
              <a:rPr lang="en-IN" dirty="0" err="1">
                <a:solidFill>
                  <a:srgbClr val="0000FF"/>
                </a:solidFill>
                <a:highlight>
                  <a:srgbClr val="FFFFFF"/>
                </a:highlight>
                <a:latin typeface="Cascadia Mono" panose="020B0609020000020004" pitchFamily="49" charset="0"/>
              </a:rPr>
              <a:t>struct</a:t>
            </a:r>
            <a:r>
              <a:rPr lang="en-IN" dirty="0">
                <a:solidFill>
                  <a:srgbClr val="000000"/>
                </a:solidFill>
                <a:highlight>
                  <a:srgbClr val="FFFFFF"/>
                </a:highlight>
                <a:latin typeface="Cascadia Mono" panose="020B0609020000020004" pitchFamily="49" charset="0"/>
              </a:rPr>
              <a:t> node</a:t>
            </a:r>
          </a:p>
          <a:p>
            <a:r>
              <a:rPr lang="en-IN" dirty="0">
                <a:solidFill>
                  <a:srgbClr val="000000"/>
                </a:solidFill>
                <a:highlight>
                  <a:srgbClr val="FFFFFF"/>
                </a:highlight>
                <a:latin typeface="Cascadia Mono" panose="020B0609020000020004" pitchFamily="49" charset="0"/>
              </a:rPr>
              <a:t>{</a:t>
            </a:r>
          </a:p>
          <a:p>
            <a:r>
              <a:rPr lang="en-IN" dirty="0">
                <a:solidFill>
                  <a:srgbClr val="000000"/>
                </a:solidFill>
                <a:highlight>
                  <a:srgbClr val="FFFFFF"/>
                </a:highlight>
                <a:latin typeface="Cascadia Mono" panose="020B0609020000020004" pitchFamily="49" charset="0"/>
              </a:rPr>
              <a:t>    </a:t>
            </a:r>
            <a:r>
              <a:rPr lang="en-IN" dirty="0" err="1">
                <a:solidFill>
                  <a:srgbClr val="0000FF"/>
                </a:solidFill>
                <a:highlight>
                  <a:srgbClr val="FFFFFF"/>
                </a:highlight>
                <a:latin typeface="Cascadia Mono" panose="020B0609020000020004" pitchFamily="49" charset="0"/>
              </a:rPr>
              <a:t>int</a:t>
            </a:r>
            <a:r>
              <a:rPr lang="en-IN" dirty="0">
                <a:solidFill>
                  <a:srgbClr val="000000"/>
                </a:solidFill>
                <a:highlight>
                  <a:srgbClr val="FFFFFF"/>
                </a:highlight>
                <a:latin typeface="Cascadia Mono" panose="020B0609020000020004" pitchFamily="49" charset="0"/>
              </a:rPr>
              <a:t> info;</a:t>
            </a:r>
          </a:p>
          <a:p>
            <a:r>
              <a:rPr lang="en-IN" dirty="0">
                <a:solidFill>
                  <a:srgbClr val="000000"/>
                </a:solidFill>
                <a:highlight>
                  <a:srgbClr val="FFFFFF"/>
                </a:highlight>
                <a:latin typeface="Cascadia Mono" panose="020B0609020000020004" pitchFamily="49" charset="0"/>
              </a:rPr>
              <a:t>    </a:t>
            </a:r>
            <a:r>
              <a:rPr lang="en-IN" dirty="0" err="1">
                <a:solidFill>
                  <a:srgbClr val="0000FF"/>
                </a:solidFill>
                <a:highlight>
                  <a:srgbClr val="FFFFFF"/>
                </a:highlight>
                <a:latin typeface="Cascadia Mono" panose="020B0609020000020004" pitchFamily="49" charset="0"/>
              </a:rPr>
              <a:t>struct</a:t>
            </a:r>
            <a:r>
              <a:rPr lang="en-IN" dirty="0">
                <a:solidFill>
                  <a:srgbClr val="000000"/>
                </a:solidFill>
                <a:highlight>
                  <a:srgbClr val="FFFFFF"/>
                </a:highlight>
                <a:latin typeface="Cascadia Mono" panose="020B0609020000020004" pitchFamily="49" charset="0"/>
              </a:rPr>
              <a:t> node *link;</a:t>
            </a:r>
          </a:p>
          <a:p>
            <a:r>
              <a:rPr lang="en-IN" dirty="0">
                <a:solidFill>
                  <a:srgbClr val="000000"/>
                </a:solidFill>
                <a:highlight>
                  <a:srgbClr val="FFFFFF"/>
                </a:highlight>
                <a:latin typeface="Cascadia Mono" panose="020B0609020000020004" pitchFamily="49" charset="0"/>
              </a:rPr>
              <a:t>};</a:t>
            </a:r>
            <a:endParaRPr lang="en-IN" dirty="0"/>
          </a:p>
        </p:txBody>
      </p:sp>
      <p:sp>
        <p:nvSpPr>
          <p:cNvPr id="19" name="Rectangle 18"/>
          <p:cNvSpPr/>
          <p:nvPr/>
        </p:nvSpPr>
        <p:spPr>
          <a:xfrm>
            <a:off x="4549542" y="2108000"/>
            <a:ext cx="7279906" cy="369332"/>
          </a:xfrm>
          <a:prstGeom prst="rect">
            <a:avLst/>
          </a:prstGeom>
        </p:spPr>
        <p:txBody>
          <a:bodyPr wrap="square">
            <a:spAutoFit/>
          </a:bodyPr>
          <a:lstStyle/>
          <a:p>
            <a:r>
              <a:rPr lang="en-US" dirty="0" err="1">
                <a:solidFill>
                  <a:srgbClr val="000000"/>
                </a:solidFill>
                <a:highlight>
                  <a:srgbClr val="FFFFFF"/>
                </a:highlight>
                <a:latin typeface="Cascadia Mono" panose="020B0609020000020004" pitchFamily="49" charset="0"/>
              </a:rPr>
              <a:t>newNode</a:t>
            </a:r>
            <a:r>
              <a:rPr lang="en-US" dirty="0">
                <a:solidFill>
                  <a:srgbClr val="000000"/>
                </a:solidFill>
                <a:highlight>
                  <a:srgbClr val="FFFFFF"/>
                </a:highlight>
                <a:latin typeface="Cascadia Mono" panose="020B0609020000020004" pitchFamily="49" charset="0"/>
              </a:rPr>
              <a:t> = (</a:t>
            </a:r>
            <a:r>
              <a:rPr lang="en-US" dirty="0" err="1">
                <a:solidFill>
                  <a:srgbClr val="0000FF"/>
                </a:solidFill>
                <a:highlight>
                  <a:srgbClr val="FFFFFF"/>
                </a:highlight>
                <a:latin typeface="Cascadia Mono" panose="020B0609020000020004" pitchFamily="49" charset="0"/>
              </a:rPr>
              <a:t>struct</a:t>
            </a:r>
            <a:r>
              <a:rPr lang="en-US" dirty="0">
                <a:solidFill>
                  <a:srgbClr val="000000"/>
                </a:solidFill>
                <a:highlight>
                  <a:srgbClr val="FFFFFF"/>
                </a:highlight>
                <a:latin typeface="Cascadia Mono" panose="020B0609020000020004" pitchFamily="49" charset="0"/>
              </a:rPr>
              <a:t> node *)</a:t>
            </a:r>
            <a:r>
              <a:rPr lang="en-US" dirty="0" err="1">
                <a:solidFill>
                  <a:srgbClr val="2B91AF"/>
                </a:solidFill>
                <a:highlight>
                  <a:srgbClr val="FFFFFF"/>
                </a:highlight>
                <a:latin typeface="Cascadia Mono" panose="020B0609020000020004" pitchFamily="49" charset="0"/>
              </a:rPr>
              <a:t>malloc</a:t>
            </a:r>
            <a:r>
              <a:rPr lang="en-US" dirty="0">
                <a:solidFill>
                  <a:srgbClr val="000000"/>
                </a:solidFill>
                <a:highlight>
                  <a:srgbClr val="FFFFFF"/>
                </a:highlight>
                <a:latin typeface="Cascadia Mono" panose="020B0609020000020004" pitchFamily="49" charset="0"/>
              </a:rPr>
              <a:t>(</a:t>
            </a:r>
            <a:r>
              <a:rPr lang="en-US" dirty="0" err="1">
                <a:solidFill>
                  <a:srgbClr val="000000"/>
                </a:solidFill>
                <a:highlight>
                  <a:srgbClr val="FFFFFF"/>
                </a:highlight>
                <a:latin typeface="Cascadia Mono" panose="020B0609020000020004" pitchFamily="49" charset="0"/>
              </a:rPr>
              <a:t>sizeof</a:t>
            </a:r>
            <a:r>
              <a:rPr lang="en-US" dirty="0">
                <a:solidFill>
                  <a:srgbClr val="000000"/>
                </a:solidFill>
                <a:highlight>
                  <a:srgbClr val="FFFFFF"/>
                </a:highlight>
                <a:latin typeface="Cascadia Mono" panose="020B0609020000020004" pitchFamily="49" charset="0"/>
              </a:rPr>
              <a:t>(</a:t>
            </a:r>
            <a:r>
              <a:rPr lang="en-US" dirty="0" err="1">
                <a:solidFill>
                  <a:srgbClr val="0000FF"/>
                </a:solidFill>
                <a:highlight>
                  <a:srgbClr val="FFFFFF"/>
                </a:highlight>
                <a:latin typeface="Cascadia Mono" panose="020B0609020000020004" pitchFamily="49" charset="0"/>
              </a:rPr>
              <a:t>struct</a:t>
            </a:r>
            <a:r>
              <a:rPr lang="en-US" dirty="0">
                <a:solidFill>
                  <a:srgbClr val="000000"/>
                </a:solidFill>
                <a:highlight>
                  <a:srgbClr val="FFFFFF"/>
                </a:highlight>
                <a:latin typeface="Cascadia Mono" panose="020B0609020000020004" pitchFamily="49" charset="0"/>
              </a:rPr>
              <a:t> node));</a:t>
            </a:r>
            <a:endParaRPr lang="en-IN" dirty="0"/>
          </a:p>
        </p:txBody>
      </p:sp>
      <p:sp>
        <p:nvSpPr>
          <p:cNvPr id="5" name="Rectangle 4"/>
          <p:cNvSpPr/>
          <p:nvPr/>
        </p:nvSpPr>
        <p:spPr>
          <a:xfrm>
            <a:off x="160424" y="3292820"/>
            <a:ext cx="3685624" cy="369332"/>
          </a:xfrm>
          <a:prstGeom prst="rect">
            <a:avLst/>
          </a:prstGeom>
        </p:spPr>
        <p:txBody>
          <a:bodyPr wrap="none">
            <a:spAutoFit/>
          </a:bodyPr>
          <a:lstStyle/>
          <a:p>
            <a:r>
              <a:rPr lang="en-IN" dirty="0" err="1">
                <a:solidFill>
                  <a:srgbClr val="0000FF"/>
                </a:solidFill>
                <a:highlight>
                  <a:srgbClr val="FFFFFF"/>
                </a:highlight>
                <a:latin typeface="Cascadia Mono" panose="020B0609020000020004" pitchFamily="49" charset="0"/>
              </a:rPr>
              <a:t>struct</a:t>
            </a:r>
            <a:r>
              <a:rPr lang="en-IN" dirty="0">
                <a:solidFill>
                  <a:srgbClr val="000000"/>
                </a:solidFill>
                <a:highlight>
                  <a:srgbClr val="FFFFFF"/>
                </a:highlight>
                <a:latin typeface="Cascadia Mono" panose="020B0609020000020004" pitchFamily="49" charset="0"/>
              </a:rPr>
              <a:t> node *first = </a:t>
            </a:r>
            <a:r>
              <a:rPr lang="en-IN" dirty="0">
                <a:solidFill>
                  <a:srgbClr val="0000FF"/>
                </a:solidFill>
                <a:highlight>
                  <a:srgbClr val="FFFFFF"/>
                </a:highlight>
                <a:latin typeface="Cascadia Mono" panose="020B0609020000020004" pitchFamily="49" charset="0"/>
              </a:rPr>
              <a:t>NULL</a:t>
            </a:r>
            <a:r>
              <a:rPr lang="en-IN" dirty="0">
                <a:solidFill>
                  <a:srgbClr val="000000"/>
                </a:solidFill>
                <a:highlight>
                  <a:srgbClr val="FFFFFF"/>
                </a:highlight>
                <a:latin typeface="Cascadia Mono" panose="020B0609020000020004" pitchFamily="49" charset="0"/>
              </a:rPr>
              <a:t>;</a:t>
            </a:r>
          </a:p>
        </p:txBody>
      </p:sp>
      <p:sp>
        <p:nvSpPr>
          <p:cNvPr id="8" name="Rectangle 7"/>
          <p:cNvSpPr/>
          <p:nvPr/>
        </p:nvSpPr>
        <p:spPr>
          <a:xfrm>
            <a:off x="4154908" y="886841"/>
            <a:ext cx="6779394" cy="369332"/>
          </a:xfrm>
          <a:prstGeom prst="rect">
            <a:avLst/>
          </a:prstGeom>
        </p:spPr>
        <p:txBody>
          <a:bodyPr wrap="square">
            <a:spAutoFit/>
          </a:bodyPr>
          <a:lstStyle/>
          <a:p>
            <a:r>
              <a:rPr lang="en-US" dirty="0">
                <a:solidFill>
                  <a:srgbClr val="008000"/>
                </a:solidFill>
                <a:highlight>
                  <a:srgbClr val="FFFFFF"/>
                </a:highlight>
                <a:latin typeface="Cascadia Mono" panose="020B0609020000020004" pitchFamily="49" charset="0"/>
              </a:rPr>
              <a:t>// Function to insert a node at the beginning</a:t>
            </a:r>
            <a:endParaRPr lang="en-IN" dirty="0"/>
          </a:p>
        </p:txBody>
      </p:sp>
      <p:sp>
        <p:nvSpPr>
          <p:cNvPr id="17" name="Rectangle 16"/>
          <p:cNvSpPr/>
          <p:nvPr/>
        </p:nvSpPr>
        <p:spPr>
          <a:xfrm>
            <a:off x="4154908" y="1256173"/>
            <a:ext cx="6096000" cy="646331"/>
          </a:xfrm>
          <a:prstGeom prst="rect">
            <a:avLst/>
          </a:prstGeom>
        </p:spPr>
        <p:txBody>
          <a:bodyPr>
            <a:spAutoFit/>
          </a:bodyPr>
          <a:lstStyle/>
          <a:p>
            <a:r>
              <a:rPr lang="en-IN" dirty="0">
                <a:solidFill>
                  <a:srgbClr val="0000FF"/>
                </a:solidFill>
                <a:highlight>
                  <a:srgbClr val="FFFFFF"/>
                </a:highlight>
                <a:latin typeface="Cascadia Mono" panose="020B0609020000020004" pitchFamily="49" charset="0"/>
              </a:rPr>
              <a:t>void</a:t>
            </a:r>
            <a:r>
              <a:rPr lang="en-IN" dirty="0">
                <a:solidFill>
                  <a:srgbClr val="000000"/>
                </a:solidFill>
                <a:highlight>
                  <a:srgbClr val="FFFFFF"/>
                </a:highlight>
                <a:latin typeface="Cascadia Mono" panose="020B0609020000020004" pitchFamily="49" charset="0"/>
              </a:rPr>
              <a:t> </a:t>
            </a:r>
            <a:r>
              <a:rPr lang="en-IN" dirty="0" err="1">
                <a:solidFill>
                  <a:srgbClr val="2B91AF"/>
                </a:solidFill>
                <a:highlight>
                  <a:srgbClr val="FFFFFF"/>
                </a:highlight>
                <a:latin typeface="Cascadia Mono" panose="020B0609020000020004" pitchFamily="49" charset="0"/>
              </a:rPr>
              <a:t>insertAtFirst</a:t>
            </a:r>
            <a:r>
              <a:rPr lang="en-IN" dirty="0">
                <a:solidFill>
                  <a:srgbClr val="000000"/>
                </a:solidFill>
                <a:highlight>
                  <a:srgbClr val="FFFFFF"/>
                </a:highlight>
                <a:latin typeface="Cascadia Mono" panose="020B0609020000020004" pitchFamily="49" charset="0"/>
              </a:rPr>
              <a:t>(</a:t>
            </a:r>
            <a:r>
              <a:rPr lang="en-IN" dirty="0" err="1">
                <a:solidFill>
                  <a:srgbClr val="0000FF"/>
                </a:solidFill>
                <a:highlight>
                  <a:srgbClr val="FFFFFF"/>
                </a:highlight>
                <a:latin typeface="Cascadia Mono" panose="020B0609020000020004" pitchFamily="49" charset="0"/>
              </a:rPr>
              <a:t>int</a:t>
            </a:r>
            <a:r>
              <a:rPr lang="en-IN" dirty="0">
                <a:solidFill>
                  <a:srgbClr val="000000"/>
                </a:solidFill>
                <a:highlight>
                  <a:srgbClr val="FFFFFF"/>
                </a:highlight>
                <a:latin typeface="Cascadia Mono" panose="020B0609020000020004" pitchFamily="49" charset="0"/>
              </a:rPr>
              <a:t> x)</a:t>
            </a:r>
          </a:p>
          <a:p>
            <a:r>
              <a:rPr lang="en-IN" dirty="0">
                <a:solidFill>
                  <a:srgbClr val="000000"/>
                </a:solidFill>
                <a:highlight>
                  <a:srgbClr val="FFFFFF"/>
                </a:highlight>
                <a:latin typeface="Cascadia Mono" panose="020B0609020000020004" pitchFamily="49" charset="0"/>
              </a:rPr>
              <a:t>{</a:t>
            </a:r>
            <a:endParaRPr lang="en-IN" dirty="0"/>
          </a:p>
        </p:txBody>
      </p:sp>
      <p:sp>
        <p:nvSpPr>
          <p:cNvPr id="18" name="Rectangle 17"/>
          <p:cNvSpPr/>
          <p:nvPr/>
        </p:nvSpPr>
        <p:spPr>
          <a:xfrm>
            <a:off x="4549542" y="1738668"/>
            <a:ext cx="3495402" cy="369332"/>
          </a:xfrm>
          <a:prstGeom prst="rect">
            <a:avLst/>
          </a:prstGeom>
        </p:spPr>
        <p:txBody>
          <a:bodyPr wrap="square">
            <a:spAutoFit/>
          </a:bodyPr>
          <a:lstStyle/>
          <a:p>
            <a:r>
              <a:rPr lang="en-IN" dirty="0" err="1">
                <a:solidFill>
                  <a:srgbClr val="0000FF"/>
                </a:solidFill>
                <a:highlight>
                  <a:srgbClr val="FFFFFF"/>
                </a:highlight>
                <a:latin typeface="Cascadia Mono" panose="020B0609020000020004" pitchFamily="49" charset="0"/>
              </a:rPr>
              <a:t>struct</a:t>
            </a:r>
            <a:r>
              <a:rPr lang="en-IN" dirty="0">
                <a:solidFill>
                  <a:srgbClr val="000000"/>
                </a:solidFill>
                <a:highlight>
                  <a:srgbClr val="FFFFFF"/>
                </a:highlight>
                <a:latin typeface="Cascadia Mono" panose="020B0609020000020004" pitchFamily="49" charset="0"/>
              </a:rPr>
              <a:t> node *</a:t>
            </a:r>
            <a:r>
              <a:rPr lang="en-IN" dirty="0" err="1">
                <a:solidFill>
                  <a:srgbClr val="000000"/>
                </a:solidFill>
                <a:highlight>
                  <a:srgbClr val="FFFFFF"/>
                </a:highlight>
                <a:latin typeface="Cascadia Mono" panose="020B0609020000020004" pitchFamily="49" charset="0"/>
              </a:rPr>
              <a:t>newNode</a:t>
            </a:r>
            <a:r>
              <a:rPr lang="en-IN" dirty="0">
                <a:solidFill>
                  <a:srgbClr val="000000"/>
                </a:solidFill>
                <a:highlight>
                  <a:srgbClr val="FFFFFF"/>
                </a:highlight>
                <a:latin typeface="Cascadia Mono" panose="020B0609020000020004" pitchFamily="49" charset="0"/>
              </a:rPr>
              <a:t>;</a:t>
            </a:r>
            <a:endParaRPr lang="en-IN" dirty="0"/>
          </a:p>
        </p:txBody>
      </p:sp>
      <p:sp>
        <p:nvSpPr>
          <p:cNvPr id="20" name="Rectangle 19"/>
          <p:cNvSpPr/>
          <p:nvPr/>
        </p:nvSpPr>
        <p:spPr>
          <a:xfrm>
            <a:off x="4549542" y="2590495"/>
            <a:ext cx="3160294" cy="646331"/>
          </a:xfrm>
          <a:prstGeom prst="rect">
            <a:avLst/>
          </a:prstGeom>
        </p:spPr>
        <p:txBody>
          <a:bodyPr wrap="square">
            <a:spAutoFit/>
          </a:bodyPr>
          <a:lstStyle/>
          <a:p>
            <a:r>
              <a:rPr lang="en-IN" dirty="0" err="1">
                <a:solidFill>
                  <a:srgbClr val="000000"/>
                </a:solidFill>
                <a:highlight>
                  <a:srgbClr val="FFFFFF"/>
                </a:highlight>
                <a:latin typeface="Cascadia Mono" panose="020B0609020000020004" pitchFamily="49" charset="0"/>
              </a:rPr>
              <a:t>newNode</a:t>
            </a:r>
            <a:r>
              <a:rPr lang="en-IN" dirty="0">
                <a:solidFill>
                  <a:srgbClr val="000000"/>
                </a:solidFill>
                <a:highlight>
                  <a:srgbClr val="FFFFFF"/>
                </a:highlight>
                <a:latin typeface="Cascadia Mono" panose="020B0609020000020004" pitchFamily="49" charset="0"/>
              </a:rPr>
              <a:t>-&gt;info = x;</a:t>
            </a:r>
          </a:p>
          <a:p>
            <a:r>
              <a:rPr lang="en-IN" dirty="0" err="1">
                <a:solidFill>
                  <a:srgbClr val="000000"/>
                </a:solidFill>
                <a:highlight>
                  <a:srgbClr val="FFFFFF"/>
                </a:highlight>
                <a:latin typeface="Cascadia Mono" panose="020B0609020000020004" pitchFamily="49" charset="0"/>
              </a:rPr>
              <a:t>newNode</a:t>
            </a:r>
            <a:r>
              <a:rPr lang="en-IN" dirty="0">
                <a:solidFill>
                  <a:srgbClr val="000000"/>
                </a:solidFill>
                <a:highlight>
                  <a:srgbClr val="FFFFFF"/>
                </a:highlight>
                <a:latin typeface="Cascadia Mono" panose="020B0609020000020004" pitchFamily="49" charset="0"/>
              </a:rPr>
              <a:t>-&gt;link = first;</a:t>
            </a:r>
            <a:endParaRPr lang="en-IN" dirty="0"/>
          </a:p>
        </p:txBody>
      </p:sp>
      <p:sp>
        <p:nvSpPr>
          <p:cNvPr id="21" name="Rectangle 20"/>
          <p:cNvSpPr/>
          <p:nvPr/>
        </p:nvSpPr>
        <p:spPr>
          <a:xfrm>
            <a:off x="4328160" y="3292820"/>
            <a:ext cx="6096000" cy="646331"/>
          </a:xfrm>
          <a:prstGeom prst="rect">
            <a:avLst/>
          </a:prstGeom>
        </p:spPr>
        <p:txBody>
          <a:bodyPr>
            <a:spAutoFit/>
          </a:bodyPr>
          <a:lstStyle/>
          <a:p>
            <a:r>
              <a:rPr lang="en-IN" dirty="0">
                <a:solidFill>
                  <a:srgbClr val="000000"/>
                </a:solidFill>
                <a:highlight>
                  <a:srgbClr val="FFFFFF"/>
                </a:highlight>
                <a:latin typeface="Cascadia Mono" panose="020B0609020000020004" pitchFamily="49" charset="0"/>
              </a:rPr>
              <a:t>  first = </a:t>
            </a:r>
            <a:r>
              <a:rPr lang="en-IN" dirty="0" err="1">
                <a:solidFill>
                  <a:srgbClr val="000000"/>
                </a:solidFill>
                <a:highlight>
                  <a:srgbClr val="FFFFFF"/>
                </a:highlight>
                <a:latin typeface="Cascadia Mono" panose="020B0609020000020004" pitchFamily="49" charset="0"/>
              </a:rPr>
              <a:t>newNode</a:t>
            </a:r>
            <a:r>
              <a:rPr lang="en-IN" dirty="0">
                <a:solidFill>
                  <a:srgbClr val="000000"/>
                </a:solidFill>
                <a:highlight>
                  <a:srgbClr val="FFFFFF"/>
                </a:highlight>
                <a:latin typeface="Cascadia Mono" panose="020B0609020000020004" pitchFamily="49" charset="0"/>
              </a:rPr>
              <a:t>;</a:t>
            </a:r>
          </a:p>
          <a:p>
            <a:r>
              <a:rPr lang="en-IN" dirty="0">
                <a:solidFill>
                  <a:srgbClr val="000000"/>
                </a:solidFill>
                <a:highlight>
                  <a:srgbClr val="FFFFFF"/>
                </a:highlight>
                <a:latin typeface="Cascadia Mono" panose="020B0609020000020004" pitchFamily="49" charset="0"/>
              </a:rPr>
              <a:t>}</a:t>
            </a:r>
            <a:endParaRPr lang="en-IN" dirty="0"/>
          </a:p>
        </p:txBody>
      </p:sp>
    </p:spTree>
    <p:extLst>
      <p:ext uri="{BB962C8B-B14F-4D97-AF65-F5344CB8AC3E}">
        <p14:creationId xmlns:p14="http://schemas.microsoft.com/office/powerpoint/2010/main" val="22379657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9" grpId="0"/>
      <p:bldP spid="5" grpId="0"/>
      <p:bldP spid="8" grpId="0"/>
      <p:bldP spid="17" grpId="0"/>
      <p:bldP spid="18" grpId="0"/>
      <p:bldP spid="20" grpId="0"/>
      <p:bldP spid="2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Procedure: </a:t>
            </a:r>
            <a:r>
              <a:rPr lang="en-US" dirty="0"/>
              <a:t>INSEND(X, FIRST)</a:t>
            </a:r>
          </a:p>
        </p:txBody>
      </p:sp>
      <p:sp>
        <p:nvSpPr>
          <p:cNvPr id="3" name="Content Placeholder 2"/>
          <p:cNvSpPr>
            <a:spLocks noGrp="1"/>
          </p:cNvSpPr>
          <p:nvPr>
            <p:ph idx="1"/>
          </p:nvPr>
        </p:nvSpPr>
        <p:spPr/>
        <p:txBody>
          <a:bodyPr/>
          <a:lstStyle/>
          <a:p>
            <a:r>
              <a:rPr lang="en-IN" dirty="0"/>
              <a:t>This </a:t>
            </a:r>
            <a:r>
              <a:rPr lang="en-IN" dirty="0" smtClean="0"/>
              <a:t>procedure </a:t>
            </a:r>
            <a:r>
              <a:rPr lang="en-IN" b="1" dirty="0">
                <a:solidFill>
                  <a:srgbClr val="C00000"/>
                </a:solidFill>
              </a:rPr>
              <a:t>inserts</a:t>
            </a:r>
            <a:r>
              <a:rPr lang="en-IN" dirty="0">
                <a:solidFill>
                  <a:srgbClr val="C00000"/>
                </a:solidFill>
              </a:rPr>
              <a:t> </a:t>
            </a:r>
            <a:r>
              <a:rPr lang="en-IN" dirty="0"/>
              <a:t>a new node at the </a:t>
            </a:r>
            <a:r>
              <a:rPr lang="en-IN" b="1" dirty="0">
                <a:solidFill>
                  <a:srgbClr val="C00000"/>
                </a:solidFill>
              </a:rPr>
              <a:t>last position</a:t>
            </a:r>
            <a:r>
              <a:rPr lang="en-IN" b="1" dirty="0">
                <a:solidFill>
                  <a:srgbClr val="FF0000"/>
                </a:solidFill>
              </a:rPr>
              <a:t> </a:t>
            </a:r>
            <a:r>
              <a:rPr lang="en-IN" dirty="0"/>
              <a:t>of linked list. </a:t>
            </a:r>
          </a:p>
          <a:p>
            <a:r>
              <a:rPr lang="en-IN" b="1" dirty="0" smtClean="0">
                <a:solidFill>
                  <a:srgbClr val="C00000"/>
                </a:solidFill>
              </a:rPr>
              <a:t>X</a:t>
            </a:r>
            <a:r>
              <a:rPr lang="en-IN" dirty="0" smtClean="0">
                <a:solidFill>
                  <a:srgbClr val="C00000"/>
                </a:solidFill>
              </a:rPr>
              <a:t> </a:t>
            </a:r>
            <a:r>
              <a:rPr lang="en-IN" dirty="0"/>
              <a:t>is a new element to be inserted.</a:t>
            </a:r>
          </a:p>
          <a:p>
            <a:r>
              <a:rPr lang="en-IN" b="1" dirty="0">
                <a:solidFill>
                  <a:srgbClr val="C00000"/>
                </a:solidFill>
              </a:rPr>
              <a:t>FIRST</a:t>
            </a:r>
            <a:r>
              <a:rPr lang="en-IN" dirty="0">
                <a:solidFill>
                  <a:srgbClr val="C00000"/>
                </a:solidFill>
              </a:rPr>
              <a:t> </a:t>
            </a:r>
            <a:r>
              <a:rPr lang="en-IN" dirty="0"/>
              <a:t>is a </a:t>
            </a:r>
            <a:r>
              <a:rPr lang="en-IN" b="1" dirty="0"/>
              <a:t>pointer to the first element</a:t>
            </a:r>
            <a:r>
              <a:rPr lang="en-IN" dirty="0"/>
              <a:t> of a Singly linked linear list. </a:t>
            </a:r>
          </a:p>
          <a:p>
            <a:r>
              <a:rPr lang="en-IN" dirty="0"/>
              <a:t>Typical node contains </a:t>
            </a:r>
            <a:r>
              <a:rPr lang="en-IN" b="1" dirty="0">
                <a:solidFill>
                  <a:srgbClr val="C00000"/>
                </a:solidFill>
              </a:rPr>
              <a:t>INFO</a:t>
            </a:r>
            <a:r>
              <a:rPr lang="en-IN" dirty="0">
                <a:solidFill>
                  <a:srgbClr val="C00000"/>
                </a:solidFill>
              </a:rPr>
              <a:t> </a:t>
            </a:r>
            <a:r>
              <a:rPr lang="en-IN" dirty="0"/>
              <a:t>and </a:t>
            </a:r>
            <a:r>
              <a:rPr lang="en-IN" b="1" dirty="0">
                <a:solidFill>
                  <a:srgbClr val="C00000"/>
                </a:solidFill>
              </a:rPr>
              <a:t>LINK</a:t>
            </a:r>
            <a:r>
              <a:rPr lang="en-IN" dirty="0">
                <a:solidFill>
                  <a:srgbClr val="C00000"/>
                </a:solidFill>
              </a:rPr>
              <a:t> </a:t>
            </a:r>
            <a:r>
              <a:rPr lang="en-IN" dirty="0"/>
              <a:t>fields. </a:t>
            </a:r>
          </a:p>
          <a:p>
            <a:r>
              <a:rPr lang="en-IN" b="1" dirty="0">
                <a:solidFill>
                  <a:srgbClr val="C00000"/>
                </a:solidFill>
              </a:rPr>
              <a:t>NEW</a:t>
            </a:r>
            <a:r>
              <a:rPr lang="en-IN" dirty="0">
                <a:solidFill>
                  <a:srgbClr val="C00000"/>
                </a:solidFill>
              </a:rPr>
              <a:t> </a:t>
            </a:r>
            <a:r>
              <a:rPr lang="en-IN" dirty="0"/>
              <a:t>is a temporary pointer variable. </a:t>
            </a:r>
          </a:p>
        </p:txBody>
      </p:sp>
    </p:spTree>
    <p:extLst>
      <p:ext uri="{BB962C8B-B14F-4D97-AF65-F5344CB8AC3E}">
        <p14:creationId xmlns:p14="http://schemas.microsoft.com/office/powerpoint/2010/main" val="1493457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Procedure: </a:t>
            </a:r>
            <a:r>
              <a:rPr lang="en-US" dirty="0"/>
              <a:t>INSEND(X, FIRST) </a:t>
            </a:r>
            <a:r>
              <a:rPr lang="en-US" dirty="0" err="1"/>
              <a:t>Cont</a:t>
            </a:r>
            <a:r>
              <a:rPr lang="en-US" dirty="0"/>
              <a:t>…</a:t>
            </a:r>
          </a:p>
        </p:txBody>
      </p:sp>
      <p:sp>
        <p:nvSpPr>
          <p:cNvPr id="4" name="TextBox 3"/>
          <p:cNvSpPr txBox="1"/>
          <p:nvPr/>
        </p:nvSpPr>
        <p:spPr>
          <a:xfrm>
            <a:off x="270684" y="783771"/>
            <a:ext cx="5760000" cy="3785652"/>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1. [Creates a new empty node]</a:t>
            </a:r>
          </a:p>
          <a:p>
            <a:r>
              <a:rPr lang="en-IN" sz="2000" dirty="0">
                <a:latin typeface="Consolas" pitchFamily="49" charset="0"/>
                <a:cs typeface="Consolas" pitchFamily="49" charset="0"/>
              </a:rPr>
              <a:t>    NEW </a:t>
            </a:r>
            <a:r>
              <a:rPr lang="en-IN" sz="2000" b="1" dirty="0" smtClean="0">
                <a:solidFill>
                  <a:schemeClr val="accent6"/>
                </a:solidFill>
                <a:latin typeface="Consolas" pitchFamily="49" charset="0"/>
                <a:cs typeface="Consolas" pitchFamily="49" charset="0"/>
              </a:rPr>
              <a:t>&lt;=</a:t>
            </a:r>
            <a:r>
              <a:rPr lang="en-IN" sz="2000" dirty="0" smtClean="0">
                <a:latin typeface="Consolas" pitchFamily="49" charset="0"/>
                <a:cs typeface="Consolas" pitchFamily="49" charset="0"/>
              </a:rPr>
              <a:t> NODE</a:t>
            </a:r>
            <a:endParaRPr lang="en-IN" sz="2000" dirty="0">
              <a:latin typeface="Consolas" pitchFamily="49" charset="0"/>
              <a:cs typeface="Consolas" pitchFamily="49" charset="0"/>
            </a:endParaRPr>
          </a:p>
          <a:p>
            <a:endParaRPr lang="en-IN" sz="2000" b="1" dirty="0">
              <a:solidFill>
                <a:schemeClr val="tx2">
                  <a:lumMod val="60000"/>
                  <a:lumOff val="40000"/>
                </a:schemeClr>
              </a:solidFill>
              <a:latin typeface="Consolas" pitchFamily="49" charset="0"/>
              <a:cs typeface="Consolas" pitchFamily="49" charset="0"/>
            </a:endParaRPr>
          </a:p>
          <a:p>
            <a:r>
              <a:rPr lang="en-IN" sz="2000" b="1" dirty="0">
                <a:solidFill>
                  <a:schemeClr val="tx2"/>
                </a:solidFill>
                <a:latin typeface="Consolas" pitchFamily="49" charset="0"/>
                <a:cs typeface="Consolas" pitchFamily="49" charset="0"/>
              </a:rPr>
              <a:t>2. [Initialize fields of new node]</a:t>
            </a:r>
          </a:p>
          <a:p>
            <a:r>
              <a:rPr lang="en-IN" sz="2000" dirty="0">
                <a:latin typeface="Consolas" pitchFamily="49" charset="0"/>
                <a:cs typeface="Consolas" pitchFamily="49" charset="0"/>
              </a:rPr>
              <a:t>    INFO(NEW)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X</a:t>
            </a:r>
          </a:p>
          <a:p>
            <a:r>
              <a:rPr lang="en-IN" sz="2000" dirty="0">
                <a:latin typeface="Consolas" pitchFamily="49" charset="0"/>
                <a:cs typeface="Consolas" pitchFamily="49" charset="0"/>
              </a:rPr>
              <a:t>    LINK (NEW)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NULL</a:t>
            </a:r>
          </a:p>
          <a:p>
            <a:endParaRPr lang="en-IN" sz="2000" dirty="0">
              <a:latin typeface="Consolas" pitchFamily="49" charset="0"/>
              <a:cs typeface="Consolas" pitchFamily="49" charset="0"/>
            </a:endParaRPr>
          </a:p>
          <a:p>
            <a:r>
              <a:rPr lang="en-IN" sz="2000" b="1" dirty="0">
                <a:solidFill>
                  <a:schemeClr val="tx2"/>
                </a:solidFill>
                <a:latin typeface="Consolas" pitchFamily="49" charset="0"/>
                <a:cs typeface="Consolas" pitchFamily="49" charset="0"/>
              </a:rPr>
              <a:t>3. [Is the list empty</a:t>
            </a:r>
            <a:r>
              <a:rPr lang="en-IN" sz="2000" b="1" dirty="0" smtClean="0">
                <a:solidFill>
                  <a:schemeClr val="tx2"/>
                </a:solidFill>
                <a:latin typeface="Consolas" pitchFamily="49" charset="0"/>
                <a:cs typeface="Consolas" pitchFamily="49" charset="0"/>
              </a:rPr>
              <a:t>?, new node is      	first one]</a:t>
            </a:r>
            <a:endParaRPr lang="en-IN" sz="2000" b="1" dirty="0">
              <a:solidFill>
                <a:schemeClr val="tx2"/>
              </a:solidFill>
              <a:latin typeface="Consolas" pitchFamily="49" charset="0"/>
              <a:cs typeface="Consolas" pitchFamily="49" charset="0"/>
            </a:endParaRP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If</a:t>
            </a:r>
            <a:r>
              <a:rPr lang="en-IN" sz="2000" dirty="0">
                <a:latin typeface="Consolas" pitchFamily="49" charset="0"/>
                <a:cs typeface="Consolas" pitchFamily="49" charset="0"/>
              </a:rPr>
              <a:t>	   FIRST = NULL</a:t>
            </a:r>
          </a:p>
          <a:p>
            <a:r>
              <a:rPr lang="en-IN" sz="2000" dirty="0">
                <a:latin typeface="Consolas" pitchFamily="49" charset="0"/>
                <a:cs typeface="Consolas" pitchFamily="49" charset="0"/>
              </a:rPr>
              <a:t>    </a:t>
            </a:r>
            <a:r>
              <a:rPr lang="en-IN" sz="2000" b="1" dirty="0" smtClean="0">
                <a:solidFill>
                  <a:schemeClr val="tx2">
                    <a:lumMod val="75000"/>
                  </a:schemeClr>
                </a:solidFill>
                <a:latin typeface="Consolas" pitchFamily="49" charset="0"/>
                <a:cs typeface="Consolas" pitchFamily="49" charset="0"/>
              </a:rPr>
              <a:t>Then  </a:t>
            </a:r>
            <a:r>
              <a:rPr lang="en-IN" sz="2000" dirty="0" smtClean="0">
                <a:latin typeface="Consolas" pitchFamily="49" charset="0"/>
                <a:cs typeface="Consolas" pitchFamily="49" charset="0"/>
              </a:rPr>
              <a:t>FIRST </a:t>
            </a:r>
            <a:r>
              <a:rPr lang="en-IN" sz="2000" dirty="0">
                <a:latin typeface="Consolas" pitchFamily="49" charset="0"/>
                <a:cs typeface="Consolas" pitchFamily="49" charset="0"/>
                <a:sym typeface="Wingdings" panose="05000000000000000000" pitchFamily="2" charset="2"/>
              </a:rPr>
              <a:t> </a:t>
            </a:r>
            <a:r>
              <a:rPr lang="en-IN" sz="2000" dirty="0">
                <a:latin typeface="Consolas" pitchFamily="49" charset="0"/>
                <a:cs typeface="Consolas" pitchFamily="49" charset="0"/>
              </a:rPr>
              <a:t>NEW</a:t>
            </a:r>
            <a:endParaRPr lang="en-IN" sz="2000" b="1" dirty="0">
              <a:solidFill>
                <a:schemeClr val="tx2">
                  <a:lumMod val="60000"/>
                  <a:lumOff val="40000"/>
                </a:schemeClr>
              </a:solidFill>
              <a:latin typeface="Consolas" pitchFamily="49" charset="0"/>
              <a:cs typeface="Consolas" pitchFamily="49" charset="0"/>
            </a:endParaRPr>
          </a:p>
          <a:p>
            <a:endParaRPr lang="en-IN" sz="2000" dirty="0">
              <a:latin typeface="Consolas" pitchFamily="49" charset="0"/>
              <a:cs typeface="Consolas" pitchFamily="49" charset="0"/>
            </a:endParaRPr>
          </a:p>
        </p:txBody>
      </p:sp>
      <p:sp>
        <p:nvSpPr>
          <p:cNvPr id="5" name="TextBox 4"/>
          <p:cNvSpPr txBox="1"/>
          <p:nvPr/>
        </p:nvSpPr>
        <p:spPr>
          <a:xfrm>
            <a:off x="6127202" y="783771"/>
            <a:ext cx="5760000" cy="3785652"/>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4. [Initialize search for a last node]</a:t>
            </a:r>
          </a:p>
          <a:p>
            <a:r>
              <a:rPr lang="en-IN" sz="2000" dirty="0">
                <a:latin typeface="Consolas" pitchFamily="49" charset="0"/>
                <a:cs typeface="Consolas" pitchFamily="49" charset="0"/>
              </a:rPr>
              <a:t>    </a:t>
            </a:r>
            <a:r>
              <a:rPr lang="en-IN" sz="2000" dirty="0" smtClean="0">
                <a:latin typeface="Consolas" pitchFamily="49" charset="0"/>
                <a:cs typeface="Consolas" pitchFamily="49" charset="0"/>
              </a:rPr>
              <a:t>SAVE </a:t>
            </a:r>
            <a:r>
              <a:rPr lang="en-IN" sz="2000" dirty="0" smtClean="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FIRST</a:t>
            </a:r>
          </a:p>
          <a:p>
            <a:endParaRPr lang="en-IN" sz="2000" dirty="0">
              <a:latin typeface="Consolas" pitchFamily="49" charset="0"/>
              <a:cs typeface="Consolas" pitchFamily="49" charset="0"/>
            </a:endParaRPr>
          </a:p>
          <a:p>
            <a:r>
              <a:rPr lang="en-IN" sz="2000" b="1" dirty="0">
                <a:solidFill>
                  <a:schemeClr val="tx2"/>
                </a:solidFill>
                <a:latin typeface="Consolas" pitchFamily="49" charset="0"/>
                <a:cs typeface="Consolas" pitchFamily="49" charset="0"/>
              </a:rPr>
              <a:t>5. [Search for end of list]</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Repeat</a:t>
            </a:r>
            <a:r>
              <a:rPr lang="en-IN" sz="2000" dirty="0">
                <a:latin typeface="Consolas" pitchFamily="49" charset="0"/>
                <a:cs typeface="Consolas" pitchFamily="49" charset="0"/>
              </a:rPr>
              <a:t> while LINK (SAVE) ≠ NULL</a:t>
            </a:r>
          </a:p>
          <a:p>
            <a:r>
              <a:rPr lang="en-IN" sz="2000" dirty="0">
                <a:latin typeface="Consolas" pitchFamily="49" charset="0"/>
                <a:cs typeface="Consolas" pitchFamily="49" charset="0"/>
              </a:rPr>
              <a:t> 	SAVE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LINK (SAVE)</a:t>
            </a:r>
          </a:p>
          <a:p>
            <a:endParaRPr lang="en-IN" sz="2000" b="1" dirty="0">
              <a:solidFill>
                <a:schemeClr val="tx2">
                  <a:lumMod val="60000"/>
                  <a:lumOff val="40000"/>
                </a:schemeClr>
              </a:solidFill>
              <a:latin typeface="Consolas" pitchFamily="49" charset="0"/>
              <a:cs typeface="Consolas" pitchFamily="49" charset="0"/>
            </a:endParaRPr>
          </a:p>
          <a:p>
            <a:r>
              <a:rPr lang="en-IN" sz="2000" b="1" dirty="0">
                <a:solidFill>
                  <a:schemeClr val="tx2"/>
                </a:solidFill>
                <a:latin typeface="Consolas" pitchFamily="49" charset="0"/>
                <a:cs typeface="Consolas" pitchFamily="49" charset="0"/>
              </a:rPr>
              <a:t>6. [Set link field of last node to NEW]</a:t>
            </a:r>
          </a:p>
          <a:p>
            <a:r>
              <a:rPr lang="en-IN" sz="2000" dirty="0">
                <a:latin typeface="Consolas" pitchFamily="49" charset="0"/>
                <a:cs typeface="Consolas" pitchFamily="49" charset="0"/>
              </a:rPr>
              <a:t>    LINK (SAVE)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NEW</a:t>
            </a:r>
          </a:p>
          <a:p>
            <a:endParaRPr lang="en-IN" sz="2000" dirty="0">
              <a:latin typeface="Consolas" pitchFamily="49" charset="0"/>
              <a:cs typeface="Consolas" pitchFamily="49" charset="0"/>
            </a:endParaRPr>
          </a:p>
          <a:p>
            <a:r>
              <a:rPr lang="en-IN" sz="2000" b="1" dirty="0">
                <a:solidFill>
                  <a:schemeClr val="tx2"/>
                </a:solidFill>
                <a:latin typeface="Consolas" pitchFamily="49" charset="0"/>
                <a:cs typeface="Consolas" pitchFamily="49" charset="0"/>
              </a:rPr>
              <a:t>7. [</a:t>
            </a:r>
            <a:r>
              <a:rPr lang="en-IN" sz="2000" b="1" dirty="0" smtClean="0">
                <a:solidFill>
                  <a:schemeClr val="tx2"/>
                </a:solidFill>
                <a:latin typeface="Consolas" pitchFamily="49" charset="0"/>
                <a:cs typeface="Consolas" pitchFamily="49" charset="0"/>
              </a:rPr>
              <a:t>Return]</a:t>
            </a:r>
            <a:endParaRPr lang="en-IN" sz="2000" b="1" dirty="0">
              <a:solidFill>
                <a:schemeClr val="tx2"/>
              </a:solidFill>
              <a:latin typeface="Consolas" pitchFamily="49" charset="0"/>
              <a:cs typeface="Consolas" pitchFamily="49" charset="0"/>
            </a:endParaRPr>
          </a:p>
          <a:p>
            <a:r>
              <a:rPr lang="en-IN" sz="2000" dirty="0">
                <a:latin typeface="Consolas" pitchFamily="49" charset="0"/>
                <a:cs typeface="Consolas" pitchFamily="49" charset="0"/>
              </a:rPr>
              <a:t>    </a:t>
            </a:r>
            <a:r>
              <a:rPr lang="en-IN" sz="2000" dirty="0" smtClean="0">
                <a:latin typeface="Consolas" pitchFamily="49" charset="0"/>
                <a:cs typeface="Consolas" pitchFamily="49" charset="0"/>
              </a:rPr>
              <a:t>Return</a:t>
            </a:r>
            <a:endParaRPr lang="en-IN" sz="2000" dirty="0">
              <a:latin typeface="Consolas" pitchFamily="49" charset="0"/>
              <a:cs typeface="Consolas" pitchFamily="49" charset="0"/>
            </a:endParaRPr>
          </a:p>
        </p:txBody>
      </p:sp>
    </p:spTree>
    <p:extLst>
      <p:ext uri="{BB962C8B-B14F-4D97-AF65-F5344CB8AC3E}">
        <p14:creationId xmlns:p14="http://schemas.microsoft.com/office/powerpoint/2010/main" val="2464508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5">
                                            <p:txEl>
                                              <p:pRg st="4" end="4"/>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Procedure: </a:t>
            </a:r>
            <a:r>
              <a:rPr lang="en-US" dirty="0"/>
              <a:t>INSEND(50, FIRST)</a:t>
            </a:r>
          </a:p>
        </p:txBody>
      </p:sp>
      <p:grpSp>
        <p:nvGrpSpPr>
          <p:cNvPr id="4" name="Group 3"/>
          <p:cNvGrpSpPr/>
          <p:nvPr/>
        </p:nvGrpSpPr>
        <p:grpSpPr>
          <a:xfrm>
            <a:off x="1150872" y="5287400"/>
            <a:ext cx="920012" cy="533400"/>
            <a:chOff x="951919" y="5486400"/>
            <a:chExt cx="920012" cy="533400"/>
          </a:xfrm>
        </p:grpSpPr>
        <p:sp>
          <p:nvSpPr>
            <p:cNvPr id="5" name="Rectangle 4"/>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6" name="Rectangle 5"/>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21" name="Group 20"/>
          <p:cNvGrpSpPr/>
          <p:nvPr/>
        </p:nvGrpSpPr>
        <p:grpSpPr>
          <a:xfrm>
            <a:off x="2372702" y="5287400"/>
            <a:ext cx="920012" cy="533400"/>
            <a:chOff x="951919" y="5486400"/>
            <a:chExt cx="920012" cy="533400"/>
          </a:xfrm>
        </p:grpSpPr>
        <p:sp>
          <p:nvSpPr>
            <p:cNvPr id="22" name="Rectangle 21"/>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50</a:t>
              </a:r>
              <a:endParaRPr lang="en-US" sz="2400" b="1" dirty="0"/>
            </a:p>
          </p:txBody>
        </p:sp>
        <p:sp>
          <p:nvSpPr>
            <p:cNvPr id="23" name="Rectangle 22"/>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24" name="Group 23"/>
          <p:cNvGrpSpPr/>
          <p:nvPr/>
        </p:nvGrpSpPr>
        <p:grpSpPr>
          <a:xfrm>
            <a:off x="3591902" y="5287400"/>
            <a:ext cx="920012" cy="533400"/>
            <a:chOff x="951919" y="5486400"/>
            <a:chExt cx="920012" cy="533400"/>
          </a:xfrm>
        </p:grpSpPr>
        <p:sp>
          <p:nvSpPr>
            <p:cNvPr id="25" name="Rectangle 24"/>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a:t>
              </a:r>
              <a:endParaRPr lang="en-US" sz="2400" b="1" dirty="0"/>
            </a:p>
          </p:txBody>
        </p:sp>
        <p:sp>
          <p:nvSpPr>
            <p:cNvPr id="26" name="Rectangle 25"/>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27" name="Group 26"/>
          <p:cNvGrpSpPr/>
          <p:nvPr/>
        </p:nvGrpSpPr>
        <p:grpSpPr>
          <a:xfrm>
            <a:off x="4811102" y="5287400"/>
            <a:ext cx="920012" cy="533400"/>
            <a:chOff x="951919" y="5486400"/>
            <a:chExt cx="920012" cy="533400"/>
          </a:xfrm>
        </p:grpSpPr>
        <p:sp>
          <p:nvSpPr>
            <p:cNvPr id="28" name="Rectangle 27"/>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8</a:t>
              </a:r>
              <a:endParaRPr lang="en-US" sz="2400" b="1" dirty="0"/>
            </a:p>
          </p:txBody>
        </p:sp>
        <p:sp>
          <p:nvSpPr>
            <p:cNvPr id="29" name="Rectangle 28"/>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30" name="Group 29"/>
          <p:cNvGrpSpPr/>
          <p:nvPr/>
        </p:nvGrpSpPr>
        <p:grpSpPr>
          <a:xfrm>
            <a:off x="6030302" y="5287400"/>
            <a:ext cx="920012" cy="533400"/>
            <a:chOff x="951919" y="5486400"/>
            <a:chExt cx="920012" cy="533400"/>
          </a:xfrm>
        </p:grpSpPr>
        <p:sp>
          <p:nvSpPr>
            <p:cNvPr id="31" name="Rectangle 30"/>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35</a:t>
              </a:r>
              <a:endParaRPr lang="en-US" sz="2400" b="1" dirty="0"/>
            </a:p>
          </p:txBody>
        </p:sp>
        <p:sp>
          <p:nvSpPr>
            <p:cNvPr id="32" name="Rectangle 31"/>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57" name="Group 56"/>
          <p:cNvGrpSpPr/>
          <p:nvPr/>
        </p:nvGrpSpPr>
        <p:grpSpPr>
          <a:xfrm>
            <a:off x="7249502" y="5287400"/>
            <a:ext cx="1058662" cy="533400"/>
            <a:chOff x="6256538" y="5334000"/>
            <a:chExt cx="1058662" cy="533400"/>
          </a:xfrm>
        </p:grpSpPr>
        <p:sp>
          <p:nvSpPr>
            <p:cNvPr id="34" name="Rectangle 33"/>
            <p:cNvSpPr/>
            <p:nvPr/>
          </p:nvSpPr>
          <p:spPr>
            <a:xfrm>
              <a:off x="6256538" y="53340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44</a:t>
              </a:r>
              <a:endParaRPr lang="en-US" sz="2400" b="1" dirty="0"/>
            </a:p>
          </p:txBody>
        </p:sp>
        <p:sp>
          <p:nvSpPr>
            <p:cNvPr id="35" name="Rectangle 34"/>
            <p:cNvSpPr/>
            <p:nvPr/>
          </p:nvSpPr>
          <p:spPr>
            <a:xfrm>
              <a:off x="6795550" y="5334000"/>
              <a:ext cx="51965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7" name="Group 16"/>
          <p:cNvGrpSpPr/>
          <p:nvPr/>
        </p:nvGrpSpPr>
        <p:grpSpPr>
          <a:xfrm>
            <a:off x="8693130" y="5287400"/>
            <a:ext cx="1148612" cy="533400"/>
            <a:chOff x="7690588" y="3352179"/>
            <a:chExt cx="1148612" cy="533400"/>
          </a:xfrm>
        </p:grpSpPr>
        <p:sp>
          <p:nvSpPr>
            <p:cNvPr id="37" name="Rectangle 36"/>
            <p:cNvSpPr/>
            <p:nvPr/>
          </p:nvSpPr>
          <p:spPr>
            <a:xfrm>
              <a:off x="7690588" y="3352179"/>
              <a:ext cx="621758"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38" name="Rectangle 37"/>
            <p:cNvSpPr/>
            <p:nvPr/>
          </p:nvSpPr>
          <p:spPr>
            <a:xfrm>
              <a:off x="8318887" y="3352179"/>
              <a:ext cx="520313"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40" name="Straight Arrow Connector 39"/>
          <p:cNvCxnSpPr>
            <a:stCxn id="6" idx="3"/>
            <a:endCxn id="22" idx="1"/>
          </p:cNvCxnSpPr>
          <p:nvPr/>
        </p:nvCxnSpPr>
        <p:spPr>
          <a:xfrm>
            <a:off x="2070884" y="5554100"/>
            <a:ext cx="30181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2" name="Straight Arrow Connector 41"/>
          <p:cNvCxnSpPr>
            <a:stCxn id="23" idx="3"/>
            <a:endCxn id="25" idx="1"/>
          </p:cNvCxnSpPr>
          <p:nvPr/>
        </p:nvCxnSpPr>
        <p:spPr>
          <a:xfrm>
            <a:off x="3292714" y="5554100"/>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4" name="Straight Arrow Connector 43"/>
          <p:cNvCxnSpPr>
            <a:stCxn id="26" idx="3"/>
            <a:endCxn id="28" idx="1"/>
          </p:cNvCxnSpPr>
          <p:nvPr/>
        </p:nvCxnSpPr>
        <p:spPr>
          <a:xfrm>
            <a:off x="4511914" y="5554100"/>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6" name="Straight Arrow Connector 45"/>
          <p:cNvCxnSpPr>
            <a:stCxn id="29" idx="3"/>
            <a:endCxn id="31" idx="1"/>
          </p:cNvCxnSpPr>
          <p:nvPr/>
        </p:nvCxnSpPr>
        <p:spPr>
          <a:xfrm>
            <a:off x="5731114" y="5554100"/>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8" name="Straight Arrow Connector 47"/>
          <p:cNvCxnSpPr>
            <a:stCxn id="32" idx="3"/>
            <a:endCxn id="34" idx="1"/>
          </p:cNvCxnSpPr>
          <p:nvPr/>
        </p:nvCxnSpPr>
        <p:spPr>
          <a:xfrm>
            <a:off x="6950314" y="5554100"/>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39" name="TextBox 38"/>
          <p:cNvSpPr txBox="1"/>
          <p:nvPr/>
        </p:nvSpPr>
        <p:spPr>
          <a:xfrm>
            <a:off x="6096000" y="833378"/>
            <a:ext cx="5760000" cy="2862322"/>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5. [Search for end of list]</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Repeat</a:t>
            </a:r>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while</a:t>
            </a:r>
            <a:r>
              <a:rPr lang="en-IN" sz="2000" dirty="0">
                <a:latin typeface="Consolas" pitchFamily="49" charset="0"/>
                <a:cs typeface="Consolas" pitchFamily="49" charset="0"/>
              </a:rPr>
              <a:t> LINK (SAVE) ≠ NULL</a:t>
            </a:r>
          </a:p>
          <a:p>
            <a:r>
              <a:rPr lang="en-IN" sz="2000" dirty="0">
                <a:latin typeface="Consolas" pitchFamily="49" charset="0"/>
                <a:cs typeface="Consolas" pitchFamily="49" charset="0"/>
              </a:rPr>
              <a:t>    	SAVE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LINK (SAVE)</a:t>
            </a:r>
          </a:p>
          <a:p>
            <a:endParaRPr lang="en-IN" sz="2000" b="1" dirty="0">
              <a:solidFill>
                <a:schemeClr val="tx2">
                  <a:lumMod val="60000"/>
                  <a:lumOff val="40000"/>
                </a:schemeClr>
              </a:solidFill>
              <a:latin typeface="Consolas" pitchFamily="49" charset="0"/>
              <a:cs typeface="Consolas" pitchFamily="49" charset="0"/>
            </a:endParaRPr>
          </a:p>
          <a:p>
            <a:r>
              <a:rPr lang="en-IN" sz="2000" b="1" dirty="0">
                <a:solidFill>
                  <a:schemeClr val="tx2"/>
                </a:solidFill>
                <a:latin typeface="Consolas" pitchFamily="49" charset="0"/>
                <a:cs typeface="Consolas" pitchFamily="49" charset="0"/>
              </a:rPr>
              <a:t>6. [Set link field of last node to NEW]</a:t>
            </a:r>
          </a:p>
          <a:p>
            <a:r>
              <a:rPr lang="en-IN" sz="2000" dirty="0">
                <a:latin typeface="Consolas" pitchFamily="49" charset="0"/>
                <a:cs typeface="Consolas" pitchFamily="49" charset="0"/>
              </a:rPr>
              <a:t>    LINK (SAVE)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NEW</a:t>
            </a:r>
          </a:p>
          <a:p>
            <a:endParaRPr lang="en-IN" sz="2000" dirty="0">
              <a:latin typeface="Consolas" pitchFamily="49" charset="0"/>
              <a:cs typeface="Consolas" pitchFamily="49" charset="0"/>
            </a:endParaRPr>
          </a:p>
          <a:p>
            <a:r>
              <a:rPr lang="en-IN" sz="2000" b="1" dirty="0">
                <a:solidFill>
                  <a:schemeClr val="tx2"/>
                </a:solidFill>
                <a:latin typeface="Consolas" pitchFamily="49" charset="0"/>
                <a:cs typeface="Consolas" pitchFamily="49" charset="0"/>
              </a:rPr>
              <a:t>7. [</a:t>
            </a:r>
            <a:r>
              <a:rPr lang="en-IN" sz="2000" b="1" dirty="0" smtClean="0">
                <a:solidFill>
                  <a:schemeClr val="tx2"/>
                </a:solidFill>
                <a:latin typeface="Consolas" pitchFamily="49" charset="0"/>
                <a:cs typeface="Consolas" pitchFamily="49" charset="0"/>
              </a:rPr>
              <a:t>Return]</a:t>
            </a:r>
            <a:endParaRPr lang="en-IN" sz="2000" b="1" dirty="0">
              <a:solidFill>
                <a:schemeClr val="tx2"/>
              </a:solidFill>
              <a:latin typeface="Consolas" pitchFamily="49" charset="0"/>
              <a:cs typeface="Consolas" pitchFamily="49" charset="0"/>
            </a:endParaRPr>
          </a:p>
          <a:p>
            <a:r>
              <a:rPr lang="en-IN" sz="2000" dirty="0">
                <a:latin typeface="Consolas" pitchFamily="49" charset="0"/>
                <a:cs typeface="Consolas" pitchFamily="49" charset="0"/>
              </a:rPr>
              <a:t>    </a:t>
            </a:r>
            <a:r>
              <a:rPr lang="en-IN" sz="2000" dirty="0" smtClean="0">
                <a:latin typeface="Consolas" pitchFamily="49" charset="0"/>
                <a:cs typeface="Consolas" pitchFamily="49" charset="0"/>
              </a:rPr>
              <a:t>Return</a:t>
            </a:r>
            <a:endParaRPr lang="en-IN" sz="2000" dirty="0">
              <a:latin typeface="Consolas" pitchFamily="49" charset="0"/>
              <a:cs typeface="Consolas" pitchFamily="49" charset="0"/>
            </a:endParaRPr>
          </a:p>
        </p:txBody>
      </p:sp>
      <p:sp>
        <p:nvSpPr>
          <p:cNvPr id="41" name="TextBox 40"/>
          <p:cNvSpPr txBox="1"/>
          <p:nvPr/>
        </p:nvSpPr>
        <p:spPr>
          <a:xfrm>
            <a:off x="290438" y="833378"/>
            <a:ext cx="5760000" cy="3477875"/>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2. [Initialize fields of new node]</a:t>
            </a:r>
          </a:p>
          <a:p>
            <a:r>
              <a:rPr lang="en-IN" sz="2000" dirty="0">
                <a:latin typeface="Consolas" pitchFamily="49" charset="0"/>
                <a:cs typeface="Consolas" pitchFamily="49" charset="0"/>
              </a:rPr>
              <a:t>    INFO(NEW)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X</a:t>
            </a:r>
          </a:p>
          <a:p>
            <a:r>
              <a:rPr lang="en-IN" sz="2000" dirty="0">
                <a:latin typeface="Consolas" pitchFamily="49" charset="0"/>
                <a:cs typeface="Consolas" pitchFamily="49" charset="0"/>
              </a:rPr>
              <a:t>    LINK (NEW)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NULL</a:t>
            </a:r>
          </a:p>
          <a:p>
            <a:endParaRPr lang="en-IN" sz="2000" b="1" dirty="0">
              <a:solidFill>
                <a:schemeClr val="tx2">
                  <a:lumMod val="60000"/>
                  <a:lumOff val="40000"/>
                </a:schemeClr>
              </a:solidFill>
              <a:latin typeface="Consolas" pitchFamily="49" charset="0"/>
              <a:cs typeface="Consolas" pitchFamily="49" charset="0"/>
            </a:endParaRPr>
          </a:p>
          <a:p>
            <a:r>
              <a:rPr lang="en-IN" sz="2000" b="1" dirty="0">
                <a:solidFill>
                  <a:schemeClr val="tx2"/>
                </a:solidFill>
                <a:latin typeface="Consolas" pitchFamily="49" charset="0"/>
                <a:cs typeface="Consolas" pitchFamily="49" charset="0"/>
              </a:rPr>
              <a:t>3. [Is the list empty?, new node is      	first one]</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If</a:t>
            </a:r>
            <a:r>
              <a:rPr lang="en-IN" sz="2000" dirty="0">
                <a:latin typeface="Consolas" pitchFamily="49" charset="0"/>
                <a:cs typeface="Consolas" pitchFamily="49" charset="0"/>
              </a:rPr>
              <a:t>	   FIRST = NULL</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Then</a:t>
            </a:r>
            <a:r>
              <a:rPr lang="en-IN" sz="2000" dirty="0">
                <a:latin typeface="Consolas" pitchFamily="49" charset="0"/>
                <a:cs typeface="Consolas" pitchFamily="49" charset="0"/>
              </a:rPr>
              <a:t> FIRST </a:t>
            </a:r>
            <a:r>
              <a:rPr lang="en-IN" sz="2000" dirty="0">
                <a:latin typeface="Consolas" pitchFamily="49" charset="0"/>
                <a:cs typeface="Consolas" pitchFamily="49" charset="0"/>
                <a:sym typeface="Wingdings" panose="05000000000000000000" pitchFamily="2" charset="2"/>
              </a:rPr>
              <a:t> </a:t>
            </a:r>
            <a:r>
              <a:rPr lang="en-IN" sz="2000" dirty="0">
                <a:latin typeface="Consolas" pitchFamily="49" charset="0"/>
                <a:cs typeface="Consolas" pitchFamily="49" charset="0"/>
              </a:rPr>
              <a:t>NEW</a:t>
            </a:r>
          </a:p>
          <a:p>
            <a:endParaRPr lang="en-IN" sz="2000" dirty="0">
              <a:latin typeface="Consolas" pitchFamily="49" charset="0"/>
              <a:cs typeface="Consolas" pitchFamily="49" charset="0"/>
            </a:endParaRPr>
          </a:p>
          <a:p>
            <a:r>
              <a:rPr lang="en-IN" sz="2000" b="1" dirty="0">
                <a:solidFill>
                  <a:schemeClr val="tx2"/>
                </a:solidFill>
                <a:latin typeface="Consolas" pitchFamily="49" charset="0"/>
                <a:cs typeface="Consolas" pitchFamily="49" charset="0"/>
              </a:rPr>
              <a:t>4. [Initialize search for a last node]</a:t>
            </a:r>
          </a:p>
          <a:p>
            <a:r>
              <a:rPr lang="en-IN" sz="2000" dirty="0">
                <a:latin typeface="Consolas" pitchFamily="49" charset="0"/>
                <a:cs typeface="Consolas" pitchFamily="49" charset="0"/>
              </a:rPr>
              <a:t> </a:t>
            </a:r>
            <a:r>
              <a:rPr lang="en-IN" sz="2000" dirty="0" smtClean="0">
                <a:latin typeface="Consolas" pitchFamily="49" charset="0"/>
                <a:cs typeface="Consolas" pitchFamily="49" charset="0"/>
              </a:rPr>
              <a:t>   SAVE </a:t>
            </a:r>
            <a:r>
              <a:rPr lang="en-IN" sz="2000" dirty="0" smtClean="0">
                <a:latin typeface="Consolas" pitchFamily="49" charset="0"/>
                <a:cs typeface="Consolas" pitchFamily="49" charset="0"/>
                <a:sym typeface="Wingdings" pitchFamily="2" charset="2"/>
              </a:rPr>
              <a:t> </a:t>
            </a:r>
            <a:r>
              <a:rPr lang="en-IN" sz="2000" dirty="0" smtClean="0">
                <a:latin typeface="Consolas" pitchFamily="49" charset="0"/>
                <a:cs typeface="Consolas" pitchFamily="49" charset="0"/>
              </a:rPr>
              <a:t>FIRST</a:t>
            </a:r>
            <a:endParaRPr lang="en-IN" sz="2000" dirty="0">
              <a:latin typeface="Consolas" pitchFamily="49" charset="0"/>
              <a:cs typeface="Consolas" pitchFamily="49" charset="0"/>
            </a:endParaRPr>
          </a:p>
        </p:txBody>
      </p:sp>
      <p:sp>
        <p:nvSpPr>
          <p:cNvPr id="43" name="TextBox 42"/>
          <p:cNvSpPr txBox="1"/>
          <p:nvPr/>
        </p:nvSpPr>
        <p:spPr>
          <a:xfrm>
            <a:off x="1069164" y="6049400"/>
            <a:ext cx="734496" cy="369332"/>
          </a:xfrm>
          <a:prstGeom prst="rect">
            <a:avLst/>
          </a:prstGeom>
          <a:noFill/>
        </p:spPr>
        <p:txBody>
          <a:bodyPr wrap="none" rtlCol="0">
            <a:spAutoFit/>
          </a:bodyPr>
          <a:lstStyle/>
          <a:p>
            <a:r>
              <a:rPr lang="en-IN" b="1" dirty="0">
                <a:solidFill>
                  <a:srgbClr val="C00000"/>
                </a:solidFill>
              </a:rPr>
              <a:t>FIRST</a:t>
            </a:r>
            <a:endParaRPr lang="en-US" b="1" dirty="0">
              <a:solidFill>
                <a:srgbClr val="C00000"/>
              </a:solidFill>
            </a:endParaRPr>
          </a:p>
        </p:txBody>
      </p:sp>
      <p:cxnSp>
        <p:nvCxnSpPr>
          <p:cNvPr id="45" name="Straight Arrow Connector 44"/>
          <p:cNvCxnSpPr/>
          <p:nvPr/>
        </p:nvCxnSpPr>
        <p:spPr>
          <a:xfrm flipV="1">
            <a:off x="1387714" y="5820800"/>
            <a:ext cx="0" cy="3048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4" name="Straight Connector 13"/>
          <p:cNvCxnSpPr/>
          <p:nvPr/>
        </p:nvCxnSpPr>
        <p:spPr>
          <a:xfrm flipV="1">
            <a:off x="9323631" y="5287401"/>
            <a:ext cx="500743" cy="500743"/>
          </a:xfrm>
          <a:prstGeom prst="line">
            <a:avLst/>
          </a:prstGeom>
          <a:ln w="28575">
            <a:solidFill>
              <a:srgbClr val="B84742"/>
            </a:solidFill>
          </a:ln>
        </p:spPr>
        <p:style>
          <a:lnRef idx="3">
            <a:schemeClr val="accent6"/>
          </a:lnRef>
          <a:fillRef idx="0">
            <a:schemeClr val="accent6"/>
          </a:fillRef>
          <a:effectRef idx="2">
            <a:schemeClr val="accent6"/>
          </a:effectRef>
          <a:fontRef idx="minor">
            <a:schemeClr val="tx1"/>
          </a:fontRef>
        </p:style>
      </p:cxnSp>
      <p:sp>
        <p:nvSpPr>
          <p:cNvPr id="47" name="TextBox 46"/>
          <p:cNvSpPr txBox="1"/>
          <p:nvPr/>
        </p:nvSpPr>
        <p:spPr>
          <a:xfrm>
            <a:off x="8882035" y="5909289"/>
            <a:ext cx="612668" cy="369332"/>
          </a:xfrm>
          <a:prstGeom prst="rect">
            <a:avLst/>
          </a:prstGeom>
          <a:noFill/>
        </p:spPr>
        <p:txBody>
          <a:bodyPr wrap="none" rtlCol="0">
            <a:spAutoFit/>
          </a:bodyPr>
          <a:lstStyle/>
          <a:p>
            <a:r>
              <a:rPr lang="en-IN" b="1" dirty="0">
                <a:solidFill>
                  <a:srgbClr val="C00000"/>
                </a:solidFill>
              </a:rPr>
              <a:t>NEW</a:t>
            </a:r>
            <a:endParaRPr lang="en-US" b="1" dirty="0">
              <a:solidFill>
                <a:srgbClr val="C00000"/>
              </a:solidFill>
            </a:endParaRPr>
          </a:p>
        </p:txBody>
      </p:sp>
      <p:cxnSp>
        <p:nvCxnSpPr>
          <p:cNvPr id="49" name="Straight Connector 48"/>
          <p:cNvCxnSpPr/>
          <p:nvPr/>
        </p:nvCxnSpPr>
        <p:spPr>
          <a:xfrm flipV="1">
            <a:off x="7792916" y="5287400"/>
            <a:ext cx="500120" cy="500128"/>
          </a:xfrm>
          <a:prstGeom prst="line">
            <a:avLst/>
          </a:prstGeom>
          <a:ln w="28575">
            <a:solidFill>
              <a:srgbClr val="B84742"/>
            </a:solidFill>
          </a:ln>
        </p:spPr>
        <p:style>
          <a:lnRef idx="3">
            <a:schemeClr val="accent6"/>
          </a:lnRef>
          <a:fillRef idx="0">
            <a:schemeClr val="accent6"/>
          </a:fillRef>
          <a:effectRef idx="2">
            <a:schemeClr val="accent6"/>
          </a:effectRef>
          <a:fontRef idx="minor">
            <a:schemeClr val="tx1"/>
          </a:fontRef>
        </p:style>
      </p:cxnSp>
      <p:sp>
        <p:nvSpPr>
          <p:cNvPr id="58" name="TextBox 57"/>
          <p:cNvSpPr txBox="1"/>
          <p:nvPr/>
        </p:nvSpPr>
        <p:spPr>
          <a:xfrm>
            <a:off x="8723440" y="5325863"/>
            <a:ext cx="591448" cy="461665"/>
          </a:xfrm>
          <a:prstGeom prst="rect">
            <a:avLst/>
          </a:prstGeom>
          <a:noFill/>
        </p:spPr>
        <p:txBody>
          <a:bodyPr wrap="square" rtlCol="0">
            <a:spAutoFit/>
          </a:bodyPr>
          <a:lstStyle/>
          <a:p>
            <a:pPr algn="ctr"/>
            <a:r>
              <a:rPr lang="en-IN" sz="2400" b="1" dirty="0">
                <a:solidFill>
                  <a:srgbClr val="FFFF00"/>
                </a:solidFill>
              </a:rPr>
              <a:t>50</a:t>
            </a:r>
            <a:endParaRPr lang="en-US" sz="2400" b="1" dirty="0">
              <a:solidFill>
                <a:srgbClr val="FFFF00"/>
              </a:solidFill>
            </a:endParaRPr>
          </a:p>
        </p:txBody>
      </p:sp>
      <p:grpSp>
        <p:nvGrpSpPr>
          <p:cNvPr id="62" name="Group 61"/>
          <p:cNvGrpSpPr/>
          <p:nvPr/>
        </p:nvGrpSpPr>
        <p:grpSpPr>
          <a:xfrm>
            <a:off x="1207810" y="4449200"/>
            <a:ext cx="694422" cy="838200"/>
            <a:chOff x="214846" y="4495800"/>
            <a:chExt cx="694422" cy="838200"/>
          </a:xfrm>
        </p:grpSpPr>
        <p:sp>
          <p:nvSpPr>
            <p:cNvPr id="59" name="TextBox 58"/>
            <p:cNvSpPr txBox="1"/>
            <p:nvPr/>
          </p:nvSpPr>
          <p:spPr>
            <a:xfrm>
              <a:off x="214846" y="4495800"/>
              <a:ext cx="694422" cy="369332"/>
            </a:xfrm>
            <a:prstGeom prst="rect">
              <a:avLst/>
            </a:prstGeom>
            <a:noFill/>
          </p:spPr>
          <p:txBody>
            <a:bodyPr wrap="none" rtlCol="0">
              <a:spAutoFit/>
            </a:bodyPr>
            <a:lstStyle/>
            <a:p>
              <a:pPr algn="ctr"/>
              <a:r>
                <a:rPr lang="en-IN" b="1" dirty="0">
                  <a:solidFill>
                    <a:srgbClr val="C00000"/>
                  </a:solidFill>
                </a:rPr>
                <a:t>SAVE</a:t>
              </a:r>
              <a:endParaRPr lang="en-US" b="1" dirty="0">
                <a:solidFill>
                  <a:srgbClr val="C00000"/>
                </a:solidFill>
              </a:endParaRPr>
            </a:p>
          </p:txBody>
        </p:sp>
        <p:cxnSp>
          <p:nvCxnSpPr>
            <p:cNvPr id="61" name="Straight Arrow Connector 60"/>
            <p:cNvCxnSpPr>
              <a:stCxn id="59" idx="2"/>
            </p:cNvCxnSpPr>
            <p:nvPr/>
          </p:nvCxnSpPr>
          <p:spPr>
            <a:xfrm>
              <a:off x="562057" y="4865132"/>
              <a:ext cx="0" cy="4688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cxnSp>
        <p:nvCxnSpPr>
          <p:cNvPr id="74" name="Straight Arrow Connector 73"/>
          <p:cNvCxnSpPr>
            <a:stCxn id="35" idx="3"/>
            <a:endCxn id="37" idx="1"/>
          </p:cNvCxnSpPr>
          <p:nvPr/>
        </p:nvCxnSpPr>
        <p:spPr>
          <a:xfrm>
            <a:off x="8308164" y="5554100"/>
            <a:ext cx="384966"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314145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6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63" presetClass="path" presetSubtype="0" accel="50000" decel="50000" fill="hold" nodeType="clickEffect">
                                  <p:stCondLst>
                                    <p:cond delay="0"/>
                                  </p:stCondLst>
                                  <p:childTnLst>
                                    <p:animMotion origin="layout" path="M -4.58333E-6 -2.59259E-6 L 0.11355 -2.59259E-6 " pathEditMode="relative" rAng="0" ptsTypes="AA">
                                      <p:cBhvr>
                                        <p:cTn id="60" dur="2000" fill="hold"/>
                                        <p:tgtEl>
                                          <p:spTgt spid="62"/>
                                        </p:tgtEl>
                                        <p:attrNameLst>
                                          <p:attrName>ppt_x</p:attrName>
                                          <p:attrName>ppt_y</p:attrName>
                                        </p:attrNameLst>
                                      </p:cBhvr>
                                      <p:rCtr x="5677" y="0"/>
                                    </p:animMotion>
                                  </p:childTnLst>
                                </p:cTn>
                              </p:par>
                            </p:childTnLst>
                          </p:cTn>
                        </p:par>
                      </p:childTnLst>
                    </p:cTn>
                  </p:par>
                  <p:par>
                    <p:cTn id="61" fill="hold">
                      <p:stCondLst>
                        <p:cond delay="indefinite"/>
                      </p:stCondLst>
                      <p:childTnLst>
                        <p:par>
                          <p:cTn id="62" fill="hold">
                            <p:stCondLst>
                              <p:cond delay="0"/>
                            </p:stCondLst>
                            <p:childTnLst>
                              <p:par>
                                <p:cTn id="63" presetID="63" presetClass="path" presetSubtype="0" accel="50000" decel="50000" fill="hold" nodeType="clickEffect">
                                  <p:stCondLst>
                                    <p:cond delay="0"/>
                                  </p:stCondLst>
                                  <p:childTnLst>
                                    <p:animMotion origin="layout" path="M 0.11355 -2.59259E-6 L 0.21237 -2.59259E-6 " pathEditMode="relative" rAng="0" ptsTypes="AA">
                                      <p:cBhvr>
                                        <p:cTn id="64" dur="2000" fill="hold"/>
                                        <p:tgtEl>
                                          <p:spTgt spid="62"/>
                                        </p:tgtEl>
                                        <p:attrNameLst>
                                          <p:attrName>ppt_x</p:attrName>
                                          <p:attrName>ppt_y</p:attrName>
                                        </p:attrNameLst>
                                      </p:cBhvr>
                                      <p:rCtr x="4935" y="0"/>
                                    </p:animMotion>
                                  </p:childTnLst>
                                </p:cTn>
                              </p:par>
                            </p:childTnLst>
                          </p:cTn>
                        </p:par>
                      </p:childTnLst>
                    </p:cTn>
                  </p:par>
                  <p:par>
                    <p:cTn id="65" fill="hold">
                      <p:stCondLst>
                        <p:cond delay="indefinite"/>
                      </p:stCondLst>
                      <p:childTnLst>
                        <p:par>
                          <p:cTn id="66" fill="hold">
                            <p:stCondLst>
                              <p:cond delay="0"/>
                            </p:stCondLst>
                            <p:childTnLst>
                              <p:par>
                                <p:cTn id="67" presetID="63" presetClass="path" presetSubtype="0" accel="50000" decel="50000" fill="hold" nodeType="clickEffect">
                                  <p:stCondLst>
                                    <p:cond delay="0"/>
                                  </p:stCondLst>
                                  <p:childTnLst>
                                    <p:animMotion origin="layout" path="M 0.21237 -2.59259E-6 L 0.31159 -2.59259E-6 " pathEditMode="relative" rAng="0" ptsTypes="AA">
                                      <p:cBhvr>
                                        <p:cTn id="68" dur="2000" fill="hold"/>
                                        <p:tgtEl>
                                          <p:spTgt spid="62"/>
                                        </p:tgtEl>
                                        <p:attrNameLst>
                                          <p:attrName>ppt_x</p:attrName>
                                          <p:attrName>ppt_y</p:attrName>
                                        </p:attrNameLst>
                                      </p:cBhvr>
                                      <p:rCtr x="4961" y="0"/>
                                    </p:animMotion>
                                  </p:childTnLst>
                                </p:cTn>
                              </p:par>
                            </p:childTnLst>
                          </p:cTn>
                        </p:par>
                      </p:childTnLst>
                    </p:cTn>
                  </p:par>
                  <p:par>
                    <p:cTn id="69" fill="hold">
                      <p:stCondLst>
                        <p:cond delay="indefinite"/>
                      </p:stCondLst>
                      <p:childTnLst>
                        <p:par>
                          <p:cTn id="70" fill="hold">
                            <p:stCondLst>
                              <p:cond delay="0"/>
                            </p:stCondLst>
                            <p:childTnLst>
                              <p:par>
                                <p:cTn id="71" presetID="63" presetClass="path" presetSubtype="0" accel="50000" decel="50000" fill="hold" nodeType="clickEffect">
                                  <p:stCondLst>
                                    <p:cond delay="0"/>
                                  </p:stCondLst>
                                  <p:childTnLst>
                                    <p:animMotion origin="layout" path="M 0.31159 -2.59259E-6 L 0.41094 -2.59259E-6 " pathEditMode="relative" rAng="0" ptsTypes="AA">
                                      <p:cBhvr>
                                        <p:cTn id="72" dur="2000" fill="hold"/>
                                        <p:tgtEl>
                                          <p:spTgt spid="62"/>
                                        </p:tgtEl>
                                        <p:attrNameLst>
                                          <p:attrName>ppt_x</p:attrName>
                                          <p:attrName>ppt_y</p:attrName>
                                        </p:attrNameLst>
                                      </p:cBhvr>
                                      <p:rCtr x="4961" y="0"/>
                                    </p:animMotion>
                                  </p:childTnLst>
                                </p:cTn>
                              </p:par>
                            </p:childTnLst>
                          </p:cTn>
                        </p:par>
                      </p:childTnLst>
                    </p:cTn>
                  </p:par>
                  <p:par>
                    <p:cTn id="73" fill="hold">
                      <p:stCondLst>
                        <p:cond delay="indefinite"/>
                      </p:stCondLst>
                      <p:childTnLst>
                        <p:par>
                          <p:cTn id="74" fill="hold">
                            <p:stCondLst>
                              <p:cond delay="0"/>
                            </p:stCondLst>
                            <p:childTnLst>
                              <p:par>
                                <p:cTn id="75" presetID="63" presetClass="path" presetSubtype="0" accel="50000" decel="50000" fill="hold" nodeType="clickEffect">
                                  <p:stCondLst>
                                    <p:cond delay="0"/>
                                  </p:stCondLst>
                                  <p:childTnLst>
                                    <p:animMotion origin="layout" path="M 0.41094 -2.59259E-6 L 0.51094 -2.59259E-6 " pathEditMode="relative" rAng="0" ptsTypes="AA">
                                      <p:cBhvr>
                                        <p:cTn id="76" dur="2000" fill="hold"/>
                                        <p:tgtEl>
                                          <p:spTgt spid="62"/>
                                        </p:tgtEl>
                                        <p:attrNameLst>
                                          <p:attrName>ppt_x</p:attrName>
                                          <p:attrName>ppt_y</p:attrName>
                                        </p:attrNameLst>
                                      </p:cBhvr>
                                      <p:rCtr x="5000" y="0"/>
                                    </p:animMotion>
                                  </p:childTnLst>
                                </p:cTn>
                              </p:par>
                            </p:childTnLst>
                          </p:cTn>
                        </p:par>
                      </p:childTnLst>
                    </p:cTn>
                  </p:par>
                  <p:par>
                    <p:cTn id="77" fill="hold">
                      <p:stCondLst>
                        <p:cond delay="indefinite"/>
                      </p:stCondLst>
                      <p:childTnLst>
                        <p:par>
                          <p:cTn id="78" fill="hold">
                            <p:stCondLst>
                              <p:cond delay="0"/>
                            </p:stCondLst>
                            <p:childTnLst>
                              <p:par>
                                <p:cTn id="79" presetID="22" presetClass="exit" presetSubtype="1" fill="hold" nodeType="clickEffect">
                                  <p:stCondLst>
                                    <p:cond delay="0"/>
                                  </p:stCondLst>
                                  <p:childTnLst>
                                    <p:animEffect transition="out" filter="wipe(up)">
                                      <p:cBhvr>
                                        <p:cTn id="80" dur="500"/>
                                        <p:tgtEl>
                                          <p:spTgt spid="49"/>
                                        </p:tgtEl>
                                      </p:cBhvr>
                                    </p:animEffect>
                                    <p:set>
                                      <p:cBhvr>
                                        <p:cTn id="81" dur="1" fill="hold">
                                          <p:stCondLst>
                                            <p:cond delay="499"/>
                                          </p:stCondLst>
                                        </p:cTn>
                                        <p:tgtEl>
                                          <p:spTgt spid="49"/>
                                        </p:tgtEl>
                                        <p:attrNameLst>
                                          <p:attrName>style.visibility</p:attrName>
                                        </p:attrNameLst>
                                      </p:cBhvr>
                                      <p:to>
                                        <p:strVal val="hidden"/>
                                      </p:to>
                                    </p:set>
                                  </p:childTnLst>
                                </p:cTn>
                              </p:par>
                              <p:par>
                                <p:cTn id="82" presetID="22" presetClass="entr" presetSubtype="8" fill="hold" nodeType="withEffect">
                                  <p:stCondLst>
                                    <p:cond delay="0"/>
                                  </p:stCondLst>
                                  <p:childTnLst>
                                    <p:set>
                                      <p:cBhvr>
                                        <p:cTn id="83" dur="1" fill="hold">
                                          <p:stCondLst>
                                            <p:cond delay="0"/>
                                          </p:stCondLst>
                                        </p:cTn>
                                        <p:tgtEl>
                                          <p:spTgt spid="74"/>
                                        </p:tgtEl>
                                        <p:attrNameLst>
                                          <p:attrName>style.visibility</p:attrName>
                                        </p:attrNameLst>
                                      </p:cBhvr>
                                      <p:to>
                                        <p:strVal val="visible"/>
                                      </p:to>
                                    </p:set>
                                    <p:animEffect transition="in" filter="wipe(left)">
                                      <p:cBhvr>
                                        <p:cTn id="84"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1" grpId="0" animBg="1"/>
      <p:bldP spid="43" grpId="0"/>
      <p:bldP spid="47" grpId="0"/>
      <p:bldP spid="5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 code to insert a Node at Last Location</a:t>
            </a:r>
          </a:p>
        </p:txBody>
      </p:sp>
      <p:sp>
        <p:nvSpPr>
          <p:cNvPr id="13" name="Rectangle 12"/>
          <p:cNvSpPr/>
          <p:nvPr/>
        </p:nvSpPr>
        <p:spPr>
          <a:xfrm>
            <a:off x="160424" y="955801"/>
            <a:ext cx="3343172" cy="646331"/>
          </a:xfrm>
          <a:prstGeom prst="rect">
            <a:avLst/>
          </a:prstGeom>
        </p:spPr>
        <p:txBody>
          <a:bodyPr wrap="square">
            <a:spAutoFit/>
          </a:bodyPr>
          <a:lstStyle/>
          <a:p>
            <a:r>
              <a:rPr lang="en-IN" dirty="0">
                <a:solidFill>
                  <a:srgbClr val="000000"/>
                </a:solidFill>
                <a:highlight>
                  <a:srgbClr val="FFFFFF"/>
                </a:highlight>
                <a:latin typeface="Cascadia Mono" panose="020B0609020000020004" pitchFamily="49" charset="0"/>
              </a:rPr>
              <a:t>#</a:t>
            </a:r>
            <a:r>
              <a:rPr lang="en-IN" dirty="0">
                <a:solidFill>
                  <a:srgbClr val="808080"/>
                </a:solidFill>
                <a:highlight>
                  <a:srgbClr val="FFFFFF"/>
                </a:highlight>
                <a:latin typeface="Cascadia Mono" panose="020B0609020000020004" pitchFamily="49" charset="0"/>
              </a:rPr>
              <a:t>include</a:t>
            </a:r>
            <a:r>
              <a:rPr lang="en-IN" dirty="0">
                <a:solidFill>
                  <a:srgbClr val="000000"/>
                </a:solidFill>
                <a:highlight>
                  <a:srgbClr val="FFFFFF"/>
                </a:highlight>
                <a:latin typeface="Cascadia Mono" panose="020B0609020000020004" pitchFamily="49" charset="0"/>
              </a:rPr>
              <a:t> </a:t>
            </a:r>
            <a:r>
              <a:rPr lang="en-IN" dirty="0">
                <a:solidFill>
                  <a:srgbClr val="A31515"/>
                </a:solidFill>
                <a:highlight>
                  <a:srgbClr val="FFFFFF"/>
                </a:highlight>
                <a:latin typeface="Cascadia Mono" panose="020B0609020000020004" pitchFamily="49" charset="0"/>
              </a:rPr>
              <a:t>&lt;</a:t>
            </a:r>
            <a:r>
              <a:rPr lang="en-IN" dirty="0" err="1">
                <a:solidFill>
                  <a:srgbClr val="A31515"/>
                </a:solidFill>
                <a:highlight>
                  <a:srgbClr val="FFFFFF"/>
                </a:highlight>
                <a:latin typeface="Cascadia Mono" panose="020B0609020000020004" pitchFamily="49" charset="0"/>
              </a:rPr>
              <a:t>stdio.h</a:t>
            </a:r>
            <a:r>
              <a:rPr lang="en-IN" dirty="0">
                <a:solidFill>
                  <a:srgbClr val="A31515"/>
                </a:solidFill>
                <a:highlight>
                  <a:srgbClr val="FFFFFF"/>
                </a:highlight>
                <a:latin typeface="Cascadia Mono" panose="020B0609020000020004" pitchFamily="49" charset="0"/>
              </a:rPr>
              <a:t>&gt;</a:t>
            </a:r>
            <a:endParaRPr lang="en-IN" dirty="0">
              <a:solidFill>
                <a:srgbClr val="000000"/>
              </a:solidFill>
              <a:highlight>
                <a:srgbClr val="FFFFFF"/>
              </a:highlight>
              <a:latin typeface="Cascadia Mono" panose="020B0609020000020004" pitchFamily="49" charset="0"/>
            </a:endParaRPr>
          </a:p>
          <a:p>
            <a:r>
              <a:rPr lang="en-IN" dirty="0">
                <a:solidFill>
                  <a:srgbClr val="000000"/>
                </a:solidFill>
                <a:highlight>
                  <a:srgbClr val="FFFFFF"/>
                </a:highlight>
                <a:latin typeface="Cascadia Mono" panose="020B0609020000020004" pitchFamily="49" charset="0"/>
              </a:rPr>
              <a:t>#</a:t>
            </a:r>
            <a:r>
              <a:rPr lang="en-IN" dirty="0">
                <a:solidFill>
                  <a:srgbClr val="808080"/>
                </a:solidFill>
                <a:highlight>
                  <a:srgbClr val="FFFFFF"/>
                </a:highlight>
                <a:latin typeface="Cascadia Mono" panose="020B0609020000020004" pitchFamily="49" charset="0"/>
              </a:rPr>
              <a:t>include</a:t>
            </a:r>
            <a:r>
              <a:rPr lang="en-IN" dirty="0">
                <a:solidFill>
                  <a:srgbClr val="000000"/>
                </a:solidFill>
                <a:highlight>
                  <a:srgbClr val="FFFFFF"/>
                </a:highlight>
                <a:latin typeface="Cascadia Mono" panose="020B0609020000020004" pitchFamily="49" charset="0"/>
              </a:rPr>
              <a:t> </a:t>
            </a:r>
            <a:r>
              <a:rPr lang="en-IN" dirty="0">
                <a:solidFill>
                  <a:srgbClr val="A31515"/>
                </a:solidFill>
                <a:highlight>
                  <a:srgbClr val="FFFFFF"/>
                </a:highlight>
                <a:latin typeface="Cascadia Mono" panose="020B0609020000020004" pitchFamily="49" charset="0"/>
              </a:rPr>
              <a:t>&lt;</a:t>
            </a:r>
            <a:r>
              <a:rPr lang="en-IN" dirty="0" err="1">
                <a:solidFill>
                  <a:srgbClr val="A31515"/>
                </a:solidFill>
                <a:highlight>
                  <a:srgbClr val="FFFFFF"/>
                </a:highlight>
                <a:latin typeface="Cascadia Mono" panose="020B0609020000020004" pitchFamily="49" charset="0"/>
              </a:rPr>
              <a:t>stdlib.h</a:t>
            </a:r>
            <a:r>
              <a:rPr lang="en-IN" dirty="0">
                <a:solidFill>
                  <a:srgbClr val="A31515"/>
                </a:solidFill>
                <a:highlight>
                  <a:srgbClr val="FFFFFF"/>
                </a:highlight>
                <a:latin typeface="Cascadia Mono" panose="020B0609020000020004" pitchFamily="49" charset="0"/>
              </a:rPr>
              <a:t>&gt;</a:t>
            </a:r>
            <a:endParaRPr lang="en-IN" dirty="0"/>
          </a:p>
        </p:txBody>
      </p:sp>
      <p:sp>
        <p:nvSpPr>
          <p:cNvPr id="15" name="Rectangle 14"/>
          <p:cNvSpPr/>
          <p:nvPr/>
        </p:nvSpPr>
        <p:spPr>
          <a:xfrm>
            <a:off x="160424" y="1708812"/>
            <a:ext cx="3561347" cy="1477328"/>
          </a:xfrm>
          <a:prstGeom prst="rect">
            <a:avLst/>
          </a:prstGeom>
        </p:spPr>
        <p:txBody>
          <a:bodyPr wrap="square">
            <a:spAutoFit/>
          </a:bodyPr>
          <a:lstStyle/>
          <a:p>
            <a:r>
              <a:rPr lang="en-IN" dirty="0" err="1">
                <a:solidFill>
                  <a:srgbClr val="0000FF"/>
                </a:solidFill>
                <a:highlight>
                  <a:srgbClr val="FFFFFF"/>
                </a:highlight>
                <a:latin typeface="Cascadia Mono" panose="020B0609020000020004" pitchFamily="49" charset="0"/>
              </a:rPr>
              <a:t>struct</a:t>
            </a:r>
            <a:r>
              <a:rPr lang="en-IN" dirty="0">
                <a:solidFill>
                  <a:srgbClr val="000000"/>
                </a:solidFill>
                <a:highlight>
                  <a:srgbClr val="FFFFFF"/>
                </a:highlight>
                <a:latin typeface="Cascadia Mono" panose="020B0609020000020004" pitchFamily="49" charset="0"/>
              </a:rPr>
              <a:t> node</a:t>
            </a:r>
          </a:p>
          <a:p>
            <a:r>
              <a:rPr lang="en-IN" dirty="0">
                <a:solidFill>
                  <a:srgbClr val="000000"/>
                </a:solidFill>
                <a:highlight>
                  <a:srgbClr val="FFFFFF"/>
                </a:highlight>
                <a:latin typeface="Cascadia Mono" panose="020B0609020000020004" pitchFamily="49" charset="0"/>
              </a:rPr>
              <a:t>{</a:t>
            </a:r>
          </a:p>
          <a:p>
            <a:r>
              <a:rPr lang="en-IN" dirty="0">
                <a:solidFill>
                  <a:srgbClr val="000000"/>
                </a:solidFill>
                <a:highlight>
                  <a:srgbClr val="FFFFFF"/>
                </a:highlight>
                <a:latin typeface="Cascadia Mono" panose="020B0609020000020004" pitchFamily="49" charset="0"/>
              </a:rPr>
              <a:t>    </a:t>
            </a:r>
            <a:r>
              <a:rPr lang="en-IN" dirty="0" err="1">
                <a:solidFill>
                  <a:srgbClr val="0000FF"/>
                </a:solidFill>
                <a:highlight>
                  <a:srgbClr val="FFFFFF"/>
                </a:highlight>
                <a:latin typeface="Cascadia Mono" panose="020B0609020000020004" pitchFamily="49" charset="0"/>
              </a:rPr>
              <a:t>int</a:t>
            </a:r>
            <a:r>
              <a:rPr lang="en-IN" dirty="0">
                <a:solidFill>
                  <a:srgbClr val="000000"/>
                </a:solidFill>
                <a:highlight>
                  <a:srgbClr val="FFFFFF"/>
                </a:highlight>
                <a:latin typeface="Cascadia Mono" panose="020B0609020000020004" pitchFamily="49" charset="0"/>
              </a:rPr>
              <a:t> info;</a:t>
            </a:r>
          </a:p>
          <a:p>
            <a:r>
              <a:rPr lang="en-IN" dirty="0">
                <a:solidFill>
                  <a:srgbClr val="000000"/>
                </a:solidFill>
                <a:highlight>
                  <a:srgbClr val="FFFFFF"/>
                </a:highlight>
                <a:latin typeface="Cascadia Mono" panose="020B0609020000020004" pitchFamily="49" charset="0"/>
              </a:rPr>
              <a:t>    </a:t>
            </a:r>
            <a:r>
              <a:rPr lang="en-IN" dirty="0" err="1">
                <a:solidFill>
                  <a:srgbClr val="0000FF"/>
                </a:solidFill>
                <a:highlight>
                  <a:srgbClr val="FFFFFF"/>
                </a:highlight>
                <a:latin typeface="Cascadia Mono" panose="020B0609020000020004" pitchFamily="49" charset="0"/>
              </a:rPr>
              <a:t>struct</a:t>
            </a:r>
            <a:r>
              <a:rPr lang="en-IN" dirty="0">
                <a:solidFill>
                  <a:srgbClr val="000000"/>
                </a:solidFill>
                <a:highlight>
                  <a:srgbClr val="FFFFFF"/>
                </a:highlight>
                <a:latin typeface="Cascadia Mono" panose="020B0609020000020004" pitchFamily="49" charset="0"/>
              </a:rPr>
              <a:t> node *link;</a:t>
            </a:r>
          </a:p>
          <a:p>
            <a:r>
              <a:rPr lang="en-IN" dirty="0">
                <a:solidFill>
                  <a:srgbClr val="000000"/>
                </a:solidFill>
                <a:highlight>
                  <a:srgbClr val="FFFFFF"/>
                </a:highlight>
                <a:latin typeface="Cascadia Mono" panose="020B0609020000020004" pitchFamily="49" charset="0"/>
              </a:rPr>
              <a:t>};</a:t>
            </a:r>
            <a:endParaRPr lang="en-IN" dirty="0"/>
          </a:p>
        </p:txBody>
      </p:sp>
      <p:sp>
        <p:nvSpPr>
          <p:cNvPr id="18" name="Rectangle 17"/>
          <p:cNvSpPr/>
          <p:nvPr/>
        </p:nvSpPr>
        <p:spPr>
          <a:xfrm>
            <a:off x="160424" y="3292820"/>
            <a:ext cx="3685624" cy="369332"/>
          </a:xfrm>
          <a:prstGeom prst="rect">
            <a:avLst/>
          </a:prstGeom>
        </p:spPr>
        <p:txBody>
          <a:bodyPr wrap="none">
            <a:spAutoFit/>
          </a:bodyPr>
          <a:lstStyle/>
          <a:p>
            <a:r>
              <a:rPr lang="en-IN" dirty="0" err="1">
                <a:solidFill>
                  <a:srgbClr val="0000FF"/>
                </a:solidFill>
                <a:highlight>
                  <a:srgbClr val="FFFFFF"/>
                </a:highlight>
                <a:latin typeface="Cascadia Mono" panose="020B0609020000020004" pitchFamily="49" charset="0"/>
              </a:rPr>
              <a:t>struct</a:t>
            </a:r>
            <a:r>
              <a:rPr lang="en-IN" dirty="0">
                <a:solidFill>
                  <a:srgbClr val="000000"/>
                </a:solidFill>
                <a:highlight>
                  <a:srgbClr val="FFFFFF"/>
                </a:highlight>
                <a:latin typeface="Cascadia Mono" panose="020B0609020000020004" pitchFamily="49" charset="0"/>
              </a:rPr>
              <a:t> node *first = </a:t>
            </a:r>
            <a:r>
              <a:rPr lang="en-IN" dirty="0">
                <a:solidFill>
                  <a:srgbClr val="0000FF"/>
                </a:solidFill>
                <a:highlight>
                  <a:srgbClr val="FFFFFF"/>
                </a:highlight>
                <a:latin typeface="Cascadia Mono" panose="020B0609020000020004" pitchFamily="49" charset="0"/>
              </a:rPr>
              <a:t>NULL</a:t>
            </a:r>
            <a:r>
              <a:rPr lang="en-IN" dirty="0">
                <a:solidFill>
                  <a:srgbClr val="000000"/>
                </a:solidFill>
                <a:highlight>
                  <a:srgbClr val="FFFFFF"/>
                </a:highlight>
                <a:latin typeface="Cascadia Mono" panose="020B0609020000020004" pitchFamily="49" charset="0"/>
              </a:rPr>
              <a:t>;</a:t>
            </a:r>
          </a:p>
        </p:txBody>
      </p:sp>
      <p:sp>
        <p:nvSpPr>
          <p:cNvPr id="4" name="Rectangle 3"/>
          <p:cNvSpPr/>
          <p:nvPr/>
        </p:nvSpPr>
        <p:spPr>
          <a:xfrm>
            <a:off x="4042091" y="880936"/>
            <a:ext cx="5436104" cy="369332"/>
          </a:xfrm>
          <a:prstGeom prst="rect">
            <a:avLst/>
          </a:prstGeom>
        </p:spPr>
        <p:txBody>
          <a:bodyPr wrap="none">
            <a:spAutoFit/>
          </a:bodyPr>
          <a:lstStyle/>
          <a:p>
            <a:r>
              <a:rPr lang="en-US" dirty="0">
                <a:solidFill>
                  <a:srgbClr val="008000"/>
                </a:solidFill>
                <a:highlight>
                  <a:srgbClr val="FFFFFF"/>
                </a:highlight>
                <a:latin typeface="Cascadia Mono" panose="020B0609020000020004" pitchFamily="49" charset="0"/>
              </a:rPr>
              <a:t>// Function to insert a node at the end</a:t>
            </a:r>
            <a:endParaRPr lang="en-IN" dirty="0"/>
          </a:p>
        </p:txBody>
      </p:sp>
      <p:sp>
        <p:nvSpPr>
          <p:cNvPr id="5" name="Rectangle 4"/>
          <p:cNvSpPr/>
          <p:nvPr/>
        </p:nvSpPr>
        <p:spPr>
          <a:xfrm>
            <a:off x="4042091" y="1327270"/>
            <a:ext cx="6096000" cy="646331"/>
          </a:xfrm>
          <a:prstGeom prst="rect">
            <a:avLst/>
          </a:prstGeom>
        </p:spPr>
        <p:txBody>
          <a:bodyPr>
            <a:spAutoFit/>
          </a:bodyPr>
          <a:lstStyle/>
          <a:p>
            <a:r>
              <a:rPr lang="en-IN" dirty="0">
                <a:solidFill>
                  <a:srgbClr val="0000FF"/>
                </a:solidFill>
                <a:highlight>
                  <a:srgbClr val="FFFFFF"/>
                </a:highlight>
                <a:latin typeface="Cascadia Mono" panose="020B0609020000020004" pitchFamily="49" charset="0"/>
              </a:rPr>
              <a:t>void</a:t>
            </a:r>
            <a:r>
              <a:rPr lang="en-IN" dirty="0">
                <a:solidFill>
                  <a:srgbClr val="000000"/>
                </a:solidFill>
                <a:highlight>
                  <a:srgbClr val="FFFFFF"/>
                </a:highlight>
                <a:latin typeface="Cascadia Mono" panose="020B0609020000020004" pitchFamily="49" charset="0"/>
              </a:rPr>
              <a:t> </a:t>
            </a:r>
            <a:r>
              <a:rPr lang="en-IN" dirty="0" err="1">
                <a:solidFill>
                  <a:srgbClr val="2B91AF"/>
                </a:solidFill>
                <a:highlight>
                  <a:srgbClr val="FFFFFF"/>
                </a:highlight>
                <a:latin typeface="Cascadia Mono" panose="020B0609020000020004" pitchFamily="49" charset="0"/>
              </a:rPr>
              <a:t>insertAtEnd</a:t>
            </a:r>
            <a:r>
              <a:rPr lang="en-IN" dirty="0">
                <a:solidFill>
                  <a:srgbClr val="000000"/>
                </a:solidFill>
                <a:highlight>
                  <a:srgbClr val="FFFFFF"/>
                </a:highlight>
                <a:latin typeface="Cascadia Mono" panose="020B0609020000020004" pitchFamily="49" charset="0"/>
              </a:rPr>
              <a:t>(</a:t>
            </a:r>
            <a:r>
              <a:rPr lang="en-IN" dirty="0" err="1">
                <a:solidFill>
                  <a:srgbClr val="0000FF"/>
                </a:solidFill>
                <a:highlight>
                  <a:srgbClr val="FFFFFF"/>
                </a:highlight>
                <a:latin typeface="Cascadia Mono" panose="020B0609020000020004" pitchFamily="49" charset="0"/>
              </a:rPr>
              <a:t>int</a:t>
            </a:r>
            <a:r>
              <a:rPr lang="en-IN" dirty="0">
                <a:solidFill>
                  <a:srgbClr val="000000"/>
                </a:solidFill>
                <a:highlight>
                  <a:srgbClr val="FFFFFF"/>
                </a:highlight>
                <a:latin typeface="Cascadia Mono" panose="020B0609020000020004" pitchFamily="49" charset="0"/>
              </a:rPr>
              <a:t> x)</a:t>
            </a:r>
          </a:p>
          <a:p>
            <a:r>
              <a:rPr lang="en-IN" dirty="0">
                <a:solidFill>
                  <a:srgbClr val="000000"/>
                </a:solidFill>
                <a:highlight>
                  <a:srgbClr val="FFFFFF"/>
                </a:highlight>
                <a:latin typeface="Cascadia Mono" panose="020B0609020000020004" pitchFamily="49" charset="0"/>
              </a:rPr>
              <a:t>{</a:t>
            </a:r>
            <a:endParaRPr lang="en-IN" dirty="0"/>
          </a:p>
        </p:txBody>
      </p:sp>
      <p:sp>
        <p:nvSpPr>
          <p:cNvPr id="6" name="Rectangle 5"/>
          <p:cNvSpPr/>
          <p:nvPr/>
        </p:nvSpPr>
        <p:spPr>
          <a:xfrm>
            <a:off x="4462913" y="1866337"/>
            <a:ext cx="7539789" cy="646331"/>
          </a:xfrm>
          <a:prstGeom prst="rect">
            <a:avLst/>
          </a:prstGeom>
        </p:spPr>
        <p:txBody>
          <a:bodyPr wrap="square">
            <a:spAutoFit/>
          </a:bodyPr>
          <a:lstStyle/>
          <a:p>
            <a:r>
              <a:rPr lang="en-IN" dirty="0" err="1">
                <a:solidFill>
                  <a:srgbClr val="0000FF"/>
                </a:solidFill>
                <a:highlight>
                  <a:srgbClr val="FFFFFF"/>
                </a:highlight>
                <a:latin typeface="Cascadia Mono" panose="020B0609020000020004" pitchFamily="49" charset="0"/>
              </a:rPr>
              <a:t>struct</a:t>
            </a:r>
            <a:r>
              <a:rPr lang="en-IN" dirty="0">
                <a:solidFill>
                  <a:srgbClr val="000000"/>
                </a:solidFill>
                <a:highlight>
                  <a:srgbClr val="FFFFFF"/>
                </a:highlight>
                <a:latin typeface="Cascadia Mono" panose="020B0609020000020004" pitchFamily="49" charset="0"/>
              </a:rPr>
              <a:t> node *</a:t>
            </a:r>
            <a:r>
              <a:rPr lang="en-IN" dirty="0" err="1">
                <a:solidFill>
                  <a:srgbClr val="000000"/>
                </a:solidFill>
                <a:highlight>
                  <a:srgbClr val="FFFFFF"/>
                </a:highlight>
                <a:latin typeface="Cascadia Mono" panose="020B0609020000020004" pitchFamily="49" charset="0"/>
              </a:rPr>
              <a:t>newNode</a:t>
            </a:r>
            <a:r>
              <a:rPr lang="en-IN" dirty="0">
                <a:solidFill>
                  <a:srgbClr val="000000"/>
                </a:solidFill>
                <a:highlight>
                  <a:srgbClr val="FFFFFF"/>
                </a:highlight>
                <a:latin typeface="Cascadia Mono" panose="020B0609020000020004" pitchFamily="49" charset="0"/>
              </a:rPr>
              <a:t>;</a:t>
            </a:r>
          </a:p>
          <a:p>
            <a:r>
              <a:rPr lang="en-US" dirty="0" err="1">
                <a:solidFill>
                  <a:srgbClr val="000000"/>
                </a:solidFill>
                <a:highlight>
                  <a:srgbClr val="FFFFFF"/>
                </a:highlight>
                <a:latin typeface="Cascadia Mono" panose="020B0609020000020004" pitchFamily="49" charset="0"/>
              </a:rPr>
              <a:t>newNode</a:t>
            </a:r>
            <a:r>
              <a:rPr lang="en-US" dirty="0">
                <a:solidFill>
                  <a:srgbClr val="000000"/>
                </a:solidFill>
                <a:highlight>
                  <a:srgbClr val="FFFFFF"/>
                </a:highlight>
                <a:latin typeface="Cascadia Mono" panose="020B0609020000020004" pitchFamily="49" charset="0"/>
              </a:rPr>
              <a:t> = (</a:t>
            </a:r>
            <a:r>
              <a:rPr lang="en-US" dirty="0" err="1">
                <a:solidFill>
                  <a:srgbClr val="0000FF"/>
                </a:solidFill>
                <a:highlight>
                  <a:srgbClr val="FFFFFF"/>
                </a:highlight>
                <a:latin typeface="Cascadia Mono" panose="020B0609020000020004" pitchFamily="49" charset="0"/>
              </a:rPr>
              <a:t>struct</a:t>
            </a:r>
            <a:r>
              <a:rPr lang="en-US" dirty="0">
                <a:solidFill>
                  <a:srgbClr val="000000"/>
                </a:solidFill>
                <a:highlight>
                  <a:srgbClr val="FFFFFF"/>
                </a:highlight>
                <a:latin typeface="Cascadia Mono" panose="020B0609020000020004" pitchFamily="49" charset="0"/>
              </a:rPr>
              <a:t> node *)</a:t>
            </a:r>
            <a:r>
              <a:rPr lang="en-US" dirty="0" err="1">
                <a:solidFill>
                  <a:srgbClr val="2B91AF"/>
                </a:solidFill>
                <a:highlight>
                  <a:srgbClr val="FFFFFF"/>
                </a:highlight>
                <a:latin typeface="Cascadia Mono" panose="020B0609020000020004" pitchFamily="49" charset="0"/>
              </a:rPr>
              <a:t>malloc</a:t>
            </a:r>
            <a:r>
              <a:rPr lang="en-US" dirty="0">
                <a:solidFill>
                  <a:srgbClr val="000000"/>
                </a:solidFill>
                <a:highlight>
                  <a:srgbClr val="FFFFFF"/>
                </a:highlight>
                <a:latin typeface="Cascadia Mono" panose="020B0609020000020004" pitchFamily="49" charset="0"/>
              </a:rPr>
              <a:t>(</a:t>
            </a:r>
            <a:r>
              <a:rPr lang="en-US" dirty="0" err="1">
                <a:solidFill>
                  <a:srgbClr val="000000"/>
                </a:solidFill>
                <a:highlight>
                  <a:srgbClr val="FFFFFF"/>
                </a:highlight>
                <a:latin typeface="Cascadia Mono" panose="020B0609020000020004" pitchFamily="49" charset="0"/>
              </a:rPr>
              <a:t>sizeof</a:t>
            </a:r>
            <a:r>
              <a:rPr lang="en-US" dirty="0">
                <a:solidFill>
                  <a:srgbClr val="000000"/>
                </a:solidFill>
                <a:highlight>
                  <a:srgbClr val="FFFFFF"/>
                </a:highlight>
                <a:latin typeface="Cascadia Mono" panose="020B0609020000020004" pitchFamily="49" charset="0"/>
              </a:rPr>
              <a:t>(</a:t>
            </a:r>
            <a:r>
              <a:rPr lang="en-US" dirty="0" err="1">
                <a:solidFill>
                  <a:srgbClr val="0000FF"/>
                </a:solidFill>
                <a:highlight>
                  <a:srgbClr val="FFFFFF"/>
                </a:highlight>
                <a:latin typeface="Cascadia Mono" panose="020B0609020000020004" pitchFamily="49" charset="0"/>
              </a:rPr>
              <a:t>struct</a:t>
            </a:r>
            <a:r>
              <a:rPr lang="en-US" dirty="0">
                <a:solidFill>
                  <a:srgbClr val="000000"/>
                </a:solidFill>
                <a:highlight>
                  <a:srgbClr val="FFFFFF"/>
                </a:highlight>
                <a:latin typeface="Cascadia Mono" panose="020B0609020000020004" pitchFamily="49" charset="0"/>
              </a:rPr>
              <a:t> node));</a:t>
            </a:r>
            <a:endParaRPr lang="en-IN" dirty="0"/>
          </a:p>
        </p:txBody>
      </p:sp>
      <p:sp>
        <p:nvSpPr>
          <p:cNvPr id="7" name="Rectangle 6"/>
          <p:cNvSpPr/>
          <p:nvPr/>
        </p:nvSpPr>
        <p:spPr>
          <a:xfrm>
            <a:off x="4462913" y="2646489"/>
            <a:ext cx="6096000" cy="646331"/>
          </a:xfrm>
          <a:prstGeom prst="rect">
            <a:avLst/>
          </a:prstGeom>
        </p:spPr>
        <p:txBody>
          <a:bodyPr>
            <a:spAutoFit/>
          </a:bodyPr>
          <a:lstStyle/>
          <a:p>
            <a:r>
              <a:rPr lang="en-IN" dirty="0" err="1">
                <a:solidFill>
                  <a:srgbClr val="000000"/>
                </a:solidFill>
                <a:highlight>
                  <a:srgbClr val="FFFFFF"/>
                </a:highlight>
                <a:latin typeface="Cascadia Mono" panose="020B0609020000020004" pitchFamily="49" charset="0"/>
              </a:rPr>
              <a:t>newNode</a:t>
            </a:r>
            <a:r>
              <a:rPr lang="en-IN" dirty="0">
                <a:solidFill>
                  <a:srgbClr val="000000"/>
                </a:solidFill>
                <a:highlight>
                  <a:srgbClr val="FFFFFF"/>
                </a:highlight>
                <a:latin typeface="Cascadia Mono" panose="020B0609020000020004" pitchFamily="49" charset="0"/>
              </a:rPr>
              <a:t>-&gt;info = x;</a:t>
            </a:r>
          </a:p>
          <a:p>
            <a:r>
              <a:rPr lang="en-IN" dirty="0" err="1">
                <a:solidFill>
                  <a:srgbClr val="000000"/>
                </a:solidFill>
                <a:highlight>
                  <a:srgbClr val="FFFFFF"/>
                </a:highlight>
                <a:latin typeface="Cascadia Mono" panose="020B0609020000020004" pitchFamily="49" charset="0"/>
              </a:rPr>
              <a:t>newNode</a:t>
            </a:r>
            <a:r>
              <a:rPr lang="en-IN" dirty="0">
                <a:solidFill>
                  <a:srgbClr val="000000"/>
                </a:solidFill>
                <a:highlight>
                  <a:srgbClr val="FFFFFF"/>
                </a:highlight>
                <a:latin typeface="Cascadia Mono" panose="020B0609020000020004" pitchFamily="49" charset="0"/>
              </a:rPr>
              <a:t>-&gt;link = </a:t>
            </a:r>
            <a:r>
              <a:rPr lang="en-IN" dirty="0">
                <a:solidFill>
                  <a:srgbClr val="0000FF"/>
                </a:solidFill>
                <a:highlight>
                  <a:srgbClr val="FFFFFF"/>
                </a:highlight>
                <a:latin typeface="Cascadia Mono" panose="020B0609020000020004" pitchFamily="49" charset="0"/>
              </a:rPr>
              <a:t>NULL</a:t>
            </a:r>
            <a:r>
              <a:rPr lang="en-IN" dirty="0">
                <a:solidFill>
                  <a:srgbClr val="000000"/>
                </a:solidFill>
                <a:highlight>
                  <a:srgbClr val="FFFFFF"/>
                </a:highlight>
                <a:latin typeface="Cascadia Mono" panose="020B0609020000020004" pitchFamily="49" charset="0"/>
              </a:rPr>
              <a:t>;</a:t>
            </a:r>
            <a:endParaRPr lang="en-IN" dirty="0"/>
          </a:p>
        </p:txBody>
      </p:sp>
      <p:sp>
        <p:nvSpPr>
          <p:cNvPr id="8" name="Rectangle 7"/>
          <p:cNvSpPr/>
          <p:nvPr/>
        </p:nvSpPr>
        <p:spPr>
          <a:xfrm>
            <a:off x="4481685" y="3501289"/>
            <a:ext cx="2608406" cy="369332"/>
          </a:xfrm>
          <a:prstGeom prst="rect">
            <a:avLst/>
          </a:prstGeom>
        </p:spPr>
        <p:txBody>
          <a:bodyPr wrap="none">
            <a:spAutoFit/>
          </a:bodyPr>
          <a:lstStyle/>
          <a:p>
            <a:r>
              <a:rPr lang="en-IN" dirty="0" err="1">
                <a:solidFill>
                  <a:srgbClr val="0000FF"/>
                </a:solidFill>
                <a:highlight>
                  <a:srgbClr val="FFFFFF"/>
                </a:highlight>
                <a:latin typeface="Cascadia Mono" panose="020B0609020000020004" pitchFamily="49" charset="0"/>
              </a:rPr>
              <a:t>struct</a:t>
            </a:r>
            <a:r>
              <a:rPr lang="en-IN" dirty="0">
                <a:solidFill>
                  <a:srgbClr val="000000"/>
                </a:solidFill>
                <a:highlight>
                  <a:srgbClr val="FFFFFF"/>
                </a:highlight>
                <a:latin typeface="Cascadia Mono" panose="020B0609020000020004" pitchFamily="49" charset="0"/>
              </a:rPr>
              <a:t> node *save;</a:t>
            </a:r>
            <a:endParaRPr lang="en-IN" dirty="0"/>
          </a:p>
        </p:txBody>
      </p:sp>
      <p:sp>
        <p:nvSpPr>
          <p:cNvPr id="19" name="Rectangle 18"/>
          <p:cNvSpPr/>
          <p:nvPr/>
        </p:nvSpPr>
        <p:spPr>
          <a:xfrm>
            <a:off x="4481685" y="3894424"/>
            <a:ext cx="1935145" cy="369332"/>
          </a:xfrm>
          <a:prstGeom prst="rect">
            <a:avLst/>
          </a:prstGeom>
          <a:noFill/>
        </p:spPr>
        <p:txBody>
          <a:bodyPr wrap="none">
            <a:spAutoFit/>
          </a:bodyPr>
          <a:lstStyle/>
          <a:p>
            <a:r>
              <a:rPr lang="en-IN" dirty="0">
                <a:solidFill>
                  <a:srgbClr val="000000"/>
                </a:solidFill>
                <a:highlight>
                  <a:srgbClr val="FFFFFF"/>
                </a:highlight>
                <a:latin typeface="Cascadia Mono" panose="020B0609020000020004" pitchFamily="49" charset="0"/>
              </a:rPr>
              <a:t>save = first;</a:t>
            </a:r>
            <a:endParaRPr lang="en-IN" dirty="0"/>
          </a:p>
        </p:txBody>
      </p:sp>
      <p:sp>
        <p:nvSpPr>
          <p:cNvPr id="21" name="Rectangle 20"/>
          <p:cNvSpPr/>
          <p:nvPr/>
        </p:nvSpPr>
        <p:spPr>
          <a:xfrm>
            <a:off x="4481685" y="4397754"/>
            <a:ext cx="3747915" cy="1200329"/>
          </a:xfrm>
          <a:prstGeom prst="rect">
            <a:avLst/>
          </a:prstGeom>
        </p:spPr>
        <p:txBody>
          <a:bodyPr wrap="square">
            <a:spAutoFit/>
          </a:bodyPr>
          <a:lstStyle/>
          <a:p>
            <a:r>
              <a:rPr lang="en-IN" dirty="0">
                <a:solidFill>
                  <a:srgbClr val="0000FF"/>
                </a:solidFill>
                <a:highlight>
                  <a:srgbClr val="FFFFFF"/>
                </a:highlight>
                <a:latin typeface="Cascadia Mono" panose="020B0609020000020004" pitchFamily="49" charset="0"/>
              </a:rPr>
              <a:t>while</a:t>
            </a:r>
            <a:r>
              <a:rPr lang="en-IN" dirty="0">
                <a:solidFill>
                  <a:srgbClr val="000000"/>
                </a:solidFill>
                <a:highlight>
                  <a:srgbClr val="FFFFFF"/>
                </a:highlight>
                <a:latin typeface="Cascadia Mono" panose="020B0609020000020004" pitchFamily="49" charset="0"/>
              </a:rPr>
              <a:t> (save-&gt;link != </a:t>
            </a:r>
            <a:r>
              <a:rPr lang="en-IN" dirty="0">
                <a:solidFill>
                  <a:srgbClr val="0000FF"/>
                </a:solidFill>
                <a:highlight>
                  <a:srgbClr val="FFFFFF"/>
                </a:highlight>
                <a:latin typeface="Cascadia Mono" panose="020B0609020000020004" pitchFamily="49" charset="0"/>
              </a:rPr>
              <a:t>NULL</a:t>
            </a:r>
            <a:r>
              <a:rPr lang="en-IN" dirty="0">
                <a:solidFill>
                  <a:srgbClr val="000000"/>
                </a:solidFill>
                <a:highlight>
                  <a:srgbClr val="FFFFFF"/>
                </a:highlight>
                <a:latin typeface="Cascadia Mono" panose="020B0609020000020004" pitchFamily="49" charset="0"/>
              </a:rPr>
              <a:t>)</a:t>
            </a:r>
          </a:p>
          <a:p>
            <a:r>
              <a:rPr lang="en-IN" dirty="0">
                <a:solidFill>
                  <a:srgbClr val="000000"/>
                </a:solidFill>
                <a:highlight>
                  <a:srgbClr val="FFFFFF"/>
                </a:highlight>
                <a:latin typeface="Cascadia Mono" panose="020B0609020000020004" pitchFamily="49" charset="0"/>
              </a:rPr>
              <a:t>{</a:t>
            </a:r>
          </a:p>
          <a:p>
            <a:r>
              <a:rPr lang="en-IN" dirty="0">
                <a:solidFill>
                  <a:srgbClr val="000000"/>
                </a:solidFill>
                <a:highlight>
                  <a:srgbClr val="FFFFFF"/>
                </a:highlight>
                <a:latin typeface="Cascadia Mono" panose="020B0609020000020004" pitchFamily="49" charset="0"/>
              </a:rPr>
              <a:t>    save = save-&gt;link;</a:t>
            </a:r>
          </a:p>
          <a:p>
            <a:r>
              <a:rPr lang="en-IN" dirty="0">
                <a:solidFill>
                  <a:srgbClr val="000000"/>
                </a:solidFill>
                <a:highlight>
                  <a:srgbClr val="FFFFFF"/>
                </a:highlight>
                <a:latin typeface="Cascadia Mono" panose="020B0609020000020004" pitchFamily="49" charset="0"/>
              </a:rPr>
              <a:t>}</a:t>
            </a:r>
            <a:endParaRPr lang="en-IN" dirty="0"/>
          </a:p>
        </p:txBody>
      </p:sp>
      <p:sp>
        <p:nvSpPr>
          <p:cNvPr id="22" name="Rectangle 21"/>
          <p:cNvSpPr/>
          <p:nvPr/>
        </p:nvSpPr>
        <p:spPr>
          <a:xfrm>
            <a:off x="4193406" y="5732081"/>
            <a:ext cx="4170948" cy="646331"/>
          </a:xfrm>
          <a:prstGeom prst="rect">
            <a:avLst/>
          </a:prstGeom>
        </p:spPr>
        <p:txBody>
          <a:bodyPr wrap="square">
            <a:spAutoFit/>
          </a:bodyPr>
          <a:lstStyle/>
          <a:p>
            <a:r>
              <a:rPr lang="en-IN" dirty="0">
                <a:solidFill>
                  <a:srgbClr val="000000"/>
                </a:solidFill>
                <a:highlight>
                  <a:srgbClr val="FFFFFF"/>
                </a:highlight>
                <a:latin typeface="Cascadia Mono" panose="020B0609020000020004" pitchFamily="49" charset="0"/>
              </a:rPr>
              <a:t>  save-&gt;link= </a:t>
            </a:r>
            <a:r>
              <a:rPr lang="en-IN" dirty="0" err="1">
                <a:solidFill>
                  <a:srgbClr val="000000"/>
                </a:solidFill>
                <a:highlight>
                  <a:srgbClr val="FFFFFF"/>
                </a:highlight>
                <a:latin typeface="Cascadia Mono" panose="020B0609020000020004" pitchFamily="49" charset="0"/>
              </a:rPr>
              <a:t>newNode</a:t>
            </a:r>
            <a:r>
              <a:rPr lang="en-IN" dirty="0">
                <a:solidFill>
                  <a:srgbClr val="000000"/>
                </a:solidFill>
                <a:highlight>
                  <a:srgbClr val="FFFFFF"/>
                </a:highlight>
                <a:latin typeface="Cascadia Mono" panose="020B0609020000020004" pitchFamily="49" charset="0"/>
              </a:rPr>
              <a:t>;</a:t>
            </a:r>
          </a:p>
          <a:p>
            <a:r>
              <a:rPr lang="en-IN" dirty="0">
                <a:solidFill>
                  <a:srgbClr val="000000"/>
                </a:solidFill>
                <a:highlight>
                  <a:srgbClr val="FFFFFF"/>
                </a:highlight>
                <a:latin typeface="Cascadia Mono" panose="020B0609020000020004" pitchFamily="49" charset="0"/>
              </a:rPr>
              <a:t>}</a:t>
            </a:r>
            <a:endParaRPr lang="en-IN" dirty="0"/>
          </a:p>
        </p:txBody>
      </p:sp>
      <p:cxnSp>
        <p:nvCxnSpPr>
          <p:cNvPr id="24" name="Straight Connector 23"/>
          <p:cNvCxnSpPr/>
          <p:nvPr/>
        </p:nvCxnSpPr>
        <p:spPr>
          <a:xfrm>
            <a:off x="3894173" y="808522"/>
            <a:ext cx="0" cy="568853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5242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8" grpId="0"/>
      <p:bldP spid="4" grpId="0"/>
      <p:bldP spid="5" grpId="0"/>
      <p:bldP spid="6" grpId="0"/>
      <p:bldP spid="7" grpId="0"/>
      <p:bldP spid="8" grpId="0"/>
      <p:bldP spid="19" grpId="0"/>
      <p:bldP spid="21" grpId="0"/>
      <p:bldP spid="2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Procedure: </a:t>
            </a:r>
            <a:r>
              <a:rPr lang="en-US" dirty="0"/>
              <a:t>INSORD(X, FIRST)</a:t>
            </a:r>
          </a:p>
        </p:txBody>
      </p:sp>
      <p:sp>
        <p:nvSpPr>
          <p:cNvPr id="3" name="Content Placeholder 2"/>
          <p:cNvSpPr>
            <a:spLocks noGrp="1"/>
          </p:cNvSpPr>
          <p:nvPr>
            <p:ph idx="1"/>
          </p:nvPr>
        </p:nvSpPr>
        <p:spPr>
          <a:xfrm>
            <a:off x="131180" y="876144"/>
            <a:ext cx="11929641" cy="3347513"/>
          </a:xfrm>
        </p:spPr>
        <p:txBody>
          <a:bodyPr/>
          <a:lstStyle/>
          <a:p>
            <a:pPr>
              <a:spcBef>
                <a:spcPts val="600"/>
              </a:spcBef>
            </a:pPr>
            <a:r>
              <a:rPr lang="en-IN" dirty="0"/>
              <a:t>This </a:t>
            </a:r>
            <a:r>
              <a:rPr lang="en-IN" dirty="0" smtClean="0"/>
              <a:t>procedure </a:t>
            </a:r>
            <a:r>
              <a:rPr lang="en-IN" b="1" dirty="0">
                <a:solidFill>
                  <a:srgbClr val="C00000"/>
                </a:solidFill>
              </a:rPr>
              <a:t>inserts</a:t>
            </a:r>
            <a:r>
              <a:rPr lang="en-IN" dirty="0">
                <a:solidFill>
                  <a:srgbClr val="C00000"/>
                </a:solidFill>
              </a:rPr>
              <a:t> </a:t>
            </a:r>
            <a:r>
              <a:rPr lang="en-IN" dirty="0"/>
              <a:t>a new node such that linked list preserves the ordering of the terms in </a:t>
            </a:r>
            <a:r>
              <a:rPr lang="en-IN" b="1" dirty="0">
                <a:solidFill>
                  <a:srgbClr val="C00000"/>
                </a:solidFill>
              </a:rPr>
              <a:t>increasing</a:t>
            </a:r>
            <a:r>
              <a:rPr lang="en-IN" b="1" dirty="0">
                <a:solidFill>
                  <a:srgbClr val="FF0000"/>
                </a:solidFill>
              </a:rPr>
              <a:t> </a:t>
            </a:r>
            <a:r>
              <a:rPr lang="en-IN" b="1" dirty="0">
                <a:solidFill>
                  <a:srgbClr val="C00000"/>
                </a:solidFill>
              </a:rPr>
              <a:t>order</a:t>
            </a:r>
            <a:r>
              <a:rPr lang="en-IN" b="1" dirty="0">
                <a:solidFill>
                  <a:srgbClr val="FF0000"/>
                </a:solidFill>
              </a:rPr>
              <a:t> </a:t>
            </a:r>
            <a:r>
              <a:rPr lang="en-IN" dirty="0"/>
              <a:t>of their </a:t>
            </a:r>
            <a:r>
              <a:rPr lang="en-IN" b="1" dirty="0">
                <a:solidFill>
                  <a:srgbClr val="C00000"/>
                </a:solidFill>
              </a:rPr>
              <a:t>INFO</a:t>
            </a:r>
            <a:r>
              <a:rPr lang="en-IN" dirty="0">
                <a:solidFill>
                  <a:srgbClr val="C00000"/>
                </a:solidFill>
              </a:rPr>
              <a:t> </a:t>
            </a:r>
            <a:r>
              <a:rPr lang="en-IN" dirty="0"/>
              <a:t>field.</a:t>
            </a:r>
          </a:p>
          <a:p>
            <a:pPr>
              <a:spcBef>
                <a:spcPts val="600"/>
              </a:spcBef>
            </a:pPr>
            <a:r>
              <a:rPr lang="en-IN" b="1" dirty="0" smtClean="0">
                <a:solidFill>
                  <a:srgbClr val="C00000"/>
                </a:solidFill>
              </a:rPr>
              <a:t>X</a:t>
            </a:r>
            <a:r>
              <a:rPr lang="en-IN" dirty="0" smtClean="0">
                <a:solidFill>
                  <a:srgbClr val="C00000"/>
                </a:solidFill>
              </a:rPr>
              <a:t> </a:t>
            </a:r>
            <a:r>
              <a:rPr lang="en-IN" dirty="0"/>
              <a:t>is a new element to be inserted.</a:t>
            </a:r>
          </a:p>
          <a:p>
            <a:pPr>
              <a:spcBef>
                <a:spcPts val="600"/>
              </a:spcBef>
            </a:pPr>
            <a:r>
              <a:rPr lang="en-IN" b="1" dirty="0">
                <a:solidFill>
                  <a:srgbClr val="C00000"/>
                </a:solidFill>
              </a:rPr>
              <a:t>FIRST</a:t>
            </a:r>
            <a:r>
              <a:rPr lang="en-IN" dirty="0">
                <a:solidFill>
                  <a:srgbClr val="C00000"/>
                </a:solidFill>
              </a:rPr>
              <a:t> </a:t>
            </a:r>
            <a:r>
              <a:rPr lang="en-IN" dirty="0"/>
              <a:t>is a </a:t>
            </a:r>
            <a:r>
              <a:rPr lang="en-IN" b="1" dirty="0"/>
              <a:t>pointer to the first element</a:t>
            </a:r>
            <a:r>
              <a:rPr lang="en-IN" dirty="0"/>
              <a:t> of a Singly linked linear list. </a:t>
            </a:r>
          </a:p>
          <a:p>
            <a:pPr>
              <a:spcBef>
                <a:spcPts val="600"/>
              </a:spcBef>
            </a:pPr>
            <a:r>
              <a:rPr lang="en-IN" dirty="0"/>
              <a:t>Typical node contains </a:t>
            </a:r>
            <a:r>
              <a:rPr lang="en-IN" b="1" dirty="0">
                <a:solidFill>
                  <a:srgbClr val="C00000"/>
                </a:solidFill>
              </a:rPr>
              <a:t>INFO</a:t>
            </a:r>
            <a:r>
              <a:rPr lang="en-IN" dirty="0">
                <a:solidFill>
                  <a:srgbClr val="C00000"/>
                </a:solidFill>
              </a:rPr>
              <a:t> </a:t>
            </a:r>
            <a:r>
              <a:rPr lang="en-IN" dirty="0"/>
              <a:t>and </a:t>
            </a:r>
            <a:r>
              <a:rPr lang="en-IN" b="1" dirty="0">
                <a:solidFill>
                  <a:srgbClr val="C00000"/>
                </a:solidFill>
              </a:rPr>
              <a:t>LINK</a:t>
            </a:r>
            <a:r>
              <a:rPr lang="en-IN" dirty="0">
                <a:solidFill>
                  <a:srgbClr val="C00000"/>
                </a:solidFill>
              </a:rPr>
              <a:t> </a:t>
            </a:r>
            <a:r>
              <a:rPr lang="en-IN" dirty="0"/>
              <a:t>fields. </a:t>
            </a:r>
          </a:p>
          <a:p>
            <a:pPr>
              <a:spcBef>
                <a:spcPts val="600"/>
              </a:spcBef>
            </a:pPr>
            <a:r>
              <a:rPr lang="en-IN" b="1" dirty="0">
                <a:solidFill>
                  <a:srgbClr val="C00000"/>
                </a:solidFill>
              </a:rPr>
              <a:t>NEW</a:t>
            </a:r>
            <a:r>
              <a:rPr lang="en-IN" dirty="0">
                <a:solidFill>
                  <a:srgbClr val="C00000"/>
                </a:solidFill>
              </a:rPr>
              <a:t> </a:t>
            </a:r>
            <a:r>
              <a:rPr lang="en-IN" dirty="0"/>
              <a:t>is a temporary pointer variable</a:t>
            </a:r>
            <a:endParaRPr lang="en-US" dirty="0"/>
          </a:p>
        </p:txBody>
      </p:sp>
      <p:grpSp>
        <p:nvGrpSpPr>
          <p:cNvPr id="4" name="Group 3"/>
          <p:cNvGrpSpPr/>
          <p:nvPr/>
        </p:nvGrpSpPr>
        <p:grpSpPr>
          <a:xfrm>
            <a:off x="1752600" y="4819528"/>
            <a:ext cx="920012" cy="533400"/>
            <a:chOff x="951919" y="5486400"/>
            <a:chExt cx="920012" cy="533400"/>
          </a:xfrm>
        </p:grpSpPr>
        <p:sp>
          <p:nvSpPr>
            <p:cNvPr id="5" name="Rectangle 4"/>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US" sz="2400" b="1" dirty="0"/>
            </a:p>
          </p:txBody>
        </p:sp>
        <p:sp>
          <p:nvSpPr>
            <p:cNvPr id="6" name="Rectangle 5"/>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7" name="Group 6"/>
          <p:cNvGrpSpPr/>
          <p:nvPr/>
        </p:nvGrpSpPr>
        <p:grpSpPr>
          <a:xfrm>
            <a:off x="3048000" y="4819528"/>
            <a:ext cx="920012" cy="533400"/>
            <a:chOff x="951919" y="5486400"/>
            <a:chExt cx="920012" cy="533400"/>
          </a:xfrm>
        </p:grpSpPr>
        <p:sp>
          <p:nvSpPr>
            <p:cNvPr id="8" name="Rectangle 7"/>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9" name="Rectangle 8"/>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0" name="Group 9"/>
          <p:cNvGrpSpPr/>
          <p:nvPr/>
        </p:nvGrpSpPr>
        <p:grpSpPr>
          <a:xfrm>
            <a:off x="4343400" y="4819528"/>
            <a:ext cx="920012" cy="533400"/>
            <a:chOff x="951919" y="5486400"/>
            <a:chExt cx="920012" cy="533400"/>
          </a:xfrm>
        </p:grpSpPr>
        <p:sp>
          <p:nvSpPr>
            <p:cNvPr id="11" name="Rectangle 10"/>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15</a:t>
              </a:r>
              <a:endParaRPr lang="en-US" sz="2400" b="1" dirty="0"/>
            </a:p>
          </p:txBody>
        </p:sp>
        <p:sp>
          <p:nvSpPr>
            <p:cNvPr id="12" name="Rectangle 11"/>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3" name="Group 12"/>
          <p:cNvGrpSpPr/>
          <p:nvPr/>
        </p:nvGrpSpPr>
        <p:grpSpPr>
          <a:xfrm>
            <a:off x="5638800" y="4819528"/>
            <a:ext cx="920012" cy="533400"/>
            <a:chOff x="951919" y="5486400"/>
            <a:chExt cx="920012" cy="533400"/>
          </a:xfrm>
        </p:grpSpPr>
        <p:sp>
          <p:nvSpPr>
            <p:cNvPr id="14" name="Rectangle 13"/>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20</a:t>
              </a:r>
              <a:endParaRPr lang="en-US" sz="2400" b="1" dirty="0"/>
            </a:p>
          </p:txBody>
        </p:sp>
        <p:sp>
          <p:nvSpPr>
            <p:cNvPr id="15" name="Rectangle 14"/>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6" name="Group 15"/>
          <p:cNvGrpSpPr/>
          <p:nvPr/>
        </p:nvGrpSpPr>
        <p:grpSpPr>
          <a:xfrm>
            <a:off x="8071588" y="4819528"/>
            <a:ext cx="920012" cy="533400"/>
            <a:chOff x="951919" y="5486400"/>
            <a:chExt cx="920012" cy="533400"/>
          </a:xfrm>
        </p:grpSpPr>
        <p:sp>
          <p:nvSpPr>
            <p:cNvPr id="17" name="Rectangle 16"/>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25</a:t>
              </a:r>
              <a:endParaRPr lang="en-US" sz="2400" b="1" dirty="0"/>
            </a:p>
          </p:txBody>
        </p:sp>
        <p:sp>
          <p:nvSpPr>
            <p:cNvPr id="18" name="Rectangle 17"/>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9" name="Group 18"/>
          <p:cNvGrpSpPr/>
          <p:nvPr/>
        </p:nvGrpSpPr>
        <p:grpSpPr>
          <a:xfrm>
            <a:off x="9380738" y="4819528"/>
            <a:ext cx="1058662" cy="533400"/>
            <a:chOff x="6256538" y="5334000"/>
            <a:chExt cx="1058662" cy="533400"/>
          </a:xfrm>
        </p:grpSpPr>
        <p:sp>
          <p:nvSpPr>
            <p:cNvPr id="20" name="Rectangle 19"/>
            <p:cNvSpPr/>
            <p:nvPr/>
          </p:nvSpPr>
          <p:spPr>
            <a:xfrm>
              <a:off x="6256538" y="53340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30</a:t>
              </a:r>
              <a:endParaRPr lang="en-US" sz="2400" b="1" dirty="0"/>
            </a:p>
          </p:txBody>
        </p:sp>
        <p:sp>
          <p:nvSpPr>
            <p:cNvPr id="21" name="Rectangle 20"/>
            <p:cNvSpPr/>
            <p:nvPr/>
          </p:nvSpPr>
          <p:spPr>
            <a:xfrm>
              <a:off x="6795550" y="5334000"/>
              <a:ext cx="51965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22" name="Straight Arrow Connector 21"/>
          <p:cNvCxnSpPr>
            <a:stCxn id="6" idx="3"/>
            <a:endCxn id="8" idx="1"/>
          </p:cNvCxnSpPr>
          <p:nvPr/>
        </p:nvCxnSpPr>
        <p:spPr>
          <a:xfrm>
            <a:off x="2672612" y="5086228"/>
            <a:ext cx="3753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3" name="Straight Arrow Connector 22"/>
          <p:cNvCxnSpPr>
            <a:stCxn id="9" idx="3"/>
            <a:endCxn id="11" idx="1"/>
          </p:cNvCxnSpPr>
          <p:nvPr/>
        </p:nvCxnSpPr>
        <p:spPr>
          <a:xfrm>
            <a:off x="3968012" y="5086228"/>
            <a:ext cx="3753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4" name="Straight Arrow Connector 23"/>
          <p:cNvCxnSpPr>
            <a:stCxn id="12" idx="3"/>
            <a:endCxn id="14" idx="1"/>
          </p:cNvCxnSpPr>
          <p:nvPr/>
        </p:nvCxnSpPr>
        <p:spPr>
          <a:xfrm>
            <a:off x="5263412" y="5086228"/>
            <a:ext cx="3753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5" name="Straight Arrow Connector 24"/>
          <p:cNvCxnSpPr>
            <a:stCxn id="15" idx="3"/>
            <a:endCxn id="17" idx="1"/>
          </p:cNvCxnSpPr>
          <p:nvPr/>
        </p:nvCxnSpPr>
        <p:spPr>
          <a:xfrm>
            <a:off x="6558812" y="5086228"/>
            <a:ext cx="1512776"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6" name="Straight Arrow Connector 25"/>
          <p:cNvCxnSpPr>
            <a:stCxn id="18" idx="3"/>
            <a:endCxn id="20" idx="1"/>
          </p:cNvCxnSpPr>
          <p:nvPr/>
        </p:nvCxnSpPr>
        <p:spPr>
          <a:xfrm>
            <a:off x="8991600" y="5086228"/>
            <a:ext cx="38913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7" name="Straight Connector 26"/>
          <p:cNvCxnSpPr/>
          <p:nvPr/>
        </p:nvCxnSpPr>
        <p:spPr>
          <a:xfrm flipV="1">
            <a:off x="9939280" y="4819528"/>
            <a:ext cx="500120" cy="500128"/>
          </a:xfrm>
          <a:prstGeom prst="line">
            <a:avLst/>
          </a:prstGeom>
          <a:ln w="28575">
            <a:solidFill>
              <a:srgbClr val="B84742"/>
            </a:solidFill>
          </a:ln>
        </p:spPr>
        <p:style>
          <a:lnRef idx="3">
            <a:schemeClr val="accent6"/>
          </a:lnRef>
          <a:fillRef idx="0">
            <a:schemeClr val="accent6"/>
          </a:fillRef>
          <a:effectRef idx="2">
            <a:schemeClr val="accent6"/>
          </a:effectRef>
          <a:fontRef idx="minor">
            <a:schemeClr val="tx1"/>
          </a:fontRef>
        </p:style>
      </p:cxnSp>
      <p:sp>
        <p:nvSpPr>
          <p:cNvPr id="28" name="TextBox 27"/>
          <p:cNvSpPr txBox="1"/>
          <p:nvPr/>
        </p:nvSpPr>
        <p:spPr>
          <a:xfrm>
            <a:off x="1752600" y="5581528"/>
            <a:ext cx="734496" cy="369332"/>
          </a:xfrm>
          <a:prstGeom prst="rect">
            <a:avLst/>
          </a:prstGeom>
          <a:noFill/>
        </p:spPr>
        <p:txBody>
          <a:bodyPr wrap="none" rtlCol="0">
            <a:spAutoFit/>
          </a:bodyPr>
          <a:lstStyle/>
          <a:p>
            <a:r>
              <a:rPr lang="en-IN" b="1" dirty="0">
                <a:solidFill>
                  <a:srgbClr val="C00000"/>
                </a:solidFill>
              </a:rPr>
              <a:t>FIRST</a:t>
            </a:r>
            <a:endParaRPr lang="en-US" b="1" dirty="0">
              <a:solidFill>
                <a:srgbClr val="C00000"/>
              </a:solidFill>
            </a:endParaRPr>
          </a:p>
        </p:txBody>
      </p:sp>
      <p:cxnSp>
        <p:nvCxnSpPr>
          <p:cNvPr id="29" name="Straight Arrow Connector 28"/>
          <p:cNvCxnSpPr/>
          <p:nvPr/>
        </p:nvCxnSpPr>
        <p:spPr>
          <a:xfrm flipV="1">
            <a:off x="2071150" y="5352928"/>
            <a:ext cx="0" cy="3048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30" name="Group 29"/>
          <p:cNvGrpSpPr/>
          <p:nvPr/>
        </p:nvGrpSpPr>
        <p:grpSpPr>
          <a:xfrm>
            <a:off x="6855194" y="5766194"/>
            <a:ext cx="920012" cy="533400"/>
            <a:chOff x="951919" y="5486400"/>
            <a:chExt cx="920012" cy="533400"/>
          </a:xfrm>
        </p:grpSpPr>
        <p:sp>
          <p:nvSpPr>
            <p:cNvPr id="31" name="Rectangle 30"/>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22</a:t>
              </a:r>
              <a:endParaRPr lang="en-US" sz="2400" b="1" dirty="0"/>
            </a:p>
          </p:txBody>
        </p:sp>
        <p:sp>
          <p:nvSpPr>
            <p:cNvPr id="32" name="Rectangle 31"/>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sp>
        <p:nvSpPr>
          <p:cNvPr id="33" name="TextBox 32"/>
          <p:cNvSpPr txBox="1"/>
          <p:nvPr/>
        </p:nvSpPr>
        <p:spPr>
          <a:xfrm>
            <a:off x="5440728" y="4350660"/>
            <a:ext cx="1341073" cy="369332"/>
          </a:xfrm>
          <a:prstGeom prst="rect">
            <a:avLst/>
          </a:prstGeom>
          <a:noFill/>
        </p:spPr>
        <p:txBody>
          <a:bodyPr wrap="none" rtlCol="0">
            <a:spAutoFit/>
          </a:bodyPr>
          <a:lstStyle/>
          <a:p>
            <a:r>
              <a:rPr lang="en-IN" b="1" dirty="0">
                <a:solidFill>
                  <a:srgbClr val="C00000"/>
                </a:solidFill>
              </a:rPr>
              <a:t>Predecessor</a:t>
            </a:r>
            <a:endParaRPr lang="en-US" b="1" dirty="0">
              <a:solidFill>
                <a:srgbClr val="C00000"/>
              </a:solidFill>
            </a:endParaRPr>
          </a:p>
        </p:txBody>
      </p:sp>
      <p:sp>
        <p:nvSpPr>
          <p:cNvPr id="34" name="TextBox 33"/>
          <p:cNvSpPr txBox="1"/>
          <p:nvPr/>
        </p:nvSpPr>
        <p:spPr>
          <a:xfrm>
            <a:off x="7033643" y="6299594"/>
            <a:ext cx="612668" cy="369332"/>
          </a:xfrm>
          <a:prstGeom prst="rect">
            <a:avLst/>
          </a:prstGeom>
          <a:noFill/>
        </p:spPr>
        <p:txBody>
          <a:bodyPr wrap="none" rtlCol="0">
            <a:spAutoFit/>
          </a:bodyPr>
          <a:lstStyle/>
          <a:p>
            <a:pPr algn="ctr"/>
            <a:r>
              <a:rPr lang="en-IN" b="1" dirty="0">
                <a:solidFill>
                  <a:srgbClr val="C00000"/>
                </a:solidFill>
              </a:rPr>
              <a:t>NEW</a:t>
            </a:r>
            <a:endParaRPr lang="en-US" b="1" dirty="0">
              <a:solidFill>
                <a:srgbClr val="C00000"/>
              </a:solidFill>
            </a:endParaRPr>
          </a:p>
        </p:txBody>
      </p:sp>
      <p:cxnSp>
        <p:nvCxnSpPr>
          <p:cNvPr id="35" name="Straight Connector 34"/>
          <p:cNvCxnSpPr>
            <a:stCxn id="32" idx="3"/>
          </p:cNvCxnSpPr>
          <p:nvPr/>
        </p:nvCxnSpPr>
        <p:spPr>
          <a:xfrm>
            <a:off x="7775206" y="6032894"/>
            <a:ext cx="563082"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36" name="Straight Arrow Connector 35"/>
          <p:cNvCxnSpPr>
            <a:endCxn id="17" idx="2"/>
          </p:cNvCxnSpPr>
          <p:nvPr/>
        </p:nvCxnSpPr>
        <p:spPr>
          <a:xfrm flipV="1">
            <a:off x="8338288" y="5352928"/>
            <a:ext cx="0" cy="67996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7" name="Straight Connector 36"/>
          <p:cNvCxnSpPr>
            <a:stCxn id="15" idx="2"/>
          </p:cNvCxnSpPr>
          <p:nvPr/>
        </p:nvCxnSpPr>
        <p:spPr>
          <a:xfrm>
            <a:off x="6368312" y="5352928"/>
            <a:ext cx="0" cy="679966"/>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38" name="Straight Arrow Connector 37"/>
          <p:cNvCxnSpPr>
            <a:endCxn id="31" idx="1"/>
          </p:cNvCxnSpPr>
          <p:nvPr/>
        </p:nvCxnSpPr>
        <p:spPr>
          <a:xfrm>
            <a:off x="6368312" y="6032894"/>
            <a:ext cx="486882"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743324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5"/>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xit" presetSubtype="0" fill="hold" nodeType="clickEffect">
                                  <p:stCondLst>
                                    <p:cond delay="0"/>
                                  </p:stCondLst>
                                  <p:childTnLst>
                                    <p:set>
                                      <p:cBhvr>
                                        <p:cTn id="72" dur="1" fill="hold">
                                          <p:stCondLst>
                                            <p:cond delay="0"/>
                                          </p:stCondLst>
                                        </p:cTn>
                                        <p:tgtEl>
                                          <p:spTgt spid="25"/>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37"/>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8" grpId="0"/>
      <p:bldP spid="33" grpId="0"/>
      <p:bldP spid="3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Procedure: </a:t>
            </a:r>
            <a:r>
              <a:rPr lang="en-US" dirty="0"/>
              <a:t>INSORD(X, FIRST)</a:t>
            </a:r>
          </a:p>
        </p:txBody>
      </p:sp>
      <p:sp>
        <p:nvSpPr>
          <p:cNvPr id="4" name="TextBox 3"/>
          <p:cNvSpPr txBox="1"/>
          <p:nvPr/>
        </p:nvSpPr>
        <p:spPr>
          <a:xfrm>
            <a:off x="233081" y="811309"/>
            <a:ext cx="5760000" cy="3170099"/>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1. [Creates a new empty node]</a:t>
            </a:r>
          </a:p>
          <a:p>
            <a:r>
              <a:rPr lang="en-IN" sz="2000" dirty="0">
                <a:latin typeface="Consolas" pitchFamily="49" charset="0"/>
                <a:cs typeface="Consolas" pitchFamily="49" charset="0"/>
              </a:rPr>
              <a:t>    NEW </a:t>
            </a:r>
            <a:r>
              <a:rPr lang="en-IN" sz="2000" b="1" dirty="0" smtClean="0">
                <a:solidFill>
                  <a:schemeClr val="accent6"/>
                </a:solidFill>
                <a:latin typeface="Consolas" pitchFamily="49" charset="0"/>
                <a:cs typeface="Consolas" pitchFamily="49" charset="0"/>
              </a:rPr>
              <a:t>&lt;=</a:t>
            </a:r>
            <a:r>
              <a:rPr lang="en-IN" sz="2000" dirty="0" smtClean="0">
                <a:latin typeface="Consolas" pitchFamily="49" charset="0"/>
                <a:cs typeface="Consolas" pitchFamily="49" charset="0"/>
              </a:rPr>
              <a:t> </a:t>
            </a:r>
            <a:r>
              <a:rPr lang="en-IN" sz="2000" dirty="0">
                <a:latin typeface="Consolas" pitchFamily="49" charset="0"/>
                <a:cs typeface="Consolas" pitchFamily="49" charset="0"/>
              </a:rPr>
              <a:t>NODE</a:t>
            </a:r>
          </a:p>
          <a:p>
            <a:endParaRPr lang="en-IN" sz="2000" dirty="0">
              <a:latin typeface="Consolas" pitchFamily="49" charset="0"/>
              <a:cs typeface="Consolas" pitchFamily="49" charset="0"/>
            </a:endParaRPr>
          </a:p>
          <a:p>
            <a:r>
              <a:rPr lang="en-IN" sz="2000" b="1" dirty="0">
                <a:solidFill>
                  <a:schemeClr val="tx2"/>
                </a:solidFill>
                <a:latin typeface="Consolas" pitchFamily="49" charset="0"/>
                <a:cs typeface="Consolas" pitchFamily="49" charset="0"/>
              </a:rPr>
              <a:t>2. [Initialize fields of new node]</a:t>
            </a:r>
          </a:p>
          <a:p>
            <a:r>
              <a:rPr lang="en-IN" sz="2000" dirty="0">
                <a:latin typeface="Consolas" pitchFamily="49" charset="0"/>
                <a:cs typeface="Consolas" pitchFamily="49" charset="0"/>
              </a:rPr>
              <a:t>    INFO(NEW)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X</a:t>
            </a:r>
          </a:p>
          <a:p>
            <a:endParaRPr lang="en-IN" sz="2000" dirty="0">
              <a:latin typeface="Consolas" pitchFamily="49" charset="0"/>
              <a:cs typeface="Consolas" pitchFamily="49" charset="0"/>
            </a:endParaRPr>
          </a:p>
          <a:p>
            <a:r>
              <a:rPr lang="en-IN" sz="2000" b="1" dirty="0">
                <a:solidFill>
                  <a:schemeClr val="tx2"/>
                </a:solidFill>
                <a:latin typeface="Consolas" pitchFamily="49" charset="0"/>
                <a:cs typeface="Consolas" pitchFamily="49" charset="0"/>
              </a:rPr>
              <a:t>3. [Is the list empty?]</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IF</a:t>
            </a:r>
            <a:r>
              <a:rPr lang="en-IN" sz="2000" dirty="0">
                <a:latin typeface="Consolas" pitchFamily="49" charset="0"/>
                <a:cs typeface="Consolas" pitchFamily="49" charset="0"/>
              </a:rPr>
              <a:t>	   FIRST = NULL</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THEN</a:t>
            </a:r>
            <a:r>
              <a:rPr lang="en-IN" sz="2000" dirty="0">
                <a:latin typeface="Consolas" pitchFamily="49" charset="0"/>
                <a:cs typeface="Consolas" pitchFamily="49" charset="0"/>
              </a:rPr>
              <a:t>  LINK(NEW) </a:t>
            </a:r>
            <a:r>
              <a:rPr lang="en-IN" sz="2000" dirty="0">
                <a:latin typeface="Consolas" pitchFamily="49" charset="0"/>
                <a:cs typeface="Consolas" pitchFamily="49" charset="0"/>
                <a:sym typeface="Wingdings" pitchFamily="2" charset="2"/>
              </a:rPr>
              <a:t> NULL</a:t>
            </a:r>
            <a:endParaRPr lang="en-IN" sz="2000" dirty="0">
              <a:latin typeface="Consolas" pitchFamily="49" charset="0"/>
              <a:cs typeface="Consolas" pitchFamily="49" charset="0"/>
            </a:endParaRPr>
          </a:p>
          <a:p>
            <a:r>
              <a:rPr lang="en-IN" sz="2000" dirty="0">
                <a:latin typeface="Consolas" pitchFamily="49" charset="0"/>
                <a:cs typeface="Consolas" pitchFamily="49" charset="0"/>
              </a:rPr>
              <a:t> 	    </a:t>
            </a:r>
            <a:r>
              <a:rPr lang="en-IN" sz="2000" dirty="0" smtClean="0">
                <a:latin typeface="Consolas" pitchFamily="49" charset="0"/>
                <a:cs typeface="Consolas" pitchFamily="49" charset="0"/>
              </a:rPr>
              <a:t>FIRST </a:t>
            </a:r>
            <a:r>
              <a:rPr lang="en-IN" sz="2000" dirty="0" smtClean="0">
                <a:latin typeface="Consolas" pitchFamily="49" charset="0"/>
                <a:cs typeface="Consolas" pitchFamily="49" charset="0"/>
                <a:sym typeface="Wingdings" panose="05000000000000000000" pitchFamily="2" charset="2"/>
              </a:rPr>
              <a:t> </a:t>
            </a:r>
            <a:r>
              <a:rPr lang="en-IN" sz="2000" dirty="0" smtClean="0">
                <a:latin typeface="Consolas" pitchFamily="49" charset="0"/>
                <a:cs typeface="Consolas" pitchFamily="49" charset="0"/>
              </a:rPr>
              <a:t>NEW</a:t>
            </a:r>
            <a:endParaRPr lang="en-IN" sz="2000" dirty="0">
              <a:latin typeface="Consolas" pitchFamily="49" charset="0"/>
              <a:cs typeface="Consolas" pitchFamily="49" charset="0"/>
            </a:endParaRPr>
          </a:p>
        </p:txBody>
      </p:sp>
      <p:sp>
        <p:nvSpPr>
          <p:cNvPr id="5" name="TextBox 4"/>
          <p:cNvSpPr txBox="1"/>
          <p:nvPr/>
        </p:nvSpPr>
        <p:spPr>
          <a:xfrm>
            <a:off x="6212541" y="811309"/>
            <a:ext cx="5760000" cy="5324535"/>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pPr marL="444500" indent="-444500"/>
            <a:r>
              <a:rPr lang="en-IN" sz="2000" b="1" dirty="0">
                <a:solidFill>
                  <a:schemeClr val="tx2"/>
                </a:solidFill>
                <a:latin typeface="Consolas" pitchFamily="49" charset="0"/>
                <a:cs typeface="Consolas" pitchFamily="49" charset="0"/>
              </a:rPr>
              <a:t>4. [Does the new node precede all other node in the list?]</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IF</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  INFO(NEW) ≤ INFO (FIRST)</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THEN</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LINK (NEW)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FIRST</a:t>
            </a:r>
          </a:p>
          <a:p>
            <a:r>
              <a:rPr lang="en-IN" sz="2000" dirty="0">
                <a:latin typeface="Consolas" pitchFamily="49" charset="0"/>
                <a:cs typeface="Consolas" pitchFamily="49" charset="0"/>
              </a:rPr>
              <a:t>	 </a:t>
            </a:r>
            <a:r>
              <a:rPr lang="en-IN" sz="2000" dirty="0" smtClean="0">
                <a:latin typeface="Consolas" pitchFamily="49" charset="0"/>
                <a:cs typeface="Consolas" pitchFamily="49" charset="0"/>
              </a:rPr>
              <a:t>  FIRST </a:t>
            </a:r>
            <a:r>
              <a:rPr lang="en-IN" sz="2000" dirty="0">
                <a:latin typeface="Consolas" pitchFamily="49" charset="0"/>
                <a:cs typeface="Consolas" pitchFamily="49" charset="0"/>
                <a:sym typeface="Wingdings" panose="05000000000000000000" pitchFamily="2" charset="2"/>
              </a:rPr>
              <a:t> </a:t>
            </a:r>
            <a:r>
              <a:rPr lang="en-IN" sz="2000" dirty="0">
                <a:latin typeface="Consolas" pitchFamily="49" charset="0"/>
                <a:cs typeface="Consolas" pitchFamily="49" charset="0"/>
              </a:rPr>
              <a:t>NEW</a:t>
            </a:r>
          </a:p>
          <a:p>
            <a:r>
              <a:rPr lang="en-IN" sz="2000" b="1" dirty="0">
                <a:solidFill>
                  <a:schemeClr val="tx2"/>
                </a:solidFill>
                <a:latin typeface="Consolas" pitchFamily="49" charset="0"/>
                <a:cs typeface="Consolas" pitchFamily="49" charset="0"/>
              </a:rPr>
              <a:t>5. [Initialize temporary pointer]</a:t>
            </a:r>
          </a:p>
          <a:p>
            <a:r>
              <a:rPr lang="en-IN" sz="2000" dirty="0">
                <a:latin typeface="Consolas" pitchFamily="49" charset="0"/>
                <a:cs typeface="Consolas" pitchFamily="49" charset="0"/>
              </a:rPr>
              <a:t>   SAVE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FIRST</a:t>
            </a:r>
          </a:p>
          <a:p>
            <a:r>
              <a:rPr lang="en-IN" sz="2000" b="1" dirty="0">
                <a:solidFill>
                  <a:schemeClr val="tx2"/>
                </a:solidFill>
                <a:latin typeface="Consolas" pitchFamily="49" charset="0"/>
                <a:cs typeface="Consolas" pitchFamily="49" charset="0"/>
              </a:rPr>
              <a:t>6. [Search for predecessor of new node]</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Repeat</a:t>
            </a:r>
            <a:r>
              <a:rPr lang="en-IN" sz="2000" b="1"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while</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LINK (SAVE) ≠ NULL</a:t>
            </a:r>
          </a:p>
          <a:p>
            <a:r>
              <a:rPr lang="en-IN" sz="2000" dirty="0">
                <a:latin typeface="Consolas" pitchFamily="49" charset="0"/>
                <a:cs typeface="Consolas" pitchFamily="49" charset="0"/>
              </a:rPr>
              <a:t>    </a:t>
            </a:r>
            <a:r>
              <a:rPr lang="en-IN" sz="2000" b="1" dirty="0">
                <a:latin typeface="Consolas" pitchFamily="49" charset="0"/>
                <a:cs typeface="Consolas" pitchFamily="49" charset="0"/>
              </a:rPr>
              <a:t>&amp;</a:t>
            </a:r>
            <a:r>
              <a:rPr lang="en-IN" sz="2000" dirty="0">
                <a:latin typeface="Consolas" pitchFamily="49" charset="0"/>
                <a:cs typeface="Consolas" pitchFamily="49" charset="0"/>
              </a:rPr>
              <a:t> INFO(NEW) ≥ INFO(LINK(SAVE))</a:t>
            </a:r>
          </a:p>
          <a:p>
            <a:r>
              <a:rPr lang="en-IN" sz="2000" dirty="0">
                <a:latin typeface="Consolas" pitchFamily="49" charset="0"/>
                <a:cs typeface="Consolas" pitchFamily="49" charset="0"/>
              </a:rPr>
              <a:t> 	SAVE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LINK (SAVE)</a:t>
            </a:r>
          </a:p>
          <a:p>
            <a:pPr marL="444500" indent="-444500"/>
            <a:r>
              <a:rPr lang="en-IN" sz="2000" b="1" dirty="0">
                <a:solidFill>
                  <a:schemeClr val="tx2"/>
                </a:solidFill>
                <a:latin typeface="Consolas" pitchFamily="49" charset="0"/>
                <a:cs typeface="Consolas" pitchFamily="49" charset="0"/>
              </a:rPr>
              <a:t>7. [Set link field of NEW node and its predecessor]</a:t>
            </a:r>
          </a:p>
          <a:p>
            <a:r>
              <a:rPr lang="en-IN" sz="2000" dirty="0">
                <a:latin typeface="Consolas" pitchFamily="49" charset="0"/>
                <a:cs typeface="Consolas" pitchFamily="49" charset="0"/>
              </a:rPr>
              <a:t>    LINK (NEW)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LINK (SAVE)</a:t>
            </a:r>
          </a:p>
          <a:p>
            <a:r>
              <a:rPr lang="en-IN" sz="2000" dirty="0">
                <a:latin typeface="Consolas" pitchFamily="49" charset="0"/>
                <a:cs typeface="Consolas" pitchFamily="49" charset="0"/>
              </a:rPr>
              <a:t>    LINK (SAVE)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NEW</a:t>
            </a:r>
          </a:p>
          <a:p>
            <a:r>
              <a:rPr lang="en-IN" sz="2000" b="1" dirty="0">
                <a:solidFill>
                  <a:schemeClr val="tx2"/>
                </a:solidFill>
                <a:latin typeface="Consolas" pitchFamily="49" charset="0"/>
                <a:cs typeface="Consolas" pitchFamily="49" charset="0"/>
              </a:rPr>
              <a:t>8. [</a:t>
            </a:r>
            <a:r>
              <a:rPr lang="en-IN" sz="2000" b="1" dirty="0" smtClean="0">
                <a:solidFill>
                  <a:schemeClr val="tx2"/>
                </a:solidFill>
                <a:latin typeface="Consolas" pitchFamily="49" charset="0"/>
                <a:cs typeface="Consolas" pitchFamily="49" charset="0"/>
              </a:rPr>
              <a:t>Return]</a:t>
            </a:r>
            <a:endParaRPr lang="en-IN" sz="2000" b="1" dirty="0">
              <a:solidFill>
                <a:schemeClr val="tx2"/>
              </a:solidFill>
              <a:latin typeface="Consolas" pitchFamily="49" charset="0"/>
              <a:cs typeface="Consolas" pitchFamily="49" charset="0"/>
            </a:endParaRPr>
          </a:p>
          <a:p>
            <a:r>
              <a:rPr lang="en-IN" sz="2000" dirty="0">
                <a:latin typeface="Consolas" pitchFamily="49" charset="0"/>
                <a:cs typeface="Consolas" pitchFamily="49" charset="0"/>
              </a:rPr>
              <a:t>    </a:t>
            </a:r>
            <a:r>
              <a:rPr lang="en-IN" sz="2000" dirty="0" smtClean="0">
                <a:latin typeface="Consolas" pitchFamily="49" charset="0"/>
                <a:cs typeface="Consolas" pitchFamily="49" charset="0"/>
              </a:rPr>
              <a:t>Return</a:t>
            </a:r>
            <a:endParaRPr lang="en-IN" sz="2000" dirty="0">
              <a:latin typeface="Consolas" pitchFamily="49" charset="0"/>
              <a:cs typeface="Consolas" pitchFamily="49" charset="0"/>
            </a:endParaRPr>
          </a:p>
        </p:txBody>
      </p:sp>
    </p:spTree>
    <p:extLst>
      <p:ext uri="{BB962C8B-B14F-4D97-AF65-F5344CB8AC3E}">
        <p14:creationId xmlns:p14="http://schemas.microsoft.com/office/powerpoint/2010/main" val="2023630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 end="1"/>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
                                            <p:txEl>
                                              <p:pRg st="2" end="2"/>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7" end="7"/>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
                                            <p:txEl>
                                              <p:pRg st="8" end="8"/>
                                            </p:tx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11" end="11"/>
                                            </p:txEl>
                                          </p:spTgt>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Procedure: </a:t>
            </a:r>
            <a:r>
              <a:rPr lang="en-US" dirty="0"/>
              <a:t>INSORD(3, FIRST)</a:t>
            </a:r>
          </a:p>
        </p:txBody>
      </p:sp>
      <p:grpSp>
        <p:nvGrpSpPr>
          <p:cNvPr id="4" name="Group 3"/>
          <p:cNvGrpSpPr/>
          <p:nvPr/>
        </p:nvGrpSpPr>
        <p:grpSpPr>
          <a:xfrm>
            <a:off x="3200400" y="1219200"/>
            <a:ext cx="920012" cy="533400"/>
            <a:chOff x="951919" y="5486400"/>
            <a:chExt cx="920012" cy="533400"/>
          </a:xfrm>
        </p:grpSpPr>
        <p:sp>
          <p:nvSpPr>
            <p:cNvPr id="5" name="Rectangle 4"/>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US" sz="2400" b="1" dirty="0"/>
            </a:p>
          </p:txBody>
        </p:sp>
        <p:sp>
          <p:nvSpPr>
            <p:cNvPr id="6" name="Rectangle 5"/>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7" name="Group 6"/>
          <p:cNvGrpSpPr/>
          <p:nvPr/>
        </p:nvGrpSpPr>
        <p:grpSpPr>
          <a:xfrm>
            <a:off x="4422230" y="1219200"/>
            <a:ext cx="920012" cy="533400"/>
            <a:chOff x="951919" y="5486400"/>
            <a:chExt cx="920012" cy="533400"/>
          </a:xfrm>
        </p:grpSpPr>
        <p:sp>
          <p:nvSpPr>
            <p:cNvPr id="8" name="Rectangle 7"/>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9" name="Rectangle 8"/>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0" name="Group 9"/>
          <p:cNvGrpSpPr/>
          <p:nvPr/>
        </p:nvGrpSpPr>
        <p:grpSpPr>
          <a:xfrm>
            <a:off x="5641430" y="1219200"/>
            <a:ext cx="920012" cy="533400"/>
            <a:chOff x="951919" y="5486400"/>
            <a:chExt cx="920012" cy="533400"/>
          </a:xfrm>
        </p:grpSpPr>
        <p:sp>
          <p:nvSpPr>
            <p:cNvPr id="11" name="Rectangle 10"/>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15</a:t>
              </a:r>
              <a:endParaRPr lang="en-US" sz="2400" b="1" dirty="0"/>
            </a:p>
          </p:txBody>
        </p:sp>
        <p:sp>
          <p:nvSpPr>
            <p:cNvPr id="12" name="Rectangle 11"/>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3" name="Group 12"/>
          <p:cNvGrpSpPr/>
          <p:nvPr/>
        </p:nvGrpSpPr>
        <p:grpSpPr>
          <a:xfrm>
            <a:off x="6860630" y="1219200"/>
            <a:ext cx="920012" cy="533400"/>
            <a:chOff x="951919" y="5486400"/>
            <a:chExt cx="920012" cy="533400"/>
          </a:xfrm>
        </p:grpSpPr>
        <p:sp>
          <p:nvSpPr>
            <p:cNvPr id="14" name="Rectangle 13"/>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20</a:t>
              </a:r>
              <a:endParaRPr lang="en-US" sz="2400" b="1" dirty="0"/>
            </a:p>
          </p:txBody>
        </p:sp>
        <p:sp>
          <p:nvSpPr>
            <p:cNvPr id="15" name="Rectangle 14"/>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6" name="Group 15"/>
          <p:cNvGrpSpPr/>
          <p:nvPr/>
        </p:nvGrpSpPr>
        <p:grpSpPr>
          <a:xfrm>
            <a:off x="8079830" y="1219200"/>
            <a:ext cx="920012" cy="533400"/>
            <a:chOff x="951919" y="5486400"/>
            <a:chExt cx="920012" cy="533400"/>
          </a:xfrm>
        </p:grpSpPr>
        <p:sp>
          <p:nvSpPr>
            <p:cNvPr id="17" name="Rectangle 16"/>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25</a:t>
              </a:r>
              <a:endParaRPr lang="en-US" sz="2400" b="1" dirty="0"/>
            </a:p>
          </p:txBody>
        </p:sp>
        <p:sp>
          <p:nvSpPr>
            <p:cNvPr id="18" name="Rectangle 17"/>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9" name="Group 18"/>
          <p:cNvGrpSpPr/>
          <p:nvPr/>
        </p:nvGrpSpPr>
        <p:grpSpPr>
          <a:xfrm>
            <a:off x="9299030" y="1219200"/>
            <a:ext cx="1058662" cy="533400"/>
            <a:chOff x="6256538" y="5334000"/>
            <a:chExt cx="1058662" cy="533400"/>
          </a:xfrm>
        </p:grpSpPr>
        <p:sp>
          <p:nvSpPr>
            <p:cNvPr id="20" name="Rectangle 19"/>
            <p:cNvSpPr/>
            <p:nvPr/>
          </p:nvSpPr>
          <p:spPr>
            <a:xfrm>
              <a:off x="6256538" y="53340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30</a:t>
              </a:r>
              <a:endParaRPr lang="en-US" sz="2400" b="1" dirty="0"/>
            </a:p>
          </p:txBody>
        </p:sp>
        <p:sp>
          <p:nvSpPr>
            <p:cNvPr id="21" name="Rectangle 20"/>
            <p:cNvSpPr/>
            <p:nvPr/>
          </p:nvSpPr>
          <p:spPr>
            <a:xfrm>
              <a:off x="6795550" y="5334000"/>
              <a:ext cx="51965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22" name="Straight Arrow Connector 21"/>
          <p:cNvCxnSpPr>
            <a:stCxn id="6" idx="3"/>
            <a:endCxn id="8" idx="1"/>
          </p:cNvCxnSpPr>
          <p:nvPr/>
        </p:nvCxnSpPr>
        <p:spPr>
          <a:xfrm>
            <a:off x="4120412" y="1485900"/>
            <a:ext cx="30181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3" name="Straight Arrow Connector 22"/>
          <p:cNvCxnSpPr>
            <a:stCxn id="9" idx="3"/>
            <a:endCxn id="11" idx="1"/>
          </p:cNvCxnSpPr>
          <p:nvPr/>
        </p:nvCxnSpPr>
        <p:spPr>
          <a:xfrm>
            <a:off x="5342242" y="1485900"/>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4" name="Straight Arrow Connector 23"/>
          <p:cNvCxnSpPr>
            <a:stCxn id="12" idx="3"/>
            <a:endCxn id="14" idx="1"/>
          </p:cNvCxnSpPr>
          <p:nvPr/>
        </p:nvCxnSpPr>
        <p:spPr>
          <a:xfrm>
            <a:off x="6561442" y="1485900"/>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5" name="Straight Arrow Connector 24"/>
          <p:cNvCxnSpPr>
            <a:stCxn id="15" idx="3"/>
            <a:endCxn id="17" idx="1"/>
          </p:cNvCxnSpPr>
          <p:nvPr/>
        </p:nvCxnSpPr>
        <p:spPr>
          <a:xfrm>
            <a:off x="7780642" y="1485900"/>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6" name="Straight Arrow Connector 25"/>
          <p:cNvCxnSpPr>
            <a:stCxn id="18" idx="3"/>
            <a:endCxn id="20" idx="1"/>
          </p:cNvCxnSpPr>
          <p:nvPr/>
        </p:nvCxnSpPr>
        <p:spPr>
          <a:xfrm>
            <a:off x="8999842" y="1485900"/>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8" name="TextBox 27"/>
          <p:cNvSpPr txBox="1"/>
          <p:nvPr/>
        </p:nvSpPr>
        <p:spPr>
          <a:xfrm>
            <a:off x="1905000" y="2676241"/>
            <a:ext cx="612668" cy="369332"/>
          </a:xfrm>
          <a:prstGeom prst="rect">
            <a:avLst/>
          </a:prstGeom>
          <a:noFill/>
        </p:spPr>
        <p:txBody>
          <a:bodyPr wrap="none" rtlCol="0">
            <a:spAutoFit/>
          </a:bodyPr>
          <a:lstStyle/>
          <a:p>
            <a:r>
              <a:rPr lang="en-IN" b="1" dirty="0">
                <a:solidFill>
                  <a:srgbClr val="C00000"/>
                </a:solidFill>
              </a:rPr>
              <a:t>NEW</a:t>
            </a:r>
            <a:endParaRPr lang="en-US" b="1" dirty="0">
              <a:solidFill>
                <a:srgbClr val="C00000"/>
              </a:solidFill>
            </a:endParaRPr>
          </a:p>
        </p:txBody>
      </p:sp>
      <p:cxnSp>
        <p:nvCxnSpPr>
          <p:cNvPr id="29" name="Straight Connector 28"/>
          <p:cNvCxnSpPr/>
          <p:nvPr/>
        </p:nvCxnSpPr>
        <p:spPr>
          <a:xfrm flipV="1">
            <a:off x="9842444" y="1219200"/>
            <a:ext cx="500120" cy="500128"/>
          </a:xfrm>
          <a:prstGeom prst="line">
            <a:avLst/>
          </a:prstGeom>
          <a:ln w="28575">
            <a:solidFill>
              <a:srgbClr val="B84742"/>
            </a:solidFill>
          </a:ln>
        </p:spPr>
        <p:style>
          <a:lnRef idx="3">
            <a:schemeClr val="accent6"/>
          </a:lnRef>
          <a:fillRef idx="0">
            <a:schemeClr val="accent6"/>
          </a:fillRef>
          <a:effectRef idx="2">
            <a:schemeClr val="accent6"/>
          </a:effectRef>
          <a:fontRef idx="minor">
            <a:schemeClr val="tx1"/>
          </a:fontRef>
        </p:style>
      </p:cxnSp>
      <p:sp>
        <p:nvSpPr>
          <p:cNvPr id="30" name="TextBox 29"/>
          <p:cNvSpPr txBox="1"/>
          <p:nvPr/>
        </p:nvSpPr>
        <p:spPr>
          <a:xfrm>
            <a:off x="3200400" y="1981200"/>
            <a:ext cx="734496" cy="369332"/>
          </a:xfrm>
          <a:prstGeom prst="rect">
            <a:avLst/>
          </a:prstGeom>
          <a:noFill/>
        </p:spPr>
        <p:txBody>
          <a:bodyPr wrap="none" rtlCol="0">
            <a:spAutoFit/>
          </a:bodyPr>
          <a:lstStyle/>
          <a:p>
            <a:r>
              <a:rPr lang="en-IN" b="1" dirty="0">
                <a:solidFill>
                  <a:srgbClr val="C00000"/>
                </a:solidFill>
              </a:rPr>
              <a:t>FIRST</a:t>
            </a:r>
            <a:endParaRPr lang="en-US" b="1" dirty="0">
              <a:solidFill>
                <a:srgbClr val="C00000"/>
              </a:solidFill>
            </a:endParaRPr>
          </a:p>
        </p:txBody>
      </p:sp>
      <p:cxnSp>
        <p:nvCxnSpPr>
          <p:cNvPr id="31" name="Straight Arrow Connector 30"/>
          <p:cNvCxnSpPr/>
          <p:nvPr/>
        </p:nvCxnSpPr>
        <p:spPr>
          <a:xfrm flipV="1">
            <a:off x="3518950" y="1752600"/>
            <a:ext cx="0" cy="3048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32" name="Group 31"/>
          <p:cNvGrpSpPr/>
          <p:nvPr/>
        </p:nvGrpSpPr>
        <p:grpSpPr>
          <a:xfrm>
            <a:off x="1676400" y="2133600"/>
            <a:ext cx="1148612" cy="533400"/>
            <a:chOff x="7690588" y="3352179"/>
            <a:chExt cx="1148612" cy="533400"/>
          </a:xfrm>
        </p:grpSpPr>
        <p:sp>
          <p:nvSpPr>
            <p:cNvPr id="33" name="Rectangle 32"/>
            <p:cNvSpPr/>
            <p:nvPr/>
          </p:nvSpPr>
          <p:spPr>
            <a:xfrm>
              <a:off x="7690588" y="3352179"/>
              <a:ext cx="621758"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3</a:t>
              </a:r>
              <a:endParaRPr lang="en-US" sz="2400" b="1" dirty="0"/>
            </a:p>
          </p:txBody>
        </p:sp>
        <p:sp>
          <p:nvSpPr>
            <p:cNvPr id="34" name="Rectangle 33"/>
            <p:cNvSpPr/>
            <p:nvPr/>
          </p:nvSpPr>
          <p:spPr>
            <a:xfrm>
              <a:off x="8318887" y="3352179"/>
              <a:ext cx="520313"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sp>
        <p:nvSpPr>
          <p:cNvPr id="35" name="TextBox 34"/>
          <p:cNvSpPr txBox="1"/>
          <p:nvPr/>
        </p:nvSpPr>
        <p:spPr>
          <a:xfrm>
            <a:off x="367552" y="3309470"/>
            <a:ext cx="11456895" cy="1569660"/>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400" b="1" dirty="0">
                <a:solidFill>
                  <a:schemeClr val="tx2"/>
                </a:solidFill>
                <a:latin typeface="Consolas" pitchFamily="49" charset="0"/>
                <a:cs typeface="Consolas" pitchFamily="49" charset="0"/>
              </a:rPr>
              <a:t>4. [Does the new node precede all other node in the list?]</a:t>
            </a:r>
          </a:p>
          <a:p>
            <a:r>
              <a:rPr lang="en-IN" sz="2400" dirty="0">
                <a:latin typeface="Consolas" pitchFamily="49" charset="0"/>
                <a:cs typeface="Consolas" pitchFamily="49" charset="0"/>
              </a:rPr>
              <a:t>    </a:t>
            </a:r>
            <a:r>
              <a:rPr lang="en-IN" sz="2400" b="1" dirty="0">
                <a:solidFill>
                  <a:schemeClr val="tx2">
                    <a:lumMod val="75000"/>
                  </a:schemeClr>
                </a:solidFill>
                <a:latin typeface="Consolas" pitchFamily="49" charset="0"/>
                <a:cs typeface="Consolas" pitchFamily="49" charset="0"/>
              </a:rPr>
              <a:t>IF</a:t>
            </a:r>
            <a:r>
              <a:rPr lang="en-IN" sz="2400" dirty="0">
                <a:solidFill>
                  <a:schemeClr val="tx2">
                    <a:lumMod val="75000"/>
                  </a:schemeClr>
                </a:solidFill>
                <a:latin typeface="Consolas" pitchFamily="49" charset="0"/>
                <a:cs typeface="Consolas" pitchFamily="49" charset="0"/>
              </a:rPr>
              <a:t> </a:t>
            </a:r>
            <a:r>
              <a:rPr lang="en-IN" sz="2400" dirty="0">
                <a:latin typeface="Consolas" pitchFamily="49" charset="0"/>
                <a:cs typeface="Consolas" pitchFamily="49" charset="0"/>
              </a:rPr>
              <a:t>  INFO(NEW) ≤ INFO (FIRST)</a:t>
            </a:r>
          </a:p>
          <a:p>
            <a:r>
              <a:rPr lang="en-IN" sz="2400" dirty="0">
                <a:latin typeface="Consolas" pitchFamily="49" charset="0"/>
                <a:cs typeface="Consolas" pitchFamily="49" charset="0"/>
              </a:rPr>
              <a:t>    </a:t>
            </a:r>
            <a:r>
              <a:rPr lang="en-IN" sz="2400" b="1" dirty="0">
                <a:solidFill>
                  <a:schemeClr val="tx2">
                    <a:lumMod val="75000"/>
                  </a:schemeClr>
                </a:solidFill>
                <a:latin typeface="Consolas" pitchFamily="49" charset="0"/>
                <a:cs typeface="Consolas" pitchFamily="49" charset="0"/>
              </a:rPr>
              <a:t>THEN</a:t>
            </a:r>
            <a:r>
              <a:rPr lang="en-IN" sz="2400" dirty="0">
                <a:solidFill>
                  <a:schemeClr val="tx2">
                    <a:lumMod val="75000"/>
                  </a:schemeClr>
                </a:solidFill>
                <a:latin typeface="Consolas" pitchFamily="49" charset="0"/>
                <a:cs typeface="Consolas" pitchFamily="49" charset="0"/>
              </a:rPr>
              <a:t> </a:t>
            </a:r>
            <a:r>
              <a:rPr lang="en-IN" sz="2400" dirty="0">
                <a:latin typeface="Consolas" pitchFamily="49" charset="0"/>
                <a:cs typeface="Consolas" pitchFamily="49" charset="0"/>
              </a:rPr>
              <a:t>LINK (NEW) </a:t>
            </a:r>
            <a:r>
              <a:rPr lang="en-IN" sz="2400" dirty="0">
                <a:latin typeface="Consolas" pitchFamily="49" charset="0"/>
                <a:cs typeface="Consolas" pitchFamily="49" charset="0"/>
                <a:sym typeface="Wingdings" pitchFamily="2" charset="2"/>
              </a:rPr>
              <a:t> </a:t>
            </a:r>
            <a:r>
              <a:rPr lang="en-IN" sz="2400" dirty="0">
                <a:latin typeface="Consolas" pitchFamily="49" charset="0"/>
                <a:cs typeface="Consolas" pitchFamily="49" charset="0"/>
              </a:rPr>
              <a:t>FIRST</a:t>
            </a:r>
          </a:p>
          <a:p>
            <a:r>
              <a:rPr lang="en-IN" sz="2400" dirty="0" smtClean="0">
                <a:latin typeface="Consolas" pitchFamily="49" charset="0"/>
                <a:cs typeface="Consolas" pitchFamily="49" charset="0"/>
              </a:rPr>
              <a:t>         FIRST </a:t>
            </a:r>
            <a:r>
              <a:rPr lang="en-IN" sz="2400" dirty="0">
                <a:latin typeface="Consolas" pitchFamily="49" charset="0"/>
                <a:cs typeface="Consolas" pitchFamily="49" charset="0"/>
                <a:sym typeface="Wingdings" panose="05000000000000000000" pitchFamily="2" charset="2"/>
              </a:rPr>
              <a:t> </a:t>
            </a:r>
            <a:r>
              <a:rPr lang="en-IN" sz="2400" dirty="0">
                <a:latin typeface="Consolas" pitchFamily="49" charset="0"/>
                <a:cs typeface="Consolas" pitchFamily="49" charset="0"/>
              </a:rPr>
              <a:t>NEW</a:t>
            </a:r>
          </a:p>
        </p:txBody>
      </p:sp>
      <p:cxnSp>
        <p:nvCxnSpPr>
          <p:cNvPr id="37" name="Straight Connector 36"/>
          <p:cNvCxnSpPr>
            <a:stCxn id="34" idx="0"/>
          </p:cNvCxnSpPr>
          <p:nvPr/>
        </p:nvCxnSpPr>
        <p:spPr>
          <a:xfrm flipH="1" flipV="1">
            <a:off x="2564156" y="1485900"/>
            <a:ext cx="701" cy="6477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39" name="Straight Arrow Connector 38"/>
          <p:cNvCxnSpPr>
            <a:endCxn id="5" idx="1"/>
          </p:cNvCxnSpPr>
          <p:nvPr/>
        </p:nvCxnSpPr>
        <p:spPr>
          <a:xfrm>
            <a:off x="2564856" y="1485900"/>
            <a:ext cx="635544"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032289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0" grpId="0"/>
      <p:bldP spid="3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Procedure: </a:t>
            </a:r>
            <a:r>
              <a:rPr lang="en-US" dirty="0"/>
              <a:t>INSORD(22, FIRST)</a:t>
            </a:r>
          </a:p>
        </p:txBody>
      </p:sp>
      <p:sp>
        <p:nvSpPr>
          <p:cNvPr id="4" name="TextBox 3"/>
          <p:cNvSpPr txBox="1"/>
          <p:nvPr/>
        </p:nvSpPr>
        <p:spPr>
          <a:xfrm>
            <a:off x="6160493" y="869402"/>
            <a:ext cx="5760000" cy="1938992"/>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pPr marL="444500" indent="-444500"/>
            <a:r>
              <a:rPr lang="en-IN" sz="2000" b="1" dirty="0">
                <a:solidFill>
                  <a:schemeClr val="tx2"/>
                </a:solidFill>
                <a:latin typeface="Consolas" pitchFamily="49" charset="0"/>
                <a:cs typeface="Consolas" pitchFamily="49" charset="0"/>
              </a:rPr>
              <a:t>7. [Set link field of NEW node and its predecessor]</a:t>
            </a:r>
          </a:p>
          <a:p>
            <a:r>
              <a:rPr lang="en-IN" sz="2000" dirty="0">
                <a:latin typeface="Consolas" pitchFamily="49" charset="0"/>
                <a:cs typeface="Consolas" pitchFamily="49" charset="0"/>
              </a:rPr>
              <a:t>    LINK (NEW)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LINK (SAVE)</a:t>
            </a:r>
          </a:p>
          <a:p>
            <a:r>
              <a:rPr lang="en-IN" sz="2000" dirty="0">
                <a:latin typeface="Consolas" pitchFamily="49" charset="0"/>
                <a:cs typeface="Consolas" pitchFamily="49" charset="0"/>
              </a:rPr>
              <a:t>    LINK (SAVE)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NEW</a:t>
            </a:r>
          </a:p>
          <a:p>
            <a:r>
              <a:rPr lang="en-IN" sz="2000" b="1" dirty="0">
                <a:solidFill>
                  <a:schemeClr val="tx2"/>
                </a:solidFill>
                <a:latin typeface="Consolas" pitchFamily="49" charset="0"/>
                <a:cs typeface="Consolas" pitchFamily="49" charset="0"/>
              </a:rPr>
              <a:t>8. [</a:t>
            </a:r>
            <a:r>
              <a:rPr lang="en-IN" sz="2000" b="1" dirty="0" smtClean="0">
                <a:solidFill>
                  <a:schemeClr val="tx2"/>
                </a:solidFill>
                <a:latin typeface="Consolas" pitchFamily="49" charset="0"/>
                <a:cs typeface="Consolas" pitchFamily="49" charset="0"/>
              </a:rPr>
              <a:t>Return]</a:t>
            </a:r>
            <a:endParaRPr lang="en-IN" sz="2000" b="1" dirty="0">
              <a:solidFill>
                <a:schemeClr val="tx2"/>
              </a:solidFill>
              <a:latin typeface="Consolas" pitchFamily="49" charset="0"/>
              <a:cs typeface="Consolas" pitchFamily="49" charset="0"/>
            </a:endParaRPr>
          </a:p>
          <a:p>
            <a:r>
              <a:rPr lang="en-IN" sz="2000" dirty="0">
                <a:latin typeface="Consolas" pitchFamily="49" charset="0"/>
                <a:cs typeface="Consolas" pitchFamily="49" charset="0"/>
              </a:rPr>
              <a:t>     </a:t>
            </a:r>
            <a:r>
              <a:rPr lang="en-IN" sz="2000" dirty="0" smtClean="0">
                <a:latin typeface="Consolas" pitchFamily="49" charset="0"/>
                <a:cs typeface="Consolas" pitchFamily="49" charset="0"/>
              </a:rPr>
              <a:t>Return</a:t>
            </a:r>
            <a:endParaRPr lang="en-IN" sz="2000" dirty="0">
              <a:latin typeface="Consolas" pitchFamily="49" charset="0"/>
              <a:cs typeface="Consolas" pitchFamily="49" charset="0"/>
            </a:endParaRPr>
          </a:p>
        </p:txBody>
      </p:sp>
      <p:sp>
        <p:nvSpPr>
          <p:cNvPr id="5" name="TextBox 4"/>
          <p:cNvSpPr txBox="1"/>
          <p:nvPr/>
        </p:nvSpPr>
        <p:spPr>
          <a:xfrm>
            <a:off x="177034" y="869402"/>
            <a:ext cx="5760000" cy="1938992"/>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5. [Initialize temporary pointer]</a:t>
            </a:r>
          </a:p>
          <a:p>
            <a:r>
              <a:rPr lang="en-IN" sz="2000" dirty="0">
                <a:latin typeface="Consolas" pitchFamily="49" charset="0"/>
                <a:cs typeface="Consolas" pitchFamily="49" charset="0"/>
              </a:rPr>
              <a:t>    SAVE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FIRST</a:t>
            </a:r>
          </a:p>
          <a:p>
            <a:r>
              <a:rPr lang="en-IN" sz="2000" b="1" dirty="0">
                <a:solidFill>
                  <a:schemeClr val="tx2"/>
                </a:solidFill>
                <a:latin typeface="Consolas" pitchFamily="49" charset="0"/>
                <a:cs typeface="Consolas" pitchFamily="49" charset="0"/>
              </a:rPr>
              <a:t>6. [Search for predecessor of new node]</a:t>
            </a:r>
          </a:p>
          <a:p>
            <a:r>
              <a:rPr lang="en-IN" sz="2000" b="1"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Repeat while</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LINK (SAVE) ≠ NULL </a:t>
            </a:r>
          </a:p>
          <a:p>
            <a:r>
              <a:rPr lang="en-IN" sz="2000" b="1" dirty="0">
                <a:latin typeface="Consolas" pitchFamily="49" charset="0"/>
                <a:cs typeface="Consolas" pitchFamily="49" charset="0"/>
              </a:rPr>
              <a:t>    &amp;</a:t>
            </a:r>
            <a:r>
              <a:rPr lang="en-IN" sz="2000" dirty="0">
                <a:latin typeface="Consolas" pitchFamily="49" charset="0"/>
                <a:cs typeface="Consolas" pitchFamily="49" charset="0"/>
              </a:rPr>
              <a:t> INFO(NEW) ≥ INFO(LINK(SAVE))</a:t>
            </a:r>
          </a:p>
          <a:p>
            <a:r>
              <a:rPr lang="en-IN" sz="2000" dirty="0">
                <a:latin typeface="Consolas" pitchFamily="49" charset="0"/>
                <a:cs typeface="Consolas" pitchFamily="49" charset="0"/>
              </a:rPr>
              <a:t>	SAVE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LINK (SAVE)</a:t>
            </a:r>
          </a:p>
        </p:txBody>
      </p:sp>
      <p:grpSp>
        <p:nvGrpSpPr>
          <p:cNvPr id="6" name="Group 5"/>
          <p:cNvGrpSpPr/>
          <p:nvPr/>
        </p:nvGrpSpPr>
        <p:grpSpPr>
          <a:xfrm>
            <a:off x="1752600" y="3794775"/>
            <a:ext cx="920012" cy="533400"/>
            <a:chOff x="951919" y="5486400"/>
            <a:chExt cx="920012" cy="533400"/>
          </a:xfrm>
        </p:grpSpPr>
        <p:sp>
          <p:nvSpPr>
            <p:cNvPr id="7" name="Rectangle 6"/>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US" sz="2400" b="1" dirty="0"/>
            </a:p>
          </p:txBody>
        </p:sp>
        <p:sp>
          <p:nvSpPr>
            <p:cNvPr id="8" name="Rectangle 7"/>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9" name="Group 8"/>
          <p:cNvGrpSpPr/>
          <p:nvPr/>
        </p:nvGrpSpPr>
        <p:grpSpPr>
          <a:xfrm>
            <a:off x="3194788" y="3794775"/>
            <a:ext cx="920012" cy="533400"/>
            <a:chOff x="951919" y="5486400"/>
            <a:chExt cx="920012" cy="533400"/>
          </a:xfrm>
        </p:grpSpPr>
        <p:sp>
          <p:nvSpPr>
            <p:cNvPr id="10" name="Rectangle 9"/>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11" name="Rectangle 10"/>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2" name="Group 11"/>
          <p:cNvGrpSpPr/>
          <p:nvPr/>
        </p:nvGrpSpPr>
        <p:grpSpPr>
          <a:xfrm>
            <a:off x="4648200" y="3794775"/>
            <a:ext cx="920012" cy="533400"/>
            <a:chOff x="951919" y="5486400"/>
            <a:chExt cx="920012" cy="533400"/>
          </a:xfrm>
        </p:grpSpPr>
        <p:sp>
          <p:nvSpPr>
            <p:cNvPr id="13" name="Rectangle 12"/>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15</a:t>
              </a:r>
              <a:endParaRPr lang="en-US" sz="2400" b="1" dirty="0"/>
            </a:p>
          </p:txBody>
        </p:sp>
        <p:sp>
          <p:nvSpPr>
            <p:cNvPr id="14" name="Rectangle 13"/>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5" name="Group 14"/>
          <p:cNvGrpSpPr/>
          <p:nvPr/>
        </p:nvGrpSpPr>
        <p:grpSpPr>
          <a:xfrm>
            <a:off x="6096000" y="3794775"/>
            <a:ext cx="920012" cy="533400"/>
            <a:chOff x="951919" y="5486400"/>
            <a:chExt cx="920012" cy="533400"/>
          </a:xfrm>
        </p:grpSpPr>
        <p:sp>
          <p:nvSpPr>
            <p:cNvPr id="16" name="Rectangle 15"/>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20</a:t>
              </a:r>
              <a:endParaRPr lang="en-US" sz="2400" b="1" dirty="0"/>
            </a:p>
          </p:txBody>
        </p:sp>
        <p:sp>
          <p:nvSpPr>
            <p:cNvPr id="17" name="Rectangle 16"/>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8" name="Group 17"/>
          <p:cNvGrpSpPr/>
          <p:nvPr/>
        </p:nvGrpSpPr>
        <p:grpSpPr>
          <a:xfrm>
            <a:off x="7995388" y="3794775"/>
            <a:ext cx="920012" cy="533400"/>
            <a:chOff x="951919" y="5486400"/>
            <a:chExt cx="920012" cy="533400"/>
          </a:xfrm>
        </p:grpSpPr>
        <p:sp>
          <p:nvSpPr>
            <p:cNvPr id="19" name="Rectangle 18"/>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25</a:t>
              </a:r>
              <a:endParaRPr lang="en-US" sz="2400" b="1" dirty="0"/>
            </a:p>
          </p:txBody>
        </p:sp>
        <p:sp>
          <p:nvSpPr>
            <p:cNvPr id="20" name="Rectangle 19"/>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21" name="Group 20"/>
          <p:cNvGrpSpPr/>
          <p:nvPr/>
        </p:nvGrpSpPr>
        <p:grpSpPr>
          <a:xfrm>
            <a:off x="9380738" y="3794775"/>
            <a:ext cx="1058662" cy="533400"/>
            <a:chOff x="6256538" y="5334000"/>
            <a:chExt cx="1058662" cy="533400"/>
          </a:xfrm>
        </p:grpSpPr>
        <p:sp>
          <p:nvSpPr>
            <p:cNvPr id="22" name="Rectangle 21"/>
            <p:cNvSpPr/>
            <p:nvPr/>
          </p:nvSpPr>
          <p:spPr>
            <a:xfrm>
              <a:off x="6256538" y="53340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30</a:t>
              </a:r>
              <a:endParaRPr lang="en-US" sz="2400" b="1" dirty="0"/>
            </a:p>
          </p:txBody>
        </p:sp>
        <p:sp>
          <p:nvSpPr>
            <p:cNvPr id="23" name="Rectangle 22"/>
            <p:cNvSpPr/>
            <p:nvPr/>
          </p:nvSpPr>
          <p:spPr>
            <a:xfrm>
              <a:off x="6795550" y="5334000"/>
              <a:ext cx="51965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24" name="Straight Arrow Connector 23"/>
          <p:cNvCxnSpPr>
            <a:stCxn id="8" idx="3"/>
            <a:endCxn id="10" idx="1"/>
          </p:cNvCxnSpPr>
          <p:nvPr/>
        </p:nvCxnSpPr>
        <p:spPr>
          <a:xfrm>
            <a:off x="2672612" y="4061475"/>
            <a:ext cx="522176"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5" name="Straight Arrow Connector 24"/>
          <p:cNvCxnSpPr>
            <a:stCxn id="11" idx="3"/>
            <a:endCxn id="13" idx="1"/>
          </p:cNvCxnSpPr>
          <p:nvPr/>
        </p:nvCxnSpPr>
        <p:spPr>
          <a:xfrm>
            <a:off x="4114800" y="4061475"/>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6" name="Straight Arrow Connector 25"/>
          <p:cNvCxnSpPr>
            <a:stCxn id="14" idx="3"/>
            <a:endCxn id="16" idx="1"/>
          </p:cNvCxnSpPr>
          <p:nvPr/>
        </p:nvCxnSpPr>
        <p:spPr>
          <a:xfrm>
            <a:off x="5568212" y="4061475"/>
            <a:ext cx="5277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7" name="Straight Arrow Connector 26"/>
          <p:cNvCxnSpPr>
            <a:stCxn id="17" idx="3"/>
            <a:endCxn id="19" idx="1"/>
          </p:cNvCxnSpPr>
          <p:nvPr/>
        </p:nvCxnSpPr>
        <p:spPr>
          <a:xfrm>
            <a:off x="7016012" y="4061475"/>
            <a:ext cx="979376"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8" name="Straight Arrow Connector 27"/>
          <p:cNvCxnSpPr>
            <a:stCxn id="20" idx="3"/>
            <a:endCxn id="22" idx="1"/>
          </p:cNvCxnSpPr>
          <p:nvPr/>
        </p:nvCxnSpPr>
        <p:spPr>
          <a:xfrm>
            <a:off x="8915400" y="4061475"/>
            <a:ext cx="46533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9" name="Straight Connector 28"/>
          <p:cNvCxnSpPr/>
          <p:nvPr/>
        </p:nvCxnSpPr>
        <p:spPr>
          <a:xfrm flipV="1">
            <a:off x="9939280" y="3794775"/>
            <a:ext cx="500120" cy="500128"/>
          </a:xfrm>
          <a:prstGeom prst="line">
            <a:avLst/>
          </a:prstGeom>
          <a:ln w="28575">
            <a:solidFill>
              <a:srgbClr val="B84742"/>
            </a:solidFill>
          </a:ln>
        </p:spPr>
        <p:style>
          <a:lnRef idx="3">
            <a:schemeClr val="accent6"/>
          </a:lnRef>
          <a:fillRef idx="0">
            <a:schemeClr val="accent6"/>
          </a:fillRef>
          <a:effectRef idx="2">
            <a:schemeClr val="accent6"/>
          </a:effectRef>
          <a:fontRef idx="minor">
            <a:schemeClr val="tx1"/>
          </a:fontRef>
        </p:style>
      </p:cxnSp>
      <p:sp>
        <p:nvSpPr>
          <p:cNvPr id="30" name="TextBox 29"/>
          <p:cNvSpPr txBox="1"/>
          <p:nvPr/>
        </p:nvSpPr>
        <p:spPr>
          <a:xfrm>
            <a:off x="1752600" y="4556775"/>
            <a:ext cx="734496" cy="369332"/>
          </a:xfrm>
          <a:prstGeom prst="rect">
            <a:avLst/>
          </a:prstGeom>
          <a:noFill/>
        </p:spPr>
        <p:txBody>
          <a:bodyPr wrap="none" rtlCol="0">
            <a:spAutoFit/>
          </a:bodyPr>
          <a:lstStyle/>
          <a:p>
            <a:r>
              <a:rPr lang="en-IN" b="1" dirty="0">
                <a:solidFill>
                  <a:srgbClr val="C00000"/>
                </a:solidFill>
              </a:rPr>
              <a:t>FIRST</a:t>
            </a:r>
            <a:endParaRPr lang="en-US" b="1" dirty="0">
              <a:solidFill>
                <a:srgbClr val="C00000"/>
              </a:solidFill>
            </a:endParaRPr>
          </a:p>
        </p:txBody>
      </p:sp>
      <p:cxnSp>
        <p:nvCxnSpPr>
          <p:cNvPr id="31" name="Straight Arrow Connector 30"/>
          <p:cNvCxnSpPr/>
          <p:nvPr/>
        </p:nvCxnSpPr>
        <p:spPr>
          <a:xfrm flipV="1">
            <a:off x="2071150" y="4328175"/>
            <a:ext cx="0" cy="3048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32" name="TextBox 31"/>
          <p:cNvSpPr txBox="1"/>
          <p:nvPr/>
        </p:nvSpPr>
        <p:spPr>
          <a:xfrm>
            <a:off x="7324828" y="5544948"/>
            <a:ext cx="612668" cy="369332"/>
          </a:xfrm>
          <a:prstGeom prst="rect">
            <a:avLst/>
          </a:prstGeom>
          <a:noFill/>
        </p:spPr>
        <p:txBody>
          <a:bodyPr wrap="none" rtlCol="0">
            <a:spAutoFit/>
          </a:bodyPr>
          <a:lstStyle/>
          <a:p>
            <a:r>
              <a:rPr lang="en-IN" b="1" dirty="0">
                <a:solidFill>
                  <a:srgbClr val="C00000"/>
                </a:solidFill>
              </a:rPr>
              <a:t>NEW</a:t>
            </a:r>
            <a:endParaRPr lang="en-US" b="1" dirty="0">
              <a:solidFill>
                <a:srgbClr val="C00000"/>
              </a:solidFill>
            </a:endParaRPr>
          </a:p>
        </p:txBody>
      </p:sp>
      <p:grpSp>
        <p:nvGrpSpPr>
          <p:cNvPr id="33" name="Group 32"/>
          <p:cNvGrpSpPr/>
          <p:nvPr/>
        </p:nvGrpSpPr>
        <p:grpSpPr>
          <a:xfrm>
            <a:off x="7096228" y="5002307"/>
            <a:ext cx="1148612" cy="533400"/>
            <a:chOff x="7690588" y="3352179"/>
            <a:chExt cx="1148612" cy="533400"/>
          </a:xfrm>
        </p:grpSpPr>
        <p:sp>
          <p:nvSpPr>
            <p:cNvPr id="34" name="Rectangle 33"/>
            <p:cNvSpPr/>
            <p:nvPr/>
          </p:nvSpPr>
          <p:spPr>
            <a:xfrm>
              <a:off x="7690588" y="3352179"/>
              <a:ext cx="621758"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22</a:t>
              </a:r>
              <a:endParaRPr lang="en-US" sz="2400" b="1" dirty="0"/>
            </a:p>
          </p:txBody>
        </p:sp>
        <p:sp>
          <p:nvSpPr>
            <p:cNvPr id="35" name="Rectangle 34"/>
            <p:cNvSpPr/>
            <p:nvPr/>
          </p:nvSpPr>
          <p:spPr>
            <a:xfrm>
              <a:off x="8318887" y="3352179"/>
              <a:ext cx="520313"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38" name="Group 37"/>
          <p:cNvGrpSpPr/>
          <p:nvPr/>
        </p:nvGrpSpPr>
        <p:grpSpPr>
          <a:xfrm>
            <a:off x="1674838" y="3032775"/>
            <a:ext cx="694422" cy="748553"/>
            <a:chOff x="150838" y="3288268"/>
            <a:chExt cx="694422" cy="748553"/>
          </a:xfrm>
        </p:grpSpPr>
        <p:sp>
          <p:nvSpPr>
            <p:cNvPr id="36" name="TextBox 35"/>
            <p:cNvSpPr txBox="1"/>
            <p:nvPr/>
          </p:nvSpPr>
          <p:spPr>
            <a:xfrm>
              <a:off x="150838" y="3288268"/>
              <a:ext cx="694422" cy="369332"/>
            </a:xfrm>
            <a:prstGeom prst="rect">
              <a:avLst/>
            </a:prstGeom>
            <a:noFill/>
          </p:spPr>
          <p:txBody>
            <a:bodyPr wrap="none" rtlCol="0">
              <a:spAutoFit/>
            </a:bodyPr>
            <a:lstStyle/>
            <a:p>
              <a:pPr algn="ctr"/>
              <a:r>
                <a:rPr lang="en-IN" b="1" dirty="0">
                  <a:solidFill>
                    <a:srgbClr val="C00000"/>
                  </a:solidFill>
                </a:rPr>
                <a:t>SAVE</a:t>
              </a:r>
              <a:endParaRPr lang="en-US" b="1" dirty="0">
                <a:solidFill>
                  <a:srgbClr val="C00000"/>
                </a:solidFill>
              </a:endParaRPr>
            </a:p>
          </p:txBody>
        </p:sp>
        <p:cxnSp>
          <p:nvCxnSpPr>
            <p:cNvPr id="37" name="Straight Arrow Connector 36"/>
            <p:cNvCxnSpPr>
              <a:stCxn id="36" idx="2"/>
              <a:endCxn id="7" idx="0"/>
            </p:cNvCxnSpPr>
            <p:nvPr/>
          </p:nvCxnSpPr>
          <p:spPr>
            <a:xfrm flipH="1">
              <a:off x="495300" y="3657600"/>
              <a:ext cx="2749" cy="3792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cxnSp>
        <p:nvCxnSpPr>
          <p:cNvPr id="39" name="Straight Connector 38"/>
          <p:cNvCxnSpPr>
            <a:stCxn id="35" idx="3"/>
          </p:cNvCxnSpPr>
          <p:nvPr/>
        </p:nvCxnSpPr>
        <p:spPr>
          <a:xfrm>
            <a:off x="8244840" y="5269007"/>
            <a:ext cx="283948"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41" name="Straight Arrow Connector 40"/>
          <p:cNvCxnSpPr/>
          <p:nvPr/>
        </p:nvCxnSpPr>
        <p:spPr>
          <a:xfrm flipV="1">
            <a:off x="8528788" y="4328175"/>
            <a:ext cx="0" cy="940832"/>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3" name="Straight Connector 42"/>
          <p:cNvCxnSpPr>
            <a:stCxn id="17" idx="2"/>
          </p:cNvCxnSpPr>
          <p:nvPr/>
        </p:nvCxnSpPr>
        <p:spPr>
          <a:xfrm>
            <a:off x="6825512" y="4328175"/>
            <a:ext cx="0" cy="94083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49" name="Straight Arrow Connector 48"/>
          <p:cNvCxnSpPr>
            <a:endCxn id="34" idx="1"/>
          </p:cNvCxnSpPr>
          <p:nvPr/>
        </p:nvCxnSpPr>
        <p:spPr>
          <a:xfrm>
            <a:off x="6825512" y="5269007"/>
            <a:ext cx="270716"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453492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63" presetClass="path" presetSubtype="0" accel="50000" decel="50000" fill="hold" nodeType="clickEffect">
                                  <p:stCondLst>
                                    <p:cond delay="0"/>
                                  </p:stCondLst>
                                  <p:childTnLst>
                                    <p:animMotion origin="layout" path="M 5E-6 7.40741E-7 L 0.13789 7.40741E-7 " pathEditMode="relative" rAng="0" ptsTypes="AA">
                                      <p:cBhvr>
                                        <p:cTn id="46" dur="2000" fill="hold"/>
                                        <p:tgtEl>
                                          <p:spTgt spid="38"/>
                                        </p:tgtEl>
                                        <p:attrNameLst>
                                          <p:attrName>ppt_x</p:attrName>
                                          <p:attrName>ppt_y</p:attrName>
                                        </p:attrNameLst>
                                      </p:cBhvr>
                                      <p:rCtr x="6901" y="0"/>
                                    </p:animMotion>
                                  </p:childTnLst>
                                </p:cTn>
                              </p:par>
                            </p:childTnLst>
                          </p:cTn>
                        </p:par>
                      </p:childTnLst>
                    </p:cTn>
                  </p:par>
                  <p:par>
                    <p:cTn id="47" fill="hold">
                      <p:stCondLst>
                        <p:cond delay="indefinite"/>
                      </p:stCondLst>
                      <p:childTnLst>
                        <p:par>
                          <p:cTn id="48" fill="hold">
                            <p:stCondLst>
                              <p:cond delay="0"/>
                            </p:stCondLst>
                            <p:childTnLst>
                              <p:par>
                                <p:cTn id="49" presetID="63" presetClass="path" presetSubtype="0" accel="50000" decel="50000" fill="hold" nodeType="clickEffect">
                                  <p:stCondLst>
                                    <p:cond delay="0"/>
                                  </p:stCondLst>
                                  <p:childTnLst>
                                    <p:animMotion origin="layout" path="M 0.14023 7.40741E-7 L 0.25 7.40741E-7 " pathEditMode="relative" rAng="0" ptsTypes="AA">
                                      <p:cBhvr>
                                        <p:cTn id="50" dur="2000" fill="hold"/>
                                        <p:tgtEl>
                                          <p:spTgt spid="38"/>
                                        </p:tgtEl>
                                        <p:attrNameLst>
                                          <p:attrName>ppt_x</p:attrName>
                                          <p:attrName>ppt_y</p:attrName>
                                        </p:attrNameLst>
                                      </p:cBhvr>
                                      <p:rCtr x="5482" y="0"/>
                                    </p:animMotion>
                                  </p:childTnLst>
                                </p:cTn>
                              </p:par>
                            </p:childTnLst>
                          </p:cTn>
                        </p:par>
                      </p:childTnLst>
                    </p:cTn>
                  </p:par>
                  <p:par>
                    <p:cTn id="51" fill="hold">
                      <p:stCondLst>
                        <p:cond delay="indefinite"/>
                      </p:stCondLst>
                      <p:childTnLst>
                        <p:par>
                          <p:cTn id="52" fill="hold">
                            <p:stCondLst>
                              <p:cond delay="0"/>
                            </p:stCondLst>
                            <p:childTnLst>
                              <p:par>
                                <p:cTn id="53" presetID="63" presetClass="path" presetSubtype="0" accel="50000" decel="50000" fill="hold" nodeType="clickEffect">
                                  <p:stCondLst>
                                    <p:cond delay="0"/>
                                  </p:stCondLst>
                                  <p:childTnLst>
                                    <p:animMotion origin="layout" path="M 0.2539 7.40741E-7 L 0.36809 7.40741E-7 " pathEditMode="relative" rAng="0" ptsTypes="AA">
                                      <p:cBhvr>
                                        <p:cTn id="54" dur="2000" fill="hold"/>
                                        <p:tgtEl>
                                          <p:spTgt spid="38"/>
                                        </p:tgtEl>
                                        <p:attrNameLst>
                                          <p:attrName>ppt_x</p:attrName>
                                          <p:attrName>ppt_y</p:attrName>
                                        </p:attrNameLst>
                                      </p:cBhvr>
                                      <p:rCtr x="5703" y="0"/>
                                    </p:animMotion>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nodeType="clickEffect">
                                  <p:stCondLst>
                                    <p:cond delay="0"/>
                                  </p:stCondLst>
                                  <p:childTnLst>
                                    <p:set>
                                      <p:cBhvr>
                                        <p:cTn id="64" dur="1" fill="hold">
                                          <p:stCondLst>
                                            <p:cond delay="0"/>
                                          </p:stCondLst>
                                        </p:cTn>
                                        <p:tgtEl>
                                          <p:spTgt spid="27"/>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43"/>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 code to insert a Node in Ordered Linked List</a:t>
            </a:r>
          </a:p>
        </p:txBody>
      </p:sp>
      <p:sp>
        <p:nvSpPr>
          <p:cNvPr id="3" name="Rectangle 2"/>
          <p:cNvSpPr/>
          <p:nvPr/>
        </p:nvSpPr>
        <p:spPr>
          <a:xfrm>
            <a:off x="102669" y="805397"/>
            <a:ext cx="5306729" cy="369332"/>
          </a:xfrm>
          <a:prstGeom prst="rect">
            <a:avLst/>
          </a:prstGeom>
        </p:spPr>
        <p:txBody>
          <a:bodyPr wrap="square">
            <a:spAutoFit/>
          </a:bodyPr>
          <a:lstStyle/>
          <a:p>
            <a:r>
              <a:rPr lang="en-IN" dirty="0">
                <a:solidFill>
                  <a:srgbClr val="0000FF"/>
                </a:solidFill>
                <a:highlight>
                  <a:srgbClr val="FFFFFF"/>
                </a:highlight>
                <a:latin typeface="Cascadia Mono" panose="020B0609020000020004" pitchFamily="49" charset="0"/>
              </a:rPr>
              <a:t>void</a:t>
            </a:r>
            <a:r>
              <a:rPr lang="en-IN" dirty="0">
                <a:solidFill>
                  <a:srgbClr val="000000"/>
                </a:solidFill>
                <a:highlight>
                  <a:srgbClr val="FFFFFF"/>
                </a:highlight>
                <a:latin typeface="Cascadia Mono" panose="020B0609020000020004" pitchFamily="49" charset="0"/>
              </a:rPr>
              <a:t> </a:t>
            </a:r>
            <a:r>
              <a:rPr lang="en-IN" dirty="0" err="1">
                <a:solidFill>
                  <a:srgbClr val="2B91AF"/>
                </a:solidFill>
                <a:highlight>
                  <a:srgbClr val="FFFFFF"/>
                </a:highlight>
                <a:latin typeface="Cascadia Mono" panose="020B0609020000020004" pitchFamily="49" charset="0"/>
              </a:rPr>
              <a:t>insertAtOrder</a:t>
            </a:r>
            <a:r>
              <a:rPr lang="en-IN" dirty="0">
                <a:solidFill>
                  <a:srgbClr val="000000"/>
                </a:solidFill>
                <a:highlight>
                  <a:srgbClr val="FFFFFF"/>
                </a:highlight>
                <a:latin typeface="Cascadia Mono" panose="020B0609020000020004" pitchFamily="49" charset="0"/>
              </a:rPr>
              <a:t>(</a:t>
            </a:r>
            <a:r>
              <a:rPr lang="en-IN" dirty="0" err="1">
                <a:solidFill>
                  <a:srgbClr val="0000FF"/>
                </a:solidFill>
                <a:highlight>
                  <a:srgbClr val="FFFFFF"/>
                </a:highlight>
                <a:latin typeface="Cascadia Mono" panose="020B0609020000020004" pitchFamily="49" charset="0"/>
              </a:rPr>
              <a:t>int</a:t>
            </a:r>
            <a:r>
              <a:rPr lang="en-IN" dirty="0">
                <a:solidFill>
                  <a:srgbClr val="000000"/>
                </a:solidFill>
                <a:highlight>
                  <a:srgbClr val="FFFFFF"/>
                </a:highlight>
                <a:latin typeface="Cascadia Mono" panose="020B0609020000020004" pitchFamily="49" charset="0"/>
              </a:rPr>
              <a:t> x) {</a:t>
            </a:r>
          </a:p>
        </p:txBody>
      </p:sp>
      <p:sp>
        <p:nvSpPr>
          <p:cNvPr id="4" name="Rectangle 3"/>
          <p:cNvSpPr/>
          <p:nvPr/>
        </p:nvSpPr>
        <p:spPr>
          <a:xfrm>
            <a:off x="372178" y="1268925"/>
            <a:ext cx="5431856" cy="1200329"/>
          </a:xfrm>
          <a:prstGeom prst="rect">
            <a:avLst/>
          </a:prstGeom>
        </p:spPr>
        <p:txBody>
          <a:bodyPr wrap="square">
            <a:spAutoFit/>
          </a:bodyPr>
          <a:lstStyle/>
          <a:p>
            <a:r>
              <a:rPr lang="en-IN" dirty="0" err="1">
                <a:solidFill>
                  <a:srgbClr val="0000FF"/>
                </a:solidFill>
                <a:highlight>
                  <a:srgbClr val="FFFFFF"/>
                </a:highlight>
                <a:latin typeface="Cascadia Mono" panose="020B0609020000020004" pitchFamily="49" charset="0"/>
              </a:rPr>
              <a:t>struct</a:t>
            </a:r>
            <a:r>
              <a:rPr lang="en-IN" dirty="0">
                <a:solidFill>
                  <a:srgbClr val="000000"/>
                </a:solidFill>
                <a:highlight>
                  <a:srgbClr val="FFFFFF"/>
                </a:highlight>
                <a:latin typeface="Cascadia Mono" panose="020B0609020000020004" pitchFamily="49" charset="0"/>
              </a:rPr>
              <a:t> node *</a:t>
            </a:r>
            <a:r>
              <a:rPr lang="en-IN" dirty="0" err="1">
                <a:solidFill>
                  <a:srgbClr val="000000"/>
                </a:solidFill>
                <a:highlight>
                  <a:srgbClr val="FFFFFF"/>
                </a:highlight>
                <a:latin typeface="Cascadia Mono" panose="020B0609020000020004" pitchFamily="49" charset="0"/>
              </a:rPr>
              <a:t>newNode</a:t>
            </a:r>
            <a:r>
              <a:rPr lang="en-IN" dirty="0">
                <a:solidFill>
                  <a:srgbClr val="000000"/>
                </a:solidFill>
                <a:highlight>
                  <a:srgbClr val="FFFFFF"/>
                </a:highlight>
                <a:latin typeface="Cascadia Mono" panose="020B0609020000020004" pitchFamily="49" charset="0"/>
              </a:rPr>
              <a:t>;</a:t>
            </a:r>
          </a:p>
          <a:p>
            <a:r>
              <a:rPr lang="en-US" dirty="0" err="1">
                <a:solidFill>
                  <a:srgbClr val="000000"/>
                </a:solidFill>
                <a:highlight>
                  <a:srgbClr val="FFFFFF"/>
                </a:highlight>
                <a:latin typeface="Cascadia Mono" panose="020B0609020000020004" pitchFamily="49" charset="0"/>
              </a:rPr>
              <a:t>newNode</a:t>
            </a:r>
            <a:r>
              <a:rPr lang="en-US" dirty="0">
                <a:solidFill>
                  <a:srgbClr val="000000"/>
                </a:solidFill>
                <a:highlight>
                  <a:srgbClr val="FFFFFF"/>
                </a:highlight>
                <a:latin typeface="Cascadia Mono" panose="020B0609020000020004" pitchFamily="49" charset="0"/>
              </a:rPr>
              <a:t> = (</a:t>
            </a:r>
            <a:r>
              <a:rPr lang="en-US" dirty="0" err="1">
                <a:solidFill>
                  <a:srgbClr val="0000FF"/>
                </a:solidFill>
                <a:highlight>
                  <a:srgbClr val="FFFFFF"/>
                </a:highlight>
                <a:latin typeface="Cascadia Mono" panose="020B0609020000020004" pitchFamily="49" charset="0"/>
              </a:rPr>
              <a:t>struct</a:t>
            </a:r>
            <a:r>
              <a:rPr lang="en-US" dirty="0">
                <a:solidFill>
                  <a:srgbClr val="000000"/>
                </a:solidFill>
                <a:highlight>
                  <a:srgbClr val="FFFFFF"/>
                </a:highlight>
                <a:latin typeface="Cascadia Mono" panose="020B0609020000020004" pitchFamily="49" charset="0"/>
              </a:rPr>
              <a:t> node *)</a:t>
            </a:r>
          </a:p>
          <a:p>
            <a:r>
              <a:rPr lang="en-US" dirty="0">
                <a:solidFill>
                  <a:srgbClr val="000000"/>
                </a:solidFill>
                <a:highlight>
                  <a:srgbClr val="FFFFFF"/>
                </a:highlight>
                <a:latin typeface="Cascadia Mono" panose="020B0609020000020004" pitchFamily="49" charset="0"/>
              </a:rPr>
              <a:t>           </a:t>
            </a:r>
            <a:r>
              <a:rPr lang="en-US" dirty="0" err="1">
                <a:solidFill>
                  <a:srgbClr val="2B91AF"/>
                </a:solidFill>
                <a:highlight>
                  <a:srgbClr val="FFFFFF"/>
                </a:highlight>
                <a:latin typeface="Cascadia Mono" panose="020B0609020000020004" pitchFamily="49" charset="0"/>
              </a:rPr>
              <a:t>malloc</a:t>
            </a:r>
            <a:r>
              <a:rPr lang="en-US" dirty="0">
                <a:solidFill>
                  <a:srgbClr val="000000"/>
                </a:solidFill>
                <a:highlight>
                  <a:srgbClr val="FFFFFF"/>
                </a:highlight>
                <a:latin typeface="Cascadia Mono" panose="020B0609020000020004" pitchFamily="49" charset="0"/>
              </a:rPr>
              <a:t>(</a:t>
            </a:r>
            <a:r>
              <a:rPr lang="en-US" dirty="0" err="1">
                <a:solidFill>
                  <a:srgbClr val="000000"/>
                </a:solidFill>
                <a:highlight>
                  <a:srgbClr val="FFFFFF"/>
                </a:highlight>
                <a:latin typeface="Cascadia Mono" panose="020B0609020000020004" pitchFamily="49" charset="0"/>
              </a:rPr>
              <a:t>sizeof</a:t>
            </a:r>
            <a:r>
              <a:rPr lang="en-US" dirty="0">
                <a:solidFill>
                  <a:srgbClr val="000000"/>
                </a:solidFill>
                <a:highlight>
                  <a:srgbClr val="FFFFFF"/>
                </a:highlight>
                <a:latin typeface="Cascadia Mono" panose="020B0609020000020004" pitchFamily="49" charset="0"/>
              </a:rPr>
              <a:t>(</a:t>
            </a:r>
            <a:r>
              <a:rPr lang="en-US" dirty="0" err="1">
                <a:solidFill>
                  <a:srgbClr val="0000FF"/>
                </a:solidFill>
                <a:highlight>
                  <a:srgbClr val="FFFFFF"/>
                </a:highlight>
                <a:latin typeface="Cascadia Mono" panose="020B0609020000020004" pitchFamily="49" charset="0"/>
              </a:rPr>
              <a:t>struct</a:t>
            </a:r>
            <a:r>
              <a:rPr lang="en-US" dirty="0">
                <a:solidFill>
                  <a:srgbClr val="000000"/>
                </a:solidFill>
                <a:highlight>
                  <a:srgbClr val="FFFFFF"/>
                </a:highlight>
                <a:latin typeface="Cascadia Mono" panose="020B0609020000020004" pitchFamily="49" charset="0"/>
              </a:rPr>
              <a:t> node));</a:t>
            </a:r>
          </a:p>
          <a:p>
            <a:r>
              <a:rPr lang="en-IN" dirty="0" err="1">
                <a:solidFill>
                  <a:srgbClr val="000000"/>
                </a:solidFill>
                <a:highlight>
                  <a:srgbClr val="FFFFFF"/>
                </a:highlight>
                <a:latin typeface="Cascadia Mono" panose="020B0609020000020004" pitchFamily="49" charset="0"/>
              </a:rPr>
              <a:t>newNode</a:t>
            </a:r>
            <a:r>
              <a:rPr lang="en-IN" dirty="0">
                <a:solidFill>
                  <a:srgbClr val="000000"/>
                </a:solidFill>
                <a:highlight>
                  <a:srgbClr val="FFFFFF"/>
                </a:highlight>
                <a:latin typeface="Cascadia Mono" panose="020B0609020000020004" pitchFamily="49" charset="0"/>
              </a:rPr>
              <a:t>-&gt;info = x;</a:t>
            </a:r>
            <a:endParaRPr lang="en-IN" dirty="0"/>
          </a:p>
        </p:txBody>
      </p:sp>
      <p:sp>
        <p:nvSpPr>
          <p:cNvPr id="5" name="Rectangle 4"/>
          <p:cNvSpPr/>
          <p:nvPr/>
        </p:nvSpPr>
        <p:spPr>
          <a:xfrm>
            <a:off x="372178" y="2623255"/>
            <a:ext cx="3416320" cy="369332"/>
          </a:xfrm>
          <a:prstGeom prst="rect">
            <a:avLst/>
          </a:prstGeom>
        </p:spPr>
        <p:txBody>
          <a:bodyPr wrap="none">
            <a:spAutoFit/>
          </a:bodyPr>
          <a:lstStyle/>
          <a:p>
            <a:r>
              <a:rPr lang="en-IN" dirty="0">
                <a:solidFill>
                  <a:srgbClr val="008000"/>
                </a:solidFill>
                <a:highlight>
                  <a:srgbClr val="FFFFFF"/>
                </a:highlight>
                <a:latin typeface="Cascadia Mono" panose="020B0609020000020004" pitchFamily="49" charset="0"/>
              </a:rPr>
              <a:t>//Location is first one </a:t>
            </a:r>
            <a:endParaRPr lang="en-IN" dirty="0"/>
          </a:p>
        </p:txBody>
      </p:sp>
      <p:sp>
        <p:nvSpPr>
          <p:cNvPr id="23" name="Rectangle 22"/>
          <p:cNvSpPr/>
          <p:nvPr/>
        </p:nvSpPr>
        <p:spPr>
          <a:xfrm>
            <a:off x="372178" y="2992587"/>
            <a:ext cx="5037220" cy="646331"/>
          </a:xfrm>
          <a:prstGeom prst="rect">
            <a:avLst/>
          </a:prstGeom>
        </p:spPr>
        <p:txBody>
          <a:bodyPr wrap="square">
            <a:spAutoFit/>
          </a:bodyPr>
          <a:lstStyle/>
          <a:p>
            <a:r>
              <a:rPr lang="en-US" dirty="0">
                <a:solidFill>
                  <a:srgbClr val="0000FF"/>
                </a:solidFill>
                <a:highlight>
                  <a:srgbClr val="FFFFFF"/>
                </a:highlight>
                <a:latin typeface="Cascadia Mono" panose="020B0609020000020004" pitchFamily="49" charset="0"/>
              </a:rPr>
              <a:t>if</a:t>
            </a:r>
            <a:r>
              <a:rPr lang="en-US" dirty="0">
                <a:solidFill>
                  <a:srgbClr val="000000"/>
                </a:solidFill>
                <a:highlight>
                  <a:srgbClr val="FFFFFF"/>
                </a:highlight>
                <a:latin typeface="Cascadia Mono" panose="020B0609020000020004" pitchFamily="49" charset="0"/>
              </a:rPr>
              <a:t>(first == null ||</a:t>
            </a:r>
          </a:p>
          <a:p>
            <a:r>
              <a:rPr lang="en-US" dirty="0">
                <a:solidFill>
                  <a:srgbClr val="000000"/>
                </a:solidFill>
                <a:highlight>
                  <a:srgbClr val="FFFFFF"/>
                </a:highlight>
                <a:latin typeface="Cascadia Mono" panose="020B0609020000020004" pitchFamily="49" charset="0"/>
              </a:rPr>
              <a:t>   </a:t>
            </a:r>
            <a:r>
              <a:rPr lang="en-US" dirty="0" err="1">
                <a:solidFill>
                  <a:srgbClr val="000000"/>
                </a:solidFill>
                <a:highlight>
                  <a:srgbClr val="FFFFFF"/>
                </a:highlight>
                <a:latin typeface="Cascadia Mono" panose="020B0609020000020004" pitchFamily="49" charset="0"/>
              </a:rPr>
              <a:t>newNode</a:t>
            </a:r>
            <a:r>
              <a:rPr lang="en-US" dirty="0">
                <a:solidFill>
                  <a:srgbClr val="000000"/>
                </a:solidFill>
                <a:highlight>
                  <a:srgbClr val="FFFFFF"/>
                </a:highlight>
                <a:latin typeface="Cascadia Mono" panose="020B0609020000020004" pitchFamily="49" charset="0"/>
              </a:rPr>
              <a:t>-&gt;info &lt;= first-&gt;info) {  </a:t>
            </a:r>
            <a:endParaRPr lang="en-IN" dirty="0"/>
          </a:p>
        </p:txBody>
      </p:sp>
      <p:sp>
        <p:nvSpPr>
          <p:cNvPr id="24" name="Rectangle 23"/>
          <p:cNvSpPr/>
          <p:nvPr/>
        </p:nvSpPr>
        <p:spPr>
          <a:xfrm>
            <a:off x="285548" y="3685084"/>
            <a:ext cx="3766688" cy="1200329"/>
          </a:xfrm>
          <a:prstGeom prst="rect">
            <a:avLst/>
          </a:prstGeom>
        </p:spPr>
        <p:txBody>
          <a:bodyPr wrap="square">
            <a:spAutoFit/>
          </a:bodyPr>
          <a:lstStyle/>
          <a:p>
            <a:r>
              <a:rPr lang="en-IN" dirty="0">
                <a:solidFill>
                  <a:srgbClr val="000000"/>
                </a:solidFill>
                <a:highlight>
                  <a:srgbClr val="FFFFFF"/>
                </a:highlight>
                <a:latin typeface="Cascadia Mono" panose="020B0609020000020004" pitchFamily="49" charset="0"/>
              </a:rPr>
              <a:t>    </a:t>
            </a:r>
            <a:r>
              <a:rPr lang="en-IN" dirty="0" err="1">
                <a:solidFill>
                  <a:srgbClr val="000000"/>
                </a:solidFill>
                <a:highlight>
                  <a:srgbClr val="FFFFFF"/>
                </a:highlight>
                <a:latin typeface="Cascadia Mono" panose="020B0609020000020004" pitchFamily="49" charset="0"/>
              </a:rPr>
              <a:t>newNode</a:t>
            </a:r>
            <a:r>
              <a:rPr lang="en-IN" dirty="0">
                <a:solidFill>
                  <a:srgbClr val="000000"/>
                </a:solidFill>
                <a:highlight>
                  <a:srgbClr val="FFFFFF"/>
                </a:highlight>
                <a:latin typeface="Cascadia Mono" panose="020B0609020000020004" pitchFamily="49" charset="0"/>
              </a:rPr>
              <a:t>-&gt;link = first;</a:t>
            </a:r>
          </a:p>
          <a:p>
            <a:r>
              <a:rPr lang="en-IN" dirty="0">
                <a:solidFill>
                  <a:srgbClr val="000000"/>
                </a:solidFill>
                <a:highlight>
                  <a:srgbClr val="FFFFFF"/>
                </a:highlight>
                <a:latin typeface="Cascadia Mono" panose="020B0609020000020004" pitchFamily="49" charset="0"/>
              </a:rPr>
              <a:t>    first = </a:t>
            </a:r>
            <a:r>
              <a:rPr lang="en-IN" dirty="0" err="1">
                <a:solidFill>
                  <a:srgbClr val="000000"/>
                </a:solidFill>
                <a:highlight>
                  <a:srgbClr val="FFFFFF"/>
                </a:highlight>
                <a:latin typeface="Cascadia Mono" panose="020B0609020000020004" pitchFamily="49" charset="0"/>
              </a:rPr>
              <a:t>newNode</a:t>
            </a:r>
            <a:r>
              <a:rPr lang="en-IN" dirty="0">
                <a:solidFill>
                  <a:srgbClr val="000000"/>
                </a:solidFill>
                <a:highlight>
                  <a:srgbClr val="FFFFFF"/>
                </a:highlight>
                <a:latin typeface="Cascadia Mono" panose="020B0609020000020004" pitchFamily="49" charset="0"/>
              </a:rPr>
              <a:t>;</a:t>
            </a:r>
          </a:p>
          <a:p>
            <a:r>
              <a:rPr lang="en-IN" dirty="0">
                <a:solidFill>
                  <a:srgbClr val="000000"/>
                </a:solidFill>
                <a:highlight>
                  <a:srgbClr val="FFFFFF"/>
                </a:highlight>
                <a:latin typeface="Cascadia Mono" panose="020B0609020000020004" pitchFamily="49" charset="0"/>
              </a:rPr>
              <a:t>    </a:t>
            </a:r>
            <a:r>
              <a:rPr lang="en-IN" dirty="0">
                <a:solidFill>
                  <a:srgbClr val="0000FF"/>
                </a:solidFill>
                <a:highlight>
                  <a:srgbClr val="FFFFFF"/>
                </a:highlight>
                <a:latin typeface="Cascadia Mono" panose="020B0609020000020004" pitchFamily="49" charset="0"/>
              </a:rPr>
              <a:t>return</a:t>
            </a:r>
            <a:r>
              <a:rPr lang="en-IN" dirty="0">
                <a:solidFill>
                  <a:srgbClr val="000000"/>
                </a:solidFill>
                <a:highlight>
                  <a:srgbClr val="FFFFFF"/>
                </a:highlight>
                <a:latin typeface="Cascadia Mono" panose="020B0609020000020004" pitchFamily="49" charset="0"/>
              </a:rPr>
              <a:t>;</a:t>
            </a:r>
          </a:p>
          <a:p>
            <a:r>
              <a:rPr lang="en-IN" dirty="0">
                <a:solidFill>
                  <a:srgbClr val="000000"/>
                </a:solidFill>
                <a:highlight>
                  <a:srgbClr val="FFFFFF"/>
                </a:highlight>
                <a:latin typeface="Cascadia Mono" panose="020B0609020000020004" pitchFamily="49" charset="0"/>
              </a:rPr>
              <a:t>} </a:t>
            </a:r>
            <a:endParaRPr lang="en-IN" dirty="0"/>
          </a:p>
        </p:txBody>
      </p:sp>
      <p:sp>
        <p:nvSpPr>
          <p:cNvPr id="25" name="Rectangle 24"/>
          <p:cNvSpPr/>
          <p:nvPr/>
        </p:nvSpPr>
        <p:spPr>
          <a:xfrm>
            <a:off x="6416842" y="1417840"/>
            <a:ext cx="2765659" cy="646331"/>
          </a:xfrm>
          <a:prstGeom prst="rect">
            <a:avLst/>
          </a:prstGeom>
        </p:spPr>
        <p:txBody>
          <a:bodyPr wrap="square">
            <a:spAutoFit/>
          </a:bodyPr>
          <a:lstStyle/>
          <a:p>
            <a:r>
              <a:rPr lang="en-IN" dirty="0" err="1">
                <a:solidFill>
                  <a:srgbClr val="0000FF"/>
                </a:solidFill>
                <a:highlight>
                  <a:srgbClr val="FFFFFF"/>
                </a:highlight>
                <a:latin typeface="Cascadia Mono" panose="020B0609020000020004" pitchFamily="49" charset="0"/>
              </a:rPr>
              <a:t>struct</a:t>
            </a:r>
            <a:r>
              <a:rPr lang="en-IN" dirty="0">
                <a:solidFill>
                  <a:srgbClr val="000000"/>
                </a:solidFill>
                <a:highlight>
                  <a:srgbClr val="FFFFFF"/>
                </a:highlight>
                <a:latin typeface="Cascadia Mono" panose="020B0609020000020004" pitchFamily="49" charset="0"/>
              </a:rPr>
              <a:t> node *save;</a:t>
            </a:r>
          </a:p>
          <a:p>
            <a:r>
              <a:rPr lang="en-IN" dirty="0">
                <a:solidFill>
                  <a:srgbClr val="000000"/>
                </a:solidFill>
                <a:highlight>
                  <a:srgbClr val="FFFFFF"/>
                </a:highlight>
                <a:latin typeface="Cascadia Mono" panose="020B0609020000020004" pitchFamily="49" charset="0"/>
              </a:rPr>
              <a:t>save = first;</a:t>
            </a:r>
            <a:endParaRPr lang="en-IN" dirty="0"/>
          </a:p>
        </p:txBody>
      </p:sp>
      <p:sp>
        <p:nvSpPr>
          <p:cNvPr id="26" name="Rectangle 25"/>
          <p:cNvSpPr/>
          <p:nvPr/>
        </p:nvSpPr>
        <p:spPr>
          <a:xfrm>
            <a:off x="6416842" y="2204534"/>
            <a:ext cx="5646821" cy="1477328"/>
          </a:xfrm>
          <a:prstGeom prst="rect">
            <a:avLst/>
          </a:prstGeom>
        </p:spPr>
        <p:txBody>
          <a:bodyPr wrap="square">
            <a:spAutoFit/>
          </a:bodyPr>
          <a:lstStyle/>
          <a:p>
            <a:r>
              <a:rPr lang="en-US" dirty="0">
                <a:solidFill>
                  <a:srgbClr val="0000FF"/>
                </a:solidFill>
                <a:highlight>
                  <a:srgbClr val="FFFFFF"/>
                </a:highlight>
                <a:latin typeface="Cascadia Mono" panose="020B0609020000020004" pitchFamily="49" charset="0"/>
              </a:rPr>
              <a:t>while</a:t>
            </a:r>
            <a:r>
              <a:rPr lang="en-US" dirty="0">
                <a:solidFill>
                  <a:srgbClr val="000000"/>
                </a:solidFill>
                <a:highlight>
                  <a:srgbClr val="FFFFFF"/>
                </a:highlight>
                <a:latin typeface="Cascadia Mono" panose="020B0609020000020004" pitchFamily="49" charset="0"/>
              </a:rPr>
              <a:t> (save-&gt;link != </a:t>
            </a:r>
            <a:r>
              <a:rPr lang="en-US" dirty="0">
                <a:solidFill>
                  <a:srgbClr val="0000FF"/>
                </a:solidFill>
                <a:highlight>
                  <a:srgbClr val="FFFFFF"/>
                </a:highlight>
                <a:latin typeface="Cascadia Mono" panose="020B0609020000020004" pitchFamily="49" charset="0"/>
              </a:rPr>
              <a:t>NULL</a:t>
            </a:r>
            <a:r>
              <a:rPr lang="en-US" dirty="0">
                <a:solidFill>
                  <a:srgbClr val="000000"/>
                </a:solidFill>
                <a:highlight>
                  <a:srgbClr val="FFFFFF"/>
                </a:highlight>
                <a:latin typeface="Cascadia Mono" panose="020B0609020000020004" pitchFamily="49" charset="0"/>
              </a:rPr>
              <a:t> &amp;&amp; </a:t>
            </a:r>
          </a:p>
          <a:p>
            <a:r>
              <a:rPr lang="en-US" dirty="0">
                <a:solidFill>
                  <a:srgbClr val="000000"/>
                </a:solidFill>
                <a:highlight>
                  <a:srgbClr val="FFFFFF"/>
                </a:highlight>
                <a:latin typeface="Cascadia Mono" panose="020B0609020000020004" pitchFamily="49" charset="0"/>
              </a:rPr>
              <a:t>       </a:t>
            </a:r>
            <a:r>
              <a:rPr lang="en-US" dirty="0" err="1">
                <a:solidFill>
                  <a:srgbClr val="000000"/>
                </a:solidFill>
                <a:highlight>
                  <a:srgbClr val="FFFFFF"/>
                </a:highlight>
                <a:latin typeface="Cascadia Mono" panose="020B0609020000020004" pitchFamily="49" charset="0"/>
              </a:rPr>
              <a:t>newNode</a:t>
            </a:r>
            <a:r>
              <a:rPr lang="en-US" dirty="0">
                <a:solidFill>
                  <a:srgbClr val="000000"/>
                </a:solidFill>
                <a:highlight>
                  <a:srgbClr val="FFFFFF"/>
                </a:highlight>
                <a:latin typeface="Cascadia Mono" panose="020B0609020000020004" pitchFamily="49" charset="0"/>
              </a:rPr>
              <a:t>-&gt;info&gt;= save-&gt;link-&gt;info)</a:t>
            </a:r>
          </a:p>
          <a:p>
            <a:r>
              <a:rPr lang="en-IN" dirty="0">
                <a:solidFill>
                  <a:srgbClr val="000000"/>
                </a:solidFill>
                <a:highlight>
                  <a:srgbClr val="FFFFFF"/>
                </a:highlight>
                <a:latin typeface="Cascadia Mono" panose="020B0609020000020004" pitchFamily="49" charset="0"/>
              </a:rPr>
              <a:t>{</a:t>
            </a:r>
          </a:p>
          <a:p>
            <a:r>
              <a:rPr lang="en-IN" dirty="0">
                <a:solidFill>
                  <a:srgbClr val="000000"/>
                </a:solidFill>
                <a:highlight>
                  <a:srgbClr val="FFFFFF"/>
                </a:highlight>
                <a:latin typeface="Cascadia Mono" panose="020B0609020000020004" pitchFamily="49" charset="0"/>
              </a:rPr>
              <a:t>    save = save-&gt;link;</a:t>
            </a:r>
          </a:p>
          <a:p>
            <a:r>
              <a:rPr lang="en-IN" dirty="0">
                <a:solidFill>
                  <a:srgbClr val="000000"/>
                </a:solidFill>
                <a:highlight>
                  <a:srgbClr val="FFFFFF"/>
                </a:highlight>
                <a:latin typeface="Cascadia Mono" panose="020B0609020000020004" pitchFamily="49" charset="0"/>
              </a:rPr>
              <a:t>}</a:t>
            </a:r>
            <a:endParaRPr lang="en-IN" dirty="0"/>
          </a:p>
        </p:txBody>
      </p:sp>
      <p:sp>
        <p:nvSpPr>
          <p:cNvPr id="27" name="Rectangle 26"/>
          <p:cNvSpPr/>
          <p:nvPr/>
        </p:nvSpPr>
        <p:spPr>
          <a:xfrm>
            <a:off x="5967663" y="3681862"/>
            <a:ext cx="6096000" cy="923330"/>
          </a:xfrm>
          <a:prstGeom prst="rect">
            <a:avLst/>
          </a:prstGeom>
        </p:spPr>
        <p:txBody>
          <a:bodyPr>
            <a:spAutoFit/>
          </a:bodyPr>
          <a:lstStyle/>
          <a:p>
            <a:r>
              <a:rPr lang="en-IN" dirty="0">
                <a:solidFill>
                  <a:srgbClr val="000000"/>
                </a:solidFill>
                <a:highlight>
                  <a:srgbClr val="FFFFFF"/>
                </a:highlight>
                <a:latin typeface="Cascadia Mono" panose="020B0609020000020004" pitchFamily="49" charset="0"/>
              </a:rPr>
              <a:t>   </a:t>
            </a:r>
            <a:r>
              <a:rPr lang="en-IN" dirty="0" err="1">
                <a:solidFill>
                  <a:srgbClr val="000000"/>
                </a:solidFill>
                <a:highlight>
                  <a:srgbClr val="FFFFFF"/>
                </a:highlight>
                <a:latin typeface="Cascadia Mono" panose="020B0609020000020004" pitchFamily="49" charset="0"/>
              </a:rPr>
              <a:t>newNode</a:t>
            </a:r>
            <a:r>
              <a:rPr lang="en-IN" dirty="0">
                <a:solidFill>
                  <a:srgbClr val="000000"/>
                </a:solidFill>
                <a:highlight>
                  <a:srgbClr val="FFFFFF"/>
                </a:highlight>
                <a:latin typeface="Cascadia Mono" panose="020B0609020000020004" pitchFamily="49" charset="0"/>
              </a:rPr>
              <a:t>-&gt;link = current-&gt;link;  </a:t>
            </a:r>
          </a:p>
          <a:p>
            <a:r>
              <a:rPr lang="en-IN" dirty="0">
                <a:solidFill>
                  <a:srgbClr val="000000"/>
                </a:solidFill>
                <a:highlight>
                  <a:srgbClr val="FFFFFF"/>
                </a:highlight>
                <a:latin typeface="Cascadia Mono" panose="020B0609020000020004" pitchFamily="49" charset="0"/>
              </a:rPr>
              <a:t>   current-&gt;link = </a:t>
            </a:r>
            <a:r>
              <a:rPr lang="en-IN" dirty="0" err="1">
                <a:solidFill>
                  <a:srgbClr val="000000"/>
                </a:solidFill>
                <a:highlight>
                  <a:srgbClr val="FFFFFF"/>
                </a:highlight>
                <a:latin typeface="Cascadia Mono" panose="020B0609020000020004" pitchFamily="49" charset="0"/>
              </a:rPr>
              <a:t>newNode</a:t>
            </a:r>
            <a:r>
              <a:rPr lang="en-IN" dirty="0">
                <a:solidFill>
                  <a:srgbClr val="000000"/>
                </a:solidFill>
                <a:highlight>
                  <a:srgbClr val="FFFFFF"/>
                </a:highlight>
                <a:latin typeface="Cascadia Mono" panose="020B0609020000020004" pitchFamily="49" charset="0"/>
              </a:rPr>
              <a:t>;</a:t>
            </a:r>
          </a:p>
          <a:p>
            <a:r>
              <a:rPr lang="en-IN" dirty="0">
                <a:solidFill>
                  <a:srgbClr val="000000"/>
                </a:solidFill>
                <a:highlight>
                  <a:srgbClr val="FFFFFF"/>
                </a:highlight>
                <a:latin typeface="Cascadia Mono" panose="020B0609020000020004" pitchFamily="49" charset="0"/>
              </a:rPr>
              <a:t>}</a:t>
            </a:r>
            <a:endParaRPr lang="en-IN" dirty="0"/>
          </a:p>
        </p:txBody>
      </p:sp>
      <p:sp>
        <p:nvSpPr>
          <p:cNvPr id="28" name="Rectangle 27"/>
          <p:cNvSpPr/>
          <p:nvPr/>
        </p:nvSpPr>
        <p:spPr>
          <a:xfrm>
            <a:off x="6416842" y="1084259"/>
            <a:ext cx="4628190" cy="369332"/>
          </a:xfrm>
          <a:prstGeom prst="rect">
            <a:avLst/>
          </a:prstGeom>
        </p:spPr>
        <p:txBody>
          <a:bodyPr wrap="none">
            <a:spAutoFit/>
          </a:bodyPr>
          <a:lstStyle/>
          <a:p>
            <a:r>
              <a:rPr lang="en-IN" dirty="0">
                <a:solidFill>
                  <a:srgbClr val="008000"/>
                </a:solidFill>
                <a:highlight>
                  <a:srgbClr val="FFFFFF"/>
                </a:highlight>
                <a:latin typeface="Cascadia Mono" panose="020B0609020000020004" pitchFamily="49" charset="0"/>
              </a:rPr>
              <a:t>//Search for the predecessor node</a:t>
            </a:r>
            <a:endParaRPr lang="en-IN" dirty="0"/>
          </a:p>
        </p:txBody>
      </p:sp>
      <p:cxnSp>
        <p:nvCxnSpPr>
          <p:cNvPr id="29" name="Straight Connector 28"/>
          <p:cNvCxnSpPr/>
          <p:nvPr/>
        </p:nvCxnSpPr>
        <p:spPr>
          <a:xfrm>
            <a:off x="5809601" y="794652"/>
            <a:ext cx="0" cy="568853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1092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23" grpId="0"/>
      <p:bldP spid="24" grpId="0"/>
      <p:bldP spid="25" grpId="0"/>
      <p:bldP spid="26" grpId="0"/>
      <p:bldP spid="27" grpId="0"/>
      <p:bldP spid="2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Procedure: DELETE(X, FIRST)</a:t>
            </a:r>
          </a:p>
        </p:txBody>
      </p:sp>
      <p:sp>
        <p:nvSpPr>
          <p:cNvPr id="3" name="Content Placeholder 2"/>
          <p:cNvSpPr>
            <a:spLocks noGrp="1"/>
          </p:cNvSpPr>
          <p:nvPr>
            <p:ph idx="1"/>
          </p:nvPr>
        </p:nvSpPr>
        <p:spPr>
          <a:xfrm>
            <a:off x="131180" y="876145"/>
            <a:ext cx="11929641" cy="1928016"/>
          </a:xfrm>
        </p:spPr>
        <p:txBody>
          <a:bodyPr/>
          <a:lstStyle/>
          <a:p>
            <a:r>
              <a:rPr lang="en-IN" dirty="0"/>
              <a:t>This algorithm </a:t>
            </a:r>
            <a:r>
              <a:rPr lang="en-IN" b="1" dirty="0">
                <a:solidFill>
                  <a:srgbClr val="C00000"/>
                </a:solidFill>
              </a:rPr>
              <a:t>delete</a:t>
            </a:r>
            <a:r>
              <a:rPr lang="en-IN" dirty="0">
                <a:solidFill>
                  <a:srgbClr val="C00000"/>
                </a:solidFill>
              </a:rPr>
              <a:t> </a:t>
            </a:r>
            <a:r>
              <a:rPr lang="en-IN" dirty="0"/>
              <a:t>a node whose address is given by variable </a:t>
            </a:r>
            <a:r>
              <a:rPr lang="en-IN" b="1" dirty="0">
                <a:solidFill>
                  <a:srgbClr val="C00000"/>
                </a:solidFill>
              </a:rPr>
              <a:t>X</a:t>
            </a:r>
            <a:r>
              <a:rPr lang="en-IN" dirty="0"/>
              <a:t>.</a:t>
            </a:r>
          </a:p>
          <a:p>
            <a:r>
              <a:rPr lang="en-IN" b="1" dirty="0">
                <a:solidFill>
                  <a:srgbClr val="C00000"/>
                </a:solidFill>
              </a:rPr>
              <a:t>FIRST</a:t>
            </a:r>
            <a:r>
              <a:rPr lang="en-IN" dirty="0">
                <a:solidFill>
                  <a:srgbClr val="C00000"/>
                </a:solidFill>
              </a:rPr>
              <a:t> </a:t>
            </a:r>
            <a:r>
              <a:rPr lang="en-IN" dirty="0"/>
              <a:t>is a </a:t>
            </a:r>
            <a:r>
              <a:rPr lang="en-IN" b="1" dirty="0"/>
              <a:t>pointer to the first element</a:t>
            </a:r>
            <a:r>
              <a:rPr lang="en-IN" dirty="0"/>
              <a:t> of a Singly linked linear list. </a:t>
            </a:r>
          </a:p>
          <a:p>
            <a:r>
              <a:rPr lang="en-IN" dirty="0"/>
              <a:t>Typical node contains </a:t>
            </a:r>
            <a:r>
              <a:rPr lang="en-IN" b="1" dirty="0">
                <a:solidFill>
                  <a:srgbClr val="C00000"/>
                </a:solidFill>
              </a:rPr>
              <a:t>INFO</a:t>
            </a:r>
            <a:r>
              <a:rPr lang="en-IN" dirty="0">
                <a:solidFill>
                  <a:srgbClr val="C00000"/>
                </a:solidFill>
              </a:rPr>
              <a:t> </a:t>
            </a:r>
            <a:r>
              <a:rPr lang="en-IN" dirty="0"/>
              <a:t>and </a:t>
            </a:r>
            <a:r>
              <a:rPr lang="en-IN" b="1" dirty="0">
                <a:solidFill>
                  <a:srgbClr val="C00000"/>
                </a:solidFill>
              </a:rPr>
              <a:t>LINK</a:t>
            </a:r>
            <a:r>
              <a:rPr lang="en-IN" dirty="0">
                <a:solidFill>
                  <a:srgbClr val="C00000"/>
                </a:solidFill>
              </a:rPr>
              <a:t> </a:t>
            </a:r>
            <a:r>
              <a:rPr lang="en-IN" dirty="0"/>
              <a:t>fields. </a:t>
            </a:r>
          </a:p>
          <a:p>
            <a:r>
              <a:rPr lang="en-IN" b="1" dirty="0">
                <a:solidFill>
                  <a:srgbClr val="C00000"/>
                </a:solidFill>
              </a:rPr>
              <a:t>SAVE</a:t>
            </a:r>
            <a:r>
              <a:rPr lang="en-IN" b="1" dirty="0">
                <a:solidFill>
                  <a:srgbClr val="FF0000"/>
                </a:solidFill>
              </a:rPr>
              <a:t> </a:t>
            </a:r>
            <a:r>
              <a:rPr lang="en-IN" b="1" dirty="0">
                <a:solidFill>
                  <a:schemeClr val="tx1">
                    <a:lumMod val="95000"/>
                    <a:lumOff val="5000"/>
                  </a:schemeClr>
                </a:solidFill>
              </a:rPr>
              <a:t>&amp;</a:t>
            </a:r>
            <a:r>
              <a:rPr lang="en-IN" b="1" dirty="0">
                <a:solidFill>
                  <a:srgbClr val="FF0000"/>
                </a:solidFill>
              </a:rPr>
              <a:t> </a:t>
            </a:r>
            <a:r>
              <a:rPr lang="en-IN" b="1" dirty="0">
                <a:solidFill>
                  <a:srgbClr val="C00000"/>
                </a:solidFill>
              </a:rPr>
              <a:t>PRED</a:t>
            </a:r>
            <a:r>
              <a:rPr lang="en-IN" b="1" dirty="0">
                <a:solidFill>
                  <a:srgbClr val="FF0000"/>
                </a:solidFill>
              </a:rPr>
              <a:t> </a:t>
            </a:r>
            <a:r>
              <a:rPr lang="en-IN" dirty="0"/>
              <a:t>are temporary pointer variable. </a:t>
            </a:r>
          </a:p>
          <a:p>
            <a:endParaRPr lang="en-US" dirty="0"/>
          </a:p>
        </p:txBody>
      </p:sp>
      <p:grpSp>
        <p:nvGrpSpPr>
          <p:cNvPr id="4" name="Group 3"/>
          <p:cNvGrpSpPr/>
          <p:nvPr/>
        </p:nvGrpSpPr>
        <p:grpSpPr>
          <a:xfrm>
            <a:off x="1752600" y="3718575"/>
            <a:ext cx="920012" cy="533400"/>
            <a:chOff x="951919" y="5486400"/>
            <a:chExt cx="920012" cy="533400"/>
          </a:xfrm>
        </p:grpSpPr>
        <p:sp>
          <p:nvSpPr>
            <p:cNvPr id="5" name="Rectangle 4"/>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US" sz="2400" b="1" dirty="0"/>
            </a:p>
          </p:txBody>
        </p:sp>
        <p:sp>
          <p:nvSpPr>
            <p:cNvPr id="6" name="Rectangle 5"/>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7" name="Group 6"/>
          <p:cNvGrpSpPr/>
          <p:nvPr/>
        </p:nvGrpSpPr>
        <p:grpSpPr>
          <a:xfrm>
            <a:off x="3048000" y="3718575"/>
            <a:ext cx="920012" cy="533400"/>
            <a:chOff x="951919" y="5486400"/>
            <a:chExt cx="920012" cy="533400"/>
          </a:xfrm>
        </p:grpSpPr>
        <p:sp>
          <p:nvSpPr>
            <p:cNvPr id="8" name="Rectangle 7"/>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9" name="Rectangle 8"/>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0" name="Group 9"/>
          <p:cNvGrpSpPr/>
          <p:nvPr/>
        </p:nvGrpSpPr>
        <p:grpSpPr>
          <a:xfrm>
            <a:off x="4343400" y="3718575"/>
            <a:ext cx="920012" cy="533400"/>
            <a:chOff x="951919" y="5486400"/>
            <a:chExt cx="920012" cy="533400"/>
          </a:xfrm>
        </p:grpSpPr>
        <p:sp>
          <p:nvSpPr>
            <p:cNvPr id="11" name="Rectangle 10"/>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15</a:t>
              </a:r>
              <a:endParaRPr lang="en-US" sz="2400" b="1" dirty="0"/>
            </a:p>
          </p:txBody>
        </p:sp>
        <p:sp>
          <p:nvSpPr>
            <p:cNvPr id="12" name="Rectangle 11"/>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3" name="Group 12"/>
          <p:cNvGrpSpPr/>
          <p:nvPr/>
        </p:nvGrpSpPr>
        <p:grpSpPr>
          <a:xfrm>
            <a:off x="6090388" y="3718575"/>
            <a:ext cx="920012" cy="533400"/>
            <a:chOff x="951919" y="5486400"/>
            <a:chExt cx="920012" cy="533400"/>
          </a:xfrm>
        </p:grpSpPr>
        <p:sp>
          <p:nvSpPr>
            <p:cNvPr id="14" name="Rectangle 13"/>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20</a:t>
              </a:r>
              <a:endParaRPr lang="en-US" sz="2400" b="1" dirty="0"/>
            </a:p>
          </p:txBody>
        </p:sp>
        <p:sp>
          <p:nvSpPr>
            <p:cNvPr id="15" name="Rectangle 14"/>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6" name="Group 15"/>
          <p:cNvGrpSpPr/>
          <p:nvPr/>
        </p:nvGrpSpPr>
        <p:grpSpPr>
          <a:xfrm>
            <a:off x="8071588" y="3718575"/>
            <a:ext cx="920012" cy="533400"/>
            <a:chOff x="951919" y="5486400"/>
            <a:chExt cx="920012" cy="533400"/>
          </a:xfrm>
        </p:grpSpPr>
        <p:sp>
          <p:nvSpPr>
            <p:cNvPr id="17" name="Rectangle 16"/>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25</a:t>
              </a:r>
              <a:endParaRPr lang="en-US" sz="2400" b="1" dirty="0"/>
            </a:p>
          </p:txBody>
        </p:sp>
        <p:sp>
          <p:nvSpPr>
            <p:cNvPr id="18" name="Rectangle 17"/>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9" name="Group 18"/>
          <p:cNvGrpSpPr/>
          <p:nvPr/>
        </p:nvGrpSpPr>
        <p:grpSpPr>
          <a:xfrm>
            <a:off x="9380738" y="3718575"/>
            <a:ext cx="1058662" cy="533400"/>
            <a:chOff x="6256538" y="5334000"/>
            <a:chExt cx="1058662" cy="533400"/>
          </a:xfrm>
        </p:grpSpPr>
        <p:sp>
          <p:nvSpPr>
            <p:cNvPr id="20" name="Rectangle 19"/>
            <p:cNvSpPr/>
            <p:nvPr/>
          </p:nvSpPr>
          <p:spPr>
            <a:xfrm>
              <a:off x="6256538" y="53340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30</a:t>
              </a:r>
              <a:endParaRPr lang="en-US" sz="2400" b="1" dirty="0"/>
            </a:p>
          </p:txBody>
        </p:sp>
        <p:sp>
          <p:nvSpPr>
            <p:cNvPr id="21" name="Rectangle 20"/>
            <p:cNvSpPr/>
            <p:nvPr/>
          </p:nvSpPr>
          <p:spPr>
            <a:xfrm>
              <a:off x="6795550" y="5334000"/>
              <a:ext cx="51965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22" name="Straight Arrow Connector 21"/>
          <p:cNvCxnSpPr/>
          <p:nvPr/>
        </p:nvCxnSpPr>
        <p:spPr>
          <a:xfrm>
            <a:off x="2672612" y="3990219"/>
            <a:ext cx="3753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3" name="Straight Arrow Connector 22"/>
          <p:cNvCxnSpPr>
            <a:stCxn id="9" idx="3"/>
            <a:endCxn id="11" idx="1"/>
          </p:cNvCxnSpPr>
          <p:nvPr/>
        </p:nvCxnSpPr>
        <p:spPr>
          <a:xfrm>
            <a:off x="3968012" y="3985275"/>
            <a:ext cx="3753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4" name="Straight Arrow Connector 23"/>
          <p:cNvCxnSpPr>
            <a:stCxn id="12" idx="3"/>
            <a:endCxn id="14" idx="1"/>
          </p:cNvCxnSpPr>
          <p:nvPr/>
        </p:nvCxnSpPr>
        <p:spPr>
          <a:xfrm>
            <a:off x="5263412" y="3985275"/>
            <a:ext cx="826976"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5" name="Straight Arrow Connector 24"/>
          <p:cNvCxnSpPr>
            <a:stCxn id="15" idx="3"/>
            <a:endCxn id="17" idx="1"/>
          </p:cNvCxnSpPr>
          <p:nvPr/>
        </p:nvCxnSpPr>
        <p:spPr>
          <a:xfrm>
            <a:off x="7010400" y="3985275"/>
            <a:ext cx="1061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6" name="Straight Arrow Connector 25"/>
          <p:cNvCxnSpPr>
            <a:stCxn id="18" idx="3"/>
            <a:endCxn id="20" idx="1"/>
          </p:cNvCxnSpPr>
          <p:nvPr/>
        </p:nvCxnSpPr>
        <p:spPr>
          <a:xfrm>
            <a:off x="8991600" y="3985275"/>
            <a:ext cx="38913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7" name="Straight Connector 26"/>
          <p:cNvCxnSpPr/>
          <p:nvPr/>
        </p:nvCxnSpPr>
        <p:spPr>
          <a:xfrm flipV="1">
            <a:off x="9939280" y="3718575"/>
            <a:ext cx="500120" cy="500128"/>
          </a:xfrm>
          <a:prstGeom prst="line">
            <a:avLst/>
          </a:prstGeom>
          <a:ln w="28575">
            <a:solidFill>
              <a:srgbClr val="B84742"/>
            </a:solidFill>
          </a:ln>
        </p:spPr>
        <p:style>
          <a:lnRef idx="3">
            <a:schemeClr val="accent6"/>
          </a:lnRef>
          <a:fillRef idx="0">
            <a:schemeClr val="accent6"/>
          </a:fillRef>
          <a:effectRef idx="2">
            <a:schemeClr val="accent6"/>
          </a:effectRef>
          <a:fontRef idx="minor">
            <a:schemeClr val="tx1"/>
          </a:fontRef>
        </p:style>
      </p:cxnSp>
      <p:sp>
        <p:nvSpPr>
          <p:cNvPr id="28" name="TextBox 27"/>
          <p:cNvSpPr txBox="1"/>
          <p:nvPr/>
        </p:nvSpPr>
        <p:spPr>
          <a:xfrm>
            <a:off x="1752600" y="4480575"/>
            <a:ext cx="734496" cy="369332"/>
          </a:xfrm>
          <a:prstGeom prst="rect">
            <a:avLst/>
          </a:prstGeom>
          <a:noFill/>
        </p:spPr>
        <p:txBody>
          <a:bodyPr wrap="none" rtlCol="0">
            <a:spAutoFit/>
          </a:bodyPr>
          <a:lstStyle/>
          <a:p>
            <a:r>
              <a:rPr lang="en-IN" b="1" dirty="0">
                <a:solidFill>
                  <a:srgbClr val="C00000"/>
                </a:solidFill>
              </a:rPr>
              <a:t>FIRST</a:t>
            </a:r>
            <a:endParaRPr lang="en-US" b="1" dirty="0">
              <a:solidFill>
                <a:srgbClr val="C00000"/>
              </a:solidFill>
            </a:endParaRPr>
          </a:p>
        </p:txBody>
      </p:sp>
      <p:cxnSp>
        <p:nvCxnSpPr>
          <p:cNvPr id="29" name="Straight Arrow Connector 28"/>
          <p:cNvCxnSpPr/>
          <p:nvPr/>
        </p:nvCxnSpPr>
        <p:spPr>
          <a:xfrm flipV="1">
            <a:off x="2071150" y="4256919"/>
            <a:ext cx="0" cy="3048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30" name="TextBox 29"/>
          <p:cNvSpPr txBox="1"/>
          <p:nvPr/>
        </p:nvSpPr>
        <p:spPr>
          <a:xfrm>
            <a:off x="4438390" y="3285744"/>
            <a:ext cx="696024" cy="369332"/>
          </a:xfrm>
          <a:prstGeom prst="rect">
            <a:avLst/>
          </a:prstGeom>
          <a:noFill/>
        </p:spPr>
        <p:txBody>
          <a:bodyPr wrap="none" rtlCol="0">
            <a:spAutoFit/>
          </a:bodyPr>
          <a:lstStyle/>
          <a:p>
            <a:pPr algn="ctr"/>
            <a:r>
              <a:rPr lang="en-IN" b="1" dirty="0">
                <a:solidFill>
                  <a:srgbClr val="C00000"/>
                </a:solidFill>
              </a:rPr>
              <a:t>PRED</a:t>
            </a:r>
            <a:endParaRPr lang="en-US" b="1" dirty="0">
              <a:solidFill>
                <a:srgbClr val="C00000"/>
              </a:solidFill>
            </a:endParaRPr>
          </a:p>
        </p:txBody>
      </p:sp>
      <p:sp>
        <p:nvSpPr>
          <p:cNvPr id="31" name="TextBox 30"/>
          <p:cNvSpPr txBox="1"/>
          <p:nvPr/>
        </p:nvSpPr>
        <p:spPr>
          <a:xfrm>
            <a:off x="6201508" y="3285744"/>
            <a:ext cx="694422" cy="369332"/>
          </a:xfrm>
          <a:prstGeom prst="rect">
            <a:avLst/>
          </a:prstGeom>
          <a:noFill/>
        </p:spPr>
        <p:txBody>
          <a:bodyPr wrap="none" rtlCol="0">
            <a:spAutoFit/>
          </a:bodyPr>
          <a:lstStyle/>
          <a:p>
            <a:pPr algn="ctr"/>
            <a:r>
              <a:rPr lang="en-IN" b="1" dirty="0">
                <a:solidFill>
                  <a:srgbClr val="C00000"/>
                </a:solidFill>
              </a:rPr>
              <a:t>SAVE</a:t>
            </a:r>
            <a:endParaRPr lang="en-US" b="1" dirty="0">
              <a:solidFill>
                <a:srgbClr val="C00000"/>
              </a:solidFill>
            </a:endParaRPr>
          </a:p>
        </p:txBody>
      </p:sp>
      <p:cxnSp>
        <p:nvCxnSpPr>
          <p:cNvPr id="32" name="Straight Connector 31"/>
          <p:cNvCxnSpPr/>
          <p:nvPr/>
        </p:nvCxnSpPr>
        <p:spPr>
          <a:xfrm>
            <a:off x="5072912" y="4251975"/>
            <a:ext cx="0" cy="59793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33" name="Straight Connector 32"/>
          <p:cNvCxnSpPr/>
          <p:nvPr/>
        </p:nvCxnSpPr>
        <p:spPr>
          <a:xfrm>
            <a:off x="5072912" y="4849907"/>
            <a:ext cx="3265376"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34" name="Straight Arrow Connector 33"/>
          <p:cNvCxnSpPr>
            <a:endCxn id="17" idx="2"/>
          </p:cNvCxnSpPr>
          <p:nvPr/>
        </p:nvCxnSpPr>
        <p:spPr>
          <a:xfrm flipV="1">
            <a:off x="8338288" y="4251975"/>
            <a:ext cx="0" cy="597932"/>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887621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nodeType="clickEffect">
                                  <p:stCondLst>
                                    <p:cond delay="0"/>
                                  </p:stCondLst>
                                  <p:childTnLst>
                                    <p:set>
                                      <p:cBhvr>
                                        <p:cTn id="58" dur="1" fill="hold">
                                          <p:stCondLst>
                                            <p:cond delay="0"/>
                                          </p:stCondLst>
                                        </p:cTn>
                                        <p:tgtEl>
                                          <p:spTgt spid="24"/>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nodeType="clickEffect">
                                  <p:stCondLst>
                                    <p:cond delay="0"/>
                                  </p:stCondLst>
                                  <p:childTnLst>
                                    <p:set>
                                      <p:cBhvr>
                                        <p:cTn id="70" dur="1" fill="hold">
                                          <p:stCondLst>
                                            <p:cond delay="0"/>
                                          </p:stCondLst>
                                        </p:cTn>
                                        <p:tgtEl>
                                          <p:spTgt spid="13"/>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8" grpId="0"/>
      <p:bldP spid="30" grpId="0"/>
      <p:bldP spid="3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Procedure: DELETE( X, FIRST)</a:t>
            </a:r>
          </a:p>
        </p:txBody>
      </p:sp>
      <p:sp>
        <p:nvSpPr>
          <p:cNvPr id="4" name="TextBox 3"/>
          <p:cNvSpPr txBox="1"/>
          <p:nvPr/>
        </p:nvSpPr>
        <p:spPr>
          <a:xfrm>
            <a:off x="233083" y="896472"/>
            <a:ext cx="5760000" cy="4154984"/>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200" b="1" dirty="0">
                <a:solidFill>
                  <a:schemeClr val="tx2"/>
                </a:solidFill>
                <a:latin typeface="Consolas" pitchFamily="49" charset="0"/>
                <a:cs typeface="Consolas" pitchFamily="49" charset="0"/>
              </a:rPr>
              <a:t>1. [Is Empty list?]</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IF</a:t>
            </a:r>
            <a:r>
              <a:rPr lang="en-IN" sz="2200" dirty="0">
                <a:latin typeface="Consolas" pitchFamily="49" charset="0"/>
                <a:cs typeface="Consolas" pitchFamily="49" charset="0"/>
              </a:rPr>
              <a:t>	FIRST = NULL</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THEN</a:t>
            </a:r>
            <a:r>
              <a:rPr lang="en-IN" sz="2200" dirty="0">
                <a:latin typeface="Consolas" pitchFamily="49" charset="0"/>
                <a:cs typeface="Consolas" pitchFamily="49" charset="0"/>
              </a:rPr>
              <a:t>	write (‘Underflow’)</a:t>
            </a:r>
          </a:p>
          <a:p>
            <a:r>
              <a:rPr lang="en-IN" sz="2200" dirty="0">
                <a:latin typeface="Consolas" pitchFamily="49" charset="0"/>
                <a:cs typeface="Consolas" pitchFamily="49" charset="0"/>
              </a:rPr>
              <a:t>		Return</a:t>
            </a:r>
          </a:p>
          <a:p>
            <a:r>
              <a:rPr lang="en-IN" sz="2200" b="1" dirty="0">
                <a:solidFill>
                  <a:schemeClr val="tx2"/>
                </a:solidFill>
                <a:latin typeface="Consolas" pitchFamily="49" charset="0"/>
                <a:cs typeface="Consolas" pitchFamily="49" charset="0"/>
              </a:rPr>
              <a:t>2. [Initialize search for X]</a:t>
            </a:r>
          </a:p>
          <a:p>
            <a:r>
              <a:rPr lang="en-IN" sz="2200" dirty="0">
                <a:latin typeface="Consolas" pitchFamily="49" charset="0"/>
                <a:cs typeface="Consolas" pitchFamily="49" charset="0"/>
              </a:rPr>
              <a:t>    SAVE </a:t>
            </a:r>
            <a:r>
              <a:rPr lang="en-IN" sz="2200" dirty="0">
                <a:latin typeface="Consolas" pitchFamily="49" charset="0"/>
                <a:cs typeface="Consolas" pitchFamily="49" charset="0"/>
                <a:sym typeface="Wingdings" pitchFamily="2" charset="2"/>
              </a:rPr>
              <a:t> </a:t>
            </a:r>
            <a:r>
              <a:rPr lang="en-IN" sz="2200" dirty="0">
                <a:latin typeface="Consolas" pitchFamily="49" charset="0"/>
                <a:cs typeface="Consolas" pitchFamily="49" charset="0"/>
              </a:rPr>
              <a:t>FIRST</a:t>
            </a:r>
          </a:p>
          <a:p>
            <a:r>
              <a:rPr lang="en-IN" sz="2200" b="1" dirty="0">
                <a:solidFill>
                  <a:schemeClr val="tx2"/>
                </a:solidFill>
                <a:latin typeface="Consolas" pitchFamily="49" charset="0"/>
                <a:cs typeface="Consolas" pitchFamily="49" charset="0"/>
              </a:rPr>
              <a:t>3. [Find X]</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Repeat</a:t>
            </a:r>
            <a:r>
              <a:rPr lang="en-IN" sz="2200" dirty="0">
                <a:latin typeface="Consolas" pitchFamily="49" charset="0"/>
                <a:cs typeface="Consolas" pitchFamily="49" charset="0"/>
              </a:rPr>
              <a:t> thru step-5 </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while</a:t>
            </a:r>
            <a:r>
              <a:rPr lang="en-IN" sz="2200" dirty="0">
                <a:latin typeface="Consolas" pitchFamily="49" charset="0"/>
                <a:cs typeface="Consolas" pitchFamily="49" charset="0"/>
              </a:rPr>
              <a:t> SAVE ≠ X and </a:t>
            </a:r>
          </a:p>
          <a:p>
            <a:r>
              <a:rPr lang="en-IN" sz="2200" dirty="0">
                <a:latin typeface="Consolas" pitchFamily="49" charset="0"/>
                <a:cs typeface="Consolas" pitchFamily="49" charset="0"/>
              </a:rPr>
              <a:t>     LINK (SAVE) ≠ NULL</a:t>
            </a:r>
          </a:p>
          <a:p>
            <a:r>
              <a:rPr lang="en-IN" sz="2200" b="1" dirty="0">
                <a:solidFill>
                  <a:schemeClr val="tx2"/>
                </a:solidFill>
                <a:latin typeface="Consolas" pitchFamily="49" charset="0"/>
                <a:cs typeface="Consolas" pitchFamily="49" charset="0"/>
              </a:rPr>
              <a:t>4. [Update predecessor marker]</a:t>
            </a:r>
          </a:p>
          <a:p>
            <a:r>
              <a:rPr lang="en-IN" sz="2200" dirty="0">
                <a:latin typeface="Consolas" pitchFamily="49" charset="0"/>
                <a:cs typeface="Consolas" pitchFamily="49" charset="0"/>
              </a:rPr>
              <a:t>    PRED </a:t>
            </a:r>
            <a:r>
              <a:rPr lang="en-IN" sz="2200" dirty="0">
                <a:latin typeface="Consolas" pitchFamily="49" charset="0"/>
                <a:cs typeface="Consolas" pitchFamily="49" charset="0"/>
                <a:sym typeface="Wingdings" pitchFamily="2" charset="2"/>
              </a:rPr>
              <a:t> SAVE</a:t>
            </a:r>
            <a:endParaRPr lang="en-IN" sz="2200" dirty="0">
              <a:latin typeface="Consolas" pitchFamily="49" charset="0"/>
              <a:cs typeface="Consolas" pitchFamily="49" charset="0"/>
            </a:endParaRPr>
          </a:p>
        </p:txBody>
      </p:sp>
      <p:sp>
        <p:nvSpPr>
          <p:cNvPr id="5" name="TextBox 4"/>
          <p:cNvSpPr txBox="1"/>
          <p:nvPr/>
        </p:nvSpPr>
        <p:spPr>
          <a:xfrm>
            <a:off x="6194612" y="896472"/>
            <a:ext cx="5760000" cy="4154984"/>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200" b="1" dirty="0">
                <a:solidFill>
                  <a:schemeClr val="tx2"/>
                </a:solidFill>
                <a:latin typeface="Consolas" pitchFamily="49" charset="0"/>
                <a:cs typeface="Consolas" pitchFamily="49" charset="0"/>
              </a:rPr>
              <a:t>5. [Move to next node]</a:t>
            </a:r>
          </a:p>
          <a:p>
            <a:r>
              <a:rPr lang="en-IN" sz="2200" dirty="0">
                <a:latin typeface="Consolas" pitchFamily="49" charset="0"/>
                <a:cs typeface="Consolas" pitchFamily="49" charset="0"/>
              </a:rPr>
              <a:t>    SAVE </a:t>
            </a:r>
            <a:r>
              <a:rPr lang="en-IN" sz="2200" dirty="0">
                <a:latin typeface="Consolas" pitchFamily="49" charset="0"/>
                <a:cs typeface="Consolas" pitchFamily="49" charset="0"/>
                <a:sym typeface="Wingdings" pitchFamily="2" charset="2"/>
              </a:rPr>
              <a:t> </a:t>
            </a:r>
            <a:r>
              <a:rPr lang="en-IN" sz="2200" dirty="0">
                <a:latin typeface="Consolas" pitchFamily="49" charset="0"/>
                <a:cs typeface="Consolas" pitchFamily="49" charset="0"/>
              </a:rPr>
              <a:t>LINK(SAVE)</a:t>
            </a:r>
          </a:p>
          <a:p>
            <a:r>
              <a:rPr lang="en-IN" sz="2200" b="1" dirty="0">
                <a:solidFill>
                  <a:schemeClr val="tx2"/>
                </a:solidFill>
                <a:latin typeface="Consolas" pitchFamily="49" charset="0"/>
                <a:cs typeface="Consolas" pitchFamily="49" charset="0"/>
              </a:rPr>
              <a:t>6. [End of the list?]</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If</a:t>
            </a:r>
            <a:r>
              <a:rPr lang="en-IN" sz="2200" dirty="0">
                <a:latin typeface="Consolas" pitchFamily="49" charset="0"/>
                <a:cs typeface="Consolas" pitchFamily="49" charset="0"/>
              </a:rPr>
              <a:t>	SAVE ≠ X</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THEN</a:t>
            </a:r>
            <a:r>
              <a:rPr lang="en-IN" sz="2200" dirty="0">
                <a:latin typeface="Consolas" pitchFamily="49" charset="0"/>
                <a:cs typeface="Consolas" pitchFamily="49" charset="0"/>
              </a:rPr>
              <a:t>	write (‘</a:t>
            </a:r>
            <a:r>
              <a:rPr lang="en-IN" sz="2200" b="1" dirty="0">
                <a:solidFill>
                  <a:schemeClr val="accent6"/>
                </a:solidFill>
                <a:latin typeface="Consolas" pitchFamily="49" charset="0"/>
                <a:cs typeface="Consolas" pitchFamily="49" charset="0"/>
              </a:rPr>
              <a:t>Node not found</a:t>
            </a:r>
            <a:r>
              <a:rPr lang="en-IN" sz="2200" dirty="0">
                <a:latin typeface="Consolas" pitchFamily="49" charset="0"/>
                <a:cs typeface="Consolas" pitchFamily="49" charset="0"/>
              </a:rPr>
              <a:t>’)</a:t>
            </a:r>
          </a:p>
          <a:p>
            <a:r>
              <a:rPr lang="en-IN" sz="2200" dirty="0">
                <a:latin typeface="Consolas" pitchFamily="49" charset="0"/>
                <a:cs typeface="Consolas" pitchFamily="49" charset="0"/>
              </a:rPr>
              <a:t>       	Return</a:t>
            </a:r>
          </a:p>
          <a:p>
            <a:r>
              <a:rPr lang="en-IN" sz="2200" b="1" dirty="0">
                <a:solidFill>
                  <a:schemeClr val="tx2"/>
                </a:solidFill>
                <a:latin typeface="Consolas" pitchFamily="49" charset="0"/>
                <a:cs typeface="Consolas" pitchFamily="49" charset="0"/>
              </a:rPr>
              <a:t>7. [Delete X]</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If</a:t>
            </a:r>
            <a:r>
              <a:rPr lang="en-IN" sz="2200" dirty="0">
                <a:latin typeface="Consolas" pitchFamily="49" charset="0"/>
                <a:cs typeface="Consolas" pitchFamily="49" charset="0"/>
              </a:rPr>
              <a:t>   </a:t>
            </a:r>
            <a:r>
              <a:rPr lang="en-IN" sz="2200" dirty="0" smtClean="0">
                <a:latin typeface="Consolas" pitchFamily="49" charset="0"/>
                <a:cs typeface="Consolas" pitchFamily="49" charset="0"/>
              </a:rPr>
              <a:t>SAVE </a:t>
            </a:r>
            <a:r>
              <a:rPr lang="en-IN" sz="2200" dirty="0">
                <a:latin typeface="Consolas" pitchFamily="49" charset="0"/>
                <a:cs typeface="Consolas" pitchFamily="49" charset="0"/>
              </a:rPr>
              <a:t>= FIRST</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THEN</a:t>
            </a:r>
            <a:r>
              <a:rPr lang="en-IN" sz="2200" dirty="0">
                <a:latin typeface="Consolas" pitchFamily="49" charset="0"/>
                <a:cs typeface="Consolas" pitchFamily="49" charset="0"/>
              </a:rPr>
              <a:t> FIRST </a:t>
            </a:r>
            <a:r>
              <a:rPr lang="en-IN" sz="2200" dirty="0">
                <a:latin typeface="Consolas" pitchFamily="49" charset="0"/>
                <a:cs typeface="Consolas" pitchFamily="49" charset="0"/>
                <a:sym typeface="Wingdings" pitchFamily="2" charset="2"/>
              </a:rPr>
              <a:t> </a:t>
            </a:r>
            <a:r>
              <a:rPr lang="en-IN" sz="2200" dirty="0">
                <a:latin typeface="Consolas" pitchFamily="49" charset="0"/>
                <a:cs typeface="Consolas" pitchFamily="49" charset="0"/>
              </a:rPr>
              <a:t>LINK(FIRST)</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ELSE</a:t>
            </a:r>
            <a:r>
              <a:rPr lang="en-IN" sz="2200" dirty="0">
                <a:latin typeface="Consolas" pitchFamily="49" charset="0"/>
                <a:cs typeface="Consolas" pitchFamily="49" charset="0"/>
              </a:rPr>
              <a:t> LINK (PRED) </a:t>
            </a:r>
            <a:r>
              <a:rPr lang="en-IN" sz="2200" dirty="0">
                <a:latin typeface="Consolas" pitchFamily="49" charset="0"/>
                <a:cs typeface="Consolas" pitchFamily="49" charset="0"/>
                <a:sym typeface="Wingdings" pitchFamily="2" charset="2"/>
              </a:rPr>
              <a:t> </a:t>
            </a:r>
            <a:r>
              <a:rPr lang="en-IN" sz="2200" dirty="0">
                <a:latin typeface="Consolas" pitchFamily="49" charset="0"/>
                <a:cs typeface="Consolas" pitchFamily="49" charset="0"/>
              </a:rPr>
              <a:t>LINK (SAVE)</a:t>
            </a:r>
            <a:endParaRPr lang="en-IN" sz="2200" b="1" dirty="0">
              <a:solidFill>
                <a:schemeClr val="tx2">
                  <a:lumMod val="60000"/>
                  <a:lumOff val="40000"/>
                </a:schemeClr>
              </a:solidFill>
              <a:latin typeface="Consolas" pitchFamily="49" charset="0"/>
              <a:cs typeface="Consolas" pitchFamily="49" charset="0"/>
            </a:endParaRPr>
          </a:p>
          <a:p>
            <a:r>
              <a:rPr lang="en-IN" sz="2200" b="1" dirty="0">
                <a:solidFill>
                  <a:schemeClr val="tx2"/>
                </a:solidFill>
                <a:latin typeface="Consolas" pitchFamily="49" charset="0"/>
                <a:cs typeface="Consolas" pitchFamily="49" charset="0"/>
              </a:rPr>
              <a:t>8. [Free Deleted Node]</a:t>
            </a:r>
          </a:p>
          <a:p>
            <a:r>
              <a:rPr lang="en-IN" sz="2200" dirty="0">
                <a:latin typeface="Consolas" pitchFamily="49" charset="0"/>
                <a:cs typeface="Consolas" pitchFamily="49" charset="0"/>
              </a:rPr>
              <a:t>    Free (SAVE)</a:t>
            </a:r>
          </a:p>
        </p:txBody>
      </p:sp>
    </p:spTree>
    <p:extLst>
      <p:ext uri="{BB962C8B-B14F-4D97-AF65-F5344CB8AC3E}">
        <p14:creationId xmlns:p14="http://schemas.microsoft.com/office/powerpoint/2010/main" val="2471773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3" end="3"/>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
                                            <p:txEl>
                                              <p:pRg st="4" end="4"/>
                                            </p:tx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7" end="7"/>
                                            </p:txEl>
                                          </p:spTgt>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5">
                                            <p:txEl>
                                              <p:pRg st="8" end="8"/>
                                            </p:txEl>
                                          </p:spTgt>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Procedure: DELETE(7541, FIRST)</a:t>
            </a:r>
          </a:p>
        </p:txBody>
      </p:sp>
      <p:grpSp>
        <p:nvGrpSpPr>
          <p:cNvPr id="3" name="Group 2"/>
          <p:cNvGrpSpPr/>
          <p:nvPr/>
        </p:nvGrpSpPr>
        <p:grpSpPr>
          <a:xfrm>
            <a:off x="1752600" y="4973633"/>
            <a:ext cx="920012" cy="533400"/>
            <a:chOff x="951919" y="5486400"/>
            <a:chExt cx="920012" cy="533400"/>
          </a:xfrm>
        </p:grpSpPr>
        <p:sp>
          <p:nvSpPr>
            <p:cNvPr id="4" name="Rectangle 3"/>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US" sz="2400" b="1" dirty="0"/>
            </a:p>
          </p:txBody>
        </p:sp>
        <p:sp>
          <p:nvSpPr>
            <p:cNvPr id="5" name="Rectangle 4"/>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6" name="Group 5"/>
          <p:cNvGrpSpPr/>
          <p:nvPr/>
        </p:nvGrpSpPr>
        <p:grpSpPr>
          <a:xfrm>
            <a:off x="3048000" y="4973633"/>
            <a:ext cx="920012" cy="533400"/>
            <a:chOff x="951919" y="5486400"/>
            <a:chExt cx="920012" cy="533400"/>
          </a:xfrm>
        </p:grpSpPr>
        <p:sp>
          <p:nvSpPr>
            <p:cNvPr id="7" name="Rectangle 6"/>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8" name="Rectangle 7"/>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9" name="Group 8"/>
          <p:cNvGrpSpPr/>
          <p:nvPr/>
        </p:nvGrpSpPr>
        <p:grpSpPr>
          <a:xfrm>
            <a:off x="4343400" y="4973633"/>
            <a:ext cx="920012" cy="533400"/>
            <a:chOff x="951919" y="5486400"/>
            <a:chExt cx="920012" cy="533400"/>
          </a:xfrm>
        </p:grpSpPr>
        <p:sp>
          <p:nvSpPr>
            <p:cNvPr id="10" name="Rectangle 9"/>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15</a:t>
              </a:r>
              <a:endParaRPr lang="en-US" sz="2400" b="1" dirty="0"/>
            </a:p>
          </p:txBody>
        </p:sp>
        <p:sp>
          <p:nvSpPr>
            <p:cNvPr id="11" name="Rectangle 10"/>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2" name="Group 11"/>
          <p:cNvGrpSpPr/>
          <p:nvPr/>
        </p:nvGrpSpPr>
        <p:grpSpPr>
          <a:xfrm>
            <a:off x="6090388" y="4973633"/>
            <a:ext cx="920012" cy="533400"/>
            <a:chOff x="951919" y="5486400"/>
            <a:chExt cx="920012" cy="533400"/>
          </a:xfrm>
        </p:grpSpPr>
        <p:sp>
          <p:nvSpPr>
            <p:cNvPr id="13" name="Rectangle 12"/>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20</a:t>
              </a:r>
              <a:endParaRPr lang="en-US" sz="2400" b="1" dirty="0"/>
            </a:p>
          </p:txBody>
        </p:sp>
        <p:sp>
          <p:nvSpPr>
            <p:cNvPr id="14" name="Rectangle 13"/>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5" name="Group 14"/>
          <p:cNvGrpSpPr/>
          <p:nvPr/>
        </p:nvGrpSpPr>
        <p:grpSpPr>
          <a:xfrm>
            <a:off x="8071588" y="4973633"/>
            <a:ext cx="920012" cy="533400"/>
            <a:chOff x="951919" y="5486400"/>
            <a:chExt cx="920012" cy="533400"/>
          </a:xfrm>
        </p:grpSpPr>
        <p:sp>
          <p:nvSpPr>
            <p:cNvPr id="16" name="Rectangle 15"/>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25</a:t>
              </a:r>
              <a:endParaRPr lang="en-US" sz="2400" b="1" dirty="0"/>
            </a:p>
          </p:txBody>
        </p:sp>
        <p:sp>
          <p:nvSpPr>
            <p:cNvPr id="17" name="Rectangle 16"/>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8" name="Group 17"/>
          <p:cNvGrpSpPr/>
          <p:nvPr/>
        </p:nvGrpSpPr>
        <p:grpSpPr>
          <a:xfrm>
            <a:off x="9380738" y="4973633"/>
            <a:ext cx="1058662" cy="533400"/>
            <a:chOff x="6256538" y="5334000"/>
            <a:chExt cx="1058662" cy="533400"/>
          </a:xfrm>
        </p:grpSpPr>
        <p:sp>
          <p:nvSpPr>
            <p:cNvPr id="19" name="Rectangle 18"/>
            <p:cNvSpPr/>
            <p:nvPr/>
          </p:nvSpPr>
          <p:spPr>
            <a:xfrm>
              <a:off x="6256538" y="53340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30</a:t>
              </a:r>
              <a:endParaRPr lang="en-US" sz="2400" b="1" dirty="0"/>
            </a:p>
          </p:txBody>
        </p:sp>
        <p:sp>
          <p:nvSpPr>
            <p:cNvPr id="20" name="Rectangle 19"/>
            <p:cNvSpPr/>
            <p:nvPr/>
          </p:nvSpPr>
          <p:spPr>
            <a:xfrm>
              <a:off x="6795550" y="5334000"/>
              <a:ext cx="51965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21" name="Straight Arrow Connector 20"/>
          <p:cNvCxnSpPr>
            <a:stCxn id="5" idx="3"/>
            <a:endCxn id="7" idx="1"/>
          </p:cNvCxnSpPr>
          <p:nvPr/>
        </p:nvCxnSpPr>
        <p:spPr>
          <a:xfrm>
            <a:off x="2672612" y="5240333"/>
            <a:ext cx="3753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2" name="Straight Arrow Connector 21"/>
          <p:cNvCxnSpPr>
            <a:stCxn id="8" idx="3"/>
            <a:endCxn id="10" idx="1"/>
          </p:cNvCxnSpPr>
          <p:nvPr/>
        </p:nvCxnSpPr>
        <p:spPr>
          <a:xfrm>
            <a:off x="3968012" y="5240333"/>
            <a:ext cx="3753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3" name="Straight Arrow Connector 22"/>
          <p:cNvCxnSpPr>
            <a:stCxn id="11" idx="3"/>
            <a:endCxn id="13" idx="1"/>
          </p:cNvCxnSpPr>
          <p:nvPr/>
        </p:nvCxnSpPr>
        <p:spPr>
          <a:xfrm>
            <a:off x="5263412" y="5240333"/>
            <a:ext cx="826976"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4" name="Straight Arrow Connector 23"/>
          <p:cNvCxnSpPr>
            <a:stCxn id="14" idx="3"/>
            <a:endCxn id="16" idx="1"/>
          </p:cNvCxnSpPr>
          <p:nvPr/>
        </p:nvCxnSpPr>
        <p:spPr>
          <a:xfrm>
            <a:off x="7010400" y="5240333"/>
            <a:ext cx="1061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5" name="Straight Arrow Connector 24"/>
          <p:cNvCxnSpPr>
            <a:stCxn id="17" idx="3"/>
            <a:endCxn id="19" idx="1"/>
          </p:cNvCxnSpPr>
          <p:nvPr/>
        </p:nvCxnSpPr>
        <p:spPr>
          <a:xfrm>
            <a:off x="8991600" y="5240333"/>
            <a:ext cx="38913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6" name="Straight Connector 25"/>
          <p:cNvCxnSpPr/>
          <p:nvPr/>
        </p:nvCxnSpPr>
        <p:spPr>
          <a:xfrm flipV="1">
            <a:off x="9939280" y="4973633"/>
            <a:ext cx="500120" cy="500128"/>
          </a:xfrm>
          <a:prstGeom prst="line">
            <a:avLst/>
          </a:prstGeom>
          <a:ln w="28575">
            <a:solidFill>
              <a:srgbClr val="B84742"/>
            </a:solidFill>
          </a:ln>
        </p:spPr>
        <p:style>
          <a:lnRef idx="3">
            <a:schemeClr val="accent6"/>
          </a:lnRef>
          <a:fillRef idx="0">
            <a:schemeClr val="accent6"/>
          </a:fillRef>
          <a:effectRef idx="2">
            <a:schemeClr val="accent6"/>
          </a:effectRef>
          <a:fontRef idx="minor">
            <a:schemeClr val="tx1"/>
          </a:fontRef>
        </p:style>
      </p:cxnSp>
      <p:sp>
        <p:nvSpPr>
          <p:cNvPr id="27" name="TextBox 26"/>
          <p:cNvSpPr txBox="1"/>
          <p:nvPr/>
        </p:nvSpPr>
        <p:spPr>
          <a:xfrm>
            <a:off x="1724025" y="6040433"/>
            <a:ext cx="734496" cy="369332"/>
          </a:xfrm>
          <a:prstGeom prst="rect">
            <a:avLst/>
          </a:prstGeom>
          <a:noFill/>
        </p:spPr>
        <p:txBody>
          <a:bodyPr wrap="none" rtlCol="0">
            <a:spAutoFit/>
          </a:bodyPr>
          <a:lstStyle/>
          <a:p>
            <a:r>
              <a:rPr lang="en-IN" b="1" dirty="0">
                <a:solidFill>
                  <a:srgbClr val="C00000"/>
                </a:solidFill>
              </a:rPr>
              <a:t>FIRST</a:t>
            </a:r>
            <a:endParaRPr lang="en-US" b="1" dirty="0">
              <a:solidFill>
                <a:srgbClr val="C00000"/>
              </a:solidFill>
            </a:endParaRPr>
          </a:p>
        </p:txBody>
      </p:sp>
      <p:cxnSp>
        <p:nvCxnSpPr>
          <p:cNvPr id="28" name="Straight Arrow Connector 27"/>
          <p:cNvCxnSpPr>
            <a:stCxn id="27" idx="0"/>
          </p:cNvCxnSpPr>
          <p:nvPr/>
        </p:nvCxnSpPr>
        <p:spPr>
          <a:xfrm flipH="1" flipV="1">
            <a:off x="2071151" y="5507033"/>
            <a:ext cx="20123" cy="5334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1" name="Straight Connector 30"/>
          <p:cNvCxnSpPr/>
          <p:nvPr/>
        </p:nvCxnSpPr>
        <p:spPr>
          <a:xfrm>
            <a:off x="5072912" y="5507033"/>
            <a:ext cx="0" cy="59793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32" name="Straight Connector 31"/>
          <p:cNvCxnSpPr/>
          <p:nvPr/>
        </p:nvCxnSpPr>
        <p:spPr>
          <a:xfrm>
            <a:off x="5072912" y="6104965"/>
            <a:ext cx="3265376"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33" name="Straight Arrow Connector 32"/>
          <p:cNvCxnSpPr>
            <a:endCxn id="16" idx="2"/>
          </p:cNvCxnSpPr>
          <p:nvPr/>
        </p:nvCxnSpPr>
        <p:spPr>
          <a:xfrm flipV="1">
            <a:off x="8338288" y="5507033"/>
            <a:ext cx="0" cy="597932"/>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34" name="TextBox 33"/>
          <p:cNvSpPr txBox="1"/>
          <p:nvPr/>
        </p:nvSpPr>
        <p:spPr>
          <a:xfrm>
            <a:off x="1752601" y="5647765"/>
            <a:ext cx="652743" cy="369332"/>
          </a:xfrm>
          <a:prstGeom prst="rect">
            <a:avLst/>
          </a:prstGeom>
          <a:noFill/>
        </p:spPr>
        <p:txBody>
          <a:bodyPr wrap="none" rtlCol="0">
            <a:spAutoFit/>
          </a:bodyPr>
          <a:lstStyle/>
          <a:p>
            <a:r>
              <a:rPr lang="en-IN" dirty="0"/>
              <a:t>5000</a:t>
            </a:r>
            <a:endParaRPr lang="en-US" dirty="0"/>
          </a:p>
        </p:txBody>
      </p:sp>
      <p:sp>
        <p:nvSpPr>
          <p:cNvPr id="35" name="TextBox 34"/>
          <p:cNvSpPr txBox="1"/>
          <p:nvPr/>
        </p:nvSpPr>
        <p:spPr>
          <a:xfrm>
            <a:off x="3048001" y="5550967"/>
            <a:ext cx="652743" cy="369332"/>
          </a:xfrm>
          <a:prstGeom prst="rect">
            <a:avLst/>
          </a:prstGeom>
          <a:noFill/>
        </p:spPr>
        <p:txBody>
          <a:bodyPr wrap="none" rtlCol="0">
            <a:spAutoFit/>
          </a:bodyPr>
          <a:lstStyle/>
          <a:p>
            <a:r>
              <a:rPr lang="en-IN" dirty="0"/>
              <a:t>4455</a:t>
            </a:r>
            <a:endParaRPr lang="en-US" dirty="0"/>
          </a:p>
        </p:txBody>
      </p:sp>
      <p:sp>
        <p:nvSpPr>
          <p:cNvPr id="36" name="TextBox 35"/>
          <p:cNvSpPr txBox="1"/>
          <p:nvPr/>
        </p:nvSpPr>
        <p:spPr>
          <a:xfrm>
            <a:off x="4343401" y="5516558"/>
            <a:ext cx="652743" cy="369332"/>
          </a:xfrm>
          <a:prstGeom prst="rect">
            <a:avLst/>
          </a:prstGeom>
          <a:noFill/>
        </p:spPr>
        <p:txBody>
          <a:bodyPr wrap="none" rtlCol="0">
            <a:spAutoFit/>
          </a:bodyPr>
          <a:lstStyle/>
          <a:p>
            <a:r>
              <a:rPr lang="en-IN" dirty="0"/>
              <a:t>8564</a:t>
            </a:r>
            <a:endParaRPr lang="en-US" dirty="0"/>
          </a:p>
        </p:txBody>
      </p:sp>
      <p:sp>
        <p:nvSpPr>
          <p:cNvPr id="37" name="TextBox 36"/>
          <p:cNvSpPr txBox="1"/>
          <p:nvPr/>
        </p:nvSpPr>
        <p:spPr>
          <a:xfrm>
            <a:off x="6090389" y="5507033"/>
            <a:ext cx="652743" cy="369332"/>
          </a:xfrm>
          <a:prstGeom prst="rect">
            <a:avLst/>
          </a:prstGeom>
          <a:noFill/>
        </p:spPr>
        <p:txBody>
          <a:bodyPr wrap="none" rtlCol="0">
            <a:spAutoFit/>
          </a:bodyPr>
          <a:lstStyle/>
          <a:p>
            <a:r>
              <a:rPr lang="en-IN" dirty="0"/>
              <a:t>7541</a:t>
            </a:r>
            <a:endParaRPr lang="en-US" dirty="0"/>
          </a:p>
        </p:txBody>
      </p:sp>
      <p:sp>
        <p:nvSpPr>
          <p:cNvPr id="38" name="TextBox 37"/>
          <p:cNvSpPr txBox="1"/>
          <p:nvPr/>
        </p:nvSpPr>
        <p:spPr>
          <a:xfrm>
            <a:off x="8020051" y="5541442"/>
            <a:ext cx="652743" cy="369332"/>
          </a:xfrm>
          <a:prstGeom prst="rect">
            <a:avLst/>
          </a:prstGeom>
          <a:noFill/>
        </p:spPr>
        <p:txBody>
          <a:bodyPr wrap="none" rtlCol="0">
            <a:spAutoFit/>
          </a:bodyPr>
          <a:lstStyle/>
          <a:p>
            <a:r>
              <a:rPr lang="en-IN" dirty="0"/>
              <a:t>1254</a:t>
            </a:r>
            <a:endParaRPr lang="en-US" dirty="0"/>
          </a:p>
        </p:txBody>
      </p:sp>
      <p:sp>
        <p:nvSpPr>
          <p:cNvPr id="39" name="TextBox 38"/>
          <p:cNvSpPr txBox="1"/>
          <p:nvPr/>
        </p:nvSpPr>
        <p:spPr>
          <a:xfrm>
            <a:off x="9380739" y="5507033"/>
            <a:ext cx="652743" cy="369332"/>
          </a:xfrm>
          <a:prstGeom prst="rect">
            <a:avLst/>
          </a:prstGeom>
          <a:noFill/>
        </p:spPr>
        <p:txBody>
          <a:bodyPr wrap="none" rtlCol="0">
            <a:spAutoFit/>
          </a:bodyPr>
          <a:lstStyle/>
          <a:p>
            <a:r>
              <a:rPr lang="en-IN" dirty="0"/>
              <a:t>3254</a:t>
            </a:r>
            <a:endParaRPr lang="en-US" dirty="0"/>
          </a:p>
        </p:txBody>
      </p:sp>
      <p:sp>
        <p:nvSpPr>
          <p:cNvPr id="40" name="TextBox 39"/>
          <p:cNvSpPr txBox="1"/>
          <p:nvPr/>
        </p:nvSpPr>
        <p:spPr>
          <a:xfrm>
            <a:off x="233644" y="876300"/>
            <a:ext cx="5760000" cy="3170099"/>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2. [Initialize search for X]</a:t>
            </a:r>
          </a:p>
          <a:p>
            <a:r>
              <a:rPr lang="en-IN" sz="2000" dirty="0">
                <a:latin typeface="Consolas" pitchFamily="49" charset="0"/>
                <a:cs typeface="Consolas" pitchFamily="49" charset="0"/>
              </a:rPr>
              <a:t>    SAVE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FIRST</a:t>
            </a:r>
          </a:p>
          <a:p>
            <a:r>
              <a:rPr lang="en-IN" sz="2000" b="1" dirty="0">
                <a:solidFill>
                  <a:schemeClr val="tx2"/>
                </a:solidFill>
                <a:latin typeface="Consolas" pitchFamily="49" charset="0"/>
                <a:cs typeface="Consolas" pitchFamily="49" charset="0"/>
              </a:rPr>
              <a:t>3. [Find X]</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Repeat</a:t>
            </a:r>
            <a:r>
              <a:rPr lang="en-IN" sz="2000" dirty="0">
                <a:latin typeface="Consolas" pitchFamily="49" charset="0"/>
                <a:cs typeface="Consolas" pitchFamily="49" charset="0"/>
              </a:rPr>
              <a:t> thru step-5 </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while</a:t>
            </a:r>
            <a:r>
              <a:rPr lang="en-IN" sz="2000" dirty="0">
                <a:latin typeface="Consolas" pitchFamily="49" charset="0"/>
                <a:cs typeface="Consolas" pitchFamily="49" charset="0"/>
              </a:rPr>
              <a:t> SAVE ≠ X and </a:t>
            </a:r>
          </a:p>
          <a:p>
            <a:r>
              <a:rPr lang="en-IN" sz="2000" dirty="0">
                <a:latin typeface="Consolas" pitchFamily="49" charset="0"/>
                <a:cs typeface="Consolas" pitchFamily="49" charset="0"/>
              </a:rPr>
              <a:t>	LINK (SAVE) ≠ NULL</a:t>
            </a:r>
          </a:p>
          <a:p>
            <a:r>
              <a:rPr lang="en-IN" sz="2000" b="1" dirty="0">
                <a:solidFill>
                  <a:schemeClr val="tx2"/>
                </a:solidFill>
                <a:latin typeface="Consolas" pitchFamily="49" charset="0"/>
                <a:cs typeface="Consolas" pitchFamily="49" charset="0"/>
              </a:rPr>
              <a:t>4. [Update predecessor marker]</a:t>
            </a:r>
          </a:p>
          <a:p>
            <a:r>
              <a:rPr lang="en-IN" sz="2000" dirty="0">
                <a:latin typeface="Consolas" pitchFamily="49" charset="0"/>
                <a:cs typeface="Consolas" pitchFamily="49" charset="0"/>
              </a:rPr>
              <a:t>    PRED </a:t>
            </a:r>
            <a:r>
              <a:rPr lang="en-IN" sz="2000" dirty="0">
                <a:latin typeface="Consolas" pitchFamily="49" charset="0"/>
                <a:cs typeface="Consolas" pitchFamily="49" charset="0"/>
                <a:sym typeface="Wingdings" pitchFamily="2" charset="2"/>
              </a:rPr>
              <a:t> SAVE</a:t>
            </a:r>
            <a:endParaRPr lang="en-IN" sz="2000" dirty="0">
              <a:latin typeface="Consolas" pitchFamily="49" charset="0"/>
              <a:cs typeface="Consolas" pitchFamily="49" charset="0"/>
            </a:endParaRPr>
          </a:p>
          <a:p>
            <a:r>
              <a:rPr lang="en-IN" sz="2000" b="1" dirty="0">
                <a:solidFill>
                  <a:schemeClr val="tx2"/>
                </a:solidFill>
                <a:latin typeface="Consolas" pitchFamily="49" charset="0"/>
                <a:cs typeface="Consolas" pitchFamily="49" charset="0"/>
              </a:rPr>
              <a:t>5. [Move to next node]</a:t>
            </a:r>
          </a:p>
          <a:p>
            <a:r>
              <a:rPr lang="en-IN" sz="2000" dirty="0">
                <a:latin typeface="Consolas" pitchFamily="49" charset="0"/>
                <a:cs typeface="Consolas" pitchFamily="49" charset="0"/>
              </a:rPr>
              <a:t>    SAVE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LINK(SAVE)</a:t>
            </a:r>
          </a:p>
        </p:txBody>
      </p:sp>
      <p:sp>
        <p:nvSpPr>
          <p:cNvPr id="41" name="TextBox 40"/>
          <p:cNvSpPr txBox="1"/>
          <p:nvPr/>
        </p:nvSpPr>
        <p:spPr>
          <a:xfrm>
            <a:off x="6181721" y="876299"/>
            <a:ext cx="5760000" cy="3170099"/>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6. [End of the list?]</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If</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  SAVE ≠ X</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THEN</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Write (‘</a:t>
            </a:r>
            <a:r>
              <a:rPr lang="en-IN" sz="2000" b="1" dirty="0">
                <a:solidFill>
                  <a:schemeClr val="accent6"/>
                </a:solidFill>
                <a:latin typeface="Consolas" pitchFamily="49" charset="0"/>
                <a:cs typeface="Consolas" pitchFamily="49" charset="0"/>
              </a:rPr>
              <a:t>Node not found</a:t>
            </a:r>
            <a:r>
              <a:rPr lang="en-IN" sz="2000" dirty="0">
                <a:latin typeface="Consolas" pitchFamily="49" charset="0"/>
                <a:cs typeface="Consolas" pitchFamily="49" charset="0"/>
              </a:rPr>
              <a:t>’)</a:t>
            </a:r>
          </a:p>
          <a:p>
            <a:r>
              <a:rPr lang="en-IN" sz="2000" dirty="0">
                <a:latin typeface="Consolas" pitchFamily="49" charset="0"/>
                <a:cs typeface="Consolas" pitchFamily="49" charset="0"/>
              </a:rPr>
              <a:t>         Return</a:t>
            </a:r>
          </a:p>
          <a:p>
            <a:r>
              <a:rPr lang="en-IN" sz="2000" b="1" dirty="0">
                <a:solidFill>
                  <a:schemeClr val="tx2"/>
                </a:solidFill>
                <a:latin typeface="Consolas" pitchFamily="49" charset="0"/>
                <a:cs typeface="Consolas" pitchFamily="49" charset="0"/>
              </a:rPr>
              <a:t>7. [Delete X]</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If</a:t>
            </a:r>
            <a:r>
              <a:rPr lang="en-IN" sz="2000" dirty="0">
                <a:latin typeface="Consolas" pitchFamily="49" charset="0"/>
                <a:cs typeface="Consolas" pitchFamily="49" charset="0"/>
              </a:rPr>
              <a:t> SAVE = FIRST</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THEN</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FIRST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LINK(FIRST)</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ELSE</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LINK (PRED)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LINK (SAVE)</a:t>
            </a:r>
          </a:p>
          <a:p>
            <a:r>
              <a:rPr lang="en-IN" sz="2000" b="1" dirty="0">
                <a:solidFill>
                  <a:schemeClr val="tx2"/>
                </a:solidFill>
                <a:latin typeface="Consolas" pitchFamily="49" charset="0"/>
                <a:cs typeface="Consolas" pitchFamily="49" charset="0"/>
              </a:rPr>
              <a:t>8. [Free Deleted Node]</a:t>
            </a:r>
          </a:p>
          <a:p>
            <a:r>
              <a:rPr lang="en-IN" sz="2000" dirty="0">
                <a:latin typeface="Consolas" pitchFamily="49" charset="0"/>
                <a:cs typeface="Consolas" pitchFamily="49" charset="0"/>
              </a:rPr>
              <a:t>    Free (SAVE)</a:t>
            </a:r>
          </a:p>
        </p:txBody>
      </p:sp>
      <p:grpSp>
        <p:nvGrpSpPr>
          <p:cNvPr id="46" name="Group 45"/>
          <p:cNvGrpSpPr/>
          <p:nvPr/>
        </p:nvGrpSpPr>
        <p:grpSpPr>
          <a:xfrm>
            <a:off x="1762775" y="4112515"/>
            <a:ext cx="694422" cy="861119"/>
            <a:chOff x="238775" y="4179749"/>
            <a:chExt cx="694422" cy="861119"/>
          </a:xfrm>
        </p:grpSpPr>
        <p:sp>
          <p:nvSpPr>
            <p:cNvPr id="30" name="TextBox 29"/>
            <p:cNvSpPr txBox="1"/>
            <p:nvPr/>
          </p:nvSpPr>
          <p:spPr>
            <a:xfrm>
              <a:off x="238775" y="4179749"/>
              <a:ext cx="694422" cy="369332"/>
            </a:xfrm>
            <a:prstGeom prst="rect">
              <a:avLst/>
            </a:prstGeom>
            <a:noFill/>
          </p:spPr>
          <p:txBody>
            <a:bodyPr wrap="none" rtlCol="0">
              <a:spAutoFit/>
            </a:bodyPr>
            <a:lstStyle/>
            <a:p>
              <a:pPr algn="ctr"/>
              <a:r>
                <a:rPr lang="en-IN" b="1" dirty="0">
                  <a:solidFill>
                    <a:srgbClr val="C00000"/>
                  </a:solidFill>
                </a:rPr>
                <a:t>SAVE</a:t>
              </a:r>
              <a:endParaRPr lang="en-US" b="1" dirty="0">
                <a:solidFill>
                  <a:srgbClr val="C00000"/>
                </a:solidFill>
              </a:endParaRPr>
            </a:p>
          </p:txBody>
        </p:sp>
        <p:cxnSp>
          <p:nvCxnSpPr>
            <p:cNvPr id="45" name="Straight Arrow Connector 44"/>
            <p:cNvCxnSpPr>
              <a:stCxn id="30" idx="2"/>
            </p:cNvCxnSpPr>
            <p:nvPr/>
          </p:nvCxnSpPr>
          <p:spPr>
            <a:xfrm>
              <a:off x="585986" y="4549081"/>
              <a:ext cx="0" cy="49178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49" name="Group 48"/>
          <p:cNvGrpSpPr/>
          <p:nvPr/>
        </p:nvGrpSpPr>
        <p:grpSpPr>
          <a:xfrm>
            <a:off x="2133600" y="4428565"/>
            <a:ext cx="696024" cy="531621"/>
            <a:chOff x="609600" y="4495800"/>
            <a:chExt cx="696024" cy="531621"/>
          </a:xfrm>
        </p:grpSpPr>
        <p:sp>
          <p:nvSpPr>
            <p:cNvPr id="29" name="TextBox 28"/>
            <p:cNvSpPr txBox="1"/>
            <p:nvPr/>
          </p:nvSpPr>
          <p:spPr>
            <a:xfrm>
              <a:off x="609600" y="4495800"/>
              <a:ext cx="696024" cy="369332"/>
            </a:xfrm>
            <a:prstGeom prst="rect">
              <a:avLst/>
            </a:prstGeom>
            <a:noFill/>
          </p:spPr>
          <p:txBody>
            <a:bodyPr wrap="none" rtlCol="0">
              <a:spAutoFit/>
            </a:bodyPr>
            <a:lstStyle/>
            <a:p>
              <a:pPr algn="ctr"/>
              <a:r>
                <a:rPr lang="en-IN" b="1" dirty="0">
                  <a:solidFill>
                    <a:srgbClr val="C00000"/>
                  </a:solidFill>
                </a:rPr>
                <a:t>PRED</a:t>
              </a:r>
              <a:endParaRPr lang="en-US" b="1" dirty="0">
                <a:solidFill>
                  <a:srgbClr val="C00000"/>
                </a:solidFill>
              </a:endParaRPr>
            </a:p>
          </p:txBody>
        </p:sp>
        <p:cxnSp>
          <p:nvCxnSpPr>
            <p:cNvPr id="48" name="Straight Arrow Connector 47"/>
            <p:cNvCxnSpPr>
              <a:stCxn id="29" idx="2"/>
              <a:endCxn id="5" idx="0"/>
            </p:cNvCxnSpPr>
            <p:nvPr/>
          </p:nvCxnSpPr>
          <p:spPr>
            <a:xfrm>
              <a:off x="957612" y="4865132"/>
              <a:ext cx="500" cy="16228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Tree>
    <p:extLst>
      <p:ext uri="{BB962C8B-B14F-4D97-AF65-F5344CB8AC3E}">
        <p14:creationId xmlns:p14="http://schemas.microsoft.com/office/powerpoint/2010/main" val="590601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63" presetClass="path" presetSubtype="0" accel="50000" decel="50000" fill="hold" nodeType="clickEffect">
                                  <p:stCondLst>
                                    <p:cond delay="0"/>
                                  </p:stCondLst>
                                  <p:childTnLst>
                                    <p:animMotion origin="layout" path="M 3.125E-6 0.00231 L 0.10182 0.00231 " pathEditMode="relative" rAng="0" ptsTypes="AA">
                                      <p:cBhvr>
                                        <p:cTn id="66" dur="2000" fill="hold"/>
                                        <p:tgtEl>
                                          <p:spTgt spid="46"/>
                                        </p:tgtEl>
                                        <p:attrNameLst>
                                          <p:attrName>ppt_x</p:attrName>
                                          <p:attrName>ppt_y</p:attrName>
                                        </p:attrNameLst>
                                      </p:cBhvr>
                                      <p:rCtr x="5091" y="0"/>
                                    </p:animMotion>
                                  </p:childTnLst>
                                </p:cTn>
                              </p:par>
                            </p:childTnLst>
                          </p:cTn>
                        </p:par>
                      </p:childTnLst>
                    </p:cTn>
                  </p:par>
                  <p:par>
                    <p:cTn id="67" fill="hold">
                      <p:stCondLst>
                        <p:cond delay="indefinite"/>
                      </p:stCondLst>
                      <p:childTnLst>
                        <p:par>
                          <p:cTn id="68" fill="hold">
                            <p:stCondLst>
                              <p:cond delay="0"/>
                            </p:stCondLst>
                            <p:childTnLst>
                              <p:par>
                                <p:cTn id="69" presetID="63" presetClass="path" presetSubtype="0" accel="50000" decel="50000" fill="hold" nodeType="clickEffect">
                                  <p:stCondLst>
                                    <p:cond delay="0"/>
                                  </p:stCondLst>
                                  <p:childTnLst>
                                    <p:animMotion origin="layout" path="M 4.375E-6 -7.40741E-7 L 0.10078 -7.40741E-7 " pathEditMode="relative" rAng="0" ptsTypes="AA">
                                      <p:cBhvr>
                                        <p:cTn id="70" dur="2000" fill="hold"/>
                                        <p:tgtEl>
                                          <p:spTgt spid="49"/>
                                        </p:tgtEl>
                                        <p:attrNameLst>
                                          <p:attrName>ppt_x</p:attrName>
                                          <p:attrName>ppt_y</p:attrName>
                                        </p:attrNameLst>
                                      </p:cBhvr>
                                      <p:rCtr x="5039" y="0"/>
                                    </p:animMotion>
                                  </p:childTnLst>
                                </p:cTn>
                              </p:par>
                            </p:childTnLst>
                          </p:cTn>
                        </p:par>
                      </p:childTnLst>
                    </p:cTn>
                  </p:par>
                  <p:par>
                    <p:cTn id="71" fill="hold">
                      <p:stCondLst>
                        <p:cond delay="indefinite"/>
                      </p:stCondLst>
                      <p:childTnLst>
                        <p:par>
                          <p:cTn id="72" fill="hold">
                            <p:stCondLst>
                              <p:cond delay="0"/>
                            </p:stCondLst>
                            <p:childTnLst>
                              <p:par>
                                <p:cTn id="73" presetID="63" presetClass="path" presetSubtype="0" accel="50000" decel="50000" fill="hold" nodeType="clickEffect">
                                  <p:stCondLst>
                                    <p:cond delay="0"/>
                                  </p:stCondLst>
                                  <p:childTnLst>
                                    <p:animMotion origin="layout" path="M 0.1039 0.00162 L 0.20859 0.00162 " pathEditMode="relative" rAng="0" ptsTypes="AA">
                                      <p:cBhvr>
                                        <p:cTn id="74" dur="2000" fill="hold"/>
                                        <p:tgtEl>
                                          <p:spTgt spid="46"/>
                                        </p:tgtEl>
                                        <p:attrNameLst>
                                          <p:attrName>ppt_x</p:attrName>
                                          <p:attrName>ppt_y</p:attrName>
                                        </p:attrNameLst>
                                      </p:cBhvr>
                                      <p:rCtr x="5234" y="0"/>
                                    </p:animMotion>
                                  </p:childTnLst>
                                </p:cTn>
                              </p:par>
                            </p:childTnLst>
                          </p:cTn>
                        </p:par>
                      </p:childTnLst>
                    </p:cTn>
                  </p:par>
                  <p:par>
                    <p:cTn id="75" fill="hold">
                      <p:stCondLst>
                        <p:cond delay="indefinite"/>
                      </p:stCondLst>
                      <p:childTnLst>
                        <p:par>
                          <p:cTn id="76" fill="hold">
                            <p:stCondLst>
                              <p:cond delay="0"/>
                            </p:stCondLst>
                            <p:childTnLst>
                              <p:par>
                                <p:cTn id="77" presetID="63" presetClass="path" presetSubtype="0" accel="50000" decel="50000" fill="hold" nodeType="clickEffect">
                                  <p:stCondLst>
                                    <p:cond delay="0"/>
                                  </p:stCondLst>
                                  <p:childTnLst>
                                    <p:animMotion origin="layout" path="M 0.10079 3.7037E-7 L 0.21002 0.00139 " pathEditMode="relative" rAng="0" ptsTypes="AA">
                                      <p:cBhvr>
                                        <p:cTn id="78" dur="2000" fill="hold"/>
                                        <p:tgtEl>
                                          <p:spTgt spid="49"/>
                                        </p:tgtEl>
                                        <p:attrNameLst>
                                          <p:attrName>ppt_x</p:attrName>
                                          <p:attrName>ppt_y</p:attrName>
                                        </p:attrNameLst>
                                      </p:cBhvr>
                                      <p:rCtr x="5495" y="0"/>
                                    </p:animMotion>
                                  </p:childTnLst>
                                </p:cTn>
                              </p:par>
                            </p:childTnLst>
                          </p:cTn>
                        </p:par>
                      </p:childTnLst>
                    </p:cTn>
                  </p:par>
                  <p:par>
                    <p:cTn id="79" fill="hold">
                      <p:stCondLst>
                        <p:cond delay="indefinite"/>
                      </p:stCondLst>
                      <p:childTnLst>
                        <p:par>
                          <p:cTn id="80" fill="hold">
                            <p:stCondLst>
                              <p:cond delay="0"/>
                            </p:stCondLst>
                            <p:childTnLst>
                              <p:par>
                                <p:cTn id="81" presetID="63" presetClass="path" presetSubtype="0" accel="50000" decel="50000" fill="hold" nodeType="clickEffect">
                                  <p:stCondLst>
                                    <p:cond delay="0"/>
                                  </p:stCondLst>
                                  <p:childTnLst>
                                    <p:animMotion origin="layout" path="M 0.20833 0.0037 L 0.35651 0.0037 " pathEditMode="relative" rAng="0" ptsTypes="AA">
                                      <p:cBhvr>
                                        <p:cTn id="82" dur="2000" fill="hold"/>
                                        <p:tgtEl>
                                          <p:spTgt spid="46"/>
                                        </p:tgtEl>
                                        <p:attrNameLst>
                                          <p:attrName>ppt_x</p:attrName>
                                          <p:attrName>ppt_y</p:attrName>
                                        </p:attrNameLst>
                                      </p:cBhvr>
                                      <p:rCtr x="7409" y="0"/>
                                    </p:animMotion>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1"/>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32"/>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33"/>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xit" presetSubtype="0" fill="hold" nodeType="clickEffect">
                                  <p:stCondLst>
                                    <p:cond delay="0"/>
                                  </p:stCondLst>
                                  <p:childTnLst>
                                    <p:set>
                                      <p:cBhvr>
                                        <p:cTn id="94" dur="1" fill="hold">
                                          <p:stCondLst>
                                            <p:cond delay="0"/>
                                          </p:stCondLst>
                                        </p:cTn>
                                        <p:tgtEl>
                                          <p:spTgt spid="12"/>
                                        </p:tgtEl>
                                        <p:attrNameLst>
                                          <p:attrName>style.visibility</p:attrName>
                                        </p:attrNameLst>
                                      </p:cBhvr>
                                      <p:to>
                                        <p:strVal val="hidden"/>
                                      </p:to>
                                    </p:set>
                                  </p:childTnLst>
                                </p:cTn>
                              </p:par>
                              <p:par>
                                <p:cTn id="95" presetID="1" presetClass="exit" presetSubtype="0" fill="hold" nodeType="withEffect">
                                  <p:stCondLst>
                                    <p:cond delay="0"/>
                                  </p:stCondLst>
                                  <p:childTnLst>
                                    <p:set>
                                      <p:cBhvr>
                                        <p:cTn id="96" dur="1" fill="hold">
                                          <p:stCondLst>
                                            <p:cond delay="0"/>
                                          </p:stCondLst>
                                        </p:cTn>
                                        <p:tgtEl>
                                          <p:spTgt spid="23"/>
                                        </p:tgtEl>
                                        <p:attrNameLst>
                                          <p:attrName>style.visibility</p:attrName>
                                        </p:attrNameLst>
                                      </p:cBhvr>
                                      <p:to>
                                        <p:strVal val="hidden"/>
                                      </p:to>
                                    </p:set>
                                  </p:childTnLst>
                                </p:cTn>
                              </p:par>
                              <p:par>
                                <p:cTn id="97" presetID="1" presetClass="exit" presetSubtype="0" fill="hold" nodeType="withEffect">
                                  <p:stCondLst>
                                    <p:cond delay="0"/>
                                  </p:stCondLst>
                                  <p:childTnLst>
                                    <p:set>
                                      <p:cBhvr>
                                        <p:cTn id="98" dur="1" fill="hold">
                                          <p:stCondLst>
                                            <p:cond delay="0"/>
                                          </p:stCondLst>
                                        </p:cTn>
                                        <p:tgtEl>
                                          <p:spTgt spid="24"/>
                                        </p:tgtEl>
                                        <p:attrNameLst>
                                          <p:attrName>style.visibility</p:attrName>
                                        </p:attrNameLst>
                                      </p:cBhvr>
                                      <p:to>
                                        <p:strVal val="hidden"/>
                                      </p:to>
                                    </p:set>
                                  </p:childTnLst>
                                </p:cTn>
                              </p:par>
                              <p:par>
                                <p:cTn id="99" presetID="1" presetClass="exit" presetSubtype="0" fill="hold" grpId="1" nodeType="withEffect">
                                  <p:stCondLst>
                                    <p:cond delay="0"/>
                                  </p:stCondLst>
                                  <p:childTnLst>
                                    <p:set>
                                      <p:cBhvr>
                                        <p:cTn id="100" dur="1" fill="hold">
                                          <p:stCondLst>
                                            <p:cond delay="0"/>
                                          </p:stCondLst>
                                        </p:cTn>
                                        <p:tgtEl>
                                          <p:spTgt spid="37"/>
                                        </p:tgtEl>
                                        <p:attrNameLst>
                                          <p:attrName>style.visibility</p:attrName>
                                        </p:attrNameLst>
                                      </p:cBhvr>
                                      <p:to>
                                        <p:strVal val="hidden"/>
                                      </p:to>
                                    </p:set>
                                  </p:childTnLst>
                                </p:cTn>
                              </p:par>
                              <p:par>
                                <p:cTn id="101" presetID="1" presetClass="exit" presetSubtype="0" fill="hold" nodeType="withEffect">
                                  <p:stCondLst>
                                    <p:cond delay="0"/>
                                  </p:stCondLst>
                                  <p:childTnLst>
                                    <p:set>
                                      <p:cBhvr>
                                        <p:cTn id="102" dur="1" fill="hold">
                                          <p:stCondLst>
                                            <p:cond delay="0"/>
                                          </p:stCondLst>
                                        </p:cTn>
                                        <p:tgtEl>
                                          <p:spTgt spid="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4" grpId="0"/>
      <p:bldP spid="35" grpId="0"/>
      <p:bldP spid="36" grpId="0"/>
      <p:bldP spid="37" grpId="0"/>
      <p:bldP spid="37" grpId="1"/>
      <p:bldP spid="38" grpId="0"/>
      <p:bldP spid="39" grpId="0"/>
      <p:bldP spid="40" grpId="0" animBg="1"/>
      <p:bldP spid="4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 code to delete a Node from linked list</a:t>
            </a:r>
            <a:endParaRPr lang="en-IN" dirty="0"/>
          </a:p>
        </p:txBody>
      </p:sp>
      <p:sp>
        <p:nvSpPr>
          <p:cNvPr id="4" name="Rectangle 3"/>
          <p:cNvSpPr/>
          <p:nvPr/>
        </p:nvSpPr>
        <p:spPr>
          <a:xfrm>
            <a:off x="131545" y="834273"/>
            <a:ext cx="3660809" cy="369332"/>
          </a:xfrm>
          <a:prstGeom prst="rect">
            <a:avLst/>
          </a:prstGeom>
        </p:spPr>
        <p:txBody>
          <a:bodyPr wrap="square">
            <a:spAutoFit/>
          </a:bodyPr>
          <a:lstStyle/>
          <a:p>
            <a:r>
              <a:rPr lang="en-IN" dirty="0">
                <a:solidFill>
                  <a:srgbClr val="0000FF"/>
                </a:solidFill>
                <a:highlight>
                  <a:srgbClr val="FFFFFF"/>
                </a:highlight>
                <a:latin typeface="Cascadia Mono" panose="020B0609020000020004" pitchFamily="49" charset="0"/>
              </a:rPr>
              <a:t>void</a:t>
            </a:r>
            <a:r>
              <a:rPr lang="en-IN" dirty="0">
                <a:solidFill>
                  <a:srgbClr val="000000"/>
                </a:solidFill>
                <a:highlight>
                  <a:srgbClr val="FFFFFF"/>
                </a:highlight>
                <a:latin typeface="Cascadia Mono" panose="020B0609020000020004" pitchFamily="49" charset="0"/>
              </a:rPr>
              <a:t> </a:t>
            </a:r>
            <a:r>
              <a:rPr lang="en-IN" dirty="0" err="1">
                <a:solidFill>
                  <a:srgbClr val="2B91AF"/>
                </a:solidFill>
                <a:highlight>
                  <a:srgbClr val="FFFFFF"/>
                </a:highlight>
                <a:latin typeface="Cascadia Mono" panose="020B0609020000020004" pitchFamily="49" charset="0"/>
              </a:rPr>
              <a:t>deleteNode</a:t>
            </a:r>
            <a:r>
              <a:rPr lang="en-IN" dirty="0">
                <a:solidFill>
                  <a:srgbClr val="000000"/>
                </a:solidFill>
                <a:highlight>
                  <a:srgbClr val="FFFFFF"/>
                </a:highlight>
                <a:latin typeface="Cascadia Mono" panose="020B0609020000020004" pitchFamily="49" charset="0"/>
              </a:rPr>
              <a:t>(</a:t>
            </a:r>
            <a:r>
              <a:rPr lang="en-IN" dirty="0" err="1">
                <a:solidFill>
                  <a:srgbClr val="0000FF"/>
                </a:solidFill>
                <a:highlight>
                  <a:srgbClr val="FFFFFF"/>
                </a:highlight>
                <a:latin typeface="Cascadia Mono" panose="020B0609020000020004" pitchFamily="49" charset="0"/>
              </a:rPr>
              <a:t>int</a:t>
            </a:r>
            <a:r>
              <a:rPr lang="en-IN" dirty="0">
                <a:solidFill>
                  <a:srgbClr val="000000"/>
                </a:solidFill>
                <a:highlight>
                  <a:srgbClr val="FFFFFF"/>
                </a:highlight>
                <a:latin typeface="Cascadia Mono" panose="020B0609020000020004" pitchFamily="49" charset="0"/>
              </a:rPr>
              <a:t> x) {</a:t>
            </a:r>
            <a:endParaRPr lang="en-IN" dirty="0"/>
          </a:p>
        </p:txBody>
      </p:sp>
      <p:sp>
        <p:nvSpPr>
          <p:cNvPr id="5" name="Rectangle 4"/>
          <p:cNvSpPr/>
          <p:nvPr/>
        </p:nvSpPr>
        <p:spPr>
          <a:xfrm>
            <a:off x="324051" y="1326677"/>
            <a:ext cx="5056471" cy="1477328"/>
          </a:xfrm>
          <a:prstGeom prst="rect">
            <a:avLst/>
          </a:prstGeom>
        </p:spPr>
        <p:txBody>
          <a:bodyPr wrap="square">
            <a:spAutoFit/>
          </a:bodyPr>
          <a:lstStyle/>
          <a:p>
            <a:r>
              <a:rPr lang="en-IN" dirty="0">
                <a:solidFill>
                  <a:srgbClr val="008000"/>
                </a:solidFill>
                <a:highlight>
                  <a:srgbClr val="FFFFFF"/>
                </a:highlight>
                <a:latin typeface="Cascadia Mono" panose="020B0609020000020004" pitchFamily="49" charset="0"/>
              </a:rPr>
              <a:t>// Linked list is empty </a:t>
            </a:r>
          </a:p>
          <a:p>
            <a:r>
              <a:rPr lang="en-IN" dirty="0">
                <a:solidFill>
                  <a:srgbClr val="0000FF"/>
                </a:solidFill>
                <a:highlight>
                  <a:srgbClr val="FFFFFF"/>
                </a:highlight>
                <a:latin typeface="Cascadia Mono" panose="020B0609020000020004" pitchFamily="49" charset="0"/>
              </a:rPr>
              <a:t>if</a:t>
            </a:r>
            <a:r>
              <a:rPr lang="en-IN" dirty="0">
                <a:solidFill>
                  <a:srgbClr val="000000"/>
                </a:solidFill>
                <a:highlight>
                  <a:srgbClr val="FFFFFF"/>
                </a:highlight>
                <a:latin typeface="Cascadia Mono" panose="020B0609020000020004" pitchFamily="49" charset="0"/>
              </a:rPr>
              <a:t> (first == </a:t>
            </a:r>
            <a:r>
              <a:rPr lang="en-IN" dirty="0">
                <a:solidFill>
                  <a:srgbClr val="0000FF"/>
                </a:solidFill>
                <a:highlight>
                  <a:srgbClr val="FFFFFF"/>
                </a:highlight>
                <a:latin typeface="Cascadia Mono" panose="020B0609020000020004" pitchFamily="49" charset="0"/>
              </a:rPr>
              <a:t>NULL</a:t>
            </a:r>
            <a:r>
              <a:rPr lang="en-IN" dirty="0">
                <a:solidFill>
                  <a:srgbClr val="000000"/>
                </a:solidFill>
                <a:highlight>
                  <a:srgbClr val="FFFFFF"/>
                </a:highlight>
                <a:latin typeface="Cascadia Mono" panose="020B0609020000020004" pitchFamily="49" charset="0"/>
              </a:rPr>
              <a:t>) {</a:t>
            </a:r>
          </a:p>
          <a:p>
            <a:r>
              <a:rPr lang="en-US" dirty="0">
                <a:solidFill>
                  <a:srgbClr val="000000"/>
                </a:solidFill>
                <a:highlight>
                  <a:srgbClr val="FFFFFF"/>
                </a:highlight>
                <a:latin typeface="Cascadia Mono" panose="020B0609020000020004" pitchFamily="49" charset="0"/>
              </a:rPr>
              <a:t>    </a:t>
            </a:r>
            <a:r>
              <a:rPr lang="en-US" dirty="0" err="1">
                <a:solidFill>
                  <a:srgbClr val="2B91AF"/>
                </a:solidFill>
                <a:highlight>
                  <a:srgbClr val="FFFFFF"/>
                </a:highlight>
                <a:latin typeface="Cascadia Mono" panose="020B0609020000020004" pitchFamily="49" charset="0"/>
              </a:rPr>
              <a:t>printf</a:t>
            </a:r>
            <a:r>
              <a:rPr lang="en-US" dirty="0">
                <a:solidFill>
                  <a:srgbClr val="000000"/>
                </a:solidFill>
                <a:highlight>
                  <a:srgbClr val="FFFFFF"/>
                </a:highlight>
                <a:latin typeface="Cascadia Mono" panose="020B0609020000020004" pitchFamily="49" charset="0"/>
              </a:rPr>
              <a:t>(</a:t>
            </a:r>
            <a:r>
              <a:rPr lang="en-US" dirty="0">
                <a:solidFill>
                  <a:srgbClr val="A31515"/>
                </a:solidFill>
                <a:highlight>
                  <a:srgbClr val="FFFFFF"/>
                </a:highlight>
                <a:latin typeface="Cascadia Mono" panose="020B0609020000020004" pitchFamily="49" charset="0"/>
              </a:rPr>
              <a:t>"Linked List is Empty"</a:t>
            </a:r>
            <a:r>
              <a:rPr lang="en-US" dirty="0">
                <a:solidFill>
                  <a:srgbClr val="000000"/>
                </a:solidFill>
                <a:highlight>
                  <a:srgbClr val="FFFFFF"/>
                </a:highlight>
                <a:latin typeface="Cascadia Mono" panose="020B0609020000020004" pitchFamily="49" charset="0"/>
              </a:rPr>
              <a:t>);</a:t>
            </a:r>
          </a:p>
          <a:p>
            <a:r>
              <a:rPr lang="en-IN" dirty="0">
                <a:solidFill>
                  <a:srgbClr val="000000"/>
                </a:solidFill>
                <a:highlight>
                  <a:srgbClr val="FFFFFF"/>
                </a:highlight>
                <a:latin typeface="Cascadia Mono" panose="020B0609020000020004" pitchFamily="49" charset="0"/>
              </a:rPr>
              <a:t>    </a:t>
            </a:r>
            <a:r>
              <a:rPr lang="en-IN" dirty="0">
                <a:solidFill>
                  <a:srgbClr val="0000FF"/>
                </a:solidFill>
                <a:highlight>
                  <a:srgbClr val="FFFFFF"/>
                </a:highlight>
                <a:latin typeface="Cascadia Mono" panose="020B0609020000020004" pitchFamily="49" charset="0"/>
              </a:rPr>
              <a:t>return</a:t>
            </a:r>
            <a:r>
              <a:rPr lang="en-IN" dirty="0">
                <a:solidFill>
                  <a:srgbClr val="000000"/>
                </a:solidFill>
                <a:highlight>
                  <a:srgbClr val="FFFFFF"/>
                </a:highlight>
                <a:latin typeface="Cascadia Mono" panose="020B0609020000020004" pitchFamily="49" charset="0"/>
              </a:rPr>
              <a:t>;</a:t>
            </a:r>
          </a:p>
          <a:p>
            <a:r>
              <a:rPr lang="en-IN" dirty="0">
                <a:solidFill>
                  <a:srgbClr val="000000"/>
                </a:solidFill>
                <a:highlight>
                  <a:srgbClr val="FFFFFF"/>
                </a:highlight>
                <a:latin typeface="Cascadia Mono" panose="020B0609020000020004" pitchFamily="49" charset="0"/>
              </a:rPr>
              <a:t>}</a:t>
            </a:r>
            <a:endParaRPr lang="en-IN" dirty="0"/>
          </a:p>
        </p:txBody>
      </p:sp>
      <p:sp>
        <p:nvSpPr>
          <p:cNvPr id="6" name="Rectangle 5"/>
          <p:cNvSpPr/>
          <p:nvPr/>
        </p:nvSpPr>
        <p:spPr>
          <a:xfrm>
            <a:off x="324051" y="2927077"/>
            <a:ext cx="5570756" cy="369332"/>
          </a:xfrm>
          <a:prstGeom prst="rect">
            <a:avLst/>
          </a:prstGeom>
        </p:spPr>
        <p:txBody>
          <a:bodyPr wrap="none">
            <a:spAutoFit/>
          </a:bodyPr>
          <a:lstStyle/>
          <a:p>
            <a:r>
              <a:rPr lang="en-US" dirty="0" err="1">
                <a:solidFill>
                  <a:srgbClr val="0000FF"/>
                </a:solidFill>
                <a:highlight>
                  <a:srgbClr val="FFFFFF"/>
                </a:highlight>
                <a:latin typeface="Cascadia Mono" panose="020B0609020000020004" pitchFamily="49" charset="0"/>
              </a:rPr>
              <a:t>struct</a:t>
            </a:r>
            <a:r>
              <a:rPr lang="en-US" dirty="0">
                <a:solidFill>
                  <a:srgbClr val="000000"/>
                </a:solidFill>
                <a:highlight>
                  <a:srgbClr val="FFFFFF"/>
                </a:highlight>
                <a:latin typeface="Cascadia Mono" panose="020B0609020000020004" pitchFamily="49" charset="0"/>
              </a:rPr>
              <a:t> node *save = first, *</a:t>
            </a:r>
            <a:r>
              <a:rPr lang="en-US" dirty="0" err="1">
                <a:solidFill>
                  <a:srgbClr val="000000"/>
                </a:solidFill>
                <a:highlight>
                  <a:srgbClr val="FFFFFF"/>
                </a:highlight>
                <a:latin typeface="Cascadia Mono" panose="020B0609020000020004" pitchFamily="49" charset="0"/>
              </a:rPr>
              <a:t>prev</a:t>
            </a:r>
            <a:r>
              <a:rPr lang="en-US" dirty="0">
                <a:solidFill>
                  <a:srgbClr val="000000"/>
                </a:solidFill>
                <a:highlight>
                  <a:srgbClr val="FFFFFF"/>
                </a:highlight>
                <a:latin typeface="Cascadia Mono" panose="020B0609020000020004" pitchFamily="49" charset="0"/>
              </a:rPr>
              <a:t> = </a:t>
            </a:r>
            <a:r>
              <a:rPr lang="en-US" dirty="0">
                <a:solidFill>
                  <a:srgbClr val="0000FF"/>
                </a:solidFill>
                <a:highlight>
                  <a:srgbClr val="FFFFFF"/>
                </a:highlight>
                <a:latin typeface="Cascadia Mono" panose="020B0609020000020004" pitchFamily="49" charset="0"/>
              </a:rPr>
              <a:t>NULL</a:t>
            </a:r>
            <a:r>
              <a:rPr lang="en-US" dirty="0">
                <a:solidFill>
                  <a:srgbClr val="000000"/>
                </a:solidFill>
                <a:highlight>
                  <a:srgbClr val="FFFFFF"/>
                </a:highlight>
                <a:latin typeface="Cascadia Mono" panose="020B0609020000020004" pitchFamily="49" charset="0"/>
              </a:rPr>
              <a:t>;</a:t>
            </a:r>
            <a:endParaRPr lang="en-IN" dirty="0"/>
          </a:p>
        </p:txBody>
      </p:sp>
      <p:sp>
        <p:nvSpPr>
          <p:cNvPr id="7" name="Rectangle 6"/>
          <p:cNvSpPr/>
          <p:nvPr/>
        </p:nvSpPr>
        <p:spPr>
          <a:xfrm>
            <a:off x="324051" y="3448356"/>
            <a:ext cx="4358886" cy="369332"/>
          </a:xfrm>
          <a:prstGeom prst="rect">
            <a:avLst/>
          </a:prstGeom>
        </p:spPr>
        <p:txBody>
          <a:bodyPr wrap="none">
            <a:spAutoFit/>
          </a:bodyPr>
          <a:lstStyle/>
          <a:p>
            <a:r>
              <a:rPr lang="en-US" dirty="0">
                <a:solidFill>
                  <a:srgbClr val="008000"/>
                </a:solidFill>
                <a:highlight>
                  <a:srgbClr val="FFFFFF"/>
                </a:highlight>
                <a:latin typeface="Cascadia Mono" panose="020B0609020000020004" pitchFamily="49" charset="0"/>
              </a:rPr>
              <a:t>// If first node holds the key </a:t>
            </a:r>
            <a:endParaRPr lang="en-IN" dirty="0"/>
          </a:p>
        </p:txBody>
      </p:sp>
      <p:sp>
        <p:nvSpPr>
          <p:cNvPr id="8" name="Rectangle 7"/>
          <p:cNvSpPr/>
          <p:nvPr/>
        </p:nvSpPr>
        <p:spPr>
          <a:xfrm>
            <a:off x="324051" y="3840967"/>
            <a:ext cx="4883216" cy="1477328"/>
          </a:xfrm>
          <a:prstGeom prst="rect">
            <a:avLst/>
          </a:prstGeom>
        </p:spPr>
        <p:txBody>
          <a:bodyPr wrap="square">
            <a:spAutoFit/>
          </a:bodyPr>
          <a:lstStyle/>
          <a:p>
            <a:r>
              <a:rPr lang="en-IN" dirty="0">
                <a:solidFill>
                  <a:srgbClr val="0000FF"/>
                </a:solidFill>
                <a:highlight>
                  <a:srgbClr val="FFFFFF"/>
                </a:highlight>
                <a:latin typeface="Cascadia Mono" panose="020B0609020000020004" pitchFamily="49" charset="0"/>
              </a:rPr>
              <a:t>if</a:t>
            </a:r>
            <a:r>
              <a:rPr lang="en-IN" dirty="0">
                <a:solidFill>
                  <a:srgbClr val="000000"/>
                </a:solidFill>
                <a:highlight>
                  <a:srgbClr val="FFFFFF"/>
                </a:highlight>
                <a:latin typeface="Cascadia Mono" panose="020B0609020000020004" pitchFamily="49" charset="0"/>
              </a:rPr>
              <a:t>(save-&gt;info==x) {</a:t>
            </a:r>
          </a:p>
          <a:p>
            <a:r>
              <a:rPr lang="en-IN" dirty="0">
                <a:solidFill>
                  <a:srgbClr val="000000"/>
                </a:solidFill>
                <a:highlight>
                  <a:srgbClr val="FFFFFF"/>
                </a:highlight>
                <a:latin typeface="Cascadia Mono" panose="020B0609020000020004" pitchFamily="49" charset="0"/>
              </a:rPr>
              <a:t>     first = save-&gt;link;</a:t>
            </a:r>
          </a:p>
          <a:p>
            <a:r>
              <a:rPr lang="en-IN" dirty="0">
                <a:solidFill>
                  <a:srgbClr val="000000"/>
                </a:solidFill>
                <a:highlight>
                  <a:srgbClr val="FFFFFF"/>
                </a:highlight>
                <a:latin typeface="Cascadia Mono" panose="020B0609020000020004" pitchFamily="49" charset="0"/>
              </a:rPr>
              <a:t>     </a:t>
            </a:r>
            <a:r>
              <a:rPr lang="en-IN" dirty="0">
                <a:solidFill>
                  <a:srgbClr val="2B91AF"/>
                </a:solidFill>
                <a:highlight>
                  <a:srgbClr val="FFFFFF"/>
                </a:highlight>
                <a:latin typeface="Cascadia Mono" panose="020B0609020000020004" pitchFamily="49" charset="0"/>
              </a:rPr>
              <a:t>free</a:t>
            </a:r>
            <a:r>
              <a:rPr lang="en-IN" dirty="0">
                <a:solidFill>
                  <a:srgbClr val="000000"/>
                </a:solidFill>
                <a:highlight>
                  <a:srgbClr val="FFFFFF"/>
                </a:highlight>
                <a:latin typeface="Cascadia Mono" panose="020B0609020000020004" pitchFamily="49" charset="0"/>
              </a:rPr>
              <a:t>(save);</a:t>
            </a:r>
          </a:p>
          <a:p>
            <a:r>
              <a:rPr lang="en-IN" dirty="0">
                <a:solidFill>
                  <a:srgbClr val="000000"/>
                </a:solidFill>
                <a:highlight>
                  <a:srgbClr val="FFFFFF"/>
                </a:highlight>
                <a:latin typeface="Cascadia Mono" panose="020B0609020000020004" pitchFamily="49" charset="0"/>
              </a:rPr>
              <a:t>     </a:t>
            </a:r>
            <a:r>
              <a:rPr lang="en-IN" dirty="0">
                <a:solidFill>
                  <a:srgbClr val="0000FF"/>
                </a:solidFill>
                <a:highlight>
                  <a:srgbClr val="FFFFFF"/>
                </a:highlight>
                <a:latin typeface="Cascadia Mono" panose="020B0609020000020004" pitchFamily="49" charset="0"/>
              </a:rPr>
              <a:t>return</a:t>
            </a:r>
            <a:r>
              <a:rPr lang="en-IN" dirty="0">
                <a:solidFill>
                  <a:srgbClr val="000000"/>
                </a:solidFill>
                <a:highlight>
                  <a:srgbClr val="FFFFFF"/>
                </a:highlight>
                <a:latin typeface="Cascadia Mono" panose="020B0609020000020004" pitchFamily="49" charset="0"/>
              </a:rPr>
              <a:t>; </a:t>
            </a:r>
          </a:p>
          <a:p>
            <a:r>
              <a:rPr lang="en-IN" dirty="0">
                <a:solidFill>
                  <a:srgbClr val="000000"/>
                </a:solidFill>
                <a:highlight>
                  <a:srgbClr val="FFFFFF"/>
                </a:highlight>
                <a:latin typeface="Cascadia Mono" panose="020B0609020000020004" pitchFamily="49" charset="0"/>
              </a:rPr>
              <a:t>}</a:t>
            </a:r>
            <a:endParaRPr lang="en-IN" dirty="0"/>
          </a:p>
        </p:txBody>
      </p:sp>
      <p:sp>
        <p:nvSpPr>
          <p:cNvPr id="9" name="Rectangle 8"/>
          <p:cNvSpPr/>
          <p:nvPr/>
        </p:nvSpPr>
        <p:spPr>
          <a:xfrm>
            <a:off x="5894807" y="865012"/>
            <a:ext cx="6021269" cy="553998"/>
          </a:xfrm>
          <a:prstGeom prst="rect">
            <a:avLst/>
          </a:prstGeom>
        </p:spPr>
        <p:txBody>
          <a:bodyPr wrap="square">
            <a:spAutoFit/>
          </a:bodyPr>
          <a:lstStyle/>
          <a:p>
            <a:r>
              <a:rPr lang="en-US" sz="1500" dirty="0">
                <a:solidFill>
                  <a:srgbClr val="008000"/>
                </a:solidFill>
                <a:highlight>
                  <a:srgbClr val="FFFFFF"/>
                </a:highlight>
                <a:latin typeface="Cascadia Mono" panose="020B0609020000020004" pitchFamily="49" charset="0"/>
              </a:rPr>
              <a:t>// Search for the key X to delete, keep track of </a:t>
            </a:r>
          </a:p>
          <a:p>
            <a:r>
              <a:rPr lang="en-US" sz="1500" dirty="0">
                <a:solidFill>
                  <a:srgbClr val="008000"/>
                </a:solidFill>
                <a:highlight>
                  <a:srgbClr val="FFFFFF"/>
                </a:highlight>
                <a:latin typeface="Cascadia Mono" panose="020B0609020000020004" pitchFamily="49" charset="0"/>
              </a:rPr>
              <a:t>// the previous node as we need to change save-&gt;link </a:t>
            </a:r>
            <a:endParaRPr lang="en-IN" sz="1500" dirty="0"/>
          </a:p>
        </p:txBody>
      </p:sp>
      <p:sp>
        <p:nvSpPr>
          <p:cNvPr id="11" name="Rectangle 10"/>
          <p:cNvSpPr/>
          <p:nvPr/>
        </p:nvSpPr>
        <p:spPr>
          <a:xfrm>
            <a:off x="6000685" y="1465176"/>
            <a:ext cx="5915391" cy="1200329"/>
          </a:xfrm>
          <a:prstGeom prst="rect">
            <a:avLst/>
          </a:prstGeom>
        </p:spPr>
        <p:txBody>
          <a:bodyPr wrap="square">
            <a:spAutoFit/>
          </a:bodyPr>
          <a:lstStyle/>
          <a:p>
            <a:r>
              <a:rPr lang="en-US" dirty="0">
                <a:solidFill>
                  <a:srgbClr val="0000FF"/>
                </a:solidFill>
                <a:highlight>
                  <a:srgbClr val="FFFFFF"/>
                </a:highlight>
                <a:latin typeface="Cascadia Mono" panose="020B0609020000020004" pitchFamily="49" charset="0"/>
              </a:rPr>
              <a:t>while</a:t>
            </a:r>
            <a:r>
              <a:rPr lang="en-US" dirty="0">
                <a:solidFill>
                  <a:srgbClr val="000000"/>
                </a:solidFill>
                <a:highlight>
                  <a:srgbClr val="FFFFFF"/>
                </a:highlight>
                <a:latin typeface="Cascadia Mono" panose="020B0609020000020004" pitchFamily="49" charset="0"/>
              </a:rPr>
              <a:t> (save != null &amp;&amp; save-&gt;info != x) { </a:t>
            </a:r>
          </a:p>
          <a:p>
            <a:r>
              <a:rPr lang="en-IN" dirty="0">
                <a:solidFill>
                  <a:srgbClr val="000000"/>
                </a:solidFill>
                <a:highlight>
                  <a:srgbClr val="FFFFFF"/>
                </a:highlight>
                <a:latin typeface="Cascadia Mono" panose="020B0609020000020004" pitchFamily="49" charset="0"/>
              </a:rPr>
              <a:t>   </a:t>
            </a:r>
            <a:r>
              <a:rPr lang="en-IN" dirty="0" err="1">
                <a:solidFill>
                  <a:srgbClr val="000000"/>
                </a:solidFill>
                <a:highlight>
                  <a:srgbClr val="FFFFFF"/>
                </a:highlight>
                <a:latin typeface="Cascadia Mono" panose="020B0609020000020004" pitchFamily="49" charset="0"/>
              </a:rPr>
              <a:t>prev</a:t>
            </a:r>
            <a:r>
              <a:rPr lang="en-IN" dirty="0">
                <a:solidFill>
                  <a:srgbClr val="000000"/>
                </a:solidFill>
                <a:highlight>
                  <a:srgbClr val="FFFFFF"/>
                </a:highlight>
                <a:latin typeface="Cascadia Mono" panose="020B0609020000020004" pitchFamily="49" charset="0"/>
              </a:rPr>
              <a:t> = save; </a:t>
            </a:r>
          </a:p>
          <a:p>
            <a:r>
              <a:rPr lang="en-IN" dirty="0">
                <a:solidFill>
                  <a:srgbClr val="000000"/>
                </a:solidFill>
                <a:highlight>
                  <a:srgbClr val="FFFFFF"/>
                </a:highlight>
                <a:latin typeface="Cascadia Mono" panose="020B0609020000020004" pitchFamily="49" charset="0"/>
              </a:rPr>
              <a:t>   save = save-&gt;link; </a:t>
            </a:r>
          </a:p>
          <a:p>
            <a:r>
              <a:rPr lang="en-IN" dirty="0">
                <a:solidFill>
                  <a:srgbClr val="000000"/>
                </a:solidFill>
                <a:highlight>
                  <a:srgbClr val="FFFFFF"/>
                </a:highlight>
                <a:latin typeface="Cascadia Mono" panose="020B0609020000020004" pitchFamily="49" charset="0"/>
              </a:rPr>
              <a:t>}</a:t>
            </a:r>
            <a:endParaRPr lang="en-IN" dirty="0"/>
          </a:p>
        </p:txBody>
      </p:sp>
      <p:sp>
        <p:nvSpPr>
          <p:cNvPr id="12" name="Rectangle 11"/>
          <p:cNvSpPr/>
          <p:nvPr/>
        </p:nvSpPr>
        <p:spPr>
          <a:xfrm>
            <a:off x="6000685" y="2793687"/>
            <a:ext cx="6096000" cy="1477328"/>
          </a:xfrm>
          <a:prstGeom prst="rect">
            <a:avLst/>
          </a:prstGeom>
        </p:spPr>
        <p:txBody>
          <a:bodyPr>
            <a:spAutoFit/>
          </a:bodyPr>
          <a:lstStyle/>
          <a:p>
            <a:r>
              <a:rPr lang="en-US" dirty="0">
                <a:solidFill>
                  <a:srgbClr val="008000"/>
                </a:solidFill>
                <a:highlight>
                  <a:srgbClr val="FFFFFF"/>
                </a:highlight>
                <a:latin typeface="Cascadia Mono" panose="020B0609020000020004" pitchFamily="49" charset="0"/>
              </a:rPr>
              <a:t>// If key was not present in linked list </a:t>
            </a:r>
          </a:p>
          <a:p>
            <a:r>
              <a:rPr lang="en-IN" dirty="0">
                <a:solidFill>
                  <a:srgbClr val="0000FF"/>
                </a:solidFill>
                <a:highlight>
                  <a:srgbClr val="FFFFFF"/>
                </a:highlight>
                <a:latin typeface="Cascadia Mono" panose="020B0609020000020004" pitchFamily="49" charset="0"/>
              </a:rPr>
              <a:t>if</a:t>
            </a:r>
            <a:r>
              <a:rPr lang="en-IN" dirty="0">
                <a:solidFill>
                  <a:srgbClr val="000000"/>
                </a:solidFill>
                <a:highlight>
                  <a:srgbClr val="FFFFFF"/>
                </a:highlight>
                <a:latin typeface="Cascadia Mono" panose="020B0609020000020004" pitchFamily="49" charset="0"/>
              </a:rPr>
              <a:t> (save == null) {</a:t>
            </a:r>
          </a:p>
          <a:p>
            <a:r>
              <a:rPr lang="en-IN" dirty="0">
                <a:solidFill>
                  <a:srgbClr val="000000"/>
                </a:solidFill>
                <a:highlight>
                  <a:srgbClr val="FFFFFF"/>
                </a:highlight>
                <a:latin typeface="Cascadia Mono" panose="020B0609020000020004" pitchFamily="49" charset="0"/>
              </a:rPr>
              <a:t>   </a:t>
            </a:r>
            <a:r>
              <a:rPr lang="en-IN" dirty="0" err="1">
                <a:solidFill>
                  <a:srgbClr val="2B91AF"/>
                </a:solidFill>
                <a:highlight>
                  <a:srgbClr val="FFFFFF"/>
                </a:highlight>
                <a:latin typeface="Cascadia Mono" panose="020B0609020000020004" pitchFamily="49" charset="0"/>
              </a:rPr>
              <a:t>printf</a:t>
            </a:r>
            <a:r>
              <a:rPr lang="en-IN" dirty="0">
                <a:solidFill>
                  <a:srgbClr val="000000"/>
                </a:solidFill>
                <a:highlight>
                  <a:srgbClr val="FFFFFF"/>
                </a:highlight>
                <a:latin typeface="Cascadia Mono" panose="020B0609020000020004" pitchFamily="49" charset="0"/>
              </a:rPr>
              <a:t>(</a:t>
            </a:r>
            <a:r>
              <a:rPr lang="en-IN" dirty="0">
                <a:solidFill>
                  <a:srgbClr val="A31515"/>
                </a:solidFill>
                <a:highlight>
                  <a:srgbClr val="FFFFFF"/>
                </a:highlight>
                <a:latin typeface="Cascadia Mono" panose="020B0609020000020004" pitchFamily="49" charset="0"/>
              </a:rPr>
              <a:t>"Node not found"</a:t>
            </a:r>
            <a:r>
              <a:rPr lang="en-IN" dirty="0">
                <a:solidFill>
                  <a:srgbClr val="000000"/>
                </a:solidFill>
                <a:highlight>
                  <a:srgbClr val="FFFFFF"/>
                </a:highlight>
                <a:latin typeface="Cascadia Mono" panose="020B0609020000020004" pitchFamily="49" charset="0"/>
              </a:rPr>
              <a:t>);</a:t>
            </a:r>
          </a:p>
          <a:p>
            <a:r>
              <a:rPr lang="en-IN" dirty="0">
                <a:solidFill>
                  <a:srgbClr val="000000"/>
                </a:solidFill>
                <a:highlight>
                  <a:srgbClr val="FFFFFF"/>
                </a:highlight>
                <a:latin typeface="Cascadia Mono" panose="020B0609020000020004" pitchFamily="49" charset="0"/>
              </a:rPr>
              <a:t>   </a:t>
            </a:r>
            <a:r>
              <a:rPr lang="en-IN" dirty="0">
                <a:solidFill>
                  <a:srgbClr val="0000FF"/>
                </a:solidFill>
                <a:highlight>
                  <a:srgbClr val="FFFFFF"/>
                </a:highlight>
                <a:latin typeface="Cascadia Mono" panose="020B0609020000020004" pitchFamily="49" charset="0"/>
              </a:rPr>
              <a:t>return</a:t>
            </a:r>
            <a:r>
              <a:rPr lang="en-IN" dirty="0">
                <a:solidFill>
                  <a:srgbClr val="000000"/>
                </a:solidFill>
                <a:highlight>
                  <a:srgbClr val="FFFFFF"/>
                </a:highlight>
                <a:latin typeface="Cascadia Mono" panose="020B0609020000020004" pitchFamily="49" charset="0"/>
              </a:rPr>
              <a:t>; </a:t>
            </a:r>
          </a:p>
          <a:p>
            <a:r>
              <a:rPr lang="en-IN" dirty="0">
                <a:solidFill>
                  <a:srgbClr val="000000"/>
                </a:solidFill>
                <a:highlight>
                  <a:srgbClr val="FFFFFF"/>
                </a:highlight>
                <a:latin typeface="Cascadia Mono" panose="020B0609020000020004" pitchFamily="49" charset="0"/>
              </a:rPr>
              <a:t>}</a:t>
            </a:r>
            <a:endParaRPr lang="en-IN" dirty="0"/>
          </a:p>
        </p:txBody>
      </p:sp>
      <p:sp>
        <p:nvSpPr>
          <p:cNvPr id="13" name="Rectangle 12"/>
          <p:cNvSpPr/>
          <p:nvPr/>
        </p:nvSpPr>
        <p:spPr>
          <a:xfrm>
            <a:off x="5817807" y="4387074"/>
            <a:ext cx="5165558" cy="1477328"/>
          </a:xfrm>
          <a:prstGeom prst="rect">
            <a:avLst/>
          </a:prstGeom>
        </p:spPr>
        <p:txBody>
          <a:bodyPr wrap="square">
            <a:spAutoFit/>
          </a:bodyPr>
          <a:lstStyle/>
          <a:p>
            <a:r>
              <a:rPr lang="en-US" dirty="0">
                <a:solidFill>
                  <a:srgbClr val="008000"/>
                </a:solidFill>
                <a:highlight>
                  <a:srgbClr val="FFFFFF"/>
                </a:highlight>
                <a:latin typeface="Cascadia Mono" panose="020B0609020000020004" pitchFamily="49" charset="0"/>
              </a:rPr>
              <a:t>  // Unlink the node from linked list </a:t>
            </a:r>
          </a:p>
          <a:p>
            <a:r>
              <a:rPr lang="en-IN" dirty="0">
                <a:solidFill>
                  <a:srgbClr val="000000"/>
                </a:solidFill>
                <a:highlight>
                  <a:srgbClr val="FFFFFF"/>
                </a:highlight>
                <a:latin typeface="Cascadia Mono" panose="020B0609020000020004" pitchFamily="49" charset="0"/>
              </a:rPr>
              <a:t>   </a:t>
            </a:r>
            <a:r>
              <a:rPr lang="en-IN" dirty="0" err="1">
                <a:solidFill>
                  <a:srgbClr val="000000"/>
                </a:solidFill>
                <a:highlight>
                  <a:srgbClr val="FFFFFF"/>
                </a:highlight>
                <a:latin typeface="Cascadia Mono" panose="020B0609020000020004" pitchFamily="49" charset="0"/>
              </a:rPr>
              <a:t>prev</a:t>
            </a:r>
            <a:r>
              <a:rPr lang="en-IN" dirty="0">
                <a:solidFill>
                  <a:srgbClr val="000000"/>
                </a:solidFill>
                <a:highlight>
                  <a:srgbClr val="FFFFFF"/>
                </a:highlight>
                <a:latin typeface="Cascadia Mono" panose="020B0609020000020004" pitchFamily="49" charset="0"/>
              </a:rPr>
              <a:t>-&gt;link = save-&gt;link</a:t>
            </a:r>
          </a:p>
          <a:p>
            <a:r>
              <a:rPr lang="en-IN" dirty="0">
                <a:solidFill>
                  <a:srgbClr val="000000"/>
                </a:solidFill>
                <a:highlight>
                  <a:srgbClr val="FFFFFF"/>
                </a:highlight>
                <a:latin typeface="Cascadia Mono" panose="020B0609020000020004" pitchFamily="49" charset="0"/>
              </a:rPr>
              <a:t>   </a:t>
            </a:r>
            <a:r>
              <a:rPr lang="en-IN" dirty="0">
                <a:solidFill>
                  <a:srgbClr val="2B91AF"/>
                </a:solidFill>
                <a:highlight>
                  <a:srgbClr val="FFFFFF"/>
                </a:highlight>
                <a:latin typeface="Cascadia Mono" panose="020B0609020000020004" pitchFamily="49" charset="0"/>
              </a:rPr>
              <a:t>free</a:t>
            </a:r>
            <a:r>
              <a:rPr lang="en-IN" dirty="0">
                <a:solidFill>
                  <a:srgbClr val="000000"/>
                </a:solidFill>
                <a:highlight>
                  <a:srgbClr val="FFFFFF"/>
                </a:highlight>
                <a:latin typeface="Cascadia Mono" panose="020B0609020000020004" pitchFamily="49" charset="0"/>
              </a:rPr>
              <a:t>(save);</a:t>
            </a:r>
          </a:p>
          <a:p>
            <a:r>
              <a:rPr lang="en-IN" dirty="0">
                <a:solidFill>
                  <a:srgbClr val="000000"/>
                </a:solidFill>
                <a:highlight>
                  <a:srgbClr val="FFFFFF"/>
                </a:highlight>
                <a:latin typeface="Cascadia Mono" panose="020B0609020000020004" pitchFamily="49" charset="0"/>
              </a:rPr>
              <a:t>   </a:t>
            </a:r>
            <a:r>
              <a:rPr lang="en-IN" dirty="0">
                <a:solidFill>
                  <a:srgbClr val="0000FF"/>
                </a:solidFill>
                <a:highlight>
                  <a:srgbClr val="FFFFFF"/>
                </a:highlight>
                <a:latin typeface="Cascadia Mono" panose="020B0609020000020004" pitchFamily="49" charset="0"/>
              </a:rPr>
              <a:t>return</a:t>
            </a:r>
            <a:r>
              <a:rPr lang="en-IN" dirty="0">
                <a:solidFill>
                  <a:srgbClr val="000000"/>
                </a:solidFill>
                <a:highlight>
                  <a:srgbClr val="FFFFFF"/>
                </a:highlight>
                <a:latin typeface="Cascadia Mono" panose="020B0609020000020004" pitchFamily="49" charset="0"/>
              </a:rPr>
              <a:t>; </a:t>
            </a:r>
          </a:p>
          <a:p>
            <a:r>
              <a:rPr lang="en-IN" dirty="0">
                <a:solidFill>
                  <a:srgbClr val="000000"/>
                </a:solidFill>
                <a:highlight>
                  <a:srgbClr val="FFFFFF"/>
                </a:highlight>
                <a:latin typeface="Cascadia Mono" panose="020B0609020000020004" pitchFamily="49" charset="0"/>
              </a:rPr>
              <a:t>}</a:t>
            </a:r>
            <a:endParaRPr lang="en-IN" dirty="0"/>
          </a:p>
        </p:txBody>
      </p:sp>
      <p:cxnSp>
        <p:nvCxnSpPr>
          <p:cNvPr id="14" name="Straight Connector 13"/>
          <p:cNvCxnSpPr/>
          <p:nvPr/>
        </p:nvCxnSpPr>
        <p:spPr>
          <a:xfrm>
            <a:off x="5828851" y="794652"/>
            <a:ext cx="0" cy="568853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6638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1" grpId="0"/>
      <p:bldP spid="12" grpId="0"/>
      <p:bldP spid="1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COUNT_NODES(FIRST)</a:t>
            </a:r>
          </a:p>
        </p:txBody>
      </p:sp>
      <p:sp>
        <p:nvSpPr>
          <p:cNvPr id="3" name="Content Placeholder 2"/>
          <p:cNvSpPr>
            <a:spLocks noGrp="1"/>
          </p:cNvSpPr>
          <p:nvPr>
            <p:ph idx="1"/>
          </p:nvPr>
        </p:nvSpPr>
        <p:spPr>
          <a:xfrm>
            <a:off x="131180" y="876145"/>
            <a:ext cx="11929641" cy="1928016"/>
          </a:xfrm>
        </p:spPr>
        <p:txBody>
          <a:bodyPr/>
          <a:lstStyle/>
          <a:p>
            <a:r>
              <a:rPr lang="en-IN" dirty="0"/>
              <a:t>This function </a:t>
            </a:r>
            <a:r>
              <a:rPr lang="en-IN" b="1" dirty="0">
                <a:solidFill>
                  <a:srgbClr val="C00000"/>
                </a:solidFill>
              </a:rPr>
              <a:t>counts</a:t>
            </a:r>
            <a:r>
              <a:rPr lang="en-IN" dirty="0">
                <a:solidFill>
                  <a:srgbClr val="C00000"/>
                </a:solidFill>
              </a:rPr>
              <a:t> </a:t>
            </a:r>
            <a:r>
              <a:rPr lang="en-IN" dirty="0"/>
              <a:t>number of nodes</a:t>
            </a:r>
            <a:r>
              <a:rPr lang="en-IN" b="1" dirty="0">
                <a:solidFill>
                  <a:srgbClr val="FF0000"/>
                </a:solidFill>
              </a:rPr>
              <a:t> </a:t>
            </a:r>
            <a:r>
              <a:rPr lang="en-IN" dirty="0"/>
              <a:t>of the linked list and returns </a:t>
            </a:r>
            <a:r>
              <a:rPr lang="en-IN" b="1" dirty="0">
                <a:solidFill>
                  <a:srgbClr val="C00000"/>
                </a:solidFill>
              </a:rPr>
              <a:t>COUNT</a:t>
            </a:r>
            <a:r>
              <a:rPr lang="en-IN" dirty="0"/>
              <a:t>. </a:t>
            </a:r>
          </a:p>
          <a:p>
            <a:r>
              <a:rPr lang="en-IN" b="1" dirty="0">
                <a:solidFill>
                  <a:srgbClr val="C00000"/>
                </a:solidFill>
              </a:rPr>
              <a:t>FIRST</a:t>
            </a:r>
            <a:r>
              <a:rPr lang="en-IN" dirty="0">
                <a:solidFill>
                  <a:srgbClr val="C00000"/>
                </a:solidFill>
              </a:rPr>
              <a:t> </a:t>
            </a:r>
            <a:r>
              <a:rPr lang="en-IN" dirty="0"/>
              <a:t>is a </a:t>
            </a:r>
            <a:r>
              <a:rPr lang="en-IN" b="1" dirty="0"/>
              <a:t>pointer to the first element</a:t>
            </a:r>
            <a:r>
              <a:rPr lang="en-IN" dirty="0"/>
              <a:t> of a Singly linked linear list. </a:t>
            </a:r>
          </a:p>
          <a:p>
            <a:r>
              <a:rPr lang="en-IN" dirty="0"/>
              <a:t>Typical node contains </a:t>
            </a:r>
            <a:r>
              <a:rPr lang="en-IN" b="1" dirty="0">
                <a:solidFill>
                  <a:srgbClr val="C00000"/>
                </a:solidFill>
              </a:rPr>
              <a:t>INFO</a:t>
            </a:r>
            <a:r>
              <a:rPr lang="en-IN" dirty="0">
                <a:solidFill>
                  <a:srgbClr val="C00000"/>
                </a:solidFill>
              </a:rPr>
              <a:t> </a:t>
            </a:r>
            <a:r>
              <a:rPr lang="en-IN" dirty="0"/>
              <a:t>and </a:t>
            </a:r>
            <a:r>
              <a:rPr lang="en-IN" b="1" dirty="0">
                <a:solidFill>
                  <a:srgbClr val="C00000"/>
                </a:solidFill>
              </a:rPr>
              <a:t>LINK</a:t>
            </a:r>
            <a:r>
              <a:rPr lang="en-IN" dirty="0">
                <a:solidFill>
                  <a:srgbClr val="C00000"/>
                </a:solidFill>
              </a:rPr>
              <a:t> </a:t>
            </a:r>
            <a:r>
              <a:rPr lang="en-IN" dirty="0"/>
              <a:t>fields. </a:t>
            </a:r>
          </a:p>
          <a:p>
            <a:r>
              <a:rPr lang="en-IN" b="1" dirty="0">
                <a:solidFill>
                  <a:srgbClr val="C00000"/>
                </a:solidFill>
              </a:rPr>
              <a:t>SAVE </a:t>
            </a:r>
            <a:r>
              <a:rPr lang="en-IN" dirty="0"/>
              <a:t>is a Temporary pointer variable.</a:t>
            </a:r>
          </a:p>
        </p:txBody>
      </p:sp>
      <p:sp>
        <p:nvSpPr>
          <p:cNvPr id="4" name="TextBox 3"/>
          <p:cNvSpPr txBox="1"/>
          <p:nvPr/>
        </p:nvSpPr>
        <p:spPr>
          <a:xfrm>
            <a:off x="407895" y="3199053"/>
            <a:ext cx="5760000" cy="2462213"/>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200" b="1" dirty="0">
                <a:solidFill>
                  <a:schemeClr val="tx2"/>
                </a:solidFill>
                <a:latin typeface="Consolas" pitchFamily="49" charset="0"/>
                <a:cs typeface="Consolas" pitchFamily="49" charset="0"/>
              </a:rPr>
              <a:t>1. [Is list Empty?]</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IF</a:t>
            </a:r>
            <a:r>
              <a:rPr lang="en-IN" sz="2200" dirty="0">
                <a:latin typeface="Consolas" pitchFamily="49" charset="0"/>
                <a:cs typeface="Consolas" pitchFamily="49" charset="0"/>
              </a:rPr>
              <a:t>    FIRST = NULL</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Then</a:t>
            </a:r>
            <a:r>
              <a:rPr lang="en-IN" sz="2200" dirty="0">
                <a:latin typeface="Consolas" pitchFamily="49" charset="0"/>
                <a:cs typeface="Consolas" pitchFamily="49" charset="0"/>
              </a:rPr>
              <a:t>  COUNT </a:t>
            </a:r>
            <a:r>
              <a:rPr lang="en-IN" sz="2200" dirty="0">
                <a:latin typeface="Consolas" pitchFamily="49" charset="0"/>
                <a:cs typeface="Consolas" pitchFamily="49" charset="0"/>
                <a:sym typeface="Wingdings" panose="05000000000000000000" pitchFamily="2" charset="2"/>
              </a:rPr>
              <a:t> 0</a:t>
            </a:r>
            <a:endParaRPr lang="en-IN" sz="2200" dirty="0">
              <a:latin typeface="Consolas" pitchFamily="49" charset="0"/>
              <a:cs typeface="Consolas" pitchFamily="49" charset="0"/>
            </a:endParaRPr>
          </a:p>
          <a:p>
            <a:r>
              <a:rPr lang="en-IN" sz="2200" dirty="0">
                <a:latin typeface="Consolas" pitchFamily="49" charset="0"/>
                <a:cs typeface="Consolas" pitchFamily="49" charset="0"/>
              </a:rPr>
              <a:t>         </a:t>
            </a:r>
            <a:r>
              <a:rPr lang="en-IN" sz="2200" dirty="0" smtClean="0">
                <a:latin typeface="Consolas" pitchFamily="49" charset="0"/>
                <a:cs typeface="Consolas" pitchFamily="49" charset="0"/>
              </a:rPr>
              <a:t> Return(COUNT</a:t>
            </a:r>
            <a:r>
              <a:rPr lang="en-IN" sz="2200" dirty="0">
                <a:latin typeface="Consolas" pitchFamily="49" charset="0"/>
                <a:cs typeface="Consolas" pitchFamily="49" charset="0"/>
              </a:rPr>
              <a:t>)</a:t>
            </a:r>
            <a:endParaRPr lang="en-IN" sz="2200" b="1" dirty="0">
              <a:solidFill>
                <a:schemeClr val="tx2">
                  <a:lumMod val="60000"/>
                  <a:lumOff val="40000"/>
                </a:schemeClr>
              </a:solidFill>
              <a:latin typeface="Consolas" pitchFamily="49" charset="0"/>
              <a:cs typeface="Consolas" pitchFamily="49" charset="0"/>
            </a:endParaRPr>
          </a:p>
          <a:p>
            <a:pPr marL="444500" indent="-444500"/>
            <a:r>
              <a:rPr lang="en-IN" sz="2200" b="1" dirty="0">
                <a:solidFill>
                  <a:schemeClr val="tx2"/>
                </a:solidFill>
                <a:latin typeface="Consolas" pitchFamily="49" charset="0"/>
                <a:cs typeface="Consolas" pitchFamily="49" charset="0"/>
              </a:rPr>
              <a:t>2. [Initialize loop for a last node to update count]</a:t>
            </a:r>
          </a:p>
          <a:p>
            <a:r>
              <a:rPr lang="en-IN" sz="2200" dirty="0">
                <a:latin typeface="Consolas" pitchFamily="49" charset="0"/>
                <a:cs typeface="Consolas" pitchFamily="49" charset="0"/>
              </a:rPr>
              <a:t>    SAVE</a:t>
            </a:r>
            <a:r>
              <a:rPr lang="en-IN" sz="2200" dirty="0">
                <a:latin typeface="Consolas" pitchFamily="49" charset="0"/>
                <a:cs typeface="Consolas" pitchFamily="49" charset="0"/>
                <a:sym typeface="Wingdings" pitchFamily="2" charset="2"/>
              </a:rPr>
              <a:t> </a:t>
            </a:r>
            <a:r>
              <a:rPr lang="en-IN" sz="2200" dirty="0">
                <a:latin typeface="Consolas" pitchFamily="49" charset="0"/>
                <a:cs typeface="Consolas" pitchFamily="49" charset="0"/>
              </a:rPr>
              <a:t>FIRST</a:t>
            </a:r>
          </a:p>
        </p:txBody>
      </p:sp>
      <p:sp>
        <p:nvSpPr>
          <p:cNvPr id="5" name="Rectangle 4"/>
          <p:cNvSpPr/>
          <p:nvPr/>
        </p:nvSpPr>
        <p:spPr>
          <a:xfrm>
            <a:off x="6241081" y="3199053"/>
            <a:ext cx="5760000" cy="2123658"/>
          </a:xfrm>
          <a:prstGeom prst="rect">
            <a:avLst/>
          </a:prstGeom>
          <a:solidFill>
            <a:schemeClr val="bg1">
              <a:lumMod val="95000"/>
            </a:schemeClr>
          </a:solidFill>
        </p:spPr>
        <p:txBody>
          <a:bodyPr>
            <a:spAutoFit/>
          </a:bodyPr>
          <a:lstStyle/>
          <a:p>
            <a:r>
              <a:rPr lang="en-IN" sz="2200" b="1" dirty="0">
                <a:solidFill>
                  <a:schemeClr val="tx2"/>
                </a:solidFill>
                <a:latin typeface="Consolas" pitchFamily="49" charset="0"/>
                <a:cs typeface="Consolas" pitchFamily="49" charset="0"/>
              </a:rPr>
              <a:t>3. [Go for end of list]</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Repeat</a:t>
            </a:r>
            <a:r>
              <a:rPr lang="en-IN" sz="2200" dirty="0">
                <a:solidFill>
                  <a:schemeClr val="tx2">
                    <a:lumMod val="75000"/>
                  </a:schemeClr>
                </a:solidFill>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while</a:t>
            </a:r>
            <a:r>
              <a:rPr lang="en-IN" sz="2200" dirty="0">
                <a:latin typeface="Consolas" pitchFamily="49" charset="0"/>
                <a:cs typeface="Consolas" pitchFamily="49" charset="0"/>
              </a:rPr>
              <a:t> LINK (SAVE) ≠ NULL</a:t>
            </a:r>
          </a:p>
          <a:p>
            <a:r>
              <a:rPr lang="en-IN" sz="2200" dirty="0">
                <a:latin typeface="Consolas" pitchFamily="49" charset="0"/>
                <a:cs typeface="Consolas" pitchFamily="49" charset="0"/>
              </a:rPr>
              <a:t> 	SAVE </a:t>
            </a:r>
            <a:r>
              <a:rPr lang="en-IN" sz="2200" dirty="0">
                <a:latin typeface="Consolas" pitchFamily="49" charset="0"/>
                <a:cs typeface="Consolas" pitchFamily="49" charset="0"/>
                <a:sym typeface="Wingdings" pitchFamily="2" charset="2"/>
              </a:rPr>
              <a:t></a:t>
            </a:r>
            <a:r>
              <a:rPr lang="en-IN" sz="2200" dirty="0">
                <a:latin typeface="Consolas" pitchFamily="49" charset="0"/>
                <a:cs typeface="Consolas" pitchFamily="49" charset="0"/>
              </a:rPr>
              <a:t> LINK (SAVE)</a:t>
            </a:r>
          </a:p>
          <a:p>
            <a:r>
              <a:rPr lang="en-IN" sz="2200" dirty="0">
                <a:latin typeface="Consolas" pitchFamily="49" charset="0"/>
                <a:cs typeface="Consolas" pitchFamily="49" charset="0"/>
              </a:rPr>
              <a:t>	COUNT </a:t>
            </a:r>
            <a:r>
              <a:rPr lang="en-IN" sz="2200" dirty="0">
                <a:latin typeface="Consolas" pitchFamily="49" charset="0"/>
                <a:cs typeface="Consolas" pitchFamily="49" charset="0"/>
                <a:sym typeface="Wingdings" panose="05000000000000000000" pitchFamily="2" charset="2"/>
              </a:rPr>
              <a:t> COUNT + 1</a:t>
            </a:r>
            <a:endParaRPr lang="en-IN" sz="2200" dirty="0">
              <a:latin typeface="Consolas" pitchFamily="49" charset="0"/>
              <a:cs typeface="Consolas" pitchFamily="49" charset="0"/>
            </a:endParaRPr>
          </a:p>
          <a:p>
            <a:r>
              <a:rPr lang="en-IN" sz="2200" b="1" dirty="0">
                <a:solidFill>
                  <a:schemeClr val="tx2"/>
                </a:solidFill>
                <a:latin typeface="Consolas" pitchFamily="49" charset="0"/>
                <a:cs typeface="Consolas" pitchFamily="49" charset="0"/>
              </a:rPr>
              <a:t>4. [Return Count]</a:t>
            </a:r>
          </a:p>
          <a:p>
            <a:r>
              <a:rPr lang="en-IN" sz="2200" dirty="0">
                <a:latin typeface="Consolas" pitchFamily="49" charset="0"/>
                <a:cs typeface="Consolas" pitchFamily="49" charset="0"/>
              </a:rPr>
              <a:t>    Return (COUNT)</a:t>
            </a:r>
          </a:p>
        </p:txBody>
      </p:sp>
    </p:spTree>
    <p:extLst>
      <p:ext uri="{BB962C8B-B14F-4D97-AF65-F5344CB8AC3E}">
        <p14:creationId xmlns:p14="http://schemas.microsoft.com/office/powerpoint/2010/main" val="3084084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1" end="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bg/>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 end="1"/>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
                                            <p:txEl>
                                              <p:pRg st="2" end="2"/>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4" end="4"/>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build="allAtOnce"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COPY (FIRST)</a:t>
            </a:r>
          </a:p>
        </p:txBody>
      </p:sp>
      <p:sp>
        <p:nvSpPr>
          <p:cNvPr id="3" name="Content Placeholder 2"/>
          <p:cNvSpPr>
            <a:spLocks noGrp="1"/>
          </p:cNvSpPr>
          <p:nvPr>
            <p:ph idx="1"/>
          </p:nvPr>
        </p:nvSpPr>
        <p:spPr/>
        <p:txBody>
          <a:bodyPr/>
          <a:lstStyle/>
          <a:p>
            <a:r>
              <a:rPr lang="en-IN" dirty="0"/>
              <a:t>This function </a:t>
            </a:r>
            <a:r>
              <a:rPr lang="en-IN" b="1" dirty="0">
                <a:solidFill>
                  <a:srgbClr val="C00000"/>
                </a:solidFill>
              </a:rPr>
              <a:t>Copy</a:t>
            </a:r>
            <a:r>
              <a:rPr lang="en-IN" dirty="0">
                <a:solidFill>
                  <a:srgbClr val="C00000"/>
                </a:solidFill>
              </a:rPr>
              <a:t> </a:t>
            </a:r>
            <a:r>
              <a:rPr lang="en-IN" dirty="0"/>
              <a:t>a Link List and creates new Linked List</a:t>
            </a:r>
          </a:p>
          <a:p>
            <a:r>
              <a:rPr lang="en-IN" dirty="0"/>
              <a:t>This function returns address of first node of newly created linked list. </a:t>
            </a:r>
          </a:p>
          <a:p>
            <a:r>
              <a:rPr lang="en-IN" dirty="0"/>
              <a:t>The </a:t>
            </a:r>
            <a:r>
              <a:rPr lang="en-IN" b="1" dirty="0"/>
              <a:t>new list </a:t>
            </a:r>
            <a:r>
              <a:rPr lang="en-IN" dirty="0"/>
              <a:t>is to contain </a:t>
            </a:r>
            <a:r>
              <a:rPr lang="en-IN" b="1" dirty="0"/>
              <a:t>nodes</a:t>
            </a:r>
            <a:r>
              <a:rPr lang="en-IN" dirty="0"/>
              <a:t> whose </a:t>
            </a:r>
            <a:r>
              <a:rPr lang="en-IN" b="1" dirty="0">
                <a:solidFill>
                  <a:srgbClr val="C00000"/>
                </a:solidFill>
              </a:rPr>
              <a:t>information</a:t>
            </a:r>
            <a:r>
              <a:rPr lang="en-IN" dirty="0">
                <a:solidFill>
                  <a:srgbClr val="C00000"/>
                </a:solidFill>
              </a:rPr>
              <a:t> </a:t>
            </a:r>
            <a:r>
              <a:rPr lang="en-IN" dirty="0"/>
              <a:t>and </a:t>
            </a:r>
            <a:r>
              <a:rPr lang="en-IN" b="1" dirty="0">
                <a:solidFill>
                  <a:srgbClr val="C00000"/>
                </a:solidFill>
              </a:rPr>
              <a:t>pointer</a:t>
            </a:r>
            <a:r>
              <a:rPr lang="en-IN" dirty="0">
                <a:solidFill>
                  <a:srgbClr val="C00000"/>
                </a:solidFill>
              </a:rPr>
              <a:t> </a:t>
            </a:r>
            <a:r>
              <a:rPr lang="en-IN" dirty="0"/>
              <a:t>fields are denoted by </a:t>
            </a:r>
            <a:r>
              <a:rPr lang="en-IN" b="1" dirty="0">
                <a:solidFill>
                  <a:srgbClr val="C00000"/>
                </a:solidFill>
              </a:rPr>
              <a:t>FIELD</a:t>
            </a:r>
            <a:r>
              <a:rPr lang="en-IN" dirty="0">
                <a:solidFill>
                  <a:srgbClr val="C00000"/>
                </a:solidFill>
              </a:rPr>
              <a:t> </a:t>
            </a:r>
            <a:r>
              <a:rPr lang="en-IN" dirty="0"/>
              <a:t>and </a:t>
            </a:r>
            <a:r>
              <a:rPr lang="en-IN" b="1" dirty="0">
                <a:solidFill>
                  <a:srgbClr val="C00000"/>
                </a:solidFill>
              </a:rPr>
              <a:t>PTR</a:t>
            </a:r>
            <a:r>
              <a:rPr lang="en-IN" dirty="0"/>
              <a:t>, respectively. </a:t>
            </a:r>
          </a:p>
          <a:p>
            <a:r>
              <a:rPr lang="en-IN" dirty="0"/>
              <a:t>The address of the </a:t>
            </a:r>
            <a:r>
              <a:rPr lang="en-IN" b="1" dirty="0">
                <a:solidFill>
                  <a:srgbClr val="C00000"/>
                </a:solidFill>
              </a:rPr>
              <a:t>first</a:t>
            </a:r>
            <a:r>
              <a:rPr lang="en-IN" b="1" dirty="0">
                <a:solidFill>
                  <a:srgbClr val="FF0000"/>
                </a:solidFill>
              </a:rPr>
              <a:t> </a:t>
            </a:r>
            <a:r>
              <a:rPr lang="en-IN" b="1" dirty="0">
                <a:solidFill>
                  <a:srgbClr val="C00000"/>
                </a:solidFill>
              </a:rPr>
              <a:t>node</a:t>
            </a:r>
            <a:r>
              <a:rPr lang="en-IN" b="1" dirty="0">
                <a:solidFill>
                  <a:srgbClr val="FF0000"/>
                </a:solidFill>
              </a:rPr>
              <a:t> </a:t>
            </a:r>
            <a:r>
              <a:rPr lang="en-IN" dirty="0"/>
              <a:t>in the newly created list is to be placed in </a:t>
            </a:r>
            <a:r>
              <a:rPr lang="en-IN" b="1" dirty="0">
                <a:solidFill>
                  <a:srgbClr val="C00000"/>
                </a:solidFill>
              </a:rPr>
              <a:t>BEGIN</a:t>
            </a:r>
            <a:endParaRPr lang="en-US" b="1" dirty="0">
              <a:solidFill>
                <a:srgbClr val="C00000"/>
              </a:solidFill>
            </a:endParaRPr>
          </a:p>
          <a:p>
            <a:r>
              <a:rPr lang="en-IN" b="1" dirty="0">
                <a:solidFill>
                  <a:srgbClr val="C00000"/>
                </a:solidFill>
              </a:rPr>
              <a:t>FIRST</a:t>
            </a:r>
            <a:r>
              <a:rPr lang="en-IN" dirty="0">
                <a:solidFill>
                  <a:srgbClr val="C00000"/>
                </a:solidFill>
              </a:rPr>
              <a:t> </a:t>
            </a:r>
            <a:r>
              <a:rPr lang="en-IN" dirty="0"/>
              <a:t>is a </a:t>
            </a:r>
            <a:r>
              <a:rPr lang="en-IN" b="1" dirty="0"/>
              <a:t>pointer to the first element</a:t>
            </a:r>
            <a:r>
              <a:rPr lang="en-IN" dirty="0"/>
              <a:t> of a Singly linked linear list. </a:t>
            </a:r>
          </a:p>
          <a:p>
            <a:r>
              <a:rPr lang="en-IN" dirty="0"/>
              <a:t>Typical node contains </a:t>
            </a:r>
            <a:r>
              <a:rPr lang="en-IN" b="1" dirty="0">
                <a:solidFill>
                  <a:srgbClr val="C00000"/>
                </a:solidFill>
              </a:rPr>
              <a:t>INFO</a:t>
            </a:r>
            <a:r>
              <a:rPr lang="en-IN" dirty="0">
                <a:solidFill>
                  <a:srgbClr val="C00000"/>
                </a:solidFill>
              </a:rPr>
              <a:t> </a:t>
            </a:r>
            <a:r>
              <a:rPr lang="en-IN" dirty="0"/>
              <a:t>and </a:t>
            </a:r>
            <a:r>
              <a:rPr lang="en-IN" b="1" dirty="0">
                <a:solidFill>
                  <a:srgbClr val="C00000"/>
                </a:solidFill>
              </a:rPr>
              <a:t>LINK</a:t>
            </a:r>
            <a:r>
              <a:rPr lang="en-IN" dirty="0">
                <a:solidFill>
                  <a:srgbClr val="C00000"/>
                </a:solidFill>
              </a:rPr>
              <a:t> </a:t>
            </a:r>
            <a:r>
              <a:rPr lang="en-IN" dirty="0"/>
              <a:t>fields. </a:t>
            </a:r>
          </a:p>
          <a:p>
            <a:r>
              <a:rPr lang="en-IN" b="1" dirty="0">
                <a:solidFill>
                  <a:srgbClr val="C00000"/>
                </a:solidFill>
              </a:rPr>
              <a:t>NEW, SAVE</a:t>
            </a:r>
            <a:r>
              <a:rPr lang="en-IN" b="1" dirty="0">
                <a:solidFill>
                  <a:srgbClr val="FF0000"/>
                </a:solidFill>
              </a:rPr>
              <a:t> </a:t>
            </a:r>
            <a:r>
              <a:rPr lang="en-IN" b="1" dirty="0"/>
              <a:t>and</a:t>
            </a:r>
            <a:r>
              <a:rPr lang="en-IN" b="1" dirty="0">
                <a:solidFill>
                  <a:srgbClr val="FF0000"/>
                </a:solidFill>
              </a:rPr>
              <a:t> </a:t>
            </a:r>
            <a:r>
              <a:rPr lang="en-IN" b="1" dirty="0">
                <a:solidFill>
                  <a:srgbClr val="C00000"/>
                </a:solidFill>
              </a:rPr>
              <a:t>PRED</a:t>
            </a:r>
            <a:r>
              <a:rPr lang="en-IN" dirty="0">
                <a:solidFill>
                  <a:srgbClr val="C00000"/>
                </a:solidFill>
              </a:rPr>
              <a:t> </a:t>
            </a:r>
            <a:r>
              <a:rPr lang="en-IN" dirty="0"/>
              <a:t>are temporary pointer variables. </a:t>
            </a:r>
          </a:p>
        </p:txBody>
      </p:sp>
    </p:spTree>
    <p:extLst>
      <p:ext uri="{BB962C8B-B14F-4D97-AF65-F5344CB8AC3E}">
        <p14:creationId xmlns:p14="http://schemas.microsoft.com/office/powerpoint/2010/main" val="2668480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COPY (FIRST)</a:t>
            </a:r>
          </a:p>
        </p:txBody>
      </p:sp>
      <p:sp>
        <p:nvSpPr>
          <p:cNvPr id="4" name="TextBox 3"/>
          <p:cNvSpPr txBox="1"/>
          <p:nvPr/>
        </p:nvSpPr>
        <p:spPr>
          <a:xfrm>
            <a:off x="233082" y="909918"/>
            <a:ext cx="5760000" cy="4093428"/>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1. [Is Empty list?]</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IF</a:t>
            </a:r>
            <a:r>
              <a:rPr lang="en-IN" sz="2000" dirty="0">
                <a:latin typeface="Consolas" pitchFamily="49" charset="0"/>
                <a:cs typeface="Consolas" pitchFamily="49" charset="0"/>
              </a:rPr>
              <a:t>    FIRST = NULL</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THEN</a:t>
            </a:r>
            <a:r>
              <a:rPr lang="en-IN" sz="2000" dirty="0">
                <a:latin typeface="Consolas" pitchFamily="49" charset="0"/>
                <a:cs typeface="Consolas" pitchFamily="49" charset="0"/>
              </a:rPr>
              <a:t>  Return(NULL)</a:t>
            </a:r>
          </a:p>
          <a:p>
            <a:r>
              <a:rPr lang="en-IN" sz="2000" b="1" dirty="0">
                <a:solidFill>
                  <a:schemeClr val="tx2"/>
                </a:solidFill>
                <a:latin typeface="Consolas" pitchFamily="49" charset="0"/>
                <a:cs typeface="Consolas" pitchFamily="49" charset="0"/>
              </a:rPr>
              <a:t>2. [Copy first node</a:t>
            </a:r>
            <a:r>
              <a:rPr lang="en-IN" sz="2000" b="1" dirty="0" smtClean="0">
                <a:solidFill>
                  <a:schemeClr val="tx2"/>
                </a:solidFill>
                <a:latin typeface="Consolas" pitchFamily="49" charset="0"/>
                <a:cs typeface="Consolas" pitchFamily="49" charset="0"/>
              </a:rPr>
              <a:t>]</a:t>
            </a:r>
          </a:p>
          <a:p>
            <a:r>
              <a:rPr lang="en-US" sz="2000" b="1" dirty="0">
                <a:solidFill>
                  <a:schemeClr val="tx2"/>
                </a:solidFill>
                <a:latin typeface="Consolas" pitchFamily="49" charset="0"/>
                <a:cs typeface="Consolas" pitchFamily="49" charset="0"/>
              </a:rPr>
              <a:t> </a:t>
            </a:r>
            <a:r>
              <a:rPr lang="en-US" sz="2000" b="1" dirty="0" smtClean="0">
                <a:solidFill>
                  <a:schemeClr val="tx2"/>
                </a:solidFill>
                <a:latin typeface="Consolas" pitchFamily="49" charset="0"/>
                <a:cs typeface="Consolas" pitchFamily="49" charset="0"/>
              </a:rPr>
              <a:t>   </a:t>
            </a:r>
            <a:r>
              <a:rPr lang="en-IN" sz="2000" dirty="0" smtClean="0">
                <a:latin typeface="Consolas" pitchFamily="49" charset="0"/>
                <a:cs typeface="Consolas" pitchFamily="49" charset="0"/>
              </a:rPr>
              <a:t>NEW </a:t>
            </a:r>
            <a:r>
              <a:rPr lang="en-IN" sz="2000" b="1" dirty="0" smtClean="0">
                <a:solidFill>
                  <a:schemeClr val="accent6"/>
                </a:solidFill>
                <a:latin typeface="Consolas" pitchFamily="49" charset="0"/>
                <a:cs typeface="Consolas" pitchFamily="49" charset="0"/>
              </a:rPr>
              <a:t>&lt;=</a:t>
            </a:r>
            <a:r>
              <a:rPr lang="en-IN" sz="2000" dirty="0" smtClean="0">
                <a:latin typeface="Consolas" pitchFamily="49" charset="0"/>
                <a:cs typeface="Consolas" pitchFamily="49" charset="0"/>
              </a:rPr>
              <a:t> NODE</a:t>
            </a:r>
          </a:p>
          <a:p>
            <a:r>
              <a:rPr lang="en-IN" sz="2000" dirty="0" smtClean="0">
                <a:latin typeface="Consolas" pitchFamily="49" charset="0"/>
                <a:cs typeface="Consolas" pitchFamily="49" charset="0"/>
              </a:rPr>
              <a:t>    FIELD(NEW</a:t>
            </a:r>
            <a:r>
              <a:rPr lang="en-IN" sz="2000" dirty="0">
                <a:latin typeface="Consolas" pitchFamily="49" charset="0"/>
                <a:cs typeface="Consolas" pitchFamily="49" charset="0"/>
              </a:rPr>
              <a:t>)</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INFO(FIRST</a:t>
            </a:r>
            <a:r>
              <a:rPr lang="en-IN" sz="2000" dirty="0" smtClean="0">
                <a:latin typeface="Consolas" pitchFamily="49" charset="0"/>
                <a:cs typeface="Consolas" pitchFamily="49" charset="0"/>
              </a:rPr>
              <a:t>)</a:t>
            </a:r>
          </a:p>
          <a:p>
            <a:r>
              <a:rPr lang="en-IN" sz="2000" dirty="0" smtClean="0">
                <a:latin typeface="Consolas" pitchFamily="49" charset="0"/>
                <a:cs typeface="Consolas" pitchFamily="49" charset="0"/>
              </a:rPr>
              <a:t>    BEGIN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NEW</a:t>
            </a:r>
            <a:endParaRPr lang="en-IN" sz="2000" b="1" dirty="0">
              <a:solidFill>
                <a:schemeClr val="tx2"/>
              </a:solidFill>
              <a:latin typeface="Consolas" pitchFamily="49" charset="0"/>
              <a:cs typeface="Consolas" pitchFamily="49" charset="0"/>
            </a:endParaRPr>
          </a:p>
          <a:p>
            <a:r>
              <a:rPr lang="en-IN" sz="2000" b="1" dirty="0" smtClean="0">
                <a:solidFill>
                  <a:schemeClr val="tx2"/>
                </a:solidFill>
                <a:latin typeface="Consolas" pitchFamily="49" charset="0"/>
                <a:cs typeface="Consolas" pitchFamily="49" charset="0"/>
              </a:rPr>
              <a:t>3</a:t>
            </a:r>
            <a:r>
              <a:rPr lang="en-IN" sz="2000" b="1" dirty="0">
                <a:solidFill>
                  <a:schemeClr val="tx2"/>
                </a:solidFill>
                <a:latin typeface="Consolas" pitchFamily="49" charset="0"/>
                <a:cs typeface="Consolas" pitchFamily="49" charset="0"/>
              </a:rPr>
              <a:t>. [Initialize Traversal]</a:t>
            </a:r>
          </a:p>
          <a:p>
            <a:r>
              <a:rPr lang="en-IN" sz="2000" dirty="0">
                <a:latin typeface="Consolas" pitchFamily="49" charset="0"/>
                <a:cs typeface="Consolas" pitchFamily="49" charset="0"/>
              </a:rPr>
              <a:t>    SAVE </a:t>
            </a:r>
            <a:r>
              <a:rPr lang="en-IN" sz="2000" dirty="0">
                <a:latin typeface="Consolas" pitchFamily="49" charset="0"/>
                <a:cs typeface="Consolas" pitchFamily="49" charset="0"/>
                <a:sym typeface="Wingdings" pitchFamily="2" charset="2"/>
              </a:rPr>
              <a:t> FIRST</a:t>
            </a:r>
            <a:endParaRPr lang="en-IN" sz="2000" dirty="0">
              <a:latin typeface="Consolas" pitchFamily="49" charset="0"/>
              <a:cs typeface="Consolas" pitchFamily="49" charset="0"/>
            </a:endParaRPr>
          </a:p>
          <a:p>
            <a:pPr marL="444500" indent="-444500"/>
            <a:r>
              <a:rPr lang="en-IN" sz="2000" b="1" dirty="0">
                <a:solidFill>
                  <a:schemeClr val="tx2"/>
                </a:solidFill>
                <a:latin typeface="Consolas" pitchFamily="49" charset="0"/>
                <a:cs typeface="Consolas" pitchFamily="49" charset="0"/>
              </a:rPr>
              <a:t>4. [Move the next node if not at the end if list]</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Repeat</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thru step 6 </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While</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LINK(SAVE) ≠ NULL</a:t>
            </a:r>
          </a:p>
        </p:txBody>
      </p:sp>
      <p:sp>
        <p:nvSpPr>
          <p:cNvPr id="6" name="TextBox 5"/>
          <p:cNvSpPr txBox="1"/>
          <p:nvPr/>
        </p:nvSpPr>
        <p:spPr>
          <a:xfrm>
            <a:off x="6185646" y="909918"/>
            <a:ext cx="5782235" cy="3170099"/>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5. [Update predecessor and save pointer]</a:t>
            </a:r>
          </a:p>
          <a:p>
            <a:r>
              <a:rPr lang="en-IN" sz="2000" dirty="0">
                <a:latin typeface="Consolas" pitchFamily="49" charset="0"/>
                <a:cs typeface="Consolas" pitchFamily="49" charset="0"/>
              </a:rPr>
              <a:t>    PRED</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NEW</a:t>
            </a:r>
          </a:p>
          <a:p>
            <a:r>
              <a:rPr lang="en-IN" sz="2000" dirty="0">
                <a:latin typeface="Consolas" pitchFamily="49" charset="0"/>
                <a:cs typeface="Consolas" pitchFamily="49" charset="0"/>
              </a:rPr>
              <a:t>    SAVE</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LINK(SAVE)</a:t>
            </a:r>
          </a:p>
          <a:p>
            <a:r>
              <a:rPr lang="en-IN" sz="2000" b="1" dirty="0">
                <a:solidFill>
                  <a:schemeClr val="tx2"/>
                </a:solidFill>
                <a:latin typeface="Consolas" pitchFamily="49" charset="0"/>
                <a:cs typeface="Consolas" pitchFamily="49" charset="0"/>
              </a:rPr>
              <a:t>6. [Copy Node</a:t>
            </a:r>
            <a:r>
              <a:rPr lang="en-IN" sz="2000" b="1" dirty="0" smtClean="0">
                <a:solidFill>
                  <a:schemeClr val="tx2"/>
                </a:solidFill>
                <a:latin typeface="Consolas" pitchFamily="49" charset="0"/>
                <a:cs typeface="Consolas" pitchFamily="49" charset="0"/>
              </a:rPr>
              <a:t>]</a:t>
            </a:r>
          </a:p>
          <a:p>
            <a:r>
              <a:rPr lang="en-IN" sz="2000" dirty="0" smtClean="0">
                <a:latin typeface="Consolas" pitchFamily="49" charset="0"/>
                <a:cs typeface="Consolas" pitchFamily="49" charset="0"/>
              </a:rPr>
              <a:t>    NEW </a:t>
            </a:r>
            <a:r>
              <a:rPr lang="en-IN" sz="2000" b="1" dirty="0">
                <a:solidFill>
                  <a:schemeClr val="accent6"/>
                </a:solidFill>
                <a:latin typeface="Consolas" pitchFamily="49" charset="0"/>
                <a:cs typeface="Consolas" pitchFamily="49" charset="0"/>
              </a:rPr>
              <a:t>&lt;=</a:t>
            </a:r>
            <a:r>
              <a:rPr lang="en-IN" sz="2000" dirty="0">
                <a:latin typeface="Consolas" pitchFamily="49" charset="0"/>
                <a:cs typeface="Consolas" pitchFamily="49" charset="0"/>
              </a:rPr>
              <a:t> </a:t>
            </a:r>
            <a:r>
              <a:rPr lang="en-IN" sz="2000" dirty="0" smtClean="0">
                <a:latin typeface="Consolas" pitchFamily="49" charset="0"/>
                <a:cs typeface="Consolas" pitchFamily="49" charset="0"/>
              </a:rPr>
              <a:t>NODE</a:t>
            </a:r>
          </a:p>
          <a:p>
            <a:r>
              <a:rPr lang="en-IN" sz="2000" dirty="0" smtClean="0">
                <a:latin typeface="Consolas" pitchFamily="49" charset="0"/>
                <a:cs typeface="Consolas" pitchFamily="49" charset="0"/>
              </a:rPr>
              <a:t>    FIELD(NEW</a:t>
            </a:r>
            <a:r>
              <a:rPr lang="en-IN" sz="2000" dirty="0">
                <a:latin typeface="Consolas" pitchFamily="49" charset="0"/>
                <a:cs typeface="Consolas" pitchFamily="49" charset="0"/>
              </a:rPr>
              <a:t>)</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INFO(SAVE)</a:t>
            </a:r>
          </a:p>
          <a:p>
            <a:r>
              <a:rPr lang="en-IN" sz="2000" dirty="0">
                <a:latin typeface="Consolas" pitchFamily="49" charset="0"/>
                <a:cs typeface="Consolas" pitchFamily="49" charset="0"/>
              </a:rPr>
              <a:t>    </a:t>
            </a:r>
            <a:r>
              <a:rPr lang="en-IN" sz="2000" dirty="0" smtClean="0">
                <a:latin typeface="Consolas" pitchFamily="49" charset="0"/>
                <a:cs typeface="Consolas" pitchFamily="49" charset="0"/>
              </a:rPr>
              <a:t>PTR(PRED</a:t>
            </a:r>
            <a:r>
              <a:rPr lang="en-IN" sz="2000" dirty="0">
                <a:latin typeface="Consolas" pitchFamily="49" charset="0"/>
                <a:cs typeface="Consolas" pitchFamily="49" charset="0"/>
              </a:rPr>
              <a:t>)</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NEW</a:t>
            </a:r>
          </a:p>
          <a:p>
            <a:r>
              <a:rPr lang="en-IN" sz="2000" b="1" dirty="0" smtClean="0">
                <a:solidFill>
                  <a:schemeClr val="tx2"/>
                </a:solidFill>
                <a:latin typeface="Consolas" pitchFamily="49" charset="0"/>
                <a:cs typeface="Consolas" pitchFamily="49" charset="0"/>
              </a:rPr>
              <a:t>7</a:t>
            </a:r>
            <a:r>
              <a:rPr lang="en-IN" sz="2000" b="1" dirty="0">
                <a:solidFill>
                  <a:schemeClr val="tx2"/>
                </a:solidFill>
                <a:latin typeface="Consolas" pitchFamily="49" charset="0"/>
                <a:cs typeface="Consolas" pitchFamily="49" charset="0"/>
              </a:rPr>
              <a:t>. [Set link of last node and return]</a:t>
            </a:r>
          </a:p>
          <a:p>
            <a:r>
              <a:rPr lang="en-IN" sz="2000" dirty="0">
                <a:latin typeface="Consolas" pitchFamily="49" charset="0"/>
                <a:cs typeface="Consolas" pitchFamily="49" charset="0"/>
              </a:rPr>
              <a:t>    PTR(NEW)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NULL</a:t>
            </a:r>
          </a:p>
          <a:p>
            <a:r>
              <a:rPr lang="en-IN" sz="2000" dirty="0">
                <a:latin typeface="Consolas" pitchFamily="49" charset="0"/>
                <a:cs typeface="Consolas" pitchFamily="49" charset="0"/>
              </a:rPr>
              <a:t>    Return(BEGIN)</a:t>
            </a:r>
          </a:p>
        </p:txBody>
      </p:sp>
    </p:spTree>
    <p:extLst>
      <p:ext uri="{BB962C8B-B14F-4D97-AF65-F5344CB8AC3E}">
        <p14:creationId xmlns:p14="http://schemas.microsoft.com/office/powerpoint/2010/main" val="962640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
                                            <p:bg/>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6">
                                            <p:txEl>
                                              <p:pRg st="1" end="1"/>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uiExpand="1" build="allAtOnce"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COPY (FIRST)</a:t>
            </a:r>
          </a:p>
        </p:txBody>
      </p:sp>
      <p:sp>
        <p:nvSpPr>
          <p:cNvPr id="4" name="TextBox 3"/>
          <p:cNvSpPr txBox="1"/>
          <p:nvPr/>
        </p:nvSpPr>
        <p:spPr>
          <a:xfrm>
            <a:off x="233292" y="934329"/>
            <a:ext cx="5760000" cy="1015663"/>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1. [Is Empty list?]</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IF</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   FIRST = NULL</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THEN</a:t>
            </a:r>
            <a:r>
              <a:rPr lang="en-IN" sz="2000" dirty="0">
                <a:latin typeface="Consolas" pitchFamily="49" charset="0"/>
                <a:cs typeface="Consolas" pitchFamily="49" charset="0"/>
              </a:rPr>
              <a:t>  Return(NULL)</a:t>
            </a:r>
          </a:p>
        </p:txBody>
      </p:sp>
      <p:sp>
        <p:nvSpPr>
          <p:cNvPr id="5" name="TextBox 4"/>
          <p:cNvSpPr txBox="1"/>
          <p:nvPr/>
        </p:nvSpPr>
        <p:spPr>
          <a:xfrm>
            <a:off x="6163992" y="934329"/>
            <a:ext cx="5760000" cy="1323439"/>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2. [Copy first node</a:t>
            </a:r>
            <a:r>
              <a:rPr lang="en-IN" sz="2000" b="1" dirty="0" smtClean="0">
                <a:solidFill>
                  <a:schemeClr val="tx2"/>
                </a:solidFill>
                <a:latin typeface="Consolas" pitchFamily="49" charset="0"/>
                <a:cs typeface="Consolas" pitchFamily="49" charset="0"/>
              </a:rPr>
              <a:t>]</a:t>
            </a:r>
          </a:p>
          <a:p>
            <a:r>
              <a:rPr lang="en-IN" sz="2000" dirty="0" smtClean="0">
                <a:latin typeface="Consolas" pitchFamily="49" charset="0"/>
                <a:cs typeface="Consolas" pitchFamily="49" charset="0"/>
              </a:rPr>
              <a:t>    NEW </a:t>
            </a:r>
            <a:r>
              <a:rPr lang="en-IN" sz="2000" b="1" dirty="0">
                <a:solidFill>
                  <a:schemeClr val="accent6"/>
                </a:solidFill>
                <a:latin typeface="Consolas" pitchFamily="49" charset="0"/>
                <a:cs typeface="Consolas" pitchFamily="49" charset="0"/>
              </a:rPr>
              <a:t>&lt;=</a:t>
            </a:r>
            <a:r>
              <a:rPr lang="en-IN" sz="2000" dirty="0">
                <a:latin typeface="Consolas" pitchFamily="49" charset="0"/>
                <a:cs typeface="Consolas" pitchFamily="49" charset="0"/>
              </a:rPr>
              <a:t> NODE</a:t>
            </a:r>
          </a:p>
          <a:p>
            <a:r>
              <a:rPr lang="en-IN" sz="2000" dirty="0">
                <a:latin typeface="Consolas" pitchFamily="49" charset="0"/>
                <a:cs typeface="Consolas" pitchFamily="49" charset="0"/>
              </a:rPr>
              <a:t>    FIELD(NEW)</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INFO(FIRST)</a:t>
            </a:r>
          </a:p>
          <a:p>
            <a:r>
              <a:rPr lang="en-IN" sz="2000" dirty="0">
                <a:latin typeface="Consolas" pitchFamily="49" charset="0"/>
                <a:cs typeface="Consolas" pitchFamily="49" charset="0"/>
              </a:rPr>
              <a:t>    BEGIN </a:t>
            </a:r>
            <a:r>
              <a:rPr lang="en-IN" sz="2000" dirty="0">
                <a:latin typeface="Consolas" pitchFamily="49" charset="0"/>
                <a:cs typeface="Consolas" pitchFamily="49" charset="0"/>
                <a:sym typeface="Wingdings" pitchFamily="2" charset="2"/>
              </a:rPr>
              <a:t></a:t>
            </a:r>
            <a:r>
              <a:rPr lang="en-IN" sz="2000" dirty="0" smtClean="0">
                <a:latin typeface="Consolas" pitchFamily="49" charset="0"/>
                <a:cs typeface="Consolas" pitchFamily="49" charset="0"/>
              </a:rPr>
              <a:t>NEW</a:t>
            </a:r>
            <a:endParaRPr lang="en-IN" sz="2000" b="1" dirty="0">
              <a:solidFill>
                <a:schemeClr val="tx2"/>
              </a:solidFill>
              <a:latin typeface="Consolas" pitchFamily="49" charset="0"/>
              <a:cs typeface="Consolas" pitchFamily="49" charset="0"/>
            </a:endParaRPr>
          </a:p>
        </p:txBody>
      </p:sp>
      <p:grpSp>
        <p:nvGrpSpPr>
          <p:cNvPr id="6" name="Group 5"/>
          <p:cNvGrpSpPr/>
          <p:nvPr/>
        </p:nvGrpSpPr>
        <p:grpSpPr>
          <a:xfrm>
            <a:off x="747011" y="3126488"/>
            <a:ext cx="920012" cy="533400"/>
            <a:chOff x="951919" y="5486400"/>
            <a:chExt cx="920012" cy="533400"/>
          </a:xfrm>
        </p:grpSpPr>
        <p:sp>
          <p:nvSpPr>
            <p:cNvPr id="7" name="Rectangle 6"/>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US" sz="2400" b="1" dirty="0"/>
            </a:p>
          </p:txBody>
        </p:sp>
        <p:sp>
          <p:nvSpPr>
            <p:cNvPr id="8" name="Rectangle 7"/>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9" name="Group 8"/>
          <p:cNvGrpSpPr/>
          <p:nvPr/>
        </p:nvGrpSpPr>
        <p:grpSpPr>
          <a:xfrm>
            <a:off x="1968841" y="3126488"/>
            <a:ext cx="920012" cy="533400"/>
            <a:chOff x="951919" y="5486400"/>
            <a:chExt cx="920012" cy="533400"/>
          </a:xfrm>
        </p:grpSpPr>
        <p:sp>
          <p:nvSpPr>
            <p:cNvPr id="10" name="Rectangle 9"/>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11" name="Rectangle 10"/>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2" name="Group 11"/>
          <p:cNvGrpSpPr/>
          <p:nvPr/>
        </p:nvGrpSpPr>
        <p:grpSpPr>
          <a:xfrm>
            <a:off x="3188041" y="3126488"/>
            <a:ext cx="920012" cy="533400"/>
            <a:chOff x="951919" y="5486400"/>
            <a:chExt cx="920012" cy="533400"/>
          </a:xfrm>
        </p:grpSpPr>
        <p:sp>
          <p:nvSpPr>
            <p:cNvPr id="13" name="Rectangle 12"/>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15</a:t>
              </a:r>
              <a:endParaRPr lang="en-US" sz="2400" b="1" dirty="0"/>
            </a:p>
          </p:txBody>
        </p:sp>
        <p:sp>
          <p:nvSpPr>
            <p:cNvPr id="14" name="Rectangle 13"/>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21" name="Group 20"/>
          <p:cNvGrpSpPr/>
          <p:nvPr/>
        </p:nvGrpSpPr>
        <p:grpSpPr>
          <a:xfrm>
            <a:off x="4407241" y="3135453"/>
            <a:ext cx="1058662" cy="533400"/>
            <a:chOff x="6256538" y="5334000"/>
            <a:chExt cx="1058662" cy="533400"/>
          </a:xfrm>
        </p:grpSpPr>
        <p:sp>
          <p:nvSpPr>
            <p:cNvPr id="22" name="Rectangle 21"/>
            <p:cNvSpPr/>
            <p:nvPr/>
          </p:nvSpPr>
          <p:spPr>
            <a:xfrm>
              <a:off x="6256538" y="53340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30</a:t>
              </a:r>
              <a:endParaRPr lang="en-US" sz="2400" b="1" dirty="0"/>
            </a:p>
          </p:txBody>
        </p:sp>
        <p:sp>
          <p:nvSpPr>
            <p:cNvPr id="23" name="Rectangle 22"/>
            <p:cNvSpPr/>
            <p:nvPr/>
          </p:nvSpPr>
          <p:spPr>
            <a:xfrm>
              <a:off x="6795550" y="5334000"/>
              <a:ext cx="51965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24" name="Straight Arrow Connector 23"/>
          <p:cNvCxnSpPr>
            <a:stCxn id="8" idx="3"/>
            <a:endCxn id="10" idx="1"/>
          </p:cNvCxnSpPr>
          <p:nvPr/>
        </p:nvCxnSpPr>
        <p:spPr>
          <a:xfrm>
            <a:off x="1667023" y="3393188"/>
            <a:ext cx="30181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5" name="Straight Arrow Connector 24"/>
          <p:cNvCxnSpPr>
            <a:stCxn id="11" idx="3"/>
            <a:endCxn id="13" idx="1"/>
          </p:cNvCxnSpPr>
          <p:nvPr/>
        </p:nvCxnSpPr>
        <p:spPr>
          <a:xfrm>
            <a:off x="2888853" y="3393188"/>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6" name="Straight Arrow Connector 25"/>
          <p:cNvCxnSpPr>
            <a:stCxn id="14" idx="3"/>
          </p:cNvCxnSpPr>
          <p:nvPr/>
        </p:nvCxnSpPr>
        <p:spPr>
          <a:xfrm>
            <a:off x="4108053" y="3393188"/>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9" name="Straight Connector 28"/>
          <p:cNvCxnSpPr/>
          <p:nvPr/>
        </p:nvCxnSpPr>
        <p:spPr>
          <a:xfrm flipV="1">
            <a:off x="4950655" y="3135453"/>
            <a:ext cx="500120" cy="500128"/>
          </a:xfrm>
          <a:prstGeom prst="line">
            <a:avLst/>
          </a:prstGeom>
        </p:spPr>
        <p:style>
          <a:lnRef idx="3">
            <a:schemeClr val="accent6"/>
          </a:lnRef>
          <a:fillRef idx="0">
            <a:schemeClr val="accent6"/>
          </a:fillRef>
          <a:effectRef idx="2">
            <a:schemeClr val="accent6"/>
          </a:effectRef>
          <a:fontRef idx="minor">
            <a:schemeClr val="tx1"/>
          </a:fontRef>
        </p:style>
      </p:cxnSp>
      <p:sp>
        <p:nvSpPr>
          <p:cNvPr id="30" name="TextBox 29"/>
          <p:cNvSpPr txBox="1"/>
          <p:nvPr/>
        </p:nvSpPr>
        <p:spPr>
          <a:xfrm>
            <a:off x="658950" y="2124220"/>
            <a:ext cx="734496" cy="369332"/>
          </a:xfrm>
          <a:prstGeom prst="rect">
            <a:avLst/>
          </a:prstGeom>
          <a:noFill/>
        </p:spPr>
        <p:txBody>
          <a:bodyPr wrap="none" rtlCol="0">
            <a:spAutoFit/>
          </a:bodyPr>
          <a:lstStyle/>
          <a:p>
            <a:pPr algn="ctr"/>
            <a:r>
              <a:rPr lang="en-IN" b="1" dirty="0">
                <a:solidFill>
                  <a:srgbClr val="C00000"/>
                </a:solidFill>
              </a:rPr>
              <a:t>FIRST</a:t>
            </a:r>
            <a:endParaRPr lang="en-US" b="1" dirty="0">
              <a:solidFill>
                <a:srgbClr val="C00000"/>
              </a:solidFill>
            </a:endParaRPr>
          </a:p>
        </p:txBody>
      </p:sp>
      <p:grpSp>
        <p:nvGrpSpPr>
          <p:cNvPr id="32" name="Group 31"/>
          <p:cNvGrpSpPr/>
          <p:nvPr/>
        </p:nvGrpSpPr>
        <p:grpSpPr>
          <a:xfrm>
            <a:off x="708911" y="4791220"/>
            <a:ext cx="920012" cy="533400"/>
            <a:chOff x="951919" y="5486400"/>
            <a:chExt cx="920012" cy="533400"/>
          </a:xfrm>
        </p:grpSpPr>
        <p:sp>
          <p:nvSpPr>
            <p:cNvPr id="33" name="Rectangle 32"/>
            <p:cNvSpPr/>
            <p:nvPr/>
          </p:nvSpPr>
          <p:spPr>
            <a:xfrm>
              <a:off x="951919" y="5486400"/>
              <a:ext cx="533400" cy="5334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400" b="1" dirty="0"/>
            </a:p>
          </p:txBody>
        </p:sp>
        <p:sp>
          <p:nvSpPr>
            <p:cNvPr id="34" name="Rectangle 33"/>
            <p:cNvSpPr/>
            <p:nvPr/>
          </p:nvSpPr>
          <p:spPr>
            <a:xfrm>
              <a:off x="1490931" y="5486400"/>
              <a:ext cx="381000" cy="5334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400" b="1" dirty="0"/>
            </a:p>
          </p:txBody>
        </p:sp>
      </p:grpSp>
      <p:sp>
        <p:nvSpPr>
          <p:cNvPr id="35" name="TextBox 34"/>
          <p:cNvSpPr txBox="1"/>
          <p:nvPr/>
        </p:nvSpPr>
        <p:spPr>
          <a:xfrm>
            <a:off x="802511" y="5400820"/>
            <a:ext cx="612668" cy="369332"/>
          </a:xfrm>
          <a:prstGeom prst="rect">
            <a:avLst/>
          </a:prstGeom>
          <a:noFill/>
        </p:spPr>
        <p:txBody>
          <a:bodyPr wrap="none" rtlCol="0">
            <a:spAutoFit/>
          </a:bodyPr>
          <a:lstStyle/>
          <a:p>
            <a:pPr algn="ctr"/>
            <a:r>
              <a:rPr lang="en-IN" b="1" dirty="0">
                <a:solidFill>
                  <a:srgbClr val="C00000"/>
                </a:solidFill>
              </a:rPr>
              <a:t>NEW</a:t>
            </a:r>
            <a:endParaRPr lang="en-US" b="1" dirty="0">
              <a:solidFill>
                <a:srgbClr val="C00000"/>
              </a:solidFill>
            </a:endParaRPr>
          </a:p>
        </p:txBody>
      </p:sp>
      <p:cxnSp>
        <p:nvCxnSpPr>
          <p:cNvPr id="37" name="Straight Arrow Connector 36"/>
          <p:cNvCxnSpPr>
            <a:stCxn id="30" idx="2"/>
          </p:cNvCxnSpPr>
          <p:nvPr/>
        </p:nvCxnSpPr>
        <p:spPr>
          <a:xfrm>
            <a:off x="1026198" y="2493552"/>
            <a:ext cx="0" cy="63293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38" name="TextBox 37"/>
          <p:cNvSpPr txBox="1"/>
          <p:nvPr/>
        </p:nvSpPr>
        <p:spPr>
          <a:xfrm>
            <a:off x="815803" y="4840526"/>
            <a:ext cx="340158" cy="461665"/>
          </a:xfrm>
          <a:prstGeom prst="rect">
            <a:avLst/>
          </a:prstGeom>
          <a:noFill/>
        </p:spPr>
        <p:txBody>
          <a:bodyPr wrap="none" rtlCol="0">
            <a:spAutoFit/>
          </a:bodyPr>
          <a:lstStyle/>
          <a:p>
            <a:pPr algn="ctr"/>
            <a:r>
              <a:rPr lang="en-IN" sz="2400" b="1" dirty="0">
                <a:solidFill>
                  <a:srgbClr val="FFFF00"/>
                </a:solidFill>
              </a:rPr>
              <a:t>5</a:t>
            </a:r>
            <a:endParaRPr lang="en-US" sz="2400" b="1" dirty="0">
              <a:solidFill>
                <a:srgbClr val="FFFF00"/>
              </a:solidFill>
            </a:endParaRPr>
          </a:p>
        </p:txBody>
      </p:sp>
      <p:sp>
        <p:nvSpPr>
          <p:cNvPr id="39" name="TextBox 38"/>
          <p:cNvSpPr txBox="1"/>
          <p:nvPr/>
        </p:nvSpPr>
        <p:spPr>
          <a:xfrm>
            <a:off x="578227" y="3800620"/>
            <a:ext cx="783997" cy="369332"/>
          </a:xfrm>
          <a:prstGeom prst="rect">
            <a:avLst/>
          </a:prstGeom>
          <a:noFill/>
        </p:spPr>
        <p:txBody>
          <a:bodyPr wrap="none" rtlCol="0">
            <a:spAutoFit/>
          </a:bodyPr>
          <a:lstStyle/>
          <a:p>
            <a:pPr algn="ctr"/>
            <a:r>
              <a:rPr lang="en-IN" b="1" dirty="0">
                <a:solidFill>
                  <a:srgbClr val="C00000"/>
                </a:solidFill>
              </a:rPr>
              <a:t>BEGIN</a:t>
            </a:r>
            <a:endParaRPr lang="en-US" b="1" dirty="0">
              <a:solidFill>
                <a:srgbClr val="C00000"/>
              </a:solidFill>
            </a:endParaRPr>
          </a:p>
        </p:txBody>
      </p:sp>
      <p:cxnSp>
        <p:nvCxnSpPr>
          <p:cNvPr id="42" name="Straight Arrow Connector 41"/>
          <p:cNvCxnSpPr>
            <a:stCxn id="39" idx="2"/>
            <a:endCxn id="33" idx="0"/>
          </p:cNvCxnSpPr>
          <p:nvPr/>
        </p:nvCxnSpPr>
        <p:spPr>
          <a:xfrm>
            <a:off x="970225" y="4169952"/>
            <a:ext cx="5386" cy="6212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374013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30" grpId="0"/>
      <p:bldP spid="35" grpId="0"/>
      <p:bldP spid="38" grpId="0"/>
      <p:bldP spid="3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COPY (FIRST)</a:t>
            </a:r>
          </a:p>
        </p:txBody>
      </p:sp>
      <p:sp>
        <p:nvSpPr>
          <p:cNvPr id="32" name="TextBox 31"/>
          <p:cNvSpPr txBox="1"/>
          <p:nvPr/>
        </p:nvSpPr>
        <p:spPr>
          <a:xfrm>
            <a:off x="205154" y="863991"/>
            <a:ext cx="5819127" cy="2862322"/>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3. [Initialize Traversal]</a:t>
            </a:r>
          </a:p>
          <a:p>
            <a:r>
              <a:rPr lang="en-IN" sz="2000" dirty="0">
                <a:latin typeface="Consolas" pitchFamily="49" charset="0"/>
                <a:cs typeface="Consolas" pitchFamily="49" charset="0"/>
              </a:rPr>
              <a:t>    SAVE </a:t>
            </a:r>
            <a:r>
              <a:rPr lang="en-IN" sz="2000" dirty="0">
                <a:latin typeface="Consolas" pitchFamily="49" charset="0"/>
                <a:cs typeface="Consolas" pitchFamily="49" charset="0"/>
                <a:sym typeface="Wingdings" pitchFamily="2" charset="2"/>
              </a:rPr>
              <a:t> FIRST</a:t>
            </a:r>
            <a:endParaRPr lang="en-IN" sz="2000" dirty="0">
              <a:latin typeface="Consolas" pitchFamily="49" charset="0"/>
              <a:cs typeface="Consolas" pitchFamily="49" charset="0"/>
            </a:endParaRPr>
          </a:p>
          <a:p>
            <a:r>
              <a:rPr lang="en-IN" sz="2000" b="1" dirty="0">
                <a:solidFill>
                  <a:schemeClr val="tx2"/>
                </a:solidFill>
                <a:latin typeface="Consolas" pitchFamily="49" charset="0"/>
                <a:cs typeface="Consolas" pitchFamily="49" charset="0"/>
              </a:rPr>
              <a:t>4. [Move the next node if not at the end if list]</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Repeat</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thru step 6 </a:t>
            </a:r>
          </a:p>
          <a:p>
            <a:r>
              <a:rPr lang="en-IN" sz="2000" dirty="0">
                <a:latin typeface="Consolas" pitchFamily="49" charset="0"/>
                <a:cs typeface="Consolas" pitchFamily="49" charset="0"/>
              </a:rPr>
              <a:t>       while LINK(SAVE) ≠ NULL</a:t>
            </a:r>
          </a:p>
          <a:p>
            <a:r>
              <a:rPr lang="en-IN" sz="2000" b="1" dirty="0">
                <a:solidFill>
                  <a:schemeClr val="tx2"/>
                </a:solidFill>
                <a:latin typeface="Consolas" pitchFamily="49" charset="0"/>
                <a:cs typeface="Consolas" pitchFamily="49" charset="0"/>
              </a:rPr>
              <a:t>5. [Update predecessor and save pointer]</a:t>
            </a:r>
          </a:p>
          <a:p>
            <a:r>
              <a:rPr lang="en-IN" sz="2000" dirty="0">
                <a:latin typeface="Consolas" pitchFamily="49" charset="0"/>
                <a:cs typeface="Consolas" pitchFamily="49" charset="0"/>
              </a:rPr>
              <a:t>    PRED</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NEW</a:t>
            </a:r>
          </a:p>
          <a:p>
            <a:r>
              <a:rPr lang="en-IN" sz="2000" dirty="0">
                <a:latin typeface="Consolas" pitchFamily="49" charset="0"/>
                <a:cs typeface="Consolas" pitchFamily="49" charset="0"/>
              </a:rPr>
              <a:t>    SAVE</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LINK(SAVE)</a:t>
            </a:r>
          </a:p>
        </p:txBody>
      </p:sp>
      <p:sp>
        <p:nvSpPr>
          <p:cNvPr id="33" name="TextBox 32"/>
          <p:cNvSpPr txBox="1"/>
          <p:nvPr/>
        </p:nvSpPr>
        <p:spPr>
          <a:xfrm>
            <a:off x="6172200" y="863991"/>
            <a:ext cx="5760000" cy="2246769"/>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6. [Copy Node</a:t>
            </a:r>
            <a:r>
              <a:rPr lang="en-IN" sz="2000" b="1" dirty="0" smtClean="0">
                <a:solidFill>
                  <a:schemeClr val="tx2"/>
                </a:solidFill>
                <a:latin typeface="Consolas" pitchFamily="49" charset="0"/>
                <a:cs typeface="Consolas" pitchFamily="49" charset="0"/>
              </a:rPr>
              <a:t>]</a:t>
            </a:r>
          </a:p>
          <a:p>
            <a:r>
              <a:rPr lang="en-IN" sz="2000" dirty="0" smtClean="0">
                <a:latin typeface="Consolas" pitchFamily="49" charset="0"/>
                <a:cs typeface="Consolas" pitchFamily="49" charset="0"/>
              </a:rPr>
              <a:t>    NEW </a:t>
            </a:r>
            <a:r>
              <a:rPr lang="en-IN" sz="2000" b="1" dirty="0">
                <a:solidFill>
                  <a:schemeClr val="accent6"/>
                </a:solidFill>
                <a:latin typeface="Consolas" pitchFamily="49" charset="0"/>
                <a:cs typeface="Consolas" pitchFamily="49" charset="0"/>
              </a:rPr>
              <a:t>&lt;=</a:t>
            </a:r>
            <a:r>
              <a:rPr lang="en-IN" sz="2000" dirty="0">
                <a:latin typeface="Consolas" pitchFamily="49" charset="0"/>
                <a:cs typeface="Consolas" pitchFamily="49" charset="0"/>
              </a:rPr>
              <a:t> NODE</a:t>
            </a:r>
          </a:p>
          <a:p>
            <a:r>
              <a:rPr lang="en-IN" sz="2000" dirty="0">
                <a:latin typeface="Consolas" pitchFamily="49" charset="0"/>
                <a:cs typeface="Consolas" pitchFamily="49" charset="0"/>
              </a:rPr>
              <a:t>    FIELD(NEW)</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INFO(SAVE)</a:t>
            </a:r>
          </a:p>
          <a:p>
            <a:r>
              <a:rPr lang="en-IN" sz="2000" dirty="0">
                <a:latin typeface="Consolas" pitchFamily="49" charset="0"/>
                <a:cs typeface="Consolas" pitchFamily="49" charset="0"/>
              </a:rPr>
              <a:t>    PTR(PRED)</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NEW</a:t>
            </a:r>
          </a:p>
          <a:p>
            <a:r>
              <a:rPr lang="en-IN" sz="2000" b="1" dirty="0" smtClean="0">
                <a:solidFill>
                  <a:schemeClr val="tx2"/>
                </a:solidFill>
                <a:latin typeface="Consolas" pitchFamily="49" charset="0"/>
                <a:cs typeface="Consolas" pitchFamily="49" charset="0"/>
              </a:rPr>
              <a:t>7</a:t>
            </a:r>
            <a:r>
              <a:rPr lang="en-IN" sz="2000" b="1" dirty="0">
                <a:solidFill>
                  <a:schemeClr val="tx2"/>
                </a:solidFill>
                <a:latin typeface="Consolas" pitchFamily="49" charset="0"/>
                <a:cs typeface="Consolas" pitchFamily="49" charset="0"/>
              </a:rPr>
              <a:t>. [Set link of last node &amp; return]</a:t>
            </a:r>
          </a:p>
          <a:p>
            <a:r>
              <a:rPr lang="en-IN" sz="2000" dirty="0">
                <a:latin typeface="Consolas" pitchFamily="49" charset="0"/>
                <a:cs typeface="Consolas" pitchFamily="49" charset="0"/>
              </a:rPr>
              <a:t>    PTR(NEW)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NULL</a:t>
            </a:r>
          </a:p>
          <a:p>
            <a:r>
              <a:rPr lang="en-IN" sz="2000" dirty="0">
                <a:latin typeface="Consolas" pitchFamily="49" charset="0"/>
                <a:cs typeface="Consolas" pitchFamily="49" charset="0"/>
              </a:rPr>
              <a:t>    Return(BEGIN)</a:t>
            </a:r>
          </a:p>
        </p:txBody>
      </p:sp>
      <p:grpSp>
        <p:nvGrpSpPr>
          <p:cNvPr id="34" name="Group 33"/>
          <p:cNvGrpSpPr/>
          <p:nvPr/>
        </p:nvGrpSpPr>
        <p:grpSpPr>
          <a:xfrm>
            <a:off x="581751" y="4456356"/>
            <a:ext cx="920012" cy="382345"/>
            <a:chOff x="951919" y="5486400"/>
            <a:chExt cx="920012" cy="533400"/>
          </a:xfrm>
        </p:grpSpPr>
        <p:sp>
          <p:nvSpPr>
            <p:cNvPr id="35" name="Rectangle 34"/>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US" sz="2400" b="1" dirty="0"/>
            </a:p>
          </p:txBody>
        </p:sp>
        <p:sp>
          <p:nvSpPr>
            <p:cNvPr id="36" name="Rectangle 35"/>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37" name="Group 36"/>
          <p:cNvGrpSpPr/>
          <p:nvPr/>
        </p:nvGrpSpPr>
        <p:grpSpPr>
          <a:xfrm>
            <a:off x="1803581" y="4456356"/>
            <a:ext cx="920012" cy="382345"/>
            <a:chOff x="951919" y="5486400"/>
            <a:chExt cx="920012" cy="533400"/>
          </a:xfrm>
        </p:grpSpPr>
        <p:sp>
          <p:nvSpPr>
            <p:cNvPr id="38" name="Rectangle 37"/>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39" name="Rectangle 38"/>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40" name="Group 39"/>
          <p:cNvGrpSpPr/>
          <p:nvPr/>
        </p:nvGrpSpPr>
        <p:grpSpPr>
          <a:xfrm>
            <a:off x="3022781" y="4456356"/>
            <a:ext cx="920012" cy="382345"/>
            <a:chOff x="951919" y="5486400"/>
            <a:chExt cx="920012" cy="533400"/>
          </a:xfrm>
        </p:grpSpPr>
        <p:sp>
          <p:nvSpPr>
            <p:cNvPr id="41" name="Rectangle 40"/>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15</a:t>
              </a:r>
              <a:endParaRPr lang="en-US" sz="2400" b="1" dirty="0"/>
            </a:p>
          </p:txBody>
        </p:sp>
        <p:sp>
          <p:nvSpPr>
            <p:cNvPr id="42" name="Rectangle 41"/>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43" name="Group 42"/>
          <p:cNvGrpSpPr/>
          <p:nvPr/>
        </p:nvGrpSpPr>
        <p:grpSpPr>
          <a:xfrm>
            <a:off x="4241981" y="4465321"/>
            <a:ext cx="912386" cy="382345"/>
            <a:chOff x="6256538" y="5334000"/>
            <a:chExt cx="912386" cy="533400"/>
          </a:xfrm>
        </p:grpSpPr>
        <p:sp>
          <p:nvSpPr>
            <p:cNvPr id="44" name="Rectangle 43"/>
            <p:cNvSpPr/>
            <p:nvPr/>
          </p:nvSpPr>
          <p:spPr>
            <a:xfrm>
              <a:off x="6256538" y="53340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30</a:t>
              </a:r>
              <a:endParaRPr lang="en-US" sz="2400" b="1" dirty="0"/>
            </a:p>
          </p:txBody>
        </p:sp>
        <p:sp>
          <p:nvSpPr>
            <p:cNvPr id="45" name="Rectangle 44"/>
            <p:cNvSpPr/>
            <p:nvPr/>
          </p:nvSpPr>
          <p:spPr>
            <a:xfrm>
              <a:off x="6795550" y="5334000"/>
              <a:ext cx="373374"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46" name="Straight Arrow Connector 45"/>
          <p:cNvCxnSpPr>
            <a:stCxn id="36" idx="3"/>
            <a:endCxn id="38" idx="1"/>
          </p:cNvCxnSpPr>
          <p:nvPr/>
        </p:nvCxnSpPr>
        <p:spPr>
          <a:xfrm>
            <a:off x="1501763" y="4647528"/>
            <a:ext cx="30181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7" name="Straight Arrow Connector 46"/>
          <p:cNvCxnSpPr>
            <a:stCxn id="39" idx="3"/>
            <a:endCxn id="41" idx="1"/>
          </p:cNvCxnSpPr>
          <p:nvPr/>
        </p:nvCxnSpPr>
        <p:spPr>
          <a:xfrm>
            <a:off x="2723593" y="4647528"/>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9" name="Straight Connector 48"/>
          <p:cNvCxnSpPr/>
          <p:nvPr/>
        </p:nvCxnSpPr>
        <p:spPr>
          <a:xfrm flipV="1">
            <a:off x="4780993" y="4465320"/>
            <a:ext cx="373374" cy="373380"/>
          </a:xfrm>
          <a:prstGeom prst="line">
            <a:avLst/>
          </a:prstGeom>
          <a:ln w="28575"/>
        </p:spPr>
        <p:style>
          <a:lnRef idx="3">
            <a:schemeClr val="accent6"/>
          </a:lnRef>
          <a:fillRef idx="0">
            <a:schemeClr val="accent6"/>
          </a:fillRef>
          <a:effectRef idx="2">
            <a:schemeClr val="accent6"/>
          </a:effectRef>
          <a:fontRef idx="minor">
            <a:schemeClr val="tx1"/>
          </a:fontRef>
        </p:style>
      </p:cxnSp>
      <p:sp>
        <p:nvSpPr>
          <p:cNvPr id="50" name="TextBox 49"/>
          <p:cNvSpPr txBox="1"/>
          <p:nvPr/>
        </p:nvSpPr>
        <p:spPr>
          <a:xfrm>
            <a:off x="315890" y="3793153"/>
            <a:ext cx="734496" cy="369332"/>
          </a:xfrm>
          <a:prstGeom prst="rect">
            <a:avLst/>
          </a:prstGeom>
          <a:noFill/>
        </p:spPr>
        <p:txBody>
          <a:bodyPr wrap="none" rtlCol="0">
            <a:spAutoFit/>
          </a:bodyPr>
          <a:lstStyle/>
          <a:p>
            <a:pPr algn="ctr"/>
            <a:r>
              <a:rPr lang="en-IN" b="1" dirty="0">
                <a:solidFill>
                  <a:srgbClr val="C00000"/>
                </a:solidFill>
              </a:rPr>
              <a:t>FIRST</a:t>
            </a:r>
            <a:endParaRPr lang="en-US" b="1" dirty="0">
              <a:solidFill>
                <a:srgbClr val="C00000"/>
              </a:solidFill>
            </a:endParaRPr>
          </a:p>
        </p:txBody>
      </p:sp>
      <p:grpSp>
        <p:nvGrpSpPr>
          <p:cNvPr id="51" name="Group 50"/>
          <p:cNvGrpSpPr/>
          <p:nvPr/>
        </p:nvGrpSpPr>
        <p:grpSpPr>
          <a:xfrm>
            <a:off x="543651" y="5837820"/>
            <a:ext cx="920012" cy="356810"/>
            <a:chOff x="951919" y="5486400"/>
            <a:chExt cx="920012" cy="533400"/>
          </a:xfrm>
        </p:grpSpPr>
        <p:sp>
          <p:nvSpPr>
            <p:cNvPr id="52" name="Rectangle 51"/>
            <p:cNvSpPr/>
            <p:nvPr/>
          </p:nvSpPr>
          <p:spPr>
            <a:xfrm>
              <a:off x="951919" y="5486400"/>
              <a:ext cx="533400" cy="5334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400" b="1" dirty="0"/>
            </a:p>
          </p:txBody>
        </p:sp>
        <p:sp>
          <p:nvSpPr>
            <p:cNvPr id="53" name="Rectangle 52"/>
            <p:cNvSpPr/>
            <p:nvPr/>
          </p:nvSpPr>
          <p:spPr>
            <a:xfrm>
              <a:off x="1490931" y="5486400"/>
              <a:ext cx="381000" cy="5334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400" b="1" dirty="0"/>
            </a:p>
          </p:txBody>
        </p:sp>
      </p:grpSp>
      <p:cxnSp>
        <p:nvCxnSpPr>
          <p:cNvPr id="54" name="Straight Arrow Connector 53"/>
          <p:cNvCxnSpPr/>
          <p:nvPr/>
        </p:nvCxnSpPr>
        <p:spPr>
          <a:xfrm>
            <a:off x="683138" y="4139887"/>
            <a:ext cx="0" cy="3164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55" name="TextBox 54"/>
          <p:cNvSpPr txBox="1"/>
          <p:nvPr/>
        </p:nvSpPr>
        <p:spPr>
          <a:xfrm>
            <a:off x="650543" y="5791201"/>
            <a:ext cx="340158" cy="461665"/>
          </a:xfrm>
          <a:prstGeom prst="rect">
            <a:avLst/>
          </a:prstGeom>
          <a:noFill/>
        </p:spPr>
        <p:txBody>
          <a:bodyPr wrap="none" rtlCol="0">
            <a:spAutoFit/>
          </a:bodyPr>
          <a:lstStyle/>
          <a:p>
            <a:pPr algn="ctr"/>
            <a:r>
              <a:rPr lang="en-IN" sz="2400" b="1" dirty="0">
                <a:solidFill>
                  <a:srgbClr val="FFFF00"/>
                </a:solidFill>
              </a:rPr>
              <a:t>5</a:t>
            </a:r>
            <a:endParaRPr lang="en-US" sz="2400" b="1" dirty="0">
              <a:solidFill>
                <a:srgbClr val="FFFF00"/>
              </a:solidFill>
            </a:endParaRPr>
          </a:p>
        </p:txBody>
      </p:sp>
      <p:sp>
        <p:nvSpPr>
          <p:cNvPr id="56" name="TextBox 55"/>
          <p:cNvSpPr txBox="1"/>
          <p:nvPr/>
        </p:nvSpPr>
        <p:spPr>
          <a:xfrm>
            <a:off x="412967" y="4892040"/>
            <a:ext cx="783997" cy="369332"/>
          </a:xfrm>
          <a:prstGeom prst="rect">
            <a:avLst/>
          </a:prstGeom>
          <a:noFill/>
        </p:spPr>
        <p:txBody>
          <a:bodyPr wrap="none" rtlCol="0">
            <a:spAutoFit/>
          </a:bodyPr>
          <a:lstStyle/>
          <a:p>
            <a:pPr algn="ctr"/>
            <a:r>
              <a:rPr lang="en-IN" b="1" dirty="0"/>
              <a:t>BEGIN</a:t>
            </a:r>
            <a:endParaRPr lang="en-US" b="1" dirty="0"/>
          </a:p>
        </p:txBody>
      </p:sp>
      <p:cxnSp>
        <p:nvCxnSpPr>
          <p:cNvPr id="57" name="Straight Arrow Connector 56"/>
          <p:cNvCxnSpPr>
            <a:stCxn id="56" idx="2"/>
            <a:endCxn id="52" idx="0"/>
          </p:cNvCxnSpPr>
          <p:nvPr/>
        </p:nvCxnSpPr>
        <p:spPr>
          <a:xfrm>
            <a:off x="804965" y="5261372"/>
            <a:ext cx="5386" cy="57644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63" name="Group 62"/>
          <p:cNvGrpSpPr/>
          <p:nvPr/>
        </p:nvGrpSpPr>
        <p:grpSpPr>
          <a:xfrm>
            <a:off x="955378" y="5120640"/>
            <a:ext cx="631903" cy="717180"/>
            <a:chOff x="1130014" y="5181600"/>
            <a:chExt cx="631903" cy="717180"/>
          </a:xfrm>
        </p:grpSpPr>
        <p:sp>
          <p:nvSpPr>
            <p:cNvPr id="60" name="TextBox 59"/>
            <p:cNvSpPr txBox="1"/>
            <p:nvPr/>
          </p:nvSpPr>
          <p:spPr>
            <a:xfrm>
              <a:off x="1130014" y="5181600"/>
              <a:ext cx="631903" cy="338554"/>
            </a:xfrm>
            <a:prstGeom prst="rect">
              <a:avLst/>
            </a:prstGeom>
            <a:noFill/>
          </p:spPr>
          <p:txBody>
            <a:bodyPr wrap="none" rtlCol="0">
              <a:spAutoFit/>
            </a:bodyPr>
            <a:lstStyle/>
            <a:p>
              <a:pPr algn="ctr"/>
              <a:r>
                <a:rPr lang="en-IN" sz="1600" b="1" dirty="0">
                  <a:solidFill>
                    <a:srgbClr val="C00000"/>
                  </a:solidFill>
                </a:rPr>
                <a:t>PRED</a:t>
              </a:r>
              <a:endParaRPr lang="en-US" sz="1600" b="1" dirty="0">
                <a:solidFill>
                  <a:srgbClr val="C00000"/>
                </a:solidFill>
              </a:endParaRPr>
            </a:p>
          </p:txBody>
        </p:sp>
        <p:cxnSp>
          <p:nvCxnSpPr>
            <p:cNvPr id="62" name="Straight Arrow Connector 61"/>
            <p:cNvCxnSpPr>
              <a:stCxn id="60" idx="2"/>
              <a:endCxn id="53" idx="0"/>
            </p:cNvCxnSpPr>
            <p:nvPr/>
          </p:nvCxnSpPr>
          <p:spPr>
            <a:xfrm flipH="1">
              <a:off x="1434352" y="5520154"/>
              <a:ext cx="11614" cy="37862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64" name="Group 63"/>
          <p:cNvGrpSpPr/>
          <p:nvPr/>
        </p:nvGrpSpPr>
        <p:grpSpPr>
          <a:xfrm>
            <a:off x="1800951" y="5830200"/>
            <a:ext cx="920012" cy="356810"/>
            <a:chOff x="951919" y="5486400"/>
            <a:chExt cx="920012" cy="533400"/>
          </a:xfrm>
        </p:grpSpPr>
        <p:sp>
          <p:nvSpPr>
            <p:cNvPr id="65" name="Rectangle 64"/>
            <p:cNvSpPr/>
            <p:nvPr/>
          </p:nvSpPr>
          <p:spPr>
            <a:xfrm>
              <a:off x="951919" y="5486400"/>
              <a:ext cx="533400" cy="5334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400" b="1" dirty="0"/>
            </a:p>
          </p:txBody>
        </p:sp>
        <p:sp>
          <p:nvSpPr>
            <p:cNvPr id="66" name="Rectangle 65"/>
            <p:cNvSpPr/>
            <p:nvPr/>
          </p:nvSpPr>
          <p:spPr>
            <a:xfrm>
              <a:off x="1490931" y="5486400"/>
              <a:ext cx="381000" cy="5334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400" b="1" dirty="0"/>
            </a:p>
          </p:txBody>
        </p:sp>
      </p:grpSp>
      <p:sp>
        <p:nvSpPr>
          <p:cNvPr id="67" name="TextBox 66"/>
          <p:cNvSpPr txBox="1"/>
          <p:nvPr/>
        </p:nvSpPr>
        <p:spPr>
          <a:xfrm>
            <a:off x="1831437" y="5791201"/>
            <a:ext cx="495650" cy="461665"/>
          </a:xfrm>
          <a:prstGeom prst="rect">
            <a:avLst/>
          </a:prstGeom>
          <a:noFill/>
        </p:spPr>
        <p:txBody>
          <a:bodyPr wrap="none" rtlCol="0">
            <a:spAutoFit/>
          </a:bodyPr>
          <a:lstStyle/>
          <a:p>
            <a:pPr algn="ctr"/>
            <a:r>
              <a:rPr lang="en-IN" sz="2400" b="1" dirty="0">
                <a:solidFill>
                  <a:srgbClr val="FFFF00"/>
                </a:solidFill>
              </a:rPr>
              <a:t>10</a:t>
            </a:r>
            <a:endParaRPr lang="en-US" sz="2400" b="1" dirty="0">
              <a:solidFill>
                <a:srgbClr val="FFFF00"/>
              </a:solidFill>
            </a:endParaRPr>
          </a:p>
        </p:txBody>
      </p:sp>
      <p:grpSp>
        <p:nvGrpSpPr>
          <p:cNvPr id="68" name="Group 67"/>
          <p:cNvGrpSpPr/>
          <p:nvPr/>
        </p:nvGrpSpPr>
        <p:grpSpPr>
          <a:xfrm>
            <a:off x="3022781" y="5830630"/>
            <a:ext cx="920012" cy="356810"/>
            <a:chOff x="951919" y="5486400"/>
            <a:chExt cx="920012" cy="533400"/>
          </a:xfrm>
        </p:grpSpPr>
        <p:sp>
          <p:nvSpPr>
            <p:cNvPr id="69" name="Rectangle 68"/>
            <p:cNvSpPr/>
            <p:nvPr/>
          </p:nvSpPr>
          <p:spPr>
            <a:xfrm>
              <a:off x="951919" y="5486400"/>
              <a:ext cx="533400" cy="5334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400" b="1" dirty="0"/>
            </a:p>
          </p:txBody>
        </p:sp>
        <p:sp>
          <p:nvSpPr>
            <p:cNvPr id="70" name="Rectangle 69"/>
            <p:cNvSpPr/>
            <p:nvPr/>
          </p:nvSpPr>
          <p:spPr>
            <a:xfrm>
              <a:off x="1490931" y="5486400"/>
              <a:ext cx="381000" cy="5334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400" b="1" dirty="0"/>
            </a:p>
          </p:txBody>
        </p:sp>
      </p:grpSp>
      <p:grpSp>
        <p:nvGrpSpPr>
          <p:cNvPr id="71" name="Group 70"/>
          <p:cNvGrpSpPr/>
          <p:nvPr/>
        </p:nvGrpSpPr>
        <p:grpSpPr>
          <a:xfrm>
            <a:off x="4315375" y="5830630"/>
            <a:ext cx="920012" cy="356810"/>
            <a:chOff x="951919" y="5486400"/>
            <a:chExt cx="920012" cy="533400"/>
          </a:xfrm>
        </p:grpSpPr>
        <p:sp>
          <p:nvSpPr>
            <p:cNvPr id="72" name="Rectangle 71"/>
            <p:cNvSpPr/>
            <p:nvPr/>
          </p:nvSpPr>
          <p:spPr>
            <a:xfrm>
              <a:off x="951919" y="5486400"/>
              <a:ext cx="533400" cy="5334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400" b="1" dirty="0"/>
            </a:p>
          </p:txBody>
        </p:sp>
        <p:sp>
          <p:nvSpPr>
            <p:cNvPr id="73" name="Rectangle 72"/>
            <p:cNvSpPr/>
            <p:nvPr/>
          </p:nvSpPr>
          <p:spPr>
            <a:xfrm>
              <a:off x="1490931" y="5486400"/>
              <a:ext cx="381000" cy="5334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400" b="1" dirty="0"/>
            </a:p>
          </p:txBody>
        </p:sp>
      </p:grpSp>
      <p:sp>
        <p:nvSpPr>
          <p:cNvPr id="74" name="TextBox 73"/>
          <p:cNvSpPr txBox="1"/>
          <p:nvPr/>
        </p:nvSpPr>
        <p:spPr>
          <a:xfrm>
            <a:off x="3034271" y="5791201"/>
            <a:ext cx="495650" cy="461665"/>
          </a:xfrm>
          <a:prstGeom prst="rect">
            <a:avLst/>
          </a:prstGeom>
          <a:noFill/>
        </p:spPr>
        <p:txBody>
          <a:bodyPr wrap="none" rtlCol="0">
            <a:spAutoFit/>
          </a:bodyPr>
          <a:lstStyle/>
          <a:p>
            <a:pPr algn="ctr"/>
            <a:r>
              <a:rPr lang="en-IN" sz="2400" b="1" dirty="0">
                <a:solidFill>
                  <a:srgbClr val="FFFF00"/>
                </a:solidFill>
              </a:rPr>
              <a:t>15</a:t>
            </a:r>
            <a:endParaRPr lang="en-US" sz="2400" b="1" dirty="0">
              <a:solidFill>
                <a:srgbClr val="FFFF00"/>
              </a:solidFill>
            </a:endParaRPr>
          </a:p>
        </p:txBody>
      </p:sp>
      <p:sp>
        <p:nvSpPr>
          <p:cNvPr id="75" name="TextBox 74"/>
          <p:cNvSpPr txBox="1"/>
          <p:nvPr/>
        </p:nvSpPr>
        <p:spPr>
          <a:xfrm>
            <a:off x="4349212" y="5791201"/>
            <a:ext cx="495650" cy="461665"/>
          </a:xfrm>
          <a:prstGeom prst="rect">
            <a:avLst/>
          </a:prstGeom>
          <a:noFill/>
        </p:spPr>
        <p:txBody>
          <a:bodyPr wrap="none" rtlCol="0">
            <a:spAutoFit/>
          </a:bodyPr>
          <a:lstStyle/>
          <a:p>
            <a:pPr algn="ctr"/>
            <a:r>
              <a:rPr lang="en-IN" sz="2400" b="1" dirty="0">
                <a:solidFill>
                  <a:srgbClr val="FFFF00"/>
                </a:solidFill>
              </a:rPr>
              <a:t>30</a:t>
            </a:r>
            <a:endParaRPr lang="en-US" sz="2400" b="1" dirty="0">
              <a:solidFill>
                <a:srgbClr val="FFFF00"/>
              </a:solidFill>
            </a:endParaRPr>
          </a:p>
        </p:txBody>
      </p:sp>
      <p:cxnSp>
        <p:nvCxnSpPr>
          <p:cNvPr id="77" name="Straight Arrow Connector 76"/>
          <p:cNvCxnSpPr>
            <a:stCxn id="42" idx="3"/>
            <a:endCxn id="44" idx="1"/>
          </p:cNvCxnSpPr>
          <p:nvPr/>
        </p:nvCxnSpPr>
        <p:spPr>
          <a:xfrm>
            <a:off x="3942793" y="4647529"/>
            <a:ext cx="299188" cy="896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80" name="TextBox 79"/>
          <p:cNvSpPr txBox="1"/>
          <p:nvPr/>
        </p:nvSpPr>
        <p:spPr>
          <a:xfrm>
            <a:off x="671716" y="6194630"/>
            <a:ext cx="564578" cy="338554"/>
          </a:xfrm>
          <a:prstGeom prst="rect">
            <a:avLst/>
          </a:prstGeom>
          <a:noFill/>
        </p:spPr>
        <p:txBody>
          <a:bodyPr wrap="none" rtlCol="0">
            <a:spAutoFit/>
          </a:bodyPr>
          <a:lstStyle/>
          <a:p>
            <a:pPr algn="ctr"/>
            <a:r>
              <a:rPr lang="en-IN" sz="1600" b="1" dirty="0"/>
              <a:t>NEW</a:t>
            </a:r>
            <a:endParaRPr lang="en-US" sz="1600" b="1" dirty="0"/>
          </a:p>
        </p:txBody>
      </p:sp>
      <p:cxnSp>
        <p:nvCxnSpPr>
          <p:cNvPr id="87" name="Straight Arrow Connector 86"/>
          <p:cNvCxnSpPr>
            <a:stCxn id="53" idx="3"/>
            <a:endCxn id="65" idx="1"/>
          </p:cNvCxnSpPr>
          <p:nvPr/>
        </p:nvCxnSpPr>
        <p:spPr>
          <a:xfrm flipV="1">
            <a:off x="1463663" y="6008605"/>
            <a:ext cx="337288" cy="7620"/>
          </a:xfrm>
          <a:prstGeom prst="straightConnector1">
            <a:avLst/>
          </a:prstGeom>
          <a:ln w="28575">
            <a:tailEnd type="arrow"/>
          </a:ln>
        </p:spPr>
        <p:style>
          <a:lnRef idx="2">
            <a:schemeClr val="dk1"/>
          </a:lnRef>
          <a:fillRef idx="0">
            <a:schemeClr val="dk1"/>
          </a:fillRef>
          <a:effectRef idx="1">
            <a:schemeClr val="dk1"/>
          </a:effectRef>
          <a:fontRef idx="minor">
            <a:schemeClr val="tx1"/>
          </a:fontRef>
        </p:style>
      </p:cxnSp>
      <p:cxnSp>
        <p:nvCxnSpPr>
          <p:cNvPr id="89" name="Straight Arrow Connector 88"/>
          <p:cNvCxnSpPr>
            <a:stCxn id="66" idx="3"/>
            <a:endCxn id="69" idx="1"/>
          </p:cNvCxnSpPr>
          <p:nvPr/>
        </p:nvCxnSpPr>
        <p:spPr>
          <a:xfrm>
            <a:off x="2720963" y="6008605"/>
            <a:ext cx="301818" cy="430"/>
          </a:xfrm>
          <a:prstGeom prst="straightConnector1">
            <a:avLst/>
          </a:prstGeom>
          <a:ln w="28575">
            <a:tailEnd type="arrow"/>
          </a:ln>
        </p:spPr>
        <p:style>
          <a:lnRef idx="2">
            <a:schemeClr val="dk1"/>
          </a:lnRef>
          <a:fillRef idx="0">
            <a:schemeClr val="dk1"/>
          </a:fillRef>
          <a:effectRef idx="1">
            <a:schemeClr val="dk1"/>
          </a:effectRef>
          <a:fontRef idx="minor">
            <a:schemeClr val="tx1"/>
          </a:fontRef>
        </p:style>
      </p:cxnSp>
      <p:cxnSp>
        <p:nvCxnSpPr>
          <p:cNvPr id="91" name="Straight Arrow Connector 90"/>
          <p:cNvCxnSpPr>
            <a:stCxn id="70" idx="3"/>
            <a:endCxn id="72" idx="1"/>
          </p:cNvCxnSpPr>
          <p:nvPr/>
        </p:nvCxnSpPr>
        <p:spPr>
          <a:xfrm>
            <a:off x="3942793" y="6009035"/>
            <a:ext cx="372582" cy="0"/>
          </a:xfrm>
          <a:prstGeom prst="straightConnector1">
            <a:avLst/>
          </a:prstGeom>
          <a:ln w="28575">
            <a:tailEnd type="arrow"/>
          </a:ln>
        </p:spPr>
        <p:style>
          <a:lnRef idx="2">
            <a:schemeClr val="dk1"/>
          </a:lnRef>
          <a:fillRef idx="0">
            <a:schemeClr val="dk1"/>
          </a:fillRef>
          <a:effectRef idx="1">
            <a:schemeClr val="dk1"/>
          </a:effectRef>
          <a:fontRef idx="minor">
            <a:schemeClr val="tx1"/>
          </a:fontRef>
        </p:style>
      </p:cxnSp>
      <p:cxnSp>
        <p:nvCxnSpPr>
          <p:cNvPr id="92" name="Straight Connector 91"/>
          <p:cNvCxnSpPr/>
          <p:nvPr/>
        </p:nvCxnSpPr>
        <p:spPr>
          <a:xfrm flipV="1">
            <a:off x="4862013" y="5845436"/>
            <a:ext cx="341999" cy="342004"/>
          </a:xfrm>
          <a:prstGeom prst="line">
            <a:avLst/>
          </a:prstGeom>
          <a:ln w="28575"/>
        </p:spPr>
        <p:style>
          <a:lnRef idx="3">
            <a:schemeClr val="dk1"/>
          </a:lnRef>
          <a:fillRef idx="0">
            <a:schemeClr val="dk1"/>
          </a:fillRef>
          <a:effectRef idx="2">
            <a:schemeClr val="dk1"/>
          </a:effectRef>
          <a:fontRef idx="minor">
            <a:schemeClr val="tx1"/>
          </a:fontRef>
        </p:style>
      </p:cxnSp>
      <p:grpSp>
        <p:nvGrpSpPr>
          <p:cNvPr id="5" name="Group 4"/>
          <p:cNvGrpSpPr/>
          <p:nvPr/>
        </p:nvGrpSpPr>
        <p:grpSpPr>
          <a:xfrm>
            <a:off x="957002" y="3784541"/>
            <a:ext cx="694422" cy="671815"/>
            <a:chOff x="2351015" y="3784541"/>
            <a:chExt cx="694422" cy="671815"/>
          </a:xfrm>
        </p:grpSpPr>
        <p:sp>
          <p:nvSpPr>
            <p:cNvPr id="58" name="TextBox 57"/>
            <p:cNvSpPr txBox="1"/>
            <p:nvPr/>
          </p:nvSpPr>
          <p:spPr>
            <a:xfrm>
              <a:off x="2351015" y="3784541"/>
              <a:ext cx="694422" cy="369332"/>
            </a:xfrm>
            <a:prstGeom prst="rect">
              <a:avLst/>
            </a:prstGeom>
            <a:noFill/>
          </p:spPr>
          <p:txBody>
            <a:bodyPr wrap="none" rtlCol="0">
              <a:spAutoFit/>
            </a:bodyPr>
            <a:lstStyle/>
            <a:p>
              <a:pPr algn="ctr"/>
              <a:r>
                <a:rPr lang="en-IN" b="1" dirty="0">
                  <a:solidFill>
                    <a:srgbClr val="C00000"/>
                  </a:solidFill>
                </a:rPr>
                <a:t>SAVE</a:t>
              </a:r>
            </a:p>
          </p:txBody>
        </p:sp>
        <p:cxnSp>
          <p:nvCxnSpPr>
            <p:cNvPr id="4" name="Straight Arrow Connector 3"/>
            <p:cNvCxnSpPr>
              <a:stCxn id="58" idx="2"/>
              <a:endCxn id="36" idx="0"/>
            </p:cNvCxnSpPr>
            <p:nvPr/>
          </p:nvCxnSpPr>
          <p:spPr>
            <a:xfrm flipH="1">
              <a:off x="2691829" y="4153873"/>
              <a:ext cx="6397" cy="302483"/>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59" name="TextBox 58"/>
          <p:cNvSpPr txBox="1"/>
          <p:nvPr/>
        </p:nvSpPr>
        <p:spPr>
          <a:xfrm>
            <a:off x="1954302" y="6177753"/>
            <a:ext cx="564578" cy="338554"/>
          </a:xfrm>
          <a:prstGeom prst="rect">
            <a:avLst/>
          </a:prstGeom>
          <a:noFill/>
        </p:spPr>
        <p:txBody>
          <a:bodyPr wrap="none" rtlCol="0">
            <a:spAutoFit/>
          </a:bodyPr>
          <a:lstStyle/>
          <a:p>
            <a:pPr algn="ctr"/>
            <a:r>
              <a:rPr lang="en-IN" sz="1600" b="1" dirty="0"/>
              <a:t>NEW</a:t>
            </a:r>
            <a:endParaRPr lang="en-US" sz="1600" b="1" dirty="0"/>
          </a:p>
        </p:txBody>
      </p:sp>
      <p:sp>
        <p:nvSpPr>
          <p:cNvPr id="61" name="TextBox 60"/>
          <p:cNvSpPr txBox="1"/>
          <p:nvPr/>
        </p:nvSpPr>
        <p:spPr>
          <a:xfrm>
            <a:off x="3198025" y="6177753"/>
            <a:ext cx="564578" cy="338554"/>
          </a:xfrm>
          <a:prstGeom prst="rect">
            <a:avLst/>
          </a:prstGeom>
          <a:noFill/>
        </p:spPr>
        <p:txBody>
          <a:bodyPr wrap="none" rtlCol="0">
            <a:spAutoFit/>
          </a:bodyPr>
          <a:lstStyle/>
          <a:p>
            <a:pPr algn="ctr"/>
            <a:r>
              <a:rPr lang="en-IN" sz="1600" b="1" dirty="0"/>
              <a:t>NEW</a:t>
            </a:r>
            <a:endParaRPr lang="en-US" sz="1600" b="1" dirty="0"/>
          </a:p>
        </p:txBody>
      </p:sp>
      <p:sp>
        <p:nvSpPr>
          <p:cNvPr id="76" name="TextBox 75"/>
          <p:cNvSpPr txBox="1"/>
          <p:nvPr/>
        </p:nvSpPr>
        <p:spPr>
          <a:xfrm>
            <a:off x="4498704" y="6177753"/>
            <a:ext cx="564578" cy="338554"/>
          </a:xfrm>
          <a:prstGeom prst="rect">
            <a:avLst/>
          </a:prstGeom>
          <a:noFill/>
        </p:spPr>
        <p:txBody>
          <a:bodyPr wrap="none" rtlCol="0">
            <a:spAutoFit/>
          </a:bodyPr>
          <a:lstStyle/>
          <a:p>
            <a:pPr algn="ctr"/>
            <a:r>
              <a:rPr lang="en-IN" sz="1600" b="1" dirty="0"/>
              <a:t>NEW</a:t>
            </a:r>
            <a:endParaRPr lang="en-US" sz="1600" b="1" dirty="0"/>
          </a:p>
        </p:txBody>
      </p:sp>
    </p:spTree>
    <p:extLst>
      <p:ext uri="{BB962C8B-B14F-4D97-AF65-F5344CB8AC3E}">
        <p14:creationId xmlns:p14="http://schemas.microsoft.com/office/powerpoint/2010/main" val="3920632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63" presetClass="path" presetSubtype="0" accel="50000" decel="50000" fill="hold" nodeType="clickEffect">
                                  <p:stCondLst>
                                    <p:cond delay="0"/>
                                  </p:stCondLst>
                                  <p:childTnLst>
                                    <p:animMotion origin="layout" path="M -1.04167E-6 -4.44444E-6 L 0.07982 -4.44444E-6 " pathEditMode="relative" rAng="0" ptsTypes="AA">
                                      <p:cBhvr>
                                        <p:cTn id="54" dur="2000" fill="hold"/>
                                        <p:tgtEl>
                                          <p:spTgt spid="5"/>
                                        </p:tgtEl>
                                        <p:attrNameLst>
                                          <p:attrName>ppt_x</p:attrName>
                                          <p:attrName>ppt_y</p:attrName>
                                        </p:attrNameLst>
                                      </p:cBhvr>
                                      <p:rCtr x="3984" y="0"/>
                                    </p:animMotion>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80"/>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6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8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63" presetClass="path" presetSubtype="0" accel="50000" decel="50000" fill="hold" nodeType="clickEffect">
                                  <p:stCondLst>
                                    <p:cond delay="0"/>
                                  </p:stCondLst>
                                  <p:childTnLst>
                                    <p:animMotion origin="layout" path="M 3.125E-6 -2.59259E-6 L 0.08346 -2.59259E-6 " pathEditMode="relative" rAng="0" ptsTypes="AA">
                                      <p:cBhvr>
                                        <p:cTn id="78" dur="2000" fill="hold"/>
                                        <p:tgtEl>
                                          <p:spTgt spid="63"/>
                                        </p:tgtEl>
                                        <p:attrNameLst>
                                          <p:attrName>ppt_x</p:attrName>
                                          <p:attrName>ppt_y</p:attrName>
                                        </p:attrNameLst>
                                      </p:cBhvr>
                                      <p:rCtr x="4167" y="0"/>
                                    </p:animMotion>
                                  </p:childTnLst>
                                </p:cTn>
                              </p:par>
                            </p:childTnLst>
                          </p:cTn>
                        </p:par>
                      </p:childTnLst>
                    </p:cTn>
                  </p:par>
                  <p:par>
                    <p:cTn id="79" fill="hold">
                      <p:stCondLst>
                        <p:cond delay="indefinite"/>
                      </p:stCondLst>
                      <p:childTnLst>
                        <p:par>
                          <p:cTn id="80" fill="hold">
                            <p:stCondLst>
                              <p:cond delay="0"/>
                            </p:stCondLst>
                            <p:childTnLst>
                              <p:par>
                                <p:cTn id="81" presetID="63" presetClass="path" presetSubtype="0" accel="50000" decel="50000" fill="hold" nodeType="clickEffect">
                                  <p:stCondLst>
                                    <p:cond delay="0"/>
                                  </p:stCondLst>
                                  <p:childTnLst>
                                    <p:animMotion origin="layout" path="M 0.07982 -4.44444E-6 L 0.18268 -4.44444E-6 " pathEditMode="relative" rAng="0" ptsTypes="AA">
                                      <p:cBhvr>
                                        <p:cTn id="82" dur="2000" fill="hold"/>
                                        <p:tgtEl>
                                          <p:spTgt spid="5"/>
                                        </p:tgtEl>
                                        <p:attrNameLst>
                                          <p:attrName>ppt_x</p:attrName>
                                          <p:attrName>ppt_y</p:attrName>
                                        </p:attrNameLst>
                                      </p:cBhvr>
                                      <p:rCtr x="5143" y="0"/>
                                    </p:animMotion>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8"/>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grpId="1" nodeType="clickEffect">
                                  <p:stCondLst>
                                    <p:cond delay="0"/>
                                  </p:stCondLst>
                                  <p:childTnLst>
                                    <p:set>
                                      <p:cBhvr>
                                        <p:cTn id="90" dur="1" fill="hold">
                                          <p:stCondLst>
                                            <p:cond delay="0"/>
                                          </p:stCondLst>
                                        </p:cTn>
                                        <p:tgtEl>
                                          <p:spTgt spid="59"/>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6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74"/>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89"/>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63" presetClass="path" presetSubtype="0" accel="50000" decel="50000" fill="hold" nodeType="clickEffect">
                                  <p:stCondLst>
                                    <p:cond delay="0"/>
                                  </p:stCondLst>
                                  <p:childTnLst>
                                    <p:animMotion origin="layout" path="M 0.08346 -2.59259E-6 L 0.18528 -2.59259E-6 " pathEditMode="relative" rAng="0" ptsTypes="AA">
                                      <p:cBhvr>
                                        <p:cTn id="106" dur="2000" fill="hold"/>
                                        <p:tgtEl>
                                          <p:spTgt spid="63"/>
                                        </p:tgtEl>
                                        <p:attrNameLst>
                                          <p:attrName>ppt_x</p:attrName>
                                          <p:attrName>ppt_y</p:attrName>
                                        </p:attrNameLst>
                                      </p:cBhvr>
                                      <p:rCtr x="5091" y="0"/>
                                    </p:animMotion>
                                  </p:childTnLst>
                                </p:cTn>
                              </p:par>
                            </p:childTnLst>
                          </p:cTn>
                        </p:par>
                      </p:childTnLst>
                    </p:cTn>
                  </p:par>
                  <p:par>
                    <p:cTn id="107" fill="hold">
                      <p:stCondLst>
                        <p:cond delay="indefinite"/>
                      </p:stCondLst>
                      <p:childTnLst>
                        <p:par>
                          <p:cTn id="108" fill="hold">
                            <p:stCondLst>
                              <p:cond delay="0"/>
                            </p:stCondLst>
                            <p:childTnLst>
                              <p:par>
                                <p:cTn id="109" presetID="63" presetClass="path" presetSubtype="0" accel="50000" decel="50000" fill="hold" nodeType="clickEffect">
                                  <p:stCondLst>
                                    <p:cond delay="0"/>
                                  </p:stCondLst>
                                  <p:childTnLst>
                                    <p:animMotion origin="layout" path="M 0.18268 -4.44444E-6 L 0.28477 -4.44444E-6 " pathEditMode="relative" rAng="0" ptsTypes="AA">
                                      <p:cBhvr>
                                        <p:cTn id="110" dur="2000" fill="hold"/>
                                        <p:tgtEl>
                                          <p:spTgt spid="5"/>
                                        </p:tgtEl>
                                        <p:attrNameLst>
                                          <p:attrName>ppt_x</p:attrName>
                                          <p:attrName>ppt_y</p:attrName>
                                        </p:attrNameLst>
                                      </p:cBhvr>
                                      <p:rCtr x="5104" y="0"/>
                                    </p:animMotion>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71"/>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xit" presetSubtype="0" fill="hold" grpId="1" nodeType="clickEffect">
                                  <p:stCondLst>
                                    <p:cond delay="0"/>
                                  </p:stCondLst>
                                  <p:childTnLst>
                                    <p:set>
                                      <p:cBhvr>
                                        <p:cTn id="118" dur="1" fill="hold">
                                          <p:stCondLst>
                                            <p:cond delay="0"/>
                                          </p:stCondLst>
                                        </p:cTn>
                                        <p:tgtEl>
                                          <p:spTgt spid="61"/>
                                        </p:tgtEl>
                                        <p:attrNameLst>
                                          <p:attrName>style.visibility</p:attrName>
                                        </p:attrNameLst>
                                      </p:cBhvr>
                                      <p:to>
                                        <p:strVal val="hidden"/>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76"/>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75"/>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91"/>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50" grpId="0"/>
      <p:bldP spid="55" grpId="0"/>
      <p:bldP spid="56" grpId="0"/>
      <p:bldP spid="67" grpId="0"/>
      <p:bldP spid="74" grpId="0"/>
      <p:bldP spid="75" grpId="0"/>
      <p:bldP spid="80" grpId="0"/>
      <p:bldP spid="80" grpId="1"/>
      <p:bldP spid="59" grpId="0"/>
      <p:bldP spid="59" grpId="1"/>
      <p:bldP spid="61" grpId="0"/>
      <p:bldP spid="61" grpId="1"/>
      <p:bldP spid="7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Reverse a linked list</a:t>
            </a:r>
          </a:p>
        </p:txBody>
      </p:sp>
      <p:sp>
        <p:nvSpPr>
          <p:cNvPr id="3" name="Content Placeholder 2"/>
          <p:cNvSpPr>
            <a:spLocks noGrp="1"/>
          </p:cNvSpPr>
          <p:nvPr>
            <p:ph idx="1"/>
          </p:nvPr>
        </p:nvSpPr>
        <p:spPr/>
        <p:txBody>
          <a:bodyPr/>
          <a:lstStyle/>
          <a:p>
            <a:r>
              <a:rPr lang="en-US" dirty="0"/>
              <a:t>Write an algorithm &amp; C program to reverse a Singly linked list</a:t>
            </a:r>
          </a:p>
        </p:txBody>
      </p:sp>
    </p:spTree>
    <p:extLst>
      <p:ext uri="{BB962C8B-B14F-4D97-AF65-F5344CB8AC3E}">
        <p14:creationId xmlns:p14="http://schemas.microsoft.com/office/powerpoint/2010/main" val="368436368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Circularly Linked Linear List</a:t>
            </a:r>
            <a:endParaRPr lang="en-US" dirty="0"/>
          </a:p>
        </p:txBody>
      </p:sp>
      <p:sp>
        <p:nvSpPr>
          <p:cNvPr id="3" name="Content Placeholder 2"/>
          <p:cNvSpPr>
            <a:spLocks noGrp="1"/>
          </p:cNvSpPr>
          <p:nvPr>
            <p:ph idx="1"/>
          </p:nvPr>
        </p:nvSpPr>
        <p:spPr/>
        <p:txBody>
          <a:bodyPr/>
          <a:lstStyle/>
          <a:p>
            <a:r>
              <a:rPr lang="en-IN" dirty="0"/>
              <a:t>If we </a:t>
            </a:r>
            <a:r>
              <a:rPr lang="en-IN" b="1" dirty="0">
                <a:solidFill>
                  <a:srgbClr val="C00000"/>
                </a:solidFill>
              </a:rPr>
              <a:t>replace NULL</a:t>
            </a:r>
            <a:r>
              <a:rPr lang="en-IN" b="1" dirty="0">
                <a:solidFill>
                  <a:srgbClr val="FF0000"/>
                </a:solidFill>
              </a:rPr>
              <a:t> </a:t>
            </a:r>
            <a:r>
              <a:rPr lang="en-IN" dirty="0"/>
              <a:t>pointer of the </a:t>
            </a:r>
            <a:r>
              <a:rPr lang="en-IN" b="1" dirty="0">
                <a:solidFill>
                  <a:srgbClr val="C00000"/>
                </a:solidFill>
              </a:rPr>
              <a:t>last node</a:t>
            </a:r>
            <a:r>
              <a:rPr lang="en-IN" b="1" dirty="0">
                <a:solidFill>
                  <a:srgbClr val="FF0000"/>
                </a:solidFill>
              </a:rPr>
              <a:t> </a:t>
            </a:r>
            <a:r>
              <a:rPr lang="en-IN" dirty="0"/>
              <a:t>of Singly Linked Linear List with the </a:t>
            </a:r>
            <a:r>
              <a:rPr lang="en-IN" b="1" dirty="0">
                <a:solidFill>
                  <a:srgbClr val="C00000"/>
                </a:solidFill>
              </a:rPr>
              <a:t>address of its</a:t>
            </a:r>
            <a:r>
              <a:rPr lang="en-IN" b="1" dirty="0">
                <a:solidFill>
                  <a:srgbClr val="FF0000"/>
                </a:solidFill>
              </a:rPr>
              <a:t> </a:t>
            </a:r>
            <a:r>
              <a:rPr lang="en-IN" b="1" dirty="0">
                <a:solidFill>
                  <a:srgbClr val="C00000"/>
                </a:solidFill>
              </a:rPr>
              <a:t>first node</a:t>
            </a:r>
            <a:r>
              <a:rPr lang="en-IN" dirty="0"/>
              <a:t>, that list becomes circularly linked linear list or </a:t>
            </a:r>
            <a:r>
              <a:rPr lang="en-IN" b="1" dirty="0"/>
              <a:t>Circular List</a:t>
            </a:r>
            <a:r>
              <a:rPr lang="en-IN" dirty="0"/>
              <a:t>.</a:t>
            </a:r>
          </a:p>
          <a:p>
            <a:r>
              <a:rPr lang="en-IN" b="1" dirty="0">
                <a:solidFill>
                  <a:srgbClr val="C00000"/>
                </a:solidFill>
              </a:rPr>
              <a:t>FIRST</a:t>
            </a:r>
            <a:r>
              <a:rPr lang="en-IN" dirty="0">
                <a:solidFill>
                  <a:srgbClr val="C00000"/>
                </a:solidFill>
              </a:rPr>
              <a:t> </a:t>
            </a:r>
            <a:r>
              <a:rPr lang="en-IN" dirty="0"/>
              <a:t>is the address of first node of Circular List</a:t>
            </a:r>
          </a:p>
          <a:p>
            <a:r>
              <a:rPr lang="en-IN" b="1" dirty="0">
                <a:solidFill>
                  <a:srgbClr val="C00000"/>
                </a:solidFill>
              </a:rPr>
              <a:t>LAST</a:t>
            </a:r>
            <a:r>
              <a:rPr lang="en-IN" dirty="0">
                <a:solidFill>
                  <a:srgbClr val="C00000"/>
                </a:solidFill>
              </a:rPr>
              <a:t> </a:t>
            </a:r>
            <a:r>
              <a:rPr lang="en-IN" dirty="0"/>
              <a:t>is the address of the last node of Circular List</a:t>
            </a:r>
          </a:p>
          <a:p>
            <a:r>
              <a:rPr lang="en-IN" b="1" dirty="0"/>
              <a:t>Advantages of Circular List</a:t>
            </a:r>
          </a:p>
          <a:p>
            <a:pPr lvl="1"/>
            <a:r>
              <a:rPr lang="en-IN" dirty="0"/>
              <a:t>In circular list, every node is accessible from given node</a:t>
            </a:r>
          </a:p>
          <a:p>
            <a:pPr lvl="1"/>
            <a:r>
              <a:rPr lang="en-IN" dirty="0"/>
              <a:t>It saves time when we have to go to the first node from the last node. It can be done in single step because there is no need to traverse the in between nodes. But in double linked list, we will have to go through in between nodes </a:t>
            </a:r>
          </a:p>
          <a:p>
            <a:endParaRPr lang="en-US" dirty="0"/>
          </a:p>
        </p:txBody>
      </p:sp>
      <p:grpSp>
        <p:nvGrpSpPr>
          <p:cNvPr id="4" name="Group 3"/>
          <p:cNvGrpSpPr/>
          <p:nvPr/>
        </p:nvGrpSpPr>
        <p:grpSpPr>
          <a:xfrm>
            <a:off x="1469568" y="5183620"/>
            <a:ext cx="920012" cy="533400"/>
            <a:chOff x="951919" y="5486400"/>
            <a:chExt cx="920012" cy="533400"/>
          </a:xfrm>
        </p:grpSpPr>
        <p:sp>
          <p:nvSpPr>
            <p:cNvPr id="5" name="Rectangle 4"/>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US" sz="2400" b="1" dirty="0"/>
            </a:p>
          </p:txBody>
        </p:sp>
        <p:sp>
          <p:nvSpPr>
            <p:cNvPr id="6" name="Rectangle 5"/>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7" name="Group 6"/>
          <p:cNvGrpSpPr/>
          <p:nvPr/>
        </p:nvGrpSpPr>
        <p:grpSpPr>
          <a:xfrm>
            <a:off x="2691398" y="5183620"/>
            <a:ext cx="920012" cy="533400"/>
            <a:chOff x="951919" y="5486400"/>
            <a:chExt cx="920012" cy="533400"/>
          </a:xfrm>
        </p:grpSpPr>
        <p:sp>
          <p:nvSpPr>
            <p:cNvPr id="8" name="Rectangle 7"/>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9" name="Rectangle 8"/>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0" name="Group 9"/>
          <p:cNvGrpSpPr/>
          <p:nvPr/>
        </p:nvGrpSpPr>
        <p:grpSpPr>
          <a:xfrm>
            <a:off x="3910598" y="5183620"/>
            <a:ext cx="920012" cy="533400"/>
            <a:chOff x="951919" y="5486400"/>
            <a:chExt cx="920012" cy="533400"/>
          </a:xfrm>
        </p:grpSpPr>
        <p:sp>
          <p:nvSpPr>
            <p:cNvPr id="11" name="Rectangle 10"/>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15</a:t>
              </a:r>
              <a:endParaRPr lang="en-US" sz="2400" b="1" dirty="0"/>
            </a:p>
          </p:txBody>
        </p:sp>
        <p:sp>
          <p:nvSpPr>
            <p:cNvPr id="12" name="Rectangle 11"/>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3" name="Group 12"/>
          <p:cNvGrpSpPr/>
          <p:nvPr/>
        </p:nvGrpSpPr>
        <p:grpSpPr>
          <a:xfrm>
            <a:off x="5129798" y="5183620"/>
            <a:ext cx="920012" cy="533400"/>
            <a:chOff x="951919" y="5486400"/>
            <a:chExt cx="920012" cy="533400"/>
          </a:xfrm>
        </p:grpSpPr>
        <p:sp>
          <p:nvSpPr>
            <p:cNvPr id="14" name="Rectangle 13"/>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20</a:t>
              </a:r>
              <a:endParaRPr lang="en-US" sz="2400" b="1" dirty="0"/>
            </a:p>
          </p:txBody>
        </p:sp>
        <p:sp>
          <p:nvSpPr>
            <p:cNvPr id="15" name="Rectangle 14"/>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6" name="Group 15"/>
          <p:cNvGrpSpPr/>
          <p:nvPr/>
        </p:nvGrpSpPr>
        <p:grpSpPr>
          <a:xfrm>
            <a:off x="6348998" y="5183620"/>
            <a:ext cx="920012" cy="533400"/>
            <a:chOff x="951919" y="5486400"/>
            <a:chExt cx="920012" cy="533400"/>
          </a:xfrm>
        </p:grpSpPr>
        <p:sp>
          <p:nvSpPr>
            <p:cNvPr id="17" name="Rectangle 16"/>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25</a:t>
              </a:r>
              <a:endParaRPr lang="en-US" sz="2400" b="1" dirty="0"/>
            </a:p>
          </p:txBody>
        </p:sp>
        <p:sp>
          <p:nvSpPr>
            <p:cNvPr id="18" name="Rectangle 17"/>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9" name="Group 18"/>
          <p:cNvGrpSpPr/>
          <p:nvPr/>
        </p:nvGrpSpPr>
        <p:grpSpPr>
          <a:xfrm>
            <a:off x="7568198" y="5183620"/>
            <a:ext cx="1058662" cy="533400"/>
            <a:chOff x="6256538" y="5334000"/>
            <a:chExt cx="1058662" cy="533400"/>
          </a:xfrm>
        </p:grpSpPr>
        <p:sp>
          <p:nvSpPr>
            <p:cNvPr id="20" name="Rectangle 19"/>
            <p:cNvSpPr/>
            <p:nvPr/>
          </p:nvSpPr>
          <p:spPr>
            <a:xfrm>
              <a:off x="6256538" y="53340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30</a:t>
              </a:r>
              <a:endParaRPr lang="en-US" sz="2400" b="1" dirty="0"/>
            </a:p>
          </p:txBody>
        </p:sp>
        <p:sp>
          <p:nvSpPr>
            <p:cNvPr id="21" name="Rectangle 20"/>
            <p:cNvSpPr/>
            <p:nvPr/>
          </p:nvSpPr>
          <p:spPr>
            <a:xfrm>
              <a:off x="6795550" y="5334000"/>
              <a:ext cx="51965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22" name="Straight Arrow Connector 21"/>
          <p:cNvCxnSpPr>
            <a:stCxn id="6" idx="3"/>
            <a:endCxn id="8" idx="1"/>
          </p:cNvCxnSpPr>
          <p:nvPr/>
        </p:nvCxnSpPr>
        <p:spPr>
          <a:xfrm>
            <a:off x="2389580" y="5450320"/>
            <a:ext cx="30181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3" name="Straight Arrow Connector 22"/>
          <p:cNvCxnSpPr>
            <a:stCxn id="9" idx="3"/>
            <a:endCxn id="11" idx="1"/>
          </p:cNvCxnSpPr>
          <p:nvPr/>
        </p:nvCxnSpPr>
        <p:spPr>
          <a:xfrm>
            <a:off x="3611410" y="5450320"/>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4" name="Straight Arrow Connector 23"/>
          <p:cNvCxnSpPr>
            <a:stCxn id="12" idx="3"/>
            <a:endCxn id="14" idx="1"/>
          </p:cNvCxnSpPr>
          <p:nvPr/>
        </p:nvCxnSpPr>
        <p:spPr>
          <a:xfrm>
            <a:off x="4830610" y="5450320"/>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5" name="Straight Arrow Connector 24"/>
          <p:cNvCxnSpPr>
            <a:stCxn id="15" idx="3"/>
            <a:endCxn id="17" idx="1"/>
          </p:cNvCxnSpPr>
          <p:nvPr/>
        </p:nvCxnSpPr>
        <p:spPr>
          <a:xfrm>
            <a:off x="6049810" y="5450320"/>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6" name="Straight Arrow Connector 25"/>
          <p:cNvCxnSpPr>
            <a:stCxn id="18" idx="3"/>
            <a:endCxn id="20" idx="1"/>
          </p:cNvCxnSpPr>
          <p:nvPr/>
        </p:nvCxnSpPr>
        <p:spPr>
          <a:xfrm>
            <a:off x="7269010" y="5450320"/>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7" name="Straight Connector 26"/>
          <p:cNvCxnSpPr/>
          <p:nvPr/>
        </p:nvCxnSpPr>
        <p:spPr>
          <a:xfrm flipV="1">
            <a:off x="8111612" y="5183620"/>
            <a:ext cx="500120" cy="500128"/>
          </a:xfrm>
          <a:prstGeom prst="line">
            <a:avLst/>
          </a:prstGeom>
          <a:ln w="28575">
            <a:solidFill>
              <a:srgbClr val="B84742"/>
            </a:solidFill>
          </a:ln>
        </p:spPr>
        <p:style>
          <a:lnRef idx="3">
            <a:schemeClr val="accent6"/>
          </a:lnRef>
          <a:fillRef idx="0">
            <a:schemeClr val="accent6"/>
          </a:fillRef>
          <a:effectRef idx="2">
            <a:schemeClr val="accent6"/>
          </a:effectRef>
          <a:fontRef idx="minor">
            <a:schemeClr val="tx1"/>
          </a:fontRef>
        </p:style>
      </p:cxnSp>
      <p:sp>
        <p:nvSpPr>
          <p:cNvPr id="28" name="TextBox 27"/>
          <p:cNvSpPr txBox="1"/>
          <p:nvPr/>
        </p:nvSpPr>
        <p:spPr>
          <a:xfrm>
            <a:off x="1317168" y="5945620"/>
            <a:ext cx="734496" cy="369332"/>
          </a:xfrm>
          <a:prstGeom prst="rect">
            <a:avLst/>
          </a:prstGeom>
          <a:noFill/>
        </p:spPr>
        <p:txBody>
          <a:bodyPr wrap="none" rtlCol="0">
            <a:spAutoFit/>
          </a:bodyPr>
          <a:lstStyle/>
          <a:p>
            <a:r>
              <a:rPr lang="en-IN" b="1" dirty="0">
                <a:solidFill>
                  <a:srgbClr val="C00000"/>
                </a:solidFill>
              </a:rPr>
              <a:t>FIRST</a:t>
            </a:r>
            <a:endParaRPr lang="en-US" b="1" dirty="0">
              <a:solidFill>
                <a:srgbClr val="C00000"/>
              </a:solidFill>
            </a:endParaRPr>
          </a:p>
        </p:txBody>
      </p:sp>
      <p:cxnSp>
        <p:nvCxnSpPr>
          <p:cNvPr id="29" name="Straight Arrow Connector 28"/>
          <p:cNvCxnSpPr/>
          <p:nvPr/>
        </p:nvCxnSpPr>
        <p:spPr>
          <a:xfrm flipV="1">
            <a:off x="1635718" y="5717020"/>
            <a:ext cx="0" cy="3048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30" name="Freeform 29"/>
          <p:cNvSpPr/>
          <p:nvPr/>
        </p:nvSpPr>
        <p:spPr>
          <a:xfrm>
            <a:off x="2136319" y="5469370"/>
            <a:ext cx="7096125" cy="628650"/>
          </a:xfrm>
          <a:custGeom>
            <a:avLst/>
            <a:gdLst>
              <a:gd name="connsiteX0" fmla="*/ 6486525 w 7096125"/>
              <a:gd name="connsiteY0" fmla="*/ 0 h 628650"/>
              <a:gd name="connsiteX1" fmla="*/ 6486525 w 7096125"/>
              <a:gd name="connsiteY1" fmla="*/ 0 h 628650"/>
              <a:gd name="connsiteX2" fmla="*/ 6934200 w 7096125"/>
              <a:gd name="connsiteY2" fmla="*/ 0 h 628650"/>
              <a:gd name="connsiteX3" fmla="*/ 7096125 w 7096125"/>
              <a:gd name="connsiteY3" fmla="*/ 0 h 628650"/>
              <a:gd name="connsiteX4" fmla="*/ 7096125 w 7096125"/>
              <a:gd name="connsiteY4" fmla="*/ 628650 h 628650"/>
              <a:gd name="connsiteX5" fmla="*/ 0 w 7096125"/>
              <a:gd name="connsiteY5" fmla="*/ 628650 h 628650"/>
              <a:gd name="connsiteX6" fmla="*/ 0 w 7096125"/>
              <a:gd name="connsiteY6" fmla="*/ 228600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96125" h="628650">
                <a:moveTo>
                  <a:pt x="6486525" y="0"/>
                </a:moveTo>
                <a:lnTo>
                  <a:pt x="6486525" y="0"/>
                </a:lnTo>
                <a:lnTo>
                  <a:pt x="6934200" y="0"/>
                </a:lnTo>
                <a:lnTo>
                  <a:pt x="7096125" y="0"/>
                </a:lnTo>
                <a:lnTo>
                  <a:pt x="7096125" y="628650"/>
                </a:lnTo>
                <a:lnTo>
                  <a:pt x="0" y="628650"/>
                </a:lnTo>
                <a:lnTo>
                  <a:pt x="0" y="228600"/>
                </a:lnTo>
              </a:path>
            </a:pathLst>
          </a:cu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31" name="TextBox 30"/>
          <p:cNvSpPr txBox="1"/>
          <p:nvPr/>
        </p:nvSpPr>
        <p:spPr>
          <a:xfrm>
            <a:off x="7667485" y="4497820"/>
            <a:ext cx="683200" cy="369332"/>
          </a:xfrm>
          <a:prstGeom prst="rect">
            <a:avLst/>
          </a:prstGeom>
          <a:noFill/>
        </p:spPr>
        <p:txBody>
          <a:bodyPr wrap="none" rtlCol="0">
            <a:spAutoFit/>
          </a:bodyPr>
          <a:lstStyle/>
          <a:p>
            <a:r>
              <a:rPr lang="en-IN" b="1" dirty="0">
                <a:solidFill>
                  <a:srgbClr val="C00000"/>
                </a:solidFill>
              </a:rPr>
              <a:t>LAST</a:t>
            </a:r>
            <a:endParaRPr lang="en-US" b="1" dirty="0">
              <a:solidFill>
                <a:srgbClr val="C00000"/>
              </a:solidFill>
            </a:endParaRPr>
          </a:p>
        </p:txBody>
      </p:sp>
      <p:cxnSp>
        <p:nvCxnSpPr>
          <p:cNvPr id="32" name="Straight Arrow Connector 31"/>
          <p:cNvCxnSpPr/>
          <p:nvPr/>
        </p:nvCxnSpPr>
        <p:spPr>
          <a:xfrm>
            <a:off x="7988727" y="4867152"/>
            <a:ext cx="0" cy="3164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10371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nodeType="clickEffect">
                                  <p:stCondLst>
                                    <p:cond delay="0"/>
                                  </p:stCondLst>
                                  <p:childTnLst>
                                    <p:set>
                                      <p:cBhvr>
                                        <p:cTn id="48" dur="1" fill="hold">
                                          <p:stCondLst>
                                            <p:cond delay="0"/>
                                          </p:stCondLst>
                                        </p:cTn>
                                        <p:tgtEl>
                                          <p:spTgt spid="27"/>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21" presetClass="entr" presetSubtype="1" fill="hold" grpId="0" nodeType="click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wheel(1)">
                                      <p:cBhvr>
                                        <p:cTn id="53" dur="2000"/>
                                        <p:tgtEl>
                                          <p:spTgt spid="30"/>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31"/>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32"/>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8" grpId="0"/>
      <p:bldP spid="30" grpId="0" animBg="1"/>
      <p:bldP spid="3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Circularly Linked Linear List </a:t>
            </a:r>
            <a:r>
              <a:rPr lang="en-IN" dirty="0" err="1"/>
              <a:t>Cont</a:t>
            </a:r>
            <a:r>
              <a:rPr lang="en-IN" dirty="0"/>
              <a:t>…</a:t>
            </a:r>
            <a:endParaRPr lang="en-US" dirty="0"/>
          </a:p>
        </p:txBody>
      </p:sp>
      <p:sp>
        <p:nvSpPr>
          <p:cNvPr id="3" name="Content Placeholder 2"/>
          <p:cNvSpPr>
            <a:spLocks noGrp="1"/>
          </p:cNvSpPr>
          <p:nvPr>
            <p:ph idx="1"/>
          </p:nvPr>
        </p:nvSpPr>
        <p:spPr/>
        <p:txBody>
          <a:bodyPr/>
          <a:lstStyle/>
          <a:p>
            <a:r>
              <a:rPr lang="en-IN" sz="2800" b="1" dirty="0"/>
              <a:t>Disadvantages of Circular List</a:t>
            </a:r>
          </a:p>
          <a:p>
            <a:pPr lvl="1"/>
            <a:r>
              <a:rPr lang="en-IN" sz="2400" dirty="0"/>
              <a:t>It is not easy to reverse the linked list.</a:t>
            </a:r>
          </a:p>
          <a:p>
            <a:pPr lvl="1"/>
            <a:r>
              <a:rPr lang="en-IN" sz="2400" dirty="0"/>
              <a:t>If proper care is not taken, then the problem of infinite loop can occur.</a:t>
            </a:r>
          </a:p>
          <a:p>
            <a:pPr lvl="1"/>
            <a:r>
              <a:rPr lang="en-IN" sz="2400" dirty="0"/>
              <a:t>If we at a node and go back to the previous node, then we can not do it in single step. Instead we have to complete the entire circle by going through the in between nodes and then we will reach the required node.</a:t>
            </a:r>
          </a:p>
          <a:p>
            <a:r>
              <a:rPr lang="en-IN" sz="2800" b="1" dirty="0"/>
              <a:t>Operations on Circular List</a:t>
            </a:r>
          </a:p>
          <a:p>
            <a:pPr lvl="1"/>
            <a:r>
              <a:rPr lang="en-IN" sz="2400" dirty="0"/>
              <a:t>Insert at First</a:t>
            </a:r>
          </a:p>
          <a:p>
            <a:pPr lvl="1"/>
            <a:r>
              <a:rPr lang="en-IN" sz="2400" dirty="0"/>
              <a:t>Insert at Last</a:t>
            </a:r>
          </a:p>
          <a:p>
            <a:pPr lvl="1"/>
            <a:r>
              <a:rPr lang="en-IN" sz="2400" dirty="0"/>
              <a:t>Insert in Ordered List</a:t>
            </a:r>
          </a:p>
          <a:p>
            <a:pPr lvl="1"/>
            <a:r>
              <a:rPr lang="en-IN" sz="2400" dirty="0"/>
              <a:t>Delete a node</a:t>
            </a:r>
          </a:p>
          <a:p>
            <a:endParaRPr lang="en-US" dirty="0"/>
          </a:p>
        </p:txBody>
      </p:sp>
    </p:spTree>
    <p:extLst>
      <p:ext uri="{BB962C8B-B14F-4D97-AF65-F5344CB8AC3E}">
        <p14:creationId xmlns:p14="http://schemas.microsoft.com/office/powerpoint/2010/main" val="1681595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Procedure: CIR_INS_FIRST(X,FIRST,LAST)</a:t>
            </a:r>
            <a:endParaRPr lang="en-US" dirty="0"/>
          </a:p>
        </p:txBody>
      </p:sp>
      <p:sp>
        <p:nvSpPr>
          <p:cNvPr id="3" name="Content Placeholder 2"/>
          <p:cNvSpPr>
            <a:spLocks noGrp="1"/>
          </p:cNvSpPr>
          <p:nvPr>
            <p:ph idx="1"/>
          </p:nvPr>
        </p:nvSpPr>
        <p:spPr/>
        <p:txBody>
          <a:bodyPr/>
          <a:lstStyle/>
          <a:p>
            <a:r>
              <a:rPr lang="en-IN" dirty="0"/>
              <a:t>This procedure </a:t>
            </a:r>
            <a:r>
              <a:rPr lang="en-IN" b="1" dirty="0">
                <a:solidFill>
                  <a:srgbClr val="C00000"/>
                </a:solidFill>
              </a:rPr>
              <a:t>inserts</a:t>
            </a:r>
            <a:r>
              <a:rPr lang="en-IN" b="1" dirty="0">
                <a:solidFill>
                  <a:srgbClr val="FF0000"/>
                </a:solidFill>
              </a:rPr>
              <a:t> </a:t>
            </a:r>
            <a:r>
              <a:rPr lang="en-IN" b="1" dirty="0">
                <a:solidFill>
                  <a:srgbClr val="C00000"/>
                </a:solidFill>
              </a:rPr>
              <a:t>a new node at the first position</a:t>
            </a:r>
            <a:r>
              <a:rPr lang="en-IN" b="1" dirty="0">
                <a:solidFill>
                  <a:srgbClr val="FF0000"/>
                </a:solidFill>
              </a:rPr>
              <a:t> </a:t>
            </a:r>
            <a:r>
              <a:rPr lang="en-IN" dirty="0"/>
              <a:t>of Circular linked list. </a:t>
            </a:r>
          </a:p>
          <a:p>
            <a:r>
              <a:rPr lang="en-IN" b="1" dirty="0">
                <a:solidFill>
                  <a:srgbClr val="C00000"/>
                </a:solidFill>
              </a:rPr>
              <a:t>X</a:t>
            </a:r>
            <a:r>
              <a:rPr lang="en-IN" dirty="0">
                <a:solidFill>
                  <a:srgbClr val="C00000"/>
                </a:solidFill>
              </a:rPr>
              <a:t> </a:t>
            </a:r>
            <a:r>
              <a:rPr lang="en-IN" dirty="0"/>
              <a:t>is a new element to be inserted.</a:t>
            </a:r>
          </a:p>
          <a:p>
            <a:r>
              <a:rPr lang="en-IN" b="1" dirty="0">
                <a:solidFill>
                  <a:srgbClr val="C00000"/>
                </a:solidFill>
              </a:rPr>
              <a:t>FIRST</a:t>
            </a:r>
            <a:r>
              <a:rPr lang="en-IN" dirty="0">
                <a:solidFill>
                  <a:srgbClr val="C00000"/>
                </a:solidFill>
              </a:rPr>
              <a:t> </a:t>
            </a:r>
            <a:r>
              <a:rPr lang="en-IN" dirty="0"/>
              <a:t>and </a:t>
            </a:r>
            <a:r>
              <a:rPr lang="en-IN" b="1" dirty="0">
                <a:solidFill>
                  <a:srgbClr val="C00000"/>
                </a:solidFill>
              </a:rPr>
              <a:t>LAST</a:t>
            </a:r>
            <a:r>
              <a:rPr lang="en-IN" dirty="0">
                <a:solidFill>
                  <a:srgbClr val="C00000"/>
                </a:solidFill>
              </a:rPr>
              <a:t> </a:t>
            </a:r>
            <a:r>
              <a:rPr lang="en-IN" dirty="0"/>
              <a:t>are a </a:t>
            </a:r>
            <a:r>
              <a:rPr lang="en-IN" b="1" dirty="0"/>
              <a:t>pointer to the first &amp; last elements</a:t>
            </a:r>
            <a:r>
              <a:rPr lang="en-IN" dirty="0"/>
              <a:t> of a Circular linked linear list, respectively. </a:t>
            </a:r>
          </a:p>
          <a:p>
            <a:r>
              <a:rPr lang="en-IN" dirty="0"/>
              <a:t>Typical node contains </a:t>
            </a:r>
            <a:r>
              <a:rPr lang="en-IN" b="1" dirty="0">
                <a:solidFill>
                  <a:srgbClr val="C00000"/>
                </a:solidFill>
              </a:rPr>
              <a:t>INFO</a:t>
            </a:r>
            <a:r>
              <a:rPr lang="en-IN" dirty="0">
                <a:solidFill>
                  <a:srgbClr val="C00000"/>
                </a:solidFill>
              </a:rPr>
              <a:t> </a:t>
            </a:r>
            <a:r>
              <a:rPr lang="en-IN" dirty="0"/>
              <a:t>and </a:t>
            </a:r>
            <a:r>
              <a:rPr lang="en-IN" b="1" dirty="0">
                <a:solidFill>
                  <a:srgbClr val="C00000"/>
                </a:solidFill>
              </a:rPr>
              <a:t>LINK</a:t>
            </a:r>
            <a:r>
              <a:rPr lang="en-IN" dirty="0">
                <a:solidFill>
                  <a:srgbClr val="C00000"/>
                </a:solidFill>
              </a:rPr>
              <a:t> </a:t>
            </a:r>
            <a:r>
              <a:rPr lang="en-IN" dirty="0"/>
              <a:t>fields. </a:t>
            </a:r>
          </a:p>
          <a:p>
            <a:r>
              <a:rPr lang="en-IN" b="1" dirty="0">
                <a:solidFill>
                  <a:srgbClr val="C00000"/>
                </a:solidFill>
              </a:rPr>
              <a:t>NEW</a:t>
            </a:r>
            <a:r>
              <a:rPr lang="en-IN" dirty="0">
                <a:solidFill>
                  <a:srgbClr val="C00000"/>
                </a:solidFill>
              </a:rPr>
              <a:t> </a:t>
            </a:r>
            <a:r>
              <a:rPr lang="en-IN" dirty="0"/>
              <a:t>is a temporary pointer variable.</a:t>
            </a:r>
            <a:endParaRPr lang="en-US" dirty="0"/>
          </a:p>
          <a:p>
            <a:endParaRPr lang="en-US" dirty="0"/>
          </a:p>
        </p:txBody>
      </p:sp>
    </p:spTree>
    <p:extLst>
      <p:ext uri="{BB962C8B-B14F-4D97-AF65-F5344CB8AC3E}">
        <p14:creationId xmlns:p14="http://schemas.microsoft.com/office/powerpoint/2010/main" val="417153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Procedure: CIR_INS_FIRST(X,FIRST,LAST)</a:t>
            </a:r>
          </a:p>
        </p:txBody>
      </p:sp>
      <p:sp>
        <p:nvSpPr>
          <p:cNvPr id="4" name="TextBox 3"/>
          <p:cNvSpPr txBox="1"/>
          <p:nvPr/>
        </p:nvSpPr>
        <p:spPr>
          <a:xfrm>
            <a:off x="233081" y="869700"/>
            <a:ext cx="5760000" cy="1631216"/>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1. [Creates a new empty node]</a:t>
            </a:r>
          </a:p>
          <a:p>
            <a:r>
              <a:rPr lang="en-IN" sz="2000" dirty="0">
                <a:latin typeface="Consolas" pitchFamily="49" charset="0"/>
                <a:cs typeface="Consolas" pitchFamily="49" charset="0"/>
              </a:rPr>
              <a:t>    NEW </a:t>
            </a:r>
            <a:r>
              <a:rPr lang="en-IN" sz="2000" b="1" dirty="0" smtClean="0">
                <a:solidFill>
                  <a:schemeClr val="accent6"/>
                </a:solidFill>
                <a:latin typeface="Consolas" pitchFamily="49" charset="0"/>
                <a:cs typeface="Consolas" pitchFamily="49" charset="0"/>
              </a:rPr>
              <a:t>&lt;=</a:t>
            </a:r>
            <a:r>
              <a:rPr lang="en-IN" sz="2000" dirty="0" smtClean="0">
                <a:latin typeface="Consolas" pitchFamily="49" charset="0"/>
                <a:cs typeface="Consolas" pitchFamily="49" charset="0"/>
              </a:rPr>
              <a:t> NODE</a:t>
            </a:r>
            <a:endParaRPr lang="en-IN" sz="2000" dirty="0">
              <a:latin typeface="Consolas" pitchFamily="49" charset="0"/>
              <a:cs typeface="Consolas" pitchFamily="49" charset="0"/>
            </a:endParaRPr>
          </a:p>
          <a:p>
            <a:r>
              <a:rPr lang="en-IN" sz="2000" b="1" dirty="0">
                <a:solidFill>
                  <a:schemeClr val="tx2"/>
                </a:solidFill>
                <a:latin typeface="Consolas" pitchFamily="49" charset="0"/>
                <a:cs typeface="Consolas" pitchFamily="49" charset="0"/>
              </a:rPr>
              <a:t>2. [Initialize fields of new node and its link]</a:t>
            </a:r>
          </a:p>
          <a:p>
            <a:r>
              <a:rPr lang="en-IN" sz="2000" dirty="0">
                <a:latin typeface="Consolas" pitchFamily="49" charset="0"/>
                <a:cs typeface="Consolas" pitchFamily="49" charset="0"/>
              </a:rPr>
              <a:t>    INFO (NEW)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X</a:t>
            </a:r>
          </a:p>
        </p:txBody>
      </p:sp>
      <p:grpSp>
        <p:nvGrpSpPr>
          <p:cNvPr id="6" name="Group 5"/>
          <p:cNvGrpSpPr/>
          <p:nvPr/>
        </p:nvGrpSpPr>
        <p:grpSpPr>
          <a:xfrm>
            <a:off x="4454333" y="4737849"/>
            <a:ext cx="920012" cy="533400"/>
            <a:chOff x="951919" y="5486400"/>
            <a:chExt cx="920012" cy="533400"/>
          </a:xfrm>
        </p:grpSpPr>
        <p:sp>
          <p:nvSpPr>
            <p:cNvPr id="7" name="Rectangle 6"/>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US" sz="2400" b="1" dirty="0"/>
            </a:p>
          </p:txBody>
        </p:sp>
        <p:sp>
          <p:nvSpPr>
            <p:cNvPr id="8" name="Rectangle 7"/>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9" name="Group 8"/>
          <p:cNvGrpSpPr/>
          <p:nvPr/>
        </p:nvGrpSpPr>
        <p:grpSpPr>
          <a:xfrm>
            <a:off x="5825933" y="4737849"/>
            <a:ext cx="920012" cy="533400"/>
            <a:chOff x="951919" y="5486400"/>
            <a:chExt cx="920012" cy="533400"/>
          </a:xfrm>
        </p:grpSpPr>
        <p:sp>
          <p:nvSpPr>
            <p:cNvPr id="10" name="Rectangle 9"/>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11" name="Rectangle 10"/>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2" name="Group 11"/>
          <p:cNvGrpSpPr/>
          <p:nvPr/>
        </p:nvGrpSpPr>
        <p:grpSpPr>
          <a:xfrm>
            <a:off x="7197533" y="4737849"/>
            <a:ext cx="920012" cy="533400"/>
            <a:chOff x="951919" y="5486400"/>
            <a:chExt cx="920012" cy="533400"/>
          </a:xfrm>
        </p:grpSpPr>
        <p:sp>
          <p:nvSpPr>
            <p:cNvPr id="13" name="Rectangle 12"/>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a:t>
              </a:r>
              <a:endParaRPr lang="en-US" sz="2400" b="1" dirty="0"/>
            </a:p>
          </p:txBody>
        </p:sp>
        <p:sp>
          <p:nvSpPr>
            <p:cNvPr id="14" name="Rectangle 13"/>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5" name="Group 14"/>
          <p:cNvGrpSpPr/>
          <p:nvPr/>
        </p:nvGrpSpPr>
        <p:grpSpPr>
          <a:xfrm>
            <a:off x="8569133" y="4737849"/>
            <a:ext cx="920012" cy="533400"/>
            <a:chOff x="951919" y="5486400"/>
            <a:chExt cx="920012" cy="533400"/>
          </a:xfrm>
        </p:grpSpPr>
        <p:sp>
          <p:nvSpPr>
            <p:cNvPr id="16" name="Rectangle 15"/>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US" sz="2400" b="1" dirty="0"/>
            </a:p>
          </p:txBody>
        </p:sp>
        <p:sp>
          <p:nvSpPr>
            <p:cNvPr id="17" name="Rectangle 16"/>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18" name="Straight Arrow Connector 17"/>
          <p:cNvCxnSpPr>
            <a:stCxn id="8" idx="3"/>
            <a:endCxn id="10" idx="1"/>
          </p:cNvCxnSpPr>
          <p:nvPr/>
        </p:nvCxnSpPr>
        <p:spPr>
          <a:xfrm>
            <a:off x="5374345" y="5004549"/>
            <a:ext cx="4515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9" name="Straight Arrow Connector 18"/>
          <p:cNvCxnSpPr>
            <a:stCxn id="11" idx="3"/>
            <a:endCxn id="13" idx="1"/>
          </p:cNvCxnSpPr>
          <p:nvPr/>
        </p:nvCxnSpPr>
        <p:spPr>
          <a:xfrm>
            <a:off x="6745945" y="5004549"/>
            <a:ext cx="4515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0" name="Straight Arrow Connector 19"/>
          <p:cNvCxnSpPr>
            <a:stCxn id="14" idx="3"/>
            <a:endCxn id="16" idx="1"/>
          </p:cNvCxnSpPr>
          <p:nvPr/>
        </p:nvCxnSpPr>
        <p:spPr>
          <a:xfrm>
            <a:off x="8117545" y="5004549"/>
            <a:ext cx="4515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1" name="Freeform 20"/>
          <p:cNvSpPr/>
          <p:nvPr/>
        </p:nvSpPr>
        <p:spPr>
          <a:xfrm>
            <a:off x="5225693" y="4982688"/>
            <a:ext cx="4586990" cy="659568"/>
          </a:xfrm>
          <a:custGeom>
            <a:avLst/>
            <a:gdLst>
              <a:gd name="connsiteX0" fmla="*/ 4257206 w 4586990"/>
              <a:gd name="connsiteY0" fmla="*/ 0 h 659568"/>
              <a:gd name="connsiteX1" fmla="*/ 4586990 w 4586990"/>
              <a:gd name="connsiteY1" fmla="*/ 0 h 659568"/>
              <a:gd name="connsiteX2" fmla="*/ 4586990 w 4586990"/>
              <a:gd name="connsiteY2" fmla="*/ 659568 h 659568"/>
              <a:gd name="connsiteX3" fmla="*/ 0 w 4586990"/>
              <a:gd name="connsiteY3" fmla="*/ 659568 h 659568"/>
              <a:gd name="connsiteX4" fmla="*/ 0 w 4586990"/>
              <a:gd name="connsiteY4" fmla="*/ 254833 h 6595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6990" h="659568">
                <a:moveTo>
                  <a:pt x="4257206" y="0"/>
                </a:moveTo>
                <a:lnTo>
                  <a:pt x="4586990" y="0"/>
                </a:lnTo>
                <a:lnTo>
                  <a:pt x="4586990" y="659568"/>
                </a:lnTo>
                <a:lnTo>
                  <a:pt x="0" y="659568"/>
                </a:lnTo>
                <a:lnTo>
                  <a:pt x="0" y="254833"/>
                </a:lnTo>
              </a:path>
            </a:pathLst>
          </a:cu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cxnSp>
        <p:nvCxnSpPr>
          <p:cNvPr id="22" name="Straight Arrow Connector 21"/>
          <p:cNvCxnSpPr/>
          <p:nvPr/>
        </p:nvCxnSpPr>
        <p:spPr>
          <a:xfrm flipV="1">
            <a:off x="4688545" y="5271251"/>
            <a:ext cx="0" cy="20798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3" name="TextBox 22"/>
          <p:cNvSpPr txBox="1"/>
          <p:nvPr/>
        </p:nvSpPr>
        <p:spPr>
          <a:xfrm>
            <a:off x="4324707" y="5477091"/>
            <a:ext cx="734496" cy="369332"/>
          </a:xfrm>
          <a:prstGeom prst="rect">
            <a:avLst/>
          </a:prstGeom>
          <a:noFill/>
        </p:spPr>
        <p:txBody>
          <a:bodyPr wrap="none" rtlCol="0">
            <a:spAutoFit/>
          </a:bodyPr>
          <a:lstStyle/>
          <a:p>
            <a:pPr algn="ctr"/>
            <a:r>
              <a:rPr lang="en-IN" b="1" dirty="0">
                <a:solidFill>
                  <a:srgbClr val="C00000"/>
                </a:solidFill>
              </a:rPr>
              <a:t>FIRST</a:t>
            </a:r>
            <a:endParaRPr lang="en-US" b="1" dirty="0">
              <a:solidFill>
                <a:srgbClr val="C00000"/>
              </a:solidFill>
            </a:endParaRPr>
          </a:p>
        </p:txBody>
      </p:sp>
      <p:cxnSp>
        <p:nvCxnSpPr>
          <p:cNvPr id="24" name="Straight Connector 23"/>
          <p:cNvCxnSpPr/>
          <p:nvPr/>
        </p:nvCxnSpPr>
        <p:spPr>
          <a:xfrm>
            <a:off x="2935945" y="3366249"/>
            <a:ext cx="0" cy="2438400"/>
          </a:xfrm>
          <a:prstGeom prst="line">
            <a:avLst/>
          </a:prstGeom>
        </p:spPr>
        <p:style>
          <a:lnRef idx="3">
            <a:schemeClr val="dk1"/>
          </a:lnRef>
          <a:fillRef idx="0">
            <a:schemeClr val="dk1"/>
          </a:fillRef>
          <a:effectRef idx="2">
            <a:schemeClr val="dk1"/>
          </a:effectRef>
          <a:fontRef idx="minor">
            <a:schemeClr val="tx1"/>
          </a:fontRef>
        </p:style>
      </p:cxnSp>
      <p:grpSp>
        <p:nvGrpSpPr>
          <p:cNvPr id="25" name="Group 24"/>
          <p:cNvGrpSpPr/>
          <p:nvPr/>
        </p:nvGrpSpPr>
        <p:grpSpPr>
          <a:xfrm>
            <a:off x="3393145" y="3594849"/>
            <a:ext cx="920012" cy="533400"/>
            <a:chOff x="951919" y="5486400"/>
            <a:chExt cx="920012" cy="533400"/>
          </a:xfrm>
        </p:grpSpPr>
        <p:sp>
          <p:nvSpPr>
            <p:cNvPr id="26" name="Rectangle 25"/>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27" name="Rectangle 26"/>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28" name="Group 27"/>
          <p:cNvGrpSpPr/>
          <p:nvPr/>
        </p:nvGrpSpPr>
        <p:grpSpPr>
          <a:xfrm>
            <a:off x="1413924" y="4280649"/>
            <a:ext cx="920012" cy="533400"/>
            <a:chOff x="951919" y="5486400"/>
            <a:chExt cx="920012" cy="533400"/>
          </a:xfrm>
        </p:grpSpPr>
        <p:sp>
          <p:nvSpPr>
            <p:cNvPr id="29" name="Rectangle 28"/>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30" name="Rectangle 29"/>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sp>
        <p:nvSpPr>
          <p:cNvPr id="31" name="TextBox 30"/>
          <p:cNvSpPr txBox="1"/>
          <p:nvPr/>
        </p:nvSpPr>
        <p:spPr>
          <a:xfrm>
            <a:off x="1426789" y="4312318"/>
            <a:ext cx="495649" cy="461665"/>
          </a:xfrm>
          <a:prstGeom prst="rect">
            <a:avLst/>
          </a:prstGeom>
          <a:noFill/>
        </p:spPr>
        <p:txBody>
          <a:bodyPr wrap="none" rtlCol="0">
            <a:spAutoFit/>
          </a:bodyPr>
          <a:lstStyle/>
          <a:p>
            <a:r>
              <a:rPr lang="en-IN" sz="2400" b="1" dirty="0">
                <a:solidFill>
                  <a:srgbClr val="FFFF00"/>
                </a:solidFill>
              </a:rPr>
              <a:t>50</a:t>
            </a:r>
            <a:endParaRPr lang="en-US" sz="2400" b="1" dirty="0">
              <a:solidFill>
                <a:srgbClr val="FFFF00"/>
              </a:solidFill>
            </a:endParaRPr>
          </a:p>
        </p:txBody>
      </p:sp>
      <p:sp>
        <p:nvSpPr>
          <p:cNvPr id="32" name="TextBox 31"/>
          <p:cNvSpPr txBox="1"/>
          <p:nvPr/>
        </p:nvSpPr>
        <p:spPr>
          <a:xfrm>
            <a:off x="3409971" y="3630475"/>
            <a:ext cx="495649" cy="461665"/>
          </a:xfrm>
          <a:prstGeom prst="rect">
            <a:avLst/>
          </a:prstGeom>
          <a:noFill/>
        </p:spPr>
        <p:txBody>
          <a:bodyPr wrap="none" rtlCol="0">
            <a:spAutoFit/>
          </a:bodyPr>
          <a:lstStyle/>
          <a:p>
            <a:r>
              <a:rPr lang="en-IN" sz="2400" b="1" dirty="0">
                <a:solidFill>
                  <a:srgbClr val="FFFF00"/>
                </a:solidFill>
              </a:rPr>
              <a:t>50</a:t>
            </a:r>
            <a:endParaRPr lang="en-US" sz="2400" b="1" dirty="0">
              <a:solidFill>
                <a:srgbClr val="FFFF00"/>
              </a:solidFill>
            </a:endParaRPr>
          </a:p>
        </p:txBody>
      </p:sp>
      <p:sp>
        <p:nvSpPr>
          <p:cNvPr id="33" name="TextBox 32"/>
          <p:cNvSpPr txBox="1"/>
          <p:nvPr/>
        </p:nvSpPr>
        <p:spPr>
          <a:xfrm>
            <a:off x="1540012" y="4814049"/>
            <a:ext cx="612668" cy="369332"/>
          </a:xfrm>
          <a:prstGeom prst="rect">
            <a:avLst/>
          </a:prstGeom>
          <a:noFill/>
        </p:spPr>
        <p:txBody>
          <a:bodyPr wrap="none" rtlCol="0">
            <a:spAutoFit/>
          </a:bodyPr>
          <a:lstStyle/>
          <a:p>
            <a:pPr algn="ctr"/>
            <a:r>
              <a:rPr lang="en-IN" b="1" dirty="0"/>
              <a:t>NEW</a:t>
            </a:r>
            <a:endParaRPr lang="en-US" b="1" dirty="0"/>
          </a:p>
        </p:txBody>
      </p:sp>
      <p:sp>
        <p:nvSpPr>
          <p:cNvPr id="34" name="TextBox 33"/>
          <p:cNvSpPr txBox="1"/>
          <p:nvPr/>
        </p:nvSpPr>
        <p:spPr>
          <a:xfrm>
            <a:off x="3519233" y="3181583"/>
            <a:ext cx="612668" cy="369332"/>
          </a:xfrm>
          <a:prstGeom prst="rect">
            <a:avLst/>
          </a:prstGeom>
          <a:noFill/>
        </p:spPr>
        <p:txBody>
          <a:bodyPr wrap="none" rtlCol="0">
            <a:spAutoFit/>
          </a:bodyPr>
          <a:lstStyle/>
          <a:p>
            <a:pPr algn="ctr"/>
            <a:r>
              <a:rPr lang="en-IN" b="1" dirty="0"/>
              <a:t>NEW</a:t>
            </a:r>
            <a:endParaRPr lang="en-US" b="1" dirty="0"/>
          </a:p>
        </p:txBody>
      </p:sp>
      <p:sp>
        <p:nvSpPr>
          <p:cNvPr id="35" name="Freeform 34"/>
          <p:cNvSpPr/>
          <p:nvPr/>
        </p:nvSpPr>
        <p:spPr>
          <a:xfrm>
            <a:off x="1030946" y="4520136"/>
            <a:ext cx="1710047" cy="819397"/>
          </a:xfrm>
          <a:custGeom>
            <a:avLst/>
            <a:gdLst>
              <a:gd name="connsiteX0" fmla="*/ 1306285 w 1710047"/>
              <a:gd name="connsiteY0" fmla="*/ 0 h 819397"/>
              <a:gd name="connsiteX1" fmla="*/ 1710047 w 1710047"/>
              <a:gd name="connsiteY1" fmla="*/ 0 h 819397"/>
              <a:gd name="connsiteX2" fmla="*/ 1710047 w 1710047"/>
              <a:gd name="connsiteY2" fmla="*/ 819397 h 819397"/>
              <a:gd name="connsiteX3" fmla="*/ 0 w 1710047"/>
              <a:gd name="connsiteY3" fmla="*/ 819397 h 819397"/>
              <a:gd name="connsiteX4" fmla="*/ 0 w 1710047"/>
              <a:gd name="connsiteY4" fmla="*/ 11875 h 819397"/>
              <a:gd name="connsiteX5" fmla="*/ 391885 w 1710047"/>
              <a:gd name="connsiteY5" fmla="*/ 11875 h 819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047" h="819397">
                <a:moveTo>
                  <a:pt x="1306285" y="0"/>
                </a:moveTo>
                <a:lnTo>
                  <a:pt x="1710047" y="0"/>
                </a:lnTo>
                <a:lnTo>
                  <a:pt x="1710047" y="819397"/>
                </a:lnTo>
                <a:lnTo>
                  <a:pt x="0" y="819397"/>
                </a:lnTo>
                <a:lnTo>
                  <a:pt x="0" y="11875"/>
                </a:lnTo>
                <a:lnTo>
                  <a:pt x="391885" y="11875"/>
                </a:lnTo>
              </a:path>
            </a:pathLst>
          </a:cu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36" name="TextBox 35"/>
          <p:cNvSpPr txBox="1"/>
          <p:nvPr/>
        </p:nvSpPr>
        <p:spPr>
          <a:xfrm>
            <a:off x="1168945" y="3530317"/>
            <a:ext cx="734496" cy="369332"/>
          </a:xfrm>
          <a:prstGeom prst="rect">
            <a:avLst/>
          </a:prstGeom>
          <a:noFill/>
        </p:spPr>
        <p:txBody>
          <a:bodyPr wrap="none" rtlCol="0">
            <a:spAutoFit/>
          </a:bodyPr>
          <a:lstStyle/>
          <a:p>
            <a:pPr algn="ctr"/>
            <a:r>
              <a:rPr lang="en-IN" b="1" dirty="0">
                <a:solidFill>
                  <a:srgbClr val="C00000"/>
                </a:solidFill>
              </a:rPr>
              <a:t>FIRST</a:t>
            </a:r>
            <a:endParaRPr lang="en-US" b="1" dirty="0">
              <a:solidFill>
                <a:srgbClr val="C00000"/>
              </a:solidFill>
            </a:endParaRPr>
          </a:p>
        </p:txBody>
      </p:sp>
      <p:sp>
        <p:nvSpPr>
          <p:cNvPr id="37" name="TextBox 36"/>
          <p:cNvSpPr txBox="1"/>
          <p:nvPr/>
        </p:nvSpPr>
        <p:spPr>
          <a:xfrm>
            <a:off x="1829757" y="3518649"/>
            <a:ext cx="683200" cy="369332"/>
          </a:xfrm>
          <a:prstGeom prst="rect">
            <a:avLst/>
          </a:prstGeom>
          <a:noFill/>
        </p:spPr>
        <p:txBody>
          <a:bodyPr wrap="none" rtlCol="0">
            <a:spAutoFit/>
          </a:bodyPr>
          <a:lstStyle/>
          <a:p>
            <a:pPr algn="ctr"/>
            <a:r>
              <a:rPr lang="en-IN" b="1" dirty="0"/>
              <a:t>LAST</a:t>
            </a:r>
            <a:endParaRPr lang="en-US" b="1" dirty="0"/>
          </a:p>
        </p:txBody>
      </p:sp>
      <p:cxnSp>
        <p:nvCxnSpPr>
          <p:cNvPr id="38" name="Straight Arrow Connector 37"/>
          <p:cNvCxnSpPr>
            <a:stCxn id="36" idx="2"/>
          </p:cNvCxnSpPr>
          <p:nvPr/>
        </p:nvCxnSpPr>
        <p:spPr>
          <a:xfrm>
            <a:off x="1536193" y="3899649"/>
            <a:ext cx="0" cy="4126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9" name="Straight Arrow Connector 38"/>
          <p:cNvCxnSpPr/>
          <p:nvPr/>
        </p:nvCxnSpPr>
        <p:spPr>
          <a:xfrm flipH="1">
            <a:off x="2175924" y="3899649"/>
            <a:ext cx="1" cy="4126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40" name="TextBox 39"/>
          <p:cNvSpPr txBox="1"/>
          <p:nvPr/>
        </p:nvSpPr>
        <p:spPr>
          <a:xfrm>
            <a:off x="8803542" y="3921317"/>
            <a:ext cx="683200" cy="369332"/>
          </a:xfrm>
          <a:prstGeom prst="rect">
            <a:avLst/>
          </a:prstGeom>
          <a:noFill/>
        </p:spPr>
        <p:txBody>
          <a:bodyPr wrap="none" rtlCol="0">
            <a:spAutoFit/>
          </a:bodyPr>
          <a:lstStyle/>
          <a:p>
            <a:pPr algn="ctr"/>
            <a:r>
              <a:rPr lang="en-IN" b="1" dirty="0"/>
              <a:t>LAST</a:t>
            </a:r>
            <a:endParaRPr lang="en-US" b="1" dirty="0"/>
          </a:p>
        </p:txBody>
      </p:sp>
      <p:cxnSp>
        <p:nvCxnSpPr>
          <p:cNvPr id="41" name="Straight Arrow Connector 40"/>
          <p:cNvCxnSpPr/>
          <p:nvPr/>
        </p:nvCxnSpPr>
        <p:spPr>
          <a:xfrm flipH="1">
            <a:off x="9149709" y="4302317"/>
            <a:ext cx="1" cy="4126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42" name="Freeform 41"/>
          <p:cNvSpPr/>
          <p:nvPr/>
        </p:nvSpPr>
        <p:spPr>
          <a:xfrm>
            <a:off x="3164546" y="3878868"/>
            <a:ext cx="6703621" cy="1947553"/>
          </a:xfrm>
          <a:custGeom>
            <a:avLst/>
            <a:gdLst>
              <a:gd name="connsiteX0" fmla="*/ 5462650 w 5830785"/>
              <a:gd name="connsiteY0" fmla="*/ 1104405 h 1947553"/>
              <a:gd name="connsiteX1" fmla="*/ 5830785 w 5830785"/>
              <a:gd name="connsiteY1" fmla="*/ 1104405 h 1947553"/>
              <a:gd name="connsiteX2" fmla="*/ 5830785 w 5830785"/>
              <a:gd name="connsiteY2" fmla="*/ 1947553 h 1947553"/>
              <a:gd name="connsiteX3" fmla="*/ 0 w 5830785"/>
              <a:gd name="connsiteY3" fmla="*/ 1947553 h 1947553"/>
              <a:gd name="connsiteX4" fmla="*/ 0 w 5830785"/>
              <a:gd name="connsiteY4" fmla="*/ 0 h 1947553"/>
              <a:gd name="connsiteX5" fmla="*/ 190006 w 5830785"/>
              <a:gd name="connsiteY5" fmla="*/ 0 h 1947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30785" h="1947553">
                <a:moveTo>
                  <a:pt x="5462650" y="1104405"/>
                </a:moveTo>
                <a:lnTo>
                  <a:pt x="5830785" y="1104405"/>
                </a:lnTo>
                <a:lnTo>
                  <a:pt x="5830785" y="1947553"/>
                </a:lnTo>
                <a:lnTo>
                  <a:pt x="0" y="1947553"/>
                </a:lnTo>
                <a:lnTo>
                  <a:pt x="0" y="0"/>
                </a:lnTo>
                <a:lnTo>
                  <a:pt x="190006" y="0"/>
                </a:lnTo>
              </a:path>
            </a:pathLst>
          </a:cu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43" name="Freeform 42"/>
          <p:cNvSpPr/>
          <p:nvPr/>
        </p:nvSpPr>
        <p:spPr>
          <a:xfrm>
            <a:off x="3716748" y="3855118"/>
            <a:ext cx="1116280" cy="1163781"/>
          </a:xfrm>
          <a:custGeom>
            <a:avLst/>
            <a:gdLst>
              <a:gd name="connsiteX0" fmla="*/ 581891 w 1116280"/>
              <a:gd name="connsiteY0" fmla="*/ 0 h 1163781"/>
              <a:gd name="connsiteX1" fmla="*/ 1116280 w 1116280"/>
              <a:gd name="connsiteY1" fmla="*/ 0 h 1163781"/>
              <a:gd name="connsiteX2" fmla="*/ 1116280 w 1116280"/>
              <a:gd name="connsiteY2" fmla="*/ 498763 h 1163781"/>
              <a:gd name="connsiteX3" fmla="*/ 0 w 1116280"/>
              <a:gd name="connsiteY3" fmla="*/ 498763 h 1163781"/>
              <a:gd name="connsiteX4" fmla="*/ 0 w 1116280"/>
              <a:gd name="connsiteY4" fmla="*/ 1163781 h 1163781"/>
              <a:gd name="connsiteX5" fmla="*/ 736270 w 1116280"/>
              <a:gd name="connsiteY5" fmla="*/ 1163781 h 1163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16280" h="1163781">
                <a:moveTo>
                  <a:pt x="581891" y="0"/>
                </a:moveTo>
                <a:lnTo>
                  <a:pt x="1116280" y="0"/>
                </a:lnTo>
                <a:lnTo>
                  <a:pt x="1116280" y="498763"/>
                </a:lnTo>
                <a:lnTo>
                  <a:pt x="0" y="498763"/>
                </a:lnTo>
                <a:lnTo>
                  <a:pt x="0" y="1163781"/>
                </a:lnTo>
                <a:lnTo>
                  <a:pt x="736270" y="1163781"/>
                </a:lnTo>
              </a:path>
            </a:pathLst>
          </a:cu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44" name="TextBox 43"/>
          <p:cNvSpPr txBox="1"/>
          <p:nvPr/>
        </p:nvSpPr>
        <p:spPr>
          <a:xfrm>
            <a:off x="3806115" y="2830455"/>
            <a:ext cx="734496" cy="369332"/>
          </a:xfrm>
          <a:prstGeom prst="rect">
            <a:avLst/>
          </a:prstGeom>
          <a:noFill/>
        </p:spPr>
        <p:txBody>
          <a:bodyPr wrap="none" rtlCol="0">
            <a:spAutoFit/>
          </a:bodyPr>
          <a:lstStyle/>
          <a:p>
            <a:pPr algn="ctr"/>
            <a:r>
              <a:rPr lang="en-IN" b="1" dirty="0">
                <a:solidFill>
                  <a:srgbClr val="C00000"/>
                </a:solidFill>
              </a:rPr>
              <a:t>FIRST</a:t>
            </a:r>
            <a:endParaRPr lang="en-US" b="1" dirty="0">
              <a:solidFill>
                <a:srgbClr val="C00000"/>
              </a:solidFill>
            </a:endParaRPr>
          </a:p>
        </p:txBody>
      </p:sp>
      <p:cxnSp>
        <p:nvCxnSpPr>
          <p:cNvPr id="45" name="Straight Arrow Connector 44"/>
          <p:cNvCxnSpPr>
            <a:stCxn id="44" idx="2"/>
          </p:cNvCxnSpPr>
          <p:nvPr/>
        </p:nvCxnSpPr>
        <p:spPr>
          <a:xfrm>
            <a:off x="4173363" y="3199787"/>
            <a:ext cx="0" cy="4126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46" name="TextBox 45"/>
          <p:cNvSpPr txBox="1"/>
          <p:nvPr/>
        </p:nvSpPr>
        <p:spPr>
          <a:xfrm>
            <a:off x="6162584" y="869700"/>
            <a:ext cx="5760000" cy="2554545"/>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IF</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  FIRST = NULL</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THEN</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LINK (NEW)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NEW</a:t>
            </a:r>
          </a:p>
          <a:p>
            <a:r>
              <a:rPr lang="en-IN" sz="2000" dirty="0">
                <a:latin typeface="Consolas" pitchFamily="49" charset="0"/>
                <a:cs typeface="Consolas" pitchFamily="49" charset="0"/>
              </a:rPr>
              <a:t>        FIRST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LAST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NEW</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ELSE</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LINK (NEW)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FIRST</a:t>
            </a:r>
          </a:p>
          <a:p>
            <a:r>
              <a:rPr lang="en-IN" sz="2000" dirty="0">
                <a:latin typeface="Consolas" pitchFamily="49" charset="0"/>
                <a:cs typeface="Consolas" pitchFamily="49" charset="0"/>
              </a:rPr>
              <a:t>        LINK (LAST)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NEW</a:t>
            </a:r>
          </a:p>
          <a:p>
            <a:r>
              <a:rPr lang="en-IN" sz="2000" dirty="0">
                <a:latin typeface="Consolas" pitchFamily="49" charset="0"/>
                <a:cs typeface="Consolas" pitchFamily="49" charset="0"/>
              </a:rPr>
              <a:t>        FIRST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NEW</a:t>
            </a:r>
          </a:p>
          <a:p>
            <a:endParaRPr lang="en-IN" sz="2000" dirty="0">
              <a:latin typeface="Consolas" pitchFamily="49" charset="0"/>
              <a:cs typeface="Consolas" pitchFamily="49" charset="0"/>
            </a:endParaRPr>
          </a:p>
          <a:p>
            <a:r>
              <a:rPr lang="en-IN" sz="2000" dirty="0">
                <a:latin typeface="Consolas" pitchFamily="49" charset="0"/>
                <a:cs typeface="Consolas" pitchFamily="49" charset="0"/>
              </a:rPr>
              <a:t>   Return</a:t>
            </a:r>
          </a:p>
        </p:txBody>
      </p:sp>
    </p:spTree>
    <p:extLst>
      <p:ext uri="{BB962C8B-B14F-4D97-AF65-F5344CB8AC3E}">
        <p14:creationId xmlns:p14="http://schemas.microsoft.com/office/powerpoint/2010/main" val="3580267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6">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6">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6">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1" presetClass="entr" presetSubtype="1" fill="hold" grpId="0" nodeType="click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wheel(1)">
                                      <p:cBhvr>
                                        <p:cTn id="41" dur="2000"/>
                                        <p:tgtEl>
                                          <p:spTgt spid="3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6"/>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38"/>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7"/>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39"/>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46">
                                            <p:txEl>
                                              <p:pRg st="3" end="3"/>
                                            </p:txEl>
                                          </p:spTgt>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46">
                                            <p:txEl>
                                              <p:pRg st="4" end="4"/>
                                            </p:txEl>
                                          </p:spTgt>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46">
                                            <p:txEl>
                                              <p:pRg st="5" end="5"/>
                                            </p:txEl>
                                          </p:spTgt>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24"/>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6"/>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9"/>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12"/>
                                        </p:tgtEl>
                                        <p:attrNameLst>
                                          <p:attrName>style.visibility</p:attrName>
                                        </p:attrNameLst>
                                      </p:cBhvr>
                                      <p:to>
                                        <p:strVal val="visible"/>
                                      </p:to>
                                    </p:set>
                                  </p:childTnLst>
                                </p:cTn>
                              </p:par>
                              <p:par>
                                <p:cTn id="74" presetID="1" presetClass="entr" presetSubtype="0" fill="hold" nodeType="withEffect">
                                  <p:stCondLst>
                                    <p:cond delay="0"/>
                                  </p:stCondLst>
                                  <p:childTnLst>
                                    <p:set>
                                      <p:cBhvr>
                                        <p:cTn id="75" dur="1" fill="hold">
                                          <p:stCondLst>
                                            <p:cond delay="0"/>
                                          </p:stCondLst>
                                        </p:cTn>
                                        <p:tgtEl>
                                          <p:spTgt spid="15"/>
                                        </p:tgtEl>
                                        <p:attrNameLst>
                                          <p:attrName>style.visibility</p:attrName>
                                        </p:attrNameLst>
                                      </p:cBhvr>
                                      <p:to>
                                        <p:strVal val="visible"/>
                                      </p:to>
                                    </p:set>
                                  </p:childTnLst>
                                </p:cTn>
                              </p:par>
                              <p:par>
                                <p:cTn id="76" presetID="1" presetClass="entr" presetSubtype="0" fill="hold" nodeType="withEffect">
                                  <p:stCondLst>
                                    <p:cond delay="0"/>
                                  </p:stCondLst>
                                  <p:childTnLst>
                                    <p:set>
                                      <p:cBhvr>
                                        <p:cTn id="77" dur="1" fill="hold">
                                          <p:stCondLst>
                                            <p:cond delay="0"/>
                                          </p:stCondLst>
                                        </p:cTn>
                                        <p:tgtEl>
                                          <p:spTgt spid="18"/>
                                        </p:tgtEl>
                                        <p:attrNameLst>
                                          <p:attrName>style.visibility</p:attrName>
                                        </p:attrNameLst>
                                      </p:cBhvr>
                                      <p:to>
                                        <p:strVal val="visible"/>
                                      </p:to>
                                    </p:set>
                                  </p:childTnLst>
                                </p:cTn>
                              </p:par>
                              <p:par>
                                <p:cTn id="78" presetID="1" presetClass="entr" presetSubtype="0" fill="hold" nodeType="withEffect">
                                  <p:stCondLst>
                                    <p:cond delay="0"/>
                                  </p:stCondLst>
                                  <p:childTnLst>
                                    <p:set>
                                      <p:cBhvr>
                                        <p:cTn id="79" dur="1" fill="hold">
                                          <p:stCondLst>
                                            <p:cond delay="0"/>
                                          </p:stCondLst>
                                        </p:cTn>
                                        <p:tgtEl>
                                          <p:spTgt spid="19"/>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20"/>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21"/>
                                        </p:tgtEl>
                                        <p:attrNameLst>
                                          <p:attrName>style.visibility</p:attrName>
                                        </p:attrNameLst>
                                      </p:cBhvr>
                                      <p:to>
                                        <p:strVal val="visible"/>
                                      </p:to>
                                    </p:set>
                                  </p:childTnLst>
                                </p:cTn>
                              </p:par>
                              <p:par>
                                <p:cTn id="84" presetID="1" presetClass="entr" presetSubtype="0" fill="hold" nodeType="withEffect">
                                  <p:stCondLst>
                                    <p:cond delay="0"/>
                                  </p:stCondLst>
                                  <p:childTnLst>
                                    <p:set>
                                      <p:cBhvr>
                                        <p:cTn id="85" dur="1" fill="hold">
                                          <p:stCondLst>
                                            <p:cond delay="0"/>
                                          </p:stCondLst>
                                        </p:cTn>
                                        <p:tgtEl>
                                          <p:spTgt spid="22"/>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23"/>
                                        </p:tgtEl>
                                        <p:attrNameLst>
                                          <p:attrName>style.visibility</p:attrName>
                                        </p:attrNameLst>
                                      </p:cBhvr>
                                      <p:to>
                                        <p:strVal val="visible"/>
                                      </p:to>
                                    </p:set>
                                  </p:childTnLst>
                                </p:cTn>
                              </p:par>
                              <p:par>
                                <p:cTn id="88" presetID="1" presetClass="entr" presetSubtype="0" fill="hold" nodeType="withEffect">
                                  <p:stCondLst>
                                    <p:cond delay="0"/>
                                  </p:stCondLst>
                                  <p:childTnLst>
                                    <p:set>
                                      <p:cBhvr>
                                        <p:cTn id="89" dur="1" fill="hold">
                                          <p:stCondLst>
                                            <p:cond delay="0"/>
                                          </p:stCondLst>
                                        </p:cTn>
                                        <p:tgtEl>
                                          <p:spTgt spid="41"/>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40"/>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25"/>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34"/>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0"/>
                                          </p:stCondLst>
                                        </p:cTn>
                                        <p:tgtEl>
                                          <p:spTgt spid="32"/>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22" presetClass="entr" presetSubtype="1" fill="hold" grpId="0" nodeType="clickEffect">
                                  <p:stCondLst>
                                    <p:cond delay="0"/>
                                  </p:stCondLst>
                                  <p:childTnLst>
                                    <p:set>
                                      <p:cBhvr>
                                        <p:cTn id="105" dur="1" fill="hold">
                                          <p:stCondLst>
                                            <p:cond delay="0"/>
                                          </p:stCondLst>
                                        </p:cTn>
                                        <p:tgtEl>
                                          <p:spTgt spid="43"/>
                                        </p:tgtEl>
                                        <p:attrNameLst>
                                          <p:attrName>style.visibility</p:attrName>
                                        </p:attrNameLst>
                                      </p:cBhvr>
                                      <p:to>
                                        <p:strVal val="visible"/>
                                      </p:to>
                                    </p:set>
                                    <p:animEffect transition="in" filter="wipe(up)">
                                      <p:cBhvr>
                                        <p:cTn id="106" dur="500"/>
                                        <p:tgtEl>
                                          <p:spTgt spid="43"/>
                                        </p:tgtEl>
                                      </p:cBhvr>
                                    </p:animEffect>
                                  </p:childTnLst>
                                </p:cTn>
                              </p:par>
                            </p:childTnLst>
                          </p:cTn>
                        </p:par>
                      </p:childTnLst>
                    </p:cTn>
                  </p:par>
                  <p:par>
                    <p:cTn id="107" fill="hold">
                      <p:stCondLst>
                        <p:cond delay="indefinite"/>
                      </p:stCondLst>
                      <p:childTnLst>
                        <p:par>
                          <p:cTn id="108" fill="hold">
                            <p:stCondLst>
                              <p:cond delay="0"/>
                            </p:stCondLst>
                            <p:childTnLst>
                              <p:par>
                                <p:cTn id="109" presetID="1" presetClass="exit" presetSubtype="0" fill="hold" grpId="1" nodeType="clickEffect">
                                  <p:stCondLst>
                                    <p:cond delay="0"/>
                                  </p:stCondLst>
                                  <p:childTnLst>
                                    <p:set>
                                      <p:cBhvr>
                                        <p:cTn id="110" dur="1" fill="hold">
                                          <p:stCondLst>
                                            <p:cond delay="0"/>
                                          </p:stCondLst>
                                        </p:cTn>
                                        <p:tgtEl>
                                          <p:spTgt spid="21"/>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21" presetClass="entr" presetSubtype="1" fill="hold" grpId="0" nodeType="click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wheel(1)">
                                      <p:cBhvr>
                                        <p:cTn id="115" dur="2000"/>
                                        <p:tgtEl>
                                          <p:spTgt spid="42"/>
                                        </p:tgtEl>
                                      </p:cBhvr>
                                    </p:animEffect>
                                  </p:childTnLst>
                                </p:cTn>
                              </p:par>
                            </p:childTnLst>
                          </p:cTn>
                        </p:par>
                      </p:childTnLst>
                    </p:cTn>
                  </p:par>
                  <p:par>
                    <p:cTn id="116" fill="hold">
                      <p:stCondLst>
                        <p:cond delay="indefinite"/>
                      </p:stCondLst>
                      <p:childTnLst>
                        <p:par>
                          <p:cTn id="117" fill="hold">
                            <p:stCondLst>
                              <p:cond delay="0"/>
                            </p:stCondLst>
                            <p:childTnLst>
                              <p:par>
                                <p:cTn id="118" presetID="1" presetClass="exit" presetSubtype="0" fill="hold" nodeType="clickEffect">
                                  <p:stCondLst>
                                    <p:cond delay="0"/>
                                  </p:stCondLst>
                                  <p:childTnLst>
                                    <p:set>
                                      <p:cBhvr>
                                        <p:cTn id="119" dur="1" fill="hold">
                                          <p:stCondLst>
                                            <p:cond delay="0"/>
                                          </p:stCondLst>
                                        </p:cTn>
                                        <p:tgtEl>
                                          <p:spTgt spid="22"/>
                                        </p:tgtEl>
                                        <p:attrNameLst>
                                          <p:attrName>style.visibility</p:attrName>
                                        </p:attrNameLst>
                                      </p:cBhvr>
                                      <p:to>
                                        <p:strVal val="hidden"/>
                                      </p:to>
                                    </p:set>
                                  </p:childTnLst>
                                </p:cTn>
                              </p:par>
                              <p:par>
                                <p:cTn id="120" presetID="1" presetClass="exit" presetSubtype="0" fill="hold" grpId="1" nodeType="withEffect">
                                  <p:stCondLst>
                                    <p:cond delay="0"/>
                                  </p:stCondLst>
                                  <p:childTnLst>
                                    <p:set>
                                      <p:cBhvr>
                                        <p:cTn id="121" dur="1" fill="hold">
                                          <p:stCondLst>
                                            <p:cond delay="0"/>
                                          </p:stCondLst>
                                        </p:cTn>
                                        <p:tgtEl>
                                          <p:spTgt spid="23"/>
                                        </p:tgtEl>
                                        <p:attrNameLst>
                                          <p:attrName>style.visibility</p:attrName>
                                        </p:attrNameLst>
                                      </p:cBhvr>
                                      <p:to>
                                        <p:strVal val="hidden"/>
                                      </p:to>
                                    </p:set>
                                  </p:childTnLst>
                                </p:cTn>
                              </p:par>
                              <p:par>
                                <p:cTn id="122" presetID="1" presetClass="entr" presetSubtype="0" fill="hold" grpId="0" nodeType="withEffect">
                                  <p:stCondLst>
                                    <p:cond delay="0"/>
                                  </p:stCondLst>
                                  <p:childTnLst>
                                    <p:set>
                                      <p:cBhvr>
                                        <p:cTn id="123" dur="1" fill="hold">
                                          <p:stCondLst>
                                            <p:cond delay="0"/>
                                          </p:stCondLst>
                                        </p:cTn>
                                        <p:tgtEl>
                                          <p:spTgt spid="44"/>
                                        </p:tgtEl>
                                        <p:attrNameLst>
                                          <p:attrName>style.visibility</p:attrName>
                                        </p:attrNameLst>
                                      </p:cBhvr>
                                      <p:to>
                                        <p:strVal val="visible"/>
                                      </p:to>
                                    </p:set>
                                  </p:childTnLst>
                                </p:cTn>
                              </p:par>
                              <p:par>
                                <p:cTn id="124" presetID="1" presetClass="entr" presetSubtype="0" fill="hold" nodeType="withEffect">
                                  <p:stCondLst>
                                    <p:cond delay="0"/>
                                  </p:stCondLst>
                                  <p:childTnLst>
                                    <p:set>
                                      <p:cBhvr>
                                        <p:cTn id="125" dur="1" fill="hold">
                                          <p:stCondLst>
                                            <p:cond delay="0"/>
                                          </p:stCondLst>
                                        </p:cTn>
                                        <p:tgtEl>
                                          <p:spTgt spid="45"/>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nodeType="clickEffect">
                                  <p:stCondLst>
                                    <p:cond delay="0"/>
                                  </p:stCondLst>
                                  <p:childTnLst>
                                    <p:set>
                                      <p:cBhvr>
                                        <p:cTn id="129" dur="1" fill="hold">
                                          <p:stCondLst>
                                            <p:cond delay="0"/>
                                          </p:stCondLst>
                                        </p:cTn>
                                        <p:tgtEl>
                                          <p:spTgt spid="4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P spid="23" grpId="0"/>
      <p:bldP spid="23" grpId="1"/>
      <p:bldP spid="31" grpId="0"/>
      <p:bldP spid="32" grpId="0"/>
      <p:bldP spid="33" grpId="0"/>
      <p:bldP spid="34" grpId="0"/>
      <p:bldP spid="35" grpId="0" animBg="1"/>
      <p:bldP spid="36" grpId="0"/>
      <p:bldP spid="37" grpId="0"/>
      <p:bldP spid="40" grpId="0"/>
      <p:bldP spid="42" grpId="0" animBg="1"/>
      <p:bldP spid="43" grpId="0" animBg="1"/>
      <p:bldP spid="4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Procedure: CIR_INS_LAST(X,FIRST,LAST)</a:t>
            </a:r>
            <a:endParaRPr lang="en-US" dirty="0"/>
          </a:p>
        </p:txBody>
      </p:sp>
      <p:sp>
        <p:nvSpPr>
          <p:cNvPr id="3" name="Content Placeholder 2"/>
          <p:cNvSpPr>
            <a:spLocks noGrp="1"/>
          </p:cNvSpPr>
          <p:nvPr>
            <p:ph idx="1"/>
          </p:nvPr>
        </p:nvSpPr>
        <p:spPr/>
        <p:txBody>
          <a:bodyPr/>
          <a:lstStyle/>
          <a:p>
            <a:r>
              <a:rPr lang="en-IN" dirty="0"/>
              <a:t>This procedure </a:t>
            </a:r>
            <a:r>
              <a:rPr lang="en-IN" b="1" dirty="0">
                <a:solidFill>
                  <a:srgbClr val="C00000"/>
                </a:solidFill>
              </a:rPr>
              <a:t>inserts a new node at the</a:t>
            </a:r>
            <a:r>
              <a:rPr lang="en-IN" b="1" dirty="0">
                <a:solidFill>
                  <a:srgbClr val="FF0000"/>
                </a:solidFill>
              </a:rPr>
              <a:t> </a:t>
            </a:r>
            <a:r>
              <a:rPr lang="en-IN" b="1" dirty="0">
                <a:solidFill>
                  <a:srgbClr val="C00000"/>
                </a:solidFill>
              </a:rPr>
              <a:t>last position</a:t>
            </a:r>
            <a:r>
              <a:rPr lang="en-IN" b="1" dirty="0">
                <a:solidFill>
                  <a:srgbClr val="FF0000"/>
                </a:solidFill>
              </a:rPr>
              <a:t> </a:t>
            </a:r>
            <a:r>
              <a:rPr lang="en-IN" dirty="0"/>
              <a:t>of Circular linked list. </a:t>
            </a:r>
          </a:p>
          <a:p>
            <a:r>
              <a:rPr lang="en-IN" b="1" dirty="0">
                <a:solidFill>
                  <a:srgbClr val="C00000"/>
                </a:solidFill>
              </a:rPr>
              <a:t>X</a:t>
            </a:r>
            <a:r>
              <a:rPr lang="en-IN" dirty="0"/>
              <a:t> is a new element to be inserted.</a:t>
            </a:r>
          </a:p>
          <a:p>
            <a:r>
              <a:rPr lang="en-IN" b="1" dirty="0">
                <a:solidFill>
                  <a:srgbClr val="C00000"/>
                </a:solidFill>
              </a:rPr>
              <a:t>FIRST</a:t>
            </a:r>
            <a:r>
              <a:rPr lang="en-IN" dirty="0">
                <a:solidFill>
                  <a:srgbClr val="C00000"/>
                </a:solidFill>
              </a:rPr>
              <a:t> </a:t>
            </a:r>
            <a:r>
              <a:rPr lang="en-IN" dirty="0"/>
              <a:t>and </a:t>
            </a:r>
            <a:r>
              <a:rPr lang="en-IN" b="1" dirty="0">
                <a:solidFill>
                  <a:srgbClr val="C00000"/>
                </a:solidFill>
              </a:rPr>
              <a:t>LAST</a:t>
            </a:r>
            <a:r>
              <a:rPr lang="en-IN" dirty="0">
                <a:solidFill>
                  <a:srgbClr val="C00000"/>
                </a:solidFill>
              </a:rPr>
              <a:t> </a:t>
            </a:r>
            <a:r>
              <a:rPr lang="en-IN" dirty="0"/>
              <a:t>are a </a:t>
            </a:r>
            <a:r>
              <a:rPr lang="en-IN" b="1" dirty="0"/>
              <a:t>pointer to the first &amp; last elements</a:t>
            </a:r>
            <a:r>
              <a:rPr lang="en-IN" dirty="0"/>
              <a:t> of a Circular linked linear list, respectively. </a:t>
            </a:r>
          </a:p>
          <a:p>
            <a:r>
              <a:rPr lang="en-IN" dirty="0"/>
              <a:t>Typical node contains </a:t>
            </a:r>
            <a:r>
              <a:rPr lang="en-IN" b="1" dirty="0">
                <a:solidFill>
                  <a:srgbClr val="C00000"/>
                </a:solidFill>
              </a:rPr>
              <a:t>INFO</a:t>
            </a:r>
            <a:r>
              <a:rPr lang="en-IN" dirty="0">
                <a:solidFill>
                  <a:srgbClr val="C00000"/>
                </a:solidFill>
              </a:rPr>
              <a:t> </a:t>
            </a:r>
            <a:r>
              <a:rPr lang="en-IN" dirty="0"/>
              <a:t>and </a:t>
            </a:r>
            <a:r>
              <a:rPr lang="en-IN" b="1" dirty="0">
                <a:solidFill>
                  <a:srgbClr val="C00000"/>
                </a:solidFill>
              </a:rPr>
              <a:t>LINK</a:t>
            </a:r>
            <a:r>
              <a:rPr lang="en-IN" dirty="0">
                <a:solidFill>
                  <a:srgbClr val="C00000"/>
                </a:solidFill>
              </a:rPr>
              <a:t> </a:t>
            </a:r>
            <a:r>
              <a:rPr lang="en-IN" dirty="0"/>
              <a:t>fields. </a:t>
            </a:r>
          </a:p>
          <a:p>
            <a:r>
              <a:rPr lang="en-IN" b="1" dirty="0">
                <a:solidFill>
                  <a:srgbClr val="C00000"/>
                </a:solidFill>
              </a:rPr>
              <a:t>NEW</a:t>
            </a:r>
            <a:r>
              <a:rPr lang="en-IN" dirty="0">
                <a:solidFill>
                  <a:srgbClr val="C00000"/>
                </a:solidFill>
              </a:rPr>
              <a:t> </a:t>
            </a:r>
            <a:r>
              <a:rPr lang="en-IN" dirty="0"/>
              <a:t>is a temporary pointer variable.</a:t>
            </a:r>
            <a:endParaRPr lang="en-US" dirty="0"/>
          </a:p>
          <a:p>
            <a:endParaRPr lang="en-US" dirty="0"/>
          </a:p>
        </p:txBody>
      </p:sp>
    </p:spTree>
    <p:extLst>
      <p:ext uri="{BB962C8B-B14F-4D97-AF65-F5344CB8AC3E}">
        <p14:creationId xmlns:p14="http://schemas.microsoft.com/office/powerpoint/2010/main" val="380515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Procedure: CIR_INS_LAST( X,FIRST,LAST)</a:t>
            </a:r>
          </a:p>
        </p:txBody>
      </p:sp>
      <p:sp>
        <p:nvSpPr>
          <p:cNvPr id="4" name="TextBox 3"/>
          <p:cNvSpPr txBox="1"/>
          <p:nvPr/>
        </p:nvSpPr>
        <p:spPr>
          <a:xfrm>
            <a:off x="313771" y="860735"/>
            <a:ext cx="5760000" cy="1815882"/>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200" b="1" dirty="0">
                <a:solidFill>
                  <a:schemeClr val="tx2"/>
                </a:solidFill>
                <a:latin typeface="Consolas" pitchFamily="49" charset="0"/>
                <a:cs typeface="Consolas" pitchFamily="49" charset="0"/>
              </a:rPr>
              <a:t>1. [Creates a new empty node]</a:t>
            </a:r>
          </a:p>
          <a:p>
            <a:r>
              <a:rPr lang="en-IN" sz="2200" dirty="0">
                <a:latin typeface="Consolas" pitchFamily="49" charset="0"/>
                <a:cs typeface="Consolas" pitchFamily="49" charset="0"/>
              </a:rPr>
              <a:t>   NEW </a:t>
            </a:r>
            <a:r>
              <a:rPr lang="en-IN" sz="2400" b="1" dirty="0" smtClean="0">
                <a:solidFill>
                  <a:schemeClr val="accent6"/>
                </a:solidFill>
                <a:latin typeface="Consolas" pitchFamily="49" charset="0"/>
                <a:cs typeface="Consolas" pitchFamily="49" charset="0"/>
              </a:rPr>
              <a:t>&lt;=</a:t>
            </a:r>
            <a:r>
              <a:rPr lang="en-IN" sz="2200" dirty="0" smtClean="0">
                <a:latin typeface="Consolas" pitchFamily="49" charset="0"/>
                <a:cs typeface="Consolas" pitchFamily="49" charset="0"/>
              </a:rPr>
              <a:t> </a:t>
            </a:r>
            <a:r>
              <a:rPr lang="en-IN" sz="2200" dirty="0">
                <a:latin typeface="Consolas" pitchFamily="49" charset="0"/>
                <a:cs typeface="Consolas" pitchFamily="49" charset="0"/>
              </a:rPr>
              <a:t>NODE</a:t>
            </a:r>
          </a:p>
          <a:p>
            <a:r>
              <a:rPr lang="en-IN" sz="2200" b="1" dirty="0">
                <a:solidFill>
                  <a:schemeClr val="tx2"/>
                </a:solidFill>
                <a:latin typeface="Consolas" pitchFamily="49" charset="0"/>
                <a:cs typeface="Consolas" pitchFamily="49" charset="0"/>
              </a:rPr>
              <a:t>2. [Initialize fields of new node and its link]</a:t>
            </a:r>
          </a:p>
          <a:p>
            <a:r>
              <a:rPr lang="en-IN" sz="2200" dirty="0">
                <a:latin typeface="Consolas" pitchFamily="49" charset="0"/>
                <a:cs typeface="Consolas" pitchFamily="49" charset="0"/>
              </a:rPr>
              <a:t>   INFO (NEW) </a:t>
            </a:r>
            <a:r>
              <a:rPr lang="en-IN" sz="2200" dirty="0">
                <a:latin typeface="Consolas" pitchFamily="49" charset="0"/>
                <a:cs typeface="Consolas" pitchFamily="49" charset="0"/>
                <a:sym typeface="Wingdings" pitchFamily="2" charset="2"/>
              </a:rPr>
              <a:t></a:t>
            </a:r>
            <a:r>
              <a:rPr lang="en-IN" sz="2200" dirty="0">
                <a:latin typeface="Consolas" pitchFamily="49" charset="0"/>
                <a:cs typeface="Consolas" pitchFamily="49" charset="0"/>
              </a:rPr>
              <a:t> X</a:t>
            </a:r>
          </a:p>
        </p:txBody>
      </p:sp>
      <p:sp>
        <p:nvSpPr>
          <p:cNvPr id="6" name="TextBox 5"/>
          <p:cNvSpPr txBox="1"/>
          <p:nvPr/>
        </p:nvSpPr>
        <p:spPr>
          <a:xfrm>
            <a:off x="6221507" y="860735"/>
            <a:ext cx="5760000" cy="2462213"/>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IF</a:t>
            </a:r>
            <a:r>
              <a:rPr lang="en-IN" sz="2200" dirty="0">
                <a:solidFill>
                  <a:schemeClr val="tx2">
                    <a:lumMod val="75000"/>
                  </a:schemeClr>
                </a:solidFill>
                <a:latin typeface="Consolas" pitchFamily="49" charset="0"/>
                <a:cs typeface="Consolas" pitchFamily="49" charset="0"/>
              </a:rPr>
              <a:t>   </a:t>
            </a:r>
            <a:r>
              <a:rPr lang="en-IN" sz="2200" dirty="0">
                <a:latin typeface="Consolas" pitchFamily="49" charset="0"/>
                <a:cs typeface="Consolas" pitchFamily="49" charset="0"/>
              </a:rPr>
              <a:t>FIRST = NULL</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THEN</a:t>
            </a:r>
            <a:r>
              <a:rPr lang="en-IN" sz="2200" dirty="0">
                <a:solidFill>
                  <a:schemeClr val="tx2">
                    <a:lumMod val="75000"/>
                  </a:schemeClr>
                </a:solidFill>
                <a:latin typeface="Consolas" pitchFamily="49" charset="0"/>
                <a:cs typeface="Consolas" pitchFamily="49" charset="0"/>
              </a:rPr>
              <a:t> </a:t>
            </a:r>
            <a:r>
              <a:rPr lang="en-IN" sz="2200" dirty="0">
                <a:latin typeface="Consolas" pitchFamily="49" charset="0"/>
                <a:cs typeface="Consolas" pitchFamily="49" charset="0"/>
              </a:rPr>
              <a:t>LINK (NEW) </a:t>
            </a:r>
            <a:r>
              <a:rPr lang="en-IN" sz="2200" dirty="0">
                <a:latin typeface="Consolas" pitchFamily="49" charset="0"/>
                <a:cs typeface="Consolas" pitchFamily="49" charset="0"/>
                <a:sym typeface="Wingdings" pitchFamily="2" charset="2"/>
              </a:rPr>
              <a:t></a:t>
            </a:r>
            <a:r>
              <a:rPr lang="en-IN" sz="2200" dirty="0">
                <a:latin typeface="Consolas" pitchFamily="49" charset="0"/>
                <a:cs typeface="Consolas" pitchFamily="49" charset="0"/>
              </a:rPr>
              <a:t> NEW</a:t>
            </a:r>
          </a:p>
          <a:p>
            <a:r>
              <a:rPr lang="en-IN" sz="2200" dirty="0">
                <a:latin typeface="Consolas" pitchFamily="49" charset="0"/>
                <a:cs typeface="Consolas" pitchFamily="49" charset="0"/>
              </a:rPr>
              <a:t>        FIRST </a:t>
            </a:r>
            <a:r>
              <a:rPr lang="en-IN" sz="2200" dirty="0">
                <a:latin typeface="Consolas" pitchFamily="49" charset="0"/>
                <a:cs typeface="Consolas" pitchFamily="49" charset="0"/>
                <a:sym typeface="Wingdings" pitchFamily="2" charset="2"/>
              </a:rPr>
              <a:t></a:t>
            </a:r>
            <a:r>
              <a:rPr lang="en-IN" sz="2200" dirty="0">
                <a:latin typeface="Consolas" pitchFamily="49" charset="0"/>
                <a:cs typeface="Consolas" pitchFamily="49" charset="0"/>
              </a:rPr>
              <a:t> LAST </a:t>
            </a:r>
            <a:r>
              <a:rPr lang="en-IN" sz="2200" dirty="0">
                <a:latin typeface="Consolas" pitchFamily="49" charset="0"/>
                <a:cs typeface="Consolas" pitchFamily="49" charset="0"/>
                <a:sym typeface="Wingdings" pitchFamily="2" charset="2"/>
              </a:rPr>
              <a:t></a:t>
            </a:r>
            <a:r>
              <a:rPr lang="en-IN" sz="2200" dirty="0">
                <a:latin typeface="Consolas" pitchFamily="49" charset="0"/>
                <a:cs typeface="Consolas" pitchFamily="49" charset="0"/>
              </a:rPr>
              <a:t> NEW</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ELSE</a:t>
            </a:r>
            <a:r>
              <a:rPr lang="en-IN" sz="2200" dirty="0">
                <a:solidFill>
                  <a:schemeClr val="tx2">
                    <a:lumMod val="75000"/>
                  </a:schemeClr>
                </a:solidFill>
                <a:latin typeface="Consolas" pitchFamily="49" charset="0"/>
                <a:cs typeface="Consolas" pitchFamily="49" charset="0"/>
              </a:rPr>
              <a:t> </a:t>
            </a:r>
            <a:r>
              <a:rPr lang="en-IN" sz="2200" dirty="0">
                <a:latin typeface="Consolas" pitchFamily="49" charset="0"/>
                <a:cs typeface="Consolas" pitchFamily="49" charset="0"/>
              </a:rPr>
              <a:t>LINK (NEW) </a:t>
            </a:r>
            <a:r>
              <a:rPr lang="en-IN" sz="2200" dirty="0">
                <a:latin typeface="Consolas" pitchFamily="49" charset="0"/>
                <a:cs typeface="Consolas" pitchFamily="49" charset="0"/>
                <a:sym typeface="Wingdings" pitchFamily="2" charset="2"/>
              </a:rPr>
              <a:t></a:t>
            </a:r>
            <a:r>
              <a:rPr lang="en-IN" sz="2200" dirty="0">
                <a:latin typeface="Consolas" pitchFamily="49" charset="0"/>
                <a:cs typeface="Consolas" pitchFamily="49" charset="0"/>
              </a:rPr>
              <a:t> FIRST</a:t>
            </a:r>
          </a:p>
          <a:p>
            <a:r>
              <a:rPr lang="en-IN" sz="2200" dirty="0">
                <a:latin typeface="Consolas" pitchFamily="49" charset="0"/>
                <a:cs typeface="Consolas" pitchFamily="49" charset="0"/>
              </a:rPr>
              <a:t>        LINK (LAST) </a:t>
            </a:r>
            <a:r>
              <a:rPr lang="en-IN" sz="2200" dirty="0">
                <a:latin typeface="Consolas" pitchFamily="49" charset="0"/>
                <a:cs typeface="Consolas" pitchFamily="49" charset="0"/>
                <a:sym typeface="Wingdings" pitchFamily="2" charset="2"/>
              </a:rPr>
              <a:t></a:t>
            </a:r>
            <a:r>
              <a:rPr lang="en-IN" sz="2200" dirty="0">
                <a:latin typeface="Consolas" pitchFamily="49" charset="0"/>
                <a:cs typeface="Consolas" pitchFamily="49" charset="0"/>
              </a:rPr>
              <a:t> NEW</a:t>
            </a:r>
          </a:p>
          <a:p>
            <a:r>
              <a:rPr lang="en-IN" sz="2200" dirty="0">
                <a:latin typeface="Consolas" pitchFamily="49" charset="0"/>
                <a:cs typeface="Consolas" pitchFamily="49" charset="0"/>
              </a:rPr>
              <a:t>        LAST </a:t>
            </a:r>
            <a:r>
              <a:rPr lang="en-IN" sz="2200" dirty="0">
                <a:latin typeface="Consolas" pitchFamily="49" charset="0"/>
                <a:cs typeface="Consolas" pitchFamily="49" charset="0"/>
                <a:sym typeface="Wingdings" pitchFamily="2" charset="2"/>
              </a:rPr>
              <a:t></a:t>
            </a:r>
            <a:r>
              <a:rPr lang="en-IN" sz="2200" dirty="0">
                <a:latin typeface="Consolas" pitchFamily="49" charset="0"/>
                <a:cs typeface="Consolas" pitchFamily="49" charset="0"/>
              </a:rPr>
              <a:t> NEW</a:t>
            </a:r>
          </a:p>
          <a:p>
            <a:r>
              <a:rPr lang="en-IN" sz="2200" dirty="0">
                <a:latin typeface="Consolas" pitchFamily="49" charset="0"/>
                <a:cs typeface="Consolas" pitchFamily="49" charset="0"/>
              </a:rPr>
              <a:t>   Return</a:t>
            </a:r>
          </a:p>
        </p:txBody>
      </p:sp>
      <p:grpSp>
        <p:nvGrpSpPr>
          <p:cNvPr id="7" name="Group 6"/>
          <p:cNvGrpSpPr/>
          <p:nvPr/>
        </p:nvGrpSpPr>
        <p:grpSpPr>
          <a:xfrm>
            <a:off x="3099576" y="5292226"/>
            <a:ext cx="920012" cy="533400"/>
            <a:chOff x="951919" y="5486400"/>
            <a:chExt cx="920012" cy="533400"/>
          </a:xfrm>
        </p:grpSpPr>
        <p:sp>
          <p:nvSpPr>
            <p:cNvPr id="8" name="Rectangle 7"/>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US" sz="2400" b="1" dirty="0"/>
            </a:p>
          </p:txBody>
        </p:sp>
        <p:sp>
          <p:nvSpPr>
            <p:cNvPr id="9" name="Rectangle 8"/>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0" name="Group 9"/>
          <p:cNvGrpSpPr/>
          <p:nvPr/>
        </p:nvGrpSpPr>
        <p:grpSpPr>
          <a:xfrm>
            <a:off x="4471176" y="5292226"/>
            <a:ext cx="920012" cy="533400"/>
            <a:chOff x="951919" y="5486400"/>
            <a:chExt cx="920012" cy="533400"/>
          </a:xfrm>
        </p:grpSpPr>
        <p:sp>
          <p:nvSpPr>
            <p:cNvPr id="11" name="Rectangle 10"/>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12" name="Rectangle 11"/>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3" name="Group 12"/>
          <p:cNvGrpSpPr/>
          <p:nvPr/>
        </p:nvGrpSpPr>
        <p:grpSpPr>
          <a:xfrm>
            <a:off x="5842776" y="5292226"/>
            <a:ext cx="920012" cy="533400"/>
            <a:chOff x="951919" y="5486400"/>
            <a:chExt cx="920012" cy="533400"/>
          </a:xfrm>
        </p:grpSpPr>
        <p:sp>
          <p:nvSpPr>
            <p:cNvPr id="14" name="Rectangle 13"/>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a:t>
              </a:r>
              <a:endParaRPr lang="en-US" sz="2400" b="1" dirty="0"/>
            </a:p>
          </p:txBody>
        </p:sp>
        <p:sp>
          <p:nvSpPr>
            <p:cNvPr id="15" name="Rectangle 14"/>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6" name="Group 15"/>
          <p:cNvGrpSpPr/>
          <p:nvPr/>
        </p:nvGrpSpPr>
        <p:grpSpPr>
          <a:xfrm>
            <a:off x="7214376" y="5292226"/>
            <a:ext cx="920012" cy="533400"/>
            <a:chOff x="951919" y="5486400"/>
            <a:chExt cx="920012" cy="533400"/>
          </a:xfrm>
        </p:grpSpPr>
        <p:sp>
          <p:nvSpPr>
            <p:cNvPr id="17" name="Rectangle 16"/>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US" sz="2400" b="1" dirty="0"/>
            </a:p>
          </p:txBody>
        </p:sp>
        <p:sp>
          <p:nvSpPr>
            <p:cNvPr id="18" name="Rectangle 17"/>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19" name="Straight Arrow Connector 18"/>
          <p:cNvCxnSpPr>
            <a:stCxn id="9" idx="3"/>
            <a:endCxn id="11" idx="1"/>
          </p:cNvCxnSpPr>
          <p:nvPr/>
        </p:nvCxnSpPr>
        <p:spPr>
          <a:xfrm>
            <a:off x="4019588" y="5558926"/>
            <a:ext cx="4515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0" name="Straight Arrow Connector 19"/>
          <p:cNvCxnSpPr>
            <a:stCxn id="12" idx="3"/>
            <a:endCxn id="14" idx="1"/>
          </p:cNvCxnSpPr>
          <p:nvPr/>
        </p:nvCxnSpPr>
        <p:spPr>
          <a:xfrm>
            <a:off x="5391188" y="5558926"/>
            <a:ext cx="4515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1" name="Straight Arrow Connector 20"/>
          <p:cNvCxnSpPr>
            <a:stCxn id="15" idx="3"/>
            <a:endCxn id="17" idx="1"/>
          </p:cNvCxnSpPr>
          <p:nvPr/>
        </p:nvCxnSpPr>
        <p:spPr>
          <a:xfrm>
            <a:off x="6762788" y="5558926"/>
            <a:ext cx="4515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2" name="Freeform 21"/>
          <p:cNvSpPr/>
          <p:nvPr/>
        </p:nvSpPr>
        <p:spPr>
          <a:xfrm>
            <a:off x="3870936" y="5537065"/>
            <a:ext cx="4586990" cy="659568"/>
          </a:xfrm>
          <a:custGeom>
            <a:avLst/>
            <a:gdLst>
              <a:gd name="connsiteX0" fmla="*/ 4257206 w 4586990"/>
              <a:gd name="connsiteY0" fmla="*/ 0 h 659568"/>
              <a:gd name="connsiteX1" fmla="*/ 4586990 w 4586990"/>
              <a:gd name="connsiteY1" fmla="*/ 0 h 659568"/>
              <a:gd name="connsiteX2" fmla="*/ 4586990 w 4586990"/>
              <a:gd name="connsiteY2" fmla="*/ 659568 h 659568"/>
              <a:gd name="connsiteX3" fmla="*/ 0 w 4586990"/>
              <a:gd name="connsiteY3" fmla="*/ 659568 h 659568"/>
              <a:gd name="connsiteX4" fmla="*/ 0 w 4586990"/>
              <a:gd name="connsiteY4" fmla="*/ 254833 h 6595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6990" h="659568">
                <a:moveTo>
                  <a:pt x="4257206" y="0"/>
                </a:moveTo>
                <a:lnTo>
                  <a:pt x="4586990" y="0"/>
                </a:lnTo>
                <a:lnTo>
                  <a:pt x="4586990" y="659568"/>
                </a:lnTo>
                <a:lnTo>
                  <a:pt x="0" y="659568"/>
                </a:lnTo>
                <a:lnTo>
                  <a:pt x="0" y="254833"/>
                </a:lnTo>
              </a:path>
            </a:pathLst>
          </a:cu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cxnSp>
        <p:nvCxnSpPr>
          <p:cNvPr id="23" name="Straight Arrow Connector 22"/>
          <p:cNvCxnSpPr/>
          <p:nvPr/>
        </p:nvCxnSpPr>
        <p:spPr>
          <a:xfrm flipV="1">
            <a:off x="3333788" y="5825628"/>
            <a:ext cx="0" cy="20798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4" name="TextBox 23"/>
          <p:cNvSpPr txBox="1"/>
          <p:nvPr/>
        </p:nvSpPr>
        <p:spPr>
          <a:xfrm>
            <a:off x="2969950" y="6031468"/>
            <a:ext cx="734496" cy="369332"/>
          </a:xfrm>
          <a:prstGeom prst="rect">
            <a:avLst/>
          </a:prstGeom>
          <a:noFill/>
          <a:ln w="28575">
            <a:noFill/>
          </a:ln>
        </p:spPr>
        <p:txBody>
          <a:bodyPr wrap="none" rtlCol="0">
            <a:spAutoFit/>
          </a:bodyPr>
          <a:lstStyle/>
          <a:p>
            <a:pPr algn="ctr"/>
            <a:r>
              <a:rPr lang="en-IN" b="1" dirty="0">
                <a:solidFill>
                  <a:srgbClr val="C00000"/>
                </a:solidFill>
              </a:rPr>
              <a:t>FIRST</a:t>
            </a:r>
            <a:endParaRPr lang="en-US" b="1" dirty="0">
              <a:solidFill>
                <a:srgbClr val="C00000"/>
              </a:solidFill>
            </a:endParaRPr>
          </a:p>
        </p:txBody>
      </p:sp>
      <p:cxnSp>
        <p:nvCxnSpPr>
          <p:cNvPr id="25" name="Straight Connector 24"/>
          <p:cNvCxnSpPr/>
          <p:nvPr/>
        </p:nvCxnSpPr>
        <p:spPr>
          <a:xfrm>
            <a:off x="2758822" y="3810000"/>
            <a:ext cx="0" cy="2438400"/>
          </a:xfrm>
          <a:prstGeom prst="line">
            <a:avLst/>
          </a:prstGeom>
        </p:spPr>
        <p:style>
          <a:lnRef idx="3">
            <a:schemeClr val="dk1"/>
          </a:lnRef>
          <a:fillRef idx="0">
            <a:schemeClr val="dk1"/>
          </a:fillRef>
          <a:effectRef idx="2">
            <a:schemeClr val="dk1"/>
          </a:effectRef>
          <a:fontRef idx="minor">
            <a:schemeClr val="tx1"/>
          </a:fontRef>
        </p:style>
      </p:cxnSp>
      <p:grpSp>
        <p:nvGrpSpPr>
          <p:cNvPr id="26" name="Group 25"/>
          <p:cNvGrpSpPr/>
          <p:nvPr/>
        </p:nvGrpSpPr>
        <p:grpSpPr>
          <a:xfrm>
            <a:off x="8563029" y="4038600"/>
            <a:ext cx="920012" cy="533400"/>
            <a:chOff x="951919" y="5486400"/>
            <a:chExt cx="920012" cy="533400"/>
          </a:xfrm>
        </p:grpSpPr>
        <p:sp>
          <p:nvSpPr>
            <p:cNvPr id="27" name="Rectangle 26"/>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28" name="Rectangle 27"/>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29" name="Group 28"/>
          <p:cNvGrpSpPr/>
          <p:nvPr/>
        </p:nvGrpSpPr>
        <p:grpSpPr>
          <a:xfrm>
            <a:off x="1236801" y="4724400"/>
            <a:ext cx="920012" cy="533400"/>
            <a:chOff x="951919" y="5486400"/>
            <a:chExt cx="920012" cy="533400"/>
          </a:xfrm>
        </p:grpSpPr>
        <p:sp>
          <p:nvSpPr>
            <p:cNvPr id="30" name="Rectangle 29"/>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31" name="Rectangle 30"/>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sp>
        <p:nvSpPr>
          <p:cNvPr id="32" name="TextBox 31"/>
          <p:cNvSpPr txBox="1"/>
          <p:nvPr/>
        </p:nvSpPr>
        <p:spPr>
          <a:xfrm>
            <a:off x="1249666" y="4756069"/>
            <a:ext cx="495649" cy="461665"/>
          </a:xfrm>
          <a:prstGeom prst="rect">
            <a:avLst/>
          </a:prstGeom>
          <a:noFill/>
        </p:spPr>
        <p:txBody>
          <a:bodyPr wrap="none" rtlCol="0">
            <a:spAutoFit/>
          </a:bodyPr>
          <a:lstStyle/>
          <a:p>
            <a:r>
              <a:rPr lang="en-IN" sz="2400" b="1" dirty="0">
                <a:solidFill>
                  <a:srgbClr val="FFFF00"/>
                </a:solidFill>
              </a:rPr>
              <a:t>50</a:t>
            </a:r>
            <a:endParaRPr lang="en-US" sz="2400" b="1" dirty="0">
              <a:solidFill>
                <a:srgbClr val="FFFF00"/>
              </a:solidFill>
            </a:endParaRPr>
          </a:p>
        </p:txBody>
      </p:sp>
      <p:sp>
        <p:nvSpPr>
          <p:cNvPr id="33" name="TextBox 32"/>
          <p:cNvSpPr txBox="1"/>
          <p:nvPr/>
        </p:nvSpPr>
        <p:spPr>
          <a:xfrm>
            <a:off x="8579855" y="4074226"/>
            <a:ext cx="495649" cy="461665"/>
          </a:xfrm>
          <a:prstGeom prst="rect">
            <a:avLst/>
          </a:prstGeom>
          <a:noFill/>
        </p:spPr>
        <p:txBody>
          <a:bodyPr wrap="none" rtlCol="0">
            <a:spAutoFit/>
          </a:bodyPr>
          <a:lstStyle/>
          <a:p>
            <a:r>
              <a:rPr lang="en-IN" sz="2400" b="1" dirty="0">
                <a:solidFill>
                  <a:srgbClr val="FFFF00"/>
                </a:solidFill>
              </a:rPr>
              <a:t>50</a:t>
            </a:r>
            <a:endParaRPr lang="en-US" sz="2400" b="1" dirty="0">
              <a:solidFill>
                <a:srgbClr val="FFFF00"/>
              </a:solidFill>
            </a:endParaRPr>
          </a:p>
        </p:txBody>
      </p:sp>
      <p:sp>
        <p:nvSpPr>
          <p:cNvPr id="34" name="TextBox 33"/>
          <p:cNvSpPr txBox="1"/>
          <p:nvPr/>
        </p:nvSpPr>
        <p:spPr>
          <a:xfrm>
            <a:off x="1362889" y="5257800"/>
            <a:ext cx="612668" cy="369332"/>
          </a:xfrm>
          <a:prstGeom prst="rect">
            <a:avLst/>
          </a:prstGeom>
          <a:noFill/>
        </p:spPr>
        <p:txBody>
          <a:bodyPr wrap="none" rtlCol="0">
            <a:spAutoFit/>
          </a:bodyPr>
          <a:lstStyle/>
          <a:p>
            <a:pPr algn="ctr"/>
            <a:r>
              <a:rPr lang="en-IN" b="1" dirty="0"/>
              <a:t>NEW</a:t>
            </a:r>
            <a:endParaRPr lang="en-US" b="1" dirty="0"/>
          </a:p>
        </p:txBody>
      </p:sp>
      <p:sp>
        <p:nvSpPr>
          <p:cNvPr id="35" name="TextBox 34"/>
          <p:cNvSpPr txBox="1"/>
          <p:nvPr/>
        </p:nvSpPr>
        <p:spPr>
          <a:xfrm>
            <a:off x="8689117" y="3625334"/>
            <a:ext cx="612668" cy="369332"/>
          </a:xfrm>
          <a:prstGeom prst="rect">
            <a:avLst/>
          </a:prstGeom>
          <a:noFill/>
        </p:spPr>
        <p:txBody>
          <a:bodyPr wrap="none" rtlCol="0">
            <a:spAutoFit/>
          </a:bodyPr>
          <a:lstStyle/>
          <a:p>
            <a:pPr algn="ctr"/>
            <a:r>
              <a:rPr lang="en-IN" b="1" dirty="0"/>
              <a:t>NEW</a:t>
            </a:r>
            <a:endParaRPr lang="en-US" b="1" dirty="0"/>
          </a:p>
        </p:txBody>
      </p:sp>
      <p:sp>
        <p:nvSpPr>
          <p:cNvPr id="36" name="Freeform 35"/>
          <p:cNvSpPr/>
          <p:nvPr/>
        </p:nvSpPr>
        <p:spPr>
          <a:xfrm>
            <a:off x="853823" y="4963887"/>
            <a:ext cx="1710047" cy="819397"/>
          </a:xfrm>
          <a:custGeom>
            <a:avLst/>
            <a:gdLst>
              <a:gd name="connsiteX0" fmla="*/ 1306285 w 1710047"/>
              <a:gd name="connsiteY0" fmla="*/ 0 h 819397"/>
              <a:gd name="connsiteX1" fmla="*/ 1710047 w 1710047"/>
              <a:gd name="connsiteY1" fmla="*/ 0 h 819397"/>
              <a:gd name="connsiteX2" fmla="*/ 1710047 w 1710047"/>
              <a:gd name="connsiteY2" fmla="*/ 819397 h 819397"/>
              <a:gd name="connsiteX3" fmla="*/ 0 w 1710047"/>
              <a:gd name="connsiteY3" fmla="*/ 819397 h 819397"/>
              <a:gd name="connsiteX4" fmla="*/ 0 w 1710047"/>
              <a:gd name="connsiteY4" fmla="*/ 11875 h 819397"/>
              <a:gd name="connsiteX5" fmla="*/ 391885 w 1710047"/>
              <a:gd name="connsiteY5" fmla="*/ 11875 h 819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047" h="819397">
                <a:moveTo>
                  <a:pt x="1306285" y="0"/>
                </a:moveTo>
                <a:lnTo>
                  <a:pt x="1710047" y="0"/>
                </a:lnTo>
                <a:lnTo>
                  <a:pt x="1710047" y="819397"/>
                </a:lnTo>
                <a:lnTo>
                  <a:pt x="0" y="819397"/>
                </a:lnTo>
                <a:lnTo>
                  <a:pt x="0" y="11875"/>
                </a:lnTo>
                <a:lnTo>
                  <a:pt x="391885" y="11875"/>
                </a:lnTo>
              </a:path>
            </a:pathLst>
          </a:cu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37" name="TextBox 36"/>
          <p:cNvSpPr txBox="1"/>
          <p:nvPr/>
        </p:nvSpPr>
        <p:spPr>
          <a:xfrm>
            <a:off x="991822" y="3920280"/>
            <a:ext cx="734496" cy="369332"/>
          </a:xfrm>
          <a:prstGeom prst="rect">
            <a:avLst/>
          </a:prstGeom>
          <a:noFill/>
        </p:spPr>
        <p:txBody>
          <a:bodyPr wrap="none" rtlCol="0">
            <a:spAutoFit/>
          </a:bodyPr>
          <a:lstStyle/>
          <a:p>
            <a:pPr algn="ctr"/>
            <a:r>
              <a:rPr lang="en-IN" b="1" dirty="0">
                <a:solidFill>
                  <a:srgbClr val="C00000"/>
                </a:solidFill>
              </a:rPr>
              <a:t>FIRST</a:t>
            </a:r>
            <a:endParaRPr lang="en-US" b="1" dirty="0">
              <a:solidFill>
                <a:srgbClr val="C00000"/>
              </a:solidFill>
            </a:endParaRPr>
          </a:p>
        </p:txBody>
      </p:sp>
      <p:sp>
        <p:nvSpPr>
          <p:cNvPr id="38" name="TextBox 37"/>
          <p:cNvSpPr txBox="1"/>
          <p:nvPr/>
        </p:nvSpPr>
        <p:spPr>
          <a:xfrm>
            <a:off x="1652634" y="3908612"/>
            <a:ext cx="683200" cy="369332"/>
          </a:xfrm>
          <a:prstGeom prst="rect">
            <a:avLst/>
          </a:prstGeom>
          <a:noFill/>
        </p:spPr>
        <p:txBody>
          <a:bodyPr wrap="none" rtlCol="0">
            <a:spAutoFit/>
          </a:bodyPr>
          <a:lstStyle/>
          <a:p>
            <a:pPr algn="ctr"/>
            <a:r>
              <a:rPr lang="en-IN" b="1" dirty="0"/>
              <a:t>LAST</a:t>
            </a:r>
            <a:endParaRPr lang="en-US" b="1" dirty="0"/>
          </a:p>
        </p:txBody>
      </p:sp>
      <p:cxnSp>
        <p:nvCxnSpPr>
          <p:cNvPr id="39" name="Straight Arrow Connector 38"/>
          <p:cNvCxnSpPr>
            <a:stCxn id="37" idx="2"/>
          </p:cNvCxnSpPr>
          <p:nvPr/>
        </p:nvCxnSpPr>
        <p:spPr>
          <a:xfrm>
            <a:off x="1359070" y="4289612"/>
            <a:ext cx="0" cy="4126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0" name="Straight Arrow Connector 39"/>
          <p:cNvCxnSpPr/>
          <p:nvPr/>
        </p:nvCxnSpPr>
        <p:spPr>
          <a:xfrm flipH="1">
            <a:off x="1998801" y="4289612"/>
            <a:ext cx="1" cy="4126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41" name="TextBox 40"/>
          <p:cNvSpPr txBox="1"/>
          <p:nvPr/>
        </p:nvSpPr>
        <p:spPr>
          <a:xfrm>
            <a:off x="7448785" y="4475694"/>
            <a:ext cx="683200" cy="369332"/>
          </a:xfrm>
          <a:prstGeom prst="rect">
            <a:avLst/>
          </a:prstGeom>
          <a:noFill/>
        </p:spPr>
        <p:txBody>
          <a:bodyPr wrap="none" rtlCol="0">
            <a:spAutoFit/>
          </a:bodyPr>
          <a:lstStyle/>
          <a:p>
            <a:pPr algn="ctr"/>
            <a:r>
              <a:rPr lang="en-IN" b="1" dirty="0"/>
              <a:t>LAST</a:t>
            </a:r>
            <a:endParaRPr lang="en-US" b="1" dirty="0"/>
          </a:p>
        </p:txBody>
      </p:sp>
      <p:cxnSp>
        <p:nvCxnSpPr>
          <p:cNvPr id="42" name="Straight Arrow Connector 41"/>
          <p:cNvCxnSpPr/>
          <p:nvPr/>
        </p:nvCxnSpPr>
        <p:spPr>
          <a:xfrm flipH="1">
            <a:off x="7794952" y="4856694"/>
            <a:ext cx="1" cy="4126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43" name="TextBox 42"/>
          <p:cNvSpPr txBox="1"/>
          <p:nvPr/>
        </p:nvSpPr>
        <p:spPr>
          <a:xfrm>
            <a:off x="9001647" y="3307627"/>
            <a:ext cx="683200" cy="369332"/>
          </a:xfrm>
          <a:prstGeom prst="rect">
            <a:avLst/>
          </a:prstGeom>
          <a:noFill/>
        </p:spPr>
        <p:txBody>
          <a:bodyPr wrap="none" rtlCol="0">
            <a:spAutoFit/>
          </a:bodyPr>
          <a:lstStyle/>
          <a:p>
            <a:pPr algn="ctr"/>
            <a:r>
              <a:rPr lang="en-IN" b="1" dirty="0">
                <a:solidFill>
                  <a:srgbClr val="C00000"/>
                </a:solidFill>
              </a:rPr>
              <a:t>LAST</a:t>
            </a:r>
            <a:endParaRPr lang="en-US" b="1" dirty="0">
              <a:solidFill>
                <a:srgbClr val="C00000"/>
              </a:solidFill>
            </a:endParaRPr>
          </a:p>
        </p:txBody>
      </p:sp>
      <p:cxnSp>
        <p:nvCxnSpPr>
          <p:cNvPr id="44" name="Straight Arrow Connector 43"/>
          <p:cNvCxnSpPr/>
          <p:nvPr/>
        </p:nvCxnSpPr>
        <p:spPr>
          <a:xfrm>
            <a:off x="9343247" y="3608003"/>
            <a:ext cx="0" cy="4126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45" name="Freeform 44"/>
          <p:cNvSpPr/>
          <p:nvPr/>
        </p:nvSpPr>
        <p:spPr>
          <a:xfrm>
            <a:off x="3746179" y="4562272"/>
            <a:ext cx="5544766" cy="1770434"/>
          </a:xfrm>
          <a:custGeom>
            <a:avLst/>
            <a:gdLst>
              <a:gd name="connsiteX0" fmla="*/ 5544766 w 5544766"/>
              <a:gd name="connsiteY0" fmla="*/ 0 h 1770434"/>
              <a:gd name="connsiteX1" fmla="*/ 5544766 w 5544766"/>
              <a:gd name="connsiteY1" fmla="*/ 1770434 h 1770434"/>
              <a:gd name="connsiteX2" fmla="*/ 0 w 5544766"/>
              <a:gd name="connsiteY2" fmla="*/ 1770434 h 1770434"/>
              <a:gd name="connsiteX3" fmla="*/ 0 w 5544766"/>
              <a:gd name="connsiteY3" fmla="*/ 1264596 h 1770434"/>
            </a:gdLst>
            <a:ahLst/>
            <a:cxnLst>
              <a:cxn ang="0">
                <a:pos x="connsiteX0" y="connsiteY0"/>
              </a:cxn>
              <a:cxn ang="0">
                <a:pos x="connsiteX1" y="connsiteY1"/>
              </a:cxn>
              <a:cxn ang="0">
                <a:pos x="connsiteX2" y="connsiteY2"/>
              </a:cxn>
              <a:cxn ang="0">
                <a:pos x="connsiteX3" y="connsiteY3"/>
              </a:cxn>
            </a:cxnLst>
            <a:rect l="l" t="t" r="r" b="b"/>
            <a:pathLst>
              <a:path w="5544766" h="1770434">
                <a:moveTo>
                  <a:pt x="5544766" y="0"/>
                </a:moveTo>
                <a:lnTo>
                  <a:pt x="5544766" y="1770434"/>
                </a:lnTo>
                <a:lnTo>
                  <a:pt x="0" y="1770434"/>
                </a:lnTo>
                <a:lnTo>
                  <a:pt x="0" y="1264596"/>
                </a:lnTo>
              </a:path>
            </a:pathLst>
          </a:cu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46" name="Freeform 45"/>
          <p:cNvSpPr/>
          <p:nvPr/>
        </p:nvSpPr>
        <p:spPr>
          <a:xfrm>
            <a:off x="7977711" y="4357991"/>
            <a:ext cx="593388" cy="914400"/>
          </a:xfrm>
          <a:custGeom>
            <a:avLst/>
            <a:gdLst>
              <a:gd name="connsiteX0" fmla="*/ 0 w 593388"/>
              <a:gd name="connsiteY0" fmla="*/ 914400 h 914400"/>
              <a:gd name="connsiteX1" fmla="*/ 0 w 593388"/>
              <a:gd name="connsiteY1" fmla="*/ 0 h 914400"/>
              <a:gd name="connsiteX2" fmla="*/ 593388 w 593388"/>
              <a:gd name="connsiteY2" fmla="*/ 0 h 914400"/>
            </a:gdLst>
            <a:ahLst/>
            <a:cxnLst>
              <a:cxn ang="0">
                <a:pos x="connsiteX0" y="connsiteY0"/>
              </a:cxn>
              <a:cxn ang="0">
                <a:pos x="connsiteX1" y="connsiteY1"/>
              </a:cxn>
              <a:cxn ang="0">
                <a:pos x="connsiteX2" y="connsiteY2"/>
              </a:cxn>
            </a:cxnLst>
            <a:rect l="l" t="t" r="r" b="b"/>
            <a:pathLst>
              <a:path w="593388" h="914400">
                <a:moveTo>
                  <a:pt x="0" y="914400"/>
                </a:moveTo>
                <a:lnTo>
                  <a:pt x="0" y="0"/>
                </a:lnTo>
                <a:lnTo>
                  <a:pt x="593388" y="0"/>
                </a:lnTo>
              </a:path>
            </a:pathLst>
          </a:cu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787461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1" presetClass="entr" presetSubtype="1" fill="hold" grpId="0" nodeType="click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wheel(1)">
                                      <p:cBhvr>
                                        <p:cTn id="41" dur="2000"/>
                                        <p:tgtEl>
                                          <p:spTgt spid="36"/>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7"/>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39"/>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8"/>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40"/>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6">
                                            <p:txEl>
                                              <p:pRg st="3" end="3"/>
                                            </p:txEl>
                                          </p:spTgt>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6">
                                            <p:txEl>
                                              <p:pRg st="4" end="4"/>
                                            </p:txEl>
                                          </p:spTgt>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25"/>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7"/>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10"/>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13"/>
                                        </p:tgtEl>
                                        <p:attrNameLst>
                                          <p:attrName>style.visibility</p:attrName>
                                        </p:attrNameLst>
                                      </p:cBhvr>
                                      <p:to>
                                        <p:strVal val="visible"/>
                                      </p:to>
                                    </p:set>
                                  </p:childTnLst>
                                </p:cTn>
                              </p:par>
                              <p:par>
                                <p:cTn id="74" presetID="1" presetClass="entr" presetSubtype="0" fill="hold" nodeType="withEffect">
                                  <p:stCondLst>
                                    <p:cond delay="0"/>
                                  </p:stCondLst>
                                  <p:childTnLst>
                                    <p:set>
                                      <p:cBhvr>
                                        <p:cTn id="75" dur="1" fill="hold">
                                          <p:stCondLst>
                                            <p:cond delay="0"/>
                                          </p:stCondLst>
                                        </p:cTn>
                                        <p:tgtEl>
                                          <p:spTgt spid="16"/>
                                        </p:tgtEl>
                                        <p:attrNameLst>
                                          <p:attrName>style.visibility</p:attrName>
                                        </p:attrNameLst>
                                      </p:cBhvr>
                                      <p:to>
                                        <p:strVal val="visible"/>
                                      </p:to>
                                    </p:set>
                                  </p:childTnLst>
                                </p:cTn>
                              </p:par>
                              <p:par>
                                <p:cTn id="76" presetID="1" presetClass="entr" presetSubtype="0" fill="hold" nodeType="withEffect">
                                  <p:stCondLst>
                                    <p:cond delay="0"/>
                                  </p:stCondLst>
                                  <p:childTnLst>
                                    <p:set>
                                      <p:cBhvr>
                                        <p:cTn id="77" dur="1" fill="hold">
                                          <p:stCondLst>
                                            <p:cond delay="0"/>
                                          </p:stCondLst>
                                        </p:cTn>
                                        <p:tgtEl>
                                          <p:spTgt spid="19"/>
                                        </p:tgtEl>
                                        <p:attrNameLst>
                                          <p:attrName>style.visibility</p:attrName>
                                        </p:attrNameLst>
                                      </p:cBhvr>
                                      <p:to>
                                        <p:strVal val="visible"/>
                                      </p:to>
                                    </p:set>
                                  </p:childTnLst>
                                </p:cTn>
                              </p:par>
                              <p:par>
                                <p:cTn id="78" presetID="1" presetClass="entr" presetSubtype="0" fill="hold" nodeType="withEffect">
                                  <p:stCondLst>
                                    <p:cond delay="0"/>
                                  </p:stCondLst>
                                  <p:childTnLst>
                                    <p:set>
                                      <p:cBhvr>
                                        <p:cTn id="79" dur="1" fill="hold">
                                          <p:stCondLst>
                                            <p:cond delay="0"/>
                                          </p:stCondLst>
                                        </p:cTn>
                                        <p:tgtEl>
                                          <p:spTgt spid="20"/>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21"/>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22"/>
                                        </p:tgtEl>
                                        <p:attrNameLst>
                                          <p:attrName>style.visibility</p:attrName>
                                        </p:attrNameLst>
                                      </p:cBhvr>
                                      <p:to>
                                        <p:strVal val="visible"/>
                                      </p:to>
                                    </p:set>
                                  </p:childTnLst>
                                </p:cTn>
                              </p:par>
                              <p:par>
                                <p:cTn id="84" presetID="1" presetClass="entr" presetSubtype="0" fill="hold" nodeType="withEffect">
                                  <p:stCondLst>
                                    <p:cond delay="0"/>
                                  </p:stCondLst>
                                  <p:childTnLst>
                                    <p:set>
                                      <p:cBhvr>
                                        <p:cTn id="85" dur="1" fill="hold">
                                          <p:stCondLst>
                                            <p:cond delay="0"/>
                                          </p:stCondLst>
                                        </p:cTn>
                                        <p:tgtEl>
                                          <p:spTgt spid="23"/>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24"/>
                                        </p:tgtEl>
                                        <p:attrNameLst>
                                          <p:attrName>style.visibility</p:attrName>
                                        </p:attrNameLst>
                                      </p:cBhvr>
                                      <p:to>
                                        <p:strVal val="visible"/>
                                      </p:to>
                                    </p:set>
                                  </p:childTnLst>
                                </p:cTn>
                              </p:par>
                              <p:par>
                                <p:cTn id="88" presetID="1" presetClass="entr" presetSubtype="0" fill="hold" nodeType="withEffect">
                                  <p:stCondLst>
                                    <p:cond delay="0"/>
                                  </p:stCondLst>
                                  <p:childTnLst>
                                    <p:set>
                                      <p:cBhvr>
                                        <p:cTn id="89" dur="1" fill="hold">
                                          <p:stCondLst>
                                            <p:cond delay="0"/>
                                          </p:stCondLst>
                                        </p:cTn>
                                        <p:tgtEl>
                                          <p:spTgt spid="42"/>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41"/>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26"/>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35"/>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33"/>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21" presetClass="entr" presetSubtype="1" fill="hold" grpId="0" nodeType="clickEffect">
                                  <p:stCondLst>
                                    <p:cond delay="0"/>
                                  </p:stCondLst>
                                  <p:childTnLst>
                                    <p:set>
                                      <p:cBhvr>
                                        <p:cTn id="103" dur="1" fill="hold">
                                          <p:stCondLst>
                                            <p:cond delay="0"/>
                                          </p:stCondLst>
                                        </p:cTn>
                                        <p:tgtEl>
                                          <p:spTgt spid="45"/>
                                        </p:tgtEl>
                                        <p:attrNameLst>
                                          <p:attrName>style.visibility</p:attrName>
                                        </p:attrNameLst>
                                      </p:cBhvr>
                                      <p:to>
                                        <p:strVal val="visible"/>
                                      </p:to>
                                    </p:set>
                                    <p:animEffect transition="in" filter="wheel(1)">
                                      <p:cBhvr>
                                        <p:cTn id="104" dur="2000"/>
                                        <p:tgtEl>
                                          <p:spTgt spid="45"/>
                                        </p:tgtEl>
                                      </p:cBhvr>
                                    </p:animEffect>
                                  </p:childTnLst>
                                </p:cTn>
                              </p:par>
                            </p:childTnLst>
                          </p:cTn>
                        </p:par>
                      </p:childTnLst>
                    </p:cTn>
                  </p:par>
                  <p:par>
                    <p:cTn id="105" fill="hold">
                      <p:stCondLst>
                        <p:cond delay="indefinite"/>
                      </p:stCondLst>
                      <p:childTnLst>
                        <p:par>
                          <p:cTn id="106" fill="hold">
                            <p:stCondLst>
                              <p:cond delay="0"/>
                            </p:stCondLst>
                            <p:childTnLst>
                              <p:par>
                                <p:cTn id="107" presetID="1" presetClass="exit" presetSubtype="0" fill="hold" grpId="1" nodeType="clickEffect">
                                  <p:stCondLst>
                                    <p:cond delay="0"/>
                                  </p:stCondLst>
                                  <p:childTnLst>
                                    <p:set>
                                      <p:cBhvr>
                                        <p:cTn id="108" dur="1" fill="hold">
                                          <p:stCondLst>
                                            <p:cond delay="0"/>
                                          </p:stCondLst>
                                        </p:cTn>
                                        <p:tgtEl>
                                          <p:spTgt spid="22"/>
                                        </p:tgtEl>
                                        <p:attrNameLst>
                                          <p:attrName>style.visibility</p:attrName>
                                        </p:attrNameLst>
                                      </p:cBhvr>
                                      <p:to>
                                        <p:strVal val="hidden"/>
                                      </p:to>
                                    </p:set>
                                  </p:childTnLst>
                                </p:cTn>
                              </p:par>
                            </p:childTnLst>
                          </p:cTn>
                        </p:par>
                      </p:childTnLst>
                    </p:cTn>
                  </p:par>
                  <p:par>
                    <p:cTn id="109" fill="hold">
                      <p:stCondLst>
                        <p:cond delay="indefinite"/>
                      </p:stCondLst>
                      <p:childTnLst>
                        <p:par>
                          <p:cTn id="110" fill="hold">
                            <p:stCondLst>
                              <p:cond delay="0"/>
                            </p:stCondLst>
                            <p:childTnLst>
                              <p:par>
                                <p:cTn id="111" presetID="22" presetClass="entr" presetSubtype="4" fill="hold" grpId="0" nodeType="clickEffect">
                                  <p:stCondLst>
                                    <p:cond delay="0"/>
                                  </p:stCondLst>
                                  <p:childTnLst>
                                    <p:set>
                                      <p:cBhvr>
                                        <p:cTn id="112" dur="1" fill="hold">
                                          <p:stCondLst>
                                            <p:cond delay="0"/>
                                          </p:stCondLst>
                                        </p:cTn>
                                        <p:tgtEl>
                                          <p:spTgt spid="46"/>
                                        </p:tgtEl>
                                        <p:attrNameLst>
                                          <p:attrName>style.visibility</p:attrName>
                                        </p:attrNameLst>
                                      </p:cBhvr>
                                      <p:to>
                                        <p:strVal val="visible"/>
                                      </p:to>
                                    </p:set>
                                    <p:animEffect transition="in" filter="wipe(down)">
                                      <p:cBhvr>
                                        <p:cTn id="113" dur="500"/>
                                        <p:tgtEl>
                                          <p:spTgt spid="46"/>
                                        </p:tgtEl>
                                      </p:cBhvr>
                                    </p:animEffect>
                                  </p:childTnLst>
                                </p:cTn>
                              </p:par>
                            </p:childTnLst>
                          </p:cTn>
                        </p:par>
                      </p:childTnLst>
                    </p:cTn>
                  </p:par>
                  <p:par>
                    <p:cTn id="114" fill="hold">
                      <p:stCondLst>
                        <p:cond delay="indefinite"/>
                      </p:stCondLst>
                      <p:childTnLst>
                        <p:par>
                          <p:cTn id="115" fill="hold">
                            <p:stCondLst>
                              <p:cond delay="0"/>
                            </p:stCondLst>
                            <p:childTnLst>
                              <p:par>
                                <p:cTn id="116" presetID="1" presetClass="exit" presetSubtype="0" fill="hold" nodeType="clickEffect">
                                  <p:stCondLst>
                                    <p:cond delay="0"/>
                                  </p:stCondLst>
                                  <p:childTnLst>
                                    <p:set>
                                      <p:cBhvr>
                                        <p:cTn id="117" dur="1" fill="hold">
                                          <p:stCondLst>
                                            <p:cond delay="0"/>
                                          </p:stCondLst>
                                        </p:cTn>
                                        <p:tgtEl>
                                          <p:spTgt spid="42"/>
                                        </p:tgtEl>
                                        <p:attrNameLst>
                                          <p:attrName>style.visibility</p:attrName>
                                        </p:attrNameLst>
                                      </p:cBhvr>
                                      <p:to>
                                        <p:strVal val="hidden"/>
                                      </p:to>
                                    </p:set>
                                  </p:childTnLst>
                                </p:cTn>
                              </p:par>
                              <p:par>
                                <p:cTn id="118" presetID="1" presetClass="exit" presetSubtype="0" fill="hold" grpId="1" nodeType="withEffect">
                                  <p:stCondLst>
                                    <p:cond delay="0"/>
                                  </p:stCondLst>
                                  <p:childTnLst>
                                    <p:set>
                                      <p:cBhvr>
                                        <p:cTn id="119" dur="1" fill="hold">
                                          <p:stCondLst>
                                            <p:cond delay="0"/>
                                          </p:stCondLst>
                                        </p:cTn>
                                        <p:tgtEl>
                                          <p:spTgt spid="41"/>
                                        </p:tgtEl>
                                        <p:attrNameLst>
                                          <p:attrName>style.visibility</p:attrName>
                                        </p:attrNameLst>
                                      </p:cBhvr>
                                      <p:to>
                                        <p:strVal val="hidden"/>
                                      </p:to>
                                    </p:se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43"/>
                                        </p:tgtEl>
                                        <p:attrNameLst>
                                          <p:attrName>style.visibility</p:attrName>
                                        </p:attrNameLst>
                                      </p:cBhvr>
                                      <p:to>
                                        <p:strVal val="visible"/>
                                      </p:to>
                                    </p:set>
                                  </p:childTnLst>
                                </p:cTn>
                              </p:par>
                              <p:par>
                                <p:cTn id="124" presetID="1" presetClass="entr" presetSubtype="0" fill="hold" nodeType="withEffect">
                                  <p:stCondLst>
                                    <p:cond delay="0"/>
                                  </p:stCondLst>
                                  <p:childTnLst>
                                    <p:set>
                                      <p:cBhvr>
                                        <p:cTn id="125" dur="1" fill="hold">
                                          <p:stCondLst>
                                            <p:cond delay="0"/>
                                          </p:stCondLst>
                                        </p:cTn>
                                        <p:tgtEl>
                                          <p:spTgt spid="44"/>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nodeType="clickEffect">
                                  <p:stCondLst>
                                    <p:cond delay="0"/>
                                  </p:stCondLst>
                                  <p:childTnLst>
                                    <p:set>
                                      <p:cBhvr>
                                        <p:cTn id="129"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2" grpId="1" animBg="1"/>
      <p:bldP spid="24" grpId="0"/>
      <p:bldP spid="32" grpId="0"/>
      <p:bldP spid="33" grpId="0"/>
      <p:bldP spid="34" grpId="0"/>
      <p:bldP spid="35" grpId="0"/>
      <p:bldP spid="36" grpId="0" animBg="1"/>
      <p:bldP spid="37" grpId="0"/>
      <p:bldP spid="38" grpId="0"/>
      <p:bldP spid="41" grpId="0"/>
      <p:bldP spid="41" grpId="1"/>
      <p:bldP spid="43" grpId="0"/>
      <p:bldP spid="45" grpId="0" animBg="1"/>
      <p:bldP spid="4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Procedure: CIR_INS_ORD(X,FIRST,LAST)</a:t>
            </a:r>
          </a:p>
        </p:txBody>
      </p:sp>
      <p:sp>
        <p:nvSpPr>
          <p:cNvPr id="3" name="Content Placeholder 2"/>
          <p:cNvSpPr>
            <a:spLocks noGrp="1"/>
          </p:cNvSpPr>
          <p:nvPr>
            <p:ph idx="1"/>
          </p:nvPr>
        </p:nvSpPr>
        <p:spPr/>
        <p:txBody>
          <a:bodyPr/>
          <a:lstStyle/>
          <a:p>
            <a:r>
              <a:rPr lang="en-IN" dirty="0"/>
              <a:t>This function </a:t>
            </a:r>
            <a:r>
              <a:rPr lang="en-IN" b="1" dirty="0">
                <a:solidFill>
                  <a:srgbClr val="C00000"/>
                </a:solidFill>
              </a:rPr>
              <a:t>inserts</a:t>
            </a:r>
            <a:r>
              <a:rPr lang="en-IN" dirty="0">
                <a:solidFill>
                  <a:srgbClr val="C00000"/>
                </a:solidFill>
              </a:rPr>
              <a:t> </a:t>
            </a:r>
            <a:r>
              <a:rPr lang="en-IN" dirty="0"/>
              <a:t>a new node such that linked list preserves the ordering of the terms in </a:t>
            </a:r>
            <a:r>
              <a:rPr lang="en-IN" b="1" dirty="0">
                <a:solidFill>
                  <a:srgbClr val="C00000"/>
                </a:solidFill>
              </a:rPr>
              <a:t>increasing order</a:t>
            </a:r>
            <a:r>
              <a:rPr lang="en-IN" b="1" dirty="0">
                <a:solidFill>
                  <a:srgbClr val="FF0000"/>
                </a:solidFill>
              </a:rPr>
              <a:t> </a:t>
            </a:r>
            <a:r>
              <a:rPr lang="en-IN" dirty="0"/>
              <a:t>of their </a:t>
            </a:r>
            <a:r>
              <a:rPr lang="en-IN" b="1" dirty="0">
                <a:solidFill>
                  <a:srgbClr val="C00000"/>
                </a:solidFill>
              </a:rPr>
              <a:t>INFO</a:t>
            </a:r>
            <a:r>
              <a:rPr lang="en-IN" dirty="0">
                <a:solidFill>
                  <a:srgbClr val="C00000"/>
                </a:solidFill>
              </a:rPr>
              <a:t> </a:t>
            </a:r>
            <a:r>
              <a:rPr lang="en-IN" dirty="0"/>
              <a:t>field.</a:t>
            </a:r>
          </a:p>
          <a:p>
            <a:r>
              <a:rPr lang="en-IN" b="1" dirty="0">
                <a:solidFill>
                  <a:srgbClr val="C00000"/>
                </a:solidFill>
              </a:rPr>
              <a:t>X</a:t>
            </a:r>
            <a:r>
              <a:rPr lang="en-IN" dirty="0">
                <a:solidFill>
                  <a:srgbClr val="C00000"/>
                </a:solidFill>
              </a:rPr>
              <a:t> </a:t>
            </a:r>
            <a:r>
              <a:rPr lang="en-IN" dirty="0"/>
              <a:t>is a new element to be inserted.</a:t>
            </a:r>
          </a:p>
          <a:p>
            <a:r>
              <a:rPr lang="en-IN" b="1" dirty="0">
                <a:solidFill>
                  <a:srgbClr val="C00000"/>
                </a:solidFill>
              </a:rPr>
              <a:t>FIRST</a:t>
            </a:r>
            <a:r>
              <a:rPr lang="en-IN" dirty="0">
                <a:solidFill>
                  <a:srgbClr val="C00000"/>
                </a:solidFill>
              </a:rPr>
              <a:t> </a:t>
            </a:r>
            <a:r>
              <a:rPr lang="en-IN" dirty="0"/>
              <a:t>and </a:t>
            </a:r>
            <a:r>
              <a:rPr lang="en-IN" b="1" dirty="0">
                <a:solidFill>
                  <a:srgbClr val="C00000"/>
                </a:solidFill>
              </a:rPr>
              <a:t>LAST</a:t>
            </a:r>
            <a:r>
              <a:rPr lang="en-IN" dirty="0">
                <a:solidFill>
                  <a:srgbClr val="C00000"/>
                </a:solidFill>
              </a:rPr>
              <a:t> </a:t>
            </a:r>
            <a:r>
              <a:rPr lang="en-IN" dirty="0"/>
              <a:t>are a </a:t>
            </a:r>
            <a:r>
              <a:rPr lang="en-IN" b="1" dirty="0"/>
              <a:t>pointer to the first &amp; last elements</a:t>
            </a:r>
            <a:r>
              <a:rPr lang="en-IN" dirty="0"/>
              <a:t> of a Circular linked linear list, respectively. </a:t>
            </a:r>
          </a:p>
          <a:p>
            <a:r>
              <a:rPr lang="en-IN" dirty="0"/>
              <a:t>Typical node contains </a:t>
            </a:r>
            <a:r>
              <a:rPr lang="en-IN" b="1" dirty="0">
                <a:solidFill>
                  <a:srgbClr val="C00000"/>
                </a:solidFill>
              </a:rPr>
              <a:t>INFO</a:t>
            </a:r>
            <a:r>
              <a:rPr lang="en-IN" dirty="0">
                <a:solidFill>
                  <a:srgbClr val="C00000"/>
                </a:solidFill>
              </a:rPr>
              <a:t> </a:t>
            </a:r>
            <a:r>
              <a:rPr lang="en-IN" dirty="0"/>
              <a:t>and </a:t>
            </a:r>
            <a:r>
              <a:rPr lang="en-IN" b="1" dirty="0">
                <a:solidFill>
                  <a:srgbClr val="C00000"/>
                </a:solidFill>
              </a:rPr>
              <a:t>LINK</a:t>
            </a:r>
            <a:r>
              <a:rPr lang="en-IN" dirty="0">
                <a:solidFill>
                  <a:srgbClr val="C00000"/>
                </a:solidFill>
              </a:rPr>
              <a:t> </a:t>
            </a:r>
            <a:r>
              <a:rPr lang="en-IN" dirty="0"/>
              <a:t>fields. </a:t>
            </a:r>
          </a:p>
          <a:p>
            <a:r>
              <a:rPr lang="en-IN" b="1" dirty="0">
                <a:solidFill>
                  <a:srgbClr val="C00000"/>
                </a:solidFill>
              </a:rPr>
              <a:t>NEW</a:t>
            </a:r>
            <a:r>
              <a:rPr lang="en-IN" dirty="0">
                <a:solidFill>
                  <a:srgbClr val="C00000"/>
                </a:solidFill>
              </a:rPr>
              <a:t> </a:t>
            </a:r>
            <a:r>
              <a:rPr lang="en-IN" dirty="0"/>
              <a:t>is a temporary pointer variable.</a:t>
            </a:r>
            <a:endParaRPr lang="en-US" dirty="0"/>
          </a:p>
          <a:p>
            <a:pPr marL="0" indent="0">
              <a:buNone/>
            </a:pPr>
            <a:endParaRPr lang="en-US" dirty="0"/>
          </a:p>
          <a:p>
            <a:endParaRPr lang="en-US" dirty="0"/>
          </a:p>
        </p:txBody>
      </p:sp>
    </p:spTree>
    <p:extLst>
      <p:ext uri="{BB962C8B-B14F-4D97-AF65-F5344CB8AC3E}">
        <p14:creationId xmlns:p14="http://schemas.microsoft.com/office/powerpoint/2010/main" val="4275286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Procedure: CIR_INS_ORD(X,FIRST,LAST)</a:t>
            </a:r>
          </a:p>
        </p:txBody>
      </p:sp>
      <p:sp>
        <p:nvSpPr>
          <p:cNvPr id="4" name="TextBox 3"/>
          <p:cNvSpPr txBox="1"/>
          <p:nvPr/>
        </p:nvSpPr>
        <p:spPr>
          <a:xfrm>
            <a:off x="313588" y="883024"/>
            <a:ext cx="5760000" cy="5386090"/>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1. [Create New Empty Node]</a:t>
            </a:r>
          </a:p>
          <a:p>
            <a:r>
              <a:rPr lang="en-IN" sz="2000" dirty="0" smtClean="0">
                <a:latin typeface="Consolas" pitchFamily="49" charset="0"/>
                <a:cs typeface="Consolas" pitchFamily="49" charset="0"/>
              </a:rPr>
              <a:t>   </a:t>
            </a:r>
            <a:r>
              <a:rPr lang="en-IN" sz="2000" dirty="0">
                <a:latin typeface="Consolas" pitchFamily="49" charset="0"/>
                <a:cs typeface="Consolas" pitchFamily="49" charset="0"/>
              </a:rPr>
              <a:t>NEW </a:t>
            </a:r>
            <a:r>
              <a:rPr lang="en-IN" sz="2000" b="1" dirty="0">
                <a:solidFill>
                  <a:schemeClr val="accent6"/>
                </a:solidFill>
                <a:latin typeface="Consolas" pitchFamily="49" charset="0"/>
                <a:cs typeface="Consolas" pitchFamily="49" charset="0"/>
              </a:rPr>
              <a:t>&lt;=</a:t>
            </a:r>
            <a:r>
              <a:rPr lang="en-IN" sz="2000" dirty="0">
                <a:latin typeface="Consolas" pitchFamily="49" charset="0"/>
                <a:cs typeface="Consolas" pitchFamily="49" charset="0"/>
              </a:rPr>
              <a:t> NODE </a:t>
            </a:r>
          </a:p>
          <a:p>
            <a:pPr marL="450850" indent="-450850"/>
            <a:r>
              <a:rPr lang="en-IN" sz="2000" b="1" dirty="0">
                <a:solidFill>
                  <a:schemeClr val="tx2"/>
                </a:solidFill>
                <a:latin typeface="Consolas" pitchFamily="49" charset="0"/>
                <a:cs typeface="Consolas" pitchFamily="49" charset="0"/>
              </a:rPr>
              <a:t>2. [Copy information content into new node]</a:t>
            </a:r>
          </a:p>
          <a:p>
            <a:r>
              <a:rPr lang="en-IN" sz="2000" dirty="0">
                <a:latin typeface="Consolas" pitchFamily="49" charset="0"/>
                <a:cs typeface="Consolas" pitchFamily="49" charset="0"/>
              </a:rPr>
              <a:t>   INFO(NEW)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X</a:t>
            </a:r>
          </a:p>
          <a:p>
            <a:r>
              <a:rPr lang="en-IN" sz="2000" b="1" dirty="0">
                <a:solidFill>
                  <a:schemeClr val="tx2"/>
                </a:solidFill>
                <a:latin typeface="Consolas" pitchFamily="49" charset="0"/>
                <a:cs typeface="Consolas" pitchFamily="49" charset="0"/>
              </a:rPr>
              <a:t>3. [Is Linked List Empty?]</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IF</a:t>
            </a:r>
            <a:r>
              <a:rPr lang="en-IN" sz="2000" dirty="0">
                <a:latin typeface="Consolas" pitchFamily="49" charset="0"/>
                <a:cs typeface="Consolas" pitchFamily="49" charset="0"/>
              </a:rPr>
              <a:t>   FIRST = NULL</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THEN</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LINK(NEW)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NEW</a:t>
            </a:r>
          </a:p>
          <a:p>
            <a:r>
              <a:rPr lang="en-IN" sz="2000" dirty="0">
                <a:latin typeface="Consolas" pitchFamily="49" charset="0"/>
                <a:cs typeface="Consolas" pitchFamily="49" charset="0"/>
              </a:rPr>
              <a:t>        FIRST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LAST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NEW</a:t>
            </a:r>
          </a:p>
          <a:p>
            <a:r>
              <a:rPr lang="en-IN" sz="2000" dirty="0">
                <a:latin typeface="Consolas" pitchFamily="49" charset="0"/>
                <a:cs typeface="Consolas" pitchFamily="49" charset="0"/>
              </a:rPr>
              <a:t>        Return</a:t>
            </a:r>
          </a:p>
          <a:p>
            <a:pPr marL="450850" indent="-450850"/>
            <a:r>
              <a:rPr lang="en-IN" sz="2000" b="1" dirty="0">
                <a:solidFill>
                  <a:schemeClr val="tx2"/>
                </a:solidFill>
                <a:latin typeface="Consolas" pitchFamily="49" charset="0"/>
                <a:cs typeface="Consolas" pitchFamily="49" charset="0"/>
              </a:rPr>
              <a:t>4. [Does new node precedes all other nodes in List?]</a:t>
            </a:r>
          </a:p>
          <a:p>
            <a:r>
              <a:rPr lang="en-IN" sz="2000" dirty="0">
                <a:latin typeface="Consolas" pitchFamily="49" charset="0"/>
                <a:cs typeface="Consolas" pitchFamily="49" charset="0"/>
              </a:rPr>
              <a:t>    IF    INFO(NEW)≤ INFO(FIRST)</a:t>
            </a:r>
          </a:p>
          <a:p>
            <a:r>
              <a:rPr lang="en-IN" sz="2000" dirty="0">
                <a:latin typeface="Consolas" pitchFamily="49" charset="0"/>
                <a:cs typeface="Consolas" pitchFamily="49" charset="0"/>
              </a:rPr>
              <a:t>    THEN  LINK(NEW)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FIRST</a:t>
            </a:r>
          </a:p>
          <a:p>
            <a:r>
              <a:rPr lang="en-IN" sz="2000" dirty="0">
                <a:latin typeface="Consolas" pitchFamily="49" charset="0"/>
                <a:cs typeface="Consolas" pitchFamily="49" charset="0"/>
              </a:rPr>
              <a:t>          LINK(LAST)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NEW</a:t>
            </a:r>
          </a:p>
          <a:p>
            <a:r>
              <a:rPr lang="en-IN" sz="2000" dirty="0">
                <a:latin typeface="Consolas" pitchFamily="49" charset="0"/>
                <a:cs typeface="Consolas" pitchFamily="49" charset="0"/>
              </a:rPr>
              <a:t>          FIRST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NEW</a:t>
            </a:r>
          </a:p>
          <a:p>
            <a:r>
              <a:rPr lang="en-IN" sz="2000" dirty="0">
                <a:latin typeface="Consolas" pitchFamily="49" charset="0"/>
                <a:cs typeface="Consolas" pitchFamily="49" charset="0"/>
              </a:rPr>
              <a:t>          Return</a:t>
            </a:r>
          </a:p>
        </p:txBody>
      </p:sp>
      <p:sp>
        <p:nvSpPr>
          <p:cNvPr id="6" name="TextBox 5"/>
          <p:cNvSpPr txBox="1"/>
          <p:nvPr/>
        </p:nvSpPr>
        <p:spPr>
          <a:xfrm>
            <a:off x="6256606" y="883023"/>
            <a:ext cx="5760000" cy="4401205"/>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5. [Initialize Temporary Pointer]</a:t>
            </a:r>
          </a:p>
          <a:p>
            <a:r>
              <a:rPr lang="en-IN" sz="2000" dirty="0">
                <a:latin typeface="Consolas" pitchFamily="49" charset="0"/>
                <a:cs typeface="Consolas" pitchFamily="49" charset="0"/>
              </a:rPr>
              <a:t>    SAVE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FIRST </a:t>
            </a:r>
          </a:p>
          <a:p>
            <a:pPr marL="450850" indent="-450850"/>
            <a:r>
              <a:rPr lang="en-IN" sz="2000" b="1" dirty="0">
                <a:solidFill>
                  <a:schemeClr val="tx2"/>
                </a:solidFill>
                <a:latin typeface="Consolas" pitchFamily="49" charset="0"/>
                <a:cs typeface="Consolas" pitchFamily="49" charset="0"/>
              </a:rPr>
              <a:t>6. [Search for Predecessor of new node]</a:t>
            </a:r>
          </a:p>
          <a:p>
            <a:r>
              <a:rPr lang="en-IN" sz="2000" b="1" dirty="0">
                <a:solidFill>
                  <a:schemeClr val="accent2">
                    <a:lumMod val="75000"/>
                  </a:schemeClr>
                </a:solidFill>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Repeat while </a:t>
            </a:r>
            <a:r>
              <a:rPr lang="en-IN" sz="2000" dirty="0">
                <a:latin typeface="Consolas" pitchFamily="49" charset="0"/>
                <a:cs typeface="Consolas" pitchFamily="49" charset="0"/>
              </a:rPr>
              <a:t>SAVE ≠ LAST &amp;  </a:t>
            </a:r>
          </a:p>
          <a:p>
            <a:r>
              <a:rPr lang="en-IN" sz="2000" dirty="0">
                <a:latin typeface="Consolas" pitchFamily="49" charset="0"/>
                <a:cs typeface="Consolas" pitchFamily="49" charset="0"/>
              </a:rPr>
              <a:t>      INFO(NEW) ≥ INFO(LINK(SAVE))</a:t>
            </a:r>
          </a:p>
          <a:p>
            <a:r>
              <a:rPr lang="en-IN" sz="2000" dirty="0">
                <a:latin typeface="Consolas" pitchFamily="49" charset="0"/>
                <a:cs typeface="Consolas" pitchFamily="49" charset="0"/>
              </a:rPr>
              <a:t> 	   SAVE</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LINK(SAVE)</a:t>
            </a:r>
          </a:p>
          <a:p>
            <a:pPr marL="450850" indent="-450850"/>
            <a:r>
              <a:rPr lang="en-IN" sz="2000" b="1" dirty="0">
                <a:solidFill>
                  <a:schemeClr val="tx2"/>
                </a:solidFill>
                <a:latin typeface="Consolas" pitchFamily="49" charset="0"/>
                <a:cs typeface="Consolas" pitchFamily="49" charset="0"/>
              </a:rPr>
              <a:t>7. [Set link field of NEW node and its Predecessor]</a:t>
            </a:r>
          </a:p>
          <a:p>
            <a:r>
              <a:rPr lang="en-IN" sz="2000" dirty="0">
                <a:latin typeface="Consolas" pitchFamily="49" charset="0"/>
                <a:cs typeface="Consolas" pitchFamily="49" charset="0"/>
              </a:rPr>
              <a:t>    LINK(NEW)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LINK(SAVE)</a:t>
            </a:r>
          </a:p>
          <a:p>
            <a:r>
              <a:rPr lang="en-IN" sz="2000" dirty="0">
                <a:latin typeface="Consolas" pitchFamily="49" charset="0"/>
                <a:cs typeface="Consolas" pitchFamily="49" charset="0"/>
              </a:rPr>
              <a:t>    LINK(SAVE)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NEW</a:t>
            </a:r>
          </a:p>
          <a:p>
            <a:r>
              <a:rPr lang="en-IN" sz="2000" dirty="0">
                <a:latin typeface="Consolas" pitchFamily="49" charset="0"/>
                <a:cs typeface="Consolas" pitchFamily="49" charset="0"/>
              </a:rPr>
              <a:t>    IF   SAVE = LAST</a:t>
            </a:r>
          </a:p>
          <a:p>
            <a:r>
              <a:rPr lang="en-IN" sz="2000" dirty="0">
                <a:latin typeface="Consolas" pitchFamily="49" charset="0"/>
                <a:cs typeface="Consolas" pitchFamily="49" charset="0"/>
              </a:rPr>
              <a:t>    THEN LAST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NEW</a:t>
            </a:r>
          </a:p>
          <a:p>
            <a:r>
              <a:rPr lang="en-IN" sz="2000" b="1" dirty="0">
                <a:solidFill>
                  <a:schemeClr val="tx2"/>
                </a:solidFill>
                <a:latin typeface="Consolas" pitchFamily="49" charset="0"/>
                <a:cs typeface="Consolas" pitchFamily="49" charset="0"/>
              </a:rPr>
              <a:t>8. [Finished]</a:t>
            </a:r>
          </a:p>
          <a:p>
            <a:r>
              <a:rPr lang="en-IN" sz="2000" dirty="0">
                <a:latin typeface="Consolas" pitchFamily="49" charset="0"/>
                <a:cs typeface="Consolas" pitchFamily="49" charset="0"/>
              </a:rPr>
              <a:t>   Return</a:t>
            </a:r>
          </a:p>
        </p:txBody>
      </p:sp>
    </p:spTree>
    <p:extLst>
      <p:ext uri="{BB962C8B-B14F-4D97-AF65-F5344CB8AC3E}">
        <p14:creationId xmlns:p14="http://schemas.microsoft.com/office/powerpoint/2010/main" val="3555614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6" end="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xEl>
                                              <p:pRg st="10" end="10"/>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
                                            <p:txEl>
                                              <p:pRg st="11" end="11"/>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
                                            <p:txEl>
                                              <p:pRg st="12" end="12"/>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
                                            <p:txEl>
                                              <p:pRg st="13" end="13"/>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6">
                                            <p:txEl>
                                              <p:pRg st="3" end="3"/>
                                            </p:txEl>
                                          </p:spTgt>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
                                            <p:txEl>
                                              <p:pRg st="7" end="7"/>
                                            </p:txEl>
                                          </p:spTgt>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6">
                                            <p:txEl>
                                              <p:pRg st="9" end="9"/>
                                            </p:txEl>
                                          </p:spTgt>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Procedure: CIR_INS_ORD(3,FIRST,LAST)</a:t>
            </a:r>
          </a:p>
        </p:txBody>
      </p:sp>
      <p:sp>
        <p:nvSpPr>
          <p:cNvPr id="4" name="TextBox 3"/>
          <p:cNvSpPr txBox="1"/>
          <p:nvPr/>
        </p:nvSpPr>
        <p:spPr>
          <a:xfrm>
            <a:off x="153010" y="886107"/>
            <a:ext cx="5760000" cy="3231654"/>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1. [Create New Empty Node]</a:t>
            </a:r>
          </a:p>
          <a:p>
            <a:r>
              <a:rPr lang="en-IN" sz="2000" dirty="0">
                <a:latin typeface="Consolas" pitchFamily="49" charset="0"/>
                <a:cs typeface="Consolas" pitchFamily="49" charset="0"/>
              </a:rPr>
              <a:t> </a:t>
            </a:r>
            <a:r>
              <a:rPr lang="en-IN" sz="2000" dirty="0" smtClean="0">
                <a:latin typeface="Consolas" pitchFamily="49" charset="0"/>
                <a:cs typeface="Consolas" pitchFamily="49" charset="0"/>
              </a:rPr>
              <a:t>   NEW </a:t>
            </a:r>
            <a:r>
              <a:rPr lang="en-IN" sz="2000" b="1" dirty="0">
                <a:solidFill>
                  <a:schemeClr val="accent6"/>
                </a:solidFill>
                <a:latin typeface="Consolas" pitchFamily="49" charset="0"/>
                <a:cs typeface="Consolas" pitchFamily="49" charset="0"/>
              </a:rPr>
              <a:t>&lt;=</a:t>
            </a:r>
            <a:r>
              <a:rPr lang="en-IN" sz="2000" dirty="0">
                <a:latin typeface="Consolas" pitchFamily="49" charset="0"/>
                <a:cs typeface="Consolas" pitchFamily="49" charset="0"/>
              </a:rPr>
              <a:t> </a:t>
            </a:r>
            <a:r>
              <a:rPr lang="en-IN" sz="2000" dirty="0" smtClean="0">
                <a:latin typeface="Consolas" pitchFamily="49" charset="0"/>
                <a:cs typeface="Consolas" pitchFamily="49" charset="0"/>
              </a:rPr>
              <a:t>NODE</a:t>
            </a:r>
          </a:p>
          <a:p>
            <a:pPr marL="444500" indent="-444500"/>
            <a:r>
              <a:rPr lang="en-IN" sz="2000" b="1" dirty="0" smtClean="0">
                <a:solidFill>
                  <a:schemeClr val="tx2"/>
                </a:solidFill>
                <a:latin typeface="Consolas" pitchFamily="49" charset="0"/>
                <a:cs typeface="Consolas" pitchFamily="49" charset="0"/>
              </a:rPr>
              <a:t>2. [Copy information content into new node]</a:t>
            </a:r>
          </a:p>
          <a:p>
            <a:r>
              <a:rPr lang="en-IN" sz="2000" dirty="0" smtClean="0">
                <a:latin typeface="Consolas" pitchFamily="49" charset="0"/>
                <a:cs typeface="Consolas" pitchFamily="49" charset="0"/>
              </a:rPr>
              <a:t>    </a:t>
            </a:r>
            <a:r>
              <a:rPr lang="en-IN" sz="2000" dirty="0">
                <a:latin typeface="Consolas" pitchFamily="49" charset="0"/>
                <a:cs typeface="Consolas" pitchFamily="49" charset="0"/>
              </a:rPr>
              <a:t>INFO(NEW)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X</a:t>
            </a:r>
          </a:p>
          <a:p>
            <a:r>
              <a:rPr lang="en-IN" sz="2000" b="1" dirty="0">
                <a:solidFill>
                  <a:schemeClr val="tx2"/>
                </a:solidFill>
                <a:latin typeface="Consolas" pitchFamily="49" charset="0"/>
                <a:cs typeface="Consolas" pitchFamily="49" charset="0"/>
              </a:rPr>
              <a:t>3. [Is Linked List Empty?]</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IF</a:t>
            </a:r>
            <a:r>
              <a:rPr lang="en-IN" sz="2000" dirty="0">
                <a:latin typeface="Consolas" pitchFamily="49" charset="0"/>
                <a:cs typeface="Consolas" pitchFamily="49" charset="0"/>
              </a:rPr>
              <a:t>   FIRST = NULL</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THEN</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LINK(NEW)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NEW</a:t>
            </a:r>
          </a:p>
          <a:p>
            <a:r>
              <a:rPr lang="en-IN" sz="2000" dirty="0">
                <a:latin typeface="Consolas" pitchFamily="49" charset="0"/>
                <a:cs typeface="Consolas" pitchFamily="49" charset="0"/>
              </a:rPr>
              <a:t>         FIRST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LAST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NEW</a:t>
            </a:r>
          </a:p>
          <a:p>
            <a:r>
              <a:rPr lang="en-IN" sz="2000" dirty="0">
                <a:latin typeface="Consolas" pitchFamily="49" charset="0"/>
                <a:cs typeface="Consolas" pitchFamily="49" charset="0"/>
              </a:rPr>
              <a:t>         Return</a:t>
            </a:r>
          </a:p>
        </p:txBody>
      </p:sp>
      <p:sp>
        <p:nvSpPr>
          <p:cNvPr id="5" name="TextBox 4"/>
          <p:cNvSpPr txBox="1"/>
          <p:nvPr/>
        </p:nvSpPr>
        <p:spPr>
          <a:xfrm>
            <a:off x="6096000" y="886107"/>
            <a:ext cx="5760000" cy="2246769"/>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4. [Does new node precedes all other nodes in List?]</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IF</a:t>
            </a:r>
            <a:r>
              <a:rPr lang="en-IN" sz="2000" dirty="0">
                <a:latin typeface="Consolas" pitchFamily="49" charset="0"/>
                <a:cs typeface="Consolas" pitchFamily="49" charset="0"/>
              </a:rPr>
              <a:t>    INFO(NEW)≤ INFO(FIRST)</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THEN</a:t>
            </a:r>
            <a:r>
              <a:rPr lang="en-IN" sz="2000" dirty="0">
                <a:latin typeface="Consolas" pitchFamily="49" charset="0"/>
                <a:cs typeface="Consolas" pitchFamily="49" charset="0"/>
              </a:rPr>
              <a:t>  LINK(NEW)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FIRST</a:t>
            </a:r>
          </a:p>
          <a:p>
            <a:r>
              <a:rPr lang="en-IN" sz="2000" dirty="0">
                <a:latin typeface="Consolas" pitchFamily="49" charset="0"/>
                <a:cs typeface="Consolas" pitchFamily="49" charset="0"/>
              </a:rPr>
              <a:t>          LINK(LAST)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NEW</a:t>
            </a:r>
          </a:p>
          <a:p>
            <a:r>
              <a:rPr lang="en-IN" sz="2000" dirty="0">
                <a:latin typeface="Consolas" pitchFamily="49" charset="0"/>
                <a:cs typeface="Consolas" pitchFamily="49" charset="0"/>
              </a:rPr>
              <a:t>          FIRST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NEW</a:t>
            </a:r>
          </a:p>
          <a:p>
            <a:r>
              <a:rPr lang="en-IN" sz="2000" dirty="0">
                <a:latin typeface="Consolas" pitchFamily="49" charset="0"/>
                <a:cs typeface="Consolas" pitchFamily="49" charset="0"/>
              </a:rPr>
              <a:t>          Return</a:t>
            </a:r>
          </a:p>
        </p:txBody>
      </p:sp>
      <p:grpSp>
        <p:nvGrpSpPr>
          <p:cNvPr id="45" name="Group 44"/>
          <p:cNvGrpSpPr/>
          <p:nvPr/>
        </p:nvGrpSpPr>
        <p:grpSpPr>
          <a:xfrm>
            <a:off x="4080887" y="5508175"/>
            <a:ext cx="920012" cy="533400"/>
            <a:chOff x="951919" y="5486400"/>
            <a:chExt cx="920012" cy="533400"/>
          </a:xfrm>
        </p:grpSpPr>
        <p:sp>
          <p:nvSpPr>
            <p:cNvPr id="46" name="Rectangle 45"/>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US" sz="2400" b="1" dirty="0"/>
            </a:p>
          </p:txBody>
        </p:sp>
        <p:sp>
          <p:nvSpPr>
            <p:cNvPr id="47" name="Rectangle 46"/>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48" name="Group 47"/>
          <p:cNvGrpSpPr/>
          <p:nvPr/>
        </p:nvGrpSpPr>
        <p:grpSpPr>
          <a:xfrm>
            <a:off x="5452487" y="5508175"/>
            <a:ext cx="920012" cy="533400"/>
            <a:chOff x="951919" y="5486400"/>
            <a:chExt cx="920012" cy="533400"/>
          </a:xfrm>
        </p:grpSpPr>
        <p:sp>
          <p:nvSpPr>
            <p:cNvPr id="49" name="Rectangle 48"/>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50" name="Rectangle 49"/>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51" name="Group 50"/>
          <p:cNvGrpSpPr/>
          <p:nvPr/>
        </p:nvGrpSpPr>
        <p:grpSpPr>
          <a:xfrm>
            <a:off x="6824087" y="5508175"/>
            <a:ext cx="920012" cy="533400"/>
            <a:chOff x="951919" y="5486400"/>
            <a:chExt cx="920012" cy="533400"/>
          </a:xfrm>
        </p:grpSpPr>
        <p:sp>
          <p:nvSpPr>
            <p:cNvPr id="52" name="Rectangle 51"/>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15</a:t>
              </a:r>
              <a:endParaRPr lang="en-US" sz="2400" b="1" dirty="0"/>
            </a:p>
          </p:txBody>
        </p:sp>
        <p:sp>
          <p:nvSpPr>
            <p:cNvPr id="53" name="Rectangle 52"/>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54" name="Group 53"/>
          <p:cNvGrpSpPr/>
          <p:nvPr/>
        </p:nvGrpSpPr>
        <p:grpSpPr>
          <a:xfrm>
            <a:off x="8195687" y="5508175"/>
            <a:ext cx="920012" cy="533400"/>
            <a:chOff x="951919" y="5486400"/>
            <a:chExt cx="920012" cy="533400"/>
          </a:xfrm>
        </p:grpSpPr>
        <p:sp>
          <p:nvSpPr>
            <p:cNvPr id="55" name="Rectangle 54"/>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20</a:t>
              </a:r>
              <a:endParaRPr lang="en-US" sz="2400" b="1" dirty="0"/>
            </a:p>
          </p:txBody>
        </p:sp>
        <p:sp>
          <p:nvSpPr>
            <p:cNvPr id="56" name="Rectangle 55"/>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57" name="Straight Arrow Connector 56"/>
          <p:cNvCxnSpPr>
            <a:stCxn id="47" idx="3"/>
            <a:endCxn id="49" idx="1"/>
          </p:cNvCxnSpPr>
          <p:nvPr/>
        </p:nvCxnSpPr>
        <p:spPr>
          <a:xfrm>
            <a:off x="5000899" y="5774875"/>
            <a:ext cx="4515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58" name="Straight Arrow Connector 57"/>
          <p:cNvCxnSpPr>
            <a:stCxn id="50" idx="3"/>
            <a:endCxn id="52" idx="1"/>
          </p:cNvCxnSpPr>
          <p:nvPr/>
        </p:nvCxnSpPr>
        <p:spPr>
          <a:xfrm>
            <a:off x="6372499" y="5774875"/>
            <a:ext cx="4515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59" name="Straight Arrow Connector 58"/>
          <p:cNvCxnSpPr>
            <a:stCxn id="53" idx="3"/>
            <a:endCxn id="55" idx="1"/>
          </p:cNvCxnSpPr>
          <p:nvPr/>
        </p:nvCxnSpPr>
        <p:spPr>
          <a:xfrm>
            <a:off x="7744099" y="5774875"/>
            <a:ext cx="4515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60" name="Freeform 59"/>
          <p:cNvSpPr/>
          <p:nvPr/>
        </p:nvSpPr>
        <p:spPr>
          <a:xfrm>
            <a:off x="4852247" y="5753014"/>
            <a:ext cx="4586990" cy="659568"/>
          </a:xfrm>
          <a:custGeom>
            <a:avLst/>
            <a:gdLst>
              <a:gd name="connsiteX0" fmla="*/ 4257206 w 4586990"/>
              <a:gd name="connsiteY0" fmla="*/ 0 h 659568"/>
              <a:gd name="connsiteX1" fmla="*/ 4586990 w 4586990"/>
              <a:gd name="connsiteY1" fmla="*/ 0 h 659568"/>
              <a:gd name="connsiteX2" fmla="*/ 4586990 w 4586990"/>
              <a:gd name="connsiteY2" fmla="*/ 659568 h 659568"/>
              <a:gd name="connsiteX3" fmla="*/ 0 w 4586990"/>
              <a:gd name="connsiteY3" fmla="*/ 659568 h 659568"/>
              <a:gd name="connsiteX4" fmla="*/ 0 w 4586990"/>
              <a:gd name="connsiteY4" fmla="*/ 254833 h 6595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6990" h="659568">
                <a:moveTo>
                  <a:pt x="4257206" y="0"/>
                </a:moveTo>
                <a:lnTo>
                  <a:pt x="4586990" y="0"/>
                </a:lnTo>
                <a:lnTo>
                  <a:pt x="4586990" y="659568"/>
                </a:lnTo>
                <a:lnTo>
                  <a:pt x="0" y="659568"/>
                </a:lnTo>
                <a:lnTo>
                  <a:pt x="0" y="254833"/>
                </a:lnTo>
              </a:path>
            </a:pathLst>
          </a:cu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cxnSp>
        <p:nvCxnSpPr>
          <p:cNvPr id="61" name="Straight Arrow Connector 60"/>
          <p:cNvCxnSpPr/>
          <p:nvPr/>
        </p:nvCxnSpPr>
        <p:spPr>
          <a:xfrm flipV="1">
            <a:off x="4315099" y="6041577"/>
            <a:ext cx="0" cy="20798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62" name="TextBox 61"/>
          <p:cNvSpPr txBox="1"/>
          <p:nvPr/>
        </p:nvSpPr>
        <p:spPr>
          <a:xfrm>
            <a:off x="3951261" y="6247417"/>
            <a:ext cx="734496" cy="369332"/>
          </a:xfrm>
          <a:prstGeom prst="rect">
            <a:avLst/>
          </a:prstGeom>
          <a:noFill/>
        </p:spPr>
        <p:txBody>
          <a:bodyPr wrap="none" rtlCol="0">
            <a:spAutoFit/>
          </a:bodyPr>
          <a:lstStyle/>
          <a:p>
            <a:pPr algn="ctr"/>
            <a:r>
              <a:rPr lang="en-IN" b="1" dirty="0">
                <a:solidFill>
                  <a:srgbClr val="C00000"/>
                </a:solidFill>
              </a:rPr>
              <a:t>FIRST</a:t>
            </a:r>
            <a:endParaRPr lang="en-US" b="1" dirty="0">
              <a:solidFill>
                <a:srgbClr val="C00000"/>
              </a:solidFill>
            </a:endParaRPr>
          </a:p>
        </p:txBody>
      </p:sp>
      <p:cxnSp>
        <p:nvCxnSpPr>
          <p:cNvPr id="63" name="Straight Connector 62"/>
          <p:cNvCxnSpPr/>
          <p:nvPr/>
        </p:nvCxnSpPr>
        <p:spPr>
          <a:xfrm>
            <a:off x="3095899" y="4734107"/>
            <a:ext cx="0" cy="1788617"/>
          </a:xfrm>
          <a:prstGeom prst="line">
            <a:avLst/>
          </a:prstGeom>
        </p:spPr>
        <p:style>
          <a:lnRef idx="3">
            <a:schemeClr val="dk1"/>
          </a:lnRef>
          <a:fillRef idx="0">
            <a:schemeClr val="dk1"/>
          </a:fillRef>
          <a:effectRef idx="2">
            <a:schemeClr val="dk1"/>
          </a:effectRef>
          <a:fontRef idx="minor">
            <a:schemeClr val="tx1"/>
          </a:fontRef>
        </p:style>
      </p:cxnSp>
      <p:grpSp>
        <p:nvGrpSpPr>
          <p:cNvPr id="64" name="Group 63"/>
          <p:cNvGrpSpPr/>
          <p:nvPr/>
        </p:nvGrpSpPr>
        <p:grpSpPr>
          <a:xfrm>
            <a:off x="5623506" y="4365175"/>
            <a:ext cx="920012" cy="533400"/>
            <a:chOff x="951919" y="5486400"/>
            <a:chExt cx="920012" cy="533400"/>
          </a:xfrm>
        </p:grpSpPr>
        <p:sp>
          <p:nvSpPr>
            <p:cNvPr id="65" name="Rectangle 64"/>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66" name="Rectangle 65"/>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67" name="Group 66"/>
          <p:cNvGrpSpPr/>
          <p:nvPr/>
        </p:nvGrpSpPr>
        <p:grpSpPr>
          <a:xfrm>
            <a:off x="1116678" y="5311440"/>
            <a:ext cx="920012" cy="533400"/>
            <a:chOff x="951919" y="5486400"/>
            <a:chExt cx="920012" cy="533400"/>
          </a:xfrm>
        </p:grpSpPr>
        <p:sp>
          <p:nvSpPr>
            <p:cNvPr id="68" name="Rectangle 67"/>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69" name="Rectangle 68"/>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sp>
        <p:nvSpPr>
          <p:cNvPr id="70" name="TextBox 69"/>
          <p:cNvSpPr txBox="1"/>
          <p:nvPr/>
        </p:nvSpPr>
        <p:spPr>
          <a:xfrm>
            <a:off x="1231741" y="5343109"/>
            <a:ext cx="340158" cy="461665"/>
          </a:xfrm>
          <a:prstGeom prst="rect">
            <a:avLst/>
          </a:prstGeom>
          <a:noFill/>
        </p:spPr>
        <p:txBody>
          <a:bodyPr wrap="none" rtlCol="0">
            <a:spAutoFit/>
          </a:bodyPr>
          <a:lstStyle/>
          <a:p>
            <a:r>
              <a:rPr lang="en-IN" sz="2400" b="1" dirty="0">
                <a:solidFill>
                  <a:srgbClr val="FFFF00"/>
                </a:solidFill>
              </a:rPr>
              <a:t>3</a:t>
            </a:r>
            <a:endParaRPr lang="en-US" sz="2400" b="1" dirty="0">
              <a:solidFill>
                <a:srgbClr val="FFFF00"/>
              </a:solidFill>
            </a:endParaRPr>
          </a:p>
        </p:txBody>
      </p:sp>
      <p:sp>
        <p:nvSpPr>
          <p:cNvPr id="71" name="TextBox 70"/>
          <p:cNvSpPr txBox="1"/>
          <p:nvPr/>
        </p:nvSpPr>
        <p:spPr>
          <a:xfrm>
            <a:off x="5727541" y="4400801"/>
            <a:ext cx="340158" cy="461665"/>
          </a:xfrm>
          <a:prstGeom prst="rect">
            <a:avLst/>
          </a:prstGeom>
          <a:noFill/>
        </p:spPr>
        <p:txBody>
          <a:bodyPr wrap="none" rtlCol="0">
            <a:spAutoFit/>
          </a:bodyPr>
          <a:lstStyle/>
          <a:p>
            <a:r>
              <a:rPr lang="en-IN" sz="2400" b="1" dirty="0">
                <a:solidFill>
                  <a:srgbClr val="FFFF00"/>
                </a:solidFill>
              </a:rPr>
              <a:t>3</a:t>
            </a:r>
            <a:endParaRPr lang="en-US" sz="2400" b="1" dirty="0">
              <a:solidFill>
                <a:srgbClr val="FFFF00"/>
              </a:solidFill>
            </a:endParaRPr>
          </a:p>
        </p:txBody>
      </p:sp>
      <p:sp>
        <p:nvSpPr>
          <p:cNvPr id="72" name="TextBox 71"/>
          <p:cNvSpPr txBox="1"/>
          <p:nvPr/>
        </p:nvSpPr>
        <p:spPr>
          <a:xfrm>
            <a:off x="1242766" y="5844840"/>
            <a:ext cx="612668" cy="369332"/>
          </a:xfrm>
          <a:prstGeom prst="rect">
            <a:avLst/>
          </a:prstGeom>
          <a:noFill/>
        </p:spPr>
        <p:txBody>
          <a:bodyPr wrap="none" rtlCol="0">
            <a:spAutoFit/>
          </a:bodyPr>
          <a:lstStyle/>
          <a:p>
            <a:pPr algn="ctr"/>
            <a:r>
              <a:rPr lang="en-IN" b="1" dirty="0"/>
              <a:t>NEW</a:t>
            </a:r>
            <a:endParaRPr lang="en-US" b="1" dirty="0"/>
          </a:p>
        </p:txBody>
      </p:sp>
      <p:sp>
        <p:nvSpPr>
          <p:cNvPr id="73" name="TextBox 72"/>
          <p:cNvSpPr txBox="1"/>
          <p:nvPr/>
        </p:nvSpPr>
        <p:spPr>
          <a:xfrm>
            <a:off x="5749594" y="3951909"/>
            <a:ext cx="612668" cy="369332"/>
          </a:xfrm>
          <a:prstGeom prst="rect">
            <a:avLst/>
          </a:prstGeom>
          <a:noFill/>
        </p:spPr>
        <p:txBody>
          <a:bodyPr wrap="none" rtlCol="0">
            <a:spAutoFit/>
          </a:bodyPr>
          <a:lstStyle/>
          <a:p>
            <a:pPr algn="ctr"/>
            <a:r>
              <a:rPr lang="en-IN" b="1" dirty="0"/>
              <a:t>NEW</a:t>
            </a:r>
            <a:endParaRPr lang="en-US" b="1" dirty="0"/>
          </a:p>
        </p:txBody>
      </p:sp>
      <p:sp>
        <p:nvSpPr>
          <p:cNvPr id="74" name="Freeform 73"/>
          <p:cNvSpPr/>
          <p:nvPr/>
        </p:nvSpPr>
        <p:spPr>
          <a:xfrm>
            <a:off x="733700" y="5550927"/>
            <a:ext cx="1710047" cy="819397"/>
          </a:xfrm>
          <a:custGeom>
            <a:avLst/>
            <a:gdLst>
              <a:gd name="connsiteX0" fmla="*/ 1306285 w 1710047"/>
              <a:gd name="connsiteY0" fmla="*/ 0 h 819397"/>
              <a:gd name="connsiteX1" fmla="*/ 1710047 w 1710047"/>
              <a:gd name="connsiteY1" fmla="*/ 0 h 819397"/>
              <a:gd name="connsiteX2" fmla="*/ 1710047 w 1710047"/>
              <a:gd name="connsiteY2" fmla="*/ 819397 h 819397"/>
              <a:gd name="connsiteX3" fmla="*/ 0 w 1710047"/>
              <a:gd name="connsiteY3" fmla="*/ 819397 h 819397"/>
              <a:gd name="connsiteX4" fmla="*/ 0 w 1710047"/>
              <a:gd name="connsiteY4" fmla="*/ 11875 h 819397"/>
              <a:gd name="connsiteX5" fmla="*/ 391885 w 1710047"/>
              <a:gd name="connsiteY5" fmla="*/ 11875 h 819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047" h="819397">
                <a:moveTo>
                  <a:pt x="1306285" y="0"/>
                </a:moveTo>
                <a:lnTo>
                  <a:pt x="1710047" y="0"/>
                </a:lnTo>
                <a:lnTo>
                  <a:pt x="1710047" y="819397"/>
                </a:lnTo>
                <a:lnTo>
                  <a:pt x="0" y="819397"/>
                </a:lnTo>
                <a:lnTo>
                  <a:pt x="0" y="11875"/>
                </a:lnTo>
                <a:lnTo>
                  <a:pt x="391885" y="11875"/>
                </a:lnTo>
              </a:path>
            </a:pathLst>
          </a:cu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75" name="TextBox 74"/>
          <p:cNvSpPr txBox="1"/>
          <p:nvPr/>
        </p:nvSpPr>
        <p:spPr>
          <a:xfrm>
            <a:off x="871699" y="4509099"/>
            <a:ext cx="734496" cy="369332"/>
          </a:xfrm>
          <a:prstGeom prst="rect">
            <a:avLst/>
          </a:prstGeom>
          <a:noFill/>
        </p:spPr>
        <p:txBody>
          <a:bodyPr wrap="none" rtlCol="0">
            <a:spAutoFit/>
          </a:bodyPr>
          <a:lstStyle/>
          <a:p>
            <a:pPr algn="ctr"/>
            <a:r>
              <a:rPr lang="en-IN" b="1" dirty="0">
                <a:solidFill>
                  <a:srgbClr val="C00000"/>
                </a:solidFill>
              </a:rPr>
              <a:t>FIRST</a:t>
            </a:r>
            <a:endParaRPr lang="en-US" b="1" dirty="0">
              <a:solidFill>
                <a:srgbClr val="C00000"/>
              </a:solidFill>
            </a:endParaRPr>
          </a:p>
        </p:txBody>
      </p:sp>
      <p:sp>
        <p:nvSpPr>
          <p:cNvPr id="76" name="TextBox 75"/>
          <p:cNvSpPr txBox="1"/>
          <p:nvPr/>
        </p:nvSpPr>
        <p:spPr>
          <a:xfrm>
            <a:off x="1532511" y="4509099"/>
            <a:ext cx="683200" cy="369332"/>
          </a:xfrm>
          <a:prstGeom prst="rect">
            <a:avLst/>
          </a:prstGeom>
          <a:noFill/>
        </p:spPr>
        <p:txBody>
          <a:bodyPr wrap="none" rtlCol="0">
            <a:spAutoFit/>
          </a:bodyPr>
          <a:lstStyle/>
          <a:p>
            <a:pPr algn="ctr"/>
            <a:r>
              <a:rPr lang="en-IN" b="1" dirty="0"/>
              <a:t>LAST</a:t>
            </a:r>
            <a:endParaRPr lang="en-US" b="1" dirty="0"/>
          </a:p>
        </p:txBody>
      </p:sp>
      <p:cxnSp>
        <p:nvCxnSpPr>
          <p:cNvPr id="77" name="Straight Arrow Connector 76"/>
          <p:cNvCxnSpPr>
            <a:stCxn id="75" idx="2"/>
          </p:cNvCxnSpPr>
          <p:nvPr/>
        </p:nvCxnSpPr>
        <p:spPr>
          <a:xfrm>
            <a:off x="1238947" y="4878431"/>
            <a:ext cx="0" cy="42433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78" name="Straight Arrow Connector 77"/>
          <p:cNvCxnSpPr/>
          <p:nvPr/>
        </p:nvCxnSpPr>
        <p:spPr>
          <a:xfrm flipH="1">
            <a:off x="1878678" y="4890099"/>
            <a:ext cx="1" cy="4126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79" name="TextBox 78"/>
          <p:cNvSpPr txBox="1"/>
          <p:nvPr/>
        </p:nvSpPr>
        <p:spPr>
          <a:xfrm>
            <a:off x="8430096" y="4691643"/>
            <a:ext cx="683200" cy="369332"/>
          </a:xfrm>
          <a:prstGeom prst="rect">
            <a:avLst/>
          </a:prstGeom>
          <a:noFill/>
        </p:spPr>
        <p:txBody>
          <a:bodyPr wrap="none" rtlCol="0">
            <a:spAutoFit/>
          </a:bodyPr>
          <a:lstStyle/>
          <a:p>
            <a:pPr algn="ctr"/>
            <a:r>
              <a:rPr lang="en-IN" b="1" dirty="0"/>
              <a:t>LAST</a:t>
            </a:r>
            <a:endParaRPr lang="en-US" b="1" dirty="0"/>
          </a:p>
        </p:txBody>
      </p:sp>
      <p:cxnSp>
        <p:nvCxnSpPr>
          <p:cNvPr id="80" name="Straight Arrow Connector 79"/>
          <p:cNvCxnSpPr/>
          <p:nvPr/>
        </p:nvCxnSpPr>
        <p:spPr>
          <a:xfrm flipH="1">
            <a:off x="8776263" y="5072643"/>
            <a:ext cx="1" cy="4126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83" name="TextBox 82"/>
          <p:cNvSpPr txBox="1"/>
          <p:nvPr/>
        </p:nvSpPr>
        <p:spPr>
          <a:xfrm>
            <a:off x="6036476" y="3600781"/>
            <a:ext cx="734496" cy="369332"/>
          </a:xfrm>
          <a:prstGeom prst="rect">
            <a:avLst/>
          </a:prstGeom>
          <a:noFill/>
        </p:spPr>
        <p:txBody>
          <a:bodyPr wrap="none" rtlCol="0">
            <a:spAutoFit/>
          </a:bodyPr>
          <a:lstStyle/>
          <a:p>
            <a:pPr algn="ctr"/>
            <a:r>
              <a:rPr lang="en-IN" b="1" dirty="0">
                <a:solidFill>
                  <a:srgbClr val="C00000"/>
                </a:solidFill>
              </a:rPr>
              <a:t>FIRST</a:t>
            </a:r>
            <a:endParaRPr lang="en-US" b="1" dirty="0">
              <a:solidFill>
                <a:srgbClr val="C00000"/>
              </a:solidFill>
            </a:endParaRPr>
          </a:p>
        </p:txBody>
      </p:sp>
      <p:cxnSp>
        <p:nvCxnSpPr>
          <p:cNvPr id="84" name="Straight Arrow Connector 83"/>
          <p:cNvCxnSpPr>
            <a:stCxn id="83" idx="2"/>
          </p:cNvCxnSpPr>
          <p:nvPr/>
        </p:nvCxnSpPr>
        <p:spPr>
          <a:xfrm>
            <a:off x="6403724" y="3970113"/>
            <a:ext cx="0" cy="4126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87" name="Freeform 86"/>
          <p:cNvSpPr/>
          <p:nvPr/>
        </p:nvSpPr>
        <p:spPr>
          <a:xfrm>
            <a:off x="4305203" y="4910451"/>
            <a:ext cx="2030680" cy="593767"/>
          </a:xfrm>
          <a:custGeom>
            <a:avLst/>
            <a:gdLst>
              <a:gd name="connsiteX0" fmla="*/ 2030680 w 2030680"/>
              <a:gd name="connsiteY0" fmla="*/ 0 h 593767"/>
              <a:gd name="connsiteX1" fmla="*/ 2030680 w 2030680"/>
              <a:gd name="connsiteY1" fmla="*/ 178130 h 593767"/>
              <a:gd name="connsiteX2" fmla="*/ 0 w 2030680"/>
              <a:gd name="connsiteY2" fmla="*/ 178130 h 593767"/>
              <a:gd name="connsiteX3" fmla="*/ 0 w 2030680"/>
              <a:gd name="connsiteY3" fmla="*/ 593767 h 593767"/>
            </a:gdLst>
            <a:ahLst/>
            <a:cxnLst>
              <a:cxn ang="0">
                <a:pos x="connsiteX0" y="connsiteY0"/>
              </a:cxn>
              <a:cxn ang="0">
                <a:pos x="connsiteX1" y="connsiteY1"/>
              </a:cxn>
              <a:cxn ang="0">
                <a:pos x="connsiteX2" y="connsiteY2"/>
              </a:cxn>
              <a:cxn ang="0">
                <a:pos x="connsiteX3" y="connsiteY3"/>
              </a:cxn>
            </a:cxnLst>
            <a:rect l="l" t="t" r="r" b="b"/>
            <a:pathLst>
              <a:path w="2030680" h="593767">
                <a:moveTo>
                  <a:pt x="2030680" y="0"/>
                </a:moveTo>
                <a:lnTo>
                  <a:pt x="2030680" y="178130"/>
                </a:lnTo>
                <a:lnTo>
                  <a:pt x="0" y="178130"/>
                </a:lnTo>
                <a:lnTo>
                  <a:pt x="0" y="593767"/>
                </a:lnTo>
              </a:path>
            </a:pathLst>
          </a:cu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88" name="Freeform 87"/>
          <p:cNvSpPr/>
          <p:nvPr/>
        </p:nvSpPr>
        <p:spPr>
          <a:xfrm>
            <a:off x="6537765" y="4530440"/>
            <a:ext cx="2861953" cy="1092530"/>
          </a:xfrm>
          <a:custGeom>
            <a:avLst/>
            <a:gdLst>
              <a:gd name="connsiteX0" fmla="*/ 2565070 w 2861953"/>
              <a:gd name="connsiteY0" fmla="*/ 1092530 h 1092530"/>
              <a:gd name="connsiteX1" fmla="*/ 2861953 w 2861953"/>
              <a:gd name="connsiteY1" fmla="*/ 1092530 h 1092530"/>
              <a:gd name="connsiteX2" fmla="*/ 2861953 w 2861953"/>
              <a:gd name="connsiteY2" fmla="*/ 0 h 1092530"/>
              <a:gd name="connsiteX3" fmla="*/ 0 w 2861953"/>
              <a:gd name="connsiteY3" fmla="*/ 0 h 1092530"/>
            </a:gdLst>
            <a:ahLst/>
            <a:cxnLst>
              <a:cxn ang="0">
                <a:pos x="connsiteX0" y="connsiteY0"/>
              </a:cxn>
              <a:cxn ang="0">
                <a:pos x="connsiteX1" y="connsiteY1"/>
              </a:cxn>
              <a:cxn ang="0">
                <a:pos x="connsiteX2" y="connsiteY2"/>
              </a:cxn>
              <a:cxn ang="0">
                <a:pos x="connsiteX3" y="connsiteY3"/>
              </a:cxn>
            </a:cxnLst>
            <a:rect l="l" t="t" r="r" b="b"/>
            <a:pathLst>
              <a:path w="2861953" h="1092530">
                <a:moveTo>
                  <a:pt x="2565070" y="1092530"/>
                </a:moveTo>
                <a:lnTo>
                  <a:pt x="2861953" y="1092530"/>
                </a:lnTo>
                <a:lnTo>
                  <a:pt x="2861953" y="0"/>
                </a:lnTo>
                <a:lnTo>
                  <a:pt x="0" y="0"/>
                </a:lnTo>
              </a:path>
            </a:pathLst>
          </a:cu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620098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7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1" presetClass="entr" presetSubtype="1" fill="hold" grpId="0" nodeType="clickEffect">
                                  <p:stCondLst>
                                    <p:cond delay="0"/>
                                  </p:stCondLst>
                                  <p:childTnLst>
                                    <p:set>
                                      <p:cBhvr>
                                        <p:cTn id="58" dur="1" fill="hold">
                                          <p:stCondLst>
                                            <p:cond delay="0"/>
                                          </p:stCondLst>
                                        </p:cTn>
                                        <p:tgtEl>
                                          <p:spTgt spid="74"/>
                                        </p:tgtEl>
                                        <p:attrNameLst>
                                          <p:attrName>style.visibility</p:attrName>
                                        </p:attrNameLst>
                                      </p:cBhvr>
                                      <p:to>
                                        <p:strVal val="visible"/>
                                      </p:to>
                                    </p:set>
                                    <p:animEffect transition="in" filter="wheel(1)">
                                      <p:cBhvr>
                                        <p:cTn id="59" dur="2000"/>
                                        <p:tgtEl>
                                          <p:spTgt spid="74"/>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75"/>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77"/>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76"/>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78"/>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22" presetClass="entr" presetSubtype="1" fill="hold" grpId="0" nodeType="clickEffect">
                                  <p:stCondLst>
                                    <p:cond delay="0"/>
                                  </p:stCondLst>
                                  <p:childTnLst>
                                    <p:set>
                                      <p:cBhvr>
                                        <p:cTn id="75" dur="1" fill="hold">
                                          <p:stCondLst>
                                            <p:cond delay="0"/>
                                          </p:stCondLst>
                                        </p:cTn>
                                        <p:tgtEl>
                                          <p:spTgt spid="87"/>
                                        </p:tgtEl>
                                        <p:attrNameLst>
                                          <p:attrName>style.visibility</p:attrName>
                                        </p:attrNameLst>
                                      </p:cBhvr>
                                      <p:to>
                                        <p:strVal val="visible"/>
                                      </p:to>
                                    </p:set>
                                    <p:animEffect transition="in" filter="wipe(up)">
                                      <p:cBhvr>
                                        <p:cTn id="76" dur="500"/>
                                        <p:tgtEl>
                                          <p:spTgt spid="87"/>
                                        </p:tgtEl>
                                      </p:cBhvr>
                                    </p:animEffect>
                                  </p:childTnLst>
                                </p:cTn>
                              </p:par>
                            </p:childTnLst>
                          </p:cTn>
                        </p:par>
                      </p:childTnLst>
                    </p:cTn>
                  </p:par>
                  <p:par>
                    <p:cTn id="77" fill="hold">
                      <p:stCondLst>
                        <p:cond delay="indefinite"/>
                      </p:stCondLst>
                      <p:childTnLst>
                        <p:par>
                          <p:cTn id="78" fill="hold">
                            <p:stCondLst>
                              <p:cond delay="0"/>
                            </p:stCondLst>
                            <p:childTnLst>
                              <p:par>
                                <p:cTn id="79" presetID="1" presetClass="exit" presetSubtype="0" fill="hold" grpId="1" nodeType="clickEffect">
                                  <p:stCondLst>
                                    <p:cond delay="0"/>
                                  </p:stCondLst>
                                  <p:childTnLst>
                                    <p:set>
                                      <p:cBhvr>
                                        <p:cTn id="80" dur="1" fill="hold">
                                          <p:stCondLst>
                                            <p:cond delay="0"/>
                                          </p:stCondLst>
                                        </p:cTn>
                                        <p:tgtEl>
                                          <p:spTgt spid="60"/>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22" presetClass="entr" presetSubtype="4" fill="hold" grpId="0" nodeType="clickEffect">
                                  <p:stCondLst>
                                    <p:cond delay="0"/>
                                  </p:stCondLst>
                                  <p:childTnLst>
                                    <p:set>
                                      <p:cBhvr>
                                        <p:cTn id="84" dur="1" fill="hold">
                                          <p:stCondLst>
                                            <p:cond delay="0"/>
                                          </p:stCondLst>
                                        </p:cTn>
                                        <p:tgtEl>
                                          <p:spTgt spid="88"/>
                                        </p:tgtEl>
                                        <p:attrNameLst>
                                          <p:attrName>style.visibility</p:attrName>
                                        </p:attrNameLst>
                                      </p:cBhvr>
                                      <p:to>
                                        <p:strVal val="visible"/>
                                      </p:to>
                                    </p:set>
                                    <p:animEffect transition="in" filter="wipe(down)">
                                      <p:cBhvr>
                                        <p:cTn id="85" dur="500"/>
                                        <p:tgtEl>
                                          <p:spTgt spid="88"/>
                                        </p:tgtEl>
                                      </p:cBhvr>
                                    </p:animEffect>
                                  </p:childTnLst>
                                </p:cTn>
                              </p:par>
                            </p:childTnLst>
                          </p:cTn>
                        </p:par>
                      </p:childTnLst>
                    </p:cTn>
                  </p:par>
                  <p:par>
                    <p:cTn id="86" fill="hold">
                      <p:stCondLst>
                        <p:cond delay="indefinite"/>
                      </p:stCondLst>
                      <p:childTnLst>
                        <p:par>
                          <p:cTn id="87" fill="hold">
                            <p:stCondLst>
                              <p:cond delay="0"/>
                            </p:stCondLst>
                            <p:childTnLst>
                              <p:par>
                                <p:cTn id="88" presetID="1" presetClass="exit" presetSubtype="0" fill="hold" nodeType="clickEffect">
                                  <p:stCondLst>
                                    <p:cond delay="0"/>
                                  </p:stCondLst>
                                  <p:childTnLst>
                                    <p:set>
                                      <p:cBhvr>
                                        <p:cTn id="89" dur="1" fill="hold">
                                          <p:stCondLst>
                                            <p:cond delay="0"/>
                                          </p:stCondLst>
                                        </p:cTn>
                                        <p:tgtEl>
                                          <p:spTgt spid="61"/>
                                        </p:tgtEl>
                                        <p:attrNameLst>
                                          <p:attrName>style.visibility</p:attrName>
                                        </p:attrNameLst>
                                      </p:cBhvr>
                                      <p:to>
                                        <p:strVal val="hidden"/>
                                      </p:to>
                                    </p:set>
                                  </p:childTnLst>
                                </p:cTn>
                              </p:par>
                              <p:par>
                                <p:cTn id="90" presetID="1" presetClass="exit" presetSubtype="0" fill="hold" grpId="1" nodeType="withEffect">
                                  <p:stCondLst>
                                    <p:cond delay="0"/>
                                  </p:stCondLst>
                                  <p:childTnLst>
                                    <p:set>
                                      <p:cBhvr>
                                        <p:cTn id="91" dur="1" fill="hold">
                                          <p:stCondLst>
                                            <p:cond delay="0"/>
                                          </p:stCondLst>
                                        </p:cTn>
                                        <p:tgtEl>
                                          <p:spTgt spid="62"/>
                                        </p:tgtEl>
                                        <p:attrNameLst>
                                          <p:attrName>style.visibility</p:attrName>
                                        </p:attrNameLst>
                                      </p:cBhvr>
                                      <p:to>
                                        <p:strVal val="hidden"/>
                                      </p:to>
                                    </p:set>
                                  </p:childTnLst>
                                </p:cTn>
                              </p:par>
                              <p:par>
                                <p:cTn id="92" presetID="1" presetClass="entr" presetSubtype="0" fill="hold" grpId="0" nodeType="withEffect">
                                  <p:stCondLst>
                                    <p:cond delay="0"/>
                                  </p:stCondLst>
                                  <p:childTnLst>
                                    <p:set>
                                      <p:cBhvr>
                                        <p:cTn id="93" dur="1" fill="hold">
                                          <p:stCondLst>
                                            <p:cond delay="0"/>
                                          </p:stCondLst>
                                        </p:cTn>
                                        <p:tgtEl>
                                          <p:spTgt spid="83"/>
                                        </p:tgtEl>
                                        <p:attrNameLst>
                                          <p:attrName>style.visibility</p:attrName>
                                        </p:attrNameLst>
                                      </p:cBhvr>
                                      <p:to>
                                        <p:strVal val="visible"/>
                                      </p:to>
                                    </p:set>
                                  </p:childTnLst>
                                </p:cTn>
                              </p:par>
                              <p:par>
                                <p:cTn id="94" presetID="1" presetClass="entr" presetSubtype="0" fill="hold" nodeType="withEffect">
                                  <p:stCondLst>
                                    <p:cond delay="0"/>
                                  </p:stCondLst>
                                  <p:childTnLst>
                                    <p:set>
                                      <p:cBhvr>
                                        <p:cTn id="95"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0" grpId="0" animBg="1"/>
      <p:bldP spid="60" grpId="1" animBg="1"/>
      <p:bldP spid="62" grpId="0"/>
      <p:bldP spid="62" grpId="1"/>
      <p:bldP spid="70" grpId="0"/>
      <p:bldP spid="71" grpId="0"/>
      <p:bldP spid="72" grpId="0"/>
      <p:bldP spid="73" grpId="0"/>
      <p:bldP spid="74" grpId="0" animBg="1"/>
      <p:bldP spid="75" grpId="0"/>
      <p:bldP spid="76" grpId="0"/>
      <p:bldP spid="79" grpId="0"/>
      <p:bldP spid="83" grpId="0"/>
      <p:bldP spid="87" grpId="0" animBg="1"/>
      <p:bldP spid="8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Procedure: CIR_INS_ORD(18,FIRST,LAST)</a:t>
            </a:r>
          </a:p>
        </p:txBody>
      </p:sp>
      <p:sp>
        <p:nvSpPr>
          <p:cNvPr id="4" name="TextBox 3"/>
          <p:cNvSpPr txBox="1"/>
          <p:nvPr/>
        </p:nvSpPr>
        <p:spPr>
          <a:xfrm>
            <a:off x="6172200" y="956040"/>
            <a:ext cx="5760000" cy="2554545"/>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pPr marL="444500" indent="-444500"/>
            <a:r>
              <a:rPr lang="en-IN" sz="2000" b="1" dirty="0">
                <a:solidFill>
                  <a:schemeClr val="tx2"/>
                </a:solidFill>
                <a:latin typeface="Consolas" pitchFamily="49" charset="0"/>
                <a:cs typeface="Consolas" pitchFamily="49" charset="0"/>
              </a:rPr>
              <a:t>7. [Set link field of NEW node and its Predecessor]</a:t>
            </a:r>
          </a:p>
          <a:p>
            <a:r>
              <a:rPr lang="en-IN" sz="2000" dirty="0">
                <a:latin typeface="Consolas" pitchFamily="49" charset="0"/>
                <a:cs typeface="Consolas" pitchFamily="49" charset="0"/>
              </a:rPr>
              <a:t>    LINK(NEW)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LINK(SAVE)</a:t>
            </a:r>
          </a:p>
          <a:p>
            <a:r>
              <a:rPr lang="en-IN" sz="2000" dirty="0">
                <a:latin typeface="Consolas" pitchFamily="49" charset="0"/>
                <a:cs typeface="Consolas" pitchFamily="49" charset="0"/>
              </a:rPr>
              <a:t>    LINK(SAVE)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NEW</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IF</a:t>
            </a:r>
            <a:r>
              <a:rPr lang="en-IN" sz="2000" dirty="0">
                <a:latin typeface="Consolas" pitchFamily="49" charset="0"/>
                <a:cs typeface="Consolas" pitchFamily="49" charset="0"/>
              </a:rPr>
              <a:t>   SAVE = LAST</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THEN</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LAST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NEW</a:t>
            </a:r>
          </a:p>
          <a:p>
            <a:r>
              <a:rPr lang="en-IN" sz="2000" b="1" dirty="0">
                <a:solidFill>
                  <a:schemeClr val="tx2"/>
                </a:solidFill>
                <a:latin typeface="Consolas" pitchFamily="49" charset="0"/>
                <a:cs typeface="Consolas" pitchFamily="49" charset="0"/>
              </a:rPr>
              <a:t>8. [Finished]</a:t>
            </a:r>
          </a:p>
          <a:p>
            <a:r>
              <a:rPr lang="en-IN" sz="2000" dirty="0">
                <a:latin typeface="Consolas" pitchFamily="49" charset="0"/>
                <a:cs typeface="Consolas" pitchFamily="49" charset="0"/>
              </a:rPr>
              <a:t>   Return</a:t>
            </a:r>
          </a:p>
        </p:txBody>
      </p:sp>
      <p:sp>
        <p:nvSpPr>
          <p:cNvPr id="5" name="TextBox 4"/>
          <p:cNvSpPr txBox="1"/>
          <p:nvPr/>
        </p:nvSpPr>
        <p:spPr>
          <a:xfrm>
            <a:off x="221700" y="956040"/>
            <a:ext cx="5760000" cy="1938992"/>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5. [Initialize Temporary Pointer]</a:t>
            </a:r>
          </a:p>
          <a:p>
            <a:r>
              <a:rPr lang="en-IN" sz="2000" dirty="0">
                <a:latin typeface="Consolas" pitchFamily="49" charset="0"/>
                <a:cs typeface="Consolas" pitchFamily="49" charset="0"/>
              </a:rPr>
              <a:t>    SAVE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FIRST </a:t>
            </a:r>
          </a:p>
          <a:p>
            <a:r>
              <a:rPr lang="en-IN" sz="2000" b="1" dirty="0">
                <a:solidFill>
                  <a:schemeClr val="tx2"/>
                </a:solidFill>
                <a:latin typeface="Consolas" pitchFamily="49" charset="0"/>
                <a:cs typeface="Consolas" pitchFamily="49" charset="0"/>
              </a:rPr>
              <a:t>6. [Search for Predecessor of new node]</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Repeat</a:t>
            </a:r>
            <a:r>
              <a:rPr lang="en-IN" sz="2000" dirty="0">
                <a:latin typeface="Consolas" pitchFamily="49" charset="0"/>
                <a:cs typeface="Consolas" pitchFamily="49" charset="0"/>
              </a:rPr>
              <a:t> while SAVE ≠ LAST &amp;  </a:t>
            </a:r>
          </a:p>
          <a:p>
            <a:r>
              <a:rPr lang="en-IN" sz="2000" dirty="0">
                <a:latin typeface="Consolas" pitchFamily="49" charset="0"/>
                <a:cs typeface="Consolas" pitchFamily="49" charset="0"/>
              </a:rPr>
              <a:t>       INFO(NEW) ≥ INFO(LINK(SAVE))</a:t>
            </a:r>
          </a:p>
          <a:p>
            <a:r>
              <a:rPr lang="en-IN" sz="2000" dirty="0">
                <a:latin typeface="Consolas" pitchFamily="49" charset="0"/>
                <a:cs typeface="Consolas" pitchFamily="49" charset="0"/>
              </a:rPr>
              <a:t> 	   SAVE</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LINK(SAVE)</a:t>
            </a:r>
          </a:p>
        </p:txBody>
      </p:sp>
      <p:grpSp>
        <p:nvGrpSpPr>
          <p:cNvPr id="6" name="Group 5"/>
          <p:cNvGrpSpPr/>
          <p:nvPr/>
        </p:nvGrpSpPr>
        <p:grpSpPr>
          <a:xfrm>
            <a:off x="587291" y="5059145"/>
            <a:ext cx="920012" cy="533400"/>
            <a:chOff x="951919" y="5486400"/>
            <a:chExt cx="920012" cy="533400"/>
          </a:xfrm>
        </p:grpSpPr>
        <p:sp>
          <p:nvSpPr>
            <p:cNvPr id="7" name="Rectangle 6"/>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US" sz="2400" b="1" dirty="0"/>
            </a:p>
          </p:txBody>
        </p:sp>
        <p:sp>
          <p:nvSpPr>
            <p:cNvPr id="8" name="Rectangle 7"/>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9" name="Group 8"/>
          <p:cNvGrpSpPr/>
          <p:nvPr/>
        </p:nvGrpSpPr>
        <p:grpSpPr>
          <a:xfrm>
            <a:off x="2227737" y="5059145"/>
            <a:ext cx="920012" cy="533400"/>
            <a:chOff x="951919" y="5486400"/>
            <a:chExt cx="920012" cy="533400"/>
          </a:xfrm>
        </p:grpSpPr>
        <p:sp>
          <p:nvSpPr>
            <p:cNvPr id="10" name="Rectangle 9"/>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11" name="Rectangle 10"/>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2" name="Group 11"/>
          <p:cNvGrpSpPr/>
          <p:nvPr/>
        </p:nvGrpSpPr>
        <p:grpSpPr>
          <a:xfrm>
            <a:off x="3980337" y="5059145"/>
            <a:ext cx="920012" cy="533400"/>
            <a:chOff x="951919" y="5486400"/>
            <a:chExt cx="920012" cy="533400"/>
          </a:xfrm>
        </p:grpSpPr>
        <p:sp>
          <p:nvSpPr>
            <p:cNvPr id="13" name="Rectangle 12"/>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15</a:t>
              </a:r>
              <a:endParaRPr lang="en-US" sz="2400" b="1" dirty="0"/>
            </a:p>
          </p:txBody>
        </p:sp>
        <p:sp>
          <p:nvSpPr>
            <p:cNvPr id="14" name="Rectangle 13"/>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5" name="Group 14"/>
          <p:cNvGrpSpPr/>
          <p:nvPr/>
        </p:nvGrpSpPr>
        <p:grpSpPr>
          <a:xfrm>
            <a:off x="6870325" y="5059145"/>
            <a:ext cx="920012" cy="533400"/>
            <a:chOff x="951919" y="5486400"/>
            <a:chExt cx="920012" cy="533400"/>
          </a:xfrm>
        </p:grpSpPr>
        <p:sp>
          <p:nvSpPr>
            <p:cNvPr id="16" name="Rectangle 15"/>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20</a:t>
              </a:r>
              <a:endParaRPr lang="en-US" sz="2400" b="1" dirty="0"/>
            </a:p>
          </p:txBody>
        </p:sp>
        <p:sp>
          <p:nvSpPr>
            <p:cNvPr id="17" name="Rectangle 16"/>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18" name="Straight Arrow Connector 17"/>
          <p:cNvCxnSpPr>
            <a:stCxn id="8" idx="3"/>
            <a:endCxn id="10" idx="1"/>
          </p:cNvCxnSpPr>
          <p:nvPr/>
        </p:nvCxnSpPr>
        <p:spPr>
          <a:xfrm>
            <a:off x="1507303" y="5325845"/>
            <a:ext cx="720434"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9" name="Straight Arrow Connector 18"/>
          <p:cNvCxnSpPr>
            <a:stCxn id="11" idx="3"/>
            <a:endCxn id="13" idx="1"/>
          </p:cNvCxnSpPr>
          <p:nvPr/>
        </p:nvCxnSpPr>
        <p:spPr>
          <a:xfrm>
            <a:off x="3147749" y="5325845"/>
            <a:ext cx="8325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0" name="Straight Arrow Connector 19"/>
          <p:cNvCxnSpPr>
            <a:stCxn id="14" idx="3"/>
            <a:endCxn id="16" idx="1"/>
          </p:cNvCxnSpPr>
          <p:nvPr/>
        </p:nvCxnSpPr>
        <p:spPr>
          <a:xfrm>
            <a:off x="4900349" y="5325845"/>
            <a:ext cx="1969976"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1" name="Freeform 20"/>
          <p:cNvSpPr/>
          <p:nvPr/>
        </p:nvSpPr>
        <p:spPr>
          <a:xfrm>
            <a:off x="1396531" y="5330878"/>
            <a:ext cx="6888886" cy="659568"/>
          </a:xfrm>
          <a:custGeom>
            <a:avLst/>
            <a:gdLst>
              <a:gd name="connsiteX0" fmla="*/ 4257206 w 4586990"/>
              <a:gd name="connsiteY0" fmla="*/ 0 h 659568"/>
              <a:gd name="connsiteX1" fmla="*/ 4586990 w 4586990"/>
              <a:gd name="connsiteY1" fmla="*/ 0 h 659568"/>
              <a:gd name="connsiteX2" fmla="*/ 4586990 w 4586990"/>
              <a:gd name="connsiteY2" fmla="*/ 659568 h 659568"/>
              <a:gd name="connsiteX3" fmla="*/ 0 w 4586990"/>
              <a:gd name="connsiteY3" fmla="*/ 659568 h 659568"/>
              <a:gd name="connsiteX4" fmla="*/ 0 w 4586990"/>
              <a:gd name="connsiteY4" fmla="*/ 254833 h 6595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6990" h="659568">
                <a:moveTo>
                  <a:pt x="4257206" y="0"/>
                </a:moveTo>
                <a:lnTo>
                  <a:pt x="4586990" y="0"/>
                </a:lnTo>
                <a:lnTo>
                  <a:pt x="4586990" y="659568"/>
                </a:lnTo>
                <a:lnTo>
                  <a:pt x="0" y="659568"/>
                </a:lnTo>
                <a:lnTo>
                  <a:pt x="0" y="254833"/>
                </a:lnTo>
              </a:path>
            </a:pathLst>
          </a:cu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cxnSp>
        <p:nvCxnSpPr>
          <p:cNvPr id="22" name="Straight Arrow Connector 21"/>
          <p:cNvCxnSpPr/>
          <p:nvPr/>
        </p:nvCxnSpPr>
        <p:spPr>
          <a:xfrm flipV="1">
            <a:off x="821503" y="5592547"/>
            <a:ext cx="0" cy="20798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3" name="TextBox 22"/>
          <p:cNvSpPr txBox="1"/>
          <p:nvPr/>
        </p:nvSpPr>
        <p:spPr>
          <a:xfrm>
            <a:off x="457665" y="5798387"/>
            <a:ext cx="734496" cy="369332"/>
          </a:xfrm>
          <a:prstGeom prst="rect">
            <a:avLst/>
          </a:prstGeom>
          <a:noFill/>
        </p:spPr>
        <p:txBody>
          <a:bodyPr wrap="none" rtlCol="0">
            <a:spAutoFit/>
          </a:bodyPr>
          <a:lstStyle/>
          <a:p>
            <a:pPr algn="ctr"/>
            <a:r>
              <a:rPr lang="en-IN" b="1" dirty="0">
                <a:solidFill>
                  <a:srgbClr val="C00000"/>
                </a:solidFill>
              </a:rPr>
              <a:t>FIRST</a:t>
            </a:r>
            <a:endParaRPr lang="en-US" b="1" dirty="0">
              <a:solidFill>
                <a:srgbClr val="C00000"/>
              </a:solidFill>
            </a:endParaRPr>
          </a:p>
        </p:txBody>
      </p:sp>
      <p:grpSp>
        <p:nvGrpSpPr>
          <p:cNvPr id="24" name="Group 23"/>
          <p:cNvGrpSpPr/>
          <p:nvPr/>
        </p:nvGrpSpPr>
        <p:grpSpPr>
          <a:xfrm>
            <a:off x="4889125" y="3609185"/>
            <a:ext cx="920012" cy="533400"/>
            <a:chOff x="951919" y="5486400"/>
            <a:chExt cx="920012" cy="533400"/>
          </a:xfrm>
        </p:grpSpPr>
        <p:sp>
          <p:nvSpPr>
            <p:cNvPr id="25" name="Rectangle 24"/>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26" name="Rectangle 25"/>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sp>
        <p:nvSpPr>
          <p:cNvPr id="27" name="TextBox 26"/>
          <p:cNvSpPr txBox="1"/>
          <p:nvPr/>
        </p:nvSpPr>
        <p:spPr>
          <a:xfrm>
            <a:off x="4938247" y="3633421"/>
            <a:ext cx="495649" cy="461665"/>
          </a:xfrm>
          <a:prstGeom prst="rect">
            <a:avLst/>
          </a:prstGeom>
          <a:noFill/>
        </p:spPr>
        <p:txBody>
          <a:bodyPr wrap="none" rtlCol="0">
            <a:spAutoFit/>
          </a:bodyPr>
          <a:lstStyle/>
          <a:p>
            <a:r>
              <a:rPr lang="en-IN" sz="2400" b="1" dirty="0">
                <a:solidFill>
                  <a:srgbClr val="FFFF00"/>
                </a:solidFill>
              </a:rPr>
              <a:t>18</a:t>
            </a:r>
            <a:endParaRPr lang="en-US" sz="2400" b="1" dirty="0">
              <a:solidFill>
                <a:srgbClr val="FFFF00"/>
              </a:solidFill>
            </a:endParaRPr>
          </a:p>
        </p:txBody>
      </p:sp>
      <p:sp>
        <p:nvSpPr>
          <p:cNvPr id="28" name="TextBox 27"/>
          <p:cNvSpPr txBox="1"/>
          <p:nvPr/>
        </p:nvSpPr>
        <p:spPr>
          <a:xfrm>
            <a:off x="5097025" y="3195919"/>
            <a:ext cx="612668" cy="369332"/>
          </a:xfrm>
          <a:prstGeom prst="rect">
            <a:avLst/>
          </a:prstGeom>
          <a:noFill/>
        </p:spPr>
        <p:txBody>
          <a:bodyPr wrap="none" rtlCol="0">
            <a:spAutoFit/>
          </a:bodyPr>
          <a:lstStyle/>
          <a:p>
            <a:pPr algn="ctr"/>
            <a:r>
              <a:rPr lang="en-IN" b="1" dirty="0"/>
              <a:t>NEW</a:t>
            </a:r>
            <a:endParaRPr lang="en-US" b="1" dirty="0"/>
          </a:p>
        </p:txBody>
      </p:sp>
      <p:sp>
        <p:nvSpPr>
          <p:cNvPr id="29" name="TextBox 28"/>
          <p:cNvSpPr txBox="1"/>
          <p:nvPr/>
        </p:nvSpPr>
        <p:spPr>
          <a:xfrm>
            <a:off x="7279895" y="4242613"/>
            <a:ext cx="683200" cy="369332"/>
          </a:xfrm>
          <a:prstGeom prst="rect">
            <a:avLst/>
          </a:prstGeom>
          <a:noFill/>
        </p:spPr>
        <p:txBody>
          <a:bodyPr wrap="none" rtlCol="0">
            <a:spAutoFit/>
          </a:bodyPr>
          <a:lstStyle/>
          <a:p>
            <a:pPr algn="ctr"/>
            <a:r>
              <a:rPr lang="en-IN" b="1" dirty="0"/>
              <a:t>LAST</a:t>
            </a:r>
            <a:endParaRPr lang="en-US" b="1" dirty="0"/>
          </a:p>
        </p:txBody>
      </p:sp>
      <p:cxnSp>
        <p:nvCxnSpPr>
          <p:cNvPr id="30" name="Straight Arrow Connector 29"/>
          <p:cNvCxnSpPr/>
          <p:nvPr/>
        </p:nvCxnSpPr>
        <p:spPr>
          <a:xfrm flipH="1">
            <a:off x="7626062" y="4623613"/>
            <a:ext cx="1" cy="4126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37" name="Group 36"/>
          <p:cNvGrpSpPr/>
          <p:nvPr/>
        </p:nvGrpSpPr>
        <p:grpSpPr>
          <a:xfrm>
            <a:off x="522638" y="4386938"/>
            <a:ext cx="694421" cy="645313"/>
            <a:chOff x="733300" y="4736560"/>
            <a:chExt cx="694421" cy="645313"/>
          </a:xfrm>
        </p:grpSpPr>
        <p:sp>
          <p:nvSpPr>
            <p:cNvPr id="34" name="TextBox 33"/>
            <p:cNvSpPr txBox="1"/>
            <p:nvPr/>
          </p:nvSpPr>
          <p:spPr>
            <a:xfrm>
              <a:off x="733300" y="4736560"/>
              <a:ext cx="694421" cy="369332"/>
            </a:xfrm>
            <a:prstGeom prst="rect">
              <a:avLst/>
            </a:prstGeom>
            <a:noFill/>
          </p:spPr>
          <p:txBody>
            <a:bodyPr wrap="none" rtlCol="0">
              <a:spAutoFit/>
            </a:bodyPr>
            <a:lstStyle/>
            <a:p>
              <a:r>
                <a:rPr lang="en-IN" b="1" dirty="0">
                  <a:solidFill>
                    <a:srgbClr val="C00000"/>
                  </a:solidFill>
                </a:rPr>
                <a:t>SAVE</a:t>
              </a:r>
              <a:endParaRPr lang="en-US" b="1" dirty="0">
                <a:solidFill>
                  <a:srgbClr val="C00000"/>
                </a:solidFill>
              </a:endParaRPr>
            </a:p>
          </p:txBody>
        </p:sp>
        <p:cxnSp>
          <p:nvCxnSpPr>
            <p:cNvPr id="36" name="Straight Arrow Connector 35"/>
            <p:cNvCxnSpPr>
              <a:stCxn id="34" idx="2"/>
              <a:endCxn id="7" idx="0"/>
            </p:cNvCxnSpPr>
            <p:nvPr/>
          </p:nvCxnSpPr>
          <p:spPr>
            <a:xfrm flipH="1">
              <a:off x="1064653" y="5105892"/>
              <a:ext cx="15858" cy="27598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38" name="Freeform 37"/>
          <p:cNvSpPr/>
          <p:nvPr/>
        </p:nvSpPr>
        <p:spPr>
          <a:xfrm>
            <a:off x="5798251" y="3847084"/>
            <a:ext cx="1306286" cy="1199407"/>
          </a:xfrm>
          <a:custGeom>
            <a:avLst/>
            <a:gdLst>
              <a:gd name="connsiteX0" fmla="*/ 0 w 1306286"/>
              <a:gd name="connsiteY0" fmla="*/ 0 h 1199407"/>
              <a:gd name="connsiteX1" fmla="*/ 1104405 w 1306286"/>
              <a:gd name="connsiteY1" fmla="*/ 0 h 1199407"/>
              <a:gd name="connsiteX2" fmla="*/ 1306286 w 1306286"/>
              <a:gd name="connsiteY2" fmla="*/ 0 h 1199407"/>
              <a:gd name="connsiteX3" fmla="*/ 1306286 w 1306286"/>
              <a:gd name="connsiteY3" fmla="*/ 1199407 h 1199407"/>
            </a:gdLst>
            <a:ahLst/>
            <a:cxnLst>
              <a:cxn ang="0">
                <a:pos x="connsiteX0" y="connsiteY0"/>
              </a:cxn>
              <a:cxn ang="0">
                <a:pos x="connsiteX1" y="connsiteY1"/>
              </a:cxn>
              <a:cxn ang="0">
                <a:pos x="connsiteX2" y="connsiteY2"/>
              </a:cxn>
              <a:cxn ang="0">
                <a:pos x="connsiteX3" y="connsiteY3"/>
              </a:cxn>
            </a:cxnLst>
            <a:rect l="l" t="t" r="r" b="b"/>
            <a:pathLst>
              <a:path w="1306286" h="1199407">
                <a:moveTo>
                  <a:pt x="0" y="0"/>
                </a:moveTo>
                <a:lnTo>
                  <a:pt x="1104405" y="0"/>
                </a:lnTo>
                <a:lnTo>
                  <a:pt x="1306286" y="0"/>
                </a:lnTo>
                <a:lnTo>
                  <a:pt x="1306286" y="1199407"/>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39" name="Freeform 38"/>
          <p:cNvSpPr/>
          <p:nvPr/>
        </p:nvSpPr>
        <p:spPr>
          <a:xfrm>
            <a:off x="4670096" y="3823333"/>
            <a:ext cx="201881" cy="1211283"/>
          </a:xfrm>
          <a:custGeom>
            <a:avLst/>
            <a:gdLst>
              <a:gd name="connsiteX0" fmla="*/ 0 w 201881"/>
              <a:gd name="connsiteY0" fmla="*/ 1211283 h 1211283"/>
              <a:gd name="connsiteX1" fmla="*/ 0 w 201881"/>
              <a:gd name="connsiteY1" fmla="*/ 0 h 1211283"/>
              <a:gd name="connsiteX2" fmla="*/ 201881 w 201881"/>
              <a:gd name="connsiteY2" fmla="*/ 0 h 1211283"/>
            </a:gdLst>
            <a:ahLst/>
            <a:cxnLst>
              <a:cxn ang="0">
                <a:pos x="connsiteX0" y="connsiteY0"/>
              </a:cxn>
              <a:cxn ang="0">
                <a:pos x="connsiteX1" y="connsiteY1"/>
              </a:cxn>
              <a:cxn ang="0">
                <a:pos x="connsiteX2" y="connsiteY2"/>
              </a:cxn>
            </a:cxnLst>
            <a:rect l="l" t="t" r="r" b="b"/>
            <a:pathLst>
              <a:path w="201881" h="1211283">
                <a:moveTo>
                  <a:pt x="0" y="1211283"/>
                </a:moveTo>
                <a:lnTo>
                  <a:pt x="0" y="0"/>
                </a:lnTo>
                <a:lnTo>
                  <a:pt x="201881" y="0"/>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460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63" presetClass="path" presetSubtype="0" accel="50000" decel="50000" fill="hold" nodeType="clickEffect">
                                  <p:stCondLst>
                                    <p:cond delay="0"/>
                                  </p:stCondLst>
                                  <p:childTnLst>
                                    <p:animMotion origin="layout" path="M -3.125E-6 -4.07407E-6 L 0.14818 -4.07407E-6 " pathEditMode="relative" rAng="0" ptsTypes="AA">
                                      <p:cBhvr>
                                        <p:cTn id="52" dur="2000" fill="hold"/>
                                        <p:tgtEl>
                                          <p:spTgt spid="37"/>
                                        </p:tgtEl>
                                        <p:attrNameLst>
                                          <p:attrName>ppt_x</p:attrName>
                                          <p:attrName>ppt_y</p:attrName>
                                        </p:attrNameLst>
                                      </p:cBhvr>
                                      <p:rCtr x="7435" y="0"/>
                                    </p:animMotion>
                                  </p:childTnLst>
                                </p:cTn>
                              </p:par>
                            </p:childTnLst>
                          </p:cTn>
                        </p:par>
                      </p:childTnLst>
                    </p:cTn>
                  </p:par>
                  <p:par>
                    <p:cTn id="53" fill="hold">
                      <p:stCondLst>
                        <p:cond delay="indefinite"/>
                      </p:stCondLst>
                      <p:childTnLst>
                        <p:par>
                          <p:cTn id="54" fill="hold">
                            <p:stCondLst>
                              <p:cond delay="0"/>
                            </p:stCondLst>
                            <p:childTnLst>
                              <p:par>
                                <p:cTn id="55" presetID="63" presetClass="path" presetSubtype="0" accel="50000" decel="50000" fill="hold" nodeType="clickEffect">
                                  <p:stCondLst>
                                    <p:cond delay="0"/>
                                  </p:stCondLst>
                                  <p:childTnLst>
                                    <p:animMotion origin="layout" path="M 0.14818 -4.07407E-6 L 0.29883 -4.07407E-6 " pathEditMode="relative" rAng="0" ptsTypes="AA">
                                      <p:cBhvr>
                                        <p:cTn id="56" dur="2000" fill="hold"/>
                                        <p:tgtEl>
                                          <p:spTgt spid="37"/>
                                        </p:tgtEl>
                                        <p:attrNameLst>
                                          <p:attrName>ppt_x</p:attrName>
                                          <p:attrName>ppt_y</p:attrName>
                                        </p:attrNameLst>
                                      </p:cBhvr>
                                      <p:rCtr x="7526" y="0"/>
                                    </p:animMotion>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38"/>
                                        </p:tgtEl>
                                        <p:attrNameLst>
                                          <p:attrName>style.visibility</p:attrName>
                                        </p:attrNameLst>
                                      </p:cBhvr>
                                      <p:to>
                                        <p:strVal val="visible"/>
                                      </p:to>
                                    </p:set>
                                    <p:animEffect transition="in" filter="wipe(up)">
                                      <p:cBhvr>
                                        <p:cTn id="61" dur="500"/>
                                        <p:tgtEl>
                                          <p:spTgt spid="38"/>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grpId="0" nodeType="clickEffect">
                                  <p:stCondLst>
                                    <p:cond delay="0"/>
                                  </p:stCondLst>
                                  <p:childTnLst>
                                    <p:set>
                                      <p:cBhvr>
                                        <p:cTn id="65" dur="1" fill="hold">
                                          <p:stCondLst>
                                            <p:cond delay="0"/>
                                          </p:stCondLst>
                                        </p:cTn>
                                        <p:tgtEl>
                                          <p:spTgt spid="39"/>
                                        </p:tgtEl>
                                        <p:attrNameLst>
                                          <p:attrName>style.visibility</p:attrName>
                                        </p:attrNameLst>
                                      </p:cBhvr>
                                      <p:to>
                                        <p:strVal val="visible"/>
                                      </p:to>
                                    </p:set>
                                    <p:animEffect transition="in" filter="wipe(down)">
                                      <p:cBhvr>
                                        <p:cTn id="66" dur="500"/>
                                        <p:tgtEl>
                                          <p:spTgt spid="39"/>
                                        </p:tgtEl>
                                      </p:cBhvr>
                                    </p:animEffect>
                                  </p:childTnLst>
                                </p:cTn>
                              </p:par>
                              <p:par>
                                <p:cTn id="67" presetID="1" presetClass="exit" presetSubtype="0" fill="hold" nodeType="withEffect">
                                  <p:stCondLst>
                                    <p:cond delay="0"/>
                                  </p:stCondLst>
                                  <p:childTnLst>
                                    <p:set>
                                      <p:cBhvr>
                                        <p:cTn id="68" dur="1" fill="hold">
                                          <p:stCondLst>
                                            <p:cond delay="0"/>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21" grpId="0" animBg="1"/>
      <p:bldP spid="23" grpId="0"/>
      <p:bldP spid="27" grpId="0"/>
      <p:bldP spid="28" grpId="0"/>
      <p:bldP spid="29" grpId="0"/>
      <p:bldP spid="38" grpId="0" animBg="1"/>
      <p:bldP spid="3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Procedure: CIR_DELETE(X,FIRST,LAST)</a:t>
            </a:r>
          </a:p>
        </p:txBody>
      </p:sp>
      <p:sp>
        <p:nvSpPr>
          <p:cNvPr id="3" name="Content Placeholder 2"/>
          <p:cNvSpPr>
            <a:spLocks noGrp="1"/>
          </p:cNvSpPr>
          <p:nvPr>
            <p:ph idx="1"/>
          </p:nvPr>
        </p:nvSpPr>
        <p:spPr/>
        <p:txBody>
          <a:bodyPr/>
          <a:lstStyle/>
          <a:p>
            <a:r>
              <a:rPr lang="en-IN" dirty="0"/>
              <a:t>This algorithm </a:t>
            </a:r>
            <a:r>
              <a:rPr lang="en-IN" b="1" dirty="0">
                <a:solidFill>
                  <a:srgbClr val="C00000"/>
                </a:solidFill>
              </a:rPr>
              <a:t>delete</a:t>
            </a:r>
            <a:r>
              <a:rPr lang="en-IN" dirty="0">
                <a:solidFill>
                  <a:srgbClr val="C00000"/>
                </a:solidFill>
              </a:rPr>
              <a:t> </a:t>
            </a:r>
            <a:r>
              <a:rPr lang="en-IN" dirty="0"/>
              <a:t>a node whose address is given by variable </a:t>
            </a:r>
            <a:r>
              <a:rPr lang="en-IN" b="1" dirty="0">
                <a:solidFill>
                  <a:srgbClr val="C00000"/>
                </a:solidFill>
              </a:rPr>
              <a:t>X</a:t>
            </a:r>
            <a:r>
              <a:rPr lang="en-IN" dirty="0"/>
              <a:t>.</a:t>
            </a:r>
          </a:p>
          <a:p>
            <a:r>
              <a:rPr lang="en-IN" b="1" dirty="0">
                <a:solidFill>
                  <a:srgbClr val="C00000"/>
                </a:solidFill>
              </a:rPr>
              <a:t>FIRST</a:t>
            </a:r>
            <a:r>
              <a:rPr lang="en-IN" dirty="0">
                <a:solidFill>
                  <a:srgbClr val="C00000"/>
                </a:solidFill>
              </a:rPr>
              <a:t> </a:t>
            </a:r>
            <a:r>
              <a:rPr lang="en-IN" dirty="0"/>
              <a:t>&amp; </a:t>
            </a:r>
            <a:r>
              <a:rPr lang="en-IN" b="1" dirty="0">
                <a:solidFill>
                  <a:srgbClr val="C00000"/>
                </a:solidFill>
              </a:rPr>
              <a:t>LAST</a:t>
            </a:r>
            <a:r>
              <a:rPr lang="en-IN" dirty="0">
                <a:solidFill>
                  <a:srgbClr val="C00000"/>
                </a:solidFill>
              </a:rPr>
              <a:t> </a:t>
            </a:r>
            <a:r>
              <a:rPr lang="en-IN" dirty="0"/>
              <a:t>are </a:t>
            </a:r>
            <a:r>
              <a:rPr lang="en-IN" b="1" dirty="0"/>
              <a:t>pointers to the First &amp; Last elements</a:t>
            </a:r>
            <a:r>
              <a:rPr lang="en-IN" dirty="0"/>
              <a:t> of a Circular  linked list, respectively. </a:t>
            </a:r>
          </a:p>
          <a:p>
            <a:r>
              <a:rPr lang="en-IN" dirty="0"/>
              <a:t>Typical node contains </a:t>
            </a:r>
            <a:r>
              <a:rPr lang="en-IN" b="1" dirty="0">
                <a:solidFill>
                  <a:srgbClr val="C00000"/>
                </a:solidFill>
              </a:rPr>
              <a:t>INFO</a:t>
            </a:r>
            <a:r>
              <a:rPr lang="en-IN" dirty="0">
                <a:solidFill>
                  <a:srgbClr val="C00000"/>
                </a:solidFill>
              </a:rPr>
              <a:t> </a:t>
            </a:r>
            <a:r>
              <a:rPr lang="en-IN" dirty="0"/>
              <a:t>and </a:t>
            </a:r>
            <a:r>
              <a:rPr lang="en-IN" b="1" dirty="0">
                <a:solidFill>
                  <a:srgbClr val="C00000"/>
                </a:solidFill>
              </a:rPr>
              <a:t>LINK</a:t>
            </a:r>
            <a:r>
              <a:rPr lang="en-IN" dirty="0">
                <a:solidFill>
                  <a:srgbClr val="C00000"/>
                </a:solidFill>
              </a:rPr>
              <a:t> </a:t>
            </a:r>
            <a:r>
              <a:rPr lang="en-IN" dirty="0"/>
              <a:t>fields. </a:t>
            </a:r>
          </a:p>
          <a:p>
            <a:r>
              <a:rPr lang="en-IN" b="1" dirty="0">
                <a:solidFill>
                  <a:srgbClr val="C00000"/>
                </a:solidFill>
              </a:rPr>
              <a:t>SAVE</a:t>
            </a:r>
            <a:r>
              <a:rPr lang="en-IN" b="1" dirty="0">
                <a:solidFill>
                  <a:srgbClr val="FF0000"/>
                </a:solidFill>
              </a:rPr>
              <a:t> </a:t>
            </a:r>
            <a:r>
              <a:rPr lang="en-IN" b="1" dirty="0">
                <a:solidFill>
                  <a:schemeClr val="tx1">
                    <a:lumMod val="95000"/>
                    <a:lumOff val="5000"/>
                  </a:schemeClr>
                </a:solidFill>
              </a:rPr>
              <a:t>&amp;</a:t>
            </a:r>
            <a:r>
              <a:rPr lang="en-IN" b="1" dirty="0">
                <a:solidFill>
                  <a:srgbClr val="FF0000"/>
                </a:solidFill>
              </a:rPr>
              <a:t> </a:t>
            </a:r>
            <a:r>
              <a:rPr lang="en-IN" b="1" dirty="0">
                <a:solidFill>
                  <a:srgbClr val="C00000"/>
                </a:solidFill>
              </a:rPr>
              <a:t>PRED</a:t>
            </a:r>
            <a:r>
              <a:rPr lang="en-IN" b="1" dirty="0">
                <a:solidFill>
                  <a:srgbClr val="FF0000"/>
                </a:solidFill>
              </a:rPr>
              <a:t> </a:t>
            </a:r>
            <a:r>
              <a:rPr lang="en-IN" dirty="0"/>
              <a:t>are temporary pointer variable.</a:t>
            </a:r>
          </a:p>
          <a:p>
            <a:endParaRPr lang="en-US" dirty="0"/>
          </a:p>
        </p:txBody>
      </p:sp>
    </p:spTree>
    <p:extLst>
      <p:ext uri="{BB962C8B-B14F-4D97-AF65-F5344CB8AC3E}">
        <p14:creationId xmlns:p14="http://schemas.microsoft.com/office/powerpoint/2010/main" val="1717329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Procedure: CIR_DELETE(X,FIRST,LAST)</a:t>
            </a:r>
          </a:p>
        </p:txBody>
      </p:sp>
      <p:sp>
        <p:nvSpPr>
          <p:cNvPr id="4" name="TextBox 3"/>
          <p:cNvSpPr txBox="1"/>
          <p:nvPr/>
        </p:nvSpPr>
        <p:spPr>
          <a:xfrm>
            <a:off x="246529" y="839679"/>
            <a:ext cx="5760000" cy="4832092"/>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200" b="1" dirty="0">
                <a:solidFill>
                  <a:schemeClr val="tx2"/>
                </a:solidFill>
                <a:latin typeface="Consolas" pitchFamily="49" charset="0"/>
                <a:cs typeface="Consolas" pitchFamily="49" charset="0"/>
              </a:rPr>
              <a:t>1. [Is Empty List?]</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IF</a:t>
            </a:r>
            <a:r>
              <a:rPr lang="en-IN" sz="2200" dirty="0">
                <a:latin typeface="Consolas" pitchFamily="49" charset="0"/>
                <a:cs typeface="Consolas" pitchFamily="49" charset="0"/>
              </a:rPr>
              <a:t>   FIRST = NULL</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THEN</a:t>
            </a:r>
            <a:r>
              <a:rPr lang="en-IN" sz="2200" dirty="0">
                <a:latin typeface="Consolas" pitchFamily="49" charset="0"/>
                <a:cs typeface="Consolas" pitchFamily="49" charset="0"/>
              </a:rPr>
              <a:t> write(‘Linked List is </a:t>
            </a:r>
          </a:p>
          <a:p>
            <a:r>
              <a:rPr lang="en-IN" sz="2200" dirty="0">
                <a:latin typeface="Consolas" pitchFamily="49" charset="0"/>
                <a:cs typeface="Consolas" pitchFamily="49" charset="0"/>
              </a:rPr>
              <a:t>         Empty’)</a:t>
            </a:r>
          </a:p>
          <a:p>
            <a:r>
              <a:rPr lang="en-IN" sz="2200" dirty="0">
                <a:latin typeface="Consolas" pitchFamily="49" charset="0"/>
                <a:cs typeface="Consolas" pitchFamily="49" charset="0"/>
              </a:rPr>
              <a:t>         Return</a:t>
            </a:r>
          </a:p>
          <a:p>
            <a:r>
              <a:rPr lang="en-IN" sz="2200" b="1" dirty="0">
                <a:solidFill>
                  <a:schemeClr val="tx2"/>
                </a:solidFill>
                <a:latin typeface="Consolas" pitchFamily="49" charset="0"/>
                <a:cs typeface="Consolas" pitchFamily="49" charset="0"/>
              </a:rPr>
              <a:t>2. [Initialize Search for X]</a:t>
            </a:r>
          </a:p>
          <a:p>
            <a:r>
              <a:rPr lang="en-IN" sz="2200" dirty="0">
                <a:latin typeface="Consolas" pitchFamily="49" charset="0"/>
                <a:cs typeface="Consolas" pitchFamily="49" charset="0"/>
              </a:rPr>
              <a:t>    SAVE </a:t>
            </a:r>
            <a:r>
              <a:rPr lang="en-IN" sz="2200" dirty="0">
                <a:latin typeface="Consolas" pitchFamily="49" charset="0"/>
                <a:cs typeface="Consolas" pitchFamily="49" charset="0"/>
                <a:sym typeface="Wingdings" pitchFamily="2" charset="2"/>
              </a:rPr>
              <a:t> FIRST</a:t>
            </a:r>
            <a:endParaRPr lang="en-IN" sz="2200" dirty="0">
              <a:latin typeface="Consolas" pitchFamily="49" charset="0"/>
              <a:cs typeface="Consolas" pitchFamily="49" charset="0"/>
            </a:endParaRPr>
          </a:p>
          <a:p>
            <a:r>
              <a:rPr lang="en-IN" sz="2200" b="1" dirty="0">
                <a:solidFill>
                  <a:schemeClr val="tx2"/>
                </a:solidFill>
                <a:latin typeface="Consolas" pitchFamily="49" charset="0"/>
                <a:cs typeface="Consolas" pitchFamily="49" charset="0"/>
              </a:rPr>
              <a:t>3. [Find X]</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Repeat</a:t>
            </a:r>
            <a:r>
              <a:rPr lang="en-IN" sz="2200" dirty="0">
                <a:latin typeface="Consolas" pitchFamily="49" charset="0"/>
                <a:cs typeface="Consolas" pitchFamily="49" charset="0"/>
              </a:rPr>
              <a:t> thru step 5 </a:t>
            </a:r>
          </a:p>
          <a:p>
            <a:r>
              <a:rPr lang="en-IN" sz="2200" dirty="0">
                <a:latin typeface="Consolas" pitchFamily="49" charset="0"/>
                <a:cs typeface="Consolas" pitchFamily="49" charset="0"/>
              </a:rPr>
              <a:t>        while SAVE≠X &amp; SAVE≠LAST</a:t>
            </a:r>
          </a:p>
          <a:p>
            <a:r>
              <a:rPr lang="en-IN" sz="2200" b="1" dirty="0">
                <a:solidFill>
                  <a:schemeClr val="tx2"/>
                </a:solidFill>
                <a:latin typeface="Consolas" pitchFamily="49" charset="0"/>
                <a:cs typeface="Consolas" pitchFamily="49" charset="0"/>
              </a:rPr>
              <a:t>4. [Update predecessor marker]</a:t>
            </a:r>
          </a:p>
          <a:p>
            <a:r>
              <a:rPr lang="en-IN" sz="2200" dirty="0">
                <a:latin typeface="Consolas" pitchFamily="49" charset="0"/>
                <a:cs typeface="Consolas" pitchFamily="49" charset="0"/>
              </a:rPr>
              <a:t>    PRED </a:t>
            </a:r>
            <a:r>
              <a:rPr lang="en-IN" sz="2200" dirty="0">
                <a:latin typeface="Consolas" pitchFamily="49" charset="0"/>
                <a:cs typeface="Consolas" pitchFamily="49" charset="0"/>
                <a:sym typeface="Wingdings" pitchFamily="2" charset="2"/>
              </a:rPr>
              <a:t> </a:t>
            </a:r>
            <a:r>
              <a:rPr lang="en-IN" sz="2200" dirty="0">
                <a:latin typeface="Consolas" pitchFamily="49" charset="0"/>
                <a:cs typeface="Consolas" pitchFamily="49" charset="0"/>
              </a:rPr>
              <a:t>SAVE</a:t>
            </a:r>
          </a:p>
          <a:p>
            <a:r>
              <a:rPr lang="en-IN" sz="2200" b="1" dirty="0">
                <a:solidFill>
                  <a:schemeClr val="tx2"/>
                </a:solidFill>
                <a:latin typeface="Consolas" pitchFamily="49" charset="0"/>
                <a:cs typeface="Consolas" pitchFamily="49" charset="0"/>
              </a:rPr>
              <a:t>5. [Move to next node]</a:t>
            </a:r>
          </a:p>
          <a:p>
            <a:r>
              <a:rPr lang="en-IN" sz="2200" b="1" dirty="0">
                <a:solidFill>
                  <a:schemeClr val="tx2">
                    <a:lumMod val="60000"/>
                    <a:lumOff val="40000"/>
                  </a:schemeClr>
                </a:solidFill>
                <a:latin typeface="Consolas" pitchFamily="49" charset="0"/>
                <a:cs typeface="Consolas" pitchFamily="49" charset="0"/>
              </a:rPr>
              <a:t>    </a:t>
            </a:r>
            <a:r>
              <a:rPr lang="en-IN" sz="2200" dirty="0">
                <a:latin typeface="Consolas" pitchFamily="49" charset="0"/>
                <a:cs typeface="Consolas" pitchFamily="49" charset="0"/>
              </a:rPr>
              <a:t>SAVE </a:t>
            </a:r>
            <a:r>
              <a:rPr lang="en-IN" sz="2200" dirty="0">
                <a:latin typeface="Consolas" pitchFamily="49" charset="0"/>
                <a:cs typeface="Consolas" pitchFamily="49" charset="0"/>
                <a:sym typeface="Wingdings" pitchFamily="2" charset="2"/>
              </a:rPr>
              <a:t> </a:t>
            </a:r>
            <a:r>
              <a:rPr lang="en-IN" sz="2200" dirty="0">
                <a:latin typeface="Consolas" pitchFamily="49" charset="0"/>
                <a:cs typeface="Consolas" pitchFamily="49" charset="0"/>
              </a:rPr>
              <a:t>LINK(SAVE)</a:t>
            </a:r>
          </a:p>
        </p:txBody>
      </p:sp>
      <p:sp>
        <p:nvSpPr>
          <p:cNvPr id="5" name="TextBox 4"/>
          <p:cNvSpPr txBox="1"/>
          <p:nvPr/>
        </p:nvSpPr>
        <p:spPr>
          <a:xfrm>
            <a:off x="6181341" y="839679"/>
            <a:ext cx="5760000" cy="5170646"/>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200" b="1" dirty="0">
                <a:solidFill>
                  <a:schemeClr val="tx2"/>
                </a:solidFill>
                <a:latin typeface="Consolas" pitchFamily="49" charset="0"/>
                <a:cs typeface="Consolas" pitchFamily="49" charset="0"/>
              </a:rPr>
              <a:t>6. [End of Linked List?]</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IF</a:t>
            </a:r>
            <a:r>
              <a:rPr lang="en-IN" sz="2200" dirty="0">
                <a:latin typeface="Consolas" pitchFamily="49" charset="0"/>
                <a:cs typeface="Consolas" pitchFamily="49" charset="0"/>
              </a:rPr>
              <a:t>	SAVE ≠ X</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THEN</a:t>
            </a:r>
            <a:r>
              <a:rPr lang="en-IN" sz="2200" dirty="0">
                <a:solidFill>
                  <a:schemeClr val="tx2">
                    <a:lumMod val="75000"/>
                  </a:schemeClr>
                </a:solidFill>
                <a:latin typeface="Consolas" pitchFamily="49" charset="0"/>
                <a:cs typeface="Consolas" pitchFamily="49" charset="0"/>
              </a:rPr>
              <a:t> </a:t>
            </a:r>
            <a:r>
              <a:rPr lang="en-IN" sz="2200" dirty="0">
                <a:latin typeface="Consolas" pitchFamily="49" charset="0"/>
                <a:cs typeface="Consolas" pitchFamily="49" charset="0"/>
              </a:rPr>
              <a:t>	write(‘Node not found’)</a:t>
            </a:r>
          </a:p>
          <a:p>
            <a:r>
              <a:rPr lang="en-IN" sz="2200" dirty="0">
                <a:latin typeface="Consolas" pitchFamily="49" charset="0"/>
                <a:cs typeface="Consolas" pitchFamily="49" charset="0"/>
              </a:rPr>
              <a:t> 	      Return </a:t>
            </a:r>
          </a:p>
          <a:p>
            <a:r>
              <a:rPr lang="en-IN" sz="2200" b="1" dirty="0">
                <a:solidFill>
                  <a:schemeClr val="tx2"/>
                </a:solidFill>
                <a:latin typeface="Consolas" pitchFamily="49" charset="0"/>
                <a:cs typeface="Consolas" pitchFamily="49" charset="0"/>
              </a:rPr>
              <a:t>7. [Delete X]</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IF</a:t>
            </a:r>
            <a:r>
              <a:rPr lang="en-IN" sz="2200" dirty="0">
                <a:latin typeface="Consolas" pitchFamily="49" charset="0"/>
                <a:cs typeface="Consolas" pitchFamily="49" charset="0"/>
              </a:rPr>
              <a:t>   FIRST =LAST </a:t>
            </a:r>
            <a:r>
              <a:rPr lang="en-IN" sz="1600" dirty="0">
                <a:latin typeface="Consolas" pitchFamily="49" charset="0"/>
                <a:cs typeface="Consolas" pitchFamily="49" charset="0"/>
              </a:rPr>
              <a:t>(Only One Node)</a:t>
            </a:r>
            <a:r>
              <a:rPr lang="en-IN" sz="2200" dirty="0">
                <a:latin typeface="Consolas" pitchFamily="49" charset="0"/>
                <a:cs typeface="Consolas" pitchFamily="49" charset="0"/>
              </a:rPr>
              <a:t>          </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THEN</a:t>
            </a:r>
            <a:r>
              <a:rPr lang="en-IN" sz="2200" dirty="0">
                <a:latin typeface="Consolas" pitchFamily="49" charset="0"/>
                <a:cs typeface="Consolas" pitchFamily="49" charset="0"/>
              </a:rPr>
              <a:t> FIRST </a:t>
            </a:r>
            <a:r>
              <a:rPr lang="en-IN" sz="2200" dirty="0">
                <a:latin typeface="Consolas" pitchFamily="49" charset="0"/>
                <a:cs typeface="Consolas" pitchFamily="49" charset="0"/>
                <a:sym typeface="Wingdings" panose="05000000000000000000" pitchFamily="2" charset="2"/>
              </a:rPr>
              <a:t> LAST  NULL</a:t>
            </a:r>
            <a:r>
              <a:rPr lang="en-IN" sz="2200" dirty="0">
                <a:latin typeface="Consolas" pitchFamily="49" charset="0"/>
                <a:cs typeface="Consolas" pitchFamily="49" charset="0"/>
              </a:rPr>
              <a:t>	 </a:t>
            </a:r>
          </a:p>
          <a:p>
            <a:r>
              <a:rPr lang="en-IN" sz="2200" b="1" dirty="0">
                <a:solidFill>
                  <a:schemeClr val="tx2">
                    <a:lumMod val="75000"/>
                  </a:schemeClr>
                </a:solidFill>
                <a:latin typeface="Consolas" pitchFamily="49" charset="0"/>
                <a:cs typeface="Consolas" pitchFamily="49" charset="0"/>
              </a:rPr>
              <a:t>    ELSE IF</a:t>
            </a:r>
            <a:r>
              <a:rPr lang="en-IN" sz="2200" dirty="0">
                <a:latin typeface="Consolas" pitchFamily="49" charset="0"/>
                <a:cs typeface="Consolas" pitchFamily="49" charset="0"/>
              </a:rPr>
              <a:t>  X = FIRST </a:t>
            </a:r>
            <a:r>
              <a:rPr lang="en-IN" sz="1400" dirty="0">
                <a:latin typeface="Consolas" pitchFamily="49" charset="0"/>
                <a:cs typeface="Consolas" pitchFamily="49" charset="0"/>
              </a:rPr>
              <a:t>(First Node)</a:t>
            </a:r>
            <a:endParaRPr lang="en-IN" sz="2200" dirty="0">
              <a:latin typeface="Consolas" pitchFamily="49" charset="0"/>
              <a:cs typeface="Consolas" pitchFamily="49" charset="0"/>
            </a:endParaRP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THEN</a:t>
            </a:r>
            <a:r>
              <a:rPr lang="en-IN" sz="2200" dirty="0">
                <a:solidFill>
                  <a:schemeClr val="tx2">
                    <a:lumMod val="75000"/>
                  </a:schemeClr>
                </a:solidFill>
                <a:latin typeface="Consolas" pitchFamily="49" charset="0"/>
                <a:cs typeface="Consolas" pitchFamily="49" charset="0"/>
              </a:rPr>
              <a:t> </a:t>
            </a:r>
            <a:r>
              <a:rPr lang="en-IN" sz="2200" dirty="0">
                <a:latin typeface="Consolas" pitchFamily="49" charset="0"/>
                <a:cs typeface="Consolas" pitchFamily="49" charset="0"/>
              </a:rPr>
              <a:t>FIRST</a:t>
            </a:r>
            <a:r>
              <a:rPr lang="en-IN" sz="2200" dirty="0">
                <a:latin typeface="Consolas" pitchFamily="49" charset="0"/>
                <a:cs typeface="Consolas" pitchFamily="49" charset="0"/>
                <a:sym typeface="Wingdings" pitchFamily="2" charset="2"/>
              </a:rPr>
              <a:t></a:t>
            </a:r>
            <a:r>
              <a:rPr lang="en-IN" sz="2200" dirty="0">
                <a:latin typeface="Consolas" pitchFamily="49" charset="0"/>
                <a:cs typeface="Consolas" pitchFamily="49" charset="0"/>
              </a:rPr>
              <a:t>LINK(FIRST)</a:t>
            </a:r>
          </a:p>
          <a:p>
            <a:r>
              <a:rPr lang="en-IN" sz="2200" dirty="0">
                <a:latin typeface="Consolas" pitchFamily="49" charset="0"/>
                <a:cs typeface="Consolas" pitchFamily="49" charset="0"/>
              </a:rPr>
              <a:t> 	   LINK(LAST)</a:t>
            </a:r>
            <a:r>
              <a:rPr lang="en-IN" sz="2200" dirty="0">
                <a:latin typeface="Consolas" pitchFamily="49" charset="0"/>
                <a:cs typeface="Consolas" pitchFamily="49" charset="0"/>
                <a:sym typeface="Wingdings" pitchFamily="2" charset="2"/>
              </a:rPr>
              <a:t></a:t>
            </a:r>
            <a:r>
              <a:rPr lang="en-IN" sz="2200" dirty="0">
                <a:latin typeface="Consolas" pitchFamily="49" charset="0"/>
                <a:cs typeface="Consolas" pitchFamily="49" charset="0"/>
              </a:rPr>
              <a:t>FIRST</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ELSE </a:t>
            </a:r>
            <a:r>
              <a:rPr lang="en-IN" sz="2200" dirty="0">
                <a:latin typeface="Consolas" pitchFamily="49" charset="0"/>
                <a:cs typeface="Consolas" pitchFamily="49" charset="0"/>
              </a:rPr>
              <a:t>LINK(PRED)</a:t>
            </a:r>
            <a:r>
              <a:rPr lang="en-IN" sz="2200" dirty="0">
                <a:latin typeface="Consolas" pitchFamily="49" charset="0"/>
                <a:cs typeface="Consolas" pitchFamily="49" charset="0"/>
                <a:sym typeface="Wingdings" pitchFamily="2" charset="2"/>
              </a:rPr>
              <a:t></a:t>
            </a:r>
            <a:r>
              <a:rPr lang="en-IN" sz="2200" dirty="0">
                <a:latin typeface="Consolas" pitchFamily="49" charset="0"/>
                <a:cs typeface="Consolas" pitchFamily="49" charset="0"/>
              </a:rPr>
              <a:t>LINK(X)</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IF</a:t>
            </a:r>
            <a:r>
              <a:rPr lang="en-IN" sz="2200" dirty="0">
                <a:latin typeface="Consolas" pitchFamily="49" charset="0"/>
                <a:cs typeface="Consolas" pitchFamily="49" charset="0"/>
              </a:rPr>
              <a:t>	  X = LAST</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THEN</a:t>
            </a:r>
            <a:r>
              <a:rPr lang="en-IN" sz="2200" dirty="0">
                <a:latin typeface="Consolas" pitchFamily="49" charset="0"/>
                <a:cs typeface="Consolas" pitchFamily="49" charset="0"/>
              </a:rPr>
              <a:t> LAST </a:t>
            </a:r>
            <a:r>
              <a:rPr lang="en-IN" sz="2200" dirty="0">
                <a:latin typeface="Consolas" pitchFamily="49" charset="0"/>
                <a:cs typeface="Consolas" pitchFamily="49" charset="0"/>
                <a:sym typeface="Wingdings" pitchFamily="2" charset="2"/>
              </a:rPr>
              <a:t></a:t>
            </a:r>
            <a:r>
              <a:rPr lang="en-IN" sz="2200" dirty="0">
                <a:latin typeface="Consolas" pitchFamily="49" charset="0"/>
                <a:cs typeface="Consolas" pitchFamily="49" charset="0"/>
              </a:rPr>
              <a:t> PRED </a:t>
            </a:r>
          </a:p>
          <a:p>
            <a:r>
              <a:rPr lang="en-IN" sz="2200" b="1" dirty="0">
                <a:solidFill>
                  <a:schemeClr val="tx2"/>
                </a:solidFill>
                <a:latin typeface="Consolas" pitchFamily="49" charset="0"/>
                <a:cs typeface="Consolas" pitchFamily="49" charset="0"/>
              </a:rPr>
              <a:t>8. [Free Deleted Node]</a:t>
            </a:r>
          </a:p>
          <a:p>
            <a:r>
              <a:rPr lang="en-IN" sz="2200" dirty="0">
                <a:latin typeface="Consolas" pitchFamily="49" charset="0"/>
                <a:cs typeface="Consolas" pitchFamily="49" charset="0"/>
              </a:rPr>
              <a:t>    Free (X)</a:t>
            </a:r>
          </a:p>
        </p:txBody>
      </p:sp>
    </p:spTree>
    <p:extLst>
      <p:ext uri="{BB962C8B-B14F-4D97-AF65-F5344CB8AC3E}">
        <p14:creationId xmlns:p14="http://schemas.microsoft.com/office/powerpoint/2010/main" val="2956102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 end="1"/>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
                                            <p:txEl>
                                              <p:pRg st="2" end="2"/>
                                            </p:tx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5">
                                            <p:txEl>
                                              <p:pRg st="7" end="7"/>
                                            </p:txEl>
                                          </p:spTgt>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5">
                                            <p:txEl>
                                              <p:pRg st="8" end="8"/>
                                            </p:txEl>
                                          </p:spTgt>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5">
                                            <p:txEl>
                                              <p:pRg st="10" end="10"/>
                                            </p:txEl>
                                          </p:spTgt>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5">
                                            <p:txEl>
                                              <p:pRg st="11" end="11"/>
                                            </p:txEl>
                                          </p:spTgt>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Procedure: CIR_DELETE(7541,FIRST,LAST)</a:t>
            </a:r>
          </a:p>
        </p:txBody>
      </p:sp>
      <p:grpSp>
        <p:nvGrpSpPr>
          <p:cNvPr id="4" name="Group 3"/>
          <p:cNvGrpSpPr/>
          <p:nvPr/>
        </p:nvGrpSpPr>
        <p:grpSpPr>
          <a:xfrm>
            <a:off x="498563" y="5040868"/>
            <a:ext cx="920012" cy="533400"/>
            <a:chOff x="951919" y="5486400"/>
            <a:chExt cx="920012" cy="533400"/>
          </a:xfrm>
        </p:grpSpPr>
        <p:sp>
          <p:nvSpPr>
            <p:cNvPr id="5" name="Rectangle 4"/>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US" sz="2400" b="1" dirty="0"/>
            </a:p>
          </p:txBody>
        </p:sp>
        <p:sp>
          <p:nvSpPr>
            <p:cNvPr id="6" name="Rectangle 5"/>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7" name="Group 6"/>
          <p:cNvGrpSpPr/>
          <p:nvPr/>
        </p:nvGrpSpPr>
        <p:grpSpPr>
          <a:xfrm>
            <a:off x="1793963" y="5040868"/>
            <a:ext cx="920012" cy="533400"/>
            <a:chOff x="951919" y="5486400"/>
            <a:chExt cx="920012" cy="533400"/>
          </a:xfrm>
        </p:grpSpPr>
        <p:sp>
          <p:nvSpPr>
            <p:cNvPr id="8" name="Rectangle 7"/>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9" name="Rectangle 8"/>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0" name="Group 9"/>
          <p:cNvGrpSpPr/>
          <p:nvPr/>
        </p:nvGrpSpPr>
        <p:grpSpPr>
          <a:xfrm>
            <a:off x="3089363" y="5040868"/>
            <a:ext cx="920012" cy="533400"/>
            <a:chOff x="951919" y="5486400"/>
            <a:chExt cx="920012" cy="533400"/>
          </a:xfrm>
        </p:grpSpPr>
        <p:sp>
          <p:nvSpPr>
            <p:cNvPr id="11" name="Rectangle 10"/>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15</a:t>
              </a:r>
              <a:endParaRPr lang="en-US" sz="2400" b="1" dirty="0"/>
            </a:p>
          </p:txBody>
        </p:sp>
        <p:sp>
          <p:nvSpPr>
            <p:cNvPr id="12" name="Rectangle 11"/>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3" name="Group 12"/>
          <p:cNvGrpSpPr/>
          <p:nvPr/>
        </p:nvGrpSpPr>
        <p:grpSpPr>
          <a:xfrm>
            <a:off x="4836351" y="5040868"/>
            <a:ext cx="920012" cy="533400"/>
            <a:chOff x="951919" y="5486400"/>
            <a:chExt cx="920012" cy="533400"/>
          </a:xfrm>
        </p:grpSpPr>
        <p:sp>
          <p:nvSpPr>
            <p:cNvPr id="14" name="Rectangle 13"/>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20</a:t>
              </a:r>
              <a:endParaRPr lang="en-US" sz="2400" b="1" dirty="0"/>
            </a:p>
          </p:txBody>
        </p:sp>
        <p:sp>
          <p:nvSpPr>
            <p:cNvPr id="15" name="Rectangle 14"/>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6" name="Group 15"/>
          <p:cNvGrpSpPr/>
          <p:nvPr/>
        </p:nvGrpSpPr>
        <p:grpSpPr>
          <a:xfrm>
            <a:off x="6817551" y="5040868"/>
            <a:ext cx="920012" cy="533400"/>
            <a:chOff x="951919" y="5486400"/>
            <a:chExt cx="920012" cy="533400"/>
          </a:xfrm>
        </p:grpSpPr>
        <p:sp>
          <p:nvSpPr>
            <p:cNvPr id="17" name="Rectangle 16"/>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25</a:t>
              </a:r>
              <a:endParaRPr lang="en-US" sz="2400" b="1" dirty="0"/>
            </a:p>
          </p:txBody>
        </p:sp>
        <p:sp>
          <p:nvSpPr>
            <p:cNvPr id="18" name="Rectangle 17"/>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9" name="Group 18"/>
          <p:cNvGrpSpPr/>
          <p:nvPr/>
        </p:nvGrpSpPr>
        <p:grpSpPr>
          <a:xfrm>
            <a:off x="8126701" y="5040868"/>
            <a:ext cx="1058662" cy="533400"/>
            <a:chOff x="6256538" y="5334000"/>
            <a:chExt cx="1058662" cy="533400"/>
          </a:xfrm>
        </p:grpSpPr>
        <p:sp>
          <p:nvSpPr>
            <p:cNvPr id="20" name="Rectangle 19"/>
            <p:cNvSpPr/>
            <p:nvPr/>
          </p:nvSpPr>
          <p:spPr>
            <a:xfrm>
              <a:off x="6256538" y="53340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30</a:t>
              </a:r>
              <a:endParaRPr lang="en-US" sz="2400" b="1" dirty="0"/>
            </a:p>
          </p:txBody>
        </p:sp>
        <p:sp>
          <p:nvSpPr>
            <p:cNvPr id="21" name="Rectangle 20"/>
            <p:cNvSpPr/>
            <p:nvPr/>
          </p:nvSpPr>
          <p:spPr>
            <a:xfrm>
              <a:off x="6795550" y="5334000"/>
              <a:ext cx="51965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22" name="Straight Arrow Connector 21"/>
          <p:cNvCxnSpPr>
            <a:stCxn id="6" idx="3"/>
            <a:endCxn id="8" idx="1"/>
          </p:cNvCxnSpPr>
          <p:nvPr/>
        </p:nvCxnSpPr>
        <p:spPr>
          <a:xfrm>
            <a:off x="1418575" y="5307568"/>
            <a:ext cx="3753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3" name="Straight Arrow Connector 22"/>
          <p:cNvCxnSpPr>
            <a:stCxn id="9" idx="3"/>
            <a:endCxn id="11" idx="1"/>
          </p:cNvCxnSpPr>
          <p:nvPr/>
        </p:nvCxnSpPr>
        <p:spPr>
          <a:xfrm>
            <a:off x="2713975" y="5307568"/>
            <a:ext cx="3753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4" name="Straight Arrow Connector 23"/>
          <p:cNvCxnSpPr>
            <a:stCxn id="12" idx="3"/>
            <a:endCxn id="14" idx="1"/>
          </p:cNvCxnSpPr>
          <p:nvPr/>
        </p:nvCxnSpPr>
        <p:spPr>
          <a:xfrm>
            <a:off x="4009375" y="5307568"/>
            <a:ext cx="826976"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5" name="Straight Arrow Connector 24"/>
          <p:cNvCxnSpPr>
            <a:stCxn id="15" idx="3"/>
            <a:endCxn id="17" idx="1"/>
          </p:cNvCxnSpPr>
          <p:nvPr/>
        </p:nvCxnSpPr>
        <p:spPr>
          <a:xfrm>
            <a:off x="5756363" y="5307568"/>
            <a:ext cx="1061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6" name="Straight Arrow Connector 25"/>
          <p:cNvCxnSpPr>
            <a:stCxn id="18" idx="3"/>
            <a:endCxn id="20" idx="1"/>
          </p:cNvCxnSpPr>
          <p:nvPr/>
        </p:nvCxnSpPr>
        <p:spPr>
          <a:xfrm>
            <a:off x="7737563" y="5307568"/>
            <a:ext cx="38913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8" name="TextBox 27"/>
          <p:cNvSpPr txBox="1"/>
          <p:nvPr/>
        </p:nvSpPr>
        <p:spPr>
          <a:xfrm>
            <a:off x="469988" y="6107668"/>
            <a:ext cx="734496" cy="369332"/>
          </a:xfrm>
          <a:prstGeom prst="rect">
            <a:avLst/>
          </a:prstGeom>
          <a:noFill/>
        </p:spPr>
        <p:txBody>
          <a:bodyPr wrap="none" rtlCol="0">
            <a:spAutoFit/>
          </a:bodyPr>
          <a:lstStyle/>
          <a:p>
            <a:r>
              <a:rPr lang="en-IN" b="1" dirty="0">
                <a:solidFill>
                  <a:srgbClr val="C00000"/>
                </a:solidFill>
              </a:rPr>
              <a:t>FIRST</a:t>
            </a:r>
            <a:endParaRPr lang="en-US" b="1" dirty="0">
              <a:solidFill>
                <a:srgbClr val="C00000"/>
              </a:solidFill>
            </a:endParaRPr>
          </a:p>
        </p:txBody>
      </p:sp>
      <p:cxnSp>
        <p:nvCxnSpPr>
          <p:cNvPr id="29" name="Straight Arrow Connector 28"/>
          <p:cNvCxnSpPr>
            <a:stCxn id="28" idx="0"/>
          </p:cNvCxnSpPr>
          <p:nvPr/>
        </p:nvCxnSpPr>
        <p:spPr>
          <a:xfrm flipH="1" flipV="1">
            <a:off x="817114" y="5574268"/>
            <a:ext cx="20123" cy="5334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0" name="Straight Connector 29"/>
          <p:cNvCxnSpPr/>
          <p:nvPr/>
        </p:nvCxnSpPr>
        <p:spPr>
          <a:xfrm>
            <a:off x="3818875" y="5574268"/>
            <a:ext cx="0" cy="59793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31" name="Straight Connector 30"/>
          <p:cNvCxnSpPr/>
          <p:nvPr/>
        </p:nvCxnSpPr>
        <p:spPr>
          <a:xfrm>
            <a:off x="3818875" y="6172200"/>
            <a:ext cx="3265376"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32" name="Straight Arrow Connector 31"/>
          <p:cNvCxnSpPr>
            <a:endCxn id="17" idx="2"/>
          </p:cNvCxnSpPr>
          <p:nvPr/>
        </p:nvCxnSpPr>
        <p:spPr>
          <a:xfrm flipV="1">
            <a:off x="7084251" y="5574268"/>
            <a:ext cx="0" cy="597932"/>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33" name="TextBox 32"/>
          <p:cNvSpPr txBox="1"/>
          <p:nvPr/>
        </p:nvSpPr>
        <p:spPr>
          <a:xfrm>
            <a:off x="498564" y="5715000"/>
            <a:ext cx="652743" cy="369332"/>
          </a:xfrm>
          <a:prstGeom prst="rect">
            <a:avLst/>
          </a:prstGeom>
          <a:noFill/>
        </p:spPr>
        <p:txBody>
          <a:bodyPr wrap="none" rtlCol="0">
            <a:spAutoFit/>
          </a:bodyPr>
          <a:lstStyle/>
          <a:p>
            <a:r>
              <a:rPr lang="en-IN" dirty="0"/>
              <a:t>5000</a:t>
            </a:r>
            <a:endParaRPr lang="en-US" dirty="0"/>
          </a:p>
        </p:txBody>
      </p:sp>
      <p:sp>
        <p:nvSpPr>
          <p:cNvPr id="34" name="TextBox 33"/>
          <p:cNvSpPr txBox="1"/>
          <p:nvPr/>
        </p:nvSpPr>
        <p:spPr>
          <a:xfrm>
            <a:off x="1793964" y="5618202"/>
            <a:ext cx="652743" cy="369332"/>
          </a:xfrm>
          <a:prstGeom prst="rect">
            <a:avLst/>
          </a:prstGeom>
          <a:noFill/>
        </p:spPr>
        <p:txBody>
          <a:bodyPr wrap="none" rtlCol="0">
            <a:spAutoFit/>
          </a:bodyPr>
          <a:lstStyle/>
          <a:p>
            <a:r>
              <a:rPr lang="en-IN" dirty="0"/>
              <a:t>4455</a:t>
            </a:r>
            <a:endParaRPr lang="en-US" dirty="0"/>
          </a:p>
        </p:txBody>
      </p:sp>
      <p:sp>
        <p:nvSpPr>
          <p:cNvPr id="35" name="TextBox 34"/>
          <p:cNvSpPr txBox="1"/>
          <p:nvPr/>
        </p:nvSpPr>
        <p:spPr>
          <a:xfrm>
            <a:off x="3089364" y="5583793"/>
            <a:ext cx="652743" cy="369332"/>
          </a:xfrm>
          <a:prstGeom prst="rect">
            <a:avLst/>
          </a:prstGeom>
          <a:noFill/>
        </p:spPr>
        <p:txBody>
          <a:bodyPr wrap="none" rtlCol="0">
            <a:spAutoFit/>
          </a:bodyPr>
          <a:lstStyle/>
          <a:p>
            <a:r>
              <a:rPr lang="en-IN" dirty="0"/>
              <a:t>8564</a:t>
            </a:r>
            <a:endParaRPr lang="en-US" dirty="0"/>
          </a:p>
        </p:txBody>
      </p:sp>
      <p:sp>
        <p:nvSpPr>
          <p:cNvPr id="36" name="TextBox 35"/>
          <p:cNvSpPr txBox="1"/>
          <p:nvPr/>
        </p:nvSpPr>
        <p:spPr>
          <a:xfrm>
            <a:off x="4836352" y="5574268"/>
            <a:ext cx="652743" cy="369332"/>
          </a:xfrm>
          <a:prstGeom prst="rect">
            <a:avLst/>
          </a:prstGeom>
          <a:noFill/>
        </p:spPr>
        <p:txBody>
          <a:bodyPr wrap="none" rtlCol="0">
            <a:spAutoFit/>
          </a:bodyPr>
          <a:lstStyle/>
          <a:p>
            <a:r>
              <a:rPr lang="en-IN" dirty="0"/>
              <a:t>7541</a:t>
            </a:r>
            <a:endParaRPr lang="en-US" dirty="0"/>
          </a:p>
        </p:txBody>
      </p:sp>
      <p:sp>
        <p:nvSpPr>
          <p:cNvPr id="37" name="TextBox 36"/>
          <p:cNvSpPr txBox="1"/>
          <p:nvPr/>
        </p:nvSpPr>
        <p:spPr>
          <a:xfrm>
            <a:off x="6766014" y="5608677"/>
            <a:ext cx="652743" cy="369332"/>
          </a:xfrm>
          <a:prstGeom prst="rect">
            <a:avLst/>
          </a:prstGeom>
          <a:noFill/>
        </p:spPr>
        <p:txBody>
          <a:bodyPr wrap="none" rtlCol="0">
            <a:spAutoFit/>
          </a:bodyPr>
          <a:lstStyle/>
          <a:p>
            <a:r>
              <a:rPr lang="en-IN" dirty="0"/>
              <a:t>1254</a:t>
            </a:r>
            <a:endParaRPr lang="en-US" dirty="0"/>
          </a:p>
        </p:txBody>
      </p:sp>
      <p:sp>
        <p:nvSpPr>
          <p:cNvPr id="38" name="TextBox 37"/>
          <p:cNvSpPr txBox="1"/>
          <p:nvPr/>
        </p:nvSpPr>
        <p:spPr>
          <a:xfrm>
            <a:off x="8126702" y="5574268"/>
            <a:ext cx="652743" cy="369332"/>
          </a:xfrm>
          <a:prstGeom prst="rect">
            <a:avLst/>
          </a:prstGeom>
          <a:noFill/>
        </p:spPr>
        <p:txBody>
          <a:bodyPr wrap="none" rtlCol="0">
            <a:spAutoFit/>
          </a:bodyPr>
          <a:lstStyle/>
          <a:p>
            <a:r>
              <a:rPr lang="en-IN" dirty="0"/>
              <a:t>3254</a:t>
            </a:r>
            <a:endParaRPr lang="en-US" dirty="0"/>
          </a:p>
        </p:txBody>
      </p:sp>
      <p:grpSp>
        <p:nvGrpSpPr>
          <p:cNvPr id="39" name="Group 38"/>
          <p:cNvGrpSpPr/>
          <p:nvPr/>
        </p:nvGrpSpPr>
        <p:grpSpPr>
          <a:xfrm>
            <a:off x="508738" y="4179750"/>
            <a:ext cx="694422" cy="861119"/>
            <a:chOff x="238775" y="4179749"/>
            <a:chExt cx="694422" cy="861119"/>
          </a:xfrm>
        </p:grpSpPr>
        <p:sp>
          <p:nvSpPr>
            <p:cNvPr id="40" name="TextBox 39"/>
            <p:cNvSpPr txBox="1"/>
            <p:nvPr/>
          </p:nvSpPr>
          <p:spPr>
            <a:xfrm>
              <a:off x="238775" y="4179749"/>
              <a:ext cx="694422" cy="369332"/>
            </a:xfrm>
            <a:prstGeom prst="rect">
              <a:avLst/>
            </a:prstGeom>
            <a:noFill/>
          </p:spPr>
          <p:txBody>
            <a:bodyPr wrap="none" rtlCol="0">
              <a:spAutoFit/>
            </a:bodyPr>
            <a:lstStyle/>
            <a:p>
              <a:pPr algn="ctr"/>
              <a:r>
                <a:rPr lang="en-IN" b="1" dirty="0">
                  <a:solidFill>
                    <a:srgbClr val="C00000"/>
                  </a:solidFill>
                </a:rPr>
                <a:t>SAVE</a:t>
              </a:r>
              <a:endParaRPr lang="en-US" b="1" dirty="0">
                <a:solidFill>
                  <a:srgbClr val="C00000"/>
                </a:solidFill>
              </a:endParaRPr>
            </a:p>
          </p:txBody>
        </p:sp>
        <p:cxnSp>
          <p:nvCxnSpPr>
            <p:cNvPr id="41" name="Straight Arrow Connector 40"/>
            <p:cNvCxnSpPr>
              <a:stCxn id="40" idx="2"/>
            </p:cNvCxnSpPr>
            <p:nvPr/>
          </p:nvCxnSpPr>
          <p:spPr>
            <a:xfrm>
              <a:off x="585986" y="4549081"/>
              <a:ext cx="0" cy="49178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42" name="Group 41"/>
          <p:cNvGrpSpPr/>
          <p:nvPr/>
        </p:nvGrpSpPr>
        <p:grpSpPr>
          <a:xfrm>
            <a:off x="879563" y="4495800"/>
            <a:ext cx="696024" cy="545068"/>
            <a:chOff x="609600" y="4495800"/>
            <a:chExt cx="696024" cy="545068"/>
          </a:xfrm>
        </p:grpSpPr>
        <p:sp>
          <p:nvSpPr>
            <p:cNvPr id="43" name="TextBox 42"/>
            <p:cNvSpPr txBox="1"/>
            <p:nvPr/>
          </p:nvSpPr>
          <p:spPr>
            <a:xfrm>
              <a:off x="609600" y="4495800"/>
              <a:ext cx="696024" cy="369332"/>
            </a:xfrm>
            <a:prstGeom prst="rect">
              <a:avLst/>
            </a:prstGeom>
            <a:noFill/>
          </p:spPr>
          <p:txBody>
            <a:bodyPr wrap="none" rtlCol="0">
              <a:spAutoFit/>
            </a:bodyPr>
            <a:lstStyle/>
            <a:p>
              <a:pPr algn="ctr"/>
              <a:r>
                <a:rPr lang="en-IN" b="1" dirty="0">
                  <a:solidFill>
                    <a:srgbClr val="C00000"/>
                  </a:solidFill>
                </a:rPr>
                <a:t>PRED</a:t>
              </a:r>
              <a:endParaRPr lang="en-US" b="1" dirty="0">
                <a:solidFill>
                  <a:srgbClr val="C00000"/>
                </a:solidFill>
              </a:endParaRPr>
            </a:p>
          </p:txBody>
        </p:sp>
        <p:cxnSp>
          <p:nvCxnSpPr>
            <p:cNvPr id="44" name="Straight Arrow Connector 43"/>
            <p:cNvCxnSpPr>
              <a:stCxn id="43" idx="2"/>
              <a:endCxn id="6" idx="0"/>
            </p:cNvCxnSpPr>
            <p:nvPr/>
          </p:nvCxnSpPr>
          <p:spPr>
            <a:xfrm flipH="1">
              <a:off x="945049" y="4865132"/>
              <a:ext cx="12563" cy="17573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45" name="TextBox 44"/>
          <p:cNvSpPr txBox="1"/>
          <p:nvPr/>
        </p:nvSpPr>
        <p:spPr>
          <a:xfrm>
            <a:off x="8771479" y="6075402"/>
            <a:ext cx="683200" cy="369332"/>
          </a:xfrm>
          <a:prstGeom prst="rect">
            <a:avLst/>
          </a:prstGeom>
          <a:noFill/>
        </p:spPr>
        <p:txBody>
          <a:bodyPr wrap="none" rtlCol="0">
            <a:spAutoFit/>
          </a:bodyPr>
          <a:lstStyle/>
          <a:p>
            <a:r>
              <a:rPr lang="en-IN" b="1" dirty="0">
                <a:solidFill>
                  <a:srgbClr val="C00000"/>
                </a:solidFill>
              </a:rPr>
              <a:t>LAST</a:t>
            </a:r>
            <a:endParaRPr lang="en-US" b="1" dirty="0">
              <a:solidFill>
                <a:srgbClr val="C00000"/>
              </a:solidFill>
            </a:endParaRPr>
          </a:p>
        </p:txBody>
      </p:sp>
      <p:cxnSp>
        <p:nvCxnSpPr>
          <p:cNvPr id="46" name="Straight Arrow Connector 45"/>
          <p:cNvCxnSpPr>
            <a:stCxn id="45" idx="0"/>
          </p:cNvCxnSpPr>
          <p:nvPr/>
        </p:nvCxnSpPr>
        <p:spPr>
          <a:xfrm flipV="1">
            <a:off x="9113080" y="5542002"/>
            <a:ext cx="5525" cy="5334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47" name="TextBox 46"/>
          <p:cNvSpPr txBox="1"/>
          <p:nvPr/>
        </p:nvSpPr>
        <p:spPr>
          <a:xfrm>
            <a:off x="235235" y="848694"/>
            <a:ext cx="5760000" cy="3046988"/>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1600" b="1" dirty="0">
                <a:solidFill>
                  <a:schemeClr val="tx2"/>
                </a:solidFill>
                <a:latin typeface="Consolas" pitchFamily="49" charset="0"/>
                <a:cs typeface="Consolas" pitchFamily="49" charset="0"/>
              </a:rPr>
              <a:t>1. [Is Empty List?]</a:t>
            </a:r>
          </a:p>
          <a:p>
            <a:pPr marL="444500"/>
            <a:r>
              <a:rPr lang="en-IN" sz="1600" b="1" dirty="0">
                <a:solidFill>
                  <a:schemeClr val="tx2">
                    <a:lumMod val="75000"/>
                  </a:schemeClr>
                </a:solidFill>
                <a:latin typeface="Consolas" pitchFamily="49" charset="0"/>
                <a:cs typeface="Consolas" pitchFamily="49" charset="0"/>
              </a:rPr>
              <a:t>IF</a:t>
            </a:r>
            <a:r>
              <a:rPr lang="en-IN" sz="1600" dirty="0">
                <a:latin typeface="Consolas" pitchFamily="49" charset="0"/>
                <a:cs typeface="Consolas" pitchFamily="49" charset="0"/>
              </a:rPr>
              <a:t>   FIRST = NULL</a:t>
            </a:r>
          </a:p>
          <a:p>
            <a:pPr marL="444500"/>
            <a:r>
              <a:rPr lang="en-IN" sz="1600" b="1" dirty="0">
                <a:solidFill>
                  <a:schemeClr val="tx2">
                    <a:lumMod val="75000"/>
                  </a:schemeClr>
                </a:solidFill>
                <a:latin typeface="Consolas" pitchFamily="49" charset="0"/>
                <a:cs typeface="Consolas" pitchFamily="49" charset="0"/>
              </a:rPr>
              <a:t>THEN</a:t>
            </a:r>
            <a:r>
              <a:rPr lang="en-IN" sz="1600" dirty="0">
                <a:solidFill>
                  <a:schemeClr val="tx2">
                    <a:lumMod val="75000"/>
                  </a:schemeClr>
                </a:solidFill>
                <a:latin typeface="Consolas" pitchFamily="49" charset="0"/>
                <a:cs typeface="Consolas" pitchFamily="49" charset="0"/>
              </a:rPr>
              <a:t> </a:t>
            </a:r>
            <a:r>
              <a:rPr lang="en-IN" sz="1600" dirty="0">
                <a:latin typeface="Consolas" pitchFamily="49" charset="0"/>
                <a:cs typeface="Consolas" pitchFamily="49" charset="0"/>
              </a:rPr>
              <a:t>write(‘Linked List is Empty’)</a:t>
            </a:r>
          </a:p>
          <a:p>
            <a:pPr marL="444500"/>
            <a:r>
              <a:rPr lang="en-IN" sz="1600" dirty="0">
                <a:latin typeface="Consolas" pitchFamily="49" charset="0"/>
                <a:cs typeface="Consolas" pitchFamily="49" charset="0"/>
              </a:rPr>
              <a:t>Return</a:t>
            </a:r>
          </a:p>
          <a:p>
            <a:r>
              <a:rPr lang="en-IN" sz="1600" b="1" dirty="0">
                <a:solidFill>
                  <a:schemeClr val="tx2"/>
                </a:solidFill>
                <a:latin typeface="Consolas" pitchFamily="49" charset="0"/>
                <a:cs typeface="Consolas" pitchFamily="49" charset="0"/>
              </a:rPr>
              <a:t>2. [Initialize Search for X]</a:t>
            </a:r>
          </a:p>
          <a:p>
            <a:pPr marL="444500"/>
            <a:r>
              <a:rPr lang="en-IN" sz="1600" dirty="0">
                <a:latin typeface="Consolas" pitchFamily="49" charset="0"/>
                <a:cs typeface="Consolas" pitchFamily="49" charset="0"/>
              </a:rPr>
              <a:t>SAVE </a:t>
            </a:r>
            <a:r>
              <a:rPr lang="en-IN" sz="1600" dirty="0">
                <a:latin typeface="Consolas" pitchFamily="49" charset="0"/>
                <a:cs typeface="Consolas" pitchFamily="49" charset="0"/>
                <a:sym typeface="Wingdings" pitchFamily="2" charset="2"/>
              </a:rPr>
              <a:t> FIRST</a:t>
            </a:r>
            <a:endParaRPr lang="en-IN" sz="1600" dirty="0">
              <a:latin typeface="Consolas" pitchFamily="49" charset="0"/>
              <a:cs typeface="Consolas" pitchFamily="49" charset="0"/>
            </a:endParaRPr>
          </a:p>
          <a:p>
            <a:r>
              <a:rPr lang="en-IN" sz="1600" b="1" dirty="0">
                <a:solidFill>
                  <a:schemeClr val="tx2"/>
                </a:solidFill>
                <a:latin typeface="Consolas" pitchFamily="49" charset="0"/>
                <a:cs typeface="Consolas" pitchFamily="49" charset="0"/>
              </a:rPr>
              <a:t>3. [Find X]</a:t>
            </a:r>
          </a:p>
          <a:p>
            <a:pPr marL="444500"/>
            <a:r>
              <a:rPr lang="en-IN" sz="1600" b="1" dirty="0">
                <a:solidFill>
                  <a:schemeClr val="tx2">
                    <a:lumMod val="75000"/>
                  </a:schemeClr>
                </a:solidFill>
                <a:latin typeface="Consolas" pitchFamily="49" charset="0"/>
                <a:cs typeface="Consolas" pitchFamily="49" charset="0"/>
              </a:rPr>
              <a:t>Repeat</a:t>
            </a:r>
            <a:r>
              <a:rPr lang="en-IN" sz="1600" dirty="0">
                <a:solidFill>
                  <a:schemeClr val="tx2">
                    <a:lumMod val="75000"/>
                  </a:schemeClr>
                </a:solidFill>
                <a:latin typeface="Consolas" pitchFamily="49" charset="0"/>
                <a:cs typeface="Consolas" pitchFamily="49" charset="0"/>
              </a:rPr>
              <a:t> </a:t>
            </a:r>
            <a:r>
              <a:rPr lang="en-IN" sz="1600" dirty="0">
                <a:latin typeface="Consolas" pitchFamily="49" charset="0"/>
                <a:cs typeface="Consolas" pitchFamily="49" charset="0"/>
              </a:rPr>
              <a:t>thru step5 while SAVE≠X &amp; SAVE≠LAST</a:t>
            </a:r>
          </a:p>
          <a:p>
            <a:r>
              <a:rPr lang="en-IN" sz="1600" b="1" dirty="0">
                <a:solidFill>
                  <a:schemeClr val="tx2"/>
                </a:solidFill>
                <a:latin typeface="Consolas" pitchFamily="49" charset="0"/>
                <a:cs typeface="Consolas" pitchFamily="49" charset="0"/>
              </a:rPr>
              <a:t>4. [Update predecessor marker]</a:t>
            </a:r>
          </a:p>
          <a:p>
            <a:r>
              <a:rPr lang="en-IN" sz="1600" dirty="0">
                <a:latin typeface="Consolas" pitchFamily="49" charset="0"/>
                <a:cs typeface="Consolas" pitchFamily="49" charset="0"/>
              </a:rPr>
              <a:t>    PRED </a:t>
            </a:r>
            <a:r>
              <a:rPr lang="en-IN" sz="1600" dirty="0">
                <a:latin typeface="Consolas" pitchFamily="49" charset="0"/>
                <a:cs typeface="Consolas" pitchFamily="49" charset="0"/>
                <a:sym typeface="Wingdings" pitchFamily="2" charset="2"/>
              </a:rPr>
              <a:t> </a:t>
            </a:r>
            <a:r>
              <a:rPr lang="en-IN" sz="1600" dirty="0">
                <a:latin typeface="Consolas" pitchFamily="49" charset="0"/>
                <a:cs typeface="Consolas" pitchFamily="49" charset="0"/>
              </a:rPr>
              <a:t>SAVE</a:t>
            </a:r>
          </a:p>
          <a:p>
            <a:r>
              <a:rPr lang="en-IN" sz="1600" b="1" dirty="0">
                <a:solidFill>
                  <a:schemeClr val="tx2"/>
                </a:solidFill>
                <a:latin typeface="Consolas" pitchFamily="49" charset="0"/>
                <a:cs typeface="Consolas" pitchFamily="49" charset="0"/>
              </a:rPr>
              <a:t>5. [Move to next node]</a:t>
            </a:r>
          </a:p>
          <a:p>
            <a:r>
              <a:rPr lang="en-IN" sz="1600" b="1" dirty="0">
                <a:solidFill>
                  <a:schemeClr val="tx2">
                    <a:lumMod val="60000"/>
                    <a:lumOff val="40000"/>
                  </a:schemeClr>
                </a:solidFill>
                <a:latin typeface="Consolas" pitchFamily="49" charset="0"/>
                <a:cs typeface="Consolas" pitchFamily="49" charset="0"/>
              </a:rPr>
              <a:t>    </a:t>
            </a:r>
            <a:r>
              <a:rPr lang="en-IN" sz="1600" dirty="0">
                <a:latin typeface="Consolas" pitchFamily="49" charset="0"/>
                <a:cs typeface="Consolas" pitchFamily="49" charset="0"/>
              </a:rPr>
              <a:t>SAVE </a:t>
            </a:r>
            <a:r>
              <a:rPr lang="en-IN" sz="1600" dirty="0">
                <a:latin typeface="Consolas" pitchFamily="49" charset="0"/>
                <a:cs typeface="Consolas" pitchFamily="49" charset="0"/>
                <a:sym typeface="Wingdings" pitchFamily="2" charset="2"/>
              </a:rPr>
              <a:t> </a:t>
            </a:r>
            <a:r>
              <a:rPr lang="en-IN" sz="1600" dirty="0">
                <a:latin typeface="Consolas" pitchFamily="49" charset="0"/>
                <a:cs typeface="Consolas" pitchFamily="49" charset="0"/>
              </a:rPr>
              <a:t>LINK(SAVE)</a:t>
            </a:r>
          </a:p>
        </p:txBody>
      </p:sp>
      <p:sp>
        <p:nvSpPr>
          <p:cNvPr id="48" name="TextBox 47"/>
          <p:cNvSpPr txBox="1"/>
          <p:nvPr/>
        </p:nvSpPr>
        <p:spPr>
          <a:xfrm>
            <a:off x="6166588" y="848694"/>
            <a:ext cx="5760000" cy="3385542"/>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1600" b="1" dirty="0">
                <a:solidFill>
                  <a:schemeClr val="tx2"/>
                </a:solidFill>
                <a:latin typeface="Consolas" pitchFamily="49" charset="0"/>
                <a:cs typeface="Consolas" pitchFamily="49" charset="0"/>
              </a:rPr>
              <a:t>6. [End of Linked List?]</a:t>
            </a:r>
          </a:p>
          <a:p>
            <a:r>
              <a:rPr lang="en-IN" sz="1600" dirty="0">
                <a:latin typeface="Consolas" pitchFamily="49" charset="0"/>
                <a:cs typeface="Consolas" pitchFamily="49" charset="0"/>
              </a:rPr>
              <a:t>    </a:t>
            </a:r>
            <a:r>
              <a:rPr lang="en-IN" sz="1600" b="1" dirty="0">
                <a:solidFill>
                  <a:schemeClr val="tx2">
                    <a:lumMod val="75000"/>
                  </a:schemeClr>
                </a:solidFill>
                <a:latin typeface="Consolas" pitchFamily="49" charset="0"/>
                <a:cs typeface="Consolas" pitchFamily="49" charset="0"/>
              </a:rPr>
              <a:t>IF</a:t>
            </a:r>
            <a:r>
              <a:rPr lang="en-IN" sz="1600" dirty="0">
                <a:latin typeface="Consolas" pitchFamily="49" charset="0"/>
                <a:cs typeface="Consolas" pitchFamily="49" charset="0"/>
              </a:rPr>
              <a:t>	 SAVE ≠ X</a:t>
            </a:r>
          </a:p>
          <a:p>
            <a:r>
              <a:rPr lang="en-IN" sz="1600" dirty="0">
                <a:latin typeface="Consolas" pitchFamily="49" charset="0"/>
                <a:cs typeface="Consolas" pitchFamily="49" charset="0"/>
              </a:rPr>
              <a:t>    </a:t>
            </a:r>
            <a:r>
              <a:rPr lang="en-IN" sz="1600" b="1" dirty="0">
                <a:solidFill>
                  <a:schemeClr val="tx2">
                    <a:lumMod val="75000"/>
                  </a:schemeClr>
                </a:solidFill>
                <a:latin typeface="Consolas" pitchFamily="49" charset="0"/>
                <a:cs typeface="Consolas" pitchFamily="49" charset="0"/>
              </a:rPr>
              <a:t>THEN</a:t>
            </a:r>
            <a:r>
              <a:rPr lang="en-IN" sz="1600" dirty="0">
                <a:solidFill>
                  <a:schemeClr val="tx2">
                    <a:lumMod val="75000"/>
                  </a:schemeClr>
                </a:solidFill>
                <a:latin typeface="Consolas" pitchFamily="49" charset="0"/>
                <a:cs typeface="Consolas" pitchFamily="49" charset="0"/>
              </a:rPr>
              <a:t> </a:t>
            </a:r>
            <a:r>
              <a:rPr lang="en-IN" sz="1600" dirty="0">
                <a:latin typeface="Consolas" pitchFamily="49" charset="0"/>
                <a:cs typeface="Consolas" pitchFamily="49" charset="0"/>
              </a:rPr>
              <a:t>write(‘Node not found’)</a:t>
            </a:r>
          </a:p>
          <a:p>
            <a:r>
              <a:rPr lang="en-IN" sz="1600" dirty="0">
                <a:latin typeface="Consolas" pitchFamily="49" charset="0"/>
                <a:cs typeface="Consolas" pitchFamily="49" charset="0"/>
              </a:rPr>
              <a:t> 	 Return </a:t>
            </a:r>
          </a:p>
          <a:p>
            <a:r>
              <a:rPr lang="en-IN" sz="1600" b="1" dirty="0">
                <a:solidFill>
                  <a:schemeClr val="tx2"/>
                </a:solidFill>
                <a:latin typeface="Consolas" pitchFamily="49" charset="0"/>
                <a:cs typeface="Consolas" pitchFamily="49" charset="0"/>
              </a:rPr>
              <a:t>7. [Delete X]</a:t>
            </a:r>
          </a:p>
          <a:p>
            <a:r>
              <a:rPr lang="en-IN" sz="1600" dirty="0">
                <a:latin typeface="Consolas" pitchFamily="49" charset="0"/>
                <a:cs typeface="Consolas" pitchFamily="49" charset="0"/>
              </a:rPr>
              <a:t>    </a:t>
            </a:r>
            <a:r>
              <a:rPr lang="en-IN" sz="1600" b="1" dirty="0">
                <a:solidFill>
                  <a:schemeClr val="tx2">
                    <a:lumMod val="75000"/>
                  </a:schemeClr>
                </a:solidFill>
                <a:latin typeface="Consolas" pitchFamily="49" charset="0"/>
                <a:cs typeface="Consolas" pitchFamily="49" charset="0"/>
              </a:rPr>
              <a:t>IF</a:t>
            </a:r>
            <a:r>
              <a:rPr lang="en-IN" sz="1600" dirty="0">
                <a:latin typeface="Consolas" pitchFamily="49" charset="0"/>
                <a:cs typeface="Consolas" pitchFamily="49" charset="0"/>
              </a:rPr>
              <a:t>	 X = FIRST</a:t>
            </a:r>
          </a:p>
          <a:p>
            <a:r>
              <a:rPr lang="en-IN" sz="1600" dirty="0">
                <a:latin typeface="Consolas" pitchFamily="49" charset="0"/>
                <a:cs typeface="Consolas" pitchFamily="49" charset="0"/>
              </a:rPr>
              <a:t>    </a:t>
            </a:r>
            <a:r>
              <a:rPr lang="en-IN" sz="1600" b="1" dirty="0">
                <a:solidFill>
                  <a:schemeClr val="tx2">
                    <a:lumMod val="75000"/>
                  </a:schemeClr>
                </a:solidFill>
                <a:latin typeface="Consolas" pitchFamily="49" charset="0"/>
                <a:cs typeface="Consolas" pitchFamily="49" charset="0"/>
              </a:rPr>
              <a:t>THEN</a:t>
            </a:r>
            <a:r>
              <a:rPr lang="en-IN" sz="1600" dirty="0">
                <a:solidFill>
                  <a:schemeClr val="tx2">
                    <a:lumMod val="75000"/>
                  </a:schemeClr>
                </a:solidFill>
                <a:latin typeface="Consolas" pitchFamily="49" charset="0"/>
                <a:cs typeface="Consolas" pitchFamily="49" charset="0"/>
              </a:rPr>
              <a:t> </a:t>
            </a:r>
            <a:r>
              <a:rPr lang="en-IN" sz="1600" dirty="0">
                <a:latin typeface="Consolas" pitchFamily="49" charset="0"/>
                <a:cs typeface="Consolas" pitchFamily="49" charset="0"/>
              </a:rPr>
              <a:t>FIRST</a:t>
            </a:r>
            <a:r>
              <a:rPr lang="en-IN" sz="1600" dirty="0">
                <a:latin typeface="Consolas" pitchFamily="49" charset="0"/>
                <a:cs typeface="Consolas" pitchFamily="49" charset="0"/>
                <a:sym typeface="Wingdings" pitchFamily="2" charset="2"/>
              </a:rPr>
              <a:t></a:t>
            </a:r>
            <a:r>
              <a:rPr lang="en-IN" sz="1600" dirty="0">
                <a:latin typeface="Consolas" pitchFamily="49" charset="0"/>
                <a:cs typeface="Consolas" pitchFamily="49" charset="0"/>
              </a:rPr>
              <a:t>LINK(FIRST)</a:t>
            </a:r>
          </a:p>
          <a:p>
            <a:r>
              <a:rPr lang="en-IN" sz="1600" dirty="0">
                <a:latin typeface="Consolas" pitchFamily="49" charset="0"/>
                <a:cs typeface="Consolas" pitchFamily="49" charset="0"/>
              </a:rPr>
              <a:t> 	 LINK(LAST)</a:t>
            </a:r>
            <a:r>
              <a:rPr lang="en-IN" sz="1600" dirty="0">
                <a:latin typeface="Consolas" pitchFamily="49" charset="0"/>
                <a:cs typeface="Consolas" pitchFamily="49" charset="0"/>
                <a:sym typeface="Wingdings" pitchFamily="2" charset="2"/>
              </a:rPr>
              <a:t></a:t>
            </a:r>
            <a:r>
              <a:rPr lang="en-IN" sz="1600" dirty="0">
                <a:latin typeface="Consolas" pitchFamily="49" charset="0"/>
                <a:cs typeface="Consolas" pitchFamily="49" charset="0"/>
              </a:rPr>
              <a:t>FIRST</a:t>
            </a:r>
          </a:p>
          <a:p>
            <a:r>
              <a:rPr lang="en-IN" sz="1600" dirty="0">
                <a:latin typeface="Consolas" pitchFamily="49" charset="0"/>
                <a:cs typeface="Consolas" pitchFamily="49" charset="0"/>
              </a:rPr>
              <a:t>    </a:t>
            </a:r>
            <a:r>
              <a:rPr lang="en-IN" sz="1600" b="1" dirty="0">
                <a:solidFill>
                  <a:schemeClr val="tx2">
                    <a:lumMod val="75000"/>
                  </a:schemeClr>
                </a:solidFill>
                <a:latin typeface="Consolas" pitchFamily="49" charset="0"/>
                <a:cs typeface="Consolas" pitchFamily="49" charset="0"/>
              </a:rPr>
              <a:t>ELSE</a:t>
            </a:r>
            <a:r>
              <a:rPr lang="en-IN" sz="1600" dirty="0">
                <a:solidFill>
                  <a:schemeClr val="tx2">
                    <a:lumMod val="75000"/>
                  </a:schemeClr>
                </a:solidFill>
                <a:latin typeface="Consolas" pitchFamily="49" charset="0"/>
                <a:cs typeface="Consolas" pitchFamily="49" charset="0"/>
              </a:rPr>
              <a:t> </a:t>
            </a:r>
            <a:r>
              <a:rPr lang="en-IN" sz="1600" dirty="0">
                <a:latin typeface="Consolas" pitchFamily="49" charset="0"/>
                <a:cs typeface="Consolas" pitchFamily="49" charset="0"/>
              </a:rPr>
              <a:t>LINK(PRED)</a:t>
            </a:r>
            <a:r>
              <a:rPr lang="en-IN" sz="1600" dirty="0">
                <a:latin typeface="Consolas" pitchFamily="49" charset="0"/>
                <a:cs typeface="Consolas" pitchFamily="49" charset="0"/>
                <a:sym typeface="Wingdings" pitchFamily="2" charset="2"/>
              </a:rPr>
              <a:t></a:t>
            </a:r>
            <a:r>
              <a:rPr lang="en-IN" sz="1600" dirty="0">
                <a:latin typeface="Consolas" pitchFamily="49" charset="0"/>
                <a:cs typeface="Consolas" pitchFamily="49" charset="0"/>
              </a:rPr>
              <a:t>LINK(X)</a:t>
            </a:r>
          </a:p>
          <a:p>
            <a:r>
              <a:rPr lang="en-IN" sz="1600" dirty="0">
                <a:latin typeface="Consolas" pitchFamily="49" charset="0"/>
                <a:cs typeface="Consolas" pitchFamily="49" charset="0"/>
              </a:rPr>
              <a:t> 	 </a:t>
            </a:r>
            <a:r>
              <a:rPr lang="en-IN" sz="1600" b="1" dirty="0">
                <a:solidFill>
                  <a:schemeClr val="tx2">
                    <a:lumMod val="75000"/>
                  </a:schemeClr>
                </a:solidFill>
                <a:latin typeface="Consolas" pitchFamily="49" charset="0"/>
                <a:cs typeface="Consolas" pitchFamily="49" charset="0"/>
              </a:rPr>
              <a:t>IF</a:t>
            </a:r>
            <a:r>
              <a:rPr lang="en-IN" sz="1600" dirty="0">
                <a:latin typeface="Consolas" pitchFamily="49" charset="0"/>
                <a:cs typeface="Consolas" pitchFamily="49" charset="0"/>
              </a:rPr>
              <a:t>	X = LAST</a:t>
            </a:r>
          </a:p>
          <a:p>
            <a:r>
              <a:rPr lang="en-IN" sz="1600" dirty="0">
                <a:latin typeface="Consolas" pitchFamily="49" charset="0"/>
                <a:cs typeface="Consolas" pitchFamily="49" charset="0"/>
              </a:rPr>
              <a:t> 	 </a:t>
            </a:r>
            <a:r>
              <a:rPr lang="en-IN" sz="1600" b="1" dirty="0">
                <a:solidFill>
                  <a:schemeClr val="tx2">
                    <a:lumMod val="75000"/>
                  </a:schemeClr>
                </a:solidFill>
                <a:latin typeface="Consolas" pitchFamily="49" charset="0"/>
                <a:cs typeface="Consolas" pitchFamily="49" charset="0"/>
              </a:rPr>
              <a:t>THEN</a:t>
            </a:r>
            <a:r>
              <a:rPr lang="en-IN" sz="1600" dirty="0">
                <a:latin typeface="Consolas" pitchFamily="49" charset="0"/>
                <a:cs typeface="Consolas" pitchFamily="49" charset="0"/>
              </a:rPr>
              <a:t>	LAST </a:t>
            </a:r>
            <a:r>
              <a:rPr lang="en-IN" sz="1600" dirty="0">
                <a:latin typeface="Consolas" pitchFamily="49" charset="0"/>
                <a:cs typeface="Consolas" pitchFamily="49" charset="0"/>
                <a:sym typeface="Wingdings" pitchFamily="2" charset="2"/>
              </a:rPr>
              <a:t></a:t>
            </a:r>
            <a:r>
              <a:rPr lang="en-IN" sz="1600" dirty="0">
                <a:latin typeface="Consolas" pitchFamily="49" charset="0"/>
                <a:cs typeface="Consolas" pitchFamily="49" charset="0"/>
              </a:rPr>
              <a:t> PRED </a:t>
            </a:r>
          </a:p>
          <a:p>
            <a:r>
              <a:rPr lang="en-IN" sz="1600" b="1" dirty="0">
                <a:solidFill>
                  <a:schemeClr val="tx2"/>
                </a:solidFill>
                <a:latin typeface="Consolas" pitchFamily="49" charset="0"/>
                <a:cs typeface="Consolas" pitchFamily="49" charset="0"/>
              </a:rPr>
              <a:t>8. [Free Deleted Node]</a:t>
            </a:r>
          </a:p>
          <a:p>
            <a:r>
              <a:rPr lang="en-IN" sz="1600" dirty="0">
                <a:latin typeface="Consolas" pitchFamily="49" charset="0"/>
                <a:cs typeface="Consolas" pitchFamily="49" charset="0"/>
              </a:rPr>
              <a:t>    Free (X)</a:t>
            </a:r>
          </a:p>
        </p:txBody>
      </p:sp>
      <p:sp>
        <p:nvSpPr>
          <p:cNvPr id="49" name="Freeform 48"/>
          <p:cNvSpPr/>
          <p:nvPr/>
        </p:nvSpPr>
        <p:spPr>
          <a:xfrm>
            <a:off x="1184363" y="5581404"/>
            <a:ext cx="7564582" cy="855023"/>
          </a:xfrm>
          <a:custGeom>
            <a:avLst/>
            <a:gdLst>
              <a:gd name="connsiteX0" fmla="*/ 7564582 w 7564582"/>
              <a:gd name="connsiteY0" fmla="*/ 11875 h 855023"/>
              <a:gd name="connsiteX1" fmla="*/ 7564582 w 7564582"/>
              <a:gd name="connsiteY1" fmla="*/ 855023 h 855023"/>
              <a:gd name="connsiteX2" fmla="*/ 0 w 7564582"/>
              <a:gd name="connsiteY2" fmla="*/ 855023 h 855023"/>
              <a:gd name="connsiteX3" fmla="*/ 0 w 7564582"/>
              <a:gd name="connsiteY3" fmla="*/ 0 h 855023"/>
            </a:gdLst>
            <a:ahLst/>
            <a:cxnLst>
              <a:cxn ang="0">
                <a:pos x="connsiteX0" y="connsiteY0"/>
              </a:cxn>
              <a:cxn ang="0">
                <a:pos x="connsiteX1" y="connsiteY1"/>
              </a:cxn>
              <a:cxn ang="0">
                <a:pos x="connsiteX2" y="connsiteY2"/>
              </a:cxn>
              <a:cxn ang="0">
                <a:pos x="connsiteX3" y="connsiteY3"/>
              </a:cxn>
            </a:cxnLst>
            <a:rect l="l" t="t" r="r" b="b"/>
            <a:pathLst>
              <a:path w="7564582" h="855023">
                <a:moveTo>
                  <a:pt x="7564582" y="11875"/>
                </a:moveTo>
                <a:lnTo>
                  <a:pt x="7564582" y="855023"/>
                </a:lnTo>
                <a:lnTo>
                  <a:pt x="0" y="855023"/>
                </a:lnTo>
                <a:lnTo>
                  <a:pt x="0" y="0"/>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95548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childTnLst>
                          </p:cTn>
                        </p:par>
                        <p:par>
                          <p:cTn id="47" fill="hold">
                            <p:stCondLst>
                              <p:cond delay="0"/>
                            </p:stCondLst>
                            <p:childTnLst>
                              <p:par>
                                <p:cTn id="48" presetID="1" presetClass="entr" presetSubtype="0" fill="hold" nodeType="afterEffect">
                                  <p:stCondLst>
                                    <p:cond delay="0"/>
                                  </p:stCondLst>
                                  <p:childTnLst>
                                    <p:set>
                                      <p:cBhvr>
                                        <p:cTn id="49" dur="1" fill="hold">
                                          <p:stCondLst>
                                            <p:cond delay="0"/>
                                          </p:stCondLst>
                                        </p:cTn>
                                        <p:tgtEl>
                                          <p:spTgt spid="46"/>
                                        </p:tgtEl>
                                        <p:attrNameLst>
                                          <p:attrName>style.visibility</p:attrName>
                                        </p:attrNameLst>
                                      </p:cBhvr>
                                      <p:to>
                                        <p:strVal val="visible"/>
                                      </p:to>
                                    </p:set>
                                  </p:childTnLst>
                                </p:cTn>
                              </p:par>
                            </p:childTnLst>
                          </p:cTn>
                        </p:par>
                        <p:par>
                          <p:cTn id="50" fill="hold">
                            <p:stCondLst>
                              <p:cond delay="0"/>
                            </p:stCondLst>
                            <p:childTnLst>
                              <p:par>
                                <p:cTn id="51" presetID="1" presetClass="entr" presetSubtype="0" fill="hold" grpId="0" nodeType="afterEffect">
                                  <p:stCondLst>
                                    <p:cond delay="0"/>
                                  </p:stCondLst>
                                  <p:childTnLst>
                                    <p:set>
                                      <p:cBhvr>
                                        <p:cTn id="52" dur="1" fill="hold">
                                          <p:stCondLst>
                                            <p:cond delay="0"/>
                                          </p:stCondLst>
                                        </p:cTn>
                                        <p:tgtEl>
                                          <p:spTgt spid="4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4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63" presetClass="path" presetSubtype="0" accel="50000" decel="50000" fill="hold" nodeType="clickEffect">
                                  <p:stCondLst>
                                    <p:cond delay="0"/>
                                  </p:stCondLst>
                                  <p:childTnLst>
                                    <p:animMotion origin="layout" path="M 0.01068 0.00486 L 0.13412 0.00486 " pathEditMode="relative" rAng="0" ptsTypes="AA">
                                      <p:cBhvr>
                                        <p:cTn id="68" dur="2000" fill="hold"/>
                                        <p:tgtEl>
                                          <p:spTgt spid="39"/>
                                        </p:tgtEl>
                                        <p:attrNameLst>
                                          <p:attrName>ppt_x</p:attrName>
                                          <p:attrName>ppt_y</p:attrName>
                                        </p:attrNameLst>
                                      </p:cBhvr>
                                      <p:rCtr x="6172" y="0"/>
                                    </p:animMotion>
                                  </p:childTnLst>
                                </p:cTn>
                              </p:par>
                            </p:childTnLst>
                          </p:cTn>
                        </p:par>
                      </p:childTnLst>
                    </p:cTn>
                  </p:par>
                  <p:par>
                    <p:cTn id="69" fill="hold">
                      <p:stCondLst>
                        <p:cond delay="indefinite"/>
                      </p:stCondLst>
                      <p:childTnLst>
                        <p:par>
                          <p:cTn id="70" fill="hold">
                            <p:stCondLst>
                              <p:cond delay="0"/>
                            </p:stCondLst>
                            <p:childTnLst>
                              <p:par>
                                <p:cTn id="71" presetID="63" presetClass="path" presetSubtype="0" accel="50000" decel="50000" fill="hold" nodeType="clickEffect">
                                  <p:stCondLst>
                                    <p:cond delay="0"/>
                                  </p:stCondLst>
                                  <p:childTnLst>
                                    <p:animMotion origin="layout" path="M -1.04167E-6 1.11111E-6 L 0.07149 1.11111E-6 " pathEditMode="relative" rAng="0" ptsTypes="AA">
                                      <p:cBhvr>
                                        <p:cTn id="72" dur="2000" fill="hold"/>
                                        <p:tgtEl>
                                          <p:spTgt spid="42"/>
                                        </p:tgtEl>
                                        <p:attrNameLst>
                                          <p:attrName>ppt_x</p:attrName>
                                          <p:attrName>ppt_y</p:attrName>
                                        </p:attrNameLst>
                                      </p:cBhvr>
                                      <p:rCtr x="3568" y="0"/>
                                    </p:animMotion>
                                  </p:childTnLst>
                                </p:cTn>
                              </p:par>
                            </p:childTnLst>
                          </p:cTn>
                        </p:par>
                      </p:childTnLst>
                    </p:cTn>
                  </p:par>
                  <p:par>
                    <p:cTn id="73" fill="hold">
                      <p:stCondLst>
                        <p:cond delay="indefinite"/>
                      </p:stCondLst>
                      <p:childTnLst>
                        <p:par>
                          <p:cTn id="74" fill="hold">
                            <p:stCondLst>
                              <p:cond delay="0"/>
                            </p:stCondLst>
                            <p:childTnLst>
                              <p:par>
                                <p:cTn id="75" presetID="63" presetClass="path" presetSubtype="0" accel="50000" decel="50000" fill="hold" nodeType="clickEffect">
                                  <p:stCondLst>
                                    <p:cond delay="0"/>
                                  </p:stCondLst>
                                  <p:childTnLst>
                                    <p:animMotion origin="layout" path="M 0.13412 0.00209 L 0.23347 0.00209 " pathEditMode="relative" rAng="0" ptsTypes="AA">
                                      <p:cBhvr>
                                        <p:cTn id="76" dur="2000" fill="hold"/>
                                        <p:tgtEl>
                                          <p:spTgt spid="39"/>
                                        </p:tgtEl>
                                        <p:attrNameLst>
                                          <p:attrName>ppt_x</p:attrName>
                                          <p:attrName>ppt_y</p:attrName>
                                        </p:attrNameLst>
                                      </p:cBhvr>
                                      <p:rCtr x="4961" y="0"/>
                                    </p:animMotion>
                                  </p:childTnLst>
                                </p:cTn>
                              </p:par>
                            </p:childTnLst>
                          </p:cTn>
                        </p:par>
                      </p:childTnLst>
                    </p:cTn>
                  </p:par>
                  <p:par>
                    <p:cTn id="77" fill="hold">
                      <p:stCondLst>
                        <p:cond delay="indefinite"/>
                      </p:stCondLst>
                      <p:childTnLst>
                        <p:par>
                          <p:cTn id="78" fill="hold">
                            <p:stCondLst>
                              <p:cond delay="0"/>
                            </p:stCondLst>
                            <p:childTnLst>
                              <p:par>
                                <p:cTn id="79" presetID="63" presetClass="path" presetSubtype="0" accel="50000" decel="50000" fill="hold" nodeType="clickEffect">
                                  <p:stCondLst>
                                    <p:cond delay="0"/>
                                  </p:stCondLst>
                                  <p:childTnLst>
                                    <p:animMotion origin="layout" path="M 0.07149 1.11111E-6 L 0.16927 1.11111E-6 " pathEditMode="relative" rAng="0" ptsTypes="AA">
                                      <p:cBhvr>
                                        <p:cTn id="80" dur="2000" fill="hold"/>
                                        <p:tgtEl>
                                          <p:spTgt spid="42"/>
                                        </p:tgtEl>
                                        <p:attrNameLst>
                                          <p:attrName>ppt_x</p:attrName>
                                          <p:attrName>ppt_y</p:attrName>
                                        </p:attrNameLst>
                                      </p:cBhvr>
                                      <p:rCtr x="4883" y="0"/>
                                    </p:animMotion>
                                  </p:childTnLst>
                                </p:cTn>
                              </p:par>
                            </p:childTnLst>
                          </p:cTn>
                        </p:par>
                      </p:childTnLst>
                    </p:cTn>
                  </p:par>
                  <p:par>
                    <p:cTn id="81" fill="hold">
                      <p:stCondLst>
                        <p:cond delay="indefinite"/>
                      </p:stCondLst>
                      <p:childTnLst>
                        <p:par>
                          <p:cTn id="82" fill="hold">
                            <p:stCondLst>
                              <p:cond delay="0"/>
                            </p:stCondLst>
                            <p:childTnLst>
                              <p:par>
                                <p:cTn id="83" presetID="63" presetClass="path" presetSubtype="0" accel="50000" decel="50000" fill="hold" nodeType="clickEffect">
                                  <p:stCondLst>
                                    <p:cond delay="0"/>
                                  </p:stCondLst>
                                  <p:childTnLst>
                                    <p:animMotion origin="layout" path="M 0.22383 0.00093 L 0.36706 0.00093 " pathEditMode="relative" rAng="0" ptsTypes="AA">
                                      <p:cBhvr>
                                        <p:cTn id="84" dur="2000" fill="hold"/>
                                        <p:tgtEl>
                                          <p:spTgt spid="39"/>
                                        </p:tgtEl>
                                        <p:attrNameLst>
                                          <p:attrName>ppt_x</p:attrName>
                                          <p:attrName>ppt_y</p:attrName>
                                        </p:attrNameLst>
                                      </p:cBhvr>
                                      <p:rCtr x="7161" y="0"/>
                                    </p:animMotion>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30"/>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31"/>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32"/>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xit" presetSubtype="0" fill="hold" nodeType="clickEffect">
                                  <p:stCondLst>
                                    <p:cond delay="0"/>
                                  </p:stCondLst>
                                  <p:childTnLst>
                                    <p:set>
                                      <p:cBhvr>
                                        <p:cTn id="96" dur="1" fill="hold">
                                          <p:stCondLst>
                                            <p:cond delay="0"/>
                                          </p:stCondLst>
                                        </p:cTn>
                                        <p:tgtEl>
                                          <p:spTgt spid="13"/>
                                        </p:tgtEl>
                                        <p:attrNameLst>
                                          <p:attrName>style.visibility</p:attrName>
                                        </p:attrNameLst>
                                      </p:cBhvr>
                                      <p:to>
                                        <p:strVal val="hidden"/>
                                      </p:to>
                                    </p:set>
                                  </p:childTnLst>
                                </p:cTn>
                              </p:par>
                              <p:par>
                                <p:cTn id="97" presetID="1" presetClass="exit" presetSubtype="0" fill="hold" nodeType="withEffect">
                                  <p:stCondLst>
                                    <p:cond delay="0"/>
                                  </p:stCondLst>
                                  <p:childTnLst>
                                    <p:set>
                                      <p:cBhvr>
                                        <p:cTn id="98" dur="1" fill="hold">
                                          <p:stCondLst>
                                            <p:cond delay="0"/>
                                          </p:stCondLst>
                                        </p:cTn>
                                        <p:tgtEl>
                                          <p:spTgt spid="24"/>
                                        </p:tgtEl>
                                        <p:attrNameLst>
                                          <p:attrName>style.visibility</p:attrName>
                                        </p:attrNameLst>
                                      </p:cBhvr>
                                      <p:to>
                                        <p:strVal val="hidden"/>
                                      </p:to>
                                    </p:set>
                                  </p:childTnLst>
                                </p:cTn>
                              </p:par>
                              <p:par>
                                <p:cTn id="99" presetID="1" presetClass="exit" presetSubtype="0" fill="hold" nodeType="withEffect">
                                  <p:stCondLst>
                                    <p:cond delay="0"/>
                                  </p:stCondLst>
                                  <p:childTnLst>
                                    <p:set>
                                      <p:cBhvr>
                                        <p:cTn id="100" dur="1" fill="hold">
                                          <p:stCondLst>
                                            <p:cond delay="0"/>
                                          </p:stCondLst>
                                        </p:cTn>
                                        <p:tgtEl>
                                          <p:spTgt spid="25"/>
                                        </p:tgtEl>
                                        <p:attrNameLst>
                                          <p:attrName>style.visibility</p:attrName>
                                        </p:attrNameLst>
                                      </p:cBhvr>
                                      <p:to>
                                        <p:strVal val="hidden"/>
                                      </p:to>
                                    </p:set>
                                  </p:childTnLst>
                                </p:cTn>
                              </p:par>
                              <p:par>
                                <p:cTn id="101" presetID="1" presetClass="exit" presetSubtype="0" fill="hold" grpId="1" nodeType="withEffect">
                                  <p:stCondLst>
                                    <p:cond delay="0"/>
                                  </p:stCondLst>
                                  <p:childTnLst>
                                    <p:set>
                                      <p:cBhvr>
                                        <p:cTn id="102" dur="1" fill="hold">
                                          <p:stCondLst>
                                            <p:cond delay="0"/>
                                          </p:stCondLst>
                                        </p:cTn>
                                        <p:tgtEl>
                                          <p:spTgt spid="36"/>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3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3" grpId="0"/>
      <p:bldP spid="34" grpId="0"/>
      <p:bldP spid="35" grpId="0"/>
      <p:bldP spid="36" grpId="0"/>
      <p:bldP spid="36" grpId="1"/>
      <p:bldP spid="37" grpId="0"/>
      <p:bldP spid="38" grpId="0"/>
      <p:bldP spid="45" grpId="0"/>
      <p:bldP spid="47" grpId="0" animBg="1"/>
      <p:bldP spid="48" grpId="0" animBg="1"/>
      <p:bldP spid="4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Circularly Linked List with Header Node</a:t>
            </a:r>
            <a:endParaRPr lang="en-US" dirty="0"/>
          </a:p>
        </p:txBody>
      </p:sp>
      <p:sp>
        <p:nvSpPr>
          <p:cNvPr id="3" name="Content Placeholder 2"/>
          <p:cNvSpPr>
            <a:spLocks noGrp="1"/>
          </p:cNvSpPr>
          <p:nvPr>
            <p:ph idx="1"/>
          </p:nvPr>
        </p:nvSpPr>
        <p:spPr>
          <a:xfrm>
            <a:off x="131180" y="876144"/>
            <a:ext cx="11929641" cy="2330043"/>
          </a:xfrm>
        </p:spPr>
        <p:txBody>
          <a:bodyPr/>
          <a:lstStyle/>
          <a:p>
            <a:r>
              <a:rPr lang="en-IN" dirty="0"/>
              <a:t>We can have special node, often referred to as </a:t>
            </a:r>
            <a:r>
              <a:rPr lang="en-IN" b="1" dirty="0">
                <a:solidFill>
                  <a:srgbClr val="C00000"/>
                </a:solidFill>
              </a:rPr>
              <a:t>Head node</a:t>
            </a:r>
            <a:r>
              <a:rPr lang="en-IN" b="1" dirty="0">
                <a:solidFill>
                  <a:srgbClr val="FF0000"/>
                </a:solidFill>
              </a:rPr>
              <a:t> </a:t>
            </a:r>
            <a:r>
              <a:rPr lang="en-IN" dirty="0"/>
              <a:t>of Circular Linked List.</a:t>
            </a:r>
          </a:p>
          <a:p>
            <a:r>
              <a:rPr lang="en-IN" dirty="0"/>
              <a:t>Head node does not have any value.</a:t>
            </a:r>
          </a:p>
          <a:p>
            <a:r>
              <a:rPr lang="en-IN" dirty="0"/>
              <a:t>Head node is always pointing to the first node if any of the linked list.</a:t>
            </a:r>
          </a:p>
          <a:p>
            <a:r>
              <a:rPr lang="en-IN" dirty="0"/>
              <a:t>One advantage of this technique is Linked list is never be empty.</a:t>
            </a:r>
          </a:p>
          <a:p>
            <a:r>
              <a:rPr lang="en-IN" dirty="0"/>
              <a:t>Pointer variable </a:t>
            </a:r>
            <a:r>
              <a:rPr lang="en-IN" b="1" dirty="0">
                <a:solidFill>
                  <a:srgbClr val="C00000"/>
                </a:solidFill>
              </a:rPr>
              <a:t>HEAD</a:t>
            </a:r>
            <a:r>
              <a:rPr lang="en-IN" dirty="0">
                <a:solidFill>
                  <a:srgbClr val="C00000"/>
                </a:solidFill>
              </a:rPr>
              <a:t> </a:t>
            </a:r>
            <a:r>
              <a:rPr lang="en-IN" dirty="0"/>
              <a:t>contains the address of head node.</a:t>
            </a:r>
            <a:endParaRPr lang="en-US" dirty="0"/>
          </a:p>
          <a:p>
            <a:endParaRPr lang="en-US" dirty="0"/>
          </a:p>
        </p:txBody>
      </p:sp>
      <p:grpSp>
        <p:nvGrpSpPr>
          <p:cNvPr id="4" name="Group 3"/>
          <p:cNvGrpSpPr/>
          <p:nvPr/>
        </p:nvGrpSpPr>
        <p:grpSpPr>
          <a:xfrm>
            <a:off x="2371725" y="4179332"/>
            <a:ext cx="920012" cy="533400"/>
            <a:chOff x="951919" y="5486400"/>
            <a:chExt cx="920012" cy="533400"/>
          </a:xfrm>
        </p:grpSpPr>
        <p:sp>
          <p:nvSpPr>
            <p:cNvPr id="5" name="Rectangle 4"/>
            <p:cNvSpPr/>
            <p:nvPr/>
          </p:nvSpPr>
          <p:spPr>
            <a:xfrm>
              <a:off x="951919" y="5486400"/>
              <a:ext cx="533400" cy="533400"/>
            </a:xfrm>
            <a:prstGeom prst="rect">
              <a:avLst/>
            </a:prstGeom>
            <a:pattFill prst="wdUpDiag">
              <a:fgClr>
                <a:schemeClr val="tx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6" name="Rectangle 5"/>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7" name="Group 6"/>
          <p:cNvGrpSpPr/>
          <p:nvPr/>
        </p:nvGrpSpPr>
        <p:grpSpPr>
          <a:xfrm>
            <a:off x="3593555" y="4179332"/>
            <a:ext cx="920012" cy="533400"/>
            <a:chOff x="951919" y="5486400"/>
            <a:chExt cx="920012" cy="533400"/>
          </a:xfrm>
        </p:grpSpPr>
        <p:sp>
          <p:nvSpPr>
            <p:cNvPr id="8" name="Rectangle 7"/>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9" name="Rectangle 8"/>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0" name="Group 9"/>
          <p:cNvGrpSpPr/>
          <p:nvPr/>
        </p:nvGrpSpPr>
        <p:grpSpPr>
          <a:xfrm>
            <a:off x="4812755" y="4179332"/>
            <a:ext cx="920012" cy="533400"/>
            <a:chOff x="951919" y="5486400"/>
            <a:chExt cx="920012" cy="533400"/>
          </a:xfrm>
        </p:grpSpPr>
        <p:sp>
          <p:nvSpPr>
            <p:cNvPr id="11" name="Rectangle 10"/>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15</a:t>
              </a:r>
              <a:endParaRPr lang="en-US" sz="2400" b="1" dirty="0"/>
            </a:p>
          </p:txBody>
        </p:sp>
        <p:sp>
          <p:nvSpPr>
            <p:cNvPr id="12" name="Rectangle 11"/>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3" name="Group 12"/>
          <p:cNvGrpSpPr/>
          <p:nvPr/>
        </p:nvGrpSpPr>
        <p:grpSpPr>
          <a:xfrm>
            <a:off x="6031955" y="4179332"/>
            <a:ext cx="920012" cy="533400"/>
            <a:chOff x="951919" y="5486400"/>
            <a:chExt cx="920012" cy="533400"/>
          </a:xfrm>
        </p:grpSpPr>
        <p:sp>
          <p:nvSpPr>
            <p:cNvPr id="14" name="Rectangle 13"/>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20</a:t>
              </a:r>
              <a:endParaRPr lang="en-US" sz="2400" b="1" dirty="0"/>
            </a:p>
          </p:txBody>
        </p:sp>
        <p:sp>
          <p:nvSpPr>
            <p:cNvPr id="15" name="Rectangle 14"/>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6" name="Group 15"/>
          <p:cNvGrpSpPr/>
          <p:nvPr/>
        </p:nvGrpSpPr>
        <p:grpSpPr>
          <a:xfrm>
            <a:off x="7251155" y="4179332"/>
            <a:ext cx="920012" cy="533400"/>
            <a:chOff x="951919" y="5486400"/>
            <a:chExt cx="920012" cy="533400"/>
          </a:xfrm>
        </p:grpSpPr>
        <p:sp>
          <p:nvSpPr>
            <p:cNvPr id="17" name="Rectangle 16"/>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25</a:t>
              </a:r>
              <a:endParaRPr lang="en-US" sz="2400" b="1" dirty="0"/>
            </a:p>
          </p:txBody>
        </p:sp>
        <p:sp>
          <p:nvSpPr>
            <p:cNvPr id="18" name="Rectangle 17"/>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9" name="Group 18"/>
          <p:cNvGrpSpPr/>
          <p:nvPr/>
        </p:nvGrpSpPr>
        <p:grpSpPr>
          <a:xfrm>
            <a:off x="8470355" y="4179332"/>
            <a:ext cx="1058662" cy="533400"/>
            <a:chOff x="6256538" y="5334000"/>
            <a:chExt cx="1058662" cy="533400"/>
          </a:xfrm>
        </p:grpSpPr>
        <p:sp>
          <p:nvSpPr>
            <p:cNvPr id="20" name="Rectangle 19"/>
            <p:cNvSpPr/>
            <p:nvPr/>
          </p:nvSpPr>
          <p:spPr>
            <a:xfrm>
              <a:off x="6256538" y="53340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30</a:t>
              </a:r>
              <a:endParaRPr lang="en-US" sz="2400" b="1" dirty="0"/>
            </a:p>
          </p:txBody>
        </p:sp>
        <p:sp>
          <p:nvSpPr>
            <p:cNvPr id="21" name="Rectangle 20"/>
            <p:cNvSpPr/>
            <p:nvPr/>
          </p:nvSpPr>
          <p:spPr>
            <a:xfrm>
              <a:off x="6795550" y="5334000"/>
              <a:ext cx="51965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22" name="Straight Arrow Connector 21"/>
          <p:cNvCxnSpPr>
            <a:stCxn id="6" idx="3"/>
            <a:endCxn id="8" idx="1"/>
          </p:cNvCxnSpPr>
          <p:nvPr/>
        </p:nvCxnSpPr>
        <p:spPr>
          <a:xfrm>
            <a:off x="3291737" y="4446032"/>
            <a:ext cx="30181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3" name="Straight Arrow Connector 22"/>
          <p:cNvCxnSpPr>
            <a:stCxn id="9" idx="3"/>
            <a:endCxn id="11" idx="1"/>
          </p:cNvCxnSpPr>
          <p:nvPr/>
        </p:nvCxnSpPr>
        <p:spPr>
          <a:xfrm>
            <a:off x="4513567" y="4446032"/>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4" name="Straight Arrow Connector 23"/>
          <p:cNvCxnSpPr>
            <a:stCxn id="12" idx="3"/>
            <a:endCxn id="14" idx="1"/>
          </p:cNvCxnSpPr>
          <p:nvPr/>
        </p:nvCxnSpPr>
        <p:spPr>
          <a:xfrm>
            <a:off x="5732767" y="4446032"/>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5" name="Straight Arrow Connector 24"/>
          <p:cNvCxnSpPr>
            <a:stCxn id="15" idx="3"/>
            <a:endCxn id="17" idx="1"/>
          </p:cNvCxnSpPr>
          <p:nvPr/>
        </p:nvCxnSpPr>
        <p:spPr>
          <a:xfrm>
            <a:off x="6951967" y="4446032"/>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6" name="Straight Arrow Connector 25"/>
          <p:cNvCxnSpPr>
            <a:stCxn id="18" idx="3"/>
            <a:endCxn id="20" idx="1"/>
          </p:cNvCxnSpPr>
          <p:nvPr/>
        </p:nvCxnSpPr>
        <p:spPr>
          <a:xfrm>
            <a:off x="8171167" y="4446032"/>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7" name="TextBox 26"/>
          <p:cNvSpPr txBox="1"/>
          <p:nvPr/>
        </p:nvSpPr>
        <p:spPr>
          <a:xfrm>
            <a:off x="2375975" y="3810000"/>
            <a:ext cx="725263" cy="369332"/>
          </a:xfrm>
          <a:prstGeom prst="rect">
            <a:avLst/>
          </a:prstGeom>
          <a:noFill/>
        </p:spPr>
        <p:txBody>
          <a:bodyPr wrap="none" rtlCol="0">
            <a:spAutoFit/>
          </a:bodyPr>
          <a:lstStyle/>
          <a:p>
            <a:r>
              <a:rPr lang="en-IN" b="1" dirty="0">
                <a:solidFill>
                  <a:srgbClr val="C00000"/>
                </a:solidFill>
              </a:rPr>
              <a:t>HEAD</a:t>
            </a:r>
            <a:endParaRPr lang="en-US" b="1" dirty="0">
              <a:solidFill>
                <a:srgbClr val="C00000"/>
              </a:solidFill>
            </a:endParaRPr>
          </a:p>
        </p:txBody>
      </p:sp>
      <p:sp>
        <p:nvSpPr>
          <p:cNvPr id="28" name="Freeform 27"/>
          <p:cNvSpPr/>
          <p:nvPr/>
        </p:nvSpPr>
        <p:spPr>
          <a:xfrm>
            <a:off x="2638426" y="4465082"/>
            <a:ext cx="7496175" cy="628650"/>
          </a:xfrm>
          <a:custGeom>
            <a:avLst/>
            <a:gdLst>
              <a:gd name="connsiteX0" fmla="*/ 6486525 w 7096125"/>
              <a:gd name="connsiteY0" fmla="*/ 0 h 628650"/>
              <a:gd name="connsiteX1" fmla="*/ 6486525 w 7096125"/>
              <a:gd name="connsiteY1" fmla="*/ 0 h 628650"/>
              <a:gd name="connsiteX2" fmla="*/ 6934200 w 7096125"/>
              <a:gd name="connsiteY2" fmla="*/ 0 h 628650"/>
              <a:gd name="connsiteX3" fmla="*/ 7096125 w 7096125"/>
              <a:gd name="connsiteY3" fmla="*/ 0 h 628650"/>
              <a:gd name="connsiteX4" fmla="*/ 7096125 w 7096125"/>
              <a:gd name="connsiteY4" fmla="*/ 628650 h 628650"/>
              <a:gd name="connsiteX5" fmla="*/ 0 w 7096125"/>
              <a:gd name="connsiteY5" fmla="*/ 628650 h 628650"/>
              <a:gd name="connsiteX6" fmla="*/ 0 w 7096125"/>
              <a:gd name="connsiteY6" fmla="*/ 228600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96125" h="628650">
                <a:moveTo>
                  <a:pt x="6486525" y="0"/>
                </a:moveTo>
                <a:lnTo>
                  <a:pt x="6486525" y="0"/>
                </a:lnTo>
                <a:lnTo>
                  <a:pt x="6934200" y="0"/>
                </a:lnTo>
                <a:lnTo>
                  <a:pt x="7096125" y="0"/>
                </a:lnTo>
                <a:lnTo>
                  <a:pt x="7096125" y="628650"/>
                </a:lnTo>
                <a:lnTo>
                  <a:pt x="0" y="628650"/>
                </a:lnTo>
                <a:lnTo>
                  <a:pt x="0" y="228600"/>
                </a:lnTo>
              </a:path>
            </a:pathLst>
          </a:cu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grpSp>
        <p:nvGrpSpPr>
          <p:cNvPr id="29" name="Group 28"/>
          <p:cNvGrpSpPr/>
          <p:nvPr/>
        </p:nvGrpSpPr>
        <p:grpSpPr>
          <a:xfrm>
            <a:off x="6529369" y="5562600"/>
            <a:ext cx="920012" cy="533400"/>
            <a:chOff x="951919" y="5486400"/>
            <a:chExt cx="920012" cy="533400"/>
          </a:xfrm>
        </p:grpSpPr>
        <p:sp>
          <p:nvSpPr>
            <p:cNvPr id="30" name="Rectangle 29"/>
            <p:cNvSpPr/>
            <p:nvPr/>
          </p:nvSpPr>
          <p:spPr>
            <a:xfrm>
              <a:off x="951919" y="5486400"/>
              <a:ext cx="533400" cy="533400"/>
            </a:xfrm>
            <a:prstGeom prst="rect">
              <a:avLst/>
            </a:prstGeom>
            <a:pattFill prst="wdUpDiag">
              <a:fgClr>
                <a:schemeClr val="tx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31" name="Rectangle 30"/>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sp>
        <p:nvSpPr>
          <p:cNvPr id="32" name="Freeform 31"/>
          <p:cNvSpPr/>
          <p:nvPr/>
        </p:nvSpPr>
        <p:spPr>
          <a:xfrm>
            <a:off x="6318664" y="5783283"/>
            <a:ext cx="1377537" cy="522514"/>
          </a:xfrm>
          <a:custGeom>
            <a:avLst/>
            <a:gdLst>
              <a:gd name="connsiteX0" fmla="*/ 1128155 w 1377537"/>
              <a:gd name="connsiteY0" fmla="*/ 0 h 522514"/>
              <a:gd name="connsiteX1" fmla="*/ 1377537 w 1377537"/>
              <a:gd name="connsiteY1" fmla="*/ 0 h 522514"/>
              <a:gd name="connsiteX2" fmla="*/ 1377537 w 1377537"/>
              <a:gd name="connsiteY2" fmla="*/ 522514 h 522514"/>
              <a:gd name="connsiteX3" fmla="*/ 0 w 1377537"/>
              <a:gd name="connsiteY3" fmla="*/ 522514 h 522514"/>
              <a:gd name="connsiteX4" fmla="*/ 0 w 1377537"/>
              <a:gd name="connsiteY4" fmla="*/ 0 h 522514"/>
              <a:gd name="connsiteX5" fmla="*/ 190005 w 1377537"/>
              <a:gd name="connsiteY5" fmla="*/ 0 h 522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7537" h="522514">
                <a:moveTo>
                  <a:pt x="1128155" y="0"/>
                </a:moveTo>
                <a:lnTo>
                  <a:pt x="1377537" y="0"/>
                </a:lnTo>
                <a:lnTo>
                  <a:pt x="1377537" y="522514"/>
                </a:lnTo>
                <a:lnTo>
                  <a:pt x="0" y="522514"/>
                </a:lnTo>
                <a:lnTo>
                  <a:pt x="0" y="0"/>
                </a:lnTo>
                <a:lnTo>
                  <a:pt x="190005" y="0"/>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33" name="TextBox 32"/>
          <p:cNvSpPr txBox="1"/>
          <p:nvPr/>
        </p:nvSpPr>
        <p:spPr>
          <a:xfrm>
            <a:off x="6681769" y="5193268"/>
            <a:ext cx="725263" cy="369332"/>
          </a:xfrm>
          <a:prstGeom prst="rect">
            <a:avLst/>
          </a:prstGeom>
          <a:noFill/>
        </p:spPr>
        <p:txBody>
          <a:bodyPr wrap="none" rtlCol="0">
            <a:spAutoFit/>
          </a:bodyPr>
          <a:lstStyle/>
          <a:p>
            <a:r>
              <a:rPr lang="en-IN" b="1" dirty="0">
                <a:solidFill>
                  <a:srgbClr val="C00000"/>
                </a:solidFill>
              </a:rPr>
              <a:t>HEAD</a:t>
            </a:r>
            <a:endParaRPr lang="en-US" b="1" dirty="0">
              <a:solidFill>
                <a:srgbClr val="C00000"/>
              </a:solidFill>
            </a:endParaRPr>
          </a:p>
        </p:txBody>
      </p:sp>
      <p:sp>
        <p:nvSpPr>
          <p:cNvPr id="34" name="TextBox 33"/>
          <p:cNvSpPr txBox="1"/>
          <p:nvPr/>
        </p:nvSpPr>
        <p:spPr>
          <a:xfrm>
            <a:off x="2638425" y="5829301"/>
            <a:ext cx="2839688" cy="461665"/>
          </a:xfrm>
          <a:prstGeom prst="rect">
            <a:avLst/>
          </a:prstGeom>
          <a:noFill/>
        </p:spPr>
        <p:txBody>
          <a:bodyPr wrap="none" rtlCol="0">
            <a:spAutoFit/>
          </a:bodyPr>
          <a:lstStyle/>
          <a:p>
            <a:r>
              <a:rPr lang="en-IN" sz="2400" b="1" dirty="0"/>
              <a:t>LINK(HEAD) </a:t>
            </a:r>
            <a:r>
              <a:rPr lang="en-IN" sz="2400" b="1" dirty="0">
                <a:sym typeface="Wingdings" pitchFamily="2" charset="2"/>
              </a:rPr>
              <a:t> HEAD</a:t>
            </a:r>
            <a:endParaRPr lang="en-US" sz="2400" b="1" dirty="0"/>
          </a:p>
        </p:txBody>
      </p:sp>
      <p:sp>
        <p:nvSpPr>
          <p:cNvPr id="35" name="TextBox 34"/>
          <p:cNvSpPr txBox="1"/>
          <p:nvPr/>
        </p:nvSpPr>
        <p:spPr>
          <a:xfrm>
            <a:off x="3476342" y="5562600"/>
            <a:ext cx="1171859" cy="369332"/>
          </a:xfrm>
          <a:prstGeom prst="rect">
            <a:avLst/>
          </a:prstGeom>
          <a:noFill/>
        </p:spPr>
        <p:txBody>
          <a:bodyPr wrap="none" rtlCol="0">
            <a:spAutoFit/>
          </a:bodyPr>
          <a:lstStyle/>
          <a:p>
            <a:r>
              <a:rPr lang="en-IN" b="1" dirty="0">
                <a:solidFill>
                  <a:schemeClr val="accent6">
                    <a:lumMod val="75000"/>
                  </a:schemeClr>
                </a:solidFill>
              </a:rPr>
              <a:t>Empty List</a:t>
            </a:r>
            <a:endParaRPr lang="en-US" b="1" dirty="0">
              <a:solidFill>
                <a:schemeClr val="accent6">
                  <a:lumMod val="75000"/>
                </a:schemeClr>
              </a:solidFill>
            </a:endParaRPr>
          </a:p>
        </p:txBody>
      </p:sp>
    </p:spTree>
    <p:extLst>
      <p:ext uri="{BB962C8B-B14F-4D97-AF65-F5344CB8AC3E}">
        <p14:creationId xmlns:p14="http://schemas.microsoft.com/office/powerpoint/2010/main" val="677276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3"/>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21" presetClass="entr" presetSubtype="1" fill="hold" grpId="0" nodeType="clickEffect">
                                  <p:stCondLst>
                                    <p:cond delay="0"/>
                                  </p:stCondLst>
                                  <p:childTnLst>
                                    <p:set>
                                      <p:cBhvr>
                                        <p:cTn id="68" dur="1" fill="hold">
                                          <p:stCondLst>
                                            <p:cond delay="0"/>
                                          </p:stCondLst>
                                        </p:cTn>
                                        <p:tgtEl>
                                          <p:spTgt spid="32"/>
                                        </p:tgtEl>
                                        <p:attrNameLst>
                                          <p:attrName>style.visibility</p:attrName>
                                        </p:attrNameLst>
                                      </p:cBhvr>
                                      <p:to>
                                        <p:strVal val="visible"/>
                                      </p:to>
                                    </p:set>
                                    <p:animEffect transition="in" filter="wheel(1)">
                                      <p:cBhvr>
                                        <p:cTn id="69" dur="2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7" grpId="0"/>
      <p:bldP spid="28" grpId="0" animBg="1"/>
      <p:bldP spid="32" grpId="0" animBg="1"/>
      <p:bldP spid="33" grpId="0"/>
      <p:bldP spid="34" grpId="0"/>
      <p:bldP spid="3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Procedure: CIR_HEAD_INS_FIRST(X,FIRST,LAST)</a:t>
            </a:r>
            <a:endParaRPr lang="en-US" dirty="0"/>
          </a:p>
        </p:txBody>
      </p:sp>
      <p:sp>
        <p:nvSpPr>
          <p:cNvPr id="3" name="Content Placeholder 2"/>
          <p:cNvSpPr>
            <a:spLocks noGrp="1"/>
          </p:cNvSpPr>
          <p:nvPr>
            <p:ph idx="1"/>
          </p:nvPr>
        </p:nvSpPr>
        <p:spPr/>
        <p:txBody>
          <a:bodyPr/>
          <a:lstStyle/>
          <a:p>
            <a:r>
              <a:rPr lang="en-IN" dirty="0"/>
              <a:t>This procedure </a:t>
            </a:r>
            <a:r>
              <a:rPr lang="en-IN" b="1" dirty="0">
                <a:solidFill>
                  <a:srgbClr val="C00000"/>
                </a:solidFill>
              </a:rPr>
              <a:t>inserts a new node at the first position</a:t>
            </a:r>
            <a:r>
              <a:rPr lang="en-IN" b="1" dirty="0">
                <a:solidFill>
                  <a:srgbClr val="FF0000"/>
                </a:solidFill>
              </a:rPr>
              <a:t> </a:t>
            </a:r>
            <a:r>
              <a:rPr lang="en-IN" dirty="0"/>
              <a:t>of Circular linked list with Head node. </a:t>
            </a:r>
          </a:p>
          <a:p>
            <a:r>
              <a:rPr lang="en-IN" b="1" dirty="0">
                <a:solidFill>
                  <a:srgbClr val="C00000"/>
                </a:solidFill>
              </a:rPr>
              <a:t>X</a:t>
            </a:r>
            <a:r>
              <a:rPr lang="en-IN" dirty="0">
                <a:solidFill>
                  <a:srgbClr val="C00000"/>
                </a:solidFill>
              </a:rPr>
              <a:t> </a:t>
            </a:r>
            <a:r>
              <a:rPr lang="en-IN" dirty="0"/>
              <a:t>is a new element to be inserted.</a:t>
            </a:r>
          </a:p>
          <a:p>
            <a:r>
              <a:rPr lang="en-IN" b="1" dirty="0">
                <a:solidFill>
                  <a:srgbClr val="C00000"/>
                </a:solidFill>
              </a:rPr>
              <a:t>FIRST</a:t>
            </a:r>
            <a:r>
              <a:rPr lang="en-IN" dirty="0">
                <a:solidFill>
                  <a:srgbClr val="C00000"/>
                </a:solidFill>
              </a:rPr>
              <a:t> </a:t>
            </a:r>
            <a:r>
              <a:rPr lang="en-IN" dirty="0"/>
              <a:t>and </a:t>
            </a:r>
            <a:r>
              <a:rPr lang="en-IN" b="1" dirty="0">
                <a:solidFill>
                  <a:srgbClr val="C00000"/>
                </a:solidFill>
              </a:rPr>
              <a:t>LAST</a:t>
            </a:r>
            <a:r>
              <a:rPr lang="en-IN" dirty="0">
                <a:solidFill>
                  <a:srgbClr val="C00000"/>
                </a:solidFill>
              </a:rPr>
              <a:t> </a:t>
            </a:r>
            <a:r>
              <a:rPr lang="en-IN" dirty="0"/>
              <a:t>are a </a:t>
            </a:r>
            <a:r>
              <a:rPr lang="en-IN" b="1" dirty="0"/>
              <a:t>pointer to the first &amp; last elements</a:t>
            </a:r>
            <a:r>
              <a:rPr lang="en-IN" dirty="0"/>
              <a:t> of a Circular linked linear list, respectively. </a:t>
            </a:r>
          </a:p>
          <a:p>
            <a:r>
              <a:rPr lang="en-IN" dirty="0"/>
              <a:t>Typical node contains </a:t>
            </a:r>
            <a:r>
              <a:rPr lang="en-IN" b="1" dirty="0">
                <a:solidFill>
                  <a:srgbClr val="C00000"/>
                </a:solidFill>
              </a:rPr>
              <a:t>INFO</a:t>
            </a:r>
            <a:r>
              <a:rPr lang="en-IN" dirty="0">
                <a:solidFill>
                  <a:srgbClr val="C00000"/>
                </a:solidFill>
              </a:rPr>
              <a:t> </a:t>
            </a:r>
            <a:r>
              <a:rPr lang="en-IN" dirty="0"/>
              <a:t>and </a:t>
            </a:r>
            <a:r>
              <a:rPr lang="en-IN" b="1" dirty="0">
                <a:solidFill>
                  <a:srgbClr val="C00000"/>
                </a:solidFill>
              </a:rPr>
              <a:t>LINK</a:t>
            </a:r>
            <a:r>
              <a:rPr lang="en-IN" dirty="0">
                <a:solidFill>
                  <a:srgbClr val="C00000"/>
                </a:solidFill>
              </a:rPr>
              <a:t> </a:t>
            </a:r>
            <a:r>
              <a:rPr lang="en-IN" dirty="0"/>
              <a:t>fields. </a:t>
            </a:r>
          </a:p>
          <a:p>
            <a:r>
              <a:rPr lang="en-IN" b="1" dirty="0">
                <a:solidFill>
                  <a:srgbClr val="C00000"/>
                </a:solidFill>
              </a:rPr>
              <a:t>HEAD</a:t>
            </a:r>
            <a:r>
              <a:rPr lang="en-IN" dirty="0">
                <a:solidFill>
                  <a:srgbClr val="C00000"/>
                </a:solidFill>
              </a:rPr>
              <a:t> </a:t>
            </a:r>
            <a:r>
              <a:rPr lang="en-IN" dirty="0"/>
              <a:t>is pointer variable pointing to Head node of Linked List.</a:t>
            </a:r>
            <a:endParaRPr lang="en-US" dirty="0"/>
          </a:p>
          <a:p>
            <a:r>
              <a:rPr lang="en-IN" b="1" dirty="0">
                <a:solidFill>
                  <a:srgbClr val="C00000"/>
                </a:solidFill>
              </a:rPr>
              <a:t>NEW</a:t>
            </a:r>
            <a:r>
              <a:rPr lang="en-IN" dirty="0">
                <a:solidFill>
                  <a:srgbClr val="C00000"/>
                </a:solidFill>
              </a:rPr>
              <a:t> </a:t>
            </a:r>
            <a:r>
              <a:rPr lang="en-IN" dirty="0"/>
              <a:t>is a temporary pointer variable.</a:t>
            </a:r>
            <a:endParaRPr lang="en-US" dirty="0"/>
          </a:p>
          <a:p>
            <a:endParaRPr lang="en-US" dirty="0"/>
          </a:p>
        </p:txBody>
      </p:sp>
    </p:spTree>
    <p:extLst>
      <p:ext uri="{BB962C8B-B14F-4D97-AF65-F5344CB8AC3E}">
        <p14:creationId xmlns:p14="http://schemas.microsoft.com/office/powerpoint/2010/main" val="126467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t>Procedure: CIR_HEAD_INS_FIRST(X,FIRST,LAST)</a:t>
            </a:r>
            <a:endParaRPr lang="en-US" sz="3200" dirty="0"/>
          </a:p>
        </p:txBody>
      </p:sp>
      <p:sp>
        <p:nvSpPr>
          <p:cNvPr id="4" name="TextBox 3"/>
          <p:cNvSpPr txBox="1"/>
          <p:nvPr/>
        </p:nvSpPr>
        <p:spPr>
          <a:xfrm>
            <a:off x="336000" y="823792"/>
            <a:ext cx="11520000" cy="2154436"/>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200" b="1" dirty="0">
                <a:solidFill>
                  <a:schemeClr val="tx2"/>
                </a:solidFill>
                <a:latin typeface="Consolas" pitchFamily="49" charset="0"/>
                <a:cs typeface="Consolas" pitchFamily="49" charset="0"/>
              </a:rPr>
              <a:t>1. [Create New Empty Node]</a:t>
            </a:r>
          </a:p>
          <a:p>
            <a:r>
              <a:rPr lang="en-IN" sz="2200" dirty="0">
                <a:latin typeface="Consolas" pitchFamily="49" charset="0"/>
                <a:cs typeface="Consolas" pitchFamily="49" charset="0"/>
              </a:rPr>
              <a:t> </a:t>
            </a:r>
            <a:r>
              <a:rPr lang="en-IN" sz="2200" dirty="0" smtClean="0">
                <a:latin typeface="Consolas" pitchFamily="49" charset="0"/>
                <a:cs typeface="Consolas" pitchFamily="49" charset="0"/>
              </a:rPr>
              <a:t>  </a:t>
            </a:r>
            <a:r>
              <a:rPr lang="en-IN" sz="2400" dirty="0" smtClean="0">
                <a:latin typeface="Consolas" pitchFamily="49" charset="0"/>
                <a:cs typeface="Consolas" pitchFamily="49" charset="0"/>
              </a:rPr>
              <a:t>NEW </a:t>
            </a:r>
            <a:r>
              <a:rPr lang="en-IN" sz="2400" b="1" dirty="0">
                <a:solidFill>
                  <a:schemeClr val="accent6"/>
                </a:solidFill>
                <a:latin typeface="Consolas" pitchFamily="49" charset="0"/>
                <a:cs typeface="Consolas" pitchFamily="49" charset="0"/>
              </a:rPr>
              <a:t>&lt;=</a:t>
            </a:r>
            <a:r>
              <a:rPr lang="en-IN" sz="2400" dirty="0">
                <a:latin typeface="Consolas" pitchFamily="49" charset="0"/>
                <a:cs typeface="Consolas" pitchFamily="49" charset="0"/>
              </a:rPr>
              <a:t> </a:t>
            </a:r>
            <a:r>
              <a:rPr lang="en-IN" sz="2400" dirty="0" smtClean="0">
                <a:latin typeface="Consolas" pitchFamily="49" charset="0"/>
                <a:cs typeface="Consolas" pitchFamily="49" charset="0"/>
              </a:rPr>
              <a:t>NODE</a:t>
            </a:r>
            <a:endParaRPr lang="en-IN" sz="2200" dirty="0">
              <a:latin typeface="Consolas" pitchFamily="49" charset="0"/>
              <a:cs typeface="Consolas" pitchFamily="49" charset="0"/>
            </a:endParaRPr>
          </a:p>
          <a:p>
            <a:r>
              <a:rPr lang="en-IN" sz="2200" b="1" dirty="0">
                <a:solidFill>
                  <a:schemeClr val="tx2"/>
                </a:solidFill>
                <a:latin typeface="Consolas" pitchFamily="49" charset="0"/>
                <a:cs typeface="Consolas" pitchFamily="49" charset="0"/>
              </a:rPr>
              <a:t>2. [Initialize fields of new node and its link to the list]</a:t>
            </a:r>
          </a:p>
          <a:p>
            <a:r>
              <a:rPr lang="en-IN" sz="2200" dirty="0">
                <a:latin typeface="Consolas" pitchFamily="49" charset="0"/>
                <a:cs typeface="Consolas" pitchFamily="49" charset="0"/>
              </a:rPr>
              <a:t>   INFO(NEW) </a:t>
            </a:r>
            <a:r>
              <a:rPr lang="en-IN" sz="2200" dirty="0">
                <a:latin typeface="Consolas" pitchFamily="49" charset="0"/>
                <a:cs typeface="Consolas" pitchFamily="49" charset="0"/>
                <a:sym typeface="Wingdings" pitchFamily="2" charset="2"/>
              </a:rPr>
              <a:t> X</a:t>
            </a:r>
          </a:p>
          <a:p>
            <a:r>
              <a:rPr lang="en-IN" sz="2200" dirty="0">
                <a:latin typeface="Consolas" pitchFamily="49" charset="0"/>
                <a:cs typeface="Consolas" pitchFamily="49" charset="0"/>
                <a:sym typeface="Wingdings" pitchFamily="2" charset="2"/>
              </a:rPr>
              <a:t>   LINK(NEW)  LINK(HEAD)</a:t>
            </a:r>
          </a:p>
          <a:p>
            <a:r>
              <a:rPr lang="en-IN" sz="2200" dirty="0">
                <a:latin typeface="Consolas" pitchFamily="49" charset="0"/>
                <a:cs typeface="Consolas" pitchFamily="49" charset="0"/>
                <a:sym typeface="Wingdings" pitchFamily="2" charset="2"/>
              </a:rPr>
              <a:t>   LINK(HEAD)  NEW</a:t>
            </a:r>
            <a:endParaRPr lang="en-IN" sz="2200" dirty="0">
              <a:latin typeface="Consolas" pitchFamily="49" charset="0"/>
              <a:cs typeface="Consolas" pitchFamily="49" charset="0"/>
            </a:endParaRPr>
          </a:p>
        </p:txBody>
      </p:sp>
      <p:grpSp>
        <p:nvGrpSpPr>
          <p:cNvPr id="6" name="Group 5"/>
          <p:cNvGrpSpPr/>
          <p:nvPr/>
        </p:nvGrpSpPr>
        <p:grpSpPr>
          <a:xfrm>
            <a:off x="1810871" y="4675095"/>
            <a:ext cx="920012" cy="533400"/>
            <a:chOff x="951919" y="5486400"/>
            <a:chExt cx="920012" cy="533400"/>
          </a:xfrm>
        </p:grpSpPr>
        <p:sp>
          <p:nvSpPr>
            <p:cNvPr id="7" name="Rectangle 6"/>
            <p:cNvSpPr/>
            <p:nvPr/>
          </p:nvSpPr>
          <p:spPr>
            <a:xfrm>
              <a:off x="951919" y="5486400"/>
              <a:ext cx="533400" cy="533400"/>
            </a:xfrm>
            <a:prstGeom prst="rect">
              <a:avLst/>
            </a:prstGeom>
            <a:pattFill prst="wdUpDiag">
              <a:fgClr>
                <a:schemeClr val="tx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8" name="Rectangle 7"/>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9" name="Group 8"/>
          <p:cNvGrpSpPr/>
          <p:nvPr/>
        </p:nvGrpSpPr>
        <p:grpSpPr>
          <a:xfrm>
            <a:off x="3804226" y="4675095"/>
            <a:ext cx="920012" cy="533400"/>
            <a:chOff x="951919" y="5486400"/>
            <a:chExt cx="920012" cy="533400"/>
          </a:xfrm>
        </p:grpSpPr>
        <p:sp>
          <p:nvSpPr>
            <p:cNvPr id="10" name="Rectangle 9"/>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11" name="Rectangle 10"/>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2" name="Group 11"/>
          <p:cNvGrpSpPr/>
          <p:nvPr/>
        </p:nvGrpSpPr>
        <p:grpSpPr>
          <a:xfrm>
            <a:off x="5023426" y="4675095"/>
            <a:ext cx="920012" cy="533400"/>
            <a:chOff x="951919" y="5486400"/>
            <a:chExt cx="920012" cy="533400"/>
          </a:xfrm>
        </p:grpSpPr>
        <p:sp>
          <p:nvSpPr>
            <p:cNvPr id="13" name="Rectangle 12"/>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15</a:t>
              </a:r>
              <a:endParaRPr lang="en-US" sz="2400" b="1" dirty="0"/>
            </a:p>
          </p:txBody>
        </p:sp>
        <p:sp>
          <p:nvSpPr>
            <p:cNvPr id="14" name="Rectangle 13"/>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5" name="Group 14"/>
          <p:cNvGrpSpPr/>
          <p:nvPr/>
        </p:nvGrpSpPr>
        <p:grpSpPr>
          <a:xfrm>
            <a:off x="6242626" y="4675095"/>
            <a:ext cx="920012" cy="533400"/>
            <a:chOff x="951919" y="5486400"/>
            <a:chExt cx="920012" cy="533400"/>
          </a:xfrm>
        </p:grpSpPr>
        <p:sp>
          <p:nvSpPr>
            <p:cNvPr id="16" name="Rectangle 15"/>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20</a:t>
              </a:r>
              <a:endParaRPr lang="en-US" sz="2400" b="1" dirty="0"/>
            </a:p>
          </p:txBody>
        </p:sp>
        <p:sp>
          <p:nvSpPr>
            <p:cNvPr id="17" name="Rectangle 16"/>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8" name="Group 17"/>
          <p:cNvGrpSpPr/>
          <p:nvPr/>
        </p:nvGrpSpPr>
        <p:grpSpPr>
          <a:xfrm>
            <a:off x="7461826" y="4675095"/>
            <a:ext cx="920012" cy="533400"/>
            <a:chOff x="951919" y="5486400"/>
            <a:chExt cx="920012" cy="533400"/>
          </a:xfrm>
        </p:grpSpPr>
        <p:sp>
          <p:nvSpPr>
            <p:cNvPr id="19" name="Rectangle 18"/>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25</a:t>
              </a:r>
              <a:endParaRPr lang="en-US" sz="2400" b="1" dirty="0"/>
            </a:p>
          </p:txBody>
        </p:sp>
        <p:sp>
          <p:nvSpPr>
            <p:cNvPr id="20" name="Rectangle 19"/>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21" name="Group 20"/>
          <p:cNvGrpSpPr/>
          <p:nvPr/>
        </p:nvGrpSpPr>
        <p:grpSpPr>
          <a:xfrm>
            <a:off x="8681026" y="4675095"/>
            <a:ext cx="1058662" cy="533400"/>
            <a:chOff x="6256538" y="5334000"/>
            <a:chExt cx="1058662" cy="533400"/>
          </a:xfrm>
        </p:grpSpPr>
        <p:sp>
          <p:nvSpPr>
            <p:cNvPr id="22" name="Rectangle 21"/>
            <p:cNvSpPr/>
            <p:nvPr/>
          </p:nvSpPr>
          <p:spPr>
            <a:xfrm>
              <a:off x="6256538" y="53340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30</a:t>
              </a:r>
              <a:endParaRPr lang="en-US" sz="2400" b="1" dirty="0"/>
            </a:p>
          </p:txBody>
        </p:sp>
        <p:sp>
          <p:nvSpPr>
            <p:cNvPr id="23" name="Rectangle 22"/>
            <p:cNvSpPr/>
            <p:nvPr/>
          </p:nvSpPr>
          <p:spPr>
            <a:xfrm>
              <a:off x="6795550" y="5334000"/>
              <a:ext cx="51965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24" name="Straight Arrow Connector 23"/>
          <p:cNvCxnSpPr>
            <a:stCxn id="8" idx="3"/>
            <a:endCxn id="10" idx="1"/>
          </p:cNvCxnSpPr>
          <p:nvPr/>
        </p:nvCxnSpPr>
        <p:spPr>
          <a:xfrm>
            <a:off x="2730884" y="4941795"/>
            <a:ext cx="1073343"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5" name="Straight Arrow Connector 24"/>
          <p:cNvCxnSpPr>
            <a:stCxn id="11" idx="3"/>
            <a:endCxn id="13" idx="1"/>
          </p:cNvCxnSpPr>
          <p:nvPr/>
        </p:nvCxnSpPr>
        <p:spPr>
          <a:xfrm>
            <a:off x="4724238" y="4941795"/>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6" name="Straight Arrow Connector 25"/>
          <p:cNvCxnSpPr>
            <a:stCxn id="14" idx="3"/>
            <a:endCxn id="16" idx="1"/>
          </p:cNvCxnSpPr>
          <p:nvPr/>
        </p:nvCxnSpPr>
        <p:spPr>
          <a:xfrm>
            <a:off x="5943438" y="4941795"/>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7" name="Straight Arrow Connector 26"/>
          <p:cNvCxnSpPr>
            <a:stCxn id="17" idx="3"/>
            <a:endCxn id="19" idx="1"/>
          </p:cNvCxnSpPr>
          <p:nvPr/>
        </p:nvCxnSpPr>
        <p:spPr>
          <a:xfrm>
            <a:off x="7162638" y="4941795"/>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8" name="Straight Arrow Connector 27"/>
          <p:cNvCxnSpPr>
            <a:stCxn id="20" idx="3"/>
            <a:endCxn id="22" idx="1"/>
          </p:cNvCxnSpPr>
          <p:nvPr/>
        </p:nvCxnSpPr>
        <p:spPr>
          <a:xfrm>
            <a:off x="8381838" y="4941795"/>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9" name="TextBox 28"/>
          <p:cNvSpPr txBox="1"/>
          <p:nvPr/>
        </p:nvSpPr>
        <p:spPr>
          <a:xfrm>
            <a:off x="3129514" y="3162763"/>
            <a:ext cx="612668" cy="369332"/>
          </a:xfrm>
          <a:prstGeom prst="rect">
            <a:avLst/>
          </a:prstGeom>
          <a:noFill/>
        </p:spPr>
        <p:txBody>
          <a:bodyPr wrap="none" rtlCol="0">
            <a:spAutoFit/>
          </a:bodyPr>
          <a:lstStyle/>
          <a:p>
            <a:pPr algn="ctr"/>
            <a:r>
              <a:rPr lang="en-IN" b="1" dirty="0">
                <a:solidFill>
                  <a:srgbClr val="C00000"/>
                </a:solidFill>
              </a:rPr>
              <a:t>NEW</a:t>
            </a:r>
            <a:endParaRPr lang="en-US" b="1" dirty="0">
              <a:solidFill>
                <a:srgbClr val="C00000"/>
              </a:solidFill>
            </a:endParaRPr>
          </a:p>
        </p:txBody>
      </p:sp>
      <p:sp>
        <p:nvSpPr>
          <p:cNvPr id="30" name="Freeform 29"/>
          <p:cNvSpPr/>
          <p:nvPr/>
        </p:nvSpPr>
        <p:spPr>
          <a:xfrm>
            <a:off x="2077572" y="4960845"/>
            <a:ext cx="8267700" cy="628650"/>
          </a:xfrm>
          <a:custGeom>
            <a:avLst/>
            <a:gdLst>
              <a:gd name="connsiteX0" fmla="*/ 6486525 w 7096125"/>
              <a:gd name="connsiteY0" fmla="*/ 0 h 628650"/>
              <a:gd name="connsiteX1" fmla="*/ 6486525 w 7096125"/>
              <a:gd name="connsiteY1" fmla="*/ 0 h 628650"/>
              <a:gd name="connsiteX2" fmla="*/ 6934200 w 7096125"/>
              <a:gd name="connsiteY2" fmla="*/ 0 h 628650"/>
              <a:gd name="connsiteX3" fmla="*/ 7096125 w 7096125"/>
              <a:gd name="connsiteY3" fmla="*/ 0 h 628650"/>
              <a:gd name="connsiteX4" fmla="*/ 7096125 w 7096125"/>
              <a:gd name="connsiteY4" fmla="*/ 628650 h 628650"/>
              <a:gd name="connsiteX5" fmla="*/ 0 w 7096125"/>
              <a:gd name="connsiteY5" fmla="*/ 628650 h 628650"/>
              <a:gd name="connsiteX6" fmla="*/ 0 w 7096125"/>
              <a:gd name="connsiteY6" fmla="*/ 228600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96125" h="628650">
                <a:moveTo>
                  <a:pt x="6486525" y="0"/>
                </a:moveTo>
                <a:lnTo>
                  <a:pt x="6486525" y="0"/>
                </a:lnTo>
                <a:lnTo>
                  <a:pt x="6934200" y="0"/>
                </a:lnTo>
                <a:lnTo>
                  <a:pt x="7096125" y="0"/>
                </a:lnTo>
                <a:lnTo>
                  <a:pt x="7096125" y="628650"/>
                </a:lnTo>
                <a:lnTo>
                  <a:pt x="0" y="628650"/>
                </a:lnTo>
                <a:lnTo>
                  <a:pt x="0" y="228600"/>
                </a:lnTo>
              </a:path>
            </a:pathLst>
          </a:cu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grpSp>
        <p:nvGrpSpPr>
          <p:cNvPr id="32" name="Group 31"/>
          <p:cNvGrpSpPr/>
          <p:nvPr/>
        </p:nvGrpSpPr>
        <p:grpSpPr>
          <a:xfrm>
            <a:off x="2953871" y="3532095"/>
            <a:ext cx="920012" cy="533400"/>
            <a:chOff x="951919" y="5486400"/>
            <a:chExt cx="920012" cy="533400"/>
          </a:xfrm>
        </p:grpSpPr>
        <p:sp>
          <p:nvSpPr>
            <p:cNvPr id="33" name="Rectangle 32"/>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50</a:t>
              </a:r>
              <a:endParaRPr lang="en-US" sz="2400" b="1" dirty="0"/>
            </a:p>
          </p:txBody>
        </p:sp>
        <p:sp>
          <p:nvSpPr>
            <p:cNvPr id="34" name="Rectangle 33"/>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sp>
        <p:nvSpPr>
          <p:cNvPr id="35" name="TextBox 34"/>
          <p:cNvSpPr txBox="1"/>
          <p:nvPr/>
        </p:nvSpPr>
        <p:spPr>
          <a:xfrm>
            <a:off x="1734672" y="4294095"/>
            <a:ext cx="725263" cy="369332"/>
          </a:xfrm>
          <a:prstGeom prst="rect">
            <a:avLst/>
          </a:prstGeom>
          <a:noFill/>
        </p:spPr>
        <p:txBody>
          <a:bodyPr wrap="none" rtlCol="0">
            <a:spAutoFit/>
          </a:bodyPr>
          <a:lstStyle/>
          <a:p>
            <a:pPr algn="ctr"/>
            <a:r>
              <a:rPr lang="en-IN" b="1" dirty="0">
                <a:solidFill>
                  <a:srgbClr val="C00000"/>
                </a:solidFill>
              </a:rPr>
              <a:t>HEAD</a:t>
            </a:r>
            <a:endParaRPr lang="en-US" b="1" dirty="0">
              <a:solidFill>
                <a:srgbClr val="C00000"/>
              </a:solidFill>
            </a:endParaRPr>
          </a:p>
        </p:txBody>
      </p:sp>
      <p:sp>
        <p:nvSpPr>
          <p:cNvPr id="36" name="Freeform 35"/>
          <p:cNvSpPr/>
          <p:nvPr/>
        </p:nvSpPr>
        <p:spPr>
          <a:xfrm>
            <a:off x="3864314" y="3776530"/>
            <a:ext cx="356259" cy="890649"/>
          </a:xfrm>
          <a:custGeom>
            <a:avLst/>
            <a:gdLst>
              <a:gd name="connsiteX0" fmla="*/ 0 w 356259"/>
              <a:gd name="connsiteY0" fmla="*/ 0 h 890649"/>
              <a:gd name="connsiteX1" fmla="*/ 356259 w 356259"/>
              <a:gd name="connsiteY1" fmla="*/ 0 h 890649"/>
              <a:gd name="connsiteX2" fmla="*/ 356259 w 356259"/>
              <a:gd name="connsiteY2" fmla="*/ 890649 h 890649"/>
            </a:gdLst>
            <a:ahLst/>
            <a:cxnLst>
              <a:cxn ang="0">
                <a:pos x="connsiteX0" y="connsiteY0"/>
              </a:cxn>
              <a:cxn ang="0">
                <a:pos x="connsiteX1" y="connsiteY1"/>
              </a:cxn>
              <a:cxn ang="0">
                <a:pos x="connsiteX2" y="connsiteY2"/>
              </a:cxn>
            </a:cxnLst>
            <a:rect l="l" t="t" r="r" b="b"/>
            <a:pathLst>
              <a:path w="356259" h="890649">
                <a:moveTo>
                  <a:pt x="0" y="0"/>
                </a:moveTo>
                <a:lnTo>
                  <a:pt x="356259" y="0"/>
                </a:lnTo>
                <a:lnTo>
                  <a:pt x="356259" y="890649"/>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37" name="Freeform 36"/>
          <p:cNvSpPr/>
          <p:nvPr/>
        </p:nvSpPr>
        <p:spPr>
          <a:xfrm>
            <a:off x="2486775" y="3788404"/>
            <a:ext cx="463138" cy="878774"/>
          </a:xfrm>
          <a:custGeom>
            <a:avLst/>
            <a:gdLst>
              <a:gd name="connsiteX0" fmla="*/ 0 w 463138"/>
              <a:gd name="connsiteY0" fmla="*/ 878774 h 878774"/>
              <a:gd name="connsiteX1" fmla="*/ 0 w 463138"/>
              <a:gd name="connsiteY1" fmla="*/ 0 h 878774"/>
              <a:gd name="connsiteX2" fmla="*/ 463138 w 463138"/>
              <a:gd name="connsiteY2" fmla="*/ 0 h 878774"/>
            </a:gdLst>
            <a:ahLst/>
            <a:cxnLst>
              <a:cxn ang="0">
                <a:pos x="connsiteX0" y="connsiteY0"/>
              </a:cxn>
              <a:cxn ang="0">
                <a:pos x="connsiteX1" y="connsiteY1"/>
              </a:cxn>
              <a:cxn ang="0">
                <a:pos x="connsiteX2" y="connsiteY2"/>
              </a:cxn>
            </a:cxnLst>
            <a:rect l="l" t="t" r="r" b="b"/>
            <a:pathLst>
              <a:path w="463138" h="878774">
                <a:moveTo>
                  <a:pt x="0" y="878774"/>
                </a:moveTo>
                <a:lnTo>
                  <a:pt x="0" y="0"/>
                </a:lnTo>
                <a:lnTo>
                  <a:pt x="463138" y="0"/>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770820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36"/>
                                        </p:tgtEl>
                                        <p:attrNameLst>
                                          <p:attrName>style.visibility</p:attrName>
                                        </p:attrNameLst>
                                      </p:cBhvr>
                                      <p:to>
                                        <p:strVal val="visible"/>
                                      </p:to>
                                    </p:set>
                                    <p:animEffect transition="in" filter="wipe(up)">
                                      <p:cBhvr>
                                        <p:cTn id="65" dur="500"/>
                                        <p:tgtEl>
                                          <p:spTgt spid="36"/>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grpId="0" nodeType="clickEffect">
                                  <p:stCondLst>
                                    <p:cond delay="0"/>
                                  </p:stCondLst>
                                  <p:childTnLst>
                                    <p:set>
                                      <p:cBhvr>
                                        <p:cTn id="69" dur="1" fill="hold">
                                          <p:stCondLst>
                                            <p:cond delay="0"/>
                                          </p:stCondLst>
                                        </p:cTn>
                                        <p:tgtEl>
                                          <p:spTgt spid="37"/>
                                        </p:tgtEl>
                                        <p:attrNameLst>
                                          <p:attrName>style.visibility</p:attrName>
                                        </p:attrNameLst>
                                      </p:cBhvr>
                                      <p:to>
                                        <p:strVal val="visible"/>
                                      </p:to>
                                    </p:set>
                                    <p:animEffect transition="in" filter="wipe(down)">
                                      <p:cBhvr>
                                        <p:cTn id="70" dur="500"/>
                                        <p:tgtEl>
                                          <p:spTgt spid="37"/>
                                        </p:tgtEl>
                                      </p:cBhvr>
                                    </p:animEffect>
                                  </p:childTnLst>
                                </p:cTn>
                              </p:par>
                              <p:par>
                                <p:cTn id="71" presetID="1" presetClass="exit" presetSubtype="0" fill="hold" nodeType="withEffect">
                                  <p:stCondLst>
                                    <p:cond delay="0"/>
                                  </p:stCondLst>
                                  <p:childTnLst>
                                    <p:set>
                                      <p:cBhvr>
                                        <p:cTn id="72" dur="1" fill="hold">
                                          <p:stCondLst>
                                            <p:cond delay="0"/>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9" grpId="0"/>
      <p:bldP spid="30" grpId="0" animBg="1"/>
      <p:bldP spid="35" grpId="0"/>
      <p:bldP spid="36" grpId="0" animBg="1"/>
      <p:bldP spid="37"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Procedure: CIR_HEAD_INS_LAST(X,FIRST,LAST)</a:t>
            </a:r>
            <a:endParaRPr lang="en-US" dirty="0"/>
          </a:p>
        </p:txBody>
      </p:sp>
      <p:sp>
        <p:nvSpPr>
          <p:cNvPr id="3" name="Content Placeholder 2"/>
          <p:cNvSpPr>
            <a:spLocks noGrp="1"/>
          </p:cNvSpPr>
          <p:nvPr>
            <p:ph idx="1"/>
          </p:nvPr>
        </p:nvSpPr>
        <p:spPr/>
        <p:txBody>
          <a:bodyPr/>
          <a:lstStyle/>
          <a:p>
            <a:r>
              <a:rPr lang="en-IN" dirty="0"/>
              <a:t>This procedure </a:t>
            </a:r>
            <a:r>
              <a:rPr lang="en-IN" b="1" dirty="0">
                <a:solidFill>
                  <a:srgbClr val="C00000"/>
                </a:solidFill>
              </a:rPr>
              <a:t>inserts a new node at the</a:t>
            </a:r>
            <a:r>
              <a:rPr lang="en-IN" b="1" dirty="0">
                <a:solidFill>
                  <a:srgbClr val="FF0000"/>
                </a:solidFill>
              </a:rPr>
              <a:t> </a:t>
            </a:r>
            <a:r>
              <a:rPr lang="en-IN" b="1" dirty="0">
                <a:solidFill>
                  <a:srgbClr val="C00000"/>
                </a:solidFill>
              </a:rPr>
              <a:t>last position</a:t>
            </a:r>
            <a:r>
              <a:rPr lang="en-IN" b="1" dirty="0">
                <a:solidFill>
                  <a:srgbClr val="FF0000"/>
                </a:solidFill>
              </a:rPr>
              <a:t> </a:t>
            </a:r>
            <a:r>
              <a:rPr lang="en-IN" dirty="0"/>
              <a:t>of Circular linked list with Head node. </a:t>
            </a:r>
          </a:p>
          <a:p>
            <a:r>
              <a:rPr lang="en-IN" b="1" dirty="0">
                <a:solidFill>
                  <a:srgbClr val="C00000"/>
                </a:solidFill>
              </a:rPr>
              <a:t>X</a:t>
            </a:r>
            <a:r>
              <a:rPr lang="en-IN" dirty="0">
                <a:solidFill>
                  <a:srgbClr val="C00000"/>
                </a:solidFill>
              </a:rPr>
              <a:t> </a:t>
            </a:r>
            <a:r>
              <a:rPr lang="en-IN" dirty="0"/>
              <a:t>is a new element to be inserted.</a:t>
            </a:r>
          </a:p>
          <a:p>
            <a:r>
              <a:rPr lang="en-IN" b="1" dirty="0">
                <a:solidFill>
                  <a:srgbClr val="C00000"/>
                </a:solidFill>
              </a:rPr>
              <a:t>FIRST</a:t>
            </a:r>
            <a:r>
              <a:rPr lang="en-IN" dirty="0">
                <a:solidFill>
                  <a:srgbClr val="C00000"/>
                </a:solidFill>
              </a:rPr>
              <a:t> </a:t>
            </a:r>
            <a:r>
              <a:rPr lang="en-IN" dirty="0"/>
              <a:t>and </a:t>
            </a:r>
            <a:r>
              <a:rPr lang="en-IN" b="1" dirty="0">
                <a:solidFill>
                  <a:srgbClr val="C00000"/>
                </a:solidFill>
              </a:rPr>
              <a:t>LAST</a:t>
            </a:r>
            <a:r>
              <a:rPr lang="en-IN" dirty="0">
                <a:solidFill>
                  <a:srgbClr val="C00000"/>
                </a:solidFill>
              </a:rPr>
              <a:t> </a:t>
            </a:r>
            <a:r>
              <a:rPr lang="en-IN" dirty="0"/>
              <a:t>are a </a:t>
            </a:r>
            <a:r>
              <a:rPr lang="en-IN" b="1" dirty="0"/>
              <a:t>pointer to the first &amp; last elements</a:t>
            </a:r>
            <a:r>
              <a:rPr lang="en-IN" dirty="0"/>
              <a:t> of a Circular linked linear list, respectively. </a:t>
            </a:r>
          </a:p>
          <a:p>
            <a:r>
              <a:rPr lang="en-IN" dirty="0"/>
              <a:t>Typical node contains </a:t>
            </a:r>
            <a:r>
              <a:rPr lang="en-IN" b="1" dirty="0">
                <a:solidFill>
                  <a:srgbClr val="C00000"/>
                </a:solidFill>
              </a:rPr>
              <a:t>INFO</a:t>
            </a:r>
            <a:r>
              <a:rPr lang="en-IN" dirty="0">
                <a:solidFill>
                  <a:srgbClr val="C00000"/>
                </a:solidFill>
              </a:rPr>
              <a:t> </a:t>
            </a:r>
            <a:r>
              <a:rPr lang="en-IN" dirty="0"/>
              <a:t>and </a:t>
            </a:r>
            <a:r>
              <a:rPr lang="en-IN" b="1" dirty="0">
                <a:solidFill>
                  <a:srgbClr val="C00000"/>
                </a:solidFill>
              </a:rPr>
              <a:t>LINK</a:t>
            </a:r>
            <a:r>
              <a:rPr lang="en-IN" dirty="0">
                <a:solidFill>
                  <a:srgbClr val="C00000"/>
                </a:solidFill>
              </a:rPr>
              <a:t> </a:t>
            </a:r>
            <a:r>
              <a:rPr lang="en-IN" dirty="0"/>
              <a:t>fields. </a:t>
            </a:r>
          </a:p>
          <a:p>
            <a:r>
              <a:rPr lang="en-IN" b="1" dirty="0">
                <a:solidFill>
                  <a:srgbClr val="C00000"/>
                </a:solidFill>
              </a:rPr>
              <a:t>HEAD</a:t>
            </a:r>
            <a:r>
              <a:rPr lang="en-IN" dirty="0">
                <a:solidFill>
                  <a:srgbClr val="C00000"/>
                </a:solidFill>
              </a:rPr>
              <a:t> </a:t>
            </a:r>
            <a:r>
              <a:rPr lang="en-IN" dirty="0"/>
              <a:t>is pointer variable pointing to Head node of Linked List.</a:t>
            </a:r>
            <a:endParaRPr lang="en-US" dirty="0"/>
          </a:p>
          <a:p>
            <a:r>
              <a:rPr lang="en-IN" b="1" dirty="0">
                <a:solidFill>
                  <a:srgbClr val="C00000"/>
                </a:solidFill>
              </a:rPr>
              <a:t>NEW</a:t>
            </a:r>
            <a:r>
              <a:rPr lang="en-IN" dirty="0">
                <a:solidFill>
                  <a:srgbClr val="C00000"/>
                </a:solidFill>
              </a:rPr>
              <a:t> </a:t>
            </a:r>
            <a:r>
              <a:rPr lang="en-IN" dirty="0"/>
              <a:t>is a temporary pointer variable.</a:t>
            </a:r>
            <a:endParaRPr lang="en-US" dirty="0"/>
          </a:p>
          <a:p>
            <a:endParaRPr lang="en-US" dirty="0"/>
          </a:p>
          <a:p>
            <a:endParaRPr lang="en-US" dirty="0"/>
          </a:p>
        </p:txBody>
      </p:sp>
    </p:spTree>
    <p:extLst>
      <p:ext uri="{BB962C8B-B14F-4D97-AF65-F5344CB8AC3E}">
        <p14:creationId xmlns:p14="http://schemas.microsoft.com/office/powerpoint/2010/main" val="125168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t>Procedure: CIR_HEAD_INS_LAST(X,FIRST,LAST)</a:t>
            </a:r>
            <a:endParaRPr lang="en-US" sz="3200" dirty="0"/>
          </a:p>
        </p:txBody>
      </p:sp>
      <p:sp>
        <p:nvSpPr>
          <p:cNvPr id="4" name="TextBox 3"/>
          <p:cNvSpPr txBox="1"/>
          <p:nvPr/>
        </p:nvSpPr>
        <p:spPr>
          <a:xfrm>
            <a:off x="336000" y="927188"/>
            <a:ext cx="11520000" cy="2246769"/>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1. [Create New Empty Node]</a:t>
            </a:r>
          </a:p>
          <a:p>
            <a:r>
              <a:rPr lang="en-IN" sz="2000" dirty="0">
                <a:latin typeface="Consolas" pitchFamily="49" charset="0"/>
                <a:cs typeface="Consolas" pitchFamily="49" charset="0"/>
              </a:rPr>
              <a:t> </a:t>
            </a:r>
            <a:r>
              <a:rPr lang="en-IN" sz="2000" dirty="0" smtClean="0">
                <a:latin typeface="Consolas" pitchFamily="49" charset="0"/>
                <a:cs typeface="Consolas" pitchFamily="49" charset="0"/>
              </a:rPr>
              <a:t>  NEW </a:t>
            </a:r>
            <a:r>
              <a:rPr lang="en-IN" sz="2000" b="1" dirty="0">
                <a:solidFill>
                  <a:schemeClr val="accent6"/>
                </a:solidFill>
                <a:latin typeface="Consolas" pitchFamily="49" charset="0"/>
                <a:cs typeface="Consolas" pitchFamily="49" charset="0"/>
              </a:rPr>
              <a:t>&lt;=</a:t>
            </a:r>
            <a:r>
              <a:rPr lang="en-IN" sz="2000" dirty="0">
                <a:latin typeface="Consolas" pitchFamily="49" charset="0"/>
                <a:cs typeface="Consolas" pitchFamily="49" charset="0"/>
              </a:rPr>
              <a:t> </a:t>
            </a:r>
            <a:r>
              <a:rPr lang="en-IN" sz="2000" dirty="0" smtClean="0">
                <a:latin typeface="Consolas" pitchFamily="49" charset="0"/>
                <a:cs typeface="Consolas" pitchFamily="49" charset="0"/>
              </a:rPr>
              <a:t>NODE</a:t>
            </a:r>
            <a:endParaRPr lang="en-IN" sz="2000" dirty="0">
              <a:latin typeface="Consolas" pitchFamily="49" charset="0"/>
              <a:cs typeface="Consolas" pitchFamily="49" charset="0"/>
            </a:endParaRPr>
          </a:p>
          <a:p>
            <a:r>
              <a:rPr lang="en-IN" sz="2000" b="1" dirty="0">
                <a:solidFill>
                  <a:schemeClr val="tx2"/>
                </a:solidFill>
                <a:latin typeface="Consolas" pitchFamily="49" charset="0"/>
                <a:cs typeface="Consolas" pitchFamily="49" charset="0"/>
              </a:rPr>
              <a:t>2. [Initialize fields of new node and its link to the list]</a:t>
            </a:r>
          </a:p>
          <a:p>
            <a:r>
              <a:rPr lang="en-IN" sz="2000" dirty="0">
                <a:latin typeface="Consolas" pitchFamily="49" charset="0"/>
                <a:cs typeface="Consolas" pitchFamily="49" charset="0"/>
              </a:rPr>
              <a:t>   INFO(NEW) </a:t>
            </a:r>
            <a:r>
              <a:rPr lang="en-IN" sz="2000" dirty="0">
                <a:latin typeface="Consolas" pitchFamily="49" charset="0"/>
                <a:cs typeface="Consolas" pitchFamily="49" charset="0"/>
                <a:sym typeface="Wingdings" pitchFamily="2" charset="2"/>
              </a:rPr>
              <a:t> X</a:t>
            </a:r>
          </a:p>
          <a:p>
            <a:r>
              <a:rPr lang="en-IN" sz="2000" dirty="0">
                <a:latin typeface="Consolas" pitchFamily="49" charset="0"/>
                <a:cs typeface="Consolas" pitchFamily="49" charset="0"/>
                <a:sym typeface="Wingdings" pitchFamily="2" charset="2"/>
              </a:rPr>
              <a:t>   LINK(NEW)  HEAD</a:t>
            </a:r>
          </a:p>
          <a:p>
            <a:r>
              <a:rPr lang="en-IN" sz="2000" dirty="0">
                <a:latin typeface="Consolas" pitchFamily="49" charset="0"/>
                <a:cs typeface="Consolas" pitchFamily="49" charset="0"/>
                <a:sym typeface="Wingdings" pitchFamily="2" charset="2"/>
              </a:rPr>
              <a:t>   LINK(LAST)  NEW</a:t>
            </a:r>
          </a:p>
          <a:p>
            <a:r>
              <a:rPr lang="en-IN" sz="2000" dirty="0">
                <a:latin typeface="Consolas" pitchFamily="49" charset="0"/>
                <a:cs typeface="Consolas" pitchFamily="49" charset="0"/>
                <a:sym typeface="Wingdings" pitchFamily="2" charset="2"/>
              </a:rPr>
              <a:t>   LAST  NEW</a:t>
            </a:r>
            <a:endParaRPr lang="en-IN" sz="2000" dirty="0">
              <a:latin typeface="Consolas" pitchFamily="49" charset="0"/>
              <a:cs typeface="Consolas" pitchFamily="49" charset="0"/>
            </a:endParaRPr>
          </a:p>
        </p:txBody>
      </p:sp>
      <p:grpSp>
        <p:nvGrpSpPr>
          <p:cNvPr id="6" name="Group 5"/>
          <p:cNvGrpSpPr/>
          <p:nvPr/>
        </p:nvGrpSpPr>
        <p:grpSpPr>
          <a:xfrm>
            <a:off x="1581501" y="4572000"/>
            <a:ext cx="920012" cy="533400"/>
            <a:chOff x="951919" y="5486400"/>
            <a:chExt cx="920012" cy="533400"/>
          </a:xfrm>
        </p:grpSpPr>
        <p:sp>
          <p:nvSpPr>
            <p:cNvPr id="7" name="Rectangle 6"/>
            <p:cNvSpPr/>
            <p:nvPr/>
          </p:nvSpPr>
          <p:spPr>
            <a:xfrm>
              <a:off x="951919" y="5486400"/>
              <a:ext cx="533400" cy="533400"/>
            </a:xfrm>
            <a:prstGeom prst="rect">
              <a:avLst/>
            </a:prstGeom>
            <a:pattFill prst="wdUpDiag">
              <a:fgClr>
                <a:schemeClr val="tx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8" name="Rectangle 7"/>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9" name="Group 8"/>
          <p:cNvGrpSpPr/>
          <p:nvPr/>
        </p:nvGrpSpPr>
        <p:grpSpPr>
          <a:xfrm>
            <a:off x="2961239" y="4572000"/>
            <a:ext cx="920012" cy="533400"/>
            <a:chOff x="951919" y="5486400"/>
            <a:chExt cx="920012" cy="533400"/>
          </a:xfrm>
        </p:grpSpPr>
        <p:sp>
          <p:nvSpPr>
            <p:cNvPr id="10" name="Rectangle 9"/>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11" name="Rectangle 10"/>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2" name="Group 11"/>
          <p:cNvGrpSpPr/>
          <p:nvPr/>
        </p:nvGrpSpPr>
        <p:grpSpPr>
          <a:xfrm>
            <a:off x="4180439" y="4572000"/>
            <a:ext cx="920012" cy="533400"/>
            <a:chOff x="951919" y="5486400"/>
            <a:chExt cx="920012" cy="533400"/>
          </a:xfrm>
        </p:grpSpPr>
        <p:sp>
          <p:nvSpPr>
            <p:cNvPr id="13" name="Rectangle 12"/>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15</a:t>
              </a:r>
              <a:endParaRPr lang="en-US" sz="2400" b="1" dirty="0"/>
            </a:p>
          </p:txBody>
        </p:sp>
        <p:sp>
          <p:nvSpPr>
            <p:cNvPr id="14" name="Rectangle 13"/>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5" name="Group 14"/>
          <p:cNvGrpSpPr/>
          <p:nvPr/>
        </p:nvGrpSpPr>
        <p:grpSpPr>
          <a:xfrm>
            <a:off x="5399639" y="4572000"/>
            <a:ext cx="920012" cy="533400"/>
            <a:chOff x="951919" y="5486400"/>
            <a:chExt cx="920012" cy="533400"/>
          </a:xfrm>
        </p:grpSpPr>
        <p:sp>
          <p:nvSpPr>
            <p:cNvPr id="16" name="Rectangle 15"/>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20</a:t>
              </a:r>
              <a:endParaRPr lang="en-US" sz="2400" b="1" dirty="0"/>
            </a:p>
          </p:txBody>
        </p:sp>
        <p:sp>
          <p:nvSpPr>
            <p:cNvPr id="17" name="Rectangle 16"/>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8" name="Group 17"/>
          <p:cNvGrpSpPr/>
          <p:nvPr/>
        </p:nvGrpSpPr>
        <p:grpSpPr>
          <a:xfrm>
            <a:off x="6618839" y="4572000"/>
            <a:ext cx="920012" cy="533400"/>
            <a:chOff x="951919" y="5486400"/>
            <a:chExt cx="920012" cy="533400"/>
          </a:xfrm>
        </p:grpSpPr>
        <p:sp>
          <p:nvSpPr>
            <p:cNvPr id="19" name="Rectangle 18"/>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25</a:t>
              </a:r>
              <a:endParaRPr lang="en-US" sz="2400" b="1" dirty="0"/>
            </a:p>
          </p:txBody>
        </p:sp>
        <p:sp>
          <p:nvSpPr>
            <p:cNvPr id="20" name="Rectangle 19"/>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24" name="Straight Arrow Connector 23"/>
          <p:cNvCxnSpPr>
            <a:stCxn id="8" idx="3"/>
            <a:endCxn id="10" idx="1"/>
          </p:cNvCxnSpPr>
          <p:nvPr/>
        </p:nvCxnSpPr>
        <p:spPr>
          <a:xfrm>
            <a:off x="2501513" y="4838700"/>
            <a:ext cx="459726"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5" name="Straight Arrow Connector 24"/>
          <p:cNvCxnSpPr>
            <a:stCxn id="11" idx="3"/>
            <a:endCxn id="13" idx="1"/>
          </p:cNvCxnSpPr>
          <p:nvPr/>
        </p:nvCxnSpPr>
        <p:spPr>
          <a:xfrm>
            <a:off x="3881251" y="4838700"/>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6" name="Straight Arrow Connector 25"/>
          <p:cNvCxnSpPr>
            <a:stCxn id="14" idx="3"/>
            <a:endCxn id="16" idx="1"/>
          </p:cNvCxnSpPr>
          <p:nvPr/>
        </p:nvCxnSpPr>
        <p:spPr>
          <a:xfrm>
            <a:off x="5100451" y="4838700"/>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7" name="Straight Arrow Connector 26"/>
          <p:cNvCxnSpPr>
            <a:stCxn id="17" idx="3"/>
            <a:endCxn id="19" idx="1"/>
          </p:cNvCxnSpPr>
          <p:nvPr/>
        </p:nvCxnSpPr>
        <p:spPr>
          <a:xfrm>
            <a:off x="6319651" y="4838700"/>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9" name="TextBox 28"/>
          <p:cNvSpPr txBox="1"/>
          <p:nvPr/>
        </p:nvSpPr>
        <p:spPr>
          <a:xfrm>
            <a:off x="8747973" y="3364468"/>
            <a:ext cx="612668" cy="369332"/>
          </a:xfrm>
          <a:prstGeom prst="rect">
            <a:avLst/>
          </a:prstGeom>
          <a:noFill/>
        </p:spPr>
        <p:txBody>
          <a:bodyPr wrap="none" rtlCol="0">
            <a:spAutoFit/>
          </a:bodyPr>
          <a:lstStyle/>
          <a:p>
            <a:pPr algn="ctr"/>
            <a:r>
              <a:rPr lang="en-IN" b="1" dirty="0">
                <a:solidFill>
                  <a:srgbClr val="FF0000"/>
                </a:solidFill>
              </a:rPr>
              <a:t>NEW</a:t>
            </a:r>
            <a:endParaRPr lang="en-US" b="1" dirty="0">
              <a:solidFill>
                <a:srgbClr val="FF0000"/>
              </a:solidFill>
            </a:endParaRPr>
          </a:p>
        </p:txBody>
      </p:sp>
      <p:grpSp>
        <p:nvGrpSpPr>
          <p:cNvPr id="31" name="Group 30"/>
          <p:cNvGrpSpPr/>
          <p:nvPr/>
        </p:nvGrpSpPr>
        <p:grpSpPr>
          <a:xfrm>
            <a:off x="8572330" y="3733800"/>
            <a:ext cx="920012" cy="533400"/>
            <a:chOff x="951919" y="5486400"/>
            <a:chExt cx="920012" cy="533400"/>
          </a:xfrm>
        </p:grpSpPr>
        <p:sp>
          <p:nvSpPr>
            <p:cNvPr id="32" name="Rectangle 31"/>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50</a:t>
              </a:r>
              <a:endParaRPr lang="en-US" sz="2400" b="1" dirty="0"/>
            </a:p>
          </p:txBody>
        </p:sp>
        <p:sp>
          <p:nvSpPr>
            <p:cNvPr id="33" name="Rectangle 32"/>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sp>
        <p:nvSpPr>
          <p:cNvPr id="34" name="TextBox 33"/>
          <p:cNvSpPr txBox="1"/>
          <p:nvPr/>
        </p:nvSpPr>
        <p:spPr>
          <a:xfrm>
            <a:off x="1505302" y="4191000"/>
            <a:ext cx="725263" cy="369332"/>
          </a:xfrm>
          <a:prstGeom prst="rect">
            <a:avLst/>
          </a:prstGeom>
          <a:noFill/>
        </p:spPr>
        <p:txBody>
          <a:bodyPr wrap="none" rtlCol="0">
            <a:spAutoFit/>
          </a:bodyPr>
          <a:lstStyle/>
          <a:p>
            <a:pPr algn="ctr"/>
            <a:r>
              <a:rPr lang="en-IN" b="1" dirty="0">
                <a:solidFill>
                  <a:srgbClr val="FF0000"/>
                </a:solidFill>
              </a:rPr>
              <a:t>HEAD</a:t>
            </a:r>
            <a:endParaRPr lang="en-US" b="1" dirty="0">
              <a:solidFill>
                <a:srgbClr val="FF0000"/>
              </a:solidFill>
            </a:endParaRPr>
          </a:p>
        </p:txBody>
      </p:sp>
      <p:sp>
        <p:nvSpPr>
          <p:cNvPr id="37" name="Freeform 36"/>
          <p:cNvSpPr/>
          <p:nvPr/>
        </p:nvSpPr>
        <p:spPr>
          <a:xfrm>
            <a:off x="1334984" y="4789714"/>
            <a:ext cx="6709559" cy="837418"/>
          </a:xfrm>
          <a:custGeom>
            <a:avLst/>
            <a:gdLst>
              <a:gd name="connsiteX0" fmla="*/ 6210795 w 6709559"/>
              <a:gd name="connsiteY0" fmla="*/ 0 h 902525"/>
              <a:gd name="connsiteX1" fmla="*/ 6709559 w 6709559"/>
              <a:gd name="connsiteY1" fmla="*/ 0 h 902525"/>
              <a:gd name="connsiteX2" fmla="*/ 6709559 w 6709559"/>
              <a:gd name="connsiteY2" fmla="*/ 902525 h 902525"/>
              <a:gd name="connsiteX3" fmla="*/ 0 w 6709559"/>
              <a:gd name="connsiteY3" fmla="*/ 902525 h 902525"/>
              <a:gd name="connsiteX4" fmla="*/ 0 w 6709559"/>
              <a:gd name="connsiteY4" fmla="*/ 23751 h 902525"/>
              <a:gd name="connsiteX5" fmla="*/ 225632 w 6709559"/>
              <a:gd name="connsiteY5" fmla="*/ 23751 h 90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09559" h="902525">
                <a:moveTo>
                  <a:pt x="6210795" y="0"/>
                </a:moveTo>
                <a:lnTo>
                  <a:pt x="6709559" y="0"/>
                </a:lnTo>
                <a:lnTo>
                  <a:pt x="6709559" y="902525"/>
                </a:lnTo>
                <a:lnTo>
                  <a:pt x="0" y="902525"/>
                </a:lnTo>
                <a:lnTo>
                  <a:pt x="0" y="23751"/>
                </a:lnTo>
                <a:lnTo>
                  <a:pt x="225632" y="23751"/>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38" name="TextBox 37"/>
          <p:cNvSpPr txBox="1"/>
          <p:nvPr/>
        </p:nvSpPr>
        <p:spPr>
          <a:xfrm>
            <a:off x="2831719" y="5257800"/>
            <a:ext cx="734496" cy="369332"/>
          </a:xfrm>
          <a:prstGeom prst="rect">
            <a:avLst/>
          </a:prstGeom>
          <a:noFill/>
        </p:spPr>
        <p:txBody>
          <a:bodyPr wrap="none" rtlCol="0">
            <a:spAutoFit/>
          </a:bodyPr>
          <a:lstStyle/>
          <a:p>
            <a:pPr algn="ctr"/>
            <a:r>
              <a:rPr lang="en-IN" b="1" dirty="0">
                <a:solidFill>
                  <a:srgbClr val="FF0000"/>
                </a:solidFill>
              </a:rPr>
              <a:t>FIRST</a:t>
            </a:r>
            <a:endParaRPr lang="en-US" b="1" dirty="0">
              <a:solidFill>
                <a:srgbClr val="FF0000"/>
              </a:solidFill>
            </a:endParaRPr>
          </a:p>
        </p:txBody>
      </p:sp>
      <p:cxnSp>
        <p:nvCxnSpPr>
          <p:cNvPr id="40" name="Straight Arrow Connector 39"/>
          <p:cNvCxnSpPr/>
          <p:nvPr/>
        </p:nvCxnSpPr>
        <p:spPr>
          <a:xfrm flipV="1">
            <a:off x="3198967" y="5105401"/>
            <a:ext cx="0" cy="22315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47" name="Group 46"/>
          <p:cNvGrpSpPr/>
          <p:nvPr/>
        </p:nvGrpSpPr>
        <p:grpSpPr>
          <a:xfrm>
            <a:off x="6618877" y="5105400"/>
            <a:ext cx="683200" cy="526682"/>
            <a:chOff x="5813335" y="5105400"/>
            <a:chExt cx="683200" cy="526682"/>
          </a:xfrm>
        </p:grpSpPr>
        <p:sp>
          <p:nvSpPr>
            <p:cNvPr id="41" name="TextBox 40"/>
            <p:cNvSpPr txBox="1"/>
            <p:nvPr/>
          </p:nvSpPr>
          <p:spPr>
            <a:xfrm>
              <a:off x="5813335" y="5262750"/>
              <a:ext cx="683200" cy="369332"/>
            </a:xfrm>
            <a:prstGeom prst="rect">
              <a:avLst/>
            </a:prstGeom>
            <a:noFill/>
          </p:spPr>
          <p:txBody>
            <a:bodyPr wrap="none" rtlCol="0">
              <a:spAutoFit/>
            </a:bodyPr>
            <a:lstStyle/>
            <a:p>
              <a:pPr algn="ctr"/>
              <a:r>
                <a:rPr lang="en-IN" b="1" dirty="0">
                  <a:solidFill>
                    <a:srgbClr val="FF0000"/>
                  </a:solidFill>
                </a:rPr>
                <a:t>LAST</a:t>
              </a:r>
              <a:endParaRPr lang="en-US" b="1" dirty="0">
                <a:solidFill>
                  <a:srgbClr val="FF0000"/>
                </a:solidFill>
              </a:endParaRPr>
            </a:p>
          </p:txBody>
        </p:sp>
        <p:cxnSp>
          <p:nvCxnSpPr>
            <p:cNvPr id="42" name="Straight Arrow Connector 41"/>
            <p:cNvCxnSpPr/>
            <p:nvPr/>
          </p:nvCxnSpPr>
          <p:spPr>
            <a:xfrm flipV="1">
              <a:off x="6154935" y="5105400"/>
              <a:ext cx="0" cy="22315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45" name="Freeform 44"/>
          <p:cNvSpPr/>
          <p:nvPr/>
        </p:nvSpPr>
        <p:spPr>
          <a:xfrm>
            <a:off x="1043048" y="4263243"/>
            <a:ext cx="8241476" cy="1876301"/>
          </a:xfrm>
          <a:custGeom>
            <a:avLst/>
            <a:gdLst>
              <a:gd name="connsiteX0" fmla="*/ 8241476 w 8241476"/>
              <a:gd name="connsiteY0" fmla="*/ 0 h 1876301"/>
              <a:gd name="connsiteX1" fmla="*/ 8241476 w 8241476"/>
              <a:gd name="connsiteY1" fmla="*/ 1876301 h 1876301"/>
              <a:gd name="connsiteX2" fmla="*/ 0 w 8241476"/>
              <a:gd name="connsiteY2" fmla="*/ 1876301 h 1876301"/>
              <a:gd name="connsiteX3" fmla="*/ 0 w 8241476"/>
              <a:gd name="connsiteY3" fmla="*/ 581890 h 1876301"/>
              <a:gd name="connsiteX4" fmla="*/ 498764 w 8241476"/>
              <a:gd name="connsiteY4" fmla="*/ 581890 h 1876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41476" h="1876301">
                <a:moveTo>
                  <a:pt x="8241476" y="0"/>
                </a:moveTo>
                <a:lnTo>
                  <a:pt x="8241476" y="1876301"/>
                </a:lnTo>
                <a:lnTo>
                  <a:pt x="0" y="1876301"/>
                </a:lnTo>
                <a:lnTo>
                  <a:pt x="0" y="581890"/>
                </a:lnTo>
                <a:lnTo>
                  <a:pt x="498764" y="581890"/>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46" name="Freeform 45"/>
          <p:cNvSpPr/>
          <p:nvPr/>
        </p:nvSpPr>
        <p:spPr>
          <a:xfrm>
            <a:off x="7313220" y="3990109"/>
            <a:ext cx="1270660" cy="558140"/>
          </a:xfrm>
          <a:custGeom>
            <a:avLst/>
            <a:gdLst>
              <a:gd name="connsiteX0" fmla="*/ 0 w 1270660"/>
              <a:gd name="connsiteY0" fmla="*/ 558140 h 558140"/>
              <a:gd name="connsiteX1" fmla="*/ 0 w 1270660"/>
              <a:gd name="connsiteY1" fmla="*/ 0 h 558140"/>
              <a:gd name="connsiteX2" fmla="*/ 1270660 w 1270660"/>
              <a:gd name="connsiteY2" fmla="*/ 0 h 558140"/>
            </a:gdLst>
            <a:ahLst/>
            <a:cxnLst>
              <a:cxn ang="0">
                <a:pos x="connsiteX0" y="connsiteY0"/>
              </a:cxn>
              <a:cxn ang="0">
                <a:pos x="connsiteX1" y="connsiteY1"/>
              </a:cxn>
              <a:cxn ang="0">
                <a:pos x="connsiteX2" y="connsiteY2"/>
              </a:cxn>
            </a:cxnLst>
            <a:rect l="l" t="t" r="r" b="b"/>
            <a:pathLst>
              <a:path w="1270660" h="558140">
                <a:moveTo>
                  <a:pt x="0" y="558140"/>
                </a:moveTo>
                <a:lnTo>
                  <a:pt x="0" y="0"/>
                </a:lnTo>
                <a:lnTo>
                  <a:pt x="1270660" y="0"/>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280475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1" presetClass="entr" presetSubtype="1" fill="hold" grpId="0" nodeType="click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wheel(1)">
                                      <p:cBhvr>
                                        <p:cTn id="67" dur="2000"/>
                                        <p:tgtEl>
                                          <p:spTgt spid="45"/>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46"/>
                                        </p:tgtEl>
                                        <p:attrNameLst>
                                          <p:attrName>style.visibility</p:attrName>
                                        </p:attrNameLst>
                                      </p:cBhvr>
                                      <p:to>
                                        <p:strVal val="visible"/>
                                      </p:to>
                                    </p:set>
                                    <p:animEffect transition="in" filter="wipe(down)">
                                      <p:cBhvr>
                                        <p:cTn id="72" dur="500"/>
                                        <p:tgtEl>
                                          <p:spTgt spid="46"/>
                                        </p:tgtEl>
                                      </p:cBhvr>
                                    </p:animEffect>
                                  </p:childTnLst>
                                </p:cTn>
                              </p:par>
                              <p:par>
                                <p:cTn id="73" presetID="1" presetClass="exit" presetSubtype="0" fill="hold" grpId="1" nodeType="withEffect">
                                  <p:stCondLst>
                                    <p:cond delay="0"/>
                                  </p:stCondLst>
                                  <p:childTnLst>
                                    <p:set>
                                      <p:cBhvr>
                                        <p:cTn id="74" dur="1" fill="hold">
                                          <p:stCondLst>
                                            <p:cond delay="0"/>
                                          </p:stCondLst>
                                        </p:cTn>
                                        <p:tgtEl>
                                          <p:spTgt spid="37"/>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50" presetClass="path" presetSubtype="0" accel="50000" decel="50000" fill="hold" nodeType="clickEffect">
                                  <p:stCondLst>
                                    <p:cond delay="0"/>
                                  </p:stCondLst>
                                  <p:childTnLst>
                                    <p:animMotion origin="layout" path="M 0.10196 -3.7037E-7 L 0.15586 -3.7037E-7 C 0.18008 -3.7037E-7 0.21029 -0.03472 0.21029 -0.06273 L 0.21029 -0.125 " pathEditMode="relative" rAng="0" ptsTypes="AAAA">
                                      <p:cBhvr>
                                        <p:cTn id="78" dur="2000" fill="hold"/>
                                        <p:tgtEl>
                                          <p:spTgt spid="47"/>
                                        </p:tgtEl>
                                        <p:attrNameLst>
                                          <p:attrName>ppt_x</p:attrName>
                                          <p:attrName>ppt_y</p:attrName>
                                        </p:attrNameLst>
                                      </p:cBhvr>
                                      <p:rCtr x="5417" y="-625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9" grpId="0"/>
      <p:bldP spid="34" grpId="0"/>
      <p:bldP spid="37" grpId="0" animBg="1"/>
      <p:bldP spid="37" grpId="1" animBg="1"/>
      <p:bldP spid="38" grpId="0"/>
      <p:bldP spid="45" grpId="0" animBg="1"/>
      <p:bldP spid="46"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Procedure: CIR_HEAD_INS_AFTER-P (X,FIRST,LAST)</a:t>
            </a:r>
            <a:endParaRPr lang="en-US" dirty="0"/>
          </a:p>
        </p:txBody>
      </p:sp>
      <p:sp>
        <p:nvSpPr>
          <p:cNvPr id="3" name="Content Placeholder 2"/>
          <p:cNvSpPr>
            <a:spLocks noGrp="1"/>
          </p:cNvSpPr>
          <p:nvPr>
            <p:ph idx="1"/>
          </p:nvPr>
        </p:nvSpPr>
        <p:spPr/>
        <p:txBody>
          <a:bodyPr/>
          <a:lstStyle/>
          <a:p>
            <a:r>
              <a:rPr lang="en-IN" dirty="0"/>
              <a:t>This procedure </a:t>
            </a:r>
            <a:r>
              <a:rPr lang="en-IN" b="1" dirty="0">
                <a:solidFill>
                  <a:srgbClr val="C00000"/>
                </a:solidFill>
              </a:rPr>
              <a:t>inserts a new node</a:t>
            </a:r>
            <a:r>
              <a:rPr lang="en-IN" b="1" dirty="0">
                <a:solidFill>
                  <a:srgbClr val="FF0000"/>
                </a:solidFill>
              </a:rPr>
              <a:t> </a:t>
            </a:r>
            <a:r>
              <a:rPr lang="en-IN" b="1" dirty="0">
                <a:solidFill>
                  <a:srgbClr val="C00000"/>
                </a:solidFill>
              </a:rPr>
              <a:t> after a node whose address is given by P</a:t>
            </a:r>
            <a:r>
              <a:rPr lang="en-IN" b="1" dirty="0">
                <a:solidFill>
                  <a:srgbClr val="FF0000"/>
                </a:solidFill>
              </a:rPr>
              <a:t> </a:t>
            </a:r>
            <a:r>
              <a:rPr lang="en-IN" dirty="0"/>
              <a:t>of Circular linked list with Head node. </a:t>
            </a:r>
          </a:p>
          <a:p>
            <a:r>
              <a:rPr lang="en-IN" b="1" dirty="0">
                <a:solidFill>
                  <a:srgbClr val="C00000"/>
                </a:solidFill>
              </a:rPr>
              <a:t>X</a:t>
            </a:r>
            <a:r>
              <a:rPr lang="en-IN" dirty="0">
                <a:solidFill>
                  <a:srgbClr val="C00000"/>
                </a:solidFill>
              </a:rPr>
              <a:t> </a:t>
            </a:r>
            <a:r>
              <a:rPr lang="en-IN" dirty="0"/>
              <a:t>is a new element to be inserted.</a:t>
            </a:r>
          </a:p>
          <a:p>
            <a:r>
              <a:rPr lang="en-IN" b="1" dirty="0">
                <a:solidFill>
                  <a:srgbClr val="C00000"/>
                </a:solidFill>
              </a:rPr>
              <a:t>FIRST</a:t>
            </a:r>
            <a:r>
              <a:rPr lang="en-IN" dirty="0">
                <a:solidFill>
                  <a:srgbClr val="C00000"/>
                </a:solidFill>
              </a:rPr>
              <a:t> </a:t>
            </a:r>
            <a:r>
              <a:rPr lang="en-IN" dirty="0"/>
              <a:t>and </a:t>
            </a:r>
            <a:r>
              <a:rPr lang="en-IN" b="1" dirty="0">
                <a:solidFill>
                  <a:srgbClr val="C00000"/>
                </a:solidFill>
              </a:rPr>
              <a:t>LAST</a:t>
            </a:r>
            <a:r>
              <a:rPr lang="en-IN" dirty="0">
                <a:solidFill>
                  <a:srgbClr val="C00000"/>
                </a:solidFill>
              </a:rPr>
              <a:t> </a:t>
            </a:r>
            <a:r>
              <a:rPr lang="en-IN" dirty="0"/>
              <a:t>are a </a:t>
            </a:r>
            <a:r>
              <a:rPr lang="en-IN" b="1" dirty="0"/>
              <a:t>pointer to the first &amp; last elements</a:t>
            </a:r>
            <a:r>
              <a:rPr lang="en-IN" dirty="0"/>
              <a:t> of a Circular linked linear list, respectively. </a:t>
            </a:r>
          </a:p>
          <a:p>
            <a:r>
              <a:rPr lang="en-IN" dirty="0"/>
              <a:t>Typical node contains </a:t>
            </a:r>
            <a:r>
              <a:rPr lang="en-IN" b="1" dirty="0">
                <a:solidFill>
                  <a:srgbClr val="C00000"/>
                </a:solidFill>
              </a:rPr>
              <a:t>INFO</a:t>
            </a:r>
            <a:r>
              <a:rPr lang="en-IN" dirty="0">
                <a:solidFill>
                  <a:srgbClr val="C00000"/>
                </a:solidFill>
              </a:rPr>
              <a:t> </a:t>
            </a:r>
            <a:r>
              <a:rPr lang="en-IN" dirty="0"/>
              <a:t>and </a:t>
            </a:r>
            <a:r>
              <a:rPr lang="en-IN" b="1" dirty="0">
                <a:solidFill>
                  <a:srgbClr val="C00000"/>
                </a:solidFill>
              </a:rPr>
              <a:t>LINK</a:t>
            </a:r>
            <a:r>
              <a:rPr lang="en-IN" dirty="0">
                <a:solidFill>
                  <a:srgbClr val="C00000"/>
                </a:solidFill>
              </a:rPr>
              <a:t> </a:t>
            </a:r>
            <a:r>
              <a:rPr lang="en-IN" dirty="0"/>
              <a:t>fields. </a:t>
            </a:r>
          </a:p>
          <a:p>
            <a:r>
              <a:rPr lang="en-IN" b="1" dirty="0">
                <a:solidFill>
                  <a:srgbClr val="C00000"/>
                </a:solidFill>
              </a:rPr>
              <a:t>HEAD</a:t>
            </a:r>
            <a:r>
              <a:rPr lang="en-IN" dirty="0">
                <a:solidFill>
                  <a:srgbClr val="C00000"/>
                </a:solidFill>
              </a:rPr>
              <a:t> </a:t>
            </a:r>
            <a:r>
              <a:rPr lang="en-IN" dirty="0"/>
              <a:t>is pointer variable pointing to Head node of Linked List.</a:t>
            </a:r>
            <a:endParaRPr lang="en-US" dirty="0"/>
          </a:p>
          <a:p>
            <a:r>
              <a:rPr lang="en-IN" b="1" dirty="0">
                <a:solidFill>
                  <a:srgbClr val="C00000"/>
                </a:solidFill>
              </a:rPr>
              <a:t>NEW</a:t>
            </a:r>
            <a:r>
              <a:rPr lang="en-IN" dirty="0">
                <a:solidFill>
                  <a:srgbClr val="C00000"/>
                </a:solidFill>
              </a:rPr>
              <a:t> </a:t>
            </a:r>
            <a:r>
              <a:rPr lang="en-IN" dirty="0"/>
              <a:t>is a temporary pointer variable.</a:t>
            </a:r>
            <a:endParaRPr lang="en-US" dirty="0"/>
          </a:p>
          <a:p>
            <a:endParaRPr lang="en-US" dirty="0"/>
          </a:p>
          <a:p>
            <a:endParaRPr lang="en-US" dirty="0"/>
          </a:p>
        </p:txBody>
      </p:sp>
    </p:spTree>
    <p:extLst>
      <p:ext uri="{BB962C8B-B14F-4D97-AF65-F5344CB8AC3E}">
        <p14:creationId xmlns:p14="http://schemas.microsoft.com/office/powerpoint/2010/main" val="1181949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t>Procedure: CIR_HEAD_INS_AFTER-P (X,FIRST,LAST)</a:t>
            </a:r>
            <a:endParaRPr lang="en-US" sz="3200" dirty="0"/>
          </a:p>
        </p:txBody>
      </p:sp>
      <p:sp>
        <p:nvSpPr>
          <p:cNvPr id="4" name="TextBox 3"/>
          <p:cNvSpPr txBox="1"/>
          <p:nvPr/>
        </p:nvSpPr>
        <p:spPr>
          <a:xfrm>
            <a:off x="336000" y="889952"/>
            <a:ext cx="11520000" cy="2554545"/>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1. [Create New Empty Node]</a:t>
            </a:r>
          </a:p>
          <a:p>
            <a:r>
              <a:rPr lang="en-IN" sz="2000" dirty="0">
                <a:latin typeface="Consolas" pitchFamily="49" charset="0"/>
                <a:cs typeface="Consolas" pitchFamily="49" charset="0"/>
              </a:rPr>
              <a:t> </a:t>
            </a:r>
            <a:r>
              <a:rPr lang="en-IN" sz="2000" dirty="0" smtClean="0">
                <a:latin typeface="Consolas" pitchFamily="49" charset="0"/>
                <a:cs typeface="Consolas" pitchFamily="49" charset="0"/>
              </a:rPr>
              <a:t>  NEW </a:t>
            </a:r>
            <a:r>
              <a:rPr lang="en-IN" sz="2000" b="1" dirty="0">
                <a:solidFill>
                  <a:schemeClr val="accent6"/>
                </a:solidFill>
                <a:latin typeface="Consolas" pitchFamily="49" charset="0"/>
                <a:cs typeface="Consolas" pitchFamily="49" charset="0"/>
              </a:rPr>
              <a:t>&lt;=</a:t>
            </a:r>
            <a:r>
              <a:rPr lang="en-IN" sz="2000" dirty="0">
                <a:latin typeface="Consolas" pitchFamily="49" charset="0"/>
                <a:cs typeface="Consolas" pitchFamily="49" charset="0"/>
              </a:rPr>
              <a:t> </a:t>
            </a:r>
            <a:r>
              <a:rPr lang="en-IN" sz="2000" dirty="0" smtClean="0">
                <a:latin typeface="Consolas" pitchFamily="49" charset="0"/>
                <a:cs typeface="Consolas" pitchFamily="49" charset="0"/>
              </a:rPr>
              <a:t>NODE</a:t>
            </a:r>
            <a:endParaRPr lang="en-IN" sz="2000" dirty="0">
              <a:latin typeface="Consolas" pitchFamily="49" charset="0"/>
              <a:cs typeface="Consolas" pitchFamily="49" charset="0"/>
            </a:endParaRPr>
          </a:p>
          <a:p>
            <a:r>
              <a:rPr lang="en-IN" sz="2000" b="1" dirty="0">
                <a:solidFill>
                  <a:schemeClr val="tx2"/>
                </a:solidFill>
                <a:latin typeface="Consolas" pitchFamily="49" charset="0"/>
                <a:cs typeface="Consolas" pitchFamily="49" charset="0"/>
              </a:rPr>
              <a:t>2. [Initialize fields of new node and its link to the list]</a:t>
            </a:r>
          </a:p>
          <a:p>
            <a:r>
              <a:rPr lang="en-IN" sz="2000" dirty="0">
                <a:latin typeface="Consolas" pitchFamily="49" charset="0"/>
                <a:cs typeface="Consolas" pitchFamily="49" charset="0"/>
              </a:rPr>
              <a:t>    INFO(NEW) </a:t>
            </a:r>
            <a:r>
              <a:rPr lang="en-IN" sz="2000" dirty="0">
                <a:latin typeface="Consolas" pitchFamily="49" charset="0"/>
                <a:cs typeface="Consolas" pitchFamily="49" charset="0"/>
                <a:sym typeface="Wingdings" pitchFamily="2" charset="2"/>
              </a:rPr>
              <a:t> X</a:t>
            </a:r>
          </a:p>
          <a:p>
            <a:r>
              <a:rPr lang="en-IN" sz="2000" dirty="0">
                <a:latin typeface="Consolas" pitchFamily="49" charset="0"/>
                <a:cs typeface="Consolas" pitchFamily="49" charset="0"/>
                <a:sym typeface="Wingdings" pitchFamily="2" charset="2"/>
              </a:rPr>
              <a:t>    LINK(NEW)  LINK(P)</a:t>
            </a:r>
          </a:p>
          <a:p>
            <a:r>
              <a:rPr lang="en-IN" sz="2000" dirty="0">
                <a:latin typeface="Consolas" pitchFamily="49" charset="0"/>
                <a:cs typeface="Consolas" pitchFamily="49" charset="0"/>
                <a:sym typeface="Wingdings" pitchFamily="2" charset="2"/>
              </a:rPr>
              <a:t>    LINK(P)  NEW</a:t>
            </a:r>
          </a:p>
          <a:p>
            <a:r>
              <a:rPr lang="en-IN" sz="2000" dirty="0">
                <a:latin typeface="Consolas" pitchFamily="49" charset="0"/>
                <a:cs typeface="Consolas" pitchFamily="49" charset="0"/>
                <a:sym typeface="Wingdings" pitchFamily="2" charset="2"/>
              </a:rPr>
              <a:t>    </a:t>
            </a:r>
            <a:r>
              <a:rPr lang="en-IN" sz="2000" b="1" dirty="0">
                <a:solidFill>
                  <a:schemeClr val="tx2">
                    <a:lumMod val="75000"/>
                  </a:schemeClr>
                </a:solidFill>
                <a:latin typeface="Consolas" pitchFamily="49" charset="0"/>
                <a:cs typeface="Consolas" pitchFamily="49" charset="0"/>
                <a:sym typeface="Wingdings" pitchFamily="2" charset="2"/>
              </a:rPr>
              <a:t>IF</a:t>
            </a:r>
            <a:r>
              <a:rPr lang="en-IN" sz="2000" dirty="0">
                <a:latin typeface="Consolas" pitchFamily="49" charset="0"/>
                <a:cs typeface="Consolas" pitchFamily="49" charset="0"/>
                <a:sym typeface="Wingdings" pitchFamily="2" charset="2"/>
              </a:rPr>
              <a:t>   P = LAST</a:t>
            </a:r>
          </a:p>
          <a:p>
            <a:r>
              <a:rPr lang="en-IN" sz="2000" dirty="0">
                <a:latin typeface="Consolas" pitchFamily="49" charset="0"/>
                <a:cs typeface="Consolas" pitchFamily="49" charset="0"/>
                <a:sym typeface="Wingdings" pitchFamily="2" charset="2"/>
              </a:rPr>
              <a:t>    </a:t>
            </a:r>
            <a:r>
              <a:rPr lang="en-IN" sz="2000" b="1" dirty="0">
                <a:solidFill>
                  <a:schemeClr val="tx2">
                    <a:lumMod val="75000"/>
                  </a:schemeClr>
                </a:solidFill>
                <a:latin typeface="Consolas" pitchFamily="49" charset="0"/>
                <a:cs typeface="Consolas" pitchFamily="49" charset="0"/>
                <a:sym typeface="Wingdings" pitchFamily="2" charset="2"/>
              </a:rPr>
              <a:t>THEN</a:t>
            </a:r>
            <a:r>
              <a:rPr lang="en-IN" sz="2000" dirty="0">
                <a:solidFill>
                  <a:schemeClr val="tx2">
                    <a:lumMod val="75000"/>
                  </a:schemeClr>
                </a:solidFill>
                <a:latin typeface="Consolas" pitchFamily="49" charset="0"/>
                <a:cs typeface="Consolas" pitchFamily="49" charset="0"/>
                <a:sym typeface="Wingdings" pitchFamily="2" charset="2"/>
              </a:rPr>
              <a:t> </a:t>
            </a:r>
            <a:r>
              <a:rPr lang="en-IN" sz="2000" dirty="0">
                <a:latin typeface="Consolas" pitchFamily="49" charset="0"/>
                <a:cs typeface="Consolas" pitchFamily="49" charset="0"/>
                <a:sym typeface="Wingdings" pitchFamily="2" charset="2"/>
              </a:rPr>
              <a:t>LAST  NEW</a:t>
            </a:r>
            <a:endParaRPr lang="en-IN" sz="2000" dirty="0">
              <a:latin typeface="Consolas" pitchFamily="49" charset="0"/>
              <a:cs typeface="Consolas" pitchFamily="49" charset="0"/>
            </a:endParaRPr>
          </a:p>
        </p:txBody>
      </p:sp>
      <p:grpSp>
        <p:nvGrpSpPr>
          <p:cNvPr id="6" name="Group 5"/>
          <p:cNvGrpSpPr/>
          <p:nvPr/>
        </p:nvGrpSpPr>
        <p:grpSpPr>
          <a:xfrm>
            <a:off x="1607623" y="4656408"/>
            <a:ext cx="920012" cy="533400"/>
            <a:chOff x="951919" y="5486400"/>
            <a:chExt cx="920012" cy="533400"/>
          </a:xfrm>
        </p:grpSpPr>
        <p:sp>
          <p:nvSpPr>
            <p:cNvPr id="7" name="Rectangle 6"/>
            <p:cNvSpPr/>
            <p:nvPr/>
          </p:nvSpPr>
          <p:spPr>
            <a:xfrm>
              <a:off x="951919" y="5486400"/>
              <a:ext cx="533400" cy="533400"/>
            </a:xfrm>
            <a:prstGeom prst="rect">
              <a:avLst/>
            </a:prstGeom>
            <a:pattFill prst="wdUpDiag">
              <a:fgClr>
                <a:schemeClr val="tx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8" name="Rectangle 7"/>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9" name="Group 8"/>
          <p:cNvGrpSpPr/>
          <p:nvPr/>
        </p:nvGrpSpPr>
        <p:grpSpPr>
          <a:xfrm>
            <a:off x="2987361" y="4656408"/>
            <a:ext cx="920012" cy="533400"/>
            <a:chOff x="951919" y="5486400"/>
            <a:chExt cx="920012" cy="533400"/>
          </a:xfrm>
        </p:grpSpPr>
        <p:sp>
          <p:nvSpPr>
            <p:cNvPr id="10" name="Rectangle 9"/>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11" name="Rectangle 10"/>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2" name="Group 11"/>
          <p:cNvGrpSpPr/>
          <p:nvPr/>
        </p:nvGrpSpPr>
        <p:grpSpPr>
          <a:xfrm>
            <a:off x="4206561" y="4656408"/>
            <a:ext cx="920012" cy="533400"/>
            <a:chOff x="951919" y="5486400"/>
            <a:chExt cx="920012" cy="533400"/>
          </a:xfrm>
        </p:grpSpPr>
        <p:sp>
          <p:nvSpPr>
            <p:cNvPr id="13" name="Rectangle 12"/>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15</a:t>
              </a:r>
              <a:endParaRPr lang="en-US" sz="2400" b="1" dirty="0"/>
            </a:p>
          </p:txBody>
        </p:sp>
        <p:sp>
          <p:nvSpPr>
            <p:cNvPr id="14" name="Rectangle 13"/>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5" name="Group 14"/>
          <p:cNvGrpSpPr/>
          <p:nvPr/>
        </p:nvGrpSpPr>
        <p:grpSpPr>
          <a:xfrm>
            <a:off x="5425761" y="4656408"/>
            <a:ext cx="920012" cy="533400"/>
            <a:chOff x="951919" y="5486400"/>
            <a:chExt cx="920012" cy="533400"/>
          </a:xfrm>
        </p:grpSpPr>
        <p:sp>
          <p:nvSpPr>
            <p:cNvPr id="16" name="Rectangle 15"/>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20</a:t>
              </a:r>
              <a:endParaRPr lang="en-US" sz="2400" b="1" dirty="0"/>
            </a:p>
          </p:txBody>
        </p:sp>
        <p:sp>
          <p:nvSpPr>
            <p:cNvPr id="17" name="Rectangle 16"/>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8" name="Group 17"/>
          <p:cNvGrpSpPr/>
          <p:nvPr/>
        </p:nvGrpSpPr>
        <p:grpSpPr>
          <a:xfrm>
            <a:off x="6644961" y="4656408"/>
            <a:ext cx="920012" cy="533400"/>
            <a:chOff x="951919" y="5486400"/>
            <a:chExt cx="920012" cy="533400"/>
          </a:xfrm>
        </p:grpSpPr>
        <p:sp>
          <p:nvSpPr>
            <p:cNvPr id="19" name="Rectangle 18"/>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25</a:t>
              </a:r>
              <a:endParaRPr lang="en-US" sz="2400" b="1" dirty="0"/>
            </a:p>
          </p:txBody>
        </p:sp>
        <p:sp>
          <p:nvSpPr>
            <p:cNvPr id="20" name="Rectangle 19"/>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21" name="Straight Arrow Connector 20"/>
          <p:cNvCxnSpPr>
            <a:stCxn id="8" idx="3"/>
            <a:endCxn id="10" idx="1"/>
          </p:cNvCxnSpPr>
          <p:nvPr/>
        </p:nvCxnSpPr>
        <p:spPr>
          <a:xfrm>
            <a:off x="2527635" y="4923108"/>
            <a:ext cx="459726"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2" name="Straight Arrow Connector 21"/>
          <p:cNvCxnSpPr>
            <a:stCxn id="11" idx="3"/>
            <a:endCxn id="13" idx="1"/>
          </p:cNvCxnSpPr>
          <p:nvPr/>
        </p:nvCxnSpPr>
        <p:spPr>
          <a:xfrm>
            <a:off x="3907373" y="4923108"/>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3" name="Straight Arrow Connector 22"/>
          <p:cNvCxnSpPr>
            <a:stCxn id="14" idx="3"/>
            <a:endCxn id="16" idx="1"/>
          </p:cNvCxnSpPr>
          <p:nvPr/>
        </p:nvCxnSpPr>
        <p:spPr>
          <a:xfrm>
            <a:off x="5126573" y="4923108"/>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4" name="Straight Arrow Connector 23"/>
          <p:cNvCxnSpPr>
            <a:stCxn id="17" idx="3"/>
            <a:endCxn id="19" idx="1"/>
          </p:cNvCxnSpPr>
          <p:nvPr/>
        </p:nvCxnSpPr>
        <p:spPr>
          <a:xfrm>
            <a:off x="6345773" y="4923108"/>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5" name="TextBox 24"/>
          <p:cNvSpPr txBox="1"/>
          <p:nvPr/>
        </p:nvSpPr>
        <p:spPr>
          <a:xfrm>
            <a:off x="8774095" y="3448876"/>
            <a:ext cx="612668" cy="369332"/>
          </a:xfrm>
          <a:prstGeom prst="rect">
            <a:avLst/>
          </a:prstGeom>
          <a:noFill/>
        </p:spPr>
        <p:txBody>
          <a:bodyPr wrap="none" rtlCol="0">
            <a:spAutoFit/>
          </a:bodyPr>
          <a:lstStyle/>
          <a:p>
            <a:pPr algn="ctr"/>
            <a:r>
              <a:rPr lang="en-IN" b="1" dirty="0">
                <a:solidFill>
                  <a:srgbClr val="C00000"/>
                </a:solidFill>
              </a:rPr>
              <a:t>NEW</a:t>
            </a:r>
            <a:endParaRPr lang="en-US" b="1" dirty="0">
              <a:solidFill>
                <a:srgbClr val="C00000"/>
              </a:solidFill>
            </a:endParaRPr>
          </a:p>
        </p:txBody>
      </p:sp>
      <p:grpSp>
        <p:nvGrpSpPr>
          <p:cNvPr id="26" name="Group 25"/>
          <p:cNvGrpSpPr/>
          <p:nvPr/>
        </p:nvGrpSpPr>
        <p:grpSpPr>
          <a:xfrm>
            <a:off x="8598452" y="3818208"/>
            <a:ext cx="920012" cy="533400"/>
            <a:chOff x="951919" y="5486400"/>
            <a:chExt cx="920012" cy="533400"/>
          </a:xfrm>
        </p:grpSpPr>
        <p:sp>
          <p:nvSpPr>
            <p:cNvPr id="27" name="Rectangle 26"/>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50</a:t>
              </a:r>
              <a:endParaRPr lang="en-US" sz="2400" b="1" dirty="0"/>
            </a:p>
          </p:txBody>
        </p:sp>
        <p:sp>
          <p:nvSpPr>
            <p:cNvPr id="28" name="Rectangle 27"/>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sp>
        <p:nvSpPr>
          <p:cNvPr id="29" name="TextBox 28"/>
          <p:cNvSpPr txBox="1"/>
          <p:nvPr/>
        </p:nvSpPr>
        <p:spPr>
          <a:xfrm>
            <a:off x="1531424" y="4275408"/>
            <a:ext cx="725263" cy="369332"/>
          </a:xfrm>
          <a:prstGeom prst="rect">
            <a:avLst/>
          </a:prstGeom>
          <a:noFill/>
        </p:spPr>
        <p:txBody>
          <a:bodyPr wrap="none" rtlCol="0">
            <a:spAutoFit/>
          </a:bodyPr>
          <a:lstStyle/>
          <a:p>
            <a:pPr algn="ctr"/>
            <a:r>
              <a:rPr lang="en-IN" b="1" dirty="0">
                <a:solidFill>
                  <a:srgbClr val="C00000"/>
                </a:solidFill>
              </a:rPr>
              <a:t>HEAD</a:t>
            </a:r>
            <a:endParaRPr lang="en-US" b="1" dirty="0">
              <a:solidFill>
                <a:srgbClr val="C00000"/>
              </a:solidFill>
            </a:endParaRPr>
          </a:p>
        </p:txBody>
      </p:sp>
      <p:sp>
        <p:nvSpPr>
          <p:cNvPr id="30" name="Freeform 29"/>
          <p:cNvSpPr/>
          <p:nvPr/>
        </p:nvSpPr>
        <p:spPr>
          <a:xfrm>
            <a:off x="1361106" y="4874122"/>
            <a:ext cx="6709559" cy="837418"/>
          </a:xfrm>
          <a:custGeom>
            <a:avLst/>
            <a:gdLst>
              <a:gd name="connsiteX0" fmla="*/ 6210795 w 6709559"/>
              <a:gd name="connsiteY0" fmla="*/ 0 h 902525"/>
              <a:gd name="connsiteX1" fmla="*/ 6709559 w 6709559"/>
              <a:gd name="connsiteY1" fmla="*/ 0 h 902525"/>
              <a:gd name="connsiteX2" fmla="*/ 6709559 w 6709559"/>
              <a:gd name="connsiteY2" fmla="*/ 902525 h 902525"/>
              <a:gd name="connsiteX3" fmla="*/ 0 w 6709559"/>
              <a:gd name="connsiteY3" fmla="*/ 902525 h 902525"/>
              <a:gd name="connsiteX4" fmla="*/ 0 w 6709559"/>
              <a:gd name="connsiteY4" fmla="*/ 23751 h 902525"/>
              <a:gd name="connsiteX5" fmla="*/ 225632 w 6709559"/>
              <a:gd name="connsiteY5" fmla="*/ 23751 h 90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09559" h="902525">
                <a:moveTo>
                  <a:pt x="6210795" y="0"/>
                </a:moveTo>
                <a:lnTo>
                  <a:pt x="6709559" y="0"/>
                </a:lnTo>
                <a:lnTo>
                  <a:pt x="6709559" y="902525"/>
                </a:lnTo>
                <a:lnTo>
                  <a:pt x="0" y="902525"/>
                </a:lnTo>
                <a:lnTo>
                  <a:pt x="0" y="23751"/>
                </a:lnTo>
                <a:lnTo>
                  <a:pt x="225632" y="23751"/>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31" name="TextBox 30"/>
          <p:cNvSpPr txBox="1"/>
          <p:nvPr/>
        </p:nvSpPr>
        <p:spPr>
          <a:xfrm>
            <a:off x="2857841" y="5342208"/>
            <a:ext cx="734496" cy="369332"/>
          </a:xfrm>
          <a:prstGeom prst="rect">
            <a:avLst/>
          </a:prstGeom>
          <a:noFill/>
        </p:spPr>
        <p:txBody>
          <a:bodyPr wrap="none" rtlCol="0">
            <a:spAutoFit/>
          </a:bodyPr>
          <a:lstStyle/>
          <a:p>
            <a:pPr algn="ctr"/>
            <a:r>
              <a:rPr lang="en-IN" b="1" dirty="0">
                <a:solidFill>
                  <a:srgbClr val="C00000"/>
                </a:solidFill>
              </a:rPr>
              <a:t>FIRST</a:t>
            </a:r>
            <a:endParaRPr lang="en-US" b="1" dirty="0">
              <a:solidFill>
                <a:srgbClr val="C00000"/>
              </a:solidFill>
            </a:endParaRPr>
          </a:p>
        </p:txBody>
      </p:sp>
      <p:cxnSp>
        <p:nvCxnSpPr>
          <p:cNvPr id="32" name="Straight Arrow Connector 31"/>
          <p:cNvCxnSpPr/>
          <p:nvPr/>
        </p:nvCxnSpPr>
        <p:spPr>
          <a:xfrm flipV="1">
            <a:off x="3225089" y="5189809"/>
            <a:ext cx="0" cy="22315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33" name="Group 32"/>
          <p:cNvGrpSpPr/>
          <p:nvPr/>
        </p:nvGrpSpPr>
        <p:grpSpPr>
          <a:xfrm>
            <a:off x="7059706" y="5189808"/>
            <a:ext cx="683200" cy="526682"/>
            <a:chOff x="5813335" y="5105400"/>
            <a:chExt cx="683200" cy="526682"/>
          </a:xfrm>
        </p:grpSpPr>
        <p:sp>
          <p:nvSpPr>
            <p:cNvPr id="34" name="TextBox 33"/>
            <p:cNvSpPr txBox="1"/>
            <p:nvPr/>
          </p:nvSpPr>
          <p:spPr>
            <a:xfrm>
              <a:off x="5813335" y="5262750"/>
              <a:ext cx="683200" cy="369332"/>
            </a:xfrm>
            <a:prstGeom prst="rect">
              <a:avLst/>
            </a:prstGeom>
            <a:noFill/>
          </p:spPr>
          <p:txBody>
            <a:bodyPr wrap="none" rtlCol="0">
              <a:spAutoFit/>
            </a:bodyPr>
            <a:lstStyle/>
            <a:p>
              <a:pPr algn="ctr"/>
              <a:r>
                <a:rPr lang="en-IN" b="1" dirty="0">
                  <a:solidFill>
                    <a:srgbClr val="C00000"/>
                  </a:solidFill>
                </a:rPr>
                <a:t>LAST</a:t>
              </a:r>
              <a:endParaRPr lang="en-US" b="1" dirty="0">
                <a:solidFill>
                  <a:srgbClr val="C00000"/>
                </a:solidFill>
              </a:endParaRPr>
            </a:p>
          </p:txBody>
        </p:sp>
        <p:cxnSp>
          <p:nvCxnSpPr>
            <p:cNvPr id="35" name="Straight Arrow Connector 34"/>
            <p:cNvCxnSpPr/>
            <p:nvPr/>
          </p:nvCxnSpPr>
          <p:spPr>
            <a:xfrm flipV="1">
              <a:off x="6154935" y="5105400"/>
              <a:ext cx="0" cy="22315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36" name="Freeform 35"/>
          <p:cNvSpPr/>
          <p:nvPr/>
        </p:nvSpPr>
        <p:spPr>
          <a:xfrm>
            <a:off x="1069170" y="4347651"/>
            <a:ext cx="8241476" cy="1876301"/>
          </a:xfrm>
          <a:custGeom>
            <a:avLst/>
            <a:gdLst>
              <a:gd name="connsiteX0" fmla="*/ 8241476 w 8241476"/>
              <a:gd name="connsiteY0" fmla="*/ 0 h 1876301"/>
              <a:gd name="connsiteX1" fmla="*/ 8241476 w 8241476"/>
              <a:gd name="connsiteY1" fmla="*/ 1876301 h 1876301"/>
              <a:gd name="connsiteX2" fmla="*/ 0 w 8241476"/>
              <a:gd name="connsiteY2" fmla="*/ 1876301 h 1876301"/>
              <a:gd name="connsiteX3" fmla="*/ 0 w 8241476"/>
              <a:gd name="connsiteY3" fmla="*/ 581890 h 1876301"/>
              <a:gd name="connsiteX4" fmla="*/ 498764 w 8241476"/>
              <a:gd name="connsiteY4" fmla="*/ 581890 h 1876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41476" h="1876301">
                <a:moveTo>
                  <a:pt x="8241476" y="0"/>
                </a:moveTo>
                <a:lnTo>
                  <a:pt x="8241476" y="1876301"/>
                </a:lnTo>
                <a:lnTo>
                  <a:pt x="0" y="1876301"/>
                </a:lnTo>
                <a:lnTo>
                  <a:pt x="0" y="581890"/>
                </a:lnTo>
                <a:lnTo>
                  <a:pt x="498764" y="581890"/>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37" name="Freeform 36"/>
          <p:cNvSpPr/>
          <p:nvPr/>
        </p:nvSpPr>
        <p:spPr>
          <a:xfrm>
            <a:off x="7339342" y="4074517"/>
            <a:ext cx="1270660" cy="558140"/>
          </a:xfrm>
          <a:custGeom>
            <a:avLst/>
            <a:gdLst>
              <a:gd name="connsiteX0" fmla="*/ 0 w 1270660"/>
              <a:gd name="connsiteY0" fmla="*/ 558140 h 558140"/>
              <a:gd name="connsiteX1" fmla="*/ 0 w 1270660"/>
              <a:gd name="connsiteY1" fmla="*/ 0 h 558140"/>
              <a:gd name="connsiteX2" fmla="*/ 1270660 w 1270660"/>
              <a:gd name="connsiteY2" fmla="*/ 0 h 558140"/>
            </a:gdLst>
            <a:ahLst/>
            <a:cxnLst>
              <a:cxn ang="0">
                <a:pos x="connsiteX0" y="connsiteY0"/>
              </a:cxn>
              <a:cxn ang="0">
                <a:pos x="connsiteX1" y="connsiteY1"/>
              </a:cxn>
              <a:cxn ang="0">
                <a:pos x="connsiteX2" y="connsiteY2"/>
              </a:cxn>
            </a:cxnLst>
            <a:rect l="l" t="t" r="r" b="b"/>
            <a:pathLst>
              <a:path w="1270660" h="558140">
                <a:moveTo>
                  <a:pt x="0" y="558140"/>
                </a:moveTo>
                <a:lnTo>
                  <a:pt x="0" y="0"/>
                </a:lnTo>
                <a:lnTo>
                  <a:pt x="1270660" y="0"/>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38" name="TextBox 37"/>
          <p:cNvSpPr txBox="1"/>
          <p:nvPr/>
        </p:nvSpPr>
        <p:spPr>
          <a:xfrm>
            <a:off x="6807324" y="4255575"/>
            <a:ext cx="316112" cy="369332"/>
          </a:xfrm>
          <a:prstGeom prst="rect">
            <a:avLst/>
          </a:prstGeom>
          <a:noFill/>
        </p:spPr>
        <p:txBody>
          <a:bodyPr wrap="none" rtlCol="0">
            <a:spAutoFit/>
          </a:bodyPr>
          <a:lstStyle/>
          <a:p>
            <a:pPr algn="ctr"/>
            <a:r>
              <a:rPr lang="en-IN" b="1" dirty="0">
                <a:solidFill>
                  <a:srgbClr val="C00000"/>
                </a:solidFill>
              </a:rPr>
              <a:t>P</a:t>
            </a:r>
            <a:endParaRPr lang="en-US" b="1" dirty="0">
              <a:solidFill>
                <a:srgbClr val="C00000"/>
              </a:solidFill>
            </a:endParaRPr>
          </a:p>
        </p:txBody>
      </p:sp>
    </p:spTree>
    <p:extLst>
      <p:ext uri="{BB962C8B-B14F-4D97-AF65-F5344CB8AC3E}">
        <p14:creationId xmlns:p14="http://schemas.microsoft.com/office/powerpoint/2010/main" val="908918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0" end="0"/>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2" end="2"/>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1" presetClass="entr" presetSubtype="1" fill="hold" grpId="0" nodeType="clickEffect">
                                  <p:stCondLst>
                                    <p:cond delay="0"/>
                                  </p:stCondLst>
                                  <p:childTnLst>
                                    <p:set>
                                      <p:cBhvr>
                                        <p:cTn id="64" dur="1" fill="hold">
                                          <p:stCondLst>
                                            <p:cond delay="0"/>
                                          </p:stCondLst>
                                        </p:cTn>
                                        <p:tgtEl>
                                          <p:spTgt spid="36"/>
                                        </p:tgtEl>
                                        <p:attrNameLst>
                                          <p:attrName>style.visibility</p:attrName>
                                        </p:attrNameLst>
                                      </p:cBhvr>
                                      <p:to>
                                        <p:strVal val="visible"/>
                                      </p:to>
                                    </p:set>
                                    <p:animEffect transition="in" filter="wheel(1)">
                                      <p:cBhvr>
                                        <p:cTn id="65" dur="2000"/>
                                        <p:tgtEl>
                                          <p:spTgt spid="36"/>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37"/>
                                        </p:tgtEl>
                                        <p:attrNameLst>
                                          <p:attrName>style.visibility</p:attrName>
                                        </p:attrNameLst>
                                      </p:cBhvr>
                                      <p:to>
                                        <p:strVal val="visible"/>
                                      </p:to>
                                    </p:set>
                                    <p:animEffect transition="in" filter="wipe(down)">
                                      <p:cBhvr>
                                        <p:cTn id="74" dur="500"/>
                                        <p:tgtEl>
                                          <p:spTgt spid="37"/>
                                        </p:tgtEl>
                                      </p:cBhvr>
                                    </p:animEffect>
                                  </p:childTnLst>
                                </p:cTn>
                              </p:par>
                              <p:par>
                                <p:cTn id="75" presetID="1" presetClass="exit" presetSubtype="0" fill="hold" grpId="1" nodeType="withEffect">
                                  <p:stCondLst>
                                    <p:cond delay="0"/>
                                  </p:stCondLst>
                                  <p:childTnLst>
                                    <p:set>
                                      <p:cBhvr>
                                        <p:cTn id="76" dur="1" fill="hold">
                                          <p:stCondLst>
                                            <p:cond delay="0"/>
                                          </p:stCondLst>
                                        </p:cTn>
                                        <p:tgtEl>
                                          <p:spTgt spid="30"/>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4">
                                            <p:txEl>
                                              <p:pRg st="6" end="6"/>
                                            </p:txEl>
                                          </p:spTgt>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0" presetClass="path" presetSubtype="0" accel="50000" decel="50000" fill="hold" nodeType="clickEffect">
                                  <p:stCondLst>
                                    <p:cond delay="0"/>
                                  </p:stCondLst>
                                  <p:childTnLst>
                                    <p:animMotion origin="layout" path="M 0.04688 0.00046 C 0.05091 -0.00486 0.05729 -0.01412 0.06211 -0.0162 C 0.06628 -0.02176 0.06771 -0.02662 0.07331 -0.02917 C 0.07969 -0.03773 0.08425 -0.04583 0.09271 -0.04954 C 0.09844 -0.05995 0.10951 -0.06852 0.11914 -0.07176 C 0.12331 -0.07732 0.12604 -0.08033 0.13164 -0.08287 C 0.14336 -0.10394 0.12591 -0.075 0.14414 -0.09583 C 0.14518 -0.09699 0.14466 -0.09977 0.14544 -0.10139 C 0.14649 -0.10324 0.14831 -0.10394 0.14961 -0.10509 C 0.15052 -0.10695 0.15117 -0.10903 0.15248 -0.11065 C 0.15365 -0.11227 0.15664 -0.11435 0.15664 -0.11412 L 0.15664 -0.12732 " pathEditMode="relative" rAng="0" ptsTypes="AAAAAAAAAAAA">
                                      <p:cBhvr>
                                        <p:cTn id="86" dur="2000" fill="hold"/>
                                        <p:tgtEl>
                                          <p:spTgt spid="33"/>
                                        </p:tgtEl>
                                        <p:attrNameLst>
                                          <p:attrName>ppt_x</p:attrName>
                                          <p:attrName>ppt_y</p:attrName>
                                        </p:attrNameLst>
                                      </p:cBhvr>
                                      <p:rCtr x="5482" y="-638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5" grpId="0"/>
      <p:bldP spid="29" grpId="0"/>
      <p:bldP spid="30" grpId="0" animBg="1"/>
      <p:bldP spid="30" grpId="1" animBg="1"/>
      <p:bldP spid="31" grpId="0"/>
      <p:bldP spid="36" grpId="0" animBg="1"/>
      <p:bldP spid="37" grpId="0" animBg="1"/>
      <p:bldP spid="3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Doubly Linked Linear List</a:t>
            </a:r>
            <a:endParaRPr lang="en-US" dirty="0"/>
          </a:p>
        </p:txBody>
      </p:sp>
      <p:sp>
        <p:nvSpPr>
          <p:cNvPr id="3" name="Content Placeholder 2"/>
          <p:cNvSpPr>
            <a:spLocks noGrp="1"/>
          </p:cNvSpPr>
          <p:nvPr>
            <p:ph idx="1"/>
          </p:nvPr>
        </p:nvSpPr>
        <p:spPr/>
        <p:txBody>
          <a:bodyPr/>
          <a:lstStyle/>
          <a:p>
            <a:r>
              <a:rPr lang="en-IN" dirty="0"/>
              <a:t>In certain Applications, it is very desirable that a list be traversed in either forward or reverse direction.</a:t>
            </a:r>
          </a:p>
          <a:p>
            <a:r>
              <a:rPr lang="en-IN" dirty="0"/>
              <a:t>This property implies that each node must contain two link fields instead of usual one.</a:t>
            </a:r>
          </a:p>
          <a:p>
            <a:r>
              <a:rPr lang="en-IN" dirty="0"/>
              <a:t>The links are used to denote </a:t>
            </a:r>
            <a:r>
              <a:rPr lang="en-IN" b="1" dirty="0">
                <a:solidFill>
                  <a:srgbClr val="C00000"/>
                </a:solidFill>
              </a:rPr>
              <a:t>Predecessor</a:t>
            </a:r>
            <a:r>
              <a:rPr lang="en-IN" dirty="0">
                <a:solidFill>
                  <a:srgbClr val="C00000"/>
                </a:solidFill>
              </a:rPr>
              <a:t> </a:t>
            </a:r>
            <a:r>
              <a:rPr lang="en-IN" dirty="0"/>
              <a:t>and </a:t>
            </a:r>
            <a:r>
              <a:rPr lang="en-IN" b="1" dirty="0">
                <a:solidFill>
                  <a:srgbClr val="C00000"/>
                </a:solidFill>
              </a:rPr>
              <a:t>Successor</a:t>
            </a:r>
            <a:r>
              <a:rPr lang="en-IN" dirty="0">
                <a:solidFill>
                  <a:srgbClr val="C00000"/>
                </a:solidFill>
              </a:rPr>
              <a:t> </a:t>
            </a:r>
            <a:r>
              <a:rPr lang="en-IN" dirty="0"/>
              <a:t>of node.</a:t>
            </a:r>
          </a:p>
          <a:p>
            <a:r>
              <a:rPr lang="en-IN" dirty="0"/>
              <a:t>The link denoting its </a:t>
            </a:r>
            <a:r>
              <a:rPr lang="en-IN" b="1" dirty="0">
                <a:solidFill>
                  <a:srgbClr val="C00000"/>
                </a:solidFill>
              </a:rPr>
              <a:t>predecessor</a:t>
            </a:r>
            <a:r>
              <a:rPr lang="en-IN" dirty="0">
                <a:solidFill>
                  <a:srgbClr val="C00000"/>
                </a:solidFill>
              </a:rPr>
              <a:t> </a:t>
            </a:r>
            <a:r>
              <a:rPr lang="en-IN" dirty="0"/>
              <a:t>is called </a:t>
            </a:r>
            <a:r>
              <a:rPr lang="en-IN" b="1" dirty="0">
                <a:solidFill>
                  <a:srgbClr val="C00000"/>
                </a:solidFill>
              </a:rPr>
              <a:t>Left</a:t>
            </a:r>
            <a:r>
              <a:rPr lang="en-IN" b="1" dirty="0">
                <a:solidFill>
                  <a:srgbClr val="FF0000"/>
                </a:solidFill>
              </a:rPr>
              <a:t> </a:t>
            </a:r>
            <a:r>
              <a:rPr lang="en-IN" b="1" dirty="0">
                <a:solidFill>
                  <a:srgbClr val="C00000"/>
                </a:solidFill>
              </a:rPr>
              <a:t>Link</a:t>
            </a:r>
            <a:r>
              <a:rPr lang="en-IN" b="1" dirty="0"/>
              <a:t>.</a:t>
            </a:r>
          </a:p>
          <a:p>
            <a:r>
              <a:rPr lang="en-IN" dirty="0"/>
              <a:t>The link denoting  its </a:t>
            </a:r>
            <a:r>
              <a:rPr lang="en-IN" b="1" dirty="0">
                <a:solidFill>
                  <a:srgbClr val="C00000"/>
                </a:solidFill>
              </a:rPr>
              <a:t>successor</a:t>
            </a:r>
            <a:r>
              <a:rPr lang="en-IN" dirty="0">
                <a:solidFill>
                  <a:srgbClr val="C00000"/>
                </a:solidFill>
              </a:rPr>
              <a:t> </a:t>
            </a:r>
            <a:r>
              <a:rPr lang="en-IN" dirty="0"/>
              <a:t>is called </a:t>
            </a:r>
            <a:r>
              <a:rPr lang="en-IN" b="1" dirty="0">
                <a:solidFill>
                  <a:srgbClr val="C00000"/>
                </a:solidFill>
              </a:rPr>
              <a:t>Right</a:t>
            </a:r>
            <a:r>
              <a:rPr lang="en-IN" b="1" dirty="0">
                <a:solidFill>
                  <a:srgbClr val="FF0000"/>
                </a:solidFill>
              </a:rPr>
              <a:t> </a:t>
            </a:r>
            <a:r>
              <a:rPr lang="en-IN" b="1" dirty="0">
                <a:solidFill>
                  <a:srgbClr val="C00000"/>
                </a:solidFill>
              </a:rPr>
              <a:t>Link</a:t>
            </a:r>
            <a:r>
              <a:rPr lang="en-IN" b="1" dirty="0"/>
              <a:t>.</a:t>
            </a:r>
          </a:p>
          <a:p>
            <a:r>
              <a:rPr lang="en-IN" dirty="0"/>
              <a:t>A list containing this type of node is called </a:t>
            </a:r>
            <a:r>
              <a:rPr lang="en-IN" b="1" dirty="0">
                <a:solidFill>
                  <a:srgbClr val="C00000"/>
                </a:solidFill>
              </a:rPr>
              <a:t>doubly</a:t>
            </a:r>
            <a:r>
              <a:rPr lang="en-IN" b="1" dirty="0">
                <a:solidFill>
                  <a:srgbClr val="FF0000"/>
                </a:solidFill>
              </a:rPr>
              <a:t> </a:t>
            </a:r>
            <a:r>
              <a:rPr lang="en-IN" b="1" dirty="0">
                <a:solidFill>
                  <a:srgbClr val="C00000"/>
                </a:solidFill>
              </a:rPr>
              <a:t>linked</a:t>
            </a:r>
            <a:r>
              <a:rPr lang="en-IN" b="1" dirty="0">
                <a:solidFill>
                  <a:srgbClr val="FF0000"/>
                </a:solidFill>
              </a:rPr>
              <a:t> </a:t>
            </a:r>
            <a:r>
              <a:rPr lang="en-IN" b="1" dirty="0">
                <a:solidFill>
                  <a:srgbClr val="C00000"/>
                </a:solidFill>
              </a:rPr>
              <a:t>list</a:t>
            </a:r>
            <a:r>
              <a:rPr lang="en-IN" dirty="0">
                <a:solidFill>
                  <a:srgbClr val="C00000"/>
                </a:solidFill>
              </a:rPr>
              <a:t> </a:t>
            </a:r>
            <a:r>
              <a:rPr lang="en-IN" dirty="0"/>
              <a:t>or </a:t>
            </a:r>
            <a:r>
              <a:rPr lang="en-IN" b="1" dirty="0">
                <a:solidFill>
                  <a:srgbClr val="C00000"/>
                </a:solidFill>
              </a:rPr>
              <a:t>two</a:t>
            </a:r>
            <a:r>
              <a:rPr lang="en-IN" b="1" dirty="0">
                <a:solidFill>
                  <a:srgbClr val="FF0000"/>
                </a:solidFill>
              </a:rPr>
              <a:t> </a:t>
            </a:r>
            <a:r>
              <a:rPr lang="en-IN" b="1" dirty="0">
                <a:solidFill>
                  <a:srgbClr val="C00000"/>
                </a:solidFill>
              </a:rPr>
              <a:t>way</a:t>
            </a:r>
            <a:r>
              <a:rPr lang="en-IN" b="1" dirty="0">
                <a:solidFill>
                  <a:srgbClr val="FF0000"/>
                </a:solidFill>
              </a:rPr>
              <a:t> </a:t>
            </a:r>
            <a:r>
              <a:rPr lang="en-IN" b="1" dirty="0">
                <a:solidFill>
                  <a:srgbClr val="C00000"/>
                </a:solidFill>
              </a:rPr>
              <a:t>chain</a:t>
            </a:r>
            <a:r>
              <a:rPr lang="en-IN" dirty="0"/>
              <a:t>.</a:t>
            </a:r>
          </a:p>
          <a:p>
            <a:endParaRPr lang="en-US" dirty="0"/>
          </a:p>
        </p:txBody>
      </p:sp>
    </p:spTree>
    <p:extLst>
      <p:ext uri="{BB962C8B-B14F-4D97-AF65-F5344CB8AC3E}">
        <p14:creationId xmlns:p14="http://schemas.microsoft.com/office/powerpoint/2010/main" val="247312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Doubly Linked Linear List</a:t>
            </a:r>
            <a:endParaRPr lang="en-US" dirty="0"/>
          </a:p>
        </p:txBody>
      </p:sp>
      <p:sp>
        <p:nvSpPr>
          <p:cNvPr id="3" name="Content Placeholder 2"/>
          <p:cNvSpPr>
            <a:spLocks noGrp="1"/>
          </p:cNvSpPr>
          <p:nvPr>
            <p:ph idx="1"/>
          </p:nvPr>
        </p:nvSpPr>
        <p:spPr>
          <a:xfrm>
            <a:off x="131180" y="876145"/>
            <a:ext cx="11929641" cy="2669398"/>
          </a:xfrm>
        </p:spPr>
        <p:txBody>
          <a:bodyPr/>
          <a:lstStyle/>
          <a:p>
            <a:r>
              <a:rPr lang="en-IN" dirty="0"/>
              <a:t>Typical node of doubly linked linear list contains INFO, LPTR  RPTR Fields</a:t>
            </a:r>
          </a:p>
          <a:p>
            <a:r>
              <a:rPr lang="en-IN" b="1" dirty="0">
                <a:solidFill>
                  <a:srgbClr val="C00000"/>
                </a:solidFill>
              </a:rPr>
              <a:t>LPTR</a:t>
            </a:r>
            <a:r>
              <a:rPr lang="en-IN" dirty="0">
                <a:solidFill>
                  <a:srgbClr val="C00000"/>
                </a:solidFill>
              </a:rPr>
              <a:t> </a:t>
            </a:r>
            <a:r>
              <a:rPr lang="en-IN" dirty="0"/>
              <a:t>is pointer variable pointing to Predecessor of a node</a:t>
            </a:r>
          </a:p>
          <a:p>
            <a:r>
              <a:rPr lang="en-IN" b="1" dirty="0">
                <a:solidFill>
                  <a:srgbClr val="C00000"/>
                </a:solidFill>
              </a:rPr>
              <a:t>RPTR</a:t>
            </a:r>
            <a:r>
              <a:rPr lang="en-IN" dirty="0">
                <a:solidFill>
                  <a:srgbClr val="C00000"/>
                </a:solidFill>
              </a:rPr>
              <a:t> </a:t>
            </a:r>
            <a:r>
              <a:rPr lang="en-IN" dirty="0"/>
              <a:t>is pointer variable pointing to Successor of a node</a:t>
            </a:r>
          </a:p>
          <a:p>
            <a:r>
              <a:rPr lang="en-IN" dirty="0"/>
              <a:t>Left most node of doubly linked linear list is called </a:t>
            </a:r>
            <a:r>
              <a:rPr lang="en-IN" b="1" dirty="0">
                <a:solidFill>
                  <a:srgbClr val="C00000"/>
                </a:solidFill>
              </a:rPr>
              <a:t>L</a:t>
            </a:r>
            <a:r>
              <a:rPr lang="en-IN" dirty="0"/>
              <a:t>, </a:t>
            </a:r>
            <a:r>
              <a:rPr lang="en-IN" b="1" dirty="0">
                <a:solidFill>
                  <a:srgbClr val="C00000"/>
                </a:solidFill>
              </a:rPr>
              <a:t>LPTR</a:t>
            </a:r>
            <a:r>
              <a:rPr lang="en-IN" dirty="0">
                <a:solidFill>
                  <a:srgbClr val="C00000"/>
                </a:solidFill>
              </a:rPr>
              <a:t> </a:t>
            </a:r>
            <a:r>
              <a:rPr lang="en-IN" dirty="0"/>
              <a:t>of node </a:t>
            </a:r>
            <a:r>
              <a:rPr lang="en-IN" b="1" dirty="0">
                <a:solidFill>
                  <a:srgbClr val="C00000"/>
                </a:solidFill>
              </a:rPr>
              <a:t>L</a:t>
            </a:r>
            <a:r>
              <a:rPr lang="en-IN" b="1" dirty="0">
                <a:solidFill>
                  <a:srgbClr val="FF0000"/>
                </a:solidFill>
              </a:rPr>
              <a:t> </a:t>
            </a:r>
            <a:r>
              <a:rPr lang="en-IN" b="1" dirty="0">
                <a:solidFill>
                  <a:srgbClr val="C00000"/>
                </a:solidFill>
              </a:rPr>
              <a:t>is always NULL</a:t>
            </a:r>
          </a:p>
          <a:p>
            <a:r>
              <a:rPr lang="en-IN" dirty="0"/>
              <a:t>Right most node of doubly linked linear list is called </a:t>
            </a:r>
            <a:r>
              <a:rPr lang="en-IN" b="1" dirty="0">
                <a:solidFill>
                  <a:srgbClr val="C00000"/>
                </a:solidFill>
              </a:rPr>
              <a:t>R</a:t>
            </a:r>
            <a:r>
              <a:rPr lang="en-IN" dirty="0"/>
              <a:t>, </a:t>
            </a:r>
            <a:r>
              <a:rPr lang="en-IN" b="1" dirty="0">
                <a:solidFill>
                  <a:srgbClr val="C00000"/>
                </a:solidFill>
              </a:rPr>
              <a:t>RPTR</a:t>
            </a:r>
            <a:r>
              <a:rPr lang="en-IN" dirty="0">
                <a:solidFill>
                  <a:srgbClr val="C00000"/>
                </a:solidFill>
              </a:rPr>
              <a:t> </a:t>
            </a:r>
            <a:r>
              <a:rPr lang="en-IN" dirty="0"/>
              <a:t>of node </a:t>
            </a:r>
            <a:r>
              <a:rPr lang="en-IN" b="1" dirty="0">
                <a:solidFill>
                  <a:srgbClr val="C00000"/>
                </a:solidFill>
              </a:rPr>
              <a:t>R is always NULL</a:t>
            </a:r>
            <a:endParaRPr lang="en-US" dirty="0"/>
          </a:p>
          <a:p>
            <a:pPr marL="0" indent="0">
              <a:buNone/>
            </a:pPr>
            <a:endParaRPr lang="en-US" dirty="0"/>
          </a:p>
        </p:txBody>
      </p:sp>
      <p:grpSp>
        <p:nvGrpSpPr>
          <p:cNvPr id="4" name="Group 3"/>
          <p:cNvGrpSpPr/>
          <p:nvPr/>
        </p:nvGrpSpPr>
        <p:grpSpPr>
          <a:xfrm>
            <a:off x="4128246" y="3917421"/>
            <a:ext cx="1385047" cy="466320"/>
            <a:chOff x="304800" y="4191000"/>
            <a:chExt cx="1066800" cy="381000"/>
          </a:xfrm>
        </p:grpSpPr>
        <p:sp>
          <p:nvSpPr>
            <p:cNvPr id="5" name="Rectangle 4"/>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6" name="Rectangle 5"/>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7" name="Rectangle 6"/>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8" name="Group 7"/>
          <p:cNvGrpSpPr/>
          <p:nvPr/>
        </p:nvGrpSpPr>
        <p:grpSpPr>
          <a:xfrm>
            <a:off x="5728446" y="3917421"/>
            <a:ext cx="1385047" cy="466320"/>
            <a:chOff x="304800" y="4191000"/>
            <a:chExt cx="1066800" cy="381000"/>
          </a:xfrm>
        </p:grpSpPr>
        <p:sp>
          <p:nvSpPr>
            <p:cNvPr id="9" name="Rectangle 8"/>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0" name="Rectangle 9"/>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1" name="Rectangle 10"/>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12" name="Group 11"/>
          <p:cNvGrpSpPr/>
          <p:nvPr/>
        </p:nvGrpSpPr>
        <p:grpSpPr>
          <a:xfrm>
            <a:off x="7328646" y="3917421"/>
            <a:ext cx="1385047" cy="466320"/>
            <a:chOff x="304800" y="4191000"/>
            <a:chExt cx="1066800" cy="381000"/>
          </a:xfrm>
        </p:grpSpPr>
        <p:sp>
          <p:nvSpPr>
            <p:cNvPr id="13" name="Rectangle 12"/>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4" name="Rectangle 13"/>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5" name="Rectangle 14"/>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16" name="Group 15"/>
          <p:cNvGrpSpPr/>
          <p:nvPr/>
        </p:nvGrpSpPr>
        <p:grpSpPr>
          <a:xfrm>
            <a:off x="8928846" y="3917421"/>
            <a:ext cx="1385047" cy="466320"/>
            <a:chOff x="304800" y="4191000"/>
            <a:chExt cx="1066800" cy="381000"/>
          </a:xfrm>
        </p:grpSpPr>
        <p:sp>
          <p:nvSpPr>
            <p:cNvPr id="17" name="Rectangle 16"/>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8" name="Rectangle 17"/>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9" name="Rectangle 18"/>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cxnSp>
        <p:nvCxnSpPr>
          <p:cNvPr id="20" name="Straight Arrow Connector 19"/>
          <p:cNvCxnSpPr/>
          <p:nvPr/>
        </p:nvCxnSpPr>
        <p:spPr>
          <a:xfrm>
            <a:off x="5271247" y="4044421"/>
            <a:ext cx="692524"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1" name="Straight Arrow Connector 20"/>
          <p:cNvCxnSpPr/>
          <p:nvPr/>
        </p:nvCxnSpPr>
        <p:spPr>
          <a:xfrm>
            <a:off x="6846047" y="4031721"/>
            <a:ext cx="692524"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2" name="Straight Arrow Connector 21"/>
          <p:cNvCxnSpPr/>
          <p:nvPr/>
        </p:nvCxnSpPr>
        <p:spPr>
          <a:xfrm>
            <a:off x="8458947" y="4031721"/>
            <a:ext cx="692524"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3" name="Straight Arrow Connector 22"/>
          <p:cNvCxnSpPr/>
          <p:nvPr/>
        </p:nvCxnSpPr>
        <p:spPr>
          <a:xfrm>
            <a:off x="8458947" y="4260321"/>
            <a:ext cx="692524"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24" name="Straight Arrow Connector 23"/>
          <p:cNvCxnSpPr/>
          <p:nvPr/>
        </p:nvCxnSpPr>
        <p:spPr>
          <a:xfrm>
            <a:off x="6846047" y="4260321"/>
            <a:ext cx="692524"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25" name="Straight Arrow Connector 24"/>
          <p:cNvCxnSpPr/>
          <p:nvPr/>
        </p:nvCxnSpPr>
        <p:spPr>
          <a:xfrm>
            <a:off x="5271247" y="4273021"/>
            <a:ext cx="692524"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26" name="Straight Connector 25"/>
          <p:cNvCxnSpPr/>
          <p:nvPr/>
        </p:nvCxnSpPr>
        <p:spPr>
          <a:xfrm flipH="1">
            <a:off x="9918165" y="3917421"/>
            <a:ext cx="395728" cy="46632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7" name="Straight Connector 26"/>
          <p:cNvCxnSpPr/>
          <p:nvPr/>
        </p:nvCxnSpPr>
        <p:spPr>
          <a:xfrm flipH="1">
            <a:off x="4128245" y="3917421"/>
            <a:ext cx="385916" cy="46632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28" name="TextBox 27"/>
          <p:cNvSpPr txBox="1"/>
          <p:nvPr/>
        </p:nvSpPr>
        <p:spPr>
          <a:xfrm>
            <a:off x="4130800" y="4768320"/>
            <a:ext cx="383360" cy="400110"/>
          </a:xfrm>
          <a:prstGeom prst="rect">
            <a:avLst/>
          </a:prstGeom>
          <a:noFill/>
        </p:spPr>
        <p:txBody>
          <a:bodyPr wrap="square" rtlCol="0">
            <a:spAutoFit/>
          </a:bodyPr>
          <a:lstStyle/>
          <a:p>
            <a:pPr algn="ctr"/>
            <a:r>
              <a:rPr lang="en-IN" sz="2000" b="1" dirty="0"/>
              <a:t>L</a:t>
            </a:r>
            <a:endParaRPr lang="en-US" sz="2000" b="1" dirty="0"/>
          </a:p>
        </p:txBody>
      </p:sp>
      <p:sp>
        <p:nvSpPr>
          <p:cNvPr id="29" name="TextBox 28"/>
          <p:cNvSpPr txBox="1"/>
          <p:nvPr/>
        </p:nvSpPr>
        <p:spPr>
          <a:xfrm>
            <a:off x="9909737" y="4768320"/>
            <a:ext cx="408334" cy="400110"/>
          </a:xfrm>
          <a:prstGeom prst="rect">
            <a:avLst/>
          </a:prstGeom>
          <a:noFill/>
        </p:spPr>
        <p:txBody>
          <a:bodyPr wrap="square" rtlCol="0">
            <a:spAutoFit/>
          </a:bodyPr>
          <a:lstStyle/>
          <a:p>
            <a:pPr algn="ctr"/>
            <a:r>
              <a:rPr lang="en-IN" sz="2000" b="1" dirty="0"/>
              <a:t>R</a:t>
            </a:r>
            <a:endParaRPr lang="en-US" sz="2000" b="1" dirty="0"/>
          </a:p>
        </p:txBody>
      </p:sp>
      <p:cxnSp>
        <p:nvCxnSpPr>
          <p:cNvPr id="30" name="Straight Arrow Connector 29"/>
          <p:cNvCxnSpPr>
            <a:stCxn id="28" idx="0"/>
            <a:endCxn id="6" idx="2"/>
          </p:cNvCxnSpPr>
          <p:nvPr/>
        </p:nvCxnSpPr>
        <p:spPr>
          <a:xfrm flipV="1">
            <a:off x="4322480" y="4383741"/>
            <a:ext cx="3630" cy="38457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1" name="Straight Arrow Connector 30"/>
          <p:cNvCxnSpPr>
            <a:stCxn id="29" idx="0"/>
          </p:cNvCxnSpPr>
          <p:nvPr/>
        </p:nvCxnSpPr>
        <p:spPr>
          <a:xfrm flipV="1">
            <a:off x="10113904" y="4383741"/>
            <a:ext cx="0" cy="38457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2" name="Straight Connector 31"/>
          <p:cNvCxnSpPr/>
          <p:nvPr/>
        </p:nvCxnSpPr>
        <p:spPr>
          <a:xfrm>
            <a:off x="3854824" y="3699312"/>
            <a:ext cx="0" cy="1678752"/>
          </a:xfrm>
          <a:prstGeom prst="line">
            <a:avLst/>
          </a:prstGeom>
          <a:ln w="28575"/>
        </p:spPr>
        <p:style>
          <a:lnRef idx="3">
            <a:schemeClr val="dk1"/>
          </a:lnRef>
          <a:fillRef idx="0">
            <a:schemeClr val="dk1"/>
          </a:fillRef>
          <a:effectRef idx="2">
            <a:schemeClr val="dk1"/>
          </a:effectRef>
          <a:fontRef idx="minor">
            <a:schemeClr val="tx1"/>
          </a:fontRef>
        </p:style>
      </p:cxnSp>
      <p:grpSp>
        <p:nvGrpSpPr>
          <p:cNvPr id="33" name="Group 32"/>
          <p:cNvGrpSpPr/>
          <p:nvPr/>
        </p:nvGrpSpPr>
        <p:grpSpPr>
          <a:xfrm>
            <a:off x="835962" y="3917421"/>
            <a:ext cx="2705573" cy="466320"/>
            <a:chOff x="-76200" y="4191000"/>
            <a:chExt cx="1997075" cy="381000"/>
          </a:xfrm>
        </p:grpSpPr>
        <p:sp>
          <p:nvSpPr>
            <p:cNvPr id="34" name="Rectangle 33"/>
            <p:cNvSpPr/>
            <p:nvPr/>
          </p:nvSpPr>
          <p:spPr>
            <a:xfrm>
              <a:off x="609599" y="4191000"/>
              <a:ext cx="628651"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INFO</a:t>
              </a:r>
              <a:endParaRPr lang="en-US" sz="2000" b="1" dirty="0"/>
            </a:p>
          </p:txBody>
        </p:sp>
        <p:sp>
          <p:nvSpPr>
            <p:cNvPr id="35" name="Rectangle 34"/>
            <p:cNvSpPr/>
            <p:nvPr/>
          </p:nvSpPr>
          <p:spPr>
            <a:xfrm>
              <a:off x="-76200" y="4191000"/>
              <a:ext cx="68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LPTR</a:t>
              </a:r>
              <a:endParaRPr lang="en-US" b="1" dirty="0"/>
            </a:p>
          </p:txBody>
        </p:sp>
        <p:sp>
          <p:nvSpPr>
            <p:cNvPr id="36" name="Rectangle 35"/>
            <p:cNvSpPr/>
            <p:nvPr/>
          </p:nvSpPr>
          <p:spPr>
            <a:xfrm>
              <a:off x="1238250" y="4191000"/>
              <a:ext cx="682625"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RPTR</a:t>
              </a:r>
              <a:endParaRPr lang="en-US" b="1" dirty="0"/>
            </a:p>
          </p:txBody>
        </p:sp>
      </p:grpSp>
      <p:sp>
        <p:nvSpPr>
          <p:cNvPr id="37" name="TextBox 36"/>
          <p:cNvSpPr txBox="1"/>
          <p:nvPr/>
        </p:nvSpPr>
        <p:spPr>
          <a:xfrm>
            <a:off x="5964205" y="4755620"/>
            <a:ext cx="3156530" cy="369332"/>
          </a:xfrm>
          <a:prstGeom prst="rect">
            <a:avLst/>
          </a:prstGeom>
          <a:noFill/>
        </p:spPr>
        <p:txBody>
          <a:bodyPr wrap="square" rtlCol="0">
            <a:spAutoFit/>
          </a:bodyPr>
          <a:lstStyle/>
          <a:p>
            <a:pPr algn="ctr"/>
            <a:r>
              <a:rPr lang="en-IN" b="1" dirty="0"/>
              <a:t>Doubly linked linear list</a:t>
            </a:r>
            <a:endParaRPr lang="en-US" b="1" dirty="0"/>
          </a:p>
        </p:txBody>
      </p:sp>
      <p:sp>
        <p:nvSpPr>
          <p:cNvPr id="38" name="TextBox 37"/>
          <p:cNvSpPr txBox="1"/>
          <p:nvPr/>
        </p:nvSpPr>
        <p:spPr>
          <a:xfrm>
            <a:off x="945558" y="4450822"/>
            <a:ext cx="2486380" cy="646331"/>
          </a:xfrm>
          <a:prstGeom prst="rect">
            <a:avLst/>
          </a:prstGeom>
          <a:noFill/>
        </p:spPr>
        <p:txBody>
          <a:bodyPr wrap="square" rtlCol="0">
            <a:spAutoFit/>
          </a:bodyPr>
          <a:lstStyle/>
          <a:p>
            <a:pPr algn="ctr"/>
            <a:r>
              <a:rPr lang="en-IN" b="1" dirty="0"/>
              <a:t>Typical node of</a:t>
            </a:r>
          </a:p>
          <a:p>
            <a:pPr algn="ctr"/>
            <a:r>
              <a:rPr lang="en-IN" b="1" dirty="0"/>
              <a:t>Doubly Linked List</a:t>
            </a:r>
            <a:endParaRPr lang="en-US" b="1" dirty="0"/>
          </a:p>
        </p:txBody>
      </p:sp>
    </p:spTree>
    <p:extLst>
      <p:ext uri="{BB962C8B-B14F-4D97-AF65-F5344CB8AC3E}">
        <p14:creationId xmlns:p14="http://schemas.microsoft.com/office/powerpoint/2010/main" val="2511612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8" grpId="0"/>
      <p:bldP spid="29" grpId="0"/>
      <p:bldP spid="37" grpId="0"/>
      <p:bldP spid="3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Node Structure of Doubly Linked List</a:t>
            </a:r>
            <a:endParaRPr lang="en-US" dirty="0"/>
          </a:p>
        </p:txBody>
      </p:sp>
      <p:sp>
        <p:nvSpPr>
          <p:cNvPr id="20" name="Rectangle 19"/>
          <p:cNvSpPr/>
          <p:nvPr/>
        </p:nvSpPr>
        <p:spPr>
          <a:xfrm>
            <a:off x="4223143" y="1423957"/>
            <a:ext cx="5428565" cy="268168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7261153" y="1750015"/>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Info</a:t>
            </a:r>
            <a:endParaRPr lang="en-US" sz="2400" b="1" dirty="0"/>
          </a:p>
        </p:txBody>
      </p:sp>
      <p:sp>
        <p:nvSpPr>
          <p:cNvPr id="22" name="Rectangle 21"/>
          <p:cNvSpPr/>
          <p:nvPr/>
        </p:nvSpPr>
        <p:spPr>
          <a:xfrm>
            <a:off x="8031394" y="1750015"/>
            <a:ext cx="868765"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RPTR</a:t>
            </a:r>
            <a:endParaRPr lang="en-US" sz="2400" b="1" dirty="0"/>
          </a:p>
        </p:txBody>
      </p:sp>
      <p:sp>
        <p:nvSpPr>
          <p:cNvPr id="23" name="TextBox 22"/>
          <p:cNvSpPr txBox="1"/>
          <p:nvPr/>
        </p:nvSpPr>
        <p:spPr>
          <a:xfrm>
            <a:off x="7271699" y="2522068"/>
            <a:ext cx="740908" cy="461665"/>
          </a:xfrm>
          <a:prstGeom prst="rect">
            <a:avLst/>
          </a:prstGeom>
          <a:noFill/>
        </p:spPr>
        <p:txBody>
          <a:bodyPr wrap="none" rtlCol="0">
            <a:spAutoFit/>
          </a:bodyPr>
          <a:lstStyle/>
          <a:p>
            <a:r>
              <a:rPr lang="en-IN" sz="2400" b="1" dirty="0"/>
              <a:t>Data</a:t>
            </a:r>
            <a:endParaRPr lang="en-US" sz="2400" b="1" dirty="0"/>
          </a:p>
        </p:txBody>
      </p:sp>
      <p:sp>
        <p:nvSpPr>
          <p:cNvPr id="24" name="TextBox 23"/>
          <p:cNvSpPr txBox="1"/>
          <p:nvPr/>
        </p:nvSpPr>
        <p:spPr>
          <a:xfrm>
            <a:off x="8198255" y="2983733"/>
            <a:ext cx="1476686" cy="830997"/>
          </a:xfrm>
          <a:prstGeom prst="rect">
            <a:avLst/>
          </a:prstGeom>
          <a:noFill/>
        </p:spPr>
        <p:txBody>
          <a:bodyPr wrap="none" rtlCol="0">
            <a:spAutoFit/>
          </a:bodyPr>
          <a:lstStyle/>
          <a:p>
            <a:r>
              <a:rPr lang="en-IN" sz="2400" b="1" dirty="0"/>
              <a:t>Pointer to </a:t>
            </a:r>
            <a:br>
              <a:rPr lang="en-IN" sz="2400" b="1" dirty="0"/>
            </a:br>
            <a:r>
              <a:rPr lang="en-IN" sz="2400" b="1" dirty="0"/>
              <a:t>Next Node</a:t>
            </a:r>
            <a:endParaRPr lang="en-US" sz="2400" b="1" dirty="0"/>
          </a:p>
        </p:txBody>
      </p:sp>
      <p:cxnSp>
        <p:nvCxnSpPr>
          <p:cNvPr id="25" name="Straight Arrow Connector 24"/>
          <p:cNvCxnSpPr>
            <a:endCxn id="21" idx="2"/>
          </p:cNvCxnSpPr>
          <p:nvPr/>
        </p:nvCxnSpPr>
        <p:spPr>
          <a:xfrm flipV="1">
            <a:off x="7630482" y="2283415"/>
            <a:ext cx="11671" cy="31938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6" name="Straight Arrow Connector 25"/>
          <p:cNvCxnSpPr/>
          <p:nvPr/>
        </p:nvCxnSpPr>
        <p:spPr>
          <a:xfrm flipV="1">
            <a:off x="8412395" y="2283416"/>
            <a:ext cx="0" cy="70031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7" name="Left Brace 26"/>
          <p:cNvSpPr/>
          <p:nvPr/>
        </p:nvSpPr>
        <p:spPr>
          <a:xfrm>
            <a:off x="4948043" y="1672981"/>
            <a:ext cx="457200" cy="2192899"/>
          </a:xfrm>
          <a:prstGeom prst="leftBrace">
            <a:avLst/>
          </a:prstGeom>
          <a:ln w="28575">
            <a:solidFill>
              <a:srgbClr val="B84742"/>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28" name="TextBox 27"/>
          <p:cNvSpPr txBox="1"/>
          <p:nvPr/>
        </p:nvSpPr>
        <p:spPr>
          <a:xfrm>
            <a:off x="4354589" y="2385331"/>
            <a:ext cx="553998" cy="735138"/>
          </a:xfrm>
          <a:prstGeom prst="rect">
            <a:avLst/>
          </a:prstGeom>
          <a:noFill/>
        </p:spPr>
        <p:txBody>
          <a:bodyPr vert="vert270" wrap="none" rtlCol="0">
            <a:spAutoFit/>
          </a:bodyPr>
          <a:lstStyle/>
          <a:p>
            <a:r>
              <a:rPr lang="en-IN" sz="2400" b="1" dirty="0"/>
              <a:t>Node</a:t>
            </a:r>
            <a:endParaRPr lang="en-US" sz="2400" b="1" dirty="0"/>
          </a:p>
        </p:txBody>
      </p:sp>
      <p:cxnSp>
        <p:nvCxnSpPr>
          <p:cNvPr id="29" name="Straight Arrow Connector 28"/>
          <p:cNvCxnSpPr>
            <a:stCxn id="22" idx="3"/>
          </p:cNvCxnSpPr>
          <p:nvPr/>
        </p:nvCxnSpPr>
        <p:spPr>
          <a:xfrm>
            <a:off x="8900159" y="2016715"/>
            <a:ext cx="383306"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43" name="TextBox 42"/>
          <p:cNvSpPr txBox="1"/>
          <p:nvPr/>
        </p:nvSpPr>
        <p:spPr>
          <a:xfrm>
            <a:off x="365662" y="1898820"/>
            <a:ext cx="3528709" cy="1708160"/>
          </a:xfrm>
          <a:prstGeom prst="rect">
            <a:avLst/>
          </a:prstGeom>
          <a:noFill/>
        </p:spPr>
        <p:txBody>
          <a:bodyPr wrap="square" rtlCol="0">
            <a:spAutoFit/>
          </a:bodyPr>
          <a:lstStyle/>
          <a:p>
            <a:pPr algn="ctr"/>
            <a:r>
              <a:rPr lang="en-IN" sz="3500" b="1" dirty="0"/>
              <a:t>Typical Node</a:t>
            </a:r>
          </a:p>
          <a:p>
            <a:pPr algn="ctr"/>
            <a:r>
              <a:rPr lang="en-IN" sz="3500" b="1" dirty="0"/>
              <a:t>of</a:t>
            </a:r>
          </a:p>
          <a:p>
            <a:pPr algn="ctr"/>
            <a:r>
              <a:rPr lang="en-IN" sz="3500" b="1" dirty="0"/>
              <a:t>Doubly Linked List</a:t>
            </a:r>
          </a:p>
        </p:txBody>
      </p:sp>
      <p:sp>
        <p:nvSpPr>
          <p:cNvPr id="3" name="TextBox 2"/>
          <p:cNvSpPr txBox="1"/>
          <p:nvPr/>
        </p:nvSpPr>
        <p:spPr>
          <a:xfrm>
            <a:off x="9762772" y="2026133"/>
            <a:ext cx="1633781" cy="1477328"/>
          </a:xfrm>
          <a:prstGeom prst="rect">
            <a:avLst/>
          </a:prstGeom>
          <a:noFill/>
        </p:spPr>
        <p:txBody>
          <a:bodyPr wrap="none" rtlCol="0">
            <a:spAutoFit/>
          </a:bodyPr>
          <a:lstStyle/>
          <a:p>
            <a:pPr algn="ctr"/>
            <a:r>
              <a:rPr lang="en-IN" b="1" dirty="0"/>
              <a:t>Accessing Part </a:t>
            </a:r>
          </a:p>
          <a:p>
            <a:pPr algn="ctr"/>
            <a:r>
              <a:rPr lang="en-IN" b="1" dirty="0"/>
              <a:t>of Node</a:t>
            </a:r>
          </a:p>
          <a:p>
            <a:pPr algn="ctr"/>
            <a:r>
              <a:rPr lang="en-IN" b="1" dirty="0">
                <a:solidFill>
                  <a:srgbClr val="B84742"/>
                </a:solidFill>
              </a:rPr>
              <a:t>Info (Node) </a:t>
            </a:r>
          </a:p>
          <a:p>
            <a:pPr algn="ctr"/>
            <a:r>
              <a:rPr lang="en-IN" b="1" dirty="0">
                <a:solidFill>
                  <a:srgbClr val="B84742"/>
                </a:solidFill>
              </a:rPr>
              <a:t>LPTR (Node)</a:t>
            </a:r>
          </a:p>
          <a:p>
            <a:pPr algn="ctr"/>
            <a:r>
              <a:rPr lang="en-IN" b="1" dirty="0">
                <a:solidFill>
                  <a:srgbClr val="B84742"/>
                </a:solidFill>
              </a:rPr>
              <a:t>RPTR (Node)</a:t>
            </a:r>
            <a:endParaRPr lang="en-US" b="1" dirty="0">
              <a:solidFill>
                <a:srgbClr val="B84742"/>
              </a:solidFill>
            </a:endParaRPr>
          </a:p>
        </p:txBody>
      </p:sp>
      <p:sp>
        <p:nvSpPr>
          <p:cNvPr id="63" name="Rectangle 62"/>
          <p:cNvSpPr/>
          <p:nvPr/>
        </p:nvSpPr>
        <p:spPr>
          <a:xfrm>
            <a:off x="6390640" y="1750015"/>
            <a:ext cx="862271"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LPTR</a:t>
            </a:r>
            <a:endParaRPr lang="en-US" sz="2400" b="1" dirty="0"/>
          </a:p>
        </p:txBody>
      </p:sp>
      <p:sp>
        <p:nvSpPr>
          <p:cNvPr id="64" name="TextBox 63"/>
          <p:cNvSpPr txBox="1"/>
          <p:nvPr/>
        </p:nvSpPr>
        <p:spPr>
          <a:xfrm>
            <a:off x="5423304" y="2937007"/>
            <a:ext cx="1983235" cy="830997"/>
          </a:xfrm>
          <a:prstGeom prst="rect">
            <a:avLst/>
          </a:prstGeom>
          <a:noFill/>
        </p:spPr>
        <p:txBody>
          <a:bodyPr wrap="none" rtlCol="0">
            <a:spAutoFit/>
          </a:bodyPr>
          <a:lstStyle/>
          <a:p>
            <a:pPr algn="r"/>
            <a:r>
              <a:rPr lang="en-IN" sz="2400" b="1" dirty="0"/>
              <a:t>Pointer to </a:t>
            </a:r>
            <a:br>
              <a:rPr lang="en-IN" sz="2400" b="1" dirty="0"/>
            </a:br>
            <a:r>
              <a:rPr lang="en-IN" sz="2400" b="1" dirty="0"/>
              <a:t>Previous Node</a:t>
            </a:r>
            <a:endParaRPr lang="en-US" sz="2400" b="1" dirty="0"/>
          </a:p>
        </p:txBody>
      </p:sp>
      <p:cxnSp>
        <p:nvCxnSpPr>
          <p:cNvPr id="65" name="Straight Arrow Connector 64"/>
          <p:cNvCxnSpPr/>
          <p:nvPr/>
        </p:nvCxnSpPr>
        <p:spPr>
          <a:xfrm flipV="1">
            <a:off x="6823384" y="2283416"/>
            <a:ext cx="0" cy="70031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66" name="Straight Arrow Connector 65"/>
          <p:cNvCxnSpPr>
            <a:stCxn id="63" idx="1"/>
          </p:cNvCxnSpPr>
          <p:nvPr/>
        </p:nvCxnSpPr>
        <p:spPr>
          <a:xfrm flipH="1" flipV="1">
            <a:off x="6008801" y="2015400"/>
            <a:ext cx="381839" cy="131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67" name="Group 66"/>
          <p:cNvGrpSpPr/>
          <p:nvPr/>
        </p:nvGrpSpPr>
        <p:grpSpPr>
          <a:xfrm>
            <a:off x="2340086" y="4933421"/>
            <a:ext cx="1385047" cy="466320"/>
            <a:chOff x="304800" y="4191000"/>
            <a:chExt cx="1066800" cy="381000"/>
          </a:xfrm>
        </p:grpSpPr>
        <p:sp>
          <p:nvSpPr>
            <p:cNvPr id="68" name="Rectangle 67"/>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69" name="Rectangle 68"/>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70" name="Rectangle 69"/>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71" name="Group 70"/>
          <p:cNvGrpSpPr/>
          <p:nvPr/>
        </p:nvGrpSpPr>
        <p:grpSpPr>
          <a:xfrm>
            <a:off x="3940286" y="4933421"/>
            <a:ext cx="1385047" cy="466320"/>
            <a:chOff x="304800" y="4191000"/>
            <a:chExt cx="1066800" cy="381000"/>
          </a:xfrm>
        </p:grpSpPr>
        <p:sp>
          <p:nvSpPr>
            <p:cNvPr id="72" name="Rectangle 71"/>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73" name="Rectangle 72"/>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74" name="Rectangle 73"/>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75" name="Group 74"/>
          <p:cNvGrpSpPr/>
          <p:nvPr/>
        </p:nvGrpSpPr>
        <p:grpSpPr>
          <a:xfrm>
            <a:off x="5540486" y="4933421"/>
            <a:ext cx="1385047" cy="466320"/>
            <a:chOff x="304800" y="4191000"/>
            <a:chExt cx="1066800" cy="381000"/>
          </a:xfrm>
        </p:grpSpPr>
        <p:sp>
          <p:nvSpPr>
            <p:cNvPr id="76" name="Rectangle 75"/>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77" name="Rectangle 76"/>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78" name="Rectangle 77"/>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79" name="Group 78"/>
          <p:cNvGrpSpPr/>
          <p:nvPr/>
        </p:nvGrpSpPr>
        <p:grpSpPr>
          <a:xfrm>
            <a:off x="7140686" y="4933421"/>
            <a:ext cx="1385047" cy="466320"/>
            <a:chOff x="304800" y="4191000"/>
            <a:chExt cx="1066800" cy="381000"/>
          </a:xfrm>
        </p:grpSpPr>
        <p:sp>
          <p:nvSpPr>
            <p:cNvPr id="80" name="Rectangle 79"/>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81" name="Rectangle 80"/>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82" name="Rectangle 81"/>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cxnSp>
        <p:nvCxnSpPr>
          <p:cNvPr id="83" name="Straight Arrow Connector 82"/>
          <p:cNvCxnSpPr/>
          <p:nvPr/>
        </p:nvCxnSpPr>
        <p:spPr>
          <a:xfrm>
            <a:off x="3483087" y="5060421"/>
            <a:ext cx="692524"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84" name="Straight Arrow Connector 83"/>
          <p:cNvCxnSpPr/>
          <p:nvPr/>
        </p:nvCxnSpPr>
        <p:spPr>
          <a:xfrm>
            <a:off x="5057887" y="5047721"/>
            <a:ext cx="692524"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85" name="Straight Arrow Connector 84"/>
          <p:cNvCxnSpPr/>
          <p:nvPr/>
        </p:nvCxnSpPr>
        <p:spPr>
          <a:xfrm>
            <a:off x="6670787" y="5047721"/>
            <a:ext cx="692524"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86" name="Straight Arrow Connector 85"/>
          <p:cNvCxnSpPr/>
          <p:nvPr/>
        </p:nvCxnSpPr>
        <p:spPr>
          <a:xfrm>
            <a:off x="6670787" y="5276321"/>
            <a:ext cx="692524"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87" name="Straight Arrow Connector 86"/>
          <p:cNvCxnSpPr/>
          <p:nvPr/>
        </p:nvCxnSpPr>
        <p:spPr>
          <a:xfrm>
            <a:off x="5057887" y="5276321"/>
            <a:ext cx="692524"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88" name="Straight Arrow Connector 87"/>
          <p:cNvCxnSpPr/>
          <p:nvPr/>
        </p:nvCxnSpPr>
        <p:spPr>
          <a:xfrm>
            <a:off x="3483087" y="5289021"/>
            <a:ext cx="692524"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89" name="Straight Connector 88"/>
          <p:cNvCxnSpPr/>
          <p:nvPr/>
        </p:nvCxnSpPr>
        <p:spPr>
          <a:xfrm flipH="1">
            <a:off x="8130005" y="4933421"/>
            <a:ext cx="395728" cy="46632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90" name="Straight Connector 89"/>
          <p:cNvCxnSpPr/>
          <p:nvPr/>
        </p:nvCxnSpPr>
        <p:spPr>
          <a:xfrm flipH="1">
            <a:off x="2340085" y="4933421"/>
            <a:ext cx="385916" cy="46632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91" name="TextBox 90"/>
          <p:cNvSpPr txBox="1"/>
          <p:nvPr/>
        </p:nvSpPr>
        <p:spPr>
          <a:xfrm>
            <a:off x="2342640" y="5784320"/>
            <a:ext cx="383360" cy="400110"/>
          </a:xfrm>
          <a:prstGeom prst="rect">
            <a:avLst/>
          </a:prstGeom>
          <a:noFill/>
        </p:spPr>
        <p:txBody>
          <a:bodyPr wrap="square" rtlCol="0">
            <a:spAutoFit/>
          </a:bodyPr>
          <a:lstStyle/>
          <a:p>
            <a:pPr algn="ctr"/>
            <a:r>
              <a:rPr lang="en-IN" sz="2000" b="1" dirty="0"/>
              <a:t>L</a:t>
            </a:r>
            <a:endParaRPr lang="en-US" sz="2000" b="1" dirty="0"/>
          </a:p>
        </p:txBody>
      </p:sp>
      <p:sp>
        <p:nvSpPr>
          <p:cNvPr id="92" name="TextBox 91"/>
          <p:cNvSpPr txBox="1"/>
          <p:nvPr/>
        </p:nvSpPr>
        <p:spPr>
          <a:xfrm>
            <a:off x="8121577" y="5784320"/>
            <a:ext cx="408334" cy="400110"/>
          </a:xfrm>
          <a:prstGeom prst="rect">
            <a:avLst/>
          </a:prstGeom>
          <a:noFill/>
        </p:spPr>
        <p:txBody>
          <a:bodyPr wrap="square" rtlCol="0">
            <a:spAutoFit/>
          </a:bodyPr>
          <a:lstStyle/>
          <a:p>
            <a:pPr algn="ctr"/>
            <a:r>
              <a:rPr lang="en-IN" sz="2000" b="1" dirty="0"/>
              <a:t>R</a:t>
            </a:r>
            <a:endParaRPr lang="en-US" sz="2000" b="1" dirty="0"/>
          </a:p>
        </p:txBody>
      </p:sp>
      <p:cxnSp>
        <p:nvCxnSpPr>
          <p:cNvPr id="93" name="Straight Arrow Connector 92"/>
          <p:cNvCxnSpPr>
            <a:stCxn id="91" idx="0"/>
            <a:endCxn id="69" idx="2"/>
          </p:cNvCxnSpPr>
          <p:nvPr/>
        </p:nvCxnSpPr>
        <p:spPr>
          <a:xfrm flipV="1">
            <a:off x="2534320" y="5399741"/>
            <a:ext cx="3630" cy="38457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94" name="Straight Arrow Connector 93"/>
          <p:cNvCxnSpPr>
            <a:stCxn id="92" idx="0"/>
          </p:cNvCxnSpPr>
          <p:nvPr/>
        </p:nvCxnSpPr>
        <p:spPr>
          <a:xfrm flipV="1">
            <a:off x="8325744" y="5399741"/>
            <a:ext cx="0" cy="38457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95" name="TextBox 94"/>
          <p:cNvSpPr txBox="1"/>
          <p:nvPr/>
        </p:nvSpPr>
        <p:spPr>
          <a:xfrm>
            <a:off x="4176045" y="5771620"/>
            <a:ext cx="3156530" cy="369332"/>
          </a:xfrm>
          <a:prstGeom prst="rect">
            <a:avLst/>
          </a:prstGeom>
          <a:noFill/>
        </p:spPr>
        <p:txBody>
          <a:bodyPr wrap="square" rtlCol="0">
            <a:spAutoFit/>
          </a:bodyPr>
          <a:lstStyle/>
          <a:p>
            <a:pPr algn="ctr"/>
            <a:r>
              <a:rPr lang="en-IN" b="1" dirty="0"/>
              <a:t>Doubly linked linear list</a:t>
            </a:r>
            <a:endParaRPr lang="en-US" b="1" dirty="0"/>
          </a:p>
        </p:txBody>
      </p:sp>
    </p:spTree>
    <p:extLst>
      <p:ext uri="{BB962C8B-B14F-4D97-AF65-F5344CB8AC3E}">
        <p14:creationId xmlns:p14="http://schemas.microsoft.com/office/powerpoint/2010/main" val="3336941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5"/>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7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83"/>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8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8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87"/>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88"/>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89"/>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9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9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92"/>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9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9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p:bldP spid="24" grpId="0"/>
      <p:bldP spid="27" grpId="0" animBg="1"/>
      <p:bldP spid="28" grpId="0"/>
      <p:bldP spid="43" grpId="0"/>
      <p:bldP spid="3" grpId="0"/>
      <p:bldP spid="63" grpId="0" animBg="1"/>
      <p:bldP spid="64" grpId="0"/>
      <p:bldP spid="91" grpId="0"/>
      <p:bldP spid="92" grpId="0"/>
      <p:bldP spid="95"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Node Structure of Doubly Linked List cont.</a:t>
            </a:r>
            <a:endParaRPr lang="en-US" dirty="0"/>
          </a:p>
        </p:txBody>
      </p:sp>
      <p:grpSp>
        <p:nvGrpSpPr>
          <p:cNvPr id="9" name="Group 8"/>
          <p:cNvGrpSpPr/>
          <p:nvPr/>
        </p:nvGrpSpPr>
        <p:grpSpPr>
          <a:xfrm>
            <a:off x="267133" y="1693098"/>
            <a:ext cx="4973975" cy="3046542"/>
            <a:chOff x="3987145" y="3631469"/>
            <a:chExt cx="4973975" cy="3046542"/>
          </a:xfrm>
        </p:grpSpPr>
        <p:sp>
          <p:nvSpPr>
            <p:cNvPr id="19" name="Rectangle 18"/>
            <p:cNvSpPr/>
            <p:nvPr/>
          </p:nvSpPr>
          <p:spPr>
            <a:xfrm>
              <a:off x="3987145" y="3631469"/>
              <a:ext cx="4973975" cy="304654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4303280" y="3841447"/>
              <a:ext cx="4464139" cy="2677656"/>
            </a:xfrm>
            <a:prstGeom prst="rect">
              <a:avLst/>
            </a:prstGeom>
            <a:noFill/>
          </p:spPr>
          <p:txBody>
            <a:bodyPr wrap="square" rtlCol="0">
              <a:spAutoFit/>
            </a:bodyPr>
            <a:lstStyle/>
            <a:p>
              <a:r>
                <a:rPr lang="en-US" sz="2400" b="1" dirty="0" err="1">
                  <a:solidFill>
                    <a:schemeClr val="tx2"/>
                  </a:solidFill>
                  <a:latin typeface="Consolas" pitchFamily="49" charset="0"/>
                  <a:cs typeface="Consolas" pitchFamily="49" charset="0"/>
                </a:rPr>
                <a:t>struct</a:t>
              </a:r>
              <a:r>
                <a:rPr lang="en-US" sz="2400" b="1" dirty="0">
                  <a:solidFill>
                    <a:schemeClr val="tx2"/>
                  </a:solidFill>
                  <a:latin typeface="Consolas" pitchFamily="49" charset="0"/>
                  <a:cs typeface="Consolas" pitchFamily="49" charset="0"/>
                </a:rPr>
                <a:t> </a:t>
              </a:r>
              <a:r>
                <a:rPr lang="en-US" sz="2400" b="1" dirty="0">
                  <a:solidFill>
                    <a:schemeClr val="accent6"/>
                  </a:solidFill>
                  <a:latin typeface="Consolas" pitchFamily="49" charset="0"/>
                  <a:cs typeface="Consolas" pitchFamily="49" charset="0"/>
                </a:rPr>
                <a:t>node</a:t>
              </a:r>
            </a:p>
            <a:p>
              <a:r>
                <a:rPr lang="en-US" sz="2400" b="1" dirty="0">
                  <a:latin typeface="Consolas" pitchFamily="49" charset="0"/>
                  <a:cs typeface="Consolas" pitchFamily="49" charset="0"/>
                </a:rPr>
                <a:t>{</a:t>
              </a:r>
            </a:p>
            <a:p>
              <a:r>
                <a:rPr lang="en-US" sz="2400" b="1" dirty="0">
                  <a:latin typeface="Consolas" pitchFamily="49" charset="0"/>
                  <a:cs typeface="Consolas" pitchFamily="49" charset="0"/>
                </a:rPr>
                <a:t>	</a:t>
              </a:r>
              <a:r>
                <a:rPr lang="en-US" sz="2400" b="1" dirty="0" err="1">
                  <a:solidFill>
                    <a:schemeClr val="accent3">
                      <a:lumMod val="75000"/>
                    </a:schemeClr>
                  </a:solidFill>
                  <a:latin typeface="Consolas" pitchFamily="49" charset="0"/>
                  <a:cs typeface="Consolas" pitchFamily="49" charset="0"/>
                </a:rPr>
                <a:t>int</a:t>
              </a:r>
              <a:r>
                <a:rPr lang="en-US" sz="2400" b="1" dirty="0">
                  <a:solidFill>
                    <a:schemeClr val="accent3">
                      <a:lumMod val="75000"/>
                    </a:schemeClr>
                  </a:solidFill>
                  <a:latin typeface="Consolas" pitchFamily="49" charset="0"/>
                  <a:cs typeface="Consolas" pitchFamily="49" charset="0"/>
                </a:rPr>
                <a:t> </a:t>
              </a:r>
              <a:r>
                <a:rPr lang="en-US" sz="2400" b="1" dirty="0">
                  <a:latin typeface="Consolas" pitchFamily="49" charset="0"/>
                  <a:cs typeface="Consolas" pitchFamily="49" charset="0"/>
                </a:rPr>
                <a:t>info;</a:t>
              </a:r>
            </a:p>
            <a:p>
              <a:r>
                <a:rPr lang="en-US" sz="2400" b="1" dirty="0">
                  <a:latin typeface="Consolas" pitchFamily="49" charset="0"/>
                  <a:cs typeface="Consolas" pitchFamily="49" charset="0"/>
                </a:rPr>
                <a:t>	</a:t>
              </a:r>
              <a:r>
                <a:rPr lang="en-US" sz="2400" b="1" dirty="0" err="1">
                  <a:solidFill>
                    <a:schemeClr val="accent3">
                      <a:lumMod val="75000"/>
                    </a:schemeClr>
                  </a:solidFill>
                  <a:latin typeface="Consolas" pitchFamily="49" charset="0"/>
                  <a:cs typeface="Consolas" pitchFamily="49" charset="0"/>
                </a:rPr>
                <a:t>struct</a:t>
              </a:r>
              <a:r>
                <a:rPr lang="en-US" sz="2400" b="1" dirty="0">
                  <a:solidFill>
                    <a:schemeClr val="accent3">
                      <a:lumMod val="75000"/>
                    </a:schemeClr>
                  </a:solidFill>
                  <a:latin typeface="Consolas" pitchFamily="49" charset="0"/>
                  <a:cs typeface="Consolas" pitchFamily="49" charset="0"/>
                </a:rPr>
                <a:t> </a:t>
              </a:r>
              <a:r>
                <a:rPr lang="en-US" sz="2400" b="1" dirty="0">
                  <a:latin typeface="Consolas" pitchFamily="49" charset="0"/>
                  <a:cs typeface="Consolas" pitchFamily="49" charset="0"/>
                </a:rPr>
                <a:t>node *</a:t>
              </a:r>
              <a:r>
                <a:rPr lang="en-US" sz="2400" b="1" dirty="0" err="1">
                  <a:latin typeface="Consolas" pitchFamily="49" charset="0"/>
                  <a:cs typeface="Consolas" pitchFamily="49" charset="0"/>
                </a:rPr>
                <a:t>lpter</a:t>
              </a:r>
              <a:r>
                <a:rPr lang="en-US" sz="2400" b="1" dirty="0">
                  <a:latin typeface="Consolas" pitchFamily="49" charset="0"/>
                  <a:cs typeface="Consolas" pitchFamily="49" charset="0"/>
                </a:rPr>
                <a:t>;</a:t>
              </a:r>
            </a:p>
            <a:p>
              <a:r>
                <a:rPr lang="en-US" sz="2400" b="1" dirty="0">
                  <a:latin typeface="Consolas" pitchFamily="49" charset="0"/>
                  <a:cs typeface="Consolas" pitchFamily="49" charset="0"/>
                </a:rPr>
                <a:t>	</a:t>
              </a:r>
              <a:r>
                <a:rPr lang="en-US" sz="2400" b="1" dirty="0" err="1">
                  <a:solidFill>
                    <a:schemeClr val="accent3">
                      <a:lumMod val="75000"/>
                    </a:schemeClr>
                  </a:solidFill>
                  <a:latin typeface="Consolas" pitchFamily="49" charset="0"/>
                  <a:cs typeface="Consolas" pitchFamily="49" charset="0"/>
                </a:rPr>
                <a:t>struct</a:t>
              </a:r>
              <a:r>
                <a:rPr lang="en-US" sz="2400" b="1" dirty="0">
                  <a:solidFill>
                    <a:schemeClr val="accent3">
                      <a:lumMod val="75000"/>
                    </a:schemeClr>
                  </a:solidFill>
                  <a:latin typeface="Consolas" pitchFamily="49" charset="0"/>
                  <a:cs typeface="Consolas" pitchFamily="49" charset="0"/>
                </a:rPr>
                <a:t> </a:t>
              </a:r>
              <a:r>
                <a:rPr lang="en-US" sz="2400" b="1" dirty="0">
                  <a:latin typeface="Consolas" pitchFamily="49" charset="0"/>
                  <a:cs typeface="Consolas" pitchFamily="49" charset="0"/>
                </a:rPr>
                <a:t>node *</a:t>
              </a:r>
              <a:r>
                <a:rPr lang="en-US" sz="2400" b="1" dirty="0" err="1">
                  <a:latin typeface="Consolas" pitchFamily="49" charset="0"/>
                  <a:cs typeface="Consolas" pitchFamily="49" charset="0"/>
                </a:rPr>
                <a:t>rpter</a:t>
              </a:r>
              <a:r>
                <a:rPr lang="en-US" sz="2400" b="1" dirty="0">
                  <a:latin typeface="Consolas" pitchFamily="49" charset="0"/>
                  <a:cs typeface="Consolas" pitchFamily="49" charset="0"/>
                </a:rPr>
                <a:t>;</a:t>
              </a:r>
            </a:p>
            <a:p>
              <a:endParaRPr lang="en-US" sz="2400" b="1" dirty="0">
                <a:latin typeface="Consolas" pitchFamily="49" charset="0"/>
                <a:cs typeface="Consolas" pitchFamily="49" charset="0"/>
              </a:endParaRPr>
            </a:p>
            <a:p>
              <a:r>
                <a:rPr lang="en-US" sz="2400" b="1" dirty="0">
                  <a:latin typeface="Consolas" pitchFamily="49" charset="0"/>
                  <a:cs typeface="Consolas" pitchFamily="49" charset="0"/>
                </a:rPr>
                <a:t>};</a:t>
              </a:r>
            </a:p>
          </p:txBody>
        </p:sp>
      </p:grpSp>
      <p:sp>
        <p:nvSpPr>
          <p:cNvPr id="44" name="TextBox 43"/>
          <p:cNvSpPr txBox="1"/>
          <p:nvPr/>
        </p:nvSpPr>
        <p:spPr>
          <a:xfrm>
            <a:off x="267133" y="925150"/>
            <a:ext cx="4973975" cy="553998"/>
          </a:xfrm>
          <a:prstGeom prst="rect">
            <a:avLst/>
          </a:prstGeom>
          <a:noFill/>
        </p:spPr>
        <p:txBody>
          <a:bodyPr wrap="square" rtlCol="0">
            <a:spAutoFit/>
          </a:bodyPr>
          <a:lstStyle/>
          <a:p>
            <a:pPr algn="ctr"/>
            <a:r>
              <a:rPr lang="en-IN" sz="3000" b="1" dirty="0"/>
              <a:t>C Structure to represent a node</a:t>
            </a:r>
          </a:p>
        </p:txBody>
      </p:sp>
      <p:grpSp>
        <p:nvGrpSpPr>
          <p:cNvPr id="32" name="Group 31"/>
          <p:cNvGrpSpPr/>
          <p:nvPr/>
        </p:nvGrpSpPr>
        <p:grpSpPr>
          <a:xfrm>
            <a:off x="5444762" y="1693097"/>
            <a:ext cx="6409509" cy="4580703"/>
            <a:chOff x="4211776" y="3928792"/>
            <a:chExt cx="3680633" cy="5497048"/>
          </a:xfrm>
        </p:grpSpPr>
        <p:sp>
          <p:nvSpPr>
            <p:cNvPr id="33" name="Rectangle 32"/>
            <p:cNvSpPr/>
            <p:nvPr/>
          </p:nvSpPr>
          <p:spPr>
            <a:xfrm>
              <a:off x="4211776" y="3928792"/>
              <a:ext cx="3680632" cy="5497048"/>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p:cNvSpPr txBox="1"/>
            <p:nvPr/>
          </p:nvSpPr>
          <p:spPr>
            <a:xfrm>
              <a:off x="4265977" y="3998230"/>
              <a:ext cx="3626432" cy="5281644"/>
            </a:xfrm>
            <a:prstGeom prst="rect">
              <a:avLst/>
            </a:prstGeom>
            <a:noFill/>
          </p:spPr>
          <p:txBody>
            <a:bodyPr wrap="square" rtlCol="0">
              <a:spAutoFit/>
            </a:bodyPr>
            <a:lstStyle/>
            <a:p>
              <a:r>
                <a:rPr lang="en-US" sz="2000" b="1" dirty="0">
                  <a:latin typeface="Consolas" pitchFamily="49" charset="0"/>
                  <a:cs typeface="Consolas" pitchFamily="49" charset="0"/>
                </a:rPr>
                <a:t>static </a:t>
              </a:r>
              <a:r>
                <a:rPr lang="en-US" sz="2000" b="1" dirty="0">
                  <a:solidFill>
                    <a:schemeClr val="tx2"/>
                  </a:solidFill>
                  <a:latin typeface="Consolas" pitchFamily="49" charset="0"/>
                  <a:cs typeface="Consolas" pitchFamily="49" charset="0"/>
                </a:rPr>
                <a:t>class</a:t>
              </a:r>
              <a:r>
                <a:rPr lang="en-US" sz="2000" b="1" dirty="0">
                  <a:latin typeface="Consolas" pitchFamily="49" charset="0"/>
                  <a:cs typeface="Consolas" pitchFamily="49" charset="0"/>
                </a:rPr>
                <a:t> </a:t>
              </a:r>
              <a:r>
                <a:rPr lang="en-US" sz="2000" b="1" dirty="0">
                  <a:solidFill>
                    <a:schemeClr val="accent6"/>
                  </a:solidFill>
                  <a:latin typeface="Consolas" pitchFamily="49" charset="0"/>
                  <a:cs typeface="Consolas" pitchFamily="49" charset="0"/>
                </a:rPr>
                <a:t>Node</a:t>
              </a:r>
              <a:r>
                <a:rPr lang="en-US" sz="2000" b="1" dirty="0">
                  <a:latin typeface="Consolas" pitchFamily="49" charset="0"/>
                  <a:cs typeface="Consolas" pitchFamily="49" charset="0"/>
                </a:rPr>
                <a:t> {</a:t>
              </a:r>
            </a:p>
            <a:p>
              <a:r>
                <a:rPr lang="en-US" sz="2000" b="1" dirty="0">
                  <a:latin typeface="Consolas" pitchFamily="49" charset="0"/>
                  <a:cs typeface="Consolas" pitchFamily="49" charset="0"/>
                </a:rPr>
                <a:t>	</a:t>
              </a:r>
              <a:r>
                <a:rPr lang="en-US" sz="2000" b="1" dirty="0" err="1">
                  <a:solidFill>
                    <a:schemeClr val="accent3">
                      <a:lumMod val="75000"/>
                    </a:schemeClr>
                  </a:solidFill>
                  <a:latin typeface="Consolas" pitchFamily="49" charset="0"/>
                  <a:cs typeface="Consolas" pitchFamily="49" charset="0"/>
                </a:rPr>
                <a:t>int</a:t>
              </a:r>
              <a:r>
                <a:rPr lang="en-US" sz="2000" b="1" dirty="0">
                  <a:solidFill>
                    <a:schemeClr val="accent3">
                      <a:lumMod val="75000"/>
                    </a:schemeClr>
                  </a:solidFill>
                  <a:latin typeface="Consolas" pitchFamily="49" charset="0"/>
                  <a:cs typeface="Consolas" pitchFamily="49" charset="0"/>
                </a:rPr>
                <a:t> </a:t>
              </a:r>
              <a:r>
                <a:rPr lang="en-US" sz="2000" b="1" dirty="0">
                  <a:latin typeface="Consolas" pitchFamily="49" charset="0"/>
                  <a:cs typeface="Consolas" pitchFamily="49" charset="0"/>
                </a:rPr>
                <a:t>info;</a:t>
              </a:r>
            </a:p>
            <a:p>
              <a:r>
                <a:rPr lang="en-US" sz="2000" b="1" dirty="0">
                  <a:latin typeface="Consolas" pitchFamily="49" charset="0"/>
                  <a:cs typeface="Consolas" pitchFamily="49" charset="0"/>
                </a:rPr>
                <a:t>	</a:t>
              </a:r>
              <a:r>
                <a:rPr lang="en-US" sz="2000" b="1" dirty="0">
                  <a:solidFill>
                    <a:schemeClr val="accent3">
                      <a:lumMod val="75000"/>
                    </a:schemeClr>
                  </a:solidFill>
                  <a:latin typeface="Consolas" pitchFamily="49" charset="0"/>
                  <a:cs typeface="Consolas" pitchFamily="49" charset="0"/>
                </a:rPr>
                <a:t>Node</a:t>
              </a:r>
              <a:r>
                <a:rPr lang="en-US" sz="2000" b="1" dirty="0">
                  <a:latin typeface="Consolas" pitchFamily="49" charset="0"/>
                  <a:cs typeface="Consolas" pitchFamily="49" charset="0"/>
                </a:rPr>
                <a:t> </a:t>
              </a:r>
              <a:r>
                <a:rPr lang="en-US" sz="2000" b="1" dirty="0" err="1">
                  <a:latin typeface="Consolas" pitchFamily="49" charset="0"/>
                  <a:cs typeface="Consolas" pitchFamily="49" charset="0"/>
                </a:rPr>
                <a:t>lpter</a:t>
              </a:r>
              <a:r>
                <a:rPr lang="en-US" sz="2000" b="1" dirty="0">
                  <a:latin typeface="Consolas" pitchFamily="49" charset="0"/>
                  <a:cs typeface="Consolas" pitchFamily="49" charset="0"/>
                </a:rPr>
                <a:t>;</a:t>
              </a:r>
            </a:p>
            <a:p>
              <a:r>
                <a:rPr lang="en-US" sz="2000" b="1" dirty="0">
                  <a:latin typeface="Consolas" pitchFamily="49" charset="0"/>
                  <a:cs typeface="Consolas" pitchFamily="49" charset="0"/>
                </a:rPr>
                <a:t>	</a:t>
              </a:r>
              <a:r>
                <a:rPr lang="en-US" sz="2000" b="1" dirty="0">
                  <a:solidFill>
                    <a:schemeClr val="accent3">
                      <a:lumMod val="75000"/>
                    </a:schemeClr>
                  </a:solidFill>
                  <a:latin typeface="Consolas" pitchFamily="49" charset="0"/>
                  <a:cs typeface="Consolas" pitchFamily="49" charset="0"/>
                </a:rPr>
                <a:t>Node</a:t>
              </a:r>
              <a:r>
                <a:rPr lang="en-US" sz="2000" b="1" dirty="0">
                  <a:latin typeface="Consolas" pitchFamily="49" charset="0"/>
                  <a:cs typeface="Consolas" pitchFamily="49" charset="0"/>
                </a:rPr>
                <a:t> </a:t>
              </a:r>
              <a:r>
                <a:rPr lang="en-US" sz="2000" b="1" dirty="0" err="1">
                  <a:latin typeface="Consolas" pitchFamily="49" charset="0"/>
                  <a:cs typeface="Consolas" pitchFamily="49" charset="0"/>
                </a:rPr>
                <a:t>rpter</a:t>
              </a:r>
              <a:r>
                <a:rPr lang="en-US" sz="2000" b="1" dirty="0">
                  <a:latin typeface="Consolas" pitchFamily="49" charset="0"/>
                  <a:cs typeface="Consolas" pitchFamily="49" charset="0"/>
                </a:rPr>
                <a:t>;</a:t>
              </a:r>
            </a:p>
            <a:p>
              <a:endParaRPr lang="en-US" sz="2000" b="1" dirty="0">
                <a:latin typeface="Consolas" pitchFamily="49" charset="0"/>
                <a:cs typeface="Consolas" pitchFamily="49" charset="0"/>
              </a:endParaRPr>
            </a:p>
            <a:p>
              <a:endParaRPr lang="en-US" sz="2000" b="1" dirty="0">
                <a:latin typeface="Consolas" pitchFamily="49" charset="0"/>
                <a:cs typeface="Consolas" pitchFamily="49" charset="0"/>
              </a:endParaRPr>
            </a:p>
            <a:p>
              <a:r>
                <a:rPr lang="en-US" sz="2000" b="1" dirty="0">
                  <a:latin typeface="Consolas" pitchFamily="49" charset="0"/>
                  <a:cs typeface="Consolas" pitchFamily="49" charset="0"/>
                </a:rPr>
                <a:t>	</a:t>
              </a:r>
              <a:r>
                <a:rPr lang="en-US" sz="2000" b="1" i="1" dirty="0">
                  <a:solidFill>
                    <a:schemeClr val="tx2">
                      <a:lumMod val="40000"/>
                      <a:lumOff val="60000"/>
                    </a:schemeClr>
                  </a:solidFill>
                  <a:latin typeface="Consolas" pitchFamily="49" charset="0"/>
                  <a:cs typeface="Consolas" pitchFamily="49" charset="0"/>
                </a:rPr>
                <a:t>// Constructor to create a new node</a:t>
              </a:r>
            </a:p>
            <a:p>
              <a:r>
                <a:rPr lang="en-US" sz="2000" b="1" i="1" dirty="0">
                  <a:solidFill>
                    <a:schemeClr val="tx2">
                      <a:lumMod val="40000"/>
                      <a:lumOff val="60000"/>
                    </a:schemeClr>
                  </a:solidFill>
                  <a:latin typeface="Consolas" pitchFamily="49" charset="0"/>
                  <a:cs typeface="Consolas" pitchFamily="49" charset="0"/>
                </a:rPr>
                <a:t>	//</a:t>
              </a:r>
              <a:r>
                <a:rPr lang="en-US" b="1" i="1" dirty="0">
                  <a:solidFill>
                    <a:schemeClr val="tx2">
                      <a:lumMod val="40000"/>
                      <a:lumOff val="60000"/>
                    </a:schemeClr>
                  </a:solidFill>
                  <a:latin typeface="Consolas" pitchFamily="49" charset="0"/>
                  <a:cs typeface="Consolas" pitchFamily="49" charset="0"/>
                </a:rPr>
                <a:t> </a:t>
              </a:r>
              <a:r>
                <a:rPr lang="en-US" b="1" i="1" dirty="0" err="1">
                  <a:solidFill>
                    <a:schemeClr val="tx2">
                      <a:lumMod val="40000"/>
                      <a:lumOff val="60000"/>
                    </a:schemeClr>
                  </a:solidFill>
                  <a:latin typeface="Consolas" pitchFamily="49" charset="0"/>
                  <a:cs typeface="Consolas" pitchFamily="49" charset="0"/>
                </a:rPr>
                <a:t>lpter</a:t>
              </a:r>
              <a:r>
                <a:rPr lang="en-US" b="1" i="1" dirty="0">
                  <a:solidFill>
                    <a:schemeClr val="tx2">
                      <a:lumMod val="40000"/>
                      <a:lumOff val="60000"/>
                    </a:schemeClr>
                  </a:solidFill>
                  <a:latin typeface="Consolas" pitchFamily="49" charset="0"/>
                  <a:cs typeface="Consolas" pitchFamily="49" charset="0"/>
                </a:rPr>
                <a:t> &amp; </a:t>
              </a:r>
              <a:r>
                <a:rPr lang="en-US" b="1" i="1" dirty="0" err="1">
                  <a:solidFill>
                    <a:schemeClr val="tx2">
                      <a:lumMod val="40000"/>
                      <a:lumOff val="60000"/>
                    </a:schemeClr>
                  </a:solidFill>
                  <a:latin typeface="Consolas" pitchFamily="49" charset="0"/>
                  <a:cs typeface="Consolas" pitchFamily="49" charset="0"/>
                </a:rPr>
                <a:t>rpter</a:t>
              </a:r>
              <a:r>
                <a:rPr lang="en-US" b="1" i="1" dirty="0">
                  <a:solidFill>
                    <a:schemeClr val="tx2">
                      <a:lumMod val="40000"/>
                      <a:lumOff val="60000"/>
                    </a:schemeClr>
                  </a:solidFill>
                  <a:latin typeface="Consolas" pitchFamily="49" charset="0"/>
                  <a:cs typeface="Consolas" pitchFamily="49" charset="0"/>
                </a:rPr>
                <a:t> is initialized as null</a:t>
              </a:r>
            </a:p>
            <a:p>
              <a:r>
                <a:rPr lang="en-US" sz="2000" b="1" dirty="0">
                  <a:latin typeface="Consolas" pitchFamily="49" charset="0"/>
                  <a:cs typeface="Consolas" pitchFamily="49" charset="0"/>
                </a:rPr>
                <a:t>	</a:t>
              </a:r>
              <a:r>
                <a:rPr lang="en-US" sz="2000" b="1" dirty="0">
                  <a:solidFill>
                    <a:schemeClr val="accent4">
                      <a:lumMod val="75000"/>
                    </a:schemeClr>
                  </a:solidFill>
                  <a:latin typeface="Consolas" pitchFamily="49" charset="0"/>
                  <a:cs typeface="Consolas" pitchFamily="49" charset="0"/>
                </a:rPr>
                <a:t>Node</a:t>
              </a:r>
              <a:r>
                <a:rPr lang="en-US" sz="2000" b="1" dirty="0">
                  <a:latin typeface="Consolas" pitchFamily="49" charset="0"/>
                  <a:cs typeface="Consolas" pitchFamily="49" charset="0"/>
                </a:rPr>
                <a:t>(</a:t>
              </a:r>
              <a:r>
                <a:rPr lang="en-US" sz="2000" b="1" dirty="0" err="1">
                  <a:solidFill>
                    <a:schemeClr val="accent3">
                      <a:lumMod val="75000"/>
                    </a:schemeClr>
                  </a:solidFill>
                  <a:latin typeface="Consolas" pitchFamily="49" charset="0"/>
                  <a:cs typeface="Consolas" pitchFamily="49" charset="0"/>
                </a:rPr>
                <a:t>int</a:t>
              </a:r>
              <a:r>
                <a:rPr lang="en-US" sz="2000" b="1" dirty="0">
                  <a:latin typeface="Consolas" pitchFamily="49" charset="0"/>
                  <a:cs typeface="Consolas" pitchFamily="49" charset="0"/>
                </a:rPr>
                <a:t> data) { </a:t>
              </a:r>
            </a:p>
            <a:p>
              <a:r>
                <a:rPr lang="en-US" sz="2000" b="1" dirty="0">
                  <a:latin typeface="Consolas" pitchFamily="49" charset="0"/>
                  <a:cs typeface="Consolas" pitchFamily="49" charset="0"/>
                </a:rPr>
                <a:t> 		info = data; </a:t>
              </a:r>
            </a:p>
            <a:p>
              <a:r>
                <a:rPr lang="en-US" sz="2000" b="1" dirty="0">
                  <a:latin typeface="Consolas" pitchFamily="49" charset="0"/>
                  <a:cs typeface="Consolas" pitchFamily="49" charset="0"/>
                </a:rPr>
                <a:t>		</a:t>
              </a:r>
              <a:r>
                <a:rPr lang="en-US" sz="2000" b="1" dirty="0" err="1">
                  <a:latin typeface="Consolas" pitchFamily="49" charset="0"/>
                  <a:cs typeface="Consolas" pitchFamily="49" charset="0"/>
                </a:rPr>
                <a:t>lpter</a:t>
              </a:r>
              <a:r>
                <a:rPr lang="en-US" sz="2000" b="1" dirty="0">
                  <a:latin typeface="Consolas" pitchFamily="49" charset="0"/>
                  <a:cs typeface="Consolas" pitchFamily="49" charset="0"/>
                </a:rPr>
                <a:t> = null;</a:t>
              </a:r>
            </a:p>
            <a:p>
              <a:r>
                <a:rPr lang="en-US" sz="2000" b="1" dirty="0">
                  <a:latin typeface="Consolas" pitchFamily="49" charset="0"/>
                  <a:cs typeface="Consolas" pitchFamily="49" charset="0"/>
                </a:rPr>
                <a:t>		</a:t>
              </a:r>
              <a:r>
                <a:rPr lang="en-US" sz="2000" b="1" dirty="0" err="1">
                  <a:latin typeface="Consolas" pitchFamily="49" charset="0"/>
                  <a:cs typeface="Consolas" pitchFamily="49" charset="0"/>
                </a:rPr>
                <a:t>rpter</a:t>
              </a:r>
              <a:r>
                <a:rPr lang="en-US" sz="2000" b="1" dirty="0">
                  <a:latin typeface="Consolas" pitchFamily="49" charset="0"/>
                  <a:cs typeface="Consolas" pitchFamily="49" charset="0"/>
                </a:rPr>
                <a:t> = null;	</a:t>
              </a:r>
            </a:p>
            <a:p>
              <a:r>
                <a:rPr lang="en-US" sz="2000" b="1" dirty="0">
                  <a:latin typeface="Consolas" pitchFamily="49" charset="0"/>
                  <a:cs typeface="Consolas" pitchFamily="49" charset="0"/>
                </a:rPr>
                <a:t>	}</a:t>
              </a:r>
            </a:p>
            <a:p>
              <a:r>
                <a:rPr lang="en-US" sz="2000" b="1" dirty="0">
                  <a:latin typeface="Consolas" pitchFamily="49" charset="0"/>
                  <a:cs typeface="Consolas" pitchFamily="49" charset="0"/>
                </a:rPr>
                <a:t>}</a:t>
              </a:r>
            </a:p>
          </p:txBody>
        </p:sp>
      </p:grpSp>
      <p:sp>
        <p:nvSpPr>
          <p:cNvPr id="35" name="TextBox 34"/>
          <p:cNvSpPr txBox="1"/>
          <p:nvPr/>
        </p:nvSpPr>
        <p:spPr>
          <a:xfrm>
            <a:off x="5444762" y="925150"/>
            <a:ext cx="6409507" cy="553998"/>
          </a:xfrm>
          <a:prstGeom prst="rect">
            <a:avLst/>
          </a:prstGeom>
          <a:noFill/>
        </p:spPr>
        <p:txBody>
          <a:bodyPr wrap="square" rtlCol="0">
            <a:spAutoFit/>
          </a:bodyPr>
          <a:lstStyle/>
          <a:p>
            <a:pPr algn="ctr"/>
            <a:r>
              <a:rPr lang="en-IN" sz="3000" b="1" dirty="0"/>
              <a:t>Java class to represent a node</a:t>
            </a:r>
          </a:p>
        </p:txBody>
      </p:sp>
      <p:grpSp>
        <p:nvGrpSpPr>
          <p:cNvPr id="31" name="Group 30"/>
          <p:cNvGrpSpPr/>
          <p:nvPr/>
        </p:nvGrpSpPr>
        <p:grpSpPr>
          <a:xfrm>
            <a:off x="1433596" y="5106141"/>
            <a:ext cx="2705573" cy="466320"/>
            <a:chOff x="-76200" y="4191000"/>
            <a:chExt cx="1997075" cy="381000"/>
          </a:xfrm>
        </p:grpSpPr>
        <p:sp>
          <p:nvSpPr>
            <p:cNvPr id="36" name="Rectangle 35"/>
            <p:cNvSpPr/>
            <p:nvPr/>
          </p:nvSpPr>
          <p:spPr>
            <a:xfrm>
              <a:off x="609599" y="4191000"/>
              <a:ext cx="628651"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INFO</a:t>
              </a:r>
              <a:endParaRPr lang="en-US" sz="2000" b="1" dirty="0"/>
            </a:p>
          </p:txBody>
        </p:sp>
        <p:sp>
          <p:nvSpPr>
            <p:cNvPr id="37" name="Rectangle 36"/>
            <p:cNvSpPr/>
            <p:nvPr/>
          </p:nvSpPr>
          <p:spPr>
            <a:xfrm>
              <a:off x="-76200" y="4191000"/>
              <a:ext cx="68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LPTR</a:t>
              </a:r>
              <a:endParaRPr lang="en-US" b="1" dirty="0"/>
            </a:p>
          </p:txBody>
        </p:sp>
        <p:sp>
          <p:nvSpPr>
            <p:cNvPr id="38" name="Rectangle 37"/>
            <p:cNvSpPr/>
            <p:nvPr/>
          </p:nvSpPr>
          <p:spPr>
            <a:xfrm>
              <a:off x="1238250" y="4191000"/>
              <a:ext cx="682625"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RPTR</a:t>
              </a:r>
              <a:endParaRPr lang="en-US" b="1" dirty="0"/>
            </a:p>
          </p:txBody>
        </p:sp>
      </p:grpSp>
    </p:spTree>
    <p:extLst>
      <p:ext uri="{BB962C8B-B14F-4D97-AF65-F5344CB8AC3E}">
        <p14:creationId xmlns:p14="http://schemas.microsoft.com/office/powerpoint/2010/main" val="3361470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3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Insert node in Doubly Linked List</a:t>
            </a:r>
            <a:endParaRPr lang="en-US" dirty="0"/>
          </a:p>
        </p:txBody>
      </p:sp>
      <p:grpSp>
        <p:nvGrpSpPr>
          <p:cNvPr id="4" name="Group 3"/>
          <p:cNvGrpSpPr/>
          <p:nvPr/>
        </p:nvGrpSpPr>
        <p:grpSpPr>
          <a:xfrm>
            <a:off x="1828800" y="2121932"/>
            <a:ext cx="1066800" cy="381000"/>
            <a:chOff x="304800" y="4191000"/>
            <a:chExt cx="1066800" cy="381000"/>
          </a:xfrm>
        </p:grpSpPr>
        <p:sp>
          <p:nvSpPr>
            <p:cNvPr id="5" name="Rectangle 4"/>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6" name="Rectangle 5"/>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7" name="Rectangle 6"/>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8" name="Group 7"/>
          <p:cNvGrpSpPr/>
          <p:nvPr/>
        </p:nvGrpSpPr>
        <p:grpSpPr>
          <a:xfrm>
            <a:off x="3429000" y="2121932"/>
            <a:ext cx="1066800" cy="381000"/>
            <a:chOff x="304800" y="4191000"/>
            <a:chExt cx="1066800" cy="381000"/>
          </a:xfrm>
        </p:grpSpPr>
        <p:sp>
          <p:nvSpPr>
            <p:cNvPr id="9" name="Rectangle 8"/>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0" name="Rectangle 9"/>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1" name="Rectangle 10"/>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12" name="Group 11"/>
          <p:cNvGrpSpPr/>
          <p:nvPr/>
        </p:nvGrpSpPr>
        <p:grpSpPr>
          <a:xfrm>
            <a:off x="7620000" y="2121932"/>
            <a:ext cx="1066800" cy="381000"/>
            <a:chOff x="304800" y="4191000"/>
            <a:chExt cx="1066800" cy="381000"/>
          </a:xfrm>
        </p:grpSpPr>
        <p:sp>
          <p:nvSpPr>
            <p:cNvPr id="13" name="Rectangle 12"/>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4" name="Rectangle 13"/>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5" name="Rectangle 14"/>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16" name="Group 15"/>
          <p:cNvGrpSpPr/>
          <p:nvPr/>
        </p:nvGrpSpPr>
        <p:grpSpPr>
          <a:xfrm>
            <a:off x="9220200" y="2121932"/>
            <a:ext cx="1066800" cy="381000"/>
            <a:chOff x="304800" y="4191000"/>
            <a:chExt cx="1066800" cy="381000"/>
          </a:xfrm>
        </p:grpSpPr>
        <p:sp>
          <p:nvSpPr>
            <p:cNvPr id="17" name="Rectangle 16"/>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8" name="Rectangle 17"/>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9" name="Rectangle 18"/>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cxnSp>
        <p:nvCxnSpPr>
          <p:cNvPr id="20" name="Straight Arrow Connector 19"/>
          <p:cNvCxnSpPr/>
          <p:nvPr/>
        </p:nvCxnSpPr>
        <p:spPr>
          <a:xfrm>
            <a:off x="2895600" y="2198132"/>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1" name="Straight Arrow Connector 20"/>
          <p:cNvCxnSpPr/>
          <p:nvPr/>
        </p:nvCxnSpPr>
        <p:spPr>
          <a:xfrm>
            <a:off x="4495800" y="2198132"/>
            <a:ext cx="15240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2" name="Straight Arrow Connector 21"/>
          <p:cNvCxnSpPr/>
          <p:nvPr/>
        </p:nvCxnSpPr>
        <p:spPr>
          <a:xfrm>
            <a:off x="8686800" y="2198132"/>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3" name="Straight Arrow Connector 22"/>
          <p:cNvCxnSpPr/>
          <p:nvPr/>
        </p:nvCxnSpPr>
        <p:spPr>
          <a:xfrm>
            <a:off x="8686800" y="2426732"/>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24" name="Straight Arrow Connector 23"/>
          <p:cNvCxnSpPr/>
          <p:nvPr/>
        </p:nvCxnSpPr>
        <p:spPr>
          <a:xfrm>
            <a:off x="4495800" y="2426732"/>
            <a:ext cx="15240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25" name="Straight Arrow Connector 24"/>
          <p:cNvCxnSpPr/>
          <p:nvPr/>
        </p:nvCxnSpPr>
        <p:spPr>
          <a:xfrm>
            <a:off x="2895600" y="2426732"/>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26" name="Straight Connector 25"/>
          <p:cNvCxnSpPr/>
          <p:nvPr/>
        </p:nvCxnSpPr>
        <p:spPr>
          <a:xfrm flipV="1">
            <a:off x="9982200" y="2121932"/>
            <a:ext cx="304800" cy="381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7" name="Straight Connector 26"/>
          <p:cNvCxnSpPr/>
          <p:nvPr/>
        </p:nvCxnSpPr>
        <p:spPr>
          <a:xfrm flipH="1">
            <a:off x="1828800" y="2121932"/>
            <a:ext cx="304800" cy="381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28" name="TextBox 27"/>
          <p:cNvSpPr txBox="1"/>
          <p:nvPr/>
        </p:nvSpPr>
        <p:spPr>
          <a:xfrm>
            <a:off x="1831353" y="2743200"/>
            <a:ext cx="295274" cy="369332"/>
          </a:xfrm>
          <a:prstGeom prst="rect">
            <a:avLst/>
          </a:prstGeom>
          <a:noFill/>
        </p:spPr>
        <p:txBody>
          <a:bodyPr wrap="none" rtlCol="0">
            <a:spAutoFit/>
          </a:bodyPr>
          <a:lstStyle/>
          <a:p>
            <a:pPr algn="ctr"/>
            <a:r>
              <a:rPr lang="en-IN" b="1" dirty="0"/>
              <a:t>L</a:t>
            </a:r>
            <a:endParaRPr lang="en-US" b="1" dirty="0"/>
          </a:p>
        </p:txBody>
      </p:sp>
      <p:sp>
        <p:nvSpPr>
          <p:cNvPr id="29" name="TextBox 28"/>
          <p:cNvSpPr txBox="1"/>
          <p:nvPr/>
        </p:nvSpPr>
        <p:spPr>
          <a:xfrm>
            <a:off x="9972490" y="2731532"/>
            <a:ext cx="314510" cy="369332"/>
          </a:xfrm>
          <a:prstGeom prst="rect">
            <a:avLst/>
          </a:prstGeom>
          <a:noFill/>
        </p:spPr>
        <p:txBody>
          <a:bodyPr wrap="none" rtlCol="0">
            <a:spAutoFit/>
          </a:bodyPr>
          <a:lstStyle/>
          <a:p>
            <a:pPr algn="ctr"/>
            <a:r>
              <a:rPr lang="en-IN" b="1" dirty="0"/>
              <a:t>R</a:t>
            </a:r>
            <a:endParaRPr lang="en-US" b="1" dirty="0"/>
          </a:p>
        </p:txBody>
      </p:sp>
      <p:cxnSp>
        <p:nvCxnSpPr>
          <p:cNvPr id="30" name="Straight Arrow Connector 29"/>
          <p:cNvCxnSpPr>
            <a:stCxn id="28" idx="0"/>
            <a:endCxn id="6" idx="2"/>
          </p:cNvCxnSpPr>
          <p:nvPr/>
        </p:nvCxnSpPr>
        <p:spPr>
          <a:xfrm flipV="1">
            <a:off x="1978990" y="2502932"/>
            <a:ext cx="2210" cy="2402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1" name="Straight Arrow Connector 30"/>
          <p:cNvCxnSpPr/>
          <p:nvPr/>
        </p:nvCxnSpPr>
        <p:spPr>
          <a:xfrm flipV="1">
            <a:off x="10132390" y="2502932"/>
            <a:ext cx="2210" cy="2402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32" name="Group 31"/>
          <p:cNvGrpSpPr/>
          <p:nvPr/>
        </p:nvGrpSpPr>
        <p:grpSpPr>
          <a:xfrm>
            <a:off x="6019800" y="2121932"/>
            <a:ext cx="1066800" cy="381000"/>
            <a:chOff x="304800" y="4191000"/>
            <a:chExt cx="1066800" cy="381000"/>
          </a:xfrm>
        </p:grpSpPr>
        <p:sp>
          <p:nvSpPr>
            <p:cNvPr id="33" name="Rectangle 32"/>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34" name="Rectangle 33"/>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35" name="Rectangle 34"/>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cxnSp>
        <p:nvCxnSpPr>
          <p:cNvPr id="36" name="Straight Arrow Connector 35"/>
          <p:cNvCxnSpPr/>
          <p:nvPr/>
        </p:nvCxnSpPr>
        <p:spPr>
          <a:xfrm>
            <a:off x="7086600" y="2198132"/>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7" name="Straight Arrow Connector 36"/>
          <p:cNvCxnSpPr/>
          <p:nvPr/>
        </p:nvCxnSpPr>
        <p:spPr>
          <a:xfrm>
            <a:off x="7086600" y="2426732"/>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grpSp>
        <p:nvGrpSpPr>
          <p:cNvPr id="40" name="Group 39"/>
          <p:cNvGrpSpPr/>
          <p:nvPr/>
        </p:nvGrpSpPr>
        <p:grpSpPr>
          <a:xfrm>
            <a:off x="4724400" y="2883932"/>
            <a:ext cx="1066800" cy="381000"/>
            <a:chOff x="304800" y="4191000"/>
            <a:chExt cx="1066800" cy="381000"/>
          </a:xfrm>
        </p:grpSpPr>
        <p:sp>
          <p:nvSpPr>
            <p:cNvPr id="41" name="Rectangle 40"/>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42" name="Rectangle 41"/>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43" name="Rectangle 42"/>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sp>
        <p:nvSpPr>
          <p:cNvPr id="44" name="TextBox 43"/>
          <p:cNvSpPr txBox="1"/>
          <p:nvPr/>
        </p:nvSpPr>
        <p:spPr>
          <a:xfrm>
            <a:off x="4900043" y="3276600"/>
            <a:ext cx="612668" cy="369332"/>
          </a:xfrm>
          <a:prstGeom prst="rect">
            <a:avLst/>
          </a:prstGeom>
          <a:noFill/>
        </p:spPr>
        <p:txBody>
          <a:bodyPr wrap="none" rtlCol="0">
            <a:spAutoFit/>
          </a:bodyPr>
          <a:lstStyle/>
          <a:p>
            <a:pPr algn="ctr"/>
            <a:r>
              <a:rPr lang="en-IN" b="1" dirty="0"/>
              <a:t>NEW</a:t>
            </a:r>
            <a:endParaRPr lang="en-US" b="1" dirty="0"/>
          </a:p>
        </p:txBody>
      </p:sp>
      <p:sp>
        <p:nvSpPr>
          <p:cNvPr id="45" name="TextBox 44"/>
          <p:cNvSpPr txBox="1"/>
          <p:nvPr/>
        </p:nvSpPr>
        <p:spPr>
          <a:xfrm>
            <a:off x="6373503" y="1701800"/>
            <a:ext cx="359393" cy="369332"/>
          </a:xfrm>
          <a:prstGeom prst="rect">
            <a:avLst/>
          </a:prstGeom>
          <a:noFill/>
        </p:spPr>
        <p:txBody>
          <a:bodyPr wrap="none" rtlCol="0">
            <a:spAutoFit/>
          </a:bodyPr>
          <a:lstStyle/>
          <a:p>
            <a:pPr algn="ctr"/>
            <a:r>
              <a:rPr lang="en-IN" b="1" dirty="0"/>
              <a:t>M</a:t>
            </a:r>
            <a:endParaRPr lang="en-US" b="1" dirty="0"/>
          </a:p>
        </p:txBody>
      </p:sp>
      <p:sp>
        <p:nvSpPr>
          <p:cNvPr id="46" name="TextBox 45"/>
          <p:cNvSpPr txBox="1"/>
          <p:nvPr/>
        </p:nvSpPr>
        <p:spPr>
          <a:xfrm>
            <a:off x="1752601" y="1524000"/>
            <a:ext cx="2183611" cy="461665"/>
          </a:xfrm>
          <a:prstGeom prst="rect">
            <a:avLst/>
          </a:prstGeom>
          <a:solidFill>
            <a:schemeClr val="bg1">
              <a:lumMod val="95000"/>
            </a:schemeClr>
          </a:solidFill>
        </p:spPr>
        <p:txBody>
          <a:bodyPr wrap="none" rtlCol="0">
            <a:spAutoFit/>
          </a:bodyPr>
          <a:lstStyle/>
          <a:p>
            <a:r>
              <a:rPr lang="en-IN" sz="2400" b="1" dirty="0">
                <a:solidFill>
                  <a:schemeClr val="tx2"/>
                </a:solidFill>
              </a:rPr>
              <a:t>Before Insertion</a:t>
            </a:r>
            <a:endParaRPr lang="en-US" sz="2400" b="1" dirty="0">
              <a:solidFill>
                <a:schemeClr val="tx2"/>
              </a:solidFill>
            </a:endParaRPr>
          </a:p>
        </p:txBody>
      </p:sp>
      <p:sp>
        <p:nvSpPr>
          <p:cNvPr id="47" name="TextBox 46"/>
          <p:cNvSpPr txBox="1"/>
          <p:nvPr/>
        </p:nvSpPr>
        <p:spPr>
          <a:xfrm>
            <a:off x="7226301" y="2922032"/>
            <a:ext cx="2409827" cy="369332"/>
          </a:xfrm>
          <a:prstGeom prst="rect">
            <a:avLst/>
          </a:prstGeom>
          <a:noFill/>
        </p:spPr>
        <p:txBody>
          <a:bodyPr wrap="none" rtlCol="0">
            <a:spAutoFit/>
          </a:bodyPr>
          <a:lstStyle/>
          <a:p>
            <a:r>
              <a:rPr lang="en-IN" b="1" dirty="0"/>
              <a:t>LPTR(NEW) </a:t>
            </a:r>
            <a:r>
              <a:rPr lang="en-IN" b="1" dirty="0">
                <a:sym typeface="Wingdings" pitchFamily="2" charset="2"/>
              </a:rPr>
              <a:t> LPTR(M)</a:t>
            </a:r>
          </a:p>
        </p:txBody>
      </p:sp>
      <p:sp>
        <p:nvSpPr>
          <p:cNvPr id="48" name="TextBox 47"/>
          <p:cNvSpPr txBox="1"/>
          <p:nvPr/>
        </p:nvSpPr>
        <p:spPr>
          <a:xfrm>
            <a:off x="7226301" y="3276600"/>
            <a:ext cx="1833451" cy="369332"/>
          </a:xfrm>
          <a:prstGeom prst="rect">
            <a:avLst/>
          </a:prstGeom>
          <a:noFill/>
        </p:spPr>
        <p:txBody>
          <a:bodyPr wrap="none" rtlCol="0">
            <a:spAutoFit/>
          </a:bodyPr>
          <a:lstStyle/>
          <a:p>
            <a:r>
              <a:rPr lang="en-IN" b="1" dirty="0"/>
              <a:t>RPTR(NEW) </a:t>
            </a:r>
            <a:r>
              <a:rPr lang="en-IN" b="1" dirty="0">
                <a:sym typeface="Wingdings" pitchFamily="2" charset="2"/>
              </a:rPr>
              <a:t> M</a:t>
            </a:r>
          </a:p>
        </p:txBody>
      </p:sp>
      <p:sp>
        <p:nvSpPr>
          <p:cNvPr id="49" name="TextBox 48"/>
          <p:cNvSpPr txBox="1"/>
          <p:nvPr/>
        </p:nvSpPr>
        <p:spPr>
          <a:xfrm>
            <a:off x="7226301" y="3657600"/>
            <a:ext cx="1801391" cy="369332"/>
          </a:xfrm>
          <a:prstGeom prst="rect">
            <a:avLst/>
          </a:prstGeom>
          <a:noFill/>
        </p:spPr>
        <p:txBody>
          <a:bodyPr wrap="none" rtlCol="0">
            <a:spAutoFit/>
          </a:bodyPr>
          <a:lstStyle/>
          <a:p>
            <a:r>
              <a:rPr lang="en-IN" b="1" dirty="0"/>
              <a:t>LPTR(M) </a:t>
            </a:r>
            <a:r>
              <a:rPr lang="en-IN" b="1" dirty="0">
                <a:sym typeface="Wingdings" pitchFamily="2" charset="2"/>
              </a:rPr>
              <a:t></a:t>
            </a:r>
            <a:r>
              <a:rPr lang="en-IN" b="1" dirty="0"/>
              <a:t> NEW</a:t>
            </a:r>
            <a:endParaRPr lang="en-IN" b="1" dirty="0">
              <a:sym typeface="Wingdings" pitchFamily="2" charset="2"/>
            </a:endParaRPr>
          </a:p>
        </p:txBody>
      </p:sp>
      <p:sp>
        <p:nvSpPr>
          <p:cNvPr id="50" name="TextBox 49"/>
          <p:cNvSpPr txBox="1"/>
          <p:nvPr/>
        </p:nvSpPr>
        <p:spPr>
          <a:xfrm>
            <a:off x="7226301" y="4038600"/>
            <a:ext cx="2714397" cy="369332"/>
          </a:xfrm>
          <a:prstGeom prst="rect">
            <a:avLst/>
          </a:prstGeom>
          <a:noFill/>
        </p:spPr>
        <p:txBody>
          <a:bodyPr wrap="none" rtlCol="0">
            <a:spAutoFit/>
          </a:bodyPr>
          <a:lstStyle/>
          <a:p>
            <a:r>
              <a:rPr lang="en-IN" b="1" dirty="0"/>
              <a:t>RPTR(LPTR(NEW)) </a:t>
            </a:r>
            <a:r>
              <a:rPr lang="en-IN" b="1" dirty="0">
                <a:sym typeface="Wingdings" pitchFamily="2" charset="2"/>
              </a:rPr>
              <a:t></a:t>
            </a:r>
            <a:r>
              <a:rPr lang="en-IN" b="1" dirty="0"/>
              <a:t> NEW</a:t>
            </a:r>
            <a:endParaRPr lang="en-IN" b="1" dirty="0">
              <a:sym typeface="Wingdings" pitchFamily="2" charset="2"/>
            </a:endParaRPr>
          </a:p>
        </p:txBody>
      </p:sp>
      <p:grpSp>
        <p:nvGrpSpPr>
          <p:cNvPr id="51" name="Group 50"/>
          <p:cNvGrpSpPr/>
          <p:nvPr/>
        </p:nvGrpSpPr>
        <p:grpSpPr>
          <a:xfrm>
            <a:off x="1828800" y="4876800"/>
            <a:ext cx="1066800" cy="381000"/>
            <a:chOff x="304800" y="4191000"/>
            <a:chExt cx="1066800" cy="381000"/>
          </a:xfrm>
        </p:grpSpPr>
        <p:sp>
          <p:nvSpPr>
            <p:cNvPr id="52" name="Rectangle 51"/>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53" name="Rectangle 52"/>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54" name="Rectangle 53"/>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55" name="Group 54"/>
          <p:cNvGrpSpPr/>
          <p:nvPr/>
        </p:nvGrpSpPr>
        <p:grpSpPr>
          <a:xfrm>
            <a:off x="3429000" y="4876800"/>
            <a:ext cx="1066800" cy="381000"/>
            <a:chOff x="304800" y="4191000"/>
            <a:chExt cx="1066800" cy="381000"/>
          </a:xfrm>
        </p:grpSpPr>
        <p:sp>
          <p:nvSpPr>
            <p:cNvPr id="56" name="Rectangle 55"/>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57" name="Rectangle 56"/>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58" name="Rectangle 57"/>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59" name="Group 58"/>
          <p:cNvGrpSpPr/>
          <p:nvPr/>
        </p:nvGrpSpPr>
        <p:grpSpPr>
          <a:xfrm>
            <a:off x="7620000" y="4876800"/>
            <a:ext cx="1066800" cy="381000"/>
            <a:chOff x="304800" y="4191000"/>
            <a:chExt cx="1066800" cy="381000"/>
          </a:xfrm>
        </p:grpSpPr>
        <p:sp>
          <p:nvSpPr>
            <p:cNvPr id="60" name="Rectangle 59"/>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61" name="Rectangle 60"/>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62" name="Rectangle 61"/>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63" name="Group 62"/>
          <p:cNvGrpSpPr/>
          <p:nvPr/>
        </p:nvGrpSpPr>
        <p:grpSpPr>
          <a:xfrm>
            <a:off x="9220200" y="4876800"/>
            <a:ext cx="1066800" cy="381000"/>
            <a:chOff x="304800" y="4191000"/>
            <a:chExt cx="1066800" cy="381000"/>
          </a:xfrm>
        </p:grpSpPr>
        <p:sp>
          <p:nvSpPr>
            <p:cNvPr id="64" name="Rectangle 63"/>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65" name="Rectangle 64"/>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66" name="Rectangle 65"/>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cxnSp>
        <p:nvCxnSpPr>
          <p:cNvPr id="67" name="Straight Arrow Connector 66"/>
          <p:cNvCxnSpPr/>
          <p:nvPr/>
        </p:nvCxnSpPr>
        <p:spPr>
          <a:xfrm>
            <a:off x="2895600" y="4953000"/>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68" name="Straight Arrow Connector 67"/>
          <p:cNvCxnSpPr/>
          <p:nvPr/>
        </p:nvCxnSpPr>
        <p:spPr>
          <a:xfrm>
            <a:off x="4495800" y="4953000"/>
            <a:ext cx="15240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69" name="Straight Arrow Connector 68"/>
          <p:cNvCxnSpPr/>
          <p:nvPr/>
        </p:nvCxnSpPr>
        <p:spPr>
          <a:xfrm>
            <a:off x="8686800" y="4953000"/>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70" name="Straight Arrow Connector 69"/>
          <p:cNvCxnSpPr/>
          <p:nvPr/>
        </p:nvCxnSpPr>
        <p:spPr>
          <a:xfrm>
            <a:off x="8686800" y="5181600"/>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71" name="Straight Arrow Connector 70"/>
          <p:cNvCxnSpPr/>
          <p:nvPr/>
        </p:nvCxnSpPr>
        <p:spPr>
          <a:xfrm>
            <a:off x="4495800" y="5181600"/>
            <a:ext cx="15240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72" name="Straight Arrow Connector 71"/>
          <p:cNvCxnSpPr/>
          <p:nvPr/>
        </p:nvCxnSpPr>
        <p:spPr>
          <a:xfrm>
            <a:off x="2895600" y="5181600"/>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73" name="Straight Connector 72"/>
          <p:cNvCxnSpPr/>
          <p:nvPr/>
        </p:nvCxnSpPr>
        <p:spPr>
          <a:xfrm flipV="1">
            <a:off x="9982200" y="4876800"/>
            <a:ext cx="304800" cy="381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74" name="Straight Connector 73"/>
          <p:cNvCxnSpPr/>
          <p:nvPr/>
        </p:nvCxnSpPr>
        <p:spPr>
          <a:xfrm flipH="1">
            <a:off x="1828800" y="4876800"/>
            <a:ext cx="304800" cy="381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75" name="TextBox 74"/>
          <p:cNvSpPr txBox="1"/>
          <p:nvPr/>
        </p:nvSpPr>
        <p:spPr>
          <a:xfrm>
            <a:off x="1831353" y="5498068"/>
            <a:ext cx="295274" cy="369332"/>
          </a:xfrm>
          <a:prstGeom prst="rect">
            <a:avLst/>
          </a:prstGeom>
          <a:noFill/>
        </p:spPr>
        <p:txBody>
          <a:bodyPr wrap="none" rtlCol="0">
            <a:spAutoFit/>
          </a:bodyPr>
          <a:lstStyle/>
          <a:p>
            <a:pPr algn="ctr"/>
            <a:r>
              <a:rPr lang="en-IN" b="1" dirty="0"/>
              <a:t>L</a:t>
            </a:r>
            <a:endParaRPr lang="en-US" b="1" dirty="0"/>
          </a:p>
        </p:txBody>
      </p:sp>
      <p:sp>
        <p:nvSpPr>
          <p:cNvPr id="76" name="TextBox 75"/>
          <p:cNvSpPr txBox="1"/>
          <p:nvPr/>
        </p:nvSpPr>
        <p:spPr>
          <a:xfrm>
            <a:off x="9972490" y="5486400"/>
            <a:ext cx="314510" cy="369332"/>
          </a:xfrm>
          <a:prstGeom prst="rect">
            <a:avLst/>
          </a:prstGeom>
          <a:noFill/>
        </p:spPr>
        <p:txBody>
          <a:bodyPr wrap="none" rtlCol="0">
            <a:spAutoFit/>
          </a:bodyPr>
          <a:lstStyle/>
          <a:p>
            <a:pPr algn="ctr"/>
            <a:r>
              <a:rPr lang="en-IN" b="1" dirty="0"/>
              <a:t>R</a:t>
            </a:r>
            <a:endParaRPr lang="en-US" b="1" dirty="0"/>
          </a:p>
        </p:txBody>
      </p:sp>
      <p:cxnSp>
        <p:nvCxnSpPr>
          <p:cNvPr id="77" name="Straight Arrow Connector 76"/>
          <p:cNvCxnSpPr>
            <a:stCxn id="75" idx="0"/>
            <a:endCxn id="53" idx="2"/>
          </p:cNvCxnSpPr>
          <p:nvPr/>
        </p:nvCxnSpPr>
        <p:spPr>
          <a:xfrm flipV="1">
            <a:off x="1978990" y="5257800"/>
            <a:ext cx="2210" cy="2402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78" name="Straight Arrow Connector 77"/>
          <p:cNvCxnSpPr/>
          <p:nvPr/>
        </p:nvCxnSpPr>
        <p:spPr>
          <a:xfrm flipV="1">
            <a:off x="10132390" y="5257800"/>
            <a:ext cx="2210" cy="2402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79" name="Group 78"/>
          <p:cNvGrpSpPr/>
          <p:nvPr/>
        </p:nvGrpSpPr>
        <p:grpSpPr>
          <a:xfrm>
            <a:off x="6019800" y="4876800"/>
            <a:ext cx="1066800" cy="381000"/>
            <a:chOff x="304800" y="4191000"/>
            <a:chExt cx="1066800" cy="381000"/>
          </a:xfrm>
        </p:grpSpPr>
        <p:sp>
          <p:nvSpPr>
            <p:cNvPr id="80" name="Rectangle 79"/>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81" name="Rectangle 80"/>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82" name="Rectangle 81"/>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cxnSp>
        <p:nvCxnSpPr>
          <p:cNvPr id="83" name="Straight Arrow Connector 82"/>
          <p:cNvCxnSpPr/>
          <p:nvPr/>
        </p:nvCxnSpPr>
        <p:spPr>
          <a:xfrm>
            <a:off x="7086600" y="4953000"/>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84" name="Straight Arrow Connector 83"/>
          <p:cNvCxnSpPr/>
          <p:nvPr/>
        </p:nvCxnSpPr>
        <p:spPr>
          <a:xfrm>
            <a:off x="7086600" y="5181600"/>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grpSp>
        <p:nvGrpSpPr>
          <p:cNvPr id="85" name="Group 84"/>
          <p:cNvGrpSpPr/>
          <p:nvPr/>
        </p:nvGrpSpPr>
        <p:grpSpPr>
          <a:xfrm>
            <a:off x="4724400" y="5638800"/>
            <a:ext cx="1066800" cy="381000"/>
            <a:chOff x="304800" y="4191000"/>
            <a:chExt cx="1066800" cy="381000"/>
          </a:xfrm>
        </p:grpSpPr>
        <p:sp>
          <p:nvSpPr>
            <p:cNvPr id="86" name="Rectangle 85"/>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87" name="Rectangle 86"/>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88" name="Rectangle 87"/>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sp>
        <p:nvSpPr>
          <p:cNvPr id="89" name="TextBox 88"/>
          <p:cNvSpPr txBox="1"/>
          <p:nvPr/>
        </p:nvSpPr>
        <p:spPr>
          <a:xfrm>
            <a:off x="4900043" y="6031468"/>
            <a:ext cx="612668" cy="369332"/>
          </a:xfrm>
          <a:prstGeom prst="rect">
            <a:avLst/>
          </a:prstGeom>
          <a:noFill/>
        </p:spPr>
        <p:txBody>
          <a:bodyPr wrap="none" rtlCol="0">
            <a:spAutoFit/>
          </a:bodyPr>
          <a:lstStyle/>
          <a:p>
            <a:pPr algn="ctr"/>
            <a:r>
              <a:rPr lang="en-IN" b="1" dirty="0"/>
              <a:t>NEW</a:t>
            </a:r>
            <a:endParaRPr lang="en-US" b="1" dirty="0"/>
          </a:p>
        </p:txBody>
      </p:sp>
      <p:sp>
        <p:nvSpPr>
          <p:cNvPr id="92" name="TextBox 91"/>
          <p:cNvSpPr txBox="1"/>
          <p:nvPr/>
        </p:nvSpPr>
        <p:spPr>
          <a:xfrm>
            <a:off x="1752600" y="4103132"/>
            <a:ext cx="1988045" cy="461665"/>
          </a:xfrm>
          <a:prstGeom prst="rect">
            <a:avLst/>
          </a:prstGeom>
          <a:solidFill>
            <a:schemeClr val="bg1">
              <a:lumMod val="95000"/>
            </a:schemeClr>
          </a:solidFill>
        </p:spPr>
        <p:txBody>
          <a:bodyPr wrap="none" rtlCol="0">
            <a:spAutoFit/>
          </a:bodyPr>
          <a:lstStyle/>
          <a:p>
            <a:r>
              <a:rPr lang="en-IN" sz="2400" b="1" dirty="0">
                <a:solidFill>
                  <a:schemeClr val="tx2"/>
                </a:solidFill>
              </a:rPr>
              <a:t>After Insertion</a:t>
            </a:r>
            <a:endParaRPr lang="en-US" sz="2400" b="1" dirty="0">
              <a:solidFill>
                <a:schemeClr val="tx2"/>
              </a:solidFill>
            </a:endParaRPr>
          </a:p>
        </p:txBody>
      </p:sp>
      <p:sp>
        <p:nvSpPr>
          <p:cNvPr id="99" name="Freeform 98"/>
          <p:cNvSpPr/>
          <p:nvPr/>
        </p:nvSpPr>
        <p:spPr>
          <a:xfrm>
            <a:off x="5791200" y="5263150"/>
            <a:ext cx="342232" cy="417095"/>
          </a:xfrm>
          <a:custGeom>
            <a:avLst/>
            <a:gdLst>
              <a:gd name="connsiteX0" fmla="*/ 0 w 342232"/>
              <a:gd name="connsiteY0" fmla="*/ 417095 h 417095"/>
              <a:gd name="connsiteX1" fmla="*/ 342232 w 342232"/>
              <a:gd name="connsiteY1" fmla="*/ 417095 h 417095"/>
              <a:gd name="connsiteX2" fmla="*/ 342232 w 342232"/>
              <a:gd name="connsiteY2" fmla="*/ 0 h 417095"/>
            </a:gdLst>
            <a:ahLst/>
            <a:cxnLst>
              <a:cxn ang="0">
                <a:pos x="connsiteX0" y="connsiteY0"/>
              </a:cxn>
              <a:cxn ang="0">
                <a:pos x="connsiteX1" y="connsiteY1"/>
              </a:cxn>
              <a:cxn ang="0">
                <a:pos x="connsiteX2" y="connsiteY2"/>
              </a:cxn>
            </a:cxnLst>
            <a:rect l="l" t="t" r="r" b="b"/>
            <a:pathLst>
              <a:path w="342232" h="417095">
                <a:moveTo>
                  <a:pt x="0" y="417095"/>
                </a:moveTo>
                <a:lnTo>
                  <a:pt x="342232" y="417095"/>
                </a:lnTo>
                <a:lnTo>
                  <a:pt x="342232" y="0"/>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102" name="Freeform 101"/>
          <p:cNvSpPr/>
          <p:nvPr/>
        </p:nvSpPr>
        <p:spPr>
          <a:xfrm>
            <a:off x="5807242" y="5273843"/>
            <a:ext cx="491958" cy="673769"/>
          </a:xfrm>
          <a:custGeom>
            <a:avLst/>
            <a:gdLst>
              <a:gd name="connsiteX0" fmla="*/ 491958 w 491958"/>
              <a:gd name="connsiteY0" fmla="*/ 0 h 673769"/>
              <a:gd name="connsiteX1" fmla="*/ 491958 w 491958"/>
              <a:gd name="connsiteY1" fmla="*/ 673769 h 673769"/>
              <a:gd name="connsiteX2" fmla="*/ 0 w 491958"/>
              <a:gd name="connsiteY2" fmla="*/ 673769 h 673769"/>
            </a:gdLst>
            <a:ahLst/>
            <a:cxnLst>
              <a:cxn ang="0">
                <a:pos x="connsiteX0" y="connsiteY0"/>
              </a:cxn>
              <a:cxn ang="0">
                <a:pos x="connsiteX1" y="connsiteY1"/>
              </a:cxn>
              <a:cxn ang="0">
                <a:pos x="connsiteX2" y="connsiteY2"/>
              </a:cxn>
            </a:cxnLst>
            <a:rect l="l" t="t" r="r" b="b"/>
            <a:pathLst>
              <a:path w="491958" h="673769">
                <a:moveTo>
                  <a:pt x="491958" y="0"/>
                </a:moveTo>
                <a:lnTo>
                  <a:pt x="491958" y="673769"/>
                </a:lnTo>
                <a:lnTo>
                  <a:pt x="0" y="673769"/>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103" name="Freeform 102"/>
          <p:cNvSpPr/>
          <p:nvPr/>
        </p:nvSpPr>
        <p:spPr>
          <a:xfrm>
            <a:off x="4427621" y="5268496"/>
            <a:ext cx="288758" cy="449179"/>
          </a:xfrm>
          <a:custGeom>
            <a:avLst/>
            <a:gdLst>
              <a:gd name="connsiteX0" fmla="*/ 0 w 288758"/>
              <a:gd name="connsiteY0" fmla="*/ 0 h 449179"/>
              <a:gd name="connsiteX1" fmla="*/ 0 w 288758"/>
              <a:gd name="connsiteY1" fmla="*/ 449179 h 449179"/>
              <a:gd name="connsiteX2" fmla="*/ 288758 w 288758"/>
              <a:gd name="connsiteY2" fmla="*/ 449179 h 449179"/>
            </a:gdLst>
            <a:ahLst/>
            <a:cxnLst>
              <a:cxn ang="0">
                <a:pos x="connsiteX0" y="connsiteY0"/>
              </a:cxn>
              <a:cxn ang="0">
                <a:pos x="connsiteX1" y="connsiteY1"/>
              </a:cxn>
              <a:cxn ang="0">
                <a:pos x="connsiteX2" y="connsiteY2"/>
              </a:cxn>
            </a:cxnLst>
            <a:rect l="l" t="t" r="r" b="b"/>
            <a:pathLst>
              <a:path w="288758" h="449179">
                <a:moveTo>
                  <a:pt x="0" y="0"/>
                </a:moveTo>
                <a:lnTo>
                  <a:pt x="0" y="449179"/>
                </a:lnTo>
                <a:lnTo>
                  <a:pt x="288758" y="449179"/>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104" name="Freeform 103"/>
          <p:cNvSpPr/>
          <p:nvPr/>
        </p:nvSpPr>
        <p:spPr>
          <a:xfrm>
            <a:off x="4090738" y="5279189"/>
            <a:ext cx="630989" cy="695158"/>
          </a:xfrm>
          <a:custGeom>
            <a:avLst/>
            <a:gdLst>
              <a:gd name="connsiteX0" fmla="*/ 630989 w 630989"/>
              <a:gd name="connsiteY0" fmla="*/ 695158 h 695158"/>
              <a:gd name="connsiteX1" fmla="*/ 0 w 630989"/>
              <a:gd name="connsiteY1" fmla="*/ 695158 h 695158"/>
              <a:gd name="connsiteX2" fmla="*/ 0 w 630989"/>
              <a:gd name="connsiteY2" fmla="*/ 0 h 695158"/>
            </a:gdLst>
            <a:ahLst/>
            <a:cxnLst>
              <a:cxn ang="0">
                <a:pos x="connsiteX0" y="connsiteY0"/>
              </a:cxn>
              <a:cxn ang="0">
                <a:pos x="connsiteX1" y="connsiteY1"/>
              </a:cxn>
              <a:cxn ang="0">
                <a:pos x="connsiteX2" y="connsiteY2"/>
              </a:cxn>
            </a:cxnLst>
            <a:rect l="l" t="t" r="r" b="b"/>
            <a:pathLst>
              <a:path w="630989" h="695158">
                <a:moveTo>
                  <a:pt x="630989" y="695158"/>
                </a:moveTo>
                <a:lnTo>
                  <a:pt x="0" y="695158"/>
                </a:lnTo>
                <a:lnTo>
                  <a:pt x="0" y="0"/>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105" name="TextBox 104"/>
          <p:cNvSpPr txBox="1"/>
          <p:nvPr/>
        </p:nvSpPr>
        <p:spPr>
          <a:xfrm>
            <a:off x="6398235" y="4493736"/>
            <a:ext cx="359393" cy="369332"/>
          </a:xfrm>
          <a:prstGeom prst="rect">
            <a:avLst/>
          </a:prstGeom>
          <a:noFill/>
        </p:spPr>
        <p:txBody>
          <a:bodyPr wrap="none" rtlCol="0">
            <a:spAutoFit/>
          </a:bodyPr>
          <a:lstStyle/>
          <a:p>
            <a:pPr algn="ctr"/>
            <a:r>
              <a:rPr lang="en-IN" b="1" dirty="0"/>
              <a:t>M</a:t>
            </a:r>
            <a:endParaRPr lang="en-US" b="1" dirty="0"/>
          </a:p>
        </p:txBody>
      </p:sp>
      <p:sp>
        <p:nvSpPr>
          <p:cNvPr id="93" name="TextBox 92"/>
          <p:cNvSpPr txBox="1"/>
          <p:nvPr/>
        </p:nvSpPr>
        <p:spPr>
          <a:xfrm>
            <a:off x="2344813" y="825669"/>
            <a:ext cx="7502375" cy="523220"/>
          </a:xfrm>
          <a:prstGeom prst="rect">
            <a:avLst/>
          </a:prstGeom>
          <a:noFill/>
        </p:spPr>
        <p:txBody>
          <a:bodyPr wrap="none" rtlCol="0">
            <a:spAutoFit/>
          </a:bodyPr>
          <a:lstStyle/>
          <a:p>
            <a:pPr algn="ctr"/>
            <a:r>
              <a:rPr lang="en-IN" sz="2800" b="1" dirty="0">
                <a:solidFill>
                  <a:srgbClr val="C00000"/>
                </a:solidFill>
              </a:rPr>
              <a:t>Insertion in the middle of Doubly Linked Linear List</a:t>
            </a:r>
            <a:endParaRPr lang="en-IN" sz="2800" b="1" dirty="0">
              <a:solidFill>
                <a:srgbClr val="C00000"/>
              </a:solidFill>
              <a:sym typeface="Wingdings" pitchFamily="2" charset="2"/>
            </a:endParaRPr>
          </a:p>
        </p:txBody>
      </p:sp>
    </p:spTree>
    <p:extLst>
      <p:ext uri="{BB962C8B-B14F-4D97-AF65-F5344CB8AC3E}">
        <p14:creationId xmlns:p14="http://schemas.microsoft.com/office/powerpoint/2010/main" val="2201446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9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51"/>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55"/>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3"/>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7"/>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6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69"/>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70"/>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71"/>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72"/>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73"/>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74"/>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75"/>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76"/>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77"/>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78"/>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79"/>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83"/>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8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05"/>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85"/>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89"/>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xit" presetSubtype="0" fill="hold" nodeType="clickEffect">
                                  <p:stCondLst>
                                    <p:cond delay="0"/>
                                  </p:stCondLst>
                                  <p:childTnLst>
                                    <p:set>
                                      <p:cBhvr>
                                        <p:cTn id="112" dur="1" fill="hold">
                                          <p:stCondLst>
                                            <p:cond delay="0"/>
                                          </p:stCondLst>
                                        </p:cTn>
                                        <p:tgtEl>
                                          <p:spTgt spid="68"/>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71"/>
                                        </p:tgtEl>
                                        <p:attrNameLst>
                                          <p:attrName>style.visibility</p:attrName>
                                        </p:attrNameLst>
                                      </p:cBhvr>
                                      <p:to>
                                        <p:strVal val="hidden"/>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47"/>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22" presetClass="entr" presetSubtype="4" fill="hold" grpId="0" nodeType="clickEffect">
                                  <p:stCondLst>
                                    <p:cond delay="0"/>
                                  </p:stCondLst>
                                  <p:childTnLst>
                                    <p:set>
                                      <p:cBhvr>
                                        <p:cTn id="122" dur="1" fill="hold">
                                          <p:stCondLst>
                                            <p:cond delay="0"/>
                                          </p:stCondLst>
                                        </p:cTn>
                                        <p:tgtEl>
                                          <p:spTgt spid="104"/>
                                        </p:tgtEl>
                                        <p:attrNameLst>
                                          <p:attrName>style.visibility</p:attrName>
                                        </p:attrNameLst>
                                      </p:cBhvr>
                                      <p:to>
                                        <p:strVal val="visible"/>
                                      </p:to>
                                    </p:set>
                                    <p:animEffect transition="in" filter="wipe(down)">
                                      <p:cBhvr>
                                        <p:cTn id="123" dur="500"/>
                                        <p:tgtEl>
                                          <p:spTgt spid="104"/>
                                        </p:tgtEl>
                                      </p:cBhvr>
                                    </p:animEffec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grpId="0" nodeType="clickEffect">
                                  <p:stCondLst>
                                    <p:cond delay="0"/>
                                  </p:stCondLst>
                                  <p:childTnLst>
                                    <p:set>
                                      <p:cBhvr>
                                        <p:cTn id="127" dur="1" fill="hold">
                                          <p:stCondLst>
                                            <p:cond delay="0"/>
                                          </p:stCondLst>
                                        </p:cTn>
                                        <p:tgtEl>
                                          <p:spTgt spid="48"/>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22" presetClass="entr" presetSubtype="4" fill="hold" grpId="0" nodeType="clickEffect">
                                  <p:stCondLst>
                                    <p:cond delay="0"/>
                                  </p:stCondLst>
                                  <p:childTnLst>
                                    <p:set>
                                      <p:cBhvr>
                                        <p:cTn id="131" dur="1" fill="hold">
                                          <p:stCondLst>
                                            <p:cond delay="0"/>
                                          </p:stCondLst>
                                        </p:cTn>
                                        <p:tgtEl>
                                          <p:spTgt spid="99"/>
                                        </p:tgtEl>
                                        <p:attrNameLst>
                                          <p:attrName>style.visibility</p:attrName>
                                        </p:attrNameLst>
                                      </p:cBhvr>
                                      <p:to>
                                        <p:strVal val="visible"/>
                                      </p:to>
                                    </p:set>
                                    <p:animEffect transition="in" filter="wipe(down)">
                                      <p:cBhvr>
                                        <p:cTn id="132" dur="500"/>
                                        <p:tgtEl>
                                          <p:spTgt spid="99"/>
                                        </p:tgtEl>
                                      </p:cBhvr>
                                    </p:animEffec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49"/>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22" presetClass="entr" presetSubtype="1" fill="hold" grpId="0" nodeType="clickEffect">
                                  <p:stCondLst>
                                    <p:cond delay="0"/>
                                  </p:stCondLst>
                                  <p:childTnLst>
                                    <p:set>
                                      <p:cBhvr>
                                        <p:cTn id="140" dur="1" fill="hold">
                                          <p:stCondLst>
                                            <p:cond delay="0"/>
                                          </p:stCondLst>
                                        </p:cTn>
                                        <p:tgtEl>
                                          <p:spTgt spid="102"/>
                                        </p:tgtEl>
                                        <p:attrNameLst>
                                          <p:attrName>style.visibility</p:attrName>
                                        </p:attrNameLst>
                                      </p:cBhvr>
                                      <p:to>
                                        <p:strVal val="visible"/>
                                      </p:to>
                                    </p:set>
                                    <p:animEffect transition="in" filter="wipe(up)">
                                      <p:cBhvr>
                                        <p:cTn id="141" dur="500"/>
                                        <p:tgtEl>
                                          <p:spTgt spid="102"/>
                                        </p:tgtEl>
                                      </p:cBhvr>
                                    </p:animEffect>
                                  </p:childTnLst>
                                </p:cTn>
                              </p:par>
                            </p:childTnLst>
                          </p:cTn>
                        </p:par>
                      </p:childTnLst>
                    </p:cTn>
                  </p:par>
                  <p:par>
                    <p:cTn id="142" fill="hold">
                      <p:stCondLst>
                        <p:cond delay="indefinite"/>
                      </p:stCondLst>
                      <p:childTnLst>
                        <p:par>
                          <p:cTn id="143" fill="hold">
                            <p:stCondLst>
                              <p:cond delay="0"/>
                            </p:stCondLst>
                            <p:childTnLst>
                              <p:par>
                                <p:cTn id="144" presetID="1" presetClass="entr" presetSubtype="0" fill="hold" grpId="0" nodeType="clickEffect">
                                  <p:stCondLst>
                                    <p:cond delay="0"/>
                                  </p:stCondLst>
                                  <p:childTnLst>
                                    <p:set>
                                      <p:cBhvr>
                                        <p:cTn id="145" dur="1" fill="hold">
                                          <p:stCondLst>
                                            <p:cond delay="0"/>
                                          </p:stCondLst>
                                        </p:cTn>
                                        <p:tgtEl>
                                          <p:spTgt spid="50"/>
                                        </p:tgtEl>
                                        <p:attrNameLst>
                                          <p:attrName>style.visibility</p:attrName>
                                        </p:attrNameLst>
                                      </p:cBhvr>
                                      <p:to>
                                        <p:strVal val="visible"/>
                                      </p:to>
                                    </p:set>
                                  </p:childTnLst>
                                </p:cTn>
                              </p:par>
                            </p:childTnLst>
                          </p:cTn>
                        </p:par>
                      </p:childTnLst>
                    </p:cTn>
                  </p:par>
                  <p:par>
                    <p:cTn id="146" fill="hold">
                      <p:stCondLst>
                        <p:cond delay="indefinite"/>
                      </p:stCondLst>
                      <p:childTnLst>
                        <p:par>
                          <p:cTn id="147" fill="hold">
                            <p:stCondLst>
                              <p:cond delay="0"/>
                            </p:stCondLst>
                            <p:childTnLst>
                              <p:par>
                                <p:cTn id="148" presetID="22" presetClass="entr" presetSubtype="1" fill="hold" grpId="0" nodeType="clickEffect">
                                  <p:stCondLst>
                                    <p:cond delay="0"/>
                                  </p:stCondLst>
                                  <p:childTnLst>
                                    <p:set>
                                      <p:cBhvr>
                                        <p:cTn id="149" dur="1" fill="hold">
                                          <p:stCondLst>
                                            <p:cond delay="0"/>
                                          </p:stCondLst>
                                        </p:cTn>
                                        <p:tgtEl>
                                          <p:spTgt spid="103"/>
                                        </p:tgtEl>
                                        <p:attrNameLst>
                                          <p:attrName>style.visibility</p:attrName>
                                        </p:attrNameLst>
                                      </p:cBhvr>
                                      <p:to>
                                        <p:strVal val="visible"/>
                                      </p:to>
                                    </p:set>
                                    <p:animEffect transition="in" filter="wipe(up)">
                                      <p:cBhvr>
                                        <p:cTn id="150"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44" grpId="0"/>
      <p:bldP spid="45" grpId="0"/>
      <p:bldP spid="46" grpId="0" animBg="1"/>
      <p:bldP spid="47" grpId="0"/>
      <p:bldP spid="48" grpId="0"/>
      <p:bldP spid="49" grpId="0"/>
      <p:bldP spid="50" grpId="0"/>
      <p:bldP spid="75" grpId="0"/>
      <p:bldP spid="76" grpId="0"/>
      <p:bldP spid="89" grpId="0"/>
      <p:bldP spid="92" grpId="0" animBg="1"/>
      <p:bldP spid="99" grpId="0" animBg="1"/>
      <p:bldP spid="102" grpId="0" animBg="1"/>
      <p:bldP spid="103" grpId="0" animBg="1"/>
      <p:bldP spid="104" grpId="0" animBg="1"/>
      <p:bldP spid="105" grpId="0"/>
      <p:bldP spid="93"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Insert node in Doubly Linked List</a:t>
            </a:r>
            <a:endParaRPr lang="en-US" dirty="0"/>
          </a:p>
        </p:txBody>
      </p:sp>
      <p:grpSp>
        <p:nvGrpSpPr>
          <p:cNvPr id="4" name="Group 3"/>
          <p:cNvGrpSpPr/>
          <p:nvPr/>
        </p:nvGrpSpPr>
        <p:grpSpPr>
          <a:xfrm>
            <a:off x="2971800" y="1969532"/>
            <a:ext cx="1066800" cy="381000"/>
            <a:chOff x="304800" y="4191000"/>
            <a:chExt cx="1066800" cy="381000"/>
          </a:xfrm>
        </p:grpSpPr>
        <p:sp>
          <p:nvSpPr>
            <p:cNvPr id="5" name="Rectangle 4"/>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6" name="Rectangle 5"/>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7" name="Rectangle 6"/>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8" name="Group 7"/>
          <p:cNvGrpSpPr/>
          <p:nvPr/>
        </p:nvGrpSpPr>
        <p:grpSpPr>
          <a:xfrm>
            <a:off x="4572000" y="1969532"/>
            <a:ext cx="1066800" cy="381000"/>
            <a:chOff x="304800" y="4191000"/>
            <a:chExt cx="1066800" cy="381000"/>
          </a:xfrm>
        </p:grpSpPr>
        <p:sp>
          <p:nvSpPr>
            <p:cNvPr id="9" name="Rectangle 8"/>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0" name="Rectangle 9"/>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1" name="Rectangle 10"/>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12" name="Group 11"/>
          <p:cNvGrpSpPr/>
          <p:nvPr/>
        </p:nvGrpSpPr>
        <p:grpSpPr>
          <a:xfrm>
            <a:off x="7772400" y="1969532"/>
            <a:ext cx="1066800" cy="381000"/>
            <a:chOff x="304800" y="4191000"/>
            <a:chExt cx="1066800" cy="381000"/>
          </a:xfrm>
        </p:grpSpPr>
        <p:sp>
          <p:nvSpPr>
            <p:cNvPr id="13" name="Rectangle 12"/>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4" name="Rectangle 13"/>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5" name="Rectangle 14"/>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16" name="Group 15"/>
          <p:cNvGrpSpPr/>
          <p:nvPr/>
        </p:nvGrpSpPr>
        <p:grpSpPr>
          <a:xfrm>
            <a:off x="9372600" y="1969532"/>
            <a:ext cx="1066800" cy="381000"/>
            <a:chOff x="304800" y="4191000"/>
            <a:chExt cx="1066800" cy="381000"/>
          </a:xfrm>
        </p:grpSpPr>
        <p:sp>
          <p:nvSpPr>
            <p:cNvPr id="17" name="Rectangle 16"/>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8" name="Rectangle 17"/>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9" name="Rectangle 18"/>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cxnSp>
        <p:nvCxnSpPr>
          <p:cNvPr id="20" name="Straight Arrow Connector 19"/>
          <p:cNvCxnSpPr/>
          <p:nvPr/>
        </p:nvCxnSpPr>
        <p:spPr>
          <a:xfrm>
            <a:off x="4038600" y="2045732"/>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2" name="Straight Arrow Connector 21"/>
          <p:cNvCxnSpPr/>
          <p:nvPr/>
        </p:nvCxnSpPr>
        <p:spPr>
          <a:xfrm>
            <a:off x="8839200" y="2045732"/>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3" name="Straight Arrow Connector 22"/>
          <p:cNvCxnSpPr/>
          <p:nvPr/>
        </p:nvCxnSpPr>
        <p:spPr>
          <a:xfrm>
            <a:off x="8839200" y="2274332"/>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25" name="Straight Arrow Connector 24"/>
          <p:cNvCxnSpPr/>
          <p:nvPr/>
        </p:nvCxnSpPr>
        <p:spPr>
          <a:xfrm>
            <a:off x="4038600" y="2274332"/>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26" name="Straight Connector 25"/>
          <p:cNvCxnSpPr/>
          <p:nvPr/>
        </p:nvCxnSpPr>
        <p:spPr>
          <a:xfrm flipV="1">
            <a:off x="10134600" y="1969532"/>
            <a:ext cx="304800" cy="381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7" name="Straight Connector 26"/>
          <p:cNvCxnSpPr/>
          <p:nvPr/>
        </p:nvCxnSpPr>
        <p:spPr>
          <a:xfrm flipH="1">
            <a:off x="2971800" y="1969532"/>
            <a:ext cx="304800" cy="381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28" name="TextBox 27"/>
          <p:cNvSpPr txBox="1"/>
          <p:nvPr/>
        </p:nvSpPr>
        <p:spPr>
          <a:xfrm>
            <a:off x="3140138" y="2590800"/>
            <a:ext cx="295274" cy="369332"/>
          </a:xfrm>
          <a:prstGeom prst="rect">
            <a:avLst/>
          </a:prstGeom>
          <a:noFill/>
        </p:spPr>
        <p:txBody>
          <a:bodyPr wrap="none" rtlCol="0">
            <a:spAutoFit/>
          </a:bodyPr>
          <a:lstStyle/>
          <a:p>
            <a:pPr algn="ctr"/>
            <a:r>
              <a:rPr lang="en-IN" b="1" dirty="0"/>
              <a:t>L</a:t>
            </a:r>
            <a:endParaRPr lang="en-US" b="1" dirty="0"/>
          </a:p>
        </p:txBody>
      </p:sp>
      <p:sp>
        <p:nvSpPr>
          <p:cNvPr id="29" name="TextBox 28"/>
          <p:cNvSpPr txBox="1"/>
          <p:nvPr/>
        </p:nvSpPr>
        <p:spPr>
          <a:xfrm>
            <a:off x="10124890" y="2579132"/>
            <a:ext cx="314510" cy="369332"/>
          </a:xfrm>
          <a:prstGeom prst="rect">
            <a:avLst/>
          </a:prstGeom>
          <a:noFill/>
        </p:spPr>
        <p:txBody>
          <a:bodyPr wrap="none" rtlCol="0">
            <a:spAutoFit/>
          </a:bodyPr>
          <a:lstStyle/>
          <a:p>
            <a:pPr algn="ctr"/>
            <a:r>
              <a:rPr lang="en-IN" b="1" dirty="0"/>
              <a:t>R</a:t>
            </a:r>
            <a:endParaRPr lang="en-US" b="1" dirty="0"/>
          </a:p>
        </p:txBody>
      </p:sp>
      <p:cxnSp>
        <p:nvCxnSpPr>
          <p:cNvPr id="30" name="Straight Arrow Connector 29"/>
          <p:cNvCxnSpPr/>
          <p:nvPr/>
        </p:nvCxnSpPr>
        <p:spPr>
          <a:xfrm flipV="1">
            <a:off x="3295906" y="2350532"/>
            <a:ext cx="2210" cy="2402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1" name="Straight Arrow Connector 30"/>
          <p:cNvCxnSpPr/>
          <p:nvPr/>
        </p:nvCxnSpPr>
        <p:spPr>
          <a:xfrm flipV="1">
            <a:off x="10284790" y="2350532"/>
            <a:ext cx="2210" cy="2402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32" name="Group 31"/>
          <p:cNvGrpSpPr/>
          <p:nvPr/>
        </p:nvGrpSpPr>
        <p:grpSpPr>
          <a:xfrm>
            <a:off x="6172200" y="1969532"/>
            <a:ext cx="1066800" cy="381000"/>
            <a:chOff x="304800" y="4191000"/>
            <a:chExt cx="1066800" cy="381000"/>
          </a:xfrm>
        </p:grpSpPr>
        <p:sp>
          <p:nvSpPr>
            <p:cNvPr id="33" name="Rectangle 32"/>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34" name="Rectangle 33"/>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35" name="Rectangle 34"/>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cxnSp>
        <p:nvCxnSpPr>
          <p:cNvPr id="36" name="Straight Arrow Connector 35"/>
          <p:cNvCxnSpPr/>
          <p:nvPr/>
        </p:nvCxnSpPr>
        <p:spPr>
          <a:xfrm>
            <a:off x="7239000" y="2045732"/>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7" name="Straight Arrow Connector 36"/>
          <p:cNvCxnSpPr/>
          <p:nvPr/>
        </p:nvCxnSpPr>
        <p:spPr>
          <a:xfrm>
            <a:off x="7239000" y="2274332"/>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grpSp>
        <p:nvGrpSpPr>
          <p:cNvPr id="38" name="Group 37"/>
          <p:cNvGrpSpPr/>
          <p:nvPr/>
        </p:nvGrpSpPr>
        <p:grpSpPr>
          <a:xfrm>
            <a:off x="1738256" y="3112532"/>
            <a:ext cx="1066800" cy="381000"/>
            <a:chOff x="304800" y="4191000"/>
            <a:chExt cx="1066800" cy="381000"/>
          </a:xfrm>
        </p:grpSpPr>
        <p:sp>
          <p:nvSpPr>
            <p:cNvPr id="39" name="Rectangle 38"/>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40" name="Rectangle 39"/>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41" name="Rectangle 40"/>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sp>
        <p:nvSpPr>
          <p:cNvPr id="42" name="TextBox 41"/>
          <p:cNvSpPr txBox="1"/>
          <p:nvPr/>
        </p:nvSpPr>
        <p:spPr>
          <a:xfrm>
            <a:off x="1913899" y="3505200"/>
            <a:ext cx="612668" cy="369332"/>
          </a:xfrm>
          <a:prstGeom prst="rect">
            <a:avLst/>
          </a:prstGeom>
          <a:noFill/>
        </p:spPr>
        <p:txBody>
          <a:bodyPr wrap="none" rtlCol="0">
            <a:spAutoFit/>
          </a:bodyPr>
          <a:lstStyle/>
          <a:p>
            <a:pPr algn="ctr"/>
            <a:r>
              <a:rPr lang="en-IN" b="1" dirty="0"/>
              <a:t>NEW</a:t>
            </a:r>
            <a:endParaRPr lang="en-US" b="1" dirty="0"/>
          </a:p>
        </p:txBody>
      </p:sp>
      <p:sp>
        <p:nvSpPr>
          <p:cNvPr id="43" name="TextBox 42"/>
          <p:cNvSpPr txBox="1"/>
          <p:nvPr/>
        </p:nvSpPr>
        <p:spPr>
          <a:xfrm>
            <a:off x="2892824" y="1666552"/>
            <a:ext cx="359393" cy="369332"/>
          </a:xfrm>
          <a:prstGeom prst="rect">
            <a:avLst/>
          </a:prstGeom>
          <a:noFill/>
        </p:spPr>
        <p:txBody>
          <a:bodyPr wrap="none" rtlCol="0">
            <a:spAutoFit/>
          </a:bodyPr>
          <a:lstStyle/>
          <a:p>
            <a:pPr algn="ctr"/>
            <a:r>
              <a:rPr lang="en-IN" b="1" dirty="0"/>
              <a:t>M</a:t>
            </a:r>
            <a:endParaRPr lang="en-US" b="1" dirty="0"/>
          </a:p>
        </p:txBody>
      </p:sp>
      <p:sp>
        <p:nvSpPr>
          <p:cNvPr id="44" name="TextBox 43"/>
          <p:cNvSpPr txBox="1"/>
          <p:nvPr/>
        </p:nvSpPr>
        <p:spPr>
          <a:xfrm>
            <a:off x="8390098" y="1419880"/>
            <a:ext cx="2183611" cy="461665"/>
          </a:xfrm>
          <a:prstGeom prst="rect">
            <a:avLst/>
          </a:prstGeom>
          <a:solidFill>
            <a:schemeClr val="bg1">
              <a:lumMod val="95000"/>
            </a:schemeClr>
          </a:solidFill>
        </p:spPr>
        <p:txBody>
          <a:bodyPr wrap="none" rtlCol="0">
            <a:spAutoFit/>
          </a:bodyPr>
          <a:lstStyle>
            <a:defPPr>
              <a:defRPr lang="en-US"/>
            </a:defPPr>
            <a:lvl1pPr>
              <a:defRPr sz="2400" b="1">
                <a:solidFill>
                  <a:schemeClr val="tx2"/>
                </a:solidFill>
              </a:defRPr>
            </a:lvl1pPr>
          </a:lstStyle>
          <a:p>
            <a:r>
              <a:rPr lang="en-IN" dirty="0"/>
              <a:t>Before Insertion</a:t>
            </a:r>
            <a:endParaRPr lang="en-US" dirty="0"/>
          </a:p>
        </p:txBody>
      </p:sp>
      <p:sp>
        <p:nvSpPr>
          <p:cNvPr id="45" name="TextBox 44"/>
          <p:cNvSpPr txBox="1"/>
          <p:nvPr/>
        </p:nvSpPr>
        <p:spPr>
          <a:xfrm>
            <a:off x="7115174" y="2743200"/>
            <a:ext cx="2097947" cy="369332"/>
          </a:xfrm>
          <a:prstGeom prst="rect">
            <a:avLst/>
          </a:prstGeom>
          <a:noFill/>
        </p:spPr>
        <p:txBody>
          <a:bodyPr wrap="none" rtlCol="0">
            <a:spAutoFit/>
          </a:bodyPr>
          <a:lstStyle/>
          <a:p>
            <a:r>
              <a:rPr lang="en-IN" b="1" dirty="0"/>
              <a:t>LPTR(NEW) </a:t>
            </a:r>
            <a:r>
              <a:rPr lang="en-IN" b="1" dirty="0">
                <a:sym typeface="Wingdings" pitchFamily="2" charset="2"/>
              </a:rPr>
              <a:t> NULL</a:t>
            </a:r>
          </a:p>
        </p:txBody>
      </p:sp>
      <p:sp>
        <p:nvSpPr>
          <p:cNvPr id="46" name="TextBox 45"/>
          <p:cNvSpPr txBox="1"/>
          <p:nvPr/>
        </p:nvSpPr>
        <p:spPr>
          <a:xfrm>
            <a:off x="7115174" y="3097768"/>
            <a:ext cx="1833451" cy="369332"/>
          </a:xfrm>
          <a:prstGeom prst="rect">
            <a:avLst/>
          </a:prstGeom>
          <a:noFill/>
        </p:spPr>
        <p:txBody>
          <a:bodyPr wrap="none" rtlCol="0">
            <a:spAutoFit/>
          </a:bodyPr>
          <a:lstStyle/>
          <a:p>
            <a:r>
              <a:rPr lang="en-IN" b="1" dirty="0"/>
              <a:t>RPTR(NEW) </a:t>
            </a:r>
            <a:r>
              <a:rPr lang="en-IN" b="1" dirty="0">
                <a:sym typeface="Wingdings" pitchFamily="2" charset="2"/>
              </a:rPr>
              <a:t> M</a:t>
            </a:r>
          </a:p>
        </p:txBody>
      </p:sp>
      <p:sp>
        <p:nvSpPr>
          <p:cNvPr id="47" name="TextBox 46"/>
          <p:cNvSpPr txBox="1"/>
          <p:nvPr/>
        </p:nvSpPr>
        <p:spPr>
          <a:xfrm>
            <a:off x="7115174" y="3429000"/>
            <a:ext cx="1801391" cy="369332"/>
          </a:xfrm>
          <a:prstGeom prst="rect">
            <a:avLst/>
          </a:prstGeom>
          <a:noFill/>
        </p:spPr>
        <p:txBody>
          <a:bodyPr wrap="none" rtlCol="0">
            <a:spAutoFit/>
          </a:bodyPr>
          <a:lstStyle/>
          <a:p>
            <a:r>
              <a:rPr lang="en-IN" b="1" dirty="0"/>
              <a:t>LPTR(M) </a:t>
            </a:r>
            <a:r>
              <a:rPr lang="en-IN" b="1" dirty="0">
                <a:sym typeface="Wingdings" pitchFamily="2" charset="2"/>
              </a:rPr>
              <a:t></a:t>
            </a:r>
            <a:r>
              <a:rPr lang="en-IN" b="1" dirty="0"/>
              <a:t> NEW</a:t>
            </a:r>
            <a:endParaRPr lang="en-IN" b="1" dirty="0">
              <a:sym typeface="Wingdings" pitchFamily="2" charset="2"/>
            </a:endParaRPr>
          </a:p>
        </p:txBody>
      </p:sp>
      <p:cxnSp>
        <p:nvCxnSpPr>
          <p:cNvPr id="48" name="Straight Arrow Connector 47"/>
          <p:cNvCxnSpPr/>
          <p:nvPr/>
        </p:nvCxnSpPr>
        <p:spPr>
          <a:xfrm>
            <a:off x="5638800" y="2057400"/>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9" name="Straight Arrow Connector 48"/>
          <p:cNvCxnSpPr/>
          <p:nvPr/>
        </p:nvCxnSpPr>
        <p:spPr>
          <a:xfrm>
            <a:off x="5638800" y="2286000"/>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sp>
        <p:nvSpPr>
          <p:cNvPr id="53" name="TextBox 52"/>
          <p:cNvSpPr txBox="1"/>
          <p:nvPr/>
        </p:nvSpPr>
        <p:spPr>
          <a:xfrm>
            <a:off x="1898588" y="5029200"/>
            <a:ext cx="295274" cy="369332"/>
          </a:xfrm>
          <a:prstGeom prst="rect">
            <a:avLst/>
          </a:prstGeom>
          <a:noFill/>
        </p:spPr>
        <p:txBody>
          <a:bodyPr wrap="none" rtlCol="0">
            <a:spAutoFit/>
          </a:bodyPr>
          <a:lstStyle/>
          <a:p>
            <a:pPr algn="ctr"/>
            <a:r>
              <a:rPr lang="en-IN" b="1" dirty="0"/>
              <a:t>L</a:t>
            </a:r>
            <a:endParaRPr lang="en-US" b="1" dirty="0"/>
          </a:p>
        </p:txBody>
      </p:sp>
      <p:grpSp>
        <p:nvGrpSpPr>
          <p:cNvPr id="55" name="Group 54"/>
          <p:cNvGrpSpPr/>
          <p:nvPr/>
        </p:nvGrpSpPr>
        <p:grpSpPr>
          <a:xfrm>
            <a:off x="3124200" y="4648200"/>
            <a:ext cx="1066800" cy="381000"/>
            <a:chOff x="304800" y="4191000"/>
            <a:chExt cx="1066800" cy="381000"/>
          </a:xfrm>
        </p:grpSpPr>
        <p:sp>
          <p:nvSpPr>
            <p:cNvPr id="56" name="Rectangle 55"/>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57" name="Rectangle 56"/>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58" name="Rectangle 57"/>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59" name="Group 58"/>
          <p:cNvGrpSpPr/>
          <p:nvPr/>
        </p:nvGrpSpPr>
        <p:grpSpPr>
          <a:xfrm>
            <a:off x="4724400" y="4648200"/>
            <a:ext cx="1066800" cy="381000"/>
            <a:chOff x="304800" y="4191000"/>
            <a:chExt cx="1066800" cy="381000"/>
          </a:xfrm>
        </p:grpSpPr>
        <p:sp>
          <p:nvSpPr>
            <p:cNvPr id="60" name="Rectangle 59"/>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61" name="Rectangle 60"/>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62" name="Rectangle 61"/>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63" name="Group 62"/>
          <p:cNvGrpSpPr/>
          <p:nvPr/>
        </p:nvGrpSpPr>
        <p:grpSpPr>
          <a:xfrm>
            <a:off x="7924800" y="4648200"/>
            <a:ext cx="1066800" cy="381000"/>
            <a:chOff x="304800" y="4191000"/>
            <a:chExt cx="1066800" cy="381000"/>
          </a:xfrm>
        </p:grpSpPr>
        <p:sp>
          <p:nvSpPr>
            <p:cNvPr id="64" name="Rectangle 63"/>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65" name="Rectangle 64"/>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66" name="Rectangle 65"/>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67" name="Group 66"/>
          <p:cNvGrpSpPr/>
          <p:nvPr/>
        </p:nvGrpSpPr>
        <p:grpSpPr>
          <a:xfrm>
            <a:off x="9525000" y="4648200"/>
            <a:ext cx="1066800" cy="381000"/>
            <a:chOff x="304800" y="4191000"/>
            <a:chExt cx="1066800" cy="381000"/>
          </a:xfrm>
        </p:grpSpPr>
        <p:sp>
          <p:nvSpPr>
            <p:cNvPr id="68" name="Rectangle 67"/>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69" name="Rectangle 68"/>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70" name="Rectangle 69"/>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cxnSp>
        <p:nvCxnSpPr>
          <p:cNvPr id="71" name="Straight Arrow Connector 70"/>
          <p:cNvCxnSpPr/>
          <p:nvPr/>
        </p:nvCxnSpPr>
        <p:spPr>
          <a:xfrm>
            <a:off x="4191000" y="4724400"/>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72" name="Straight Arrow Connector 71"/>
          <p:cNvCxnSpPr/>
          <p:nvPr/>
        </p:nvCxnSpPr>
        <p:spPr>
          <a:xfrm>
            <a:off x="8991600" y="4724400"/>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73" name="Straight Arrow Connector 72"/>
          <p:cNvCxnSpPr/>
          <p:nvPr/>
        </p:nvCxnSpPr>
        <p:spPr>
          <a:xfrm>
            <a:off x="8991600" y="4953000"/>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74" name="Straight Arrow Connector 73"/>
          <p:cNvCxnSpPr/>
          <p:nvPr/>
        </p:nvCxnSpPr>
        <p:spPr>
          <a:xfrm>
            <a:off x="4191000" y="4953000"/>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75" name="Straight Connector 74"/>
          <p:cNvCxnSpPr/>
          <p:nvPr/>
        </p:nvCxnSpPr>
        <p:spPr>
          <a:xfrm flipV="1">
            <a:off x="10287000" y="4648200"/>
            <a:ext cx="304800" cy="381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76" name="Straight Connector 75"/>
          <p:cNvCxnSpPr/>
          <p:nvPr/>
        </p:nvCxnSpPr>
        <p:spPr>
          <a:xfrm flipH="1">
            <a:off x="3124200" y="4648200"/>
            <a:ext cx="304800" cy="381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77" name="TextBox 76"/>
          <p:cNvSpPr txBox="1"/>
          <p:nvPr/>
        </p:nvSpPr>
        <p:spPr>
          <a:xfrm>
            <a:off x="3214558" y="5285150"/>
            <a:ext cx="295274" cy="369332"/>
          </a:xfrm>
          <a:prstGeom prst="rect">
            <a:avLst/>
          </a:prstGeom>
          <a:noFill/>
        </p:spPr>
        <p:txBody>
          <a:bodyPr wrap="none" rtlCol="0">
            <a:spAutoFit/>
          </a:bodyPr>
          <a:lstStyle/>
          <a:p>
            <a:pPr algn="ctr"/>
            <a:r>
              <a:rPr lang="en-IN" b="1" dirty="0"/>
              <a:t>L</a:t>
            </a:r>
            <a:endParaRPr lang="en-US" b="1" dirty="0"/>
          </a:p>
        </p:txBody>
      </p:sp>
      <p:sp>
        <p:nvSpPr>
          <p:cNvPr id="78" name="TextBox 77"/>
          <p:cNvSpPr txBox="1"/>
          <p:nvPr/>
        </p:nvSpPr>
        <p:spPr>
          <a:xfrm>
            <a:off x="10277290" y="5285150"/>
            <a:ext cx="314510" cy="369332"/>
          </a:xfrm>
          <a:prstGeom prst="rect">
            <a:avLst/>
          </a:prstGeom>
          <a:noFill/>
        </p:spPr>
        <p:txBody>
          <a:bodyPr wrap="none" rtlCol="0">
            <a:spAutoFit/>
          </a:bodyPr>
          <a:lstStyle/>
          <a:p>
            <a:pPr algn="ctr"/>
            <a:r>
              <a:rPr lang="en-IN" b="1" dirty="0"/>
              <a:t>R</a:t>
            </a:r>
            <a:endParaRPr lang="en-US" b="1" dirty="0"/>
          </a:p>
        </p:txBody>
      </p:sp>
      <p:cxnSp>
        <p:nvCxnSpPr>
          <p:cNvPr id="79" name="Straight Arrow Connector 78"/>
          <p:cNvCxnSpPr/>
          <p:nvPr/>
        </p:nvCxnSpPr>
        <p:spPr>
          <a:xfrm flipV="1">
            <a:off x="3370326" y="5044882"/>
            <a:ext cx="2210" cy="2402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80" name="Straight Arrow Connector 79"/>
          <p:cNvCxnSpPr/>
          <p:nvPr/>
        </p:nvCxnSpPr>
        <p:spPr>
          <a:xfrm flipV="1">
            <a:off x="10437190" y="5029200"/>
            <a:ext cx="2210" cy="2402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81" name="Group 80"/>
          <p:cNvGrpSpPr/>
          <p:nvPr/>
        </p:nvGrpSpPr>
        <p:grpSpPr>
          <a:xfrm>
            <a:off x="6324600" y="4648200"/>
            <a:ext cx="1066800" cy="381000"/>
            <a:chOff x="304800" y="4191000"/>
            <a:chExt cx="1066800" cy="381000"/>
          </a:xfrm>
        </p:grpSpPr>
        <p:sp>
          <p:nvSpPr>
            <p:cNvPr id="82" name="Rectangle 81"/>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83" name="Rectangle 82"/>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84" name="Rectangle 83"/>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cxnSp>
        <p:nvCxnSpPr>
          <p:cNvPr id="85" name="Straight Arrow Connector 84"/>
          <p:cNvCxnSpPr/>
          <p:nvPr/>
        </p:nvCxnSpPr>
        <p:spPr>
          <a:xfrm>
            <a:off x="7391400" y="4724400"/>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86" name="Straight Arrow Connector 85"/>
          <p:cNvCxnSpPr/>
          <p:nvPr/>
        </p:nvCxnSpPr>
        <p:spPr>
          <a:xfrm>
            <a:off x="7391400" y="4953000"/>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grpSp>
        <p:nvGrpSpPr>
          <p:cNvPr id="87" name="Group 86"/>
          <p:cNvGrpSpPr/>
          <p:nvPr/>
        </p:nvGrpSpPr>
        <p:grpSpPr>
          <a:xfrm>
            <a:off x="1890656" y="5791200"/>
            <a:ext cx="1066800" cy="381000"/>
            <a:chOff x="304800" y="4191000"/>
            <a:chExt cx="1066800" cy="381000"/>
          </a:xfrm>
        </p:grpSpPr>
        <p:sp>
          <p:nvSpPr>
            <p:cNvPr id="88" name="Rectangle 87"/>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89" name="Rectangle 88"/>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90" name="Rectangle 89"/>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sp>
        <p:nvSpPr>
          <p:cNvPr id="91" name="TextBox 90"/>
          <p:cNvSpPr txBox="1"/>
          <p:nvPr/>
        </p:nvSpPr>
        <p:spPr>
          <a:xfrm>
            <a:off x="2080643" y="6107668"/>
            <a:ext cx="612668" cy="369332"/>
          </a:xfrm>
          <a:prstGeom prst="rect">
            <a:avLst/>
          </a:prstGeom>
          <a:noFill/>
        </p:spPr>
        <p:txBody>
          <a:bodyPr wrap="none" rtlCol="0">
            <a:spAutoFit/>
          </a:bodyPr>
          <a:lstStyle/>
          <a:p>
            <a:pPr algn="ctr"/>
            <a:r>
              <a:rPr lang="en-IN" b="1" dirty="0"/>
              <a:t>NEW</a:t>
            </a:r>
            <a:endParaRPr lang="en-US" b="1" dirty="0"/>
          </a:p>
        </p:txBody>
      </p:sp>
      <p:sp>
        <p:nvSpPr>
          <p:cNvPr id="92" name="TextBox 91"/>
          <p:cNvSpPr txBox="1"/>
          <p:nvPr/>
        </p:nvSpPr>
        <p:spPr>
          <a:xfrm>
            <a:off x="3045224" y="4257352"/>
            <a:ext cx="359393" cy="369332"/>
          </a:xfrm>
          <a:prstGeom prst="rect">
            <a:avLst/>
          </a:prstGeom>
          <a:noFill/>
        </p:spPr>
        <p:txBody>
          <a:bodyPr wrap="none" rtlCol="0">
            <a:spAutoFit/>
          </a:bodyPr>
          <a:lstStyle/>
          <a:p>
            <a:pPr algn="ctr"/>
            <a:r>
              <a:rPr lang="en-IN" b="1" dirty="0"/>
              <a:t>M</a:t>
            </a:r>
            <a:endParaRPr lang="en-US" b="1" dirty="0"/>
          </a:p>
        </p:txBody>
      </p:sp>
      <p:sp>
        <p:nvSpPr>
          <p:cNvPr id="93" name="TextBox 92"/>
          <p:cNvSpPr txBox="1"/>
          <p:nvPr/>
        </p:nvSpPr>
        <p:spPr>
          <a:xfrm>
            <a:off x="8585664" y="4086880"/>
            <a:ext cx="1988045" cy="461665"/>
          </a:xfrm>
          <a:prstGeom prst="rect">
            <a:avLst/>
          </a:prstGeom>
          <a:solidFill>
            <a:schemeClr val="bg1">
              <a:lumMod val="95000"/>
            </a:schemeClr>
          </a:solidFill>
        </p:spPr>
        <p:txBody>
          <a:bodyPr wrap="none" rtlCol="0">
            <a:spAutoFit/>
          </a:bodyPr>
          <a:lstStyle>
            <a:defPPr>
              <a:defRPr lang="en-US"/>
            </a:defPPr>
            <a:lvl1pPr>
              <a:defRPr sz="2400" b="1">
                <a:solidFill>
                  <a:schemeClr val="tx2"/>
                </a:solidFill>
              </a:defRPr>
            </a:lvl1pPr>
          </a:lstStyle>
          <a:p>
            <a:r>
              <a:rPr lang="en-IN" dirty="0"/>
              <a:t>After Insertion</a:t>
            </a:r>
            <a:endParaRPr lang="en-US" dirty="0"/>
          </a:p>
        </p:txBody>
      </p:sp>
      <p:cxnSp>
        <p:nvCxnSpPr>
          <p:cNvPr id="94" name="Straight Arrow Connector 93"/>
          <p:cNvCxnSpPr/>
          <p:nvPr/>
        </p:nvCxnSpPr>
        <p:spPr>
          <a:xfrm>
            <a:off x="5791200" y="4736068"/>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95" name="Straight Arrow Connector 94"/>
          <p:cNvCxnSpPr/>
          <p:nvPr/>
        </p:nvCxnSpPr>
        <p:spPr>
          <a:xfrm>
            <a:off x="5791200" y="4964668"/>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sp>
        <p:nvSpPr>
          <p:cNvPr id="96" name="Freeform 95"/>
          <p:cNvSpPr/>
          <p:nvPr/>
        </p:nvSpPr>
        <p:spPr>
          <a:xfrm>
            <a:off x="3021106" y="5017561"/>
            <a:ext cx="247426" cy="882127"/>
          </a:xfrm>
          <a:custGeom>
            <a:avLst/>
            <a:gdLst>
              <a:gd name="connsiteX0" fmla="*/ 247426 w 247426"/>
              <a:gd name="connsiteY0" fmla="*/ 0 h 882127"/>
              <a:gd name="connsiteX1" fmla="*/ 247426 w 247426"/>
              <a:gd name="connsiteY1" fmla="*/ 882127 h 882127"/>
              <a:gd name="connsiteX2" fmla="*/ 0 w 247426"/>
              <a:gd name="connsiteY2" fmla="*/ 882127 h 882127"/>
            </a:gdLst>
            <a:ahLst/>
            <a:cxnLst>
              <a:cxn ang="0">
                <a:pos x="connsiteX0" y="connsiteY0"/>
              </a:cxn>
              <a:cxn ang="0">
                <a:pos x="connsiteX1" y="connsiteY1"/>
              </a:cxn>
              <a:cxn ang="0">
                <a:pos x="connsiteX2" y="connsiteY2"/>
              </a:cxn>
            </a:cxnLst>
            <a:rect l="l" t="t" r="r" b="b"/>
            <a:pathLst>
              <a:path w="247426" h="882127">
                <a:moveTo>
                  <a:pt x="247426" y="0"/>
                </a:moveTo>
                <a:lnTo>
                  <a:pt x="247426" y="882127"/>
                </a:lnTo>
                <a:lnTo>
                  <a:pt x="0" y="882127"/>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97" name="Freeform 96"/>
          <p:cNvSpPr/>
          <p:nvPr/>
        </p:nvSpPr>
        <p:spPr>
          <a:xfrm>
            <a:off x="2805953" y="4834680"/>
            <a:ext cx="311972" cy="957430"/>
          </a:xfrm>
          <a:custGeom>
            <a:avLst/>
            <a:gdLst>
              <a:gd name="connsiteX0" fmla="*/ 0 w 311972"/>
              <a:gd name="connsiteY0" fmla="*/ 957430 h 957430"/>
              <a:gd name="connsiteX1" fmla="*/ 0 w 311972"/>
              <a:gd name="connsiteY1" fmla="*/ 0 h 957430"/>
              <a:gd name="connsiteX2" fmla="*/ 311972 w 311972"/>
              <a:gd name="connsiteY2" fmla="*/ 0 h 957430"/>
            </a:gdLst>
            <a:ahLst/>
            <a:cxnLst>
              <a:cxn ang="0">
                <a:pos x="connsiteX0" y="connsiteY0"/>
              </a:cxn>
              <a:cxn ang="0">
                <a:pos x="connsiteX1" y="connsiteY1"/>
              </a:cxn>
              <a:cxn ang="0">
                <a:pos x="connsiteX2" y="connsiteY2"/>
              </a:cxn>
            </a:cxnLst>
            <a:rect l="l" t="t" r="r" b="b"/>
            <a:pathLst>
              <a:path w="311972" h="957430">
                <a:moveTo>
                  <a:pt x="0" y="957430"/>
                </a:moveTo>
                <a:lnTo>
                  <a:pt x="0" y="0"/>
                </a:lnTo>
                <a:lnTo>
                  <a:pt x="311972" y="0"/>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cxnSp>
        <p:nvCxnSpPr>
          <p:cNvPr id="98" name="Straight Connector 97"/>
          <p:cNvCxnSpPr/>
          <p:nvPr/>
        </p:nvCxnSpPr>
        <p:spPr>
          <a:xfrm flipH="1">
            <a:off x="1905000" y="5802868"/>
            <a:ext cx="304800" cy="3810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sp>
        <p:nvSpPr>
          <p:cNvPr id="99" name="TextBox 98"/>
          <p:cNvSpPr txBox="1"/>
          <p:nvPr/>
        </p:nvSpPr>
        <p:spPr>
          <a:xfrm>
            <a:off x="2609308" y="838201"/>
            <a:ext cx="6973384" cy="523220"/>
          </a:xfrm>
          <a:prstGeom prst="rect">
            <a:avLst/>
          </a:prstGeom>
          <a:noFill/>
        </p:spPr>
        <p:txBody>
          <a:bodyPr wrap="none" rtlCol="0">
            <a:spAutoFit/>
          </a:bodyPr>
          <a:lstStyle>
            <a:defPPr>
              <a:defRPr lang="en-US"/>
            </a:defPPr>
            <a:lvl1pPr algn="ctr">
              <a:defRPr sz="2800" b="1">
                <a:solidFill>
                  <a:srgbClr val="C00000"/>
                </a:solidFill>
              </a:defRPr>
            </a:lvl1pPr>
          </a:lstStyle>
          <a:p>
            <a:r>
              <a:rPr lang="en-IN" dirty="0"/>
              <a:t>Left most insertion in Doubly Linked Linear List</a:t>
            </a:r>
            <a:endParaRPr lang="en-IN" dirty="0">
              <a:sym typeface="Wingdings" pitchFamily="2" charset="2"/>
            </a:endParaRPr>
          </a:p>
        </p:txBody>
      </p:sp>
      <p:cxnSp>
        <p:nvCxnSpPr>
          <p:cNvPr id="101" name="Straight Arrow Connector 100"/>
          <p:cNvCxnSpPr>
            <a:stCxn id="53" idx="2"/>
            <a:endCxn id="89" idx="0"/>
          </p:cNvCxnSpPr>
          <p:nvPr/>
        </p:nvCxnSpPr>
        <p:spPr>
          <a:xfrm flipH="1">
            <a:off x="2043057" y="5398532"/>
            <a:ext cx="3169" cy="3926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02" name="TextBox 101"/>
          <p:cNvSpPr txBox="1"/>
          <p:nvPr/>
        </p:nvSpPr>
        <p:spPr>
          <a:xfrm>
            <a:off x="7118874" y="3733800"/>
            <a:ext cx="1088760" cy="369332"/>
          </a:xfrm>
          <a:prstGeom prst="rect">
            <a:avLst/>
          </a:prstGeom>
          <a:noFill/>
        </p:spPr>
        <p:txBody>
          <a:bodyPr wrap="none" rtlCol="0">
            <a:spAutoFit/>
          </a:bodyPr>
          <a:lstStyle/>
          <a:p>
            <a:r>
              <a:rPr lang="en-IN" b="1" dirty="0"/>
              <a:t>L </a:t>
            </a:r>
            <a:r>
              <a:rPr lang="en-IN" b="1" dirty="0">
                <a:sym typeface="Wingdings" pitchFamily="2" charset="2"/>
              </a:rPr>
              <a:t></a:t>
            </a:r>
            <a:r>
              <a:rPr lang="en-IN" b="1" dirty="0"/>
              <a:t> NEW</a:t>
            </a:r>
            <a:endParaRPr lang="en-IN" b="1" dirty="0">
              <a:sym typeface="Wingdings" pitchFamily="2" charset="2"/>
            </a:endParaRPr>
          </a:p>
        </p:txBody>
      </p:sp>
    </p:spTree>
    <p:extLst>
      <p:ext uri="{BB962C8B-B14F-4D97-AF65-F5344CB8AC3E}">
        <p14:creationId xmlns:p14="http://schemas.microsoft.com/office/powerpoint/2010/main" val="3832581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3"/>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71"/>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72"/>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73"/>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74"/>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75"/>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7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78"/>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79"/>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80"/>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81"/>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85"/>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86"/>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92"/>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93"/>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94"/>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95"/>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91"/>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87"/>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45"/>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98"/>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46"/>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22" presetClass="entr" presetSubtype="4" fill="hold" grpId="0" nodeType="clickEffect">
                                  <p:stCondLst>
                                    <p:cond delay="0"/>
                                  </p:stCondLst>
                                  <p:childTnLst>
                                    <p:set>
                                      <p:cBhvr>
                                        <p:cTn id="118" dur="1" fill="hold">
                                          <p:stCondLst>
                                            <p:cond delay="0"/>
                                          </p:stCondLst>
                                        </p:cTn>
                                        <p:tgtEl>
                                          <p:spTgt spid="97"/>
                                        </p:tgtEl>
                                        <p:attrNameLst>
                                          <p:attrName>style.visibility</p:attrName>
                                        </p:attrNameLst>
                                      </p:cBhvr>
                                      <p:to>
                                        <p:strVal val="visible"/>
                                      </p:to>
                                    </p:set>
                                    <p:animEffect transition="in" filter="wipe(down)">
                                      <p:cBhvr>
                                        <p:cTn id="119" dur="500"/>
                                        <p:tgtEl>
                                          <p:spTgt spid="97"/>
                                        </p:tgtEl>
                                      </p:cBhvr>
                                    </p:animEffec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47"/>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22" presetClass="entr" presetSubtype="1" fill="hold" grpId="0" nodeType="clickEffect">
                                  <p:stCondLst>
                                    <p:cond delay="0"/>
                                  </p:stCondLst>
                                  <p:childTnLst>
                                    <p:set>
                                      <p:cBhvr>
                                        <p:cTn id="127" dur="1" fill="hold">
                                          <p:stCondLst>
                                            <p:cond delay="0"/>
                                          </p:stCondLst>
                                        </p:cTn>
                                        <p:tgtEl>
                                          <p:spTgt spid="96"/>
                                        </p:tgtEl>
                                        <p:attrNameLst>
                                          <p:attrName>style.visibility</p:attrName>
                                        </p:attrNameLst>
                                      </p:cBhvr>
                                      <p:to>
                                        <p:strVal val="visible"/>
                                      </p:to>
                                    </p:set>
                                    <p:animEffect transition="in" filter="wipe(up)">
                                      <p:cBhvr>
                                        <p:cTn id="128" dur="500"/>
                                        <p:tgtEl>
                                          <p:spTgt spid="96"/>
                                        </p:tgtEl>
                                      </p:cBhvr>
                                    </p:animEffect>
                                  </p:childTnLst>
                                </p:cTn>
                              </p:par>
                              <p:par>
                                <p:cTn id="129" presetID="1" presetClass="exit" presetSubtype="0" fill="hold" nodeType="withEffect">
                                  <p:stCondLst>
                                    <p:cond delay="0"/>
                                  </p:stCondLst>
                                  <p:childTnLst>
                                    <p:set>
                                      <p:cBhvr>
                                        <p:cTn id="130" dur="1" fill="hold">
                                          <p:stCondLst>
                                            <p:cond delay="0"/>
                                          </p:stCondLst>
                                        </p:cTn>
                                        <p:tgtEl>
                                          <p:spTgt spid="76"/>
                                        </p:tgtEl>
                                        <p:attrNameLst>
                                          <p:attrName>style.visibility</p:attrName>
                                        </p:attrNameLst>
                                      </p:cBhvr>
                                      <p:to>
                                        <p:strVal val="hidden"/>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102"/>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xit" presetSubtype="0" fill="hold" grpId="1" nodeType="clickEffect">
                                  <p:stCondLst>
                                    <p:cond delay="0"/>
                                  </p:stCondLst>
                                  <p:childTnLst>
                                    <p:set>
                                      <p:cBhvr>
                                        <p:cTn id="138" dur="1" fill="hold">
                                          <p:stCondLst>
                                            <p:cond delay="0"/>
                                          </p:stCondLst>
                                        </p:cTn>
                                        <p:tgtEl>
                                          <p:spTgt spid="77"/>
                                        </p:tgtEl>
                                        <p:attrNameLst>
                                          <p:attrName>style.visibility</p:attrName>
                                        </p:attrNameLst>
                                      </p:cBhvr>
                                      <p:to>
                                        <p:strVal val="hidden"/>
                                      </p:to>
                                    </p:set>
                                  </p:childTnLst>
                                </p:cTn>
                              </p:par>
                              <p:par>
                                <p:cTn id="139" presetID="1" presetClass="exit" presetSubtype="0" fill="hold" nodeType="withEffect">
                                  <p:stCondLst>
                                    <p:cond delay="0"/>
                                  </p:stCondLst>
                                  <p:childTnLst>
                                    <p:set>
                                      <p:cBhvr>
                                        <p:cTn id="140" dur="1" fill="hold">
                                          <p:stCondLst>
                                            <p:cond delay="0"/>
                                          </p:stCondLst>
                                        </p:cTn>
                                        <p:tgtEl>
                                          <p:spTgt spid="79"/>
                                        </p:tgtEl>
                                        <p:attrNameLst>
                                          <p:attrName>style.visibility</p:attrName>
                                        </p:attrNameLst>
                                      </p:cBhvr>
                                      <p:to>
                                        <p:strVal val="hidden"/>
                                      </p:to>
                                    </p:set>
                                  </p:childTnLst>
                                </p:cTn>
                              </p:par>
                              <p:par>
                                <p:cTn id="141" presetID="1" presetClass="entr" presetSubtype="0" fill="hold" grpId="0" nodeType="withEffect">
                                  <p:stCondLst>
                                    <p:cond delay="0"/>
                                  </p:stCondLst>
                                  <p:childTnLst>
                                    <p:set>
                                      <p:cBhvr>
                                        <p:cTn id="142" dur="1" fill="hold">
                                          <p:stCondLst>
                                            <p:cond delay="0"/>
                                          </p:stCondLst>
                                        </p:cTn>
                                        <p:tgtEl>
                                          <p:spTgt spid="53"/>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42" grpId="0"/>
      <p:bldP spid="43" grpId="0"/>
      <p:bldP spid="44" grpId="0" animBg="1"/>
      <p:bldP spid="45" grpId="0"/>
      <p:bldP spid="46" grpId="0"/>
      <p:bldP spid="47" grpId="0"/>
      <p:bldP spid="53" grpId="0"/>
      <p:bldP spid="77" grpId="0"/>
      <p:bldP spid="77" grpId="1"/>
      <p:bldP spid="78" grpId="0"/>
      <p:bldP spid="91" grpId="0"/>
      <p:bldP spid="92" grpId="0"/>
      <p:bldP spid="93" grpId="0" animBg="1"/>
      <p:bldP spid="96" grpId="0" animBg="1"/>
      <p:bldP spid="97" grpId="0" animBg="1"/>
      <p:bldP spid="99" grpId="0"/>
      <p:bldP spid="102"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Procedure: DOU_INS (L,R,M,X)</a:t>
            </a:r>
            <a:endParaRPr lang="en-US" dirty="0"/>
          </a:p>
        </p:txBody>
      </p:sp>
      <p:sp>
        <p:nvSpPr>
          <p:cNvPr id="3" name="Content Placeholder 2"/>
          <p:cNvSpPr>
            <a:spLocks noGrp="1"/>
          </p:cNvSpPr>
          <p:nvPr>
            <p:ph idx="1"/>
          </p:nvPr>
        </p:nvSpPr>
        <p:spPr/>
        <p:txBody>
          <a:bodyPr/>
          <a:lstStyle/>
          <a:p>
            <a:r>
              <a:rPr lang="en-IN" dirty="0"/>
              <a:t>This algorithm inserts a new node in doubly linked linear list.</a:t>
            </a:r>
          </a:p>
          <a:p>
            <a:r>
              <a:rPr lang="en-IN" dirty="0"/>
              <a:t>The </a:t>
            </a:r>
            <a:r>
              <a:rPr lang="en-IN" b="1" dirty="0">
                <a:solidFill>
                  <a:srgbClr val="C00000"/>
                </a:solidFill>
              </a:rPr>
              <a:t>insertion</a:t>
            </a:r>
            <a:r>
              <a:rPr lang="en-IN" dirty="0">
                <a:solidFill>
                  <a:srgbClr val="C00000"/>
                </a:solidFill>
              </a:rPr>
              <a:t> </a:t>
            </a:r>
            <a:r>
              <a:rPr lang="en-IN" dirty="0"/>
              <a:t>is to be </a:t>
            </a:r>
            <a:r>
              <a:rPr lang="en-IN" b="1" dirty="0">
                <a:solidFill>
                  <a:srgbClr val="C00000"/>
                </a:solidFill>
              </a:rPr>
              <a:t>performed </a:t>
            </a:r>
            <a:r>
              <a:rPr lang="en-IN" dirty="0"/>
              <a:t>to the </a:t>
            </a:r>
            <a:r>
              <a:rPr lang="en-IN" b="1" dirty="0">
                <a:solidFill>
                  <a:srgbClr val="C00000"/>
                </a:solidFill>
              </a:rPr>
              <a:t>left of a specific node</a:t>
            </a:r>
            <a:r>
              <a:rPr lang="en-IN" dirty="0">
                <a:solidFill>
                  <a:srgbClr val="C00000"/>
                </a:solidFill>
              </a:rPr>
              <a:t> </a:t>
            </a:r>
            <a:r>
              <a:rPr lang="en-IN" b="1" dirty="0"/>
              <a:t>with</a:t>
            </a:r>
            <a:r>
              <a:rPr lang="en-IN" dirty="0"/>
              <a:t> its </a:t>
            </a:r>
            <a:r>
              <a:rPr lang="en-IN" b="1" dirty="0"/>
              <a:t>address</a:t>
            </a:r>
            <a:r>
              <a:rPr lang="en-IN" dirty="0"/>
              <a:t> given by the pointer variable </a:t>
            </a:r>
            <a:r>
              <a:rPr lang="en-IN" b="1" dirty="0">
                <a:solidFill>
                  <a:srgbClr val="C00000"/>
                </a:solidFill>
              </a:rPr>
              <a:t>M</a:t>
            </a:r>
            <a:r>
              <a:rPr lang="en-IN" b="1" dirty="0"/>
              <a:t>.</a:t>
            </a:r>
          </a:p>
          <a:p>
            <a:r>
              <a:rPr lang="en-IN" dirty="0"/>
              <a:t>Typical node of doubly linked list contains following fields </a:t>
            </a:r>
            <a:r>
              <a:rPr lang="en-IN" b="1" dirty="0">
                <a:solidFill>
                  <a:srgbClr val="C00000"/>
                </a:solidFill>
              </a:rPr>
              <a:t>LPTR</a:t>
            </a:r>
            <a:r>
              <a:rPr lang="en-IN" dirty="0"/>
              <a:t>, </a:t>
            </a:r>
            <a:r>
              <a:rPr lang="en-IN" b="1" dirty="0">
                <a:solidFill>
                  <a:srgbClr val="C00000"/>
                </a:solidFill>
              </a:rPr>
              <a:t>RPTR</a:t>
            </a:r>
            <a:r>
              <a:rPr lang="en-IN" dirty="0">
                <a:solidFill>
                  <a:srgbClr val="C00000"/>
                </a:solidFill>
              </a:rPr>
              <a:t> </a:t>
            </a:r>
            <a:r>
              <a:rPr lang="en-IN" dirty="0"/>
              <a:t>and </a:t>
            </a:r>
            <a:r>
              <a:rPr lang="en-IN" b="1" dirty="0">
                <a:solidFill>
                  <a:srgbClr val="C00000"/>
                </a:solidFill>
              </a:rPr>
              <a:t>INFO</a:t>
            </a:r>
            <a:r>
              <a:rPr lang="en-IN" b="1" dirty="0"/>
              <a:t>.</a:t>
            </a:r>
          </a:p>
          <a:p>
            <a:r>
              <a:rPr lang="en-IN" b="1" dirty="0">
                <a:solidFill>
                  <a:srgbClr val="C00000"/>
                </a:solidFill>
              </a:rPr>
              <a:t>LPTR</a:t>
            </a:r>
            <a:r>
              <a:rPr lang="en-IN" dirty="0">
                <a:solidFill>
                  <a:srgbClr val="C00000"/>
                </a:solidFill>
              </a:rPr>
              <a:t> </a:t>
            </a:r>
            <a:r>
              <a:rPr lang="en-IN" dirty="0"/>
              <a:t>is pointer variable pointing to Predecessor of a node.</a:t>
            </a:r>
          </a:p>
          <a:p>
            <a:r>
              <a:rPr lang="en-IN" b="1" dirty="0">
                <a:solidFill>
                  <a:srgbClr val="C00000"/>
                </a:solidFill>
              </a:rPr>
              <a:t>RPTR</a:t>
            </a:r>
            <a:r>
              <a:rPr lang="en-IN" dirty="0">
                <a:solidFill>
                  <a:srgbClr val="C00000"/>
                </a:solidFill>
              </a:rPr>
              <a:t> </a:t>
            </a:r>
            <a:r>
              <a:rPr lang="en-IN" dirty="0"/>
              <a:t>is pointer variable pointing to Successor of a node.</a:t>
            </a:r>
          </a:p>
          <a:p>
            <a:r>
              <a:rPr lang="en-IN" b="1" dirty="0">
                <a:solidFill>
                  <a:srgbClr val="C00000"/>
                </a:solidFill>
              </a:rPr>
              <a:t>L</a:t>
            </a:r>
            <a:r>
              <a:rPr lang="en-IN" dirty="0">
                <a:solidFill>
                  <a:srgbClr val="C00000"/>
                </a:solidFill>
              </a:rPr>
              <a:t> </a:t>
            </a:r>
            <a:r>
              <a:rPr lang="en-IN" dirty="0"/>
              <a:t>&amp; </a:t>
            </a:r>
            <a:r>
              <a:rPr lang="en-IN" b="1" dirty="0">
                <a:solidFill>
                  <a:srgbClr val="C00000"/>
                </a:solidFill>
              </a:rPr>
              <a:t>R</a:t>
            </a:r>
            <a:r>
              <a:rPr lang="en-IN" dirty="0">
                <a:solidFill>
                  <a:srgbClr val="C00000"/>
                </a:solidFill>
              </a:rPr>
              <a:t> </a:t>
            </a:r>
            <a:r>
              <a:rPr lang="en-IN" dirty="0"/>
              <a:t>are pointer variables pointing for Leftmost and Rightmost node of Linked List.</a:t>
            </a:r>
          </a:p>
          <a:p>
            <a:r>
              <a:rPr lang="en-IN" b="1" dirty="0">
                <a:solidFill>
                  <a:srgbClr val="C00000"/>
                </a:solidFill>
              </a:rPr>
              <a:t>NEW</a:t>
            </a:r>
            <a:r>
              <a:rPr lang="en-IN" dirty="0">
                <a:solidFill>
                  <a:srgbClr val="C00000"/>
                </a:solidFill>
              </a:rPr>
              <a:t> </a:t>
            </a:r>
            <a:r>
              <a:rPr lang="en-IN" dirty="0"/>
              <a:t>is the address of New Node.</a:t>
            </a:r>
          </a:p>
          <a:p>
            <a:r>
              <a:rPr lang="en-IN" b="1" dirty="0">
                <a:solidFill>
                  <a:srgbClr val="C00000"/>
                </a:solidFill>
              </a:rPr>
              <a:t>X</a:t>
            </a:r>
            <a:r>
              <a:rPr lang="en-IN" dirty="0">
                <a:solidFill>
                  <a:srgbClr val="C00000"/>
                </a:solidFill>
              </a:rPr>
              <a:t> </a:t>
            </a:r>
            <a:r>
              <a:rPr lang="en-IN" dirty="0"/>
              <a:t>is value to be inserted.</a:t>
            </a:r>
          </a:p>
        </p:txBody>
      </p:sp>
    </p:spTree>
    <p:extLst>
      <p:ext uri="{BB962C8B-B14F-4D97-AF65-F5344CB8AC3E}">
        <p14:creationId xmlns:p14="http://schemas.microsoft.com/office/powerpoint/2010/main" val="3486596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Procedure: DOU_INS (L,R,M,X)</a:t>
            </a:r>
            <a:endParaRPr lang="en-US" dirty="0"/>
          </a:p>
        </p:txBody>
      </p:sp>
      <p:sp>
        <p:nvSpPr>
          <p:cNvPr id="4" name="TextBox 3"/>
          <p:cNvSpPr txBox="1"/>
          <p:nvPr/>
        </p:nvSpPr>
        <p:spPr>
          <a:xfrm>
            <a:off x="244200" y="908438"/>
            <a:ext cx="5760000" cy="3170099"/>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1. [Create New Empty Node]</a:t>
            </a:r>
          </a:p>
          <a:p>
            <a:r>
              <a:rPr lang="en-IN" sz="2000" b="1" dirty="0">
                <a:solidFill>
                  <a:schemeClr val="tx2">
                    <a:lumMod val="60000"/>
                    <a:lumOff val="40000"/>
                  </a:schemeClr>
                </a:solidFill>
                <a:latin typeface="Consolas" pitchFamily="49" charset="0"/>
                <a:cs typeface="Consolas" pitchFamily="49" charset="0"/>
              </a:rPr>
              <a:t> </a:t>
            </a:r>
            <a:r>
              <a:rPr lang="en-IN" sz="2000" b="1" dirty="0" smtClean="0">
                <a:solidFill>
                  <a:schemeClr val="tx2">
                    <a:lumMod val="60000"/>
                    <a:lumOff val="40000"/>
                  </a:schemeClr>
                </a:solidFill>
                <a:latin typeface="Consolas" pitchFamily="49" charset="0"/>
                <a:cs typeface="Consolas" pitchFamily="49" charset="0"/>
              </a:rPr>
              <a:t>  </a:t>
            </a:r>
            <a:r>
              <a:rPr lang="en-IN" sz="2000" dirty="0" smtClean="0">
                <a:latin typeface="Consolas" pitchFamily="49" charset="0"/>
                <a:cs typeface="Consolas" pitchFamily="49" charset="0"/>
              </a:rPr>
              <a:t>NEW </a:t>
            </a:r>
            <a:r>
              <a:rPr lang="en-IN" sz="2000" b="1" dirty="0">
                <a:solidFill>
                  <a:schemeClr val="accent6"/>
                </a:solidFill>
                <a:latin typeface="Consolas" pitchFamily="49" charset="0"/>
                <a:cs typeface="Consolas" pitchFamily="49" charset="0"/>
              </a:rPr>
              <a:t>&lt;=</a:t>
            </a:r>
            <a:r>
              <a:rPr lang="en-IN" sz="2000" dirty="0">
                <a:latin typeface="Consolas" pitchFamily="49" charset="0"/>
                <a:cs typeface="Consolas" pitchFamily="49" charset="0"/>
              </a:rPr>
              <a:t> </a:t>
            </a:r>
            <a:r>
              <a:rPr lang="en-IN" sz="2000" dirty="0" smtClean="0">
                <a:latin typeface="Consolas" pitchFamily="49" charset="0"/>
                <a:cs typeface="Consolas" pitchFamily="49" charset="0"/>
              </a:rPr>
              <a:t>NODE</a:t>
            </a:r>
            <a:endParaRPr lang="en-IN" sz="2000" dirty="0">
              <a:latin typeface="Consolas" pitchFamily="49" charset="0"/>
              <a:cs typeface="Consolas" pitchFamily="49" charset="0"/>
            </a:endParaRPr>
          </a:p>
          <a:p>
            <a:r>
              <a:rPr lang="en-IN" sz="2000" b="1" dirty="0">
                <a:solidFill>
                  <a:schemeClr val="tx2"/>
                </a:solidFill>
                <a:latin typeface="Consolas" pitchFamily="49" charset="0"/>
                <a:cs typeface="Consolas" pitchFamily="49" charset="0"/>
              </a:rPr>
              <a:t>2. [Copy information field]</a:t>
            </a:r>
          </a:p>
          <a:p>
            <a:r>
              <a:rPr lang="en-IN" sz="2000" dirty="0">
                <a:latin typeface="Consolas" pitchFamily="49" charset="0"/>
                <a:cs typeface="Consolas" pitchFamily="49" charset="0"/>
              </a:rPr>
              <a:t>    INFO(NEW) </a:t>
            </a:r>
            <a:r>
              <a:rPr lang="en-IN" sz="2000" dirty="0">
                <a:latin typeface="Consolas" pitchFamily="49" charset="0"/>
                <a:cs typeface="Consolas" pitchFamily="49" charset="0"/>
                <a:sym typeface="Wingdings" pitchFamily="2" charset="2"/>
              </a:rPr>
              <a:t> X</a:t>
            </a:r>
          </a:p>
          <a:p>
            <a:r>
              <a:rPr lang="en-IN" sz="2000" b="1" dirty="0">
                <a:solidFill>
                  <a:schemeClr val="tx2"/>
                </a:solidFill>
                <a:latin typeface="Consolas" pitchFamily="49" charset="0"/>
                <a:cs typeface="Consolas" pitchFamily="49" charset="0"/>
              </a:rPr>
              <a:t>3. [Insert into an empty list]</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IF</a:t>
            </a:r>
            <a:r>
              <a:rPr lang="en-IN" sz="2000" dirty="0">
                <a:latin typeface="Consolas" pitchFamily="49" charset="0"/>
                <a:cs typeface="Consolas" pitchFamily="49" charset="0"/>
              </a:rPr>
              <a:t>   R = NULL</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THEN</a:t>
            </a:r>
            <a:r>
              <a:rPr lang="en-IN" sz="2000" dirty="0">
                <a:latin typeface="Consolas" pitchFamily="49" charset="0"/>
                <a:cs typeface="Consolas" pitchFamily="49" charset="0"/>
              </a:rPr>
              <a:t> LPTR(NEW)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NULL</a:t>
            </a:r>
            <a:endParaRPr lang="en-IN" sz="2000" dirty="0">
              <a:latin typeface="Consolas" pitchFamily="49" charset="0"/>
              <a:cs typeface="Consolas" pitchFamily="49" charset="0"/>
              <a:sym typeface="Wingdings" pitchFamily="2" charset="2"/>
            </a:endParaRPr>
          </a:p>
          <a:p>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RPTR(NEW)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NULL</a:t>
            </a:r>
          </a:p>
          <a:p>
            <a:r>
              <a:rPr lang="en-IN" sz="2000" dirty="0">
                <a:latin typeface="Consolas" pitchFamily="49" charset="0"/>
                <a:cs typeface="Consolas" pitchFamily="49" charset="0"/>
              </a:rPr>
              <a:t>         L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R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NEW</a:t>
            </a:r>
          </a:p>
          <a:p>
            <a:r>
              <a:rPr lang="en-IN" sz="2000" dirty="0">
                <a:latin typeface="Consolas" pitchFamily="49" charset="0"/>
                <a:cs typeface="Consolas" pitchFamily="49" charset="0"/>
              </a:rPr>
              <a:t>         Return</a:t>
            </a:r>
          </a:p>
        </p:txBody>
      </p:sp>
      <p:sp>
        <p:nvSpPr>
          <p:cNvPr id="6" name="TextBox 5"/>
          <p:cNvSpPr txBox="1"/>
          <p:nvPr/>
        </p:nvSpPr>
        <p:spPr>
          <a:xfrm>
            <a:off x="6172200" y="908438"/>
            <a:ext cx="5760000" cy="4093428"/>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4. [Is left most insertion ?]</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IF</a:t>
            </a:r>
            <a:r>
              <a:rPr lang="en-IN" sz="2000" dirty="0">
                <a:latin typeface="Consolas" pitchFamily="49" charset="0"/>
                <a:cs typeface="Consolas" pitchFamily="49" charset="0"/>
              </a:rPr>
              <a:t>	 M = L</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THEN</a:t>
            </a:r>
            <a:r>
              <a:rPr lang="en-IN" sz="2000" dirty="0">
                <a:latin typeface="Consolas" pitchFamily="49" charset="0"/>
                <a:cs typeface="Consolas" pitchFamily="49" charset="0"/>
              </a:rPr>
              <a:t> LPTR(NEW)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NULL</a:t>
            </a:r>
          </a:p>
          <a:p>
            <a:r>
              <a:rPr lang="en-IN" sz="2000" dirty="0">
                <a:latin typeface="Consolas" pitchFamily="49" charset="0"/>
                <a:cs typeface="Consolas" pitchFamily="49" charset="0"/>
              </a:rPr>
              <a:t>         RPTR(NEW)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M</a:t>
            </a:r>
          </a:p>
          <a:p>
            <a:r>
              <a:rPr lang="en-IN" sz="2000" dirty="0">
                <a:latin typeface="Consolas" pitchFamily="49" charset="0"/>
                <a:cs typeface="Consolas" pitchFamily="49" charset="0"/>
              </a:rPr>
              <a:t>         LPTR(M)</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NEW</a:t>
            </a:r>
          </a:p>
          <a:p>
            <a:r>
              <a:rPr lang="en-IN" sz="2000" dirty="0">
                <a:latin typeface="Consolas" pitchFamily="49" charset="0"/>
                <a:cs typeface="Consolas" pitchFamily="49" charset="0"/>
              </a:rPr>
              <a:t>         L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NEW</a:t>
            </a:r>
          </a:p>
          <a:p>
            <a:r>
              <a:rPr lang="en-IN" sz="2000" dirty="0">
                <a:latin typeface="Consolas" pitchFamily="49" charset="0"/>
                <a:cs typeface="Consolas" pitchFamily="49" charset="0"/>
              </a:rPr>
              <a:t>         Return</a:t>
            </a:r>
          </a:p>
          <a:p>
            <a:r>
              <a:rPr lang="en-IN" sz="2000" b="1" dirty="0">
                <a:solidFill>
                  <a:schemeClr val="tx2"/>
                </a:solidFill>
                <a:latin typeface="Consolas" pitchFamily="49" charset="0"/>
                <a:cs typeface="Consolas" pitchFamily="49" charset="0"/>
              </a:rPr>
              <a:t>5. [Insert in middle]</a:t>
            </a:r>
          </a:p>
          <a:p>
            <a:r>
              <a:rPr lang="en-IN" sz="2000" dirty="0">
                <a:latin typeface="Consolas" pitchFamily="49" charset="0"/>
                <a:cs typeface="Consolas" pitchFamily="49" charset="0"/>
              </a:rPr>
              <a:t>    LPTR(NEW)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LPTR(M)</a:t>
            </a:r>
          </a:p>
          <a:p>
            <a:r>
              <a:rPr lang="en-IN" sz="2000" dirty="0">
                <a:latin typeface="Consolas" pitchFamily="49" charset="0"/>
                <a:cs typeface="Consolas" pitchFamily="49" charset="0"/>
              </a:rPr>
              <a:t>    RPTR(NEW)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M</a:t>
            </a:r>
          </a:p>
          <a:p>
            <a:r>
              <a:rPr lang="en-IN" sz="2000" dirty="0">
                <a:latin typeface="Consolas" pitchFamily="49" charset="0"/>
                <a:cs typeface="Consolas" pitchFamily="49" charset="0"/>
              </a:rPr>
              <a:t>    LPTR(M)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NEW</a:t>
            </a:r>
          </a:p>
          <a:p>
            <a:r>
              <a:rPr lang="en-IN" sz="2000" dirty="0">
                <a:latin typeface="Consolas" pitchFamily="49" charset="0"/>
                <a:cs typeface="Consolas" pitchFamily="49" charset="0"/>
              </a:rPr>
              <a:t>    RPTR(LPTR(NEW))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NEW</a:t>
            </a:r>
          </a:p>
          <a:p>
            <a:r>
              <a:rPr lang="en-IN" sz="2000" dirty="0">
                <a:latin typeface="Consolas" pitchFamily="49" charset="0"/>
                <a:cs typeface="Consolas" pitchFamily="49" charset="0"/>
              </a:rPr>
              <a:t>    Return</a:t>
            </a:r>
          </a:p>
        </p:txBody>
      </p:sp>
    </p:spTree>
    <p:extLst>
      <p:ext uri="{BB962C8B-B14F-4D97-AF65-F5344CB8AC3E}">
        <p14:creationId xmlns:p14="http://schemas.microsoft.com/office/powerpoint/2010/main" val="2796021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6">
                                            <p:txEl>
                                              <p:pRg st="2" end="2"/>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
                                            <p:txEl>
                                              <p:pRg st="3" end="3"/>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
                                            <p:txEl>
                                              <p:pRg st="4" end="4"/>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
                                            <p:txEl>
                                              <p:pRg st="5" end="5"/>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6">
                                            <p:txEl>
                                              <p:pRg st="8" end="8"/>
                                            </p:txEl>
                                          </p:spTgt>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6">
                                            <p:txEl>
                                              <p:pRg st="9" end="9"/>
                                            </p:txEl>
                                          </p:spTgt>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6">
                                            <p:txEl>
                                              <p:pRg st="10" end="10"/>
                                            </p:txEl>
                                          </p:spTgt>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6">
                                            <p:txEl>
                                              <p:pRg st="11" end="11"/>
                                            </p:txEl>
                                          </p:spTgt>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PROCEDURE: DOU _DEL (L, R, OLD)</a:t>
            </a:r>
            <a:endParaRPr lang="en-US" dirty="0"/>
          </a:p>
        </p:txBody>
      </p:sp>
      <p:sp>
        <p:nvSpPr>
          <p:cNvPr id="3" name="Content Placeholder 2"/>
          <p:cNvSpPr>
            <a:spLocks noGrp="1"/>
          </p:cNvSpPr>
          <p:nvPr>
            <p:ph idx="1"/>
          </p:nvPr>
        </p:nvSpPr>
        <p:spPr/>
        <p:txBody>
          <a:bodyPr/>
          <a:lstStyle/>
          <a:p>
            <a:r>
              <a:rPr lang="en-IN" dirty="0"/>
              <a:t>This algorithm </a:t>
            </a:r>
            <a:r>
              <a:rPr lang="en-IN" b="1" dirty="0">
                <a:solidFill>
                  <a:srgbClr val="C00000"/>
                </a:solidFill>
              </a:rPr>
              <a:t>deletes</a:t>
            </a:r>
            <a:r>
              <a:rPr lang="en-IN" b="1" dirty="0">
                <a:solidFill>
                  <a:srgbClr val="FF0000"/>
                </a:solidFill>
              </a:rPr>
              <a:t> </a:t>
            </a:r>
            <a:r>
              <a:rPr lang="en-IN" b="1" dirty="0">
                <a:solidFill>
                  <a:srgbClr val="C00000"/>
                </a:solidFill>
              </a:rPr>
              <a:t>the node</a:t>
            </a:r>
            <a:r>
              <a:rPr lang="en-IN" dirty="0">
                <a:solidFill>
                  <a:srgbClr val="C00000"/>
                </a:solidFill>
              </a:rPr>
              <a:t> </a:t>
            </a:r>
            <a:r>
              <a:rPr lang="en-IN" dirty="0"/>
              <a:t>whose </a:t>
            </a:r>
            <a:r>
              <a:rPr lang="en-IN" b="1" dirty="0">
                <a:solidFill>
                  <a:srgbClr val="C00000"/>
                </a:solidFill>
              </a:rPr>
              <a:t>address</a:t>
            </a:r>
            <a:r>
              <a:rPr lang="en-IN" dirty="0">
                <a:solidFill>
                  <a:srgbClr val="C00000"/>
                </a:solidFill>
              </a:rPr>
              <a:t> </a:t>
            </a:r>
            <a:r>
              <a:rPr lang="en-IN" dirty="0"/>
              <a:t>is contained in the variable </a:t>
            </a:r>
            <a:r>
              <a:rPr lang="en-IN" b="1" dirty="0">
                <a:solidFill>
                  <a:srgbClr val="C00000"/>
                </a:solidFill>
              </a:rPr>
              <a:t>OLD.</a:t>
            </a:r>
          </a:p>
          <a:p>
            <a:r>
              <a:rPr lang="en-IN" dirty="0"/>
              <a:t>Typical node of doubly linked list contains following fields </a:t>
            </a:r>
            <a:r>
              <a:rPr lang="en-IN" b="1" dirty="0">
                <a:solidFill>
                  <a:srgbClr val="C00000"/>
                </a:solidFill>
              </a:rPr>
              <a:t>LPTR</a:t>
            </a:r>
            <a:r>
              <a:rPr lang="en-IN" dirty="0"/>
              <a:t>, </a:t>
            </a:r>
            <a:r>
              <a:rPr lang="en-IN" b="1" dirty="0">
                <a:solidFill>
                  <a:srgbClr val="C00000"/>
                </a:solidFill>
              </a:rPr>
              <a:t>RPTR</a:t>
            </a:r>
            <a:r>
              <a:rPr lang="en-IN" dirty="0">
                <a:solidFill>
                  <a:srgbClr val="C00000"/>
                </a:solidFill>
              </a:rPr>
              <a:t> </a:t>
            </a:r>
            <a:r>
              <a:rPr lang="en-IN" dirty="0"/>
              <a:t>and </a:t>
            </a:r>
            <a:r>
              <a:rPr lang="en-IN" b="1" dirty="0">
                <a:solidFill>
                  <a:srgbClr val="C00000"/>
                </a:solidFill>
              </a:rPr>
              <a:t>INFO.</a:t>
            </a:r>
          </a:p>
          <a:p>
            <a:r>
              <a:rPr lang="en-IN" b="1" dirty="0">
                <a:solidFill>
                  <a:srgbClr val="C00000"/>
                </a:solidFill>
              </a:rPr>
              <a:t>LPTR</a:t>
            </a:r>
            <a:r>
              <a:rPr lang="en-IN" dirty="0">
                <a:solidFill>
                  <a:srgbClr val="C00000"/>
                </a:solidFill>
              </a:rPr>
              <a:t> </a:t>
            </a:r>
            <a:r>
              <a:rPr lang="en-IN" dirty="0"/>
              <a:t>is pointer variable pointing to Predecessor of a node.</a:t>
            </a:r>
          </a:p>
          <a:p>
            <a:r>
              <a:rPr lang="en-IN" b="1" dirty="0">
                <a:solidFill>
                  <a:srgbClr val="C00000"/>
                </a:solidFill>
              </a:rPr>
              <a:t>RPTR</a:t>
            </a:r>
            <a:r>
              <a:rPr lang="en-IN" dirty="0">
                <a:solidFill>
                  <a:srgbClr val="C00000"/>
                </a:solidFill>
              </a:rPr>
              <a:t> </a:t>
            </a:r>
            <a:r>
              <a:rPr lang="en-IN" dirty="0"/>
              <a:t>is pointer variable pointing to Successor of a node.</a:t>
            </a:r>
          </a:p>
          <a:p>
            <a:r>
              <a:rPr lang="en-IN" b="1" dirty="0">
                <a:solidFill>
                  <a:srgbClr val="C00000"/>
                </a:solidFill>
              </a:rPr>
              <a:t>L</a:t>
            </a:r>
            <a:r>
              <a:rPr lang="en-IN" dirty="0">
                <a:solidFill>
                  <a:srgbClr val="C00000"/>
                </a:solidFill>
              </a:rPr>
              <a:t> </a:t>
            </a:r>
            <a:r>
              <a:rPr lang="en-IN" dirty="0"/>
              <a:t>&amp; </a:t>
            </a:r>
            <a:r>
              <a:rPr lang="en-IN" b="1" dirty="0">
                <a:solidFill>
                  <a:srgbClr val="C00000"/>
                </a:solidFill>
              </a:rPr>
              <a:t>R</a:t>
            </a:r>
            <a:r>
              <a:rPr lang="en-IN" dirty="0">
                <a:solidFill>
                  <a:srgbClr val="C00000"/>
                </a:solidFill>
              </a:rPr>
              <a:t> </a:t>
            </a:r>
            <a:r>
              <a:rPr lang="en-IN" dirty="0"/>
              <a:t>are pointer variables pointing for Leftmost and Rightmost node of Linked List.</a:t>
            </a:r>
          </a:p>
          <a:p>
            <a:endParaRPr lang="en-IN" dirty="0"/>
          </a:p>
          <a:p>
            <a:endParaRPr lang="en-US" dirty="0"/>
          </a:p>
          <a:p>
            <a:endParaRPr lang="en-US" dirty="0"/>
          </a:p>
          <a:p>
            <a:endParaRPr lang="en-US" dirty="0"/>
          </a:p>
        </p:txBody>
      </p:sp>
    </p:spTree>
    <p:extLst>
      <p:ext uri="{BB962C8B-B14F-4D97-AF65-F5344CB8AC3E}">
        <p14:creationId xmlns:p14="http://schemas.microsoft.com/office/powerpoint/2010/main" val="1277148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Delete from Doubly Linked List</a:t>
            </a:r>
            <a:endParaRPr lang="en-US" dirty="0"/>
          </a:p>
        </p:txBody>
      </p:sp>
      <p:grpSp>
        <p:nvGrpSpPr>
          <p:cNvPr id="4" name="Group 3"/>
          <p:cNvGrpSpPr/>
          <p:nvPr/>
        </p:nvGrpSpPr>
        <p:grpSpPr>
          <a:xfrm>
            <a:off x="2362200" y="2997200"/>
            <a:ext cx="1066800" cy="381000"/>
            <a:chOff x="304800" y="4191000"/>
            <a:chExt cx="1066800" cy="381000"/>
          </a:xfrm>
        </p:grpSpPr>
        <p:sp>
          <p:nvSpPr>
            <p:cNvPr id="5" name="Rectangle 4"/>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6" name="Rectangle 5"/>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7" name="Rectangle 6"/>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8" name="Group 7"/>
          <p:cNvGrpSpPr/>
          <p:nvPr/>
        </p:nvGrpSpPr>
        <p:grpSpPr>
          <a:xfrm>
            <a:off x="5562600" y="2997200"/>
            <a:ext cx="1066800" cy="381000"/>
            <a:chOff x="304800" y="4191000"/>
            <a:chExt cx="1066800" cy="381000"/>
          </a:xfrm>
        </p:grpSpPr>
        <p:sp>
          <p:nvSpPr>
            <p:cNvPr id="9" name="Rectangle 8"/>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0" name="Rectangle 9"/>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1" name="Rectangle 10"/>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12" name="Group 11"/>
          <p:cNvGrpSpPr/>
          <p:nvPr/>
        </p:nvGrpSpPr>
        <p:grpSpPr>
          <a:xfrm>
            <a:off x="7162800" y="2997200"/>
            <a:ext cx="1066800" cy="381000"/>
            <a:chOff x="304800" y="4191000"/>
            <a:chExt cx="1066800" cy="381000"/>
          </a:xfrm>
        </p:grpSpPr>
        <p:sp>
          <p:nvSpPr>
            <p:cNvPr id="13" name="Rectangle 12"/>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4" name="Rectangle 13"/>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5" name="Rectangle 14"/>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16" name="Group 15"/>
          <p:cNvGrpSpPr/>
          <p:nvPr/>
        </p:nvGrpSpPr>
        <p:grpSpPr>
          <a:xfrm>
            <a:off x="8763000" y="2997200"/>
            <a:ext cx="1066800" cy="381000"/>
            <a:chOff x="304800" y="4191000"/>
            <a:chExt cx="1066800" cy="381000"/>
          </a:xfrm>
        </p:grpSpPr>
        <p:sp>
          <p:nvSpPr>
            <p:cNvPr id="17" name="Rectangle 16"/>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8" name="Rectangle 17"/>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9" name="Rectangle 18"/>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cxnSp>
        <p:nvCxnSpPr>
          <p:cNvPr id="21" name="Straight Arrow Connector 20"/>
          <p:cNvCxnSpPr/>
          <p:nvPr/>
        </p:nvCxnSpPr>
        <p:spPr>
          <a:xfrm>
            <a:off x="6629400" y="3073400"/>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2" name="Straight Arrow Connector 21"/>
          <p:cNvCxnSpPr/>
          <p:nvPr/>
        </p:nvCxnSpPr>
        <p:spPr>
          <a:xfrm>
            <a:off x="8229600" y="3073400"/>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3" name="Straight Arrow Connector 22"/>
          <p:cNvCxnSpPr/>
          <p:nvPr/>
        </p:nvCxnSpPr>
        <p:spPr>
          <a:xfrm>
            <a:off x="8229600" y="3302000"/>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24" name="Straight Arrow Connector 23"/>
          <p:cNvCxnSpPr/>
          <p:nvPr/>
        </p:nvCxnSpPr>
        <p:spPr>
          <a:xfrm>
            <a:off x="6629400" y="3302000"/>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26" name="Straight Connector 25"/>
          <p:cNvCxnSpPr/>
          <p:nvPr/>
        </p:nvCxnSpPr>
        <p:spPr>
          <a:xfrm flipV="1">
            <a:off x="9525000" y="2997200"/>
            <a:ext cx="304800" cy="381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7" name="Straight Connector 26"/>
          <p:cNvCxnSpPr/>
          <p:nvPr/>
        </p:nvCxnSpPr>
        <p:spPr>
          <a:xfrm flipH="1">
            <a:off x="2362200" y="2997200"/>
            <a:ext cx="304800" cy="381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28" name="TextBox 27"/>
          <p:cNvSpPr txBox="1"/>
          <p:nvPr/>
        </p:nvSpPr>
        <p:spPr>
          <a:xfrm>
            <a:off x="2364753" y="3618468"/>
            <a:ext cx="295274" cy="369332"/>
          </a:xfrm>
          <a:prstGeom prst="rect">
            <a:avLst/>
          </a:prstGeom>
          <a:noFill/>
        </p:spPr>
        <p:txBody>
          <a:bodyPr wrap="none" rtlCol="0">
            <a:spAutoFit/>
          </a:bodyPr>
          <a:lstStyle/>
          <a:p>
            <a:pPr algn="ctr"/>
            <a:r>
              <a:rPr lang="en-IN" b="1" dirty="0"/>
              <a:t>L</a:t>
            </a:r>
            <a:endParaRPr lang="en-US" b="1" dirty="0"/>
          </a:p>
        </p:txBody>
      </p:sp>
      <p:sp>
        <p:nvSpPr>
          <p:cNvPr id="29" name="TextBox 28"/>
          <p:cNvSpPr txBox="1"/>
          <p:nvPr/>
        </p:nvSpPr>
        <p:spPr>
          <a:xfrm>
            <a:off x="9515290" y="3606800"/>
            <a:ext cx="314510" cy="369332"/>
          </a:xfrm>
          <a:prstGeom prst="rect">
            <a:avLst/>
          </a:prstGeom>
          <a:noFill/>
        </p:spPr>
        <p:txBody>
          <a:bodyPr wrap="none" rtlCol="0">
            <a:spAutoFit/>
          </a:bodyPr>
          <a:lstStyle/>
          <a:p>
            <a:pPr algn="ctr"/>
            <a:r>
              <a:rPr lang="en-IN" b="1" dirty="0"/>
              <a:t>R</a:t>
            </a:r>
            <a:endParaRPr lang="en-US" b="1" dirty="0"/>
          </a:p>
        </p:txBody>
      </p:sp>
      <p:cxnSp>
        <p:nvCxnSpPr>
          <p:cNvPr id="30" name="Straight Arrow Connector 29"/>
          <p:cNvCxnSpPr>
            <a:stCxn id="28" idx="0"/>
            <a:endCxn id="6" idx="2"/>
          </p:cNvCxnSpPr>
          <p:nvPr/>
        </p:nvCxnSpPr>
        <p:spPr>
          <a:xfrm flipV="1">
            <a:off x="2512390" y="3378200"/>
            <a:ext cx="2210" cy="2402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1" name="Straight Arrow Connector 30"/>
          <p:cNvCxnSpPr/>
          <p:nvPr/>
        </p:nvCxnSpPr>
        <p:spPr>
          <a:xfrm flipV="1">
            <a:off x="9675190" y="3378200"/>
            <a:ext cx="2210" cy="2402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33" name="Group 32"/>
          <p:cNvGrpSpPr/>
          <p:nvPr/>
        </p:nvGrpSpPr>
        <p:grpSpPr>
          <a:xfrm>
            <a:off x="3962400" y="2997200"/>
            <a:ext cx="1066800" cy="381000"/>
            <a:chOff x="304800" y="4191000"/>
            <a:chExt cx="1066800" cy="381000"/>
          </a:xfrm>
        </p:grpSpPr>
        <p:sp>
          <p:nvSpPr>
            <p:cNvPr id="34" name="Rectangle 33"/>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35" name="Rectangle 34"/>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36" name="Rectangle 35"/>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cxnSp>
        <p:nvCxnSpPr>
          <p:cNvPr id="41" name="Straight Arrow Connector 40"/>
          <p:cNvCxnSpPr/>
          <p:nvPr/>
        </p:nvCxnSpPr>
        <p:spPr>
          <a:xfrm>
            <a:off x="3429000" y="3073400"/>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2" name="Straight Arrow Connector 41"/>
          <p:cNvCxnSpPr/>
          <p:nvPr/>
        </p:nvCxnSpPr>
        <p:spPr>
          <a:xfrm>
            <a:off x="5029200" y="3073400"/>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5" name="Straight Arrow Connector 44"/>
          <p:cNvCxnSpPr/>
          <p:nvPr/>
        </p:nvCxnSpPr>
        <p:spPr>
          <a:xfrm>
            <a:off x="5029200" y="3302000"/>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46" name="Straight Arrow Connector 45"/>
          <p:cNvCxnSpPr/>
          <p:nvPr/>
        </p:nvCxnSpPr>
        <p:spPr>
          <a:xfrm>
            <a:off x="3429000" y="3302000"/>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sp>
        <p:nvSpPr>
          <p:cNvPr id="47" name="TextBox 46"/>
          <p:cNvSpPr txBox="1"/>
          <p:nvPr/>
        </p:nvSpPr>
        <p:spPr>
          <a:xfrm>
            <a:off x="5804093" y="2619986"/>
            <a:ext cx="583814" cy="369332"/>
          </a:xfrm>
          <a:prstGeom prst="rect">
            <a:avLst/>
          </a:prstGeom>
          <a:noFill/>
        </p:spPr>
        <p:txBody>
          <a:bodyPr wrap="none" rtlCol="0">
            <a:spAutoFit/>
          </a:bodyPr>
          <a:lstStyle/>
          <a:p>
            <a:pPr algn="ctr"/>
            <a:r>
              <a:rPr lang="en-IN" b="1" dirty="0"/>
              <a:t>OLD</a:t>
            </a:r>
            <a:endParaRPr lang="en-US" b="1" dirty="0"/>
          </a:p>
        </p:txBody>
      </p:sp>
      <p:sp>
        <p:nvSpPr>
          <p:cNvPr id="48" name="TextBox 47"/>
          <p:cNvSpPr txBox="1"/>
          <p:nvPr/>
        </p:nvSpPr>
        <p:spPr>
          <a:xfrm>
            <a:off x="2590800" y="2640584"/>
            <a:ext cx="583814" cy="369332"/>
          </a:xfrm>
          <a:prstGeom prst="rect">
            <a:avLst/>
          </a:prstGeom>
          <a:noFill/>
        </p:spPr>
        <p:txBody>
          <a:bodyPr wrap="none" rtlCol="0">
            <a:spAutoFit/>
          </a:bodyPr>
          <a:lstStyle/>
          <a:p>
            <a:pPr algn="ctr"/>
            <a:r>
              <a:rPr lang="en-IN" b="1" dirty="0"/>
              <a:t>OLD</a:t>
            </a:r>
            <a:endParaRPr lang="en-US" b="1" dirty="0"/>
          </a:p>
        </p:txBody>
      </p:sp>
      <p:sp>
        <p:nvSpPr>
          <p:cNvPr id="49" name="TextBox 48"/>
          <p:cNvSpPr txBox="1"/>
          <p:nvPr/>
        </p:nvSpPr>
        <p:spPr>
          <a:xfrm>
            <a:off x="9017386" y="2627868"/>
            <a:ext cx="583814" cy="369332"/>
          </a:xfrm>
          <a:prstGeom prst="rect">
            <a:avLst/>
          </a:prstGeom>
          <a:noFill/>
        </p:spPr>
        <p:txBody>
          <a:bodyPr wrap="none" rtlCol="0">
            <a:spAutoFit/>
          </a:bodyPr>
          <a:lstStyle/>
          <a:p>
            <a:pPr algn="ctr"/>
            <a:r>
              <a:rPr lang="en-IN" b="1" dirty="0"/>
              <a:t>OLD</a:t>
            </a:r>
            <a:endParaRPr lang="en-US" b="1" dirty="0"/>
          </a:p>
        </p:txBody>
      </p:sp>
      <p:grpSp>
        <p:nvGrpSpPr>
          <p:cNvPr id="50" name="Group 49"/>
          <p:cNvGrpSpPr/>
          <p:nvPr/>
        </p:nvGrpSpPr>
        <p:grpSpPr>
          <a:xfrm>
            <a:off x="4613434" y="1219200"/>
            <a:ext cx="1066800" cy="381000"/>
            <a:chOff x="304800" y="4191000"/>
            <a:chExt cx="1066800" cy="381000"/>
          </a:xfrm>
        </p:grpSpPr>
        <p:sp>
          <p:nvSpPr>
            <p:cNvPr id="51" name="Rectangle 50"/>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10</a:t>
              </a:r>
              <a:endParaRPr lang="en-US" sz="2000" b="1" dirty="0"/>
            </a:p>
          </p:txBody>
        </p:sp>
        <p:sp>
          <p:nvSpPr>
            <p:cNvPr id="52" name="Rectangle 51"/>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53" name="Rectangle 52"/>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sp>
        <p:nvSpPr>
          <p:cNvPr id="54" name="TextBox 53"/>
          <p:cNvSpPr txBox="1"/>
          <p:nvPr/>
        </p:nvSpPr>
        <p:spPr>
          <a:xfrm>
            <a:off x="4877845" y="1611868"/>
            <a:ext cx="583814" cy="369332"/>
          </a:xfrm>
          <a:prstGeom prst="rect">
            <a:avLst/>
          </a:prstGeom>
          <a:noFill/>
        </p:spPr>
        <p:txBody>
          <a:bodyPr wrap="none" rtlCol="0">
            <a:spAutoFit/>
          </a:bodyPr>
          <a:lstStyle/>
          <a:p>
            <a:pPr algn="ctr"/>
            <a:r>
              <a:rPr lang="en-IN" b="1" dirty="0"/>
              <a:t>OLD</a:t>
            </a:r>
            <a:endParaRPr lang="en-US" b="1" dirty="0"/>
          </a:p>
        </p:txBody>
      </p:sp>
      <p:cxnSp>
        <p:nvCxnSpPr>
          <p:cNvPr id="55" name="Straight Connector 54"/>
          <p:cNvCxnSpPr/>
          <p:nvPr/>
        </p:nvCxnSpPr>
        <p:spPr>
          <a:xfrm flipH="1">
            <a:off x="4608952" y="1230868"/>
            <a:ext cx="304800" cy="3810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56" name="Straight Connector 55"/>
          <p:cNvCxnSpPr/>
          <p:nvPr/>
        </p:nvCxnSpPr>
        <p:spPr>
          <a:xfrm flipH="1">
            <a:off x="5375434" y="1219200"/>
            <a:ext cx="304800" cy="3810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sp>
        <p:nvSpPr>
          <p:cNvPr id="57" name="TextBox 56"/>
          <p:cNvSpPr txBox="1"/>
          <p:nvPr/>
        </p:nvSpPr>
        <p:spPr>
          <a:xfrm>
            <a:off x="4602540" y="1809105"/>
            <a:ext cx="295274" cy="369332"/>
          </a:xfrm>
          <a:prstGeom prst="rect">
            <a:avLst/>
          </a:prstGeom>
          <a:noFill/>
        </p:spPr>
        <p:txBody>
          <a:bodyPr wrap="none" rtlCol="0">
            <a:spAutoFit/>
          </a:bodyPr>
          <a:lstStyle/>
          <a:p>
            <a:pPr algn="ctr"/>
            <a:r>
              <a:rPr lang="en-IN" b="1" dirty="0"/>
              <a:t>L</a:t>
            </a:r>
            <a:endParaRPr lang="en-US" b="1" dirty="0"/>
          </a:p>
        </p:txBody>
      </p:sp>
      <p:cxnSp>
        <p:nvCxnSpPr>
          <p:cNvPr id="58" name="Straight Arrow Connector 57"/>
          <p:cNvCxnSpPr>
            <a:stCxn id="57" idx="0"/>
          </p:cNvCxnSpPr>
          <p:nvPr/>
        </p:nvCxnSpPr>
        <p:spPr>
          <a:xfrm flipV="1">
            <a:off x="4750177" y="1568837"/>
            <a:ext cx="2210" cy="2402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59" name="TextBox 58"/>
          <p:cNvSpPr txBox="1"/>
          <p:nvPr/>
        </p:nvSpPr>
        <p:spPr>
          <a:xfrm>
            <a:off x="5434890" y="1809105"/>
            <a:ext cx="314510" cy="369332"/>
          </a:xfrm>
          <a:prstGeom prst="rect">
            <a:avLst/>
          </a:prstGeom>
          <a:noFill/>
        </p:spPr>
        <p:txBody>
          <a:bodyPr wrap="none" rtlCol="0">
            <a:spAutoFit/>
          </a:bodyPr>
          <a:lstStyle/>
          <a:p>
            <a:pPr algn="ctr"/>
            <a:r>
              <a:rPr lang="en-IN" b="1" dirty="0"/>
              <a:t>R</a:t>
            </a:r>
            <a:endParaRPr lang="en-US" b="1" dirty="0"/>
          </a:p>
        </p:txBody>
      </p:sp>
      <p:cxnSp>
        <p:nvCxnSpPr>
          <p:cNvPr id="60" name="Straight Arrow Connector 59"/>
          <p:cNvCxnSpPr>
            <a:stCxn id="59" idx="0"/>
          </p:cNvCxnSpPr>
          <p:nvPr/>
        </p:nvCxnSpPr>
        <p:spPr>
          <a:xfrm flipV="1">
            <a:off x="5592145" y="1568837"/>
            <a:ext cx="2210" cy="2402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63" name="TextBox 62"/>
          <p:cNvSpPr txBox="1"/>
          <p:nvPr/>
        </p:nvSpPr>
        <p:spPr>
          <a:xfrm>
            <a:off x="6352735" y="1295400"/>
            <a:ext cx="1580882" cy="369332"/>
          </a:xfrm>
          <a:prstGeom prst="rect">
            <a:avLst/>
          </a:prstGeom>
          <a:noFill/>
        </p:spPr>
        <p:txBody>
          <a:bodyPr wrap="none" rtlCol="0">
            <a:spAutoFit/>
          </a:bodyPr>
          <a:lstStyle/>
          <a:p>
            <a:pPr algn="ctr"/>
            <a:r>
              <a:rPr lang="en-IN" b="1" dirty="0"/>
              <a:t>L </a:t>
            </a:r>
            <a:r>
              <a:rPr lang="en-IN" b="1" dirty="0">
                <a:sym typeface="Wingdings" pitchFamily="2" charset="2"/>
              </a:rPr>
              <a:t> R  NULL</a:t>
            </a:r>
            <a:endParaRPr lang="en-US" b="1" dirty="0"/>
          </a:p>
        </p:txBody>
      </p:sp>
      <p:sp>
        <p:nvSpPr>
          <p:cNvPr id="64" name="TextBox 63"/>
          <p:cNvSpPr txBox="1"/>
          <p:nvPr/>
        </p:nvSpPr>
        <p:spPr>
          <a:xfrm>
            <a:off x="1524001" y="4368801"/>
            <a:ext cx="1827039" cy="646331"/>
          </a:xfrm>
          <a:prstGeom prst="rect">
            <a:avLst/>
          </a:prstGeom>
          <a:noFill/>
        </p:spPr>
        <p:txBody>
          <a:bodyPr wrap="none" rtlCol="0">
            <a:spAutoFit/>
          </a:bodyPr>
          <a:lstStyle/>
          <a:p>
            <a:r>
              <a:rPr lang="en-IN" b="1" dirty="0"/>
              <a:t>L </a:t>
            </a:r>
            <a:r>
              <a:rPr lang="en-IN" b="1" dirty="0">
                <a:sym typeface="Wingdings" pitchFamily="2" charset="2"/>
              </a:rPr>
              <a:t></a:t>
            </a:r>
            <a:r>
              <a:rPr lang="en-IN" b="1" dirty="0"/>
              <a:t> RPTR(L)</a:t>
            </a:r>
          </a:p>
          <a:p>
            <a:r>
              <a:rPr lang="en-IN" b="1" dirty="0"/>
              <a:t>LPTR (L) </a:t>
            </a:r>
            <a:r>
              <a:rPr lang="en-IN" b="1" dirty="0">
                <a:sym typeface="Wingdings" pitchFamily="2" charset="2"/>
              </a:rPr>
              <a:t></a:t>
            </a:r>
            <a:r>
              <a:rPr lang="en-IN" b="1" dirty="0"/>
              <a:t> NULL</a:t>
            </a:r>
          </a:p>
        </p:txBody>
      </p:sp>
      <p:sp>
        <p:nvSpPr>
          <p:cNvPr id="65" name="TextBox 64"/>
          <p:cNvSpPr txBox="1"/>
          <p:nvPr/>
        </p:nvSpPr>
        <p:spPr>
          <a:xfrm>
            <a:off x="8840962" y="4368801"/>
            <a:ext cx="1854995" cy="646331"/>
          </a:xfrm>
          <a:prstGeom prst="rect">
            <a:avLst/>
          </a:prstGeom>
          <a:noFill/>
        </p:spPr>
        <p:txBody>
          <a:bodyPr wrap="none" rtlCol="0">
            <a:spAutoFit/>
          </a:bodyPr>
          <a:lstStyle/>
          <a:p>
            <a:r>
              <a:rPr lang="en-IN" b="1" dirty="0"/>
              <a:t>R </a:t>
            </a:r>
            <a:r>
              <a:rPr lang="en-IN" b="1" dirty="0">
                <a:sym typeface="Wingdings" pitchFamily="2" charset="2"/>
              </a:rPr>
              <a:t></a:t>
            </a:r>
            <a:r>
              <a:rPr lang="en-IN" b="1" dirty="0"/>
              <a:t> LPTR(R)</a:t>
            </a:r>
          </a:p>
          <a:p>
            <a:r>
              <a:rPr lang="en-IN" b="1" dirty="0"/>
              <a:t>RPTR (R) </a:t>
            </a:r>
            <a:r>
              <a:rPr lang="en-IN" b="1" dirty="0">
                <a:sym typeface="Wingdings" pitchFamily="2" charset="2"/>
              </a:rPr>
              <a:t></a:t>
            </a:r>
            <a:r>
              <a:rPr lang="en-IN" b="1" dirty="0"/>
              <a:t> NULL</a:t>
            </a:r>
          </a:p>
        </p:txBody>
      </p:sp>
      <p:sp>
        <p:nvSpPr>
          <p:cNvPr id="66" name="TextBox 65"/>
          <p:cNvSpPr txBox="1"/>
          <p:nvPr/>
        </p:nvSpPr>
        <p:spPr>
          <a:xfrm>
            <a:off x="4572001" y="4673600"/>
            <a:ext cx="3231975" cy="369332"/>
          </a:xfrm>
          <a:prstGeom prst="rect">
            <a:avLst/>
          </a:prstGeom>
          <a:noFill/>
        </p:spPr>
        <p:txBody>
          <a:bodyPr wrap="none" rtlCol="0">
            <a:spAutoFit/>
          </a:bodyPr>
          <a:lstStyle/>
          <a:p>
            <a:r>
              <a:rPr lang="en-IN" b="1" dirty="0"/>
              <a:t>LPTR(RTRP(OLD)) </a:t>
            </a:r>
            <a:r>
              <a:rPr lang="en-IN" b="1" dirty="0">
                <a:sym typeface="Wingdings" pitchFamily="2" charset="2"/>
              </a:rPr>
              <a:t> LPTR(OLD)</a:t>
            </a:r>
            <a:endParaRPr lang="en-IN" b="1" dirty="0"/>
          </a:p>
        </p:txBody>
      </p:sp>
      <p:sp>
        <p:nvSpPr>
          <p:cNvPr id="67" name="Freeform 66"/>
          <p:cNvSpPr/>
          <p:nvPr/>
        </p:nvSpPr>
        <p:spPr>
          <a:xfrm>
            <a:off x="4901184" y="2396744"/>
            <a:ext cx="2389632" cy="585216"/>
          </a:xfrm>
          <a:custGeom>
            <a:avLst/>
            <a:gdLst>
              <a:gd name="connsiteX0" fmla="*/ 0 w 2389632"/>
              <a:gd name="connsiteY0" fmla="*/ 585216 h 585216"/>
              <a:gd name="connsiteX1" fmla="*/ 0 w 2389632"/>
              <a:gd name="connsiteY1" fmla="*/ 0 h 585216"/>
              <a:gd name="connsiteX2" fmla="*/ 2389632 w 2389632"/>
              <a:gd name="connsiteY2" fmla="*/ 0 h 585216"/>
              <a:gd name="connsiteX3" fmla="*/ 2389632 w 2389632"/>
              <a:gd name="connsiteY3" fmla="*/ 585216 h 585216"/>
            </a:gdLst>
            <a:ahLst/>
            <a:cxnLst>
              <a:cxn ang="0">
                <a:pos x="connsiteX0" y="connsiteY0"/>
              </a:cxn>
              <a:cxn ang="0">
                <a:pos x="connsiteX1" y="connsiteY1"/>
              </a:cxn>
              <a:cxn ang="0">
                <a:pos x="connsiteX2" y="connsiteY2"/>
              </a:cxn>
              <a:cxn ang="0">
                <a:pos x="connsiteX3" y="connsiteY3"/>
              </a:cxn>
            </a:cxnLst>
            <a:rect l="l" t="t" r="r" b="b"/>
            <a:pathLst>
              <a:path w="2389632" h="585216">
                <a:moveTo>
                  <a:pt x="0" y="585216"/>
                </a:moveTo>
                <a:lnTo>
                  <a:pt x="0" y="0"/>
                </a:lnTo>
                <a:lnTo>
                  <a:pt x="2389632" y="0"/>
                </a:lnTo>
                <a:lnTo>
                  <a:pt x="2389632" y="585216"/>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68" name="Freeform 67"/>
          <p:cNvSpPr/>
          <p:nvPr/>
        </p:nvSpPr>
        <p:spPr>
          <a:xfrm>
            <a:off x="4913376" y="3372104"/>
            <a:ext cx="2401824" cy="512064"/>
          </a:xfrm>
          <a:custGeom>
            <a:avLst/>
            <a:gdLst>
              <a:gd name="connsiteX0" fmla="*/ 2401824 w 2401824"/>
              <a:gd name="connsiteY0" fmla="*/ 12192 h 512064"/>
              <a:gd name="connsiteX1" fmla="*/ 2401824 w 2401824"/>
              <a:gd name="connsiteY1" fmla="*/ 512064 h 512064"/>
              <a:gd name="connsiteX2" fmla="*/ 0 w 2401824"/>
              <a:gd name="connsiteY2" fmla="*/ 512064 h 512064"/>
              <a:gd name="connsiteX3" fmla="*/ 0 w 2401824"/>
              <a:gd name="connsiteY3" fmla="*/ 0 h 512064"/>
            </a:gdLst>
            <a:ahLst/>
            <a:cxnLst>
              <a:cxn ang="0">
                <a:pos x="connsiteX0" y="connsiteY0"/>
              </a:cxn>
              <a:cxn ang="0">
                <a:pos x="connsiteX1" y="connsiteY1"/>
              </a:cxn>
              <a:cxn ang="0">
                <a:pos x="connsiteX2" y="connsiteY2"/>
              </a:cxn>
              <a:cxn ang="0">
                <a:pos x="connsiteX3" y="connsiteY3"/>
              </a:cxn>
            </a:cxnLst>
            <a:rect l="l" t="t" r="r" b="b"/>
            <a:pathLst>
              <a:path w="2401824" h="512064">
                <a:moveTo>
                  <a:pt x="2401824" y="12192"/>
                </a:moveTo>
                <a:lnTo>
                  <a:pt x="2401824" y="512064"/>
                </a:lnTo>
                <a:lnTo>
                  <a:pt x="0" y="512064"/>
                </a:lnTo>
                <a:lnTo>
                  <a:pt x="0" y="0"/>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69" name="TextBox 68"/>
          <p:cNvSpPr txBox="1"/>
          <p:nvPr/>
        </p:nvSpPr>
        <p:spPr>
          <a:xfrm>
            <a:off x="4572000" y="4368800"/>
            <a:ext cx="3249608" cy="369332"/>
          </a:xfrm>
          <a:prstGeom prst="rect">
            <a:avLst/>
          </a:prstGeom>
          <a:noFill/>
        </p:spPr>
        <p:txBody>
          <a:bodyPr wrap="none" rtlCol="0">
            <a:spAutoFit/>
          </a:bodyPr>
          <a:lstStyle/>
          <a:p>
            <a:r>
              <a:rPr lang="en-IN" b="1" dirty="0"/>
              <a:t>RPTR(LTRP(OLD)) </a:t>
            </a:r>
            <a:r>
              <a:rPr lang="en-IN" b="1" dirty="0">
                <a:sym typeface="Wingdings" pitchFamily="2" charset="2"/>
              </a:rPr>
              <a:t> RPTR(OLD)</a:t>
            </a:r>
            <a:endParaRPr lang="en-IN" b="1" dirty="0"/>
          </a:p>
        </p:txBody>
      </p:sp>
      <p:sp>
        <p:nvSpPr>
          <p:cNvPr id="70" name="TextBox 69"/>
          <p:cNvSpPr txBox="1"/>
          <p:nvPr/>
        </p:nvSpPr>
        <p:spPr>
          <a:xfrm>
            <a:off x="3902138" y="3618468"/>
            <a:ext cx="295274" cy="369332"/>
          </a:xfrm>
          <a:prstGeom prst="rect">
            <a:avLst/>
          </a:prstGeom>
          <a:noFill/>
        </p:spPr>
        <p:txBody>
          <a:bodyPr wrap="none" rtlCol="0">
            <a:spAutoFit/>
          </a:bodyPr>
          <a:lstStyle/>
          <a:p>
            <a:pPr algn="ctr"/>
            <a:r>
              <a:rPr lang="en-IN" b="1" dirty="0"/>
              <a:t>L</a:t>
            </a:r>
            <a:endParaRPr lang="en-US" b="1" dirty="0"/>
          </a:p>
        </p:txBody>
      </p:sp>
      <p:cxnSp>
        <p:nvCxnSpPr>
          <p:cNvPr id="71" name="Straight Arrow Connector 70"/>
          <p:cNvCxnSpPr>
            <a:stCxn id="70" idx="0"/>
          </p:cNvCxnSpPr>
          <p:nvPr/>
        </p:nvCxnSpPr>
        <p:spPr>
          <a:xfrm flipV="1">
            <a:off x="4049775" y="3378200"/>
            <a:ext cx="2210" cy="2402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72" name="Straight Connector 71"/>
          <p:cNvCxnSpPr/>
          <p:nvPr/>
        </p:nvCxnSpPr>
        <p:spPr>
          <a:xfrm flipH="1">
            <a:off x="3947160" y="3001772"/>
            <a:ext cx="304800" cy="381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73" name="TextBox 72"/>
          <p:cNvSpPr txBox="1"/>
          <p:nvPr/>
        </p:nvSpPr>
        <p:spPr>
          <a:xfrm>
            <a:off x="7924800" y="3606800"/>
            <a:ext cx="314510" cy="369332"/>
          </a:xfrm>
          <a:prstGeom prst="rect">
            <a:avLst/>
          </a:prstGeom>
          <a:noFill/>
        </p:spPr>
        <p:txBody>
          <a:bodyPr wrap="none" rtlCol="0">
            <a:spAutoFit/>
          </a:bodyPr>
          <a:lstStyle/>
          <a:p>
            <a:pPr algn="ctr"/>
            <a:r>
              <a:rPr lang="en-IN" b="1" dirty="0"/>
              <a:t>R</a:t>
            </a:r>
            <a:endParaRPr lang="en-US" b="1" dirty="0"/>
          </a:p>
        </p:txBody>
      </p:sp>
      <p:cxnSp>
        <p:nvCxnSpPr>
          <p:cNvPr id="74" name="Straight Arrow Connector 73"/>
          <p:cNvCxnSpPr/>
          <p:nvPr/>
        </p:nvCxnSpPr>
        <p:spPr>
          <a:xfrm flipV="1">
            <a:off x="8084700" y="3378200"/>
            <a:ext cx="2210" cy="2402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75" name="Straight Connector 74"/>
          <p:cNvCxnSpPr/>
          <p:nvPr/>
        </p:nvCxnSpPr>
        <p:spPr>
          <a:xfrm flipV="1">
            <a:off x="7924800" y="2989318"/>
            <a:ext cx="304800" cy="381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889235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1"/>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5"/>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64"/>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xit" presetSubtype="0" fill="hold" grpId="1" nodeType="clickEffect">
                                  <p:stCondLst>
                                    <p:cond delay="0"/>
                                  </p:stCondLst>
                                  <p:childTnLst>
                                    <p:set>
                                      <p:cBhvr>
                                        <p:cTn id="76" dur="1" fill="hold">
                                          <p:stCondLst>
                                            <p:cond delay="0"/>
                                          </p:stCondLst>
                                        </p:cTn>
                                        <p:tgtEl>
                                          <p:spTgt spid="28"/>
                                        </p:tgtEl>
                                        <p:attrNameLst>
                                          <p:attrName>style.visibility</p:attrName>
                                        </p:attrNameLst>
                                      </p:cBhvr>
                                      <p:to>
                                        <p:strVal val="hidden"/>
                                      </p:to>
                                    </p:set>
                                  </p:childTnLst>
                                </p:cTn>
                              </p:par>
                              <p:par>
                                <p:cTn id="77" presetID="1" presetClass="exit" presetSubtype="0" fill="hold" nodeType="withEffect">
                                  <p:stCondLst>
                                    <p:cond delay="0"/>
                                  </p:stCondLst>
                                  <p:childTnLst>
                                    <p:set>
                                      <p:cBhvr>
                                        <p:cTn id="78" dur="1" fill="hold">
                                          <p:stCondLst>
                                            <p:cond delay="0"/>
                                          </p:stCondLst>
                                        </p:cTn>
                                        <p:tgtEl>
                                          <p:spTgt spid="30"/>
                                        </p:tgtEl>
                                        <p:attrNameLst>
                                          <p:attrName>style.visibility</p:attrName>
                                        </p:attrNameLst>
                                      </p:cBhvr>
                                      <p:to>
                                        <p:strVal val="hidden"/>
                                      </p:to>
                                    </p:set>
                                  </p:childTnLst>
                                </p:cTn>
                              </p:par>
                              <p:par>
                                <p:cTn id="79" presetID="1" presetClass="entr" presetSubtype="0" fill="hold" nodeType="withEffect">
                                  <p:stCondLst>
                                    <p:cond delay="0"/>
                                  </p:stCondLst>
                                  <p:childTnLst>
                                    <p:set>
                                      <p:cBhvr>
                                        <p:cTn id="80" dur="1" fill="hold">
                                          <p:stCondLst>
                                            <p:cond delay="0"/>
                                          </p:stCondLst>
                                        </p:cTn>
                                        <p:tgtEl>
                                          <p:spTgt spid="7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70"/>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xit" presetSubtype="0" fill="hold" nodeType="clickEffect">
                                  <p:stCondLst>
                                    <p:cond delay="0"/>
                                  </p:stCondLst>
                                  <p:childTnLst>
                                    <p:set>
                                      <p:cBhvr>
                                        <p:cTn id="86" dur="1" fill="hold">
                                          <p:stCondLst>
                                            <p:cond delay="0"/>
                                          </p:stCondLst>
                                        </p:cTn>
                                        <p:tgtEl>
                                          <p:spTgt spid="27"/>
                                        </p:tgtEl>
                                        <p:attrNameLst>
                                          <p:attrName>style.visibility</p:attrName>
                                        </p:attrNameLst>
                                      </p:cBhvr>
                                      <p:to>
                                        <p:strVal val="hidden"/>
                                      </p:to>
                                    </p:set>
                                  </p:childTnLst>
                                </p:cTn>
                              </p:par>
                              <p:par>
                                <p:cTn id="87" presetID="1" presetClass="entr" presetSubtype="0" fill="hold" nodeType="withEffect">
                                  <p:stCondLst>
                                    <p:cond delay="0"/>
                                  </p:stCondLst>
                                  <p:childTnLst>
                                    <p:set>
                                      <p:cBhvr>
                                        <p:cTn id="88" dur="1" fill="hold">
                                          <p:stCondLst>
                                            <p:cond delay="0"/>
                                          </p:stCondLst>
                                        </p:cTn>
                                        <p:tgtEl>
                                          <p:spTgt spid="72"/>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49"/>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65"/>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7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73"/>
                                        </p:tgtEl>
                                        <p:attrNameLst>
                                          <p:attrName>style.visibility</p:attrName>
                                        </p:attrNameLst>
                                      </p:cBhvr>
                                      <p:to>
                                        <p:strVal val="visible"/>
                                      </p:to>
                                    </p:set>
                                  </p:childTnLst>
                                </p:cTn>
                              </p:par>
                              <p:par>
                                <p:cTn id="103" presetID="1" presetClass="exit" presetSubtype="0" fill="hold" grpId="1" nodeType="withEffect">
                                  <p:stCondLst>
                                    <p:cond delay="0"/>
                                  </p:stCondLst>
                                  <p:childTnLst>
                                    <p:set>
                                      <p:cBhvr>
                                        <p:cTn id="104" dur="1" fill="hold">
                                          <p:stCondLst>
                                            <p:cond delay="0"/>
                                          </p:stCondLst>
                                        </p:cTn>
                                        <p:tgtEl>
                                          <p:spTgt spid="2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31"/>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75"/>
                                        </p:tgtEl>
                                        <p:attrNameLst>
                                          <p:attrName>style.visibility</p:attrName>
                                        </p:attrNameLst>
                                      </p:cBhvr>
                                      <p:to>
                                        <p:strVal val="visible"/>
                                      </p:to>
                                    </p:set>
                                  </p:childTnLst>
                                </p:cTn>
                              </p:par>
                              <p:par>
                                <p:cTn id="111" presetID="1" presetClass="exit" presetSubtype="0" fill="hold" nodeType="withEffect">
                                  <p:stCondLst>
                                    <p:cond delay="0"/>
                                  </p:stCondLst>
                                  <p:childTnLst>
                                    <p:set>
                                      <p:cBhvr>
                                        <p:cTn id="112" dur="1" fill="hold">
                                          <p:stCondLst>
                                            <p:cond delay="0"/>
                                          </p:stCondLst>
                                        </p:cTn>
                                        <p:tgtEl>
                                          <p:spTgt spid="26"/>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47"/>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69"/>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22" presetClass="entr" presetSubtype="8" fill="hold" grpId="0" nodeType="clickEffect">
                                  <p:stCondLst>
                                    <p:cond delay="0"/>
                                  </p:stCondLst>
                                  <p:childTnLst>
                                    <p:set>
                                      <p:cBhvr>
                                        <p:cTn id="124" dur="1" fill="hold">
                                          <p:stCondLst>
                                            <p:cond delay="0"/>
                                          </p:stCondLst>
                                        </p:cTn>
                                        <p:tgtEl>
                                          <p:spTgt spid="67"/>
                                        </p:tgtEl>
                                        <p:attrNameLst>
                                          <p:attrName>style.visibility</p:attrName>
                                        </p:attrNameLst>
                                      </p:cBhvr>
                                      <p:to>
                                        <p:strVal val="visible"/>
                                      </p:to>
                                    </p:set>
                                    <p:animEffect transition="in" filter="wipe(left)">
                                      <p:cBhvr>
                                        <p:cTn id="125" dur="500"/>
                                        <p:tgtEl>
                                          <p:spTgt spid="67"/>
                                        </p:tgtEl>
                                      </p:cBhvr>
                                    </p:animEffec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grpId="0" nodeType="clickEffect">
                                  <p:stCondLst>
                                    <p:cond delay="0"/>
                                  </p:stCondLst>
                                  <p:childTnLst>
                                    <p:set>
                                      <p:cBhvr>
                                        <p:cTn id="129" dur="1" fill="hold">
                                          <p:stCondLst>
                                            <p:cond delay="0"/>
                                          </p:stCondLst>
                                        </p:cTn>
                                        <p:tgtEl>
                                          <p:spTgt spid="66"/>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21" presetClass="entr" presetSubtype="1" fill="hold" grpId="0" nodeType="clickEffect">
                                  <p:stCondLst>
                                    <p:cond delay="0"/>
                                  </p:stCondLst>
                                  <p:childTnLst>
                                    <p:set>
                                      <p:cBhvr>
                                        <p:cTn id="133" dur="1" fill="hold">
                                          <p:stCondLst>
                                            <p:cond delay="0"/>
                                          </p:stCondLst>
                                        </p:cTn>
                                        <p:tgtEl>
                                          <p:spTgt spid="68"/>
                                        </p:tgtEl>
                                        <p:attrNameLst>
                                          <p:attrName>style.visibility</p:attrName>
                                        </p:attrNameLst>
                                      </p:cBhvr>
                                      <p:to>
                                        <p:strVal val="visible"/>
                                      </p:to>
                                    </p:set>
                                    <p:animEffect transition="in" filter="wheel(1)">
                                      <p:cBhvr>
                                        <p:cTn id="134" dur="2000"/>
                                        <p:tgtEl>
                                          <p:spTgt spid="68"/>
                                        </p:tgtEl>
                                      </p:cBhvr>
                                    </p:animEffect>
                                  </p:childTnLst>
                                </p:cTn>
                              </p:par>
                            </p:childTnLst>
                          </p:cTn>
                        </p:par>
                      </p:childTnLst>
                    </p:cTn>
                  </p:par>
                  <p:par>
                    <p:cTn id="135" fill="hold">
                      <p:stCondLst>
                        <p:cond delay="indefinite"/>
                      </p:stCondLst>
                      <p:childTnLst>
                        <p:par>
                          <p:cTn id="136" fill="hold">
                            <p:stCondLst>
                              <p:cond delay="0"/>
                            </p:stCondLst>
                            <p:childTnLst>
                              <p:par>
                                <p:cTn id="137" presetID="1" presetClass="exit" presetSubtype="0" fill="hold" nodeType="clickEffect">
                                  <p:stCondLst>
                                    <p:cond delay="0"/>
                                  </p:stCondLst>
                                  <p:childTnLst>
                                    <p:set>
                                      <p:cBhvr>
                                        <p:cTn id="138" dur="1" fill="hold">
                                          <p:stCondLst>
                                            <p:cond delay="0"/>
                                          </p:stCondLst>
                                        </p:cTn>
                                        <p:tgtEl>
                                          <p:spTgt spid="8"/>
                                        </p:tgtEl>
                                        <p:attrNameLst>
                                          <p:attrName>style.visibility</p:attrName>
                                        </p:attrNameLst>
                                      </p:cBhvr>
                                      <p:to>
                                        <p:strVal val="hidden"/>
                                      </p:to>
                                    </p:set>
                                  </p:childTnLst>
                                </p:cTn>
                              </p:par>
                              <p:par>
                                <p:cTn id="139" presetID="1" presetClass="exit" presetSubtype="0" fill="hold" nodeType="withEffect">
                                  <p:stCondLst>
                                    <p:cond delay="0"/>
                                  </p:stCondLst>
                                  <p:childTnLst>
                                    <p:set>
                                      <p:cBhvr>
                                        <p:cTn id="140" dur="1" fill="hold">
                                          <p:stCondLst>
                                            <p:cond delay="0"/>
                                          </p:stCondLst>
                                        </p:cTn>
                                        <p:tgtEl>
                                          <p:spTgt spid="21"/>
                                        </p:tgtEl>
                                        <p:attrNameLst>
                                          <p:attrName>style.visibility</p:attrName>
                                        </p:attrNameLst>
                                      </p:cBhvr>
                                      <p:to>
                                        <p:strVal val="hidden"/>
                                      </p:to>
                                    </p:set>
                                  </p:childTnLst>
                                </p:cTn>
                              </p:par>
                              <p:par>
                                <p:cTn id="141" presetID="1" presetClass="exit" presetSubtype="0" fill="hold" nodeType="withEffect">
                                  <p:stCondLst>
                                    <p:cond delay="0"/>
                                  </p:stCondLst>
                                  <p:childTnLst>
                                    <p:set>
                                      <p:cBhvr>
                                        <p:cTn id="142" dur="1" fill="hold">
                                          <p:stCondLst>
                                            <p:cond delay="0"/>
                                          </p:stCondLst>
                                        </p:cTn>
                                        <p:tgtEl>
                                          <p:spTgt spid="24"/>
                                        </p:tgtEl>
                                        <p:attrNameLst>
                                          <p:attrName>style.visibility</p:attrName>
                                        </p:attrNameLst>
                                      </p:cBhvr>
                                      <p:to>
                                        <p:strVal val="hidden"/>
                                      </p:to>
                                    </p:set>
                                  </p:childTnLst>
                                </p:cTn>
                              </p:par>
                              <p:par>
                                <p:cTn id="143" presetID="1" presetClass="exit" presetSubtype="0" fill="hold" nodeType="withEffect">
                                  <p:stCondLst>
                                    <p:cond delay="0"/>
                                  </p:stCondLst>
                                  <p:childTnLst>
                                    <p:set>
                                      <p:cBhvr>
                                        <p:cTn id="144" dur="1" fill="hold">
                                          <p:stCondLst>
                                            <p:cond delay="0"/>
                                          </p:stCondLst>
                                        </p:cTn>
                                        <p:tgtEl>
                                          <p:spTgt spid="42"/>
                                        </p:tgtEl>
                                        <p:attrNameLst>
                                          <p:attrName>style.visibility</p:attrName>
                                        </p:attrNameLst>
                                      </p:cBhvr>
                                      <p:to>
                                        <p:strVal val="hidden"/>
                                      </p:to>
                                    </p:set>
                                  </p:childTnLst>
                                </p:cTn>
                              </p:par>
                              <p:par>
                                <p:cTn id="145" presetID="1" presetClass="exit" presetSubtype="0" fill="hold" nodeType="withEffect">
                                  <p:stCondLst>
                                    <p:cond delay="0"/>
                                  </p:stCondLst>
                                  <p:childTnLst>
                                    <p:set>
                                      <p:cBhvr>
                                        <p:cTn id="146" dur="1" fill="hold">
                                          <p:stCondLst>
                                            <p:cond delay="0"/>
                                          </p:stCondLst>
                                        </p:cTn>
                                        <p:tgtEl>
                                          <p:spTgt spid="45"/>
                                        </p:tgtEl>
                                        <p:attrNameLst>
                                          <p:attrName>style.visibility</p:attrName>
                                        </p:attrNameLst>
                                      </p:cBhvr>
                                      <p:to>
                                        <p:strVal val="hidden"/>
                                      </p:to>
                                    </p:set>
                                  </p:childTnLst>
                                </p:cTn>
                              </p:par>
                              <p:par>
                                <p:cTn id="147" presetID="1" presetClass="exit" presetSubtype="0" fill="hold" grpId="1" nodeType="withEffect">
                                  <p:stCondLst>
                                    <p:cond delay="0"/>
                                  </p:stCondLst>
                                  <p:childTnLst>
                                    <p:set>
                                      <p:cBhvr>
                                        <p:cTn id="148" dur="1" fill="hold">
                                          <p:stCondLst>
                                            <p:cond delay="0"/>
                                          </p:stCondLst>
                                        </p:cTn>
                                        <p:tgtEl>
                                          <p:spTgt spid="4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8" grpId="1"/>
      <p:bldP spid="29" grpId="0"/>
      <p:bldP spid="29" grpId="1"/>
      <p:bldP spid="47" grpId="0"/>
      <p:bldP spid="47" grpId="1"/>
      <p:bldP spid="48" grpId="0"/>
      <p:bldP spid="49" grpId="0"/>
      <p:bldP spid="54" grpId="0"/>
      <p:bldP spid="57" grpId="0"/>
      <p:bldP spid="59" grpId="0"/>
      <p:bldP spid="63" grpId="0"/>
      <p:bldP spid="64" grpId="0"/>
      <p:bldP spid="65" grpId="0"/>
      <p:bldP spid="66" grpId="0"/>
      <p:bldP spid="67" grpId="0" animBg="1"/>
      <p:bldP spid="68" grpId="0" animBg="1"/>
      <p:bldP spid="69" grpId="0"/>
      <p:bldP spid="70" grpId="0"/>
      <p:bldP spid="73"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PROCEDURE: DOU _DEL (L, R, OLD)</a:t>
            </a:r>
            <a:endParaRPr lang="en-US" dirty="0"/>
          </a:p>
        </p:txBody>
      </p:sp>
      <p:sp>
        <p:nvSpPr>
          <p:cNvPr id="4" name="TextBox 3"/>
          <p:cNvSpPr txBox="1"/>
          <p:nvPr/>
        </p:nvSpPr>
        <p:spPr>
          <a:xfrm>
            <a:off x="336000" y="745988"/>
            <a:ext cx="9030069" cy="5586145"/>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100" b="1" dirty="0">
                <a:solidFill>
                  <a:schemeClr val="tx2"/>
                </a:solidFill>
                <a:latin typeface="Consolas" pitchFamily="49" charset="0"/>
                <a:cs typeface="Consolas" pitchFamily="49" charset="0"/>
              </a:rPr>
              <a:t>1. [Is underflow ?]</a:t>
            </a:r>
          </a:p>
          <a:p>
            <a:r>
              <a:rPr lang="en-IN" sz="2100" dirty="0">
                <a:latin typeface="Consolas" pitchFamily="49" charset="0"/>
                <a:cs typeface="Consolas" pitchFamily="49" charset="0"/>
              </a:rPr>
              <a:t>    </a:t>
            </a:r>
            <a:r>
              <a:rPr lang="en-IN" sz="2100" b="1" dirty="0">
                <a:solidFill>
                  <a:schemeClr val="tx2">
                    <a:lumMod val="75000"/>
                  </a:schemeClr>
                </a:solidFill>
                <a:latin typeface="Consolas" pitchFamily="49" charset="0"/>
                <a:cs typeface="Consolas" pitchFamily="49" charset="0"/>
              </a:rPr>
              <a:t>IF</a:t>
            </a:r>
            <a:r>
              <a:rPr lang="en-IN" sz="2100" dirty="0">
                <a:latin typeface="Consolas" pitchFamily="49" charset="0"/>
                <a:cs typeface="Consolas" pitchFamily="49" charset="0"/>
              </a:rPr>
              <a:t>   R=NULL</a:t>
            </a:r>
          </a:p>
          <a:p>
            <a:r>
              <a:rPr lang="en-IN" sz="2100" dirty="0">
                <a:latin typeface="Consolas" pitchFamily="49" charset="0"/>
                <a:cs typeface="Consolas" pitchFamily="49" charset="0"/>
              </a:rPr>
              <a:t>    </a:t>
            </a:r>
            <a:r>
              <a:rPr lang="en-IN" sz="2100" b="1" dirty="0">
                <a:solidFill>
                  <a:schemeClr val="tx2">
                    <a:lumMod val="75000"/>
                  </a:schemeClr>
                </a:solidFill>
                <a:latin typeface="Consolas" pitchFamily="49" charset="0"/>
                <a:cs typeface="Consolas" pitchFamily="49" charset="0"/>
              </a:rPr>
              <a:t>THEN</a:t>
            </a:r>
            <a:r>
              <a:rPr lang="en-IN" sz="2100" dirty="0">
                <a:solidFill>
                  <a:schemeClr val="tx2">
                    <a:lumMod val="75000"/>
                  </a:schemeClr>
                </a:solidFill>
                <a:latin typeface="Consolas" pitchFamily="49" charset="0"/>
                <a:cs typeface="Consolas" pitchFamily="49" charset="0"/>
              </a:rPr>
              <a:t> </a:t>
            </a:r>
            <a:r>
              <a:rPr lang="en-IN" sz="2100" dirty="0">
                <a:latin typeface="Consolas" pitchFamily="49" charset="0"/>
                <a:cs typeface="Consolas" pitchFamily="49" charset="0"/>
              </a:rPr>
              <a:t>write (‘UNDERFLOW’)</a:t>
            </a:r>
          </a:p>
          <a:p>
            <a:r>
              <a:rPr lang="en-IN" sz="2100" dirty="0">
                <a:latin typeface="Consolas" pitchFamily="49" charset="0"/>
                <a:cs typeface="Consolas" pitchFamily="49" charset="0"/>
              </a:rPr>
              <a:t>         Return</a:t>
            </a:r>
          </a:p>
          <a:p>
            <a:r>
              <a:rPr lang="en-IN" sz="2100" b="1" dirty="0">
                <a:solidFill>
                  <a:schemeClr val="tx2"/>
                </a:solidFill>
                <a:latin typeface="Consolas" pitchFamily="49" charset="0"/>
                <a:cs typeface="Consolas" pitchFamily="49" charset="0"/>
              </a:rPr>
              <a:t>2. [Delete node]</a:t>
            </a:r>
          </a:p>
          <a:p>
            <a:pPr marL="536575"/>
            <a:r>
              <a:rPr lang="en-IN" sz="2100" b="1" dirty="0">
                <a:solidFill>
                  <a:schemeClr val="tx2">
                    <a:lumMod val="75000"/>
                  </a:schemeClr>
                </a:solidFill>
                <a:latin typeface="Consolas" pitchFamily="49" charset="0"/>
                <a:cs typeface="Consolas" pitchFamily="49" charset="0"/>
              </a:rPr>
              <a:t>IF</a:t>
            </a:r>
            <a:r>
              <a:rPr lang="en-IN" sz="2100" dirty="0">
                <a:latin typeface="Consolas" pitchFamily="49" charset="0"/>
                <a:cs typeface="Consolas" pitchFamily="49" charset="0"/>
              </a:rPr>
              <a:t> L = R (single node in list)</a:t>
            </a:r>
          </a:p>
          <a:p>
            <a:pPr marL="536575"/>
            <a:r>
              <a:rPr lang="en-IN" sz="2100" b="1" dirty="0">
                <a:solidFill>
                  <a:schemeClr val="tx2">
                    <a:lumMod val="75000"/>
                  </a:schemeClr>
                </a:solidFill>
                <a:latin typeface="Consolas" pitchFamily="49" charset="0"/>
                <a:cs typeface="Consolas" pitchFamily="49" charset="0"/>
              </a:rPr>
              <a:t>THEN</a:t>
            </a:r>
            <a:r>
              <a:rPr lang="en-IN" sz="2100" dirty="0">
                <a:latin typeface="Consolas" pitchFamily="49" charset="0"/>
                <a:cs typeface="Consolas" pitchFamily="49" charset="0"/>
              </a:rPr>
              <a:t> L </a:t>
            </a:r>
            <a:r>
              <a:rPr lang="en-IN" sz="2100" dirty="0">
                <a:latin typeface="Consolas" pitchFamily="49" charset="0"/>
                <a:cs typeface="Consolas" pitchFamily="49" charset="0"/>
                <a:sym typeface="Wingdings" pitchFamily="2" charset="2"/>
              </a:rPr>
              <a:t></a:t>
            </a:r>
            <a:r>
              <a:rPr lang="en-IN" sz="2100" dirty="0">
                <a:latin typeface="Consolas" pitchFamily="49" charset="0"/>
                <a:cs typeface="Consolas" pitchFamily="49" charset="0"/>
              </a:rPr>
              <a:t> R </a:t>
            </a:r>
            <a:r>
              <a:rPr lang="en-IN" sz="2100" dirty="0">
                <a:latin typeface="Consolas" pitchFamily="49" charset="0"/>
                <a:cs typeface="Consolas" pitchFamily="49" charset="0"/>
                <a:sym typeface="Wingdings" pitchFamily="2" charset="2"/>
              </a:rPr>
              <a:t></a:t>
            </a:r>
            <a:r>
              <a:rPr lang="en-IN" sz="2100" dirty="0">
                <a:latin typeface="Consolas" pitchFamily="49" charset="0"/>
                <a:cs typeface="Consolas" pitchFamily="49" charset="0"/>
              </a:rPr>
              <a:t> NULL</a:t>
            </a:r>
          </a:p>
          <a:p>
            <a:pPr marL="536575"/>
            <a:r>
              <a:rPr lang="en-IN" sz="2100" b="1" dirty="0">
                <a:solidFill>
                  <a:schemeClr val="tx2">
                    <a:lumMod val="75000"/>
                  </a:schemeClr>
                </a:solidFill>
                <a:latin typeface="Consolas" pitchFamily="49" charset="0"/>
                <a:cs typeface="Consolas" pitchFamily="49" charset="0"/>
              </a:rPr>
              <a:t>ELSE</a:t>
            </a:r>
            <a:r>
              <a:rPr lang="en-IN" sz="2100" dirty="0">
                <a:latin typeface="Consolas" pitchFamily="49" charset="0"/>
                <a:cs typeface="Consolas" pitchFamily="49" charset="0"/>
              </a:rPr>
              <a:t> </a:t>
            </a:r>
            <a:r>
              <a:rPr lang="en-IN" sz="2100" b="1" dirty="0">
                <a:solidFill>
                  <a:schemeClr val="tx2">
                    <a:lumMod val="75000"/>
                  </a:schemeClr>
                </a:solidFill>
                <a:latin typeface="Consolas" pitchFamily="49" charset="0"/>
                <a:cs typeface="Consolas" pitchFamily="49" charset="0"/>
              </a:rPr>
              <a:t>IF</a:t>
            </a:r>
            <a:r>
              <a:rPr lang="en-IN" sz="2100" dirty="0">
                <a:latin typeface="Consolas" pitchFamily="49" charset="0"/>
                <a:cs typeface="Consolas" pitchFamily="49" charset="0"/>
              </a:rPr>
              <a:t> OLD = L (left most node)</a:t>
            </a:r>
          </a:p>
          <a:p>
            <a:r>
              <a:rPr lang="en-IN" sz="2100" dirty="0">
                <a:latin typeface="Consolas" pitchFamily="49" charset="0"/>
                <a:cs typeface="Consolas" pitchFamily="49" charset="0"/>
              </a:rPr>
              <a:t>         </a:t>
            </a:r>
            <a:r>
              <a:rPr lang="en-IN" sz="2100" b="1" dirty="0">
                <a:solidFill>
                  <a:schemeClr val="tx2">
                    <a:lumMod val="75000"/>
                  </a:schemeClr>
                </a:solidFill>
                <a:latin typeface="Consolas" pitchFamily="49" charset="0"/>
                <a:cs typeface="Consolas" pitchFamily="49" charset="0"/>
              </a:rPr>
              <a:t>THEN</a:t>
            </a:r>
            <a:r>
              <a:rPr lang="en-IN" sz="2100" dirty="0">
                <a:latin typeface="Consolas" pitchFamily="49" charset="0"/>
                <a:cs typeface="Consolas" pitchFamily="49" charset="0"/>
              </a:rPr>
              <a:t>  L </a:t>
            </a:r>
            <a:r>
              <a:rPr lang="en-IN" sz="2100" dirty="0">
                <a:latin typeface="Consolas" pitchFamily="49" charset="0"/>
                <a:cs typeface="Consolas" pitchFamily="49" charset="0"/>
                <a:sym typeface="Wingdings" pitchFamily="2" charset="2"/>
              </a:rPr>
              <a:t></a:t>
            </a:r>
            <a:r>
              <a:rPr lang="en-IN" sz="2100" dirty="0">
                <a:latin typeface="Consolas" pitchFamily="49" charset="0"/>
                <a:cs typeface="Consolas" pitchFamily="49" charset="0"/>
              </a:rPr>
              <a:t> RPTR(L)</a:t>
            </a:r>
          </a:p>
          <a:p>
            <a:r>
              <a:rPr lang="en-IN" sz="2100" dirty="0">
                <a:latin typeface="Consolas" pitchFamily="49" charset="0"/>
                <a:cs typeface="Consolas" pitchFamily="49" charset="0"/>
              </a:rPr>
              <a:t>               LPTR (L) </a:t>
            </a:r>
            <a:r>
              <a:rPr lang="en-IN" sz="2100" dirty="0">
                <a:latin typeface="Consolas" pitchFamily="49" charset="0"/>
                <a:cs typeface="Consolas" pitchFamily="49" charset="0"/>
                <a:sym typeface="Wingdings" pitchFamily="2" charset="2"/>
              </a:rPr>
              <a:t></a:t>
            </a:r>
            <a:r>
              <a:rPr lang="en-IN" sz="2100" dirty="0">
                <a:latin typeface="Consolas" pitchFamily="49" charset="0"/>
                <a:cs typeface="Consolas" pitchFamily="49" charset="0"/>
              </a:rPr>
              <a:t> NULL</a:t>
            </a:r>
          </a:p>
          <a:p>
            <a:r>
              <a:rPr lang="en-IN" sz="2100" dirty="0">
                <a:latin typeface="Consolas" pitchFamily="49" charset="0"/>
                <a:cs typeface="Consolas" pitchFamily="49" charset="0"/>
              </a:rPr>
              <a:t>         </a:t>
            </a:r>
            <a:r>
              <a:rPr lang="en-IN" sz="2100" b="1" dirty="0">
                <a:solidFill>
                  <a:schemeClr val="tx2">
                    <a:lumMod val="75000"/>
                  </a:schemeClr>
                </a:solidFill>
                <a:latin typeface="Consolas" pitchFamily="49" charset="0"/>
                <a:cs typeface="Consolas" pitchFamily="49" charset="0"/>
              </a:rPr>
              <a:t>ELSE</a:t>
            </a:r>
            <a:r>
              <a:rPr lang="en-IN" sz="2100" dirty="0">
                <a:latin typeface="Consolas" pitchFamily="49" charset="0"/>
                <a:cs typeface="Consolas" pitchFamily="49" charset="0"/>
              </a:rPr>
              <a:t> </a:t>
            </a:r>
            <a:r>
              <a:rPr lang="en-IN" sz="2100" b="1" dirty="0">
                <a:solidFill>
                  <a:schemeClr val="tx2">
                    <a:lumMod val="75000"/>
                  </a:schemeClr>
                </a:solidFill>
                <a:latin typeface="Consolas" pitchFamily="49" charset="0"/>
                <a:cs typeface="Consolas" pitchFamily="49" charset="0"/>
              </a:rPr>
              <a:t>IF</a:t>
            </a:r>
            <a:r>
              <a:rPr lang="en-IN" sz="2100" dirty="0">
                <a:latin typeface="Consolas" pitchFamily="49" charset="0"/>
                <a:cs typeface="Consolas" pitchFamily="49" charset="0"/>
              </a:rPr>
              <a:t> OLD = R (right most)</a:t>
            </a:r>
          </a:p>
          <a:p>
            <a:r>
              <a:rPr lang="en-IN" sz="2100" dirty="0">
                <a:latin typeface="Consolas" pitchFamily="49" charset="0"/>
                <a:cs typeface="Consolas" pitchFamily="49" charset="0"/>
              </a:rPr>
              <a:t>              </a:t>
            </a:r>
            <a:r>
              <a:rPr lang="en-IN" sz="2100" b="1" dirty="0">
                <a:solidFill>
                  <a:schemeClr val="tx2">
                    <a:lumMod val="75000"/>
                  </a:schemeClr>
                </a:solidFill>
                <a:latin typeface="Consolas" pitchFamily="49" charset="0"/>
                <a:cs typeface="Consolas" pitchFamily="49" charset="0"/>
              </a:rPr>
              <a:t>THEN</a:t>
            </a:r>
            <a:r>
              <a:rPr lang="en-IN" sz="2100" dirty="0">
                <a:latin typeface="Consolas" pitchFamily="49" charset="0"/>
                <a:cs typeface="Consolas" pitchFamily="49" charset="0"/>
              </a:rPr>
              <a:t>  R </a:t>
            </a:r>
            <a:r>
              <a:rPr lang="en-IN" sz="2100" dirty="0">
                <a:latin typeface="Consolas" pitchFamily="49" charset="0"/>
                <a:cs typeface="Consolas" pitchFamily="49" charset="0"/>
                <a:sym typeface="Wingdings" pitchFamily="2" charset="2"/>
              </a:rPr>
              <a:t></a:t>
            </a:r>
            <a:r>
              <a:rPr lang="en-IN" sz="2100" dirty="0">
                <a:latin typeface="Consolas" pitchFamily="49" charset="0"/>
                <a:cs typeface="Consolas" pitchFamily="49" charset="0"/>
              </a:rPr>
              <a:t> LPTR (R)</a:t>
            </a:r>
          </a:p>
          <a:p>
            <a:r>
              <a:rPr lang="en-IN" sz="2100" dirty="0">
                <a:latin typeface="Consolas" pitchFamily="49" charset="0"/>
                <a:cs typeface="Consolas" pitchFamily="49" charset="0"/>
              </a:rPr>
              <a:t>                    RPTR (R) </a:t>
            </a:r>
            <a:r>
              <a:rPr lang="en-IN" sz="2100" dirty="0">
                <a:latin typeface="Consolas" pitchFamily="49" charset="0"/>
                <a:cs typeface="Consolas" pitchFamily="49" charset="0"/>
                <a:sym typeface="Wingdings" pitchFamily="2" charset="2"/>
              </a:rPr>
              <a:t></a:t>
            </a:r>
            <a:r>
              <a:rPr lang="en-IN" sz="2100" dirty="0">
                <a:latin typeface="Consolas" pitchFamily="49" charset="0"/>
                <a:cs typeface="Consolas" pitchFamily="49" charset="0"/>
              </a:rPr>
              <a:t> NULL</a:t>
            </a:r>
          </a:p>
          <a:p>
            <a:r>
              <a:rPr lang="en-IN" sz="2100" dirty="0">
                <a:latin typeface="Consolas" pitchFamily="49" charset="0"/>
                <a:cs typeface="Consolas" pitchFamily="49" charset="0"/>
              </a:rPr>
              <a:t>              </a:t>
            </a:r>
            <a:r>
              <a:rPr lang="en-IN" sz="2100" b="1" dirty="0">
                <a:solidFill>
                  <a:schemeClr val="tx2">
                    <a:lumMod val="75000"/>
                  </a:schemeClr>
                </a:solidFill>
                <a:latin typeface="Consolas" pitchFamily="49" charset="0"/>
                <a:cs typeface="Consolas" pitchFamily="49" charset="0"/>
              </a:rPr>
              <a:t>ELSE</a:t>
            </a:r>
            <a:r>
              <a:rPr lang="en-IN" sz="2100" dirty="0">
                <a:latin typeface="Consolas" pitchFamily="49" charset="0"/>
                <a:cs typeface="Consolas" pitchFamily="49" charset="0"/>
              </a:rPr>
              <a:t>  RPTR(LPTR (OLD)) </a:t>
            </a:r>
            <a:r>
              <a:rPr lang="en-IN" sz="2100" dirty="0">
                <a:latin typeface="Consolas" pitchFamily="49" charset="0"/>
                <a:cs typeface="Consolas" pitchFamily="49" charset="0"/>
                <a:sym typeface="Wingdings" pitchFamily="2" charset="2"/>
              </a:rPr>
              <a:t> </a:t>
            </a:r>
            <a:r>
              <a:rPr lang="en-IN" sz="2100" dirty="0">
                <a:latin typeface="Consolas" pitchFamily="49" charset="0"/>
                <a:cs typeface="Consolas" pitchFamily="49" charset="0"/>
              </a:rPr>
              <a:t>RPTR (OLD)</a:t>
            </a:r>
          </a:p>
          <a:p>
            <a:r>
              <a:rPr lang="en-IN" sz="2100" dirty="0">
                <a:latin typeface="Consolas" pitchFamily="49" charset="0"/>
                <a:cs typeface="Consolas" pitchFamily="49" charset="0"/>
              </a:rPr>
              <a:t>                    LPTR(RPTR (OLD)) </a:t>
            </a:r>
            <a:r>
              <a:rPr lang="en-IN" sz="2100" dirty="0">
                <a:latin typeface="Consolas" pitchFamily="49" charset="0"/>
                <a:cs typeface="Consolas" pitchFamily="49" charset="0"/>
                <a:sym typeface="Wingdings" pitchFamily="2" charset="2"/>
              </a:rPr>
              <a:t> </a:t>
            </a:r>
            <a:r>
              <a:rPr lang="en-IN" sz="2100" dirty="0">
                <a:latin typeface="Consolas" pitchFamily="49" charset="0"/>
                <a:cs typeface="Consolas" pitchFamily="49" charset="0"/>
              </a:rPr>
              <a:t>LPTR (OLD)</a:t>
            </a:r>
          </a:p>
          <a:p>
            <a:r>
              <a:rPr lang="en-IN" sz="2100" b="1" dirty="0">
                <a:solidFill>
                  <a:schemeClr val="tx2"/>
                </a:solidFill>
                <a:latin typeface="Consolas" pitchFamily="49" charset="0"/>
                <a:cs typeface="Consolas" pitchFamily="49" charset="0"/>
              </a:rPr>
              <a:t>3. [FREE deleted node ?]</a:t>
            </a:r>
          </a:p>
          <a:p>
            <a:r>
              <a:rPr lang="en-IN" sz="2100" dirty="0">
                <a:latin typeface="Consolas" pitchFamily="49" charset="0"/>
                <a:cs typeface="Consolas" pitchFamily="49" charset="0"/>
              </a:rPr>
              <a:t>    FREE(OLD)</a:t>
            </a:r>
          </a:p>
        </p:txBody>
      </p:sp>
    </p:spTree>
    <p:extLst>
      <p:ext uri="{BB962C8B-B14F-4D97-AF65-F5344CB8AC3E}">
        <p14:creationId xmlns:p14="http://schemas.microsoft.com/office/powerpoint/2010/main" val="4069140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
                                            <p:txEl>
                                              <p:pRg st="11" end="11"/>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3" end="13"/>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4">
                                            <p:txEl>
                                              <p:pRg st="15" end="15"/>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r>
              <a:rPr lang="en-US" dirty="0"/>
              <a:t>pradyuman.jadeja@darshan.ac.in</a:t>
            </a:r>
          </a:p>
        </p:txBody>
      </p:sp>
      <p:sp>
        <p:nvSpPr>
          <p:cNvPr id="3" name="Text Placeholder 2"/>
          <p:cNvSpPr>
            <a:spLocks noGrp="1"/>
          </p:cNvSpPr>
          <p:nvPr>
            <p:ph type="body" sz="quarter" idx="12"/>
          </p:nvPr>
        </p:nvSpPr>
        <p:spPr/>
        <p:txBody>
          <a:bodyPr/>
          <a:lstStyle/>
          <a:p>
            <a:r>
              <a:rPr lang="en-US" dirty="0"/>
              <a:t>+91 9879461848</a:t>
            </a:r>
          </a:p>
        </p:txBody>
      </p:sp>
      <p:sp>
        <p:nvSpPr>
          <p:cNvPr id="4" name="Text Placeholder 3"/>
          <p:cNvSpPr>
            <a:spLocks noGrp="1"/>
          </p:cNvSpPr>
          <p:nvPr>
            <p:ph type="body" sz="quarter" idx="13"/>
          </p:nvPr>
        </p:nvSpPr>
        <p:spPr/>
        <p:txBody>
          <a:bodyPr/>
          <a:lstStyle/>
          <a:p>
            <a:r>
              <a:rPr lang="en-US" dirty="0"/>
              <a:t>Computer Engineering Department</a:t>
            </a:r>
          </a:p>
        </p:txBody>
      </p:sp>
      <p:sp>
        <p:nvSpPr>
          <p:cNvPr id="5" name="Text Placeholder 4"/>
          <p:cNvSpPr>
            <a:spLocks noGrp="1"/>
          </p:cNvSpPr>
          <p:nvPr>
            <p:ph type="body" sz="quarter" idx="14"/>
          </p:nvPr>
        </p:nvSpPr>
        <p:spPr/>
        <p:txBody>
          <a:bodyPr/>
          <a:lstStyle/>
          <a:p>
            <a:r>
              <a:rPr lang="en-IN" dirty="0" err="1"/>
              <a:t>Dr.</a:t>
            </a:r>
            <a:r>
              <a:rPr lang="en-IN" dirty="0"/>
              <a:t> </a:t>
            </a:r>
            <a:r>
              <a:rPr lang="en-IN" dirty="0" err="1"/>
              <a:t>Pradyumansinh</a:t>
            </a:r>
            <a:r>
              <a:rPr lang="en-IN" dirty="0"/>
              <a:t> </a:t>
            </a:r>
            <a:r>
              <a:rPr lang="en-IN" dirty="0" err="1"/>
              <a:t>Jadeja</a:t>
            </a:r>
            <a:endParaRPr lang="en-IN" dirty="0"/>
          </a:p>
        </p:txBody>
      </p:sp>
      <p:sp>
        <p:nvSpPr>
          <p:cNvPr id="9" name="Text Placeholder 1026">
            <a:extLst>
              <a:ext uri="{FF2B5EF4-FFF2-40B4-BE49-F238E27FC236}">
                <a16:creationId xmlns:a16="http://schemas.microsoft.com/office/drawing/2014/main" id="{D1F0AA94-EAF3-4868-942A-0125EFC5C764}"/>
              </a:ext>
            </a:extLst>
          </p:cNvPr>
          <p:cNvSpPr>
            <a:spLocks noGrp="1"/>
          </p:cNvSpPr>
          <p:nvPr>
            <p:ph type="body" sz="quarter" idx="16"/>
          </p:nvPr>
        </p:nvSpPr>
        <p:spPr/>
        <p:txBody>
          <a:bodyPr/>
          <a:lstStyle/>
          <a:p>
            <a:r>
              <a:rPr lang="en-US" b="1" dirty="0"/>
              <a:t>Data Structures </a:t>
            </a:r>
            <a:r>
              <a:rPr lang="en-US" dirty="0">
                <a:latin typeface="Roboto Condensed Light" panose="02000000000000000000" pitchFamily="2" charset="0"/>
                <a:ea typeface="Roboto Condensed Light" panose="02000000000000000000" pitchFamily="2" charset="0"/>
              </a:rPr>
              <a:t>(DS)</a:t>
            </a:r>
          </a:p>
          <a:p>
            <a:r>
              <a:rPr lang="en-US" dirty="0">
                <a:latin typeface="Roboto Condensed Light" panose="02000000000000000000" pitchFamily="2" charset="0"/>
                <a:ea typeface="Roboto Condensed Light" panose="02000000000000000000" pitchFamily="2" charset="0"/>
              </a:rPr>
              <a:t>DU #2301CS301</a:t>
            </a:r>
          </a:p>
        </p:txBody>
      </p:sp>
      <p:pic>
        <p:nvPicPr>
          <p:cNvPr id="7" name="Picture Placeholder 6"/>
          <p:cNvPicPr>
            <a:picLocks noGrp="1" noChangeAspect="1"/>
          </p:cNvPicPr>
          <p:nvPr>
            <p:ph type="pic" sz="quarter" idx="10"/>
          </p:nvPr>
        </p:nvPicPr>
        <p:blipFill>
          <a:blip r:embed="rId2" cstate="hqprint">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2025292370"/>
      </p:ext>
    </p:extLst>
  </p:cSld>
  <p:clrMapOvr>
    <a:masterClrMapping/>
  </p:clrMapOvr>
</p:sld>
</file>

<file path=ppt/theme/theme1.xml><?xml version="1.0" encoding="utf-8"?>
<a:theme xmlns:a="http://schemas.openxmlformats.org/drawingml/2006/main" name="Office Theme">
  <a:themeElements>
    <a:clrScheme name="DeptPPT">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5736</TotalTime>
  <Words>5728</Words>
  <Application>Microsoft Office PowerPoint</Application>
  <PresentationFormat>Widescreen</PresentationFormat>
  <Paragraphs>1317</Paragraphs>
  <Slides>72</Slides>
  <Notes>2</Notes>
  <HiddenSlides>1</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72</vt:i4>
      </vt:variant>
    </vt:vector>
  </HeadingPairs>
  <TitlesOfParts>
    <vt:vector size="86" baseType="lpstr">
      <vt:lpstr>Open Sans Semibold</vt:lpstr>
      <vt:lpstr>Open Sans</vt:lpstr>
      <vt:lpstr>Times New Roman</vt:lpstr>
      <vt:lpstr>Wingdings</vt:lpstr>
      <vt:lpstr>Roboto Condensed</vt:lpstr>
      <vt:lpstr>Calibri</vt:lpstr>
      <vt:lpstr>Consolas</vt:lpstr>
      <vt:lpstr>Arial</vt:lpstr>
      <vt:lpstr>Roboto Condensed Light</vt:lpstr>
      <vt:lpstr>Cascadia Mono</vt:lpstr>
      <vt:lpstr>Wingdings 3</vt:lpstr>
      <vt:lpstr>Segoe UI Black</vt:lpstr>
      <vt:lpstr>Wingdings 2</vt:lpstr>
      <vt:lpstr>Office Theme</vt:lpstr>
      <vt:lpstr>Unit-2 (Part 2)  Linked List Linear Data Structure</vt:lpstr>
      <vt:lpstr>PowerPoint Presentation</vt:lpstr>
      <vt:lpstr>Linked List Concepts</vt:lpstr>
      <vt:lpstr>Linked Storage Representation</vt:lpstr>
      <vt:lpstr>Linked Storage Representation</vt:lpstr>
      <vt:lpstr>Pros &amp; Cons of Linked Allocation Cont.</vt:lpstr>
      <vt:lpstr>Pros &amp; Cons of Linked Allocation Cont.</vt:lpstr>
      <vt:lpstr>Pros &amp; Cons of Linked Allocation Cont.</vt:lpstr>
      <vt:lpstr>Pros &amp; Cons of Linked Allocation</vt:lpstr>
      <vt:lpstr>Summary of Array vs. Linked List</vt:lpstr>
      <vt:lpstr>Applications of Linked Lists</vt:lpstr>
      <vt:lpstr>Applications of Linked Lists Cont.</vt:lpstr>
      <vt:lpstr>Operations &amp; Type of Linked List</vt:lpstr>
      <vt:lpstr>Singly Linked List</vt:lpstr>
      <vt:lpstr>Node Structure of Singly List</vt:lpstr>
      <vt:lpstr>Node Structure of Singly List</vt:lpstr>
      <vt:lpstr>Algorithms for singly linked list</vt:lpstr>
      <vt:lpstr>Procedure: INSERT(X, FIRST)</vt:lpstr>
      <vt:lpstr>Procedure: INSERT(X,FIRST) Cont…</vt:lpstr>
      <vt:lpstr>Example: INSERT(50, FIRST)</vt:lpstr>
      <vt:lpstr>C code to insert a Node at First Location</vt:lpstr>
      <vt:lpstr>Procedure: INSEND(X, FIRST)</vt:lpstr>
      <vt:lpstr>Procedure: INSEND(X, FIRST) Cont…</vt:lpstr>
      <vt:lpstr>Procedure: INSEND(50, FIRST)</vt:lpstr>
      <vt:lpstr>C code to insert a Node at Last Location</vt:lpstr>
      <vt:lpstr>Procedure: INSORD(X, FIRST)</vt:lpstr>
      <vt:lpstr>Procedure: INSORD(X, FIRST)</vt:lpstr>
      <vt:lpstr>Procedure: INSORD(3, FIRST)</vt:lpstr>
      <vt:lpstr>Procedure: INSORD(22, FIRST)</vt:lpstr>
      <vt:lpstr>C code to insert a Node in Ordered Linked List</vt:lpstr>
      <vt:lpstr>Procedure: DELETE(X, FIRST)</vt:lpstr>
      <vt:lpstr>Procedure: DELETE( X, FIRST)</vt:lpstr>
      <vt:lpstr>Procedure: DELETE(7541, FIRST)</vt:lpstr>
      <vt:lpstr>C code to delete a Node from linked list</vt:lpstr>
      <vt:lpstr>Function: COUNT_NODES(FIRST)</vt:lpstr>
      <vt:lpstr>Function: COPY (FIRST)</vt:lpstr>
      <vt:lpstr>Function: COPY (FIRST)</vt:lpstr>
      <vt:lpstr>Function: COPY (FIRST)</vt:lpstr>
      <vt:lpstr>Function: COPY (FIRST)</vt:lpstr>
      <vt:lpstr>Reverse a linked list</vt:lpstr>
      <vt:lpstr>Circularly Linked Linear List</vt:lpstr>
      <vt:lpstr>Circularly Linked Linear List Cont…</vt:lpstr>
      <vt:lpstr>Procedure: CIR_INS_FIRST(X,FIRST,LAST)</vt:lpstr>
      <vt:lpstr>Procedure: CIR_INS_FIRST(X,FIRST,LAST)</vt:lpstr>
      <vt:lpstr>Procedure: CIR_INS_LAST(X,FIRST,LAST)</vt:lpstr>
      <vt:lpstr>Procedure: CIR_INS_LAST( X,FIRST,LAST)</vt:lpstr>
      <vt:lpstr>Procedure: CIR_INS_ORD(X,FIRST,LAST)</vt:lpstr>
      <vt:lpstr>Procedure: CIR_INS_ORD(X,FIRST,LAST)</vt:lpstr>
      <vt:lpstr>Procedure: CIR_INS_ORD(3,FIRST,LAST)</vt:lpstr>
      <vt:lpstr>Procedure: CIR_INS_ORD(18,FIRST,LAST)</vt:lpstr>
      <vt:lpstr>Procedure: CIR_DELETE(X,FIRST,LAST)</vt:lpstr>
      <vt:lpstr>Procedure: CIR_DELETE(X,FIRST,LAST)</vt:lpstr>
      <vt:lpstr>Procedure: CIR_DELETE(7541,FIRST,LAST)</vt:lpstr>
      <vt:lpstr>Circularly Linked List with Header Node</vt:lpstr>
      <vt:lpstr>Procedure: CIR_HEAD_INS_FIRST(X,FIRST,LAST)</vt:lpstr>
      <vt:lpstr>Procedure: CIR_HEAD_INS_FIRST(X,FIRST,LAST)</vt:lpstr>
      <vt:lpstr>Procedure: CIR_HEAD_INS_LAST(X,FIRST,LAST)</vt:lpstr>
      <vt:lpstr>Procedure: CIR_HEAD_INS_LAST(X,FIRST,LAST)</vt:lpstr>
      <vt:lpstr>Procedure: CIR_HEAD_INS_AFTER-P (X,FIRST,LAST)</vt:lpstr>
      <vt:lpstr>Procedure: CIR_HEAD_INS_AFTER-P (X,FIRST,LAST)</vt:lpstr>
      <vt:lpstr>Doubly Linked Linear List</vt:lpstr>
      <vt:lpstr>Doubly Linked Linear List</vt:lpstr>
      <vt:lpstr>Node Structure of Doubly Linked List</vt:lpstr>
      <vt:lpstr>Node Structure of Doubly Linked List cont.</vt:lpstr>
      <vt:lpstr>Insert node in Doubly Linked List</vt:lpstr>
      <vt:lpstr>Insert node in Doubly Linked List</vt:lpstr>
      <vt:lpstr>Procedure: DOU_INS (L,R,M,X)</vt:lpstr>
      <vt:lpstr>Procedure: DOU_INS (L,R,M,X)</vt:lpstr>
      <vt:lpstr>PROCEDURE: DOU _DEL (L, R, OLD)</vt:lpstr>
      <vt:lpstr>Delete from Doubly Linked List</vt:lpstr>
      <vt:lpstr>PROCEDURE: DOU _DEL (L, R, OLD)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Linked List - Linear Data Structure</dc:title>
  <dc:creator>ADMIN</dc:creator>
  <cp:keywords>Linked List, Data Structure, Darshan Institute of Engineering &amp; Technology, DIET</cp:keywords>
  <cp:lastModifiedBy>DELL</cp:lastModifiedBy>
  <cp:revision>970</cp:revision>
  <dcterms:created xsi:type="dcterms:W3CDTF">2020-05-01T05:09:15Z</dcterms:created>
  <dcterms:modified xsi:type="dcterms:W3CDTF">2026-06-16T05:59:46Z</dcterms:modified>
</cp:coreProperties>
</file>