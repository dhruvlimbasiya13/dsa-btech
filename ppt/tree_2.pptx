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handoutMasterIdLst>
    <p:handoutMasterId r:id="rId37"/>
  </p:handoutMasterIdLst>
  <p:sldIdLst>
    <p:sldId id="283" r:id="rId2"/>
    <p:sldId id="368" r:id="rId3"/>
    <p:sldId id="369" r:id="rId4"/>
    <p:sldId id="370" r:id="rId5"/>
    <p:sldId id="371" r:id="rId6"/>
    <p:sldId id="372" r:id="rId7"/>
    <p:sldId id="373" r:id="rId8"/>
    <p:sldId id="396" r:id="rId9"/>
    <p:sldId id="374" r:id="rId10"/>
    <p:sldId id="375" r:id="rId11"/>
    <p:sldId id="376" r:id="rId12"/>
    <p:sldId id="377" r:id="rId13"/>
    <p:sldId id="378" r:id="rId14"/>
    <p:sldId id="379" r:id="rId15"/>
    <p:sldId id="381" r:id="rId16"/>
    <p:sldId id="397" r:id="rId17"/>
    <p:sldId id="384" r:id="rId18"/>
    <p:sldId id="383" r:id="rId19"/>
    <p:sldId id="385" r:id="rId20"/>
    <p:sldId id="386" r:id="rId21"/>
    <p:sldId id="387" r:id="rId22"/>
    <p:sldId id="388" r:id="rId23"/>
    <p:sldId id="389" r:id="rId24"/>
    <p:sldId id="403" r:id="rId25"/>
    <p:sldId id="390" r:id="rId26"/>
    <p:sldId id="391" r:id="rId27"/>
    <p:sldId id="392" r:id="rId28"/>
    <p:sldId id="393" r:id="rId29"/>
    <p:sldId id="394" r:id="rId30"/>
    <p:sldId id="400" r:id="rId31"/>
    <p:sldId id="404" r:id="rId32"/>
    <p:sldId id="406" r:id="rId33"/>
    <p:sldId id="398" r:id="rId34"/>
    <p:sldId id="395" r:id="rId35"/>
  </p:sldIdLst>
  <p:sldSz cx="12192000" cy="6858000"/>
  <p:notesSz cx="6858000" cy="9144000"/>
  <p:embeddedFontLst>
    <p:embeddedFont>
      <p:font typeface="Calibri" panose="020F0502020204030204" pitchFamily="34" charset="0"/>
      <p:regular r:id="rId38"/>
      <p:bold r:id="rId39"/>
      <p:italic r:id="rId40"/>
      <p:boldItalic r:id="rId41"/>
    </p:embeddedFont>
    <p:embeddedFont>
      <p:font typeface="Consolas" panose="020B0609020204030204" pitchFamily="49" charset="0"/>
      <p:regular r:id="rId42"/>
      <p:bold r:id="rId43"/>
      <p:italic r:id="rId44"/>
      <p:boldItalic r:id="rId45"/>
    </p:embeddedFont>
    <p:embeddedFont>
      <p:font typeface="Open Sans" panose="020B0604020202020204" charset="0"/>
      <p:regular r:id="rId46"/>
      <p:bold r:id="rId47"/>
      <p:italic r:id="rId48"/>
      <p:boldItalic r:id="rId49"/>
    </p:embeddedFont>
    <p:embeddedFont>
      <p:font typeface="Roboto Condensed" panose="02000000000000000000" pitchFamily="2" charset="0"/>
      <p:regular r:id="rId50"/>
      <p:bold r:id="rId51"/>
      <p:italic r:id="rId52"/>
      <p:boldItalic r:id="rId53"/>
    </p:embeddedFont>
    <p:embeddedFont>
      <p:font typeface="Wingdings 3" panose="05040102010807070707" pitchFamily="18" charset="2"/>
      <p:regular r:id="rId54"/>
    </p:embeddedFont>
    <p:embeddedFont>
      <p:font typeface="Cascadia Mono" panose="020B0609020000020004" pitchFamily="49" charset="0"/>
      <p:regular r:id="rId55"/>
      <p:bold r:id="rId56"/>
      <p:italic r:id="rId57"/>
      <p:boldItalic r:id="rId58"/>
    </p:embeddedFont>
    <p:embeddedFont>
      <p:font typeface="Segoe UI Black" panose="020B0A02040204020203" pitchFamily="34" charset="0"/>
      <p:bold r:id="rId59"/>
      <p:boldItalic r:id="rId60"/>
    </p:embeddedFont>
    <p:embeddedFont>
      <p:font typeface="Roboto Condensed Light" panose="02000000000000000000" pitchFamily="2" charset="0"/>
      <p:regular r:id="rId61"/>
      <p:italic r:id="rId62"/>
    </p:embeddedFont>
    <p:embeddedFont>
      <p:font typeface="Open Sans Semibold" panose="020B0604020202020204" charset="0"/>
      <p:bold r:id="rId63"/>
      <p:boldItalic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IGxnyAcJH9Ctucr/s4BD2w==" hashData="xVKY3M7fnhme8j5TfrGORt2fIl7arF9yvmQy0BnH1Fgkr8J/QdJUuvIlCR5H+yyiti80V94gjY/FEXoL9T0jLQ=="/>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0000FF"/>
    <a:srgbClr val="00FF00"/>
    <a:srgbClr val="16745B"/>
    <a:srgbClr val="007D8E"/>
    <a:srgbClr val="0F5140"/>
    <a:srgbClr val="007635"/>
    <a:srgbClr val="2FA0AE"/>
    <a:srgbClr val="558ED5"/>
    <a:srgbClr val="5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3" autoAdjust="0"/>
    <p:restoredTop sz="94660"/>
  </p:normalViewPr>
  <p:slideViewPr>
    <p:cSldViewPr snapToGrid="0">
      <p:cViewPr varScale="1">
        <p:scale>
          <a:sx n="83" d="100"/>
          <a:sy n="83" d="100"/>
        </p:scale>
        <p:origin x="792" y="86"/>
      </p:cViewPr>
      <p:guideLst/>
    </p:cSldViewPr>
  </p:slid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font" Target="fonts/font26.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font" Target="fonts/font21.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2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font" Target="fonts/font27.fntdata"/><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font" Target="fonts/font22.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2.fntdata"/><Relationship Id="rId57" Type="http://schemas.openxmlformats.org/officeDocument/2006/relationships/font" Target="fonts/font2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font" Target="fonts/font23.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18-07-2025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327133314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7.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2.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jpe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1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jpeg"/><Relationship Id="rId4" Type="http://schemas.openxmlformats.org/officeDocument/2006/relationships/image" Target="../media/image13.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a:t>
            </a:r>
            <a:r>
              <a:rPr lang="en-US" sz="1600" dirty="0" smtClean="0"/>
              <a:t>University, </a:t>
            </a:r>
            <a:r>
              <a:rPr lang="en-US" sz="1600" dirty="0"/>
              <a:t>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smtClean="0"/>
              <a:t># </a:t>
            </a:r>
            <a:r>
              <a:rPr lang="en-US" dirty="0"/>
              <a:t>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4" descr="http://btechsmartclass.com/DS/images/Tree.png"/>
          <p:cNvPicPr>
            <a:picLocks noChangeAspect="1" noChangeArrowheads="1"/>
          </p:cNvPicPr>
          <p:nvPr userDrawn="1"/>
        </p:nvPicPr>
        <p:blipFill rotWithShape="1">
          <a:blip r:embed="rId10">
            <a:duotone>
              <a:schemeClr val="accent1">
                <a:shade val="45000"/>
                <a:satMod val="135000"/>
              </a:schemeClr>
              <a:prstClr val="white"/>
            </a:duotone>
            <a:extLst>
              <a:ext uri="{28A0092B-C50C-407E-A947-70E740481C1C}">
                <a14:useLocalDpi xmlns:a14="http://schemas.microsoft.com/office/drawing/2010/main" val="0"/>
              </a:ext>
            </a:extLst>
          </a:blip>
          <a:srcRect r="46857"/>
          <a:stretch/>
        </p:blipFill>
        <p:spPr bwMode="auto">
          <a:xfrm>
            <a:off x="8145345" y="1822751"/>
            <a:ext cx="3573396" cy="288177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1917B14A-5130-41DB-8F00-6C6611C994DF}"/>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9137162" y="307556"/>
            <a:ext cx="2704049" cy="821995"/>
          </a:xfrm>
          <a:prstGeom prst="rect">
            <a:avLst/>
          </a:prstGeom>
        </p:spPr>
      </p:pic>
    </p:spTree>
    <p:extLst>
      <p:ext uri="{BB962C8B-B14F-4D97-AF65-F5344CB8AC3E}">
        <p14:creationId xmlns:p14="http://schemas.microsoft.com/office/powerpoint/2010/main" val="35705932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a:t>
            </a:r>
            <a:r>
              <a:rPr lang="en-US" sz="1600" dirty="0" smtClean="0"/>
              <a:t>University, </a:t>
            </a:r>
            <a:r>
              <a:rPr lang="en-US" sz="1600" dirty="0"/>
              <a:t>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smtClean="0"/>
              <a:t># </a:t>
            </a:r>
            <a:r>
              <a:rPr lang="en-US" dirty="0"/>
              <a:t>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0" name="Hexagon 29"/>
          <p:cNvSpPr/>
          <p:nvPr userDrawn="1"/>
        </p:nvSpPr>
        <p:spPr>
          <a:xfrm rot="5400000">
            <a:off x="4309292" y="1717040"/>
            <a:ext cx="3461658" cy="2984188"/>
          </a:xfrm>
          <a:prstGeom prst="hexagon">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p:cNvSpPr txBox="1"/>
          <p:nvPr userDrawn="1"/>
        </p:nvSpPr>
        <p:spPr>
          <a:xfrm>
            <a:off x="5014038" y="2239638"/>
            <a:ext cx="2052165" cy="1938992"/>
          </a:xfrm>
          <a:prstGeom prst="rect">
            <a:avLst/>
          </a:prstGeom>
          <a:noFill/>
        </p:spPr>
        <p:txBody>
          <a:bodyPr wrap="none" rtlCol="0">
            <a:spAutoFit/>
          </a:bodyPr>
          <a:lstStyle/>
          <a:p>
            <a:pPr algn="ctr"/>
            <a:r>
              <a:rPr lang="en-US" sz="6000" b="1" i="1" dirty="0" smtClean="0"/>
              <a:t>Thank</a:t>
            </a:r>
          </a:p>
          <a:p>
            <a:pPr algn="ctr"/>
            <a:r>
              <a:rPr lang="en-US" sz="6000" b="1" i="1" dirty="0" smtClean="0"/>
              <a:t>You</a:t>
            </a:r>
            <a:endParaRPr lang="en-US" sz="6000" b="1" i="1" dirty="0"/>
          </a:p>
        </p:txBody>
      </p:sp>
      <p:sp>
        <p:nvSpPr>
          <p:cNvPr id="34" name="Rectangle 33"/>
          <p:cNvSpPr/>
          <p:nvPr userDrawn="1"/>
        </p:nvSpPr>
        <p:spPr>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p:cNvSpPr/>
          <p:nvPr userDrawn="1"/>
        </p:nvSpPr>
        <p:spPr>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1917B14A-5130-41DB-8F00-6C6611C994DF}"/>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9137162" y="307556"/>
            <a:ext cx="2704049" cy="821995"/>
          </a:xfrm>
          <a:prstGeom prst="rect">
            <a:avLst/>
          </a:prstGeom>
        </p:spPr>
      </p:pic>
    </p:spTree>
    <p:extLst>
      <p:ext uri="{BB962C8B-B14F-4D97-AF65-F5344CB8AC3E}">
        <p14:creationId xmlns:p14="http://schemas.microsoft.com/office/powerpoint/2010/main" val="176570197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14" name="Group 13"/>
          <p:cNvGrpSpPr/>
          <p:nvPr userDrawn="1"/>
        </p:nvGrpSpPr>
        <p:grpSpPr>
          <a:xfrm>
            <a:off x="9678496" y="861192"/>
            <a:ext cx="2554142" cy="587454"/>
            <a:chOff x="9424496" y="8611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75018" y="8611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9424496" y="8611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14000"/>
              </a:lnSpc>
              <a:buClr>
                <a:schemeClr val="accent6"/>
              </a:buClr>
              <a:buFont typeface="Wingdings 3" panose="05040102010807070707" pitchFamily="18" charset="2"/>
              <a:buChar char=""/>
              <a:defRPr sz="2400">
                <a:solidFill>
                  <a:schemeClr val="tx1"/>
                </a:solidFill>
              </a:defRPr>
            </a:lvl1pPr>
            <a:lvl2pPr marL="809625" indent="-352425" algn="just">
              <a:lnSpc>
                <a:spcPct val="114000"/>
              </a:lnSpc>
              <a:buClr>
                <a:schemeClr val="accent6"/>
              </a:buClr>
              <a:buFont typeface="Wingdings 3" panose="05040102010807070707" pitchFamily="18" charset="2"/>
              <a:buChar char=""/>
              <a:defRPr sz="2000">
                <a:solidFill>
                  <a:schemeClr val="tx1"/>
                </a:solidFill>
              </a:defRPr>
            </a:lvl2pPr>
            <a:lvl3pPr marL="1143000" indent="-228600" algn="just">
              <a:lnSpc>
                <a:spcPct val="114000"/>
              </a:lnSpc>
              <a:buClr>
                <a:schemeClr val="accent6"/>
              </a:buClr>
              <a:buFont typeface="Wingdings" panose="05000000000000000000" pitchFamily="2" charset="2"/>
              <a:buChar char="§"/>
              <a:defRPr sz="1800">
                <a:solidFill>
                  <a:schemeClr val="tx1"/>
                </a:solidFill>
              </a:defRPr>
            </a:lvl3pPr>
            <a:lvl4pPr algn="just">
              <a:lnSpc>
                <a:spcPct val="114000"/>
              </a:lnSpc>
              <a:buClr>
                <a:schemeClr val="accent6"/>
              </a:buClr>
              <a:defRPr sz="1600">
                <a:solidFill>
                  <a:schemeClr val="tx1"/>
                </a:solidFill>
              </a:defRPr>
            </a:lvl4pPr>
            <a:lvl5pPr algn="just">
              <a:lnSpc>
                <a:spcPct val="114000"/>
              </a:lnSpc>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3" name="Straight Connector 22">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4"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663331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4" name="Group 13"/>
          <p:cNvGrpSpPr/>
          <p:nvPr userDrawn="1"/>
        </p:nvGrpSpPr>
        <p:grpSpPr>
          <a:xfrm>
            <a:off x="9792796" y="5890392"/>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14000"/>
              </a:lnSpc>
              <a:spcBef>
                <a:spcPts val="1000"/>
              </a:spcBef>
              <a:buClr>
                <a:schemeClr val="accent6"/>
              </a:buClr>
              <a:buFont typeface="Wingdings 3" panose="05040102010807070707" pitchFamily="18" charset="2"/>
              <a:buChar char=""/>
              <a:defRPr sz="2400">
                <a:solidFill>
                  <a:schemeClr val="tx1"/>
                </a:solidFill>
              </a:defRPr>
            </a:lvl1pPr>
            <a:lvl2pPr marL="809625" indent="-352425" algn="just">
              <a:lnSpc>
                <a:spcPct val="114000"/>
              </a:lnSpc>
              <a:spcBef>
                <a:spcPts val="1000"/>
              </a:spcBef>
              <a:buClr>
                <a:schemeClr val="accent6"/>
              </a:buClr>
              <a:buFont typeface="Wingdings 3" panose="05040102010807070707" pitchFamily="18" charset="2"/>
              <a:buChar char=""/>
              <a:defRPr sz="2000">
                <a:solidFill>
                  <a:schemeClr val="tx1"/>
                </a:solidFill>
              </a:defRPr>
            </a:lvl2pPr>
            <a:lvl3pPr marL="1143000" indent="-228600" algn="just">
              <a:lnSpc>
                <a:spcPct val="114000"/>
              </a:lnSpc>
              <a:spcBef>
                <a:spcPts val="1000"/>
              </a:spcBef>
              <a:buClr>
                <a:schemeClr val="accent6"/>
              </a:buClr>
              <a:buFont typeface="Wingdings" panose="05000000000000000000" pitchFamily="2" charset="2"/>
              <a:buChar char="§"/>
              <a:defRPr sz="1800">
                <a:solidFill>
                  <a:schemeClr val="tx1"/>
                </a:solidFill>
              </a:defRPr>
            </a:lvl3pPr>
            <a:lvl4pPr algn="just">
              <a:lnSpc>
                <a:spcPct val="114000"/>
              </a:lnSpc>
              <a:spcBef>
                <a:spcPts val="1000"/>
              </a:spcBef>
              <a:buClr>
                <a:schemeClr val="accent6"/>
              </a:buClr>
              <a:defRPr sz="1600">
                <a:solidFill>
                  <a:schemeClr val="tx1"/>
                </a:solidFill>
              </a:defRPr>
            </a:lvl4pPr>
            <a:lvl5pPr algn="just">
              <a:lnSpc>
                <a:spcPct val="114000"/>
              </a:lnSpc>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027612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4" name="Group 13"/>
          <p:cNvGrpSpPr/>
          <p:nvPr userDrawn="1"/>
        </p:nvGrpSpPr>
        <p:grpSpPr>
          <a:xfrm>
            <a:off x="-49704" y="5915792"/>
            <a:ext cx="2554142" cy="587454"/>
            <a:chOff x="2423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38918" y="58903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2423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grpSp>
        <p:nvGrpSpPr>
          <p:cNvPr id="14" name="Group 13"/>
          <p:cNvGrpSpPr/>
          <p:nvPr userDrawn="1"/>
        </p:nvGrpSpPr>
        <p:grpSpPr>
          <a:xfrm>
            <a:off x="9752158" y="102445"/>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0" name="Straight Connector 19">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grpSp>
        <p:nvGrpSpPr>
          <p:cNvPr id="14" name="Group 13"/>
          <p:cNvGrpSpPr/>
          <p:nvPr userDrawn="1"/>
        </p:nvGrpSpPr>
        <p:grpSpPr>
          <a:xfrm>
            <a:off x="9726758" y="6003345"/>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1" name="Straight Connector 20">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grpSp>
        <p:nvGrpSpPr>
          <p:cNvPr id="14" name="Group 13"/>
          <p:cNvGrpSpPr/>
          <p:nvPr userDrawn="1"/>
        </p:nvGrpSpPr>
        <p:grpSpPr>
          <a:xfrm>
            <a:off x="-249812" y="5990021"/>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1" name="Straight Connector 20">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571999"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Unit 3 (Part 2) – Tree -  Non-Linear Data Structure</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normAutofit/>
          </a:bodyPr>
          <a:lstStyle>
            <a:lvl1pPr algn="l">
              <a:defRPr lang="en-US" sz="4400" b="0" kern="1200" dirty="0">
                <a:solidFill>
                  <a:schemeClr val="tx1"/>
                </a:solidFill>
                <a:latin typeface="+mj-lt"/>
                <a:ea typeface="Open Sans Semibold" panose="020B0706030804020204" pitchFamily="34" charset="0"/>
                <a:cs typeface="Open Sans Semibold" panose="020B0706030804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defRPr lang="en-US" sz="1600" kern="1200" dirty="0">
                <a:solidFill>
                  <a:schemeClr val="tx1"/>
                </a:solidFill>
                <a:latin typeface="+mj-lt"/>
                <a:ea typeface="Times New Roman" panose="02020603050405020304" pitchFamily="18" charset="0"/>
                <a:cs typeface="Times New Roman" panose="02020603050405020304" pitchFamily="18" charset="0"/>
              </a:defRPr>
            </a:lvl5pPr>
          </a:lstStyle>
          <a:p>
            <a:pPr marL="342900" lvl="0" indent="-342900" algn="l" defTabSz="914400" rtl="0" eaLnBrk="1" latinLnBrk="0" hangingPunct="1">
              <a:lnSpc>
                <a:spcPct val="90000"/>
              </a:lnSpc>
              <a:spcBef>
                <a:spcPts val="600"/>
              </a:spcBef>
              <a:buClrTx/>
              <a:buFont typeface="Wingdings" panose="05000000000000000000" pitchFamily="2" charset="2"/>
              <a:buChar char="§"/>
            </a:pPr>
            <a:r>
              <a:rPr lang="en-US" dirty="0" smtClean="0"/>
              <a:t>Click to edit Master text styles</a:t>
            </a:r>
          </a:p>
          <a:p>
            <a:pPr marL="625475" lvl="1" indent="-263525" algn="just" defTabSz="914400" rtl="0" eaLnBrk="1" latinLnBrk="0" hangingPunct="1">
              <a:lnSpc>
                <a:spcPct val="90000"/>
              </a:lnSpc>
              <a:spcBef>
                <a:spcPts val="600"/>
              </a:spcBef>
              <a:buClrTx/>
              <a:buFont typeface="Arial" panose="020B0604020202020204" pitchFamily="34" charset="0"/>
              <a:buChar char="•"/>
            </a:pPr>
            <a:r>
              <a:rPr lang="en-US" dirty="0" smtClean="0"/>
              <a:t>Second level</a:t>
            </a:r>
          </a:p>
          <a:p>
            <a:pPr marL="896938" lvl="2" indent="-271463" algn="just" defTabSz="914400" rtl="0" eaLnBrk="1" latinLnBrk="0" hangingPunct="1">
              <a:lnSpc>
                <a:spcPct val="90000"/>
              </a:lnSpc>
              <a:spcBef>
                <a:spcPts val="600"/>
              </a:spcBef>
              <a:buClrTx/>
              <a:buFont typeface="Arial" pitchFamily="34" charset="0"/>
              <a:buChar char="•"/>
            </a:pPr>
            <a:r>
              <a:rPr lang="en-US" dirty="0" smtClean="0"/>
              <a:t>Third level</a:t>
            </a:r>
          </a:p>
          <a:p>
            <a:pPr marL="1168400" lvl="3" indent="-271463" algn="just" defTabSz="914400" rtl="0" eaLnBrk="1" latinLnBrk="0" hangingPunct="1">
              <a:lnSpc>
                <a:spcPct val="90000"/>
              </a:lnSpc>
              <a:spcBef>
                <a:spcPts val="600"/>
              </a:spcBef>
              <a:buClrTx/>
              <a:buFont typeface="Arial" pitchFamily="34" charset="0"/>
              <a:buChar char="–"/>
            </a:pPr>
            <a:r>
              <a:rPr lang="en-US" dirty="0" smtClean="0"/>
              <a:t>Fourth level</a:t>
            </a:r>
          </a:p>
          <a:p>
            <a:pPr marL="1439863" lvl="4" indent="-271463" algn="just" defTabSz="914400" rtl="0" eaLnBrk="1" latinLnBrk="0" hangingPunct="1">
              <a:lnSpc>
                <a:spcPct val="90000"/>
              </a:lnSpc>
              <a:spcBef>
                <a:spcPts val="600"/>
              </a:spcBef>
              <a:buClrTx/>
              <a:buFont typeface="Arial" pitchFamily="34" charset="0"/>
              <a:buChar char="»"/>
            </a:pPr>
            <a:r>
              <a:rPr lang="en-US" dirty="0" smtClean="0"/>
              <a:t>Fifth level</a:t>
            </a:r>
            <a:endParaRPr lang="en-US" dirty="0"/>
          </a:p>
        </p:txBody>
      </p:sp>
      <p:sp>
        <p:nvSpPr>
          <p:cNvPr id="5" name="Rektangel 11"/>
          <p:cNvSpPr/>
          <p:nvPr userDrawn="1"/>
        </p:nvSpPr>
        <p:spPr>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noProof="1" smtClean="0">
                <a:solidFill>
                  <a:srgbClr val="FFFFFF"/>
                </a:solidFill>
                <a:latin typeface="+mj-lt"/>
                <a:ea typeface="Open Sans" panose="020B0606030504020204" pitchFamily="34" charset="0"/>
                <a:cs typeface="Open Sans" panose="020B0606030504020204" pitchFamily="34" charset="0"/>
              </a:rPr>
              <a:t>Unit</a:t>
            </a:r>
            <a:r>
              <a:rPr lang="da-DK" sz="1800" baseline="0" noProof="1" smtClean="0">
                <a:solidFill>
                  <a:srgbClr val="FFFFFF"/>
                </a:solidFill>
                <a:latin typeface="+mj-lt"/>
                <a:ea typeface="Open Sans" panose="020B0606030504020204" pitchFamily="34" charset="0"/>
                <a:cs typeface="Open Sans" panose="020B0606030504020204" pitchFamily="34" charset="0"/>
              </a:rPr>
              <a:t> – 2: </a:t>
            </a:r>
            <a:r>
              <a:rPr lang="en-US" sz="1800" dirty="0" smtClean="0"/>
              <a:t>Linear Data Structure</a:t>
            </a: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ktangel 11"/>
          <p:cNvSpPr/>
          <p:nvPr userDrawn="1"/>
        </p:nvSpPr>
        <p:spPr>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noProof="1" smtClean="0">
                <a:solidFill>
                  <a:srgbClr val="FFFFFF"/>
                </a:solidFill>
                <a:latin typeface="+mj-lt"/>
                <a:ea typeface="Open Sans" panose="020B0606030504020204" pitchFamily="34" charset="0"/>
                <a:cs typeface="Open Sans" panose="020B0606030504020204" pitchFamily="34" charset="0"/>
              </a:rPr>
              <a:t>Darshan</a:t>
            </a:r>
            <a:r>
              <a:rPr lang="en-US" sz="1800" baseline="0" noProof="1" smtClean="0">
                <a:solidFill>
                  <a:srgbClr val="FFFFFF"/>
                </a:solidFill>
                <a:latin typeface="+mj-lt"/>
                <a:ea typeface="Open Sans" panose="020B0606030504020204" pitchFamily="34" charset="0"/>
                <a:cs typeface="Open Sans" panose="020B0606030504020204" pitchFamily="34" charset="0"/>
              </a:rPr>
              <a:t> Institute of Engineering &amp; Technology</a:t>
            </a:r>
            <a:endParaRPr lang="da-DK" sz="1800" noProof="1">
              <a:solidFill>
                <a:srgbClr val="FFFFFF"/>
              </a:solidFill>
              <a:latin typeface="+mj-lt"/>
              <a:ea typeface="Open Sans" panose="020B0606030504020204" pitchFamily="34" charset="0"/>
              <a:cs typeface="Open Sans" panose="020B0606030504020204" pitchFamily="34" charset="0"/>
            </a:endParaRPr>
          </a:p>
        </p:txBody>
      </p:sp>
      <p:sp>
        <p:nvSpPr>
          <p:cNvPr id="10" name="Rektangel 11"/>
          <p:cNvSpPr/>
          <p:nvPr userDrawn="1"/>
        </p:nvSpPr>
        <p:spPr>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3057118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62563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7/18/2025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 id="2147483694" r:id="rId23"/>
    <p:sldLayoutId id="2147483695"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7280145" cy="2563094"/>
          </a:xfrm>
        </p:spPr>
        <p:txBody>
          <a:bodyPr/>
          <a:lstStyle/>
          <a:p>
            <a:r>
              <a:rPr lang="en-US" sz="4000" b="0" dirty="0" smtClean="0">
                <a:latin typeface="Roboto Condensed Light" panose="02000000000000000000" pitchFamily="2" charset="0"/>
                <a:ea typeface="Roboto Condensed Light" panose="02000000000000000000" pitchFamily="2" charset="0"/>
              </a:rPr>
              <a:t>Unit-3 (Part – 2)</a:t>
            </a:r>
            <a:r>
              <a:rPr lang="en-US" sz="5400" dirty="0" smtClean="0"/>
              <a:t> </a:t>
            </a:r>
            <a:r>
              <a:rPr lang="en-US" sz="5400" dirty="0"/>
              <a:t/>
            </a:r>
            <a:br>
              <a:rPr lang="en-US" sz="5400" dirty="0"/>
            </a:br>
            <a:r>
              <a:rPr lang="en-US" sz="5400" dirty="0" smtClean="0"/>
              <a:t>Tree</a:t>
            </a:r>
            <a:r>
              <a:rPr lang="en-US" sz="5400" dirty="0"/>
              <a:t/>
            </a:r>
            <a:br>
              <a:rPr lang="en-US" sz="5400" dirty="0"/>
            </a:br>
            <a:r>
              <a:rPr lang="en-US" sz="4800" b="0" dirty="0" smtClean="0"/>
              <a:t>Non-Linear </a:t>
            </a:r>
            <a:r>
              <a:rPr lang="en-US" sz="4800" b="0" dirty="0"/>
              <a:t>Data Structure </a:t>
            </a:r>
            <a:br>
              <a:rPr lang="en-US" sz="4800" b="0" dirty="0"/>
            </a:br>
            <a:endParaRPr lang="en-US" sz="6000" b="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pradyuman.jadeja@darshan.ac.in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+91 9879461848</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Dr. </a:t>
            </a:r>
            <a:r>
              <a:rPr lang="en-US" dirty="0" err="1"/>
              <a:t>Pradyumansinh</a:t>
            </a:r>
            <a:r>
              <a:rPr lang="en-US" dirty="0"/>
              <a:t> </a:t>
            </a:r>
            <a:r>
              <a:rPr lang="en-US" dirty="0" err="1"/>
              <a:t>Jadeja</a:t>
            </a:r>
            <a:endParaRPr lang="en-US"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 name="Picture Placeholder 7"/>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Tree Traversal</a:t>
            </a:r>
            <a:endParaRPr lang="en-US" dirty="0"/>
          </a:p>
        </p:txBody>
      </p:sp>
      <p:sp>
        <p:nvSpPr>
          <p:cNvPr id="3" name="Content Placeholder 2"/>
          <p:cNvSpPr>
            <a:spLocks noGrp="1"/>
          </p:cNvSpPr>
          <p:nvPr>
            <p:ph idx="1"/>
          </p:nvPr>
        </p:nvSpPr>
        <p:spPr/>
        <p:txBody>
          <a:bodyPr/>
          <a:lstStyle/>
          <a:p>
            <a:r>
              <a:rPr lang="en-IN" dirty="0"/>
              <a:t>The most common operations performed on tree structure is that of traversal</a:t>
            </a:r>
            <a:r>
              <a:rPr lang="en-IN" dirty="0" smtClean="0"/>
              <a:t>.</a:t>
            </a:r>
          </a:p>
          <a:p>
            <a:r>
              <a:rPr lang="en-IN" dirty="0"/>
              <a:t>This is a </a:t>
            </a:r>
            <a:r>
              <a:rPr lang="en-IN" b="1" dirty="0">
                <a:solidFill>
                  <a:srgbClr val="C00000"/>
                </a:solidFill>
              </a:rPr>
              <a:t>procedure by which each node in the tree is processed exactly once</a:t>
            </a:r>
            <a:r>
              <a:rPr lang="en-IN" dirty="0">
                <a:solidFill>
                  <a:srgbClr val="C00000"/>
                </a:solidFill>
              </a:rPr>
              <a:t> </a:t>
            </a:r>
            <a:r>
              <a:rPr lang="en-IN" dirty="0"/>
              <a:t>in </a:t>
            </a:r>
            <a:r>
              <a:rPr lang="en-IN" dirty="0" smtClean="0"/>
              <a:t>a </a:t>
            </a:r>
            <a:r>
              <a:rPr lang="en-IN" dirty="0"/>
              <a:t>systematic manner</a:t>
            </a:r>
            <a:r>
              <a:rPr lang="en-IN" dirty="0" smtClean="0"/>
              <a:t>.</a:t>
            </a:r>
          </a:p>
          <a:p>
            <a:r>
              <a:rPr lang="en-IN" dirty="0"/>
              <a:t>There are three ways of traversing a binary tree</a:t>
            </a:r>
            <a:r>
              <a:rPr lang="en-IN" dirty="0" smtClean="0"/>
              <a:t>.</a:t>
            </a:r>
          </a:p>
          <a:p>
            <a:pPr marL="819150" lvl="1" indent="-457200">
              <a:buFont typeface="+mj-lt"/>
              <a:buAutoNum type="arabicPeriod"/>
            </a:pPr>
            <a:r>
              <a:rPr lang="en-US" dirty="0"/>
              <a:t>Preorder Traversal</a:t>
            </a:r>
          </a:p>
          <a:p>
            <a:pPr marL="819150" lvl="1" indent="-457200">
              <a:buFont typeface="+mj-lt"/>
              <a:buAutoNum type="arabicPeriod"/>
            </a:pPr>
            <a:r>
              <a:rPr lang="en-US" dirty="0" err="1" smtClean="0"/>
              <a:t>Inorder</a:t>
            </a:r>
            <a:r>
              <a:rPr lang="en-US" dirty="0" smtClean="0"/>
              <a:t> </a:t>
            </a:r>
            <a:r>
              <a:rPr lang="en-US" dirty="0"/>
              <a:t>Traversal</a:t>
            </a:r>
          </a:p>
          <a:p>
            <a:pPr marL="819150" lvl="1" indent="-457200">
              <a:buFont typeface="+mj-lt"/>
              <a:buAutoNum type="arabicPeriod"/>
            </a:pPr>
            <a:r>
              <a:rPr lang="en-US" dirty="0" err="1" smtClean="0"/>
              <a:t>Postorder</a:t>
            </a:r>
            <a:r>
              <a:rPr lang="en-US" dirty="0" smtClean="0"/>
              <a:t> </a:t>
            </a:r>
            <a:r>
              <a:rPr lang="en-US" dirty="0"/>
              <a:t>Traversal</a:t>
            </a:r>
          </a:p>
        </p:txBody>
      </p:sp>
      <p:sp>
        <p:nvSpPr>
          <p:cNvPr id="4" name="Oval 3"/>
          <p:cNvSpPr/>
          <p:nvPr/>
        </p:nvSpPr>
        <p:spPr>
          <a:xfrm>
            <a:off x="8229600" y="233978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7700683" y="33707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7144872"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8341659"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8" name="Oval 7"/>
          <p:cNvSpPr/>
          <p:nvPr/>
        </p:nvSpPr>
        <p:spPr>
          <a:xfrm>
            <a:off x="8794376" y="33707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9" name="Oval 8"/>
          <p:cNvSpPr/>
          <p:nvPr/>
        </p:nvSpPr>
        <p:spPr>
          <a:xfrm>
            <a:off x="9363634"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0" name="Oval 9"/>
          <p:cNvSpPr/>
          <p:nvPr/>
        </p:nvSpPr>
        <p:spPr>
          <a:xfrm>
            <a:off x="8763000" y="53384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2" name="Straight Arrow Connector 11"/>
          <p:cNvCxnSpPr>
            <a:stCxn id="4" idx="3"/>
            <a:endCxn id="5" idx="0"/>
          </p:cNvCxnSpPr>
          <p:nvPr/>
        </p:nvCxnSpPr>
        <p:spPr>
          <a:xfrm flipH="1">
            <a:off x="7981483" y="2819143"/>
            <a:ext cx="330361" cy="5515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5" idx="3"/>
            <a:endCxn id="6" idx="0"/>
          </p:cNvCxnSpPr>
          <p:nvPr/>
        </p:nvCxnSpPr>
        <p:spPr>
          <a:xfrm flipH="1">
            <a:off x="7425672" y="3850083"/>
            <a:ext cx="357255"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4" idx="5"/>
            <a:endCxn id="8" idx="0"/>
          </p:cNvCxnSpPr>
          <p:nvPr/>
        </p:nvCxnSpPr>
        <p:spPr>
          <a:xfrm>
            <a:off x="8708956" y="2819143"/>
            <a:ext cx="366220" cy="5515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8" idx="3"/>
            <a:endCxn id="7" idx="0"/>
          </p:cNvCxnSpPr>
          <p:nvPr/>
        </p:nvCxnSpPr>
        <p:spPr>
          <a:xfrm flipH="1">
            <a:off x="8622459" y="3850083"/>
            <a:ext cx="254161"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8" idx="5"/>
            <a:endCxn id="9" idx="0"/>
          </p:cNvCxnSpPr>
          <p:nvPr/>
        </p:nvCxnSpPr>
        <p:spPr>
          <a:xfrm>
            <a:off x="9273732" y="3850083"/>
            <a:ext cx="370702"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7" idx="5"/>
            <a:endCxn id="10" idx="0"/>
          </p:cNvCxnSpPr>
          <p:nvPr/>
        </p:nvCxnSpPr>
        <p:spPr>
          <a:xfrm>
            <a:off x="8821015" y="4854129"/>
            <a:ext cx="222785"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7604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Preorder</a:t>
            </a:r>
            <a:r>
              <a:rPr lang="en-IN" dirty="0" smtClean="0"/>
              <a:t> Traversal</a:t>
            </a:r>
            <a:endParaRPr lang="en-US" dirty="0"/>
          </a:p>
        </p:txBody>
      </p:sp>
      <p:sp>
        <p:nvSpPr>
          <p:cNvPr id="3" name="Content Placeholder 2"/>
          <p:cNvSpPr>
            <a:spLocks noGrp="1"/>
          </p:cNvSpPr>
          <p:nvPr>
            <p:ph idx="1"/>
          </p:nvPr>
        </p:nvSpPr>
        <p:spPr>
          <a:xfrm>
            <a:off x="131181" y="863444"/>
            <a:ext cx="7214848" cy="5590565"/>
          </a:xfrm>
        </p:spPr>
        <p:txBody>
          <a:bodyPr>
            <a:normAutofit/>
          </a:bodyPr>
          <a:lstStyle/>
          <a:p>
            <a:r>
              <a:rPr lang="en-IN" dirty="0" err="1"/>
              <a:t>Preorder</a:t>
            </a:r>
            <a:r>
              <a:rPr lang="en-IN" dirty="0"/>
              <a:t> traversal of a binary tree is defined as </a:t>
            </a:r>
            <a:r>
              <a:rPr lang="en-IN" dirty="0" smtClean="0"/>
              <a:t>follow</a:t>
            </a:r>
          </a:p>
          <a:p>
            <a:pPr marL="819150" lvl="1" indent="-457200">
              <a:buClr>
                <a:schemeClr val="tx1"/>
              </a:buClr>
              <a:buFont typeface="+mj-lt"/>
              <a:buAutoNum type="arabicPeriod"/>
            </a:pPr>
            <a:r>
              <a:rPr lang="en-IN" b="1" dirty="0">
                <a:solidFill>
                  <a:srgbClr val="C00000"/>
                </a:solidFill>
              </a:rPr>
              <a:t>Process</a:t>
            </a:r>
            <a:r>
              <a:rPr lang="en-IN" dirty="0">
                <a:solidFill>
                  <a:srgbClr val="C00000"/>
                </a:solidFill>
              </a:rPr>
              <a:t> </a:t>
            </a:r>
            <a:r>
              <a:rPr lang="en-IN" dirty="0"/>
              <a:t>the </a:t>
            </a:r>
            <a:r>
              <a:rPr lang="en-IN" b="1" dirty="0">
                <a:solidFill>
                  <a:srgbClr val="C00000"/>
                </a:solidFill>
              </a:rPr>
              <a:t>root node</a:t>
            </a:r>
          </a:p>
          <a:p>
            <a:pPr marL="819150" lvl="1" indent="-457200">
              <a:buClr>
                <a:schemeClr val="tx1"/>
              </a:buClr>
              <a:buFont typeface="+mj-lt"/>
              <a:buAutoNum type="arabicPeriod"/>
            </a:pPr>
            <a:r>
              <a:rPr lang="en-IN" b="1" dirty="0" smtClean="0">
                <a:solidFill>
                  <a:srgbClr val="C00000"/>
                </a:solidFill>
              </a:rPr>
              <a:t>Traverse</a:t>
            </a:r>
            <a:r>
              <a:rPr lang="en-IN" dirty="0" smtClean="0">
                <a:solidFill>
                  <a:srgbClr val="C00000"/>
                </a:solidFill>
              </a:rPr>
              <a:t> </a:t>
            </a:r>
            <a:r>
              <a:rPr lang="en-IN" dirty="0"/>
              <a:t>the </a:t>
            </a:r>
            <a:r>
              <a:rPr lang="en-IN" b="1" dirty="0">
                <a:solidFill>
                  <a:srgbClr val="C00000"/>
                </a:solidFill>
              </a:rPr>
              <a:t>left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a:t>preorder</a:t>
            </a:r>
            <a:endParaRPr lang="en-IN" dirty="0"/>
          </a:p>
          <a:p>
            <a:pPr marL="819150" lvl="1" indent="-457200">
              <a:buClr>
                <a:schemeClr val="tx1"/>
              </a:buClr>
              <a:buFont typeface="+mj-lt"/>
              <a:buAutoNum type="arabicPeriod"/>
            </a:pPr>
            <a:r>
              <a:rPr lang="en-IN" b="1" dirty="0" smtClean="0">
                <a:solidFill>
                  <a:srgbClr val="C00000"/>
                </a:solidFill>
              </a:rPr>
              <a:t>Traverse</a:t>
            </a:r>
            <a:r>
              <a:rPr lang="en-IN" dirty="0" smtClean="0">
                <a:solidFill>
                  <a:srgbClr val="C00000"/>
                </a:solidFill>
              </a:rPr>
              <a:t> </a:t>
            </a:r>
            <a:r>
              <a:rPr lang="en-IN" dirty="0"/>
              <a:t>the </a:t>
            </a:r>
            <a:r>
              <a:rPr lang="en-IN" b="1" dirty="0">
                <a:solidFill>
                  <a:srgbClr val="C00000"/>
                </a:solidFill>
              </a:rPr>
              <a:t>right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a:t>preorder</a:t>
            </a:r>
            <a:endParaRPr lang="en-IN" dirty="0"/>
          </a:p>
          <a:p>
            <a:r>
              <a:rPr lang="en-IN" dirty="0" smtClean="0"/>
              <a:t>If </a:t>
            </a:r>
            <a:r>
              <a:rPr lang="en-IN" dirty="0"/>
              <a:t>particular </a:t>
            </a:r>
            <a:r>
              <a:rPr lang="en-IN" b="1" dirty="0" err="1"/>
              <a:t>subtree</a:t>
            </a:r>
            <a:r>
              <a:rPr lang="en-IN" b="1" dirty="0"/>
              <a:t> is empty </a:t>
            </a:r>
            <a:r>
              <a:rPr lang="en-IN" dirty="0"/>
              <a:t>(i.e., node has no left or right descendant) the traversal is performed by </a:t>
            </a:r>
            <a:r>
              <a:rPr lang="en-IN" b="1" dirty="0"/>
              <a:t>doing </a:t>
            </a:r>
            <a:r>
              <a:rPr lang="en-IN" b="1" dirty="0" smtClean="0"/>
              <a:t>nothing.</a:t>
            </a:r>
          </a:p>
          <a:p>
            <a:r>
              <a:rPr lang="en-IN" dirty="0" smtClean="0"/>
              <a:t>In </a:t>
            </a:r>
            <a:r>
              <a:rPr lang="en-IN" dirty="0"/>
              <a:t>other words, a </a:t>
            </a:r>
            <a:r>
              <a:rPr lang="en-IN" b="1" dirty="0"/>
              <a:t>null </a:t>
            </a:r>
            <a:r>
              <a:rPr lang="en-IN" b="1" dirty="0" err="1"/>
              <a:t>subtree</a:t>
            </a:r>
            <a:r>
              <a:rPr lang="en-IN" b="1" dirty="0"/>
              <a:t> </a:t>
            </a:r>
            <a:r>
              <a:rPr lang="en-IN" dirty="0"/>
              <a:t>is </a:t>
            </a:r>
            <a:r>
              <a:rPr lang="en-IN" b="1" dirty="0"/>
              <a:t>considered to be fully traversed </a:t>
            </a:r>
            <a:r>
              <a:rPr lang="en-IN" dirty="0"/>
              <a:t>when it is </a:t>
            </a:r>
            <a:r>
              <a:rPr lang="en-IN" dirty="0" smtClean="0"/>
              <a:t>encountered.</a:t>
            </a:r>
            <a:endParaRPr lang="en-US" dirty="0"/>
          </a:p>
        </p:txBody>
      </p:sp>
      <p:sp>
        <p:nvSpPr>
          <p:cNvPr id="4" name="Oval 3"/>
          <p:cNvSpPr/>
          <p:nvPr/>
        </p:nvSpPr>
        <p:spPr>
          <a:xfrm>
            <a:off x="9390527" y="12954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8942292" y="219187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8480610"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9475692"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8" name="Oval 7"/>
          <p:cNvSpPr/>
          <p:nvPr/>
        </p:nvSpPr>
        <p:spPr>
          <a:xfrm>
            <a:off x="9914962" y="219187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9" name="Oval 8"/>
          <p:cNvSpPr/>
          <p:nvPr/>
        </p:nvSpPr>
        <p:spPr>
          <a:xfrm>
            <a:off x="10403538"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0" name="Oval 9"/>
          <p:cNvSpPr/>
          <p:nvPr/>
        </p:nvSpPr>
        <p:spPr>
          <a:xfrm>
            <a:off x="9923927" y="391757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1" name="Straight Arrow Connector 10"/>
          <p:cNvCxnSpPr>
            <a:stCxn id="4" idx="3"/>
            <a:endCxn id="5" idx="0"/>
          </p:cNvCxnSpPr>
          <p:nvPr/>
        </p:nvCxnSpPr>
        <p:spPr>
          <a:xfrm flipH="1">
            <a:off x="9223092" y="1774756"/>
            <a:ext cx="249679"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5" idx="3"/>
            <a:endCxn id="6" idx="0"/>
          </p:cNvCxnSpPr>
          <p:nvPr/>
        </p:nvCxnSpPr>
        <p:spPr>
          <a:xfrm flipH="1">
            <a:off x="8761410" y="2671226"/>
            <a:ext cx="263126"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4" idx="5"/>
            <a:endCxn id="8" idx="0"/>
          </p:cNvCxnSpPr>
          <p:nvPr/>
        </p:nvCxnSpPr>
        <p:spPr>
          <a:xfrm>
            <a:off x="9869883" y="1774756"/>
            <a:ext cx="325879"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8" idx="3"/>
            <a:endCxn id="7" idx="0"/>
          </p:cNvCxnSpPr>
          <p:nvPr/>
        </p:nvCxnSpPr>
        <p:spPr>
          <a:xfrm flipH="1">
            <a:off x="9756492" y="2671226"/>
            <a:ext cx="240714"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8" idx="5"/>
            <a:endCxn id="9" idx="0"/>
          </p:cNvCxnSpPr>
          <p:nvPr/>
        </p:nvCxnSpPr>
        <p:spPr>
          <a:xfrm>
            <a:off x="10394318" y="2671226"/>
            <a:ext cx="290020"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5"/>
            <a:endCxn id="10" idx="0"/>
          </p:cNvCxnSpPr>
          <p:nvPr/>
        </p:nvCxnSpPr>
        <p:spPr>
          <a:xfrm>
            <a:off x="9955048" y="3567696"/>
            <a:ext cx="249679" cy="3498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7" name="TextBox 16"/>
          <p:cNvSpPr txBox="1"/>
          <p:nvPr/>
        </p:nvSpPr>
        <p:spPr>
          <a:xfrm>
            <a:off x="8507474" y="5362844"/>
            <a:ext cx="369012" cy="461665"/>
          </a:xfrm>
          <a:prstGeom prst="rect">
            <a:avLst/>
          </a:prstGeom>
          <a:noFill/>
        </p:spPr>
        <p:txBody>
          <a:bodyPr wrap="none" rtlCol="0">
            <a:spAutoFit/>
          </a:bodyPr>
          <a:lstStyle/>
          <a:p>
            <a:pPr algn="ctr"/>
            <a:r>
              <a:rPr lang="en-IN" sz="2400" b="1" dirty="0">
                <a:solidFill>
                  <a:srgbClr val="C00000"/>
                </a:solidFill>
              </a:rPr>
              <a:t>A</a:t>
            </a:r>
            <a:endParaRPr lang="en-US" sz="2400" b="1" dirty="0">
              <a:solidFill>
                <a:srgbClr val="C00000"/>
              </a:solidFill>
            </a:endParaRPr>
          </a:p>
        </p:txBody>
      </p:sp>
      <p:sp>
        <p:nvSpPr>
          <p:cNvPr id="18" name="TextBox 17"/>
          <p:cNvSpPr txBox="1"/>
          <p:nvPr/>
        </p:nvSpPr>
        <p:spPr>
          <a:xfrm>
            <a:off x="8918520" y="5362844"/>
            <a:ext cx="357790" cy="461665"/>
          </a:xfrm>
          <a:prstGeom prst="rect">
            <a:avLst/>
          </a:prstGeom>
          <a:noFill/>
        </p:spPr>
        <p:txBody>
          <a:bodyPr wrap="none" rtlCol="0">
            <a:spAutoFit/>
          </a:bodyPr>
          <a:lstStyle/>
          <a:p>
            <a:pPr algn="ctr"/>
            <a:r>
              <a:rPr lang="en-IN" sz="2400" b="1" dirty="0">
                <a:solidFill>
                  <a:srgbClr val="C00000"/>
                </a:solidFill>
              </a:rPr>
              <a:t>B</a:t>
            </a:r>
            <a:endParaRPr lang="en-US" sz="2400" b="1" dirty="0">
              <a:solidFill>
                <a:srgbClr val="C00000"/>
              </a:solidFill>
            </a:endParaRPr>
          </a:p>
        </p:txBody>
      </p:sp>
      <p:sp>
        <p:nvSpPr>
          <p:cNvPr id="19" name="TextBox 18"/>
          <p:cNvSpPr txBox="1"/>
          <p:nvPr/>
        </p:nvSpPr>
        <p:spPr>
          <a:xfrm>
            <a:off x="9318344" y="5362844"/>
            <a:ext cx="360996" cy="461665"/>
          </a:xfrm>
          <a:prstGeom prst="rect">
            <a:avLst/>
          </a:prstGeom>
          <a:noFill/>
        </p:spPr>
        <p:txBody>
          <a:bodyPr wrap="none" rtlCol="0">
            <a:spAutoFit/>
          </a:bodyPr>
          <a:lstStyle/>
          <a:p>
            <a:pPr algn="ctr"/>
            <a:r>
              <a:rPr lang="en-IN" sz="2400" b="1" dirty="0">
                <a:solidFill>
                  <a:srgbClr val="C00000"/>
                </a:solidFill>
              </a:rPr>
              <a:t>C</a:t>
            </a:r>
            <a:endParaRPr lang="en-US" sz="2400" b="1" dirty="0">
              <a:solidFill>
                <a:srgbClr val="C00000"/>
              </a:solidFill>
            </a:endParaRPr>
          </a:p>
        </p:txBody>
      </p:sp>
      <p:sp>
        <p:nvSpPr>
          <p:cNvPr id="20" name="Rectangle 19"/>
          <p:cNvSpPr/>
          <p:nvPr/>
        </p:nvSpPr>
        <p:spPr>
          <a:xfrm>
            <a:off x="9721374" y="5362844"/>
            <a:ext cx="357790" cy="461665"/>
          </a:xfrm>
          <a:prstGeom prst="rect">
            <a:avLst/>
          </a:prstGeom>
        </p:spPr>
        <p:txBody>
          <a:bodyPr wrap="none">
            <a:spAutoFit/>
          </a:bodyPr>
          <a:lstStyle/>
          <a:p>
            <a:r>
              <a:rPr lang="en-IN" sz="2400" b="1" dirty="0">
                <a:solidFill>
                  <a:srgbClr val="C00000"/>
                </a:solidFill>
              </a:rPr>
              <a:t>D</a:t>
            </a:r>
            <a:endParaRPr lang="en-US" sz="2400" b="1" dirty="0"/>
          </a:p>
        </p:txBody>
      </p:sp>
      <p:sp>
        <p:nvSpPr>
          <p:cNvPr id="21" name="Rectangle 20"/>
          <p:cNvSpPr/>
          <p:nvPr/>
        </p:nvSpPr>
        <p:spPr>
          <a:xfrm>
            <a:off x="10121198" y="5362844"/>
            <a:ext cx="335348" cy="461665"/>
          </a:xfrm>
          <a:prstGeom prst="rect">
            <a:avLst/>
          </a:prstGeom>
        </p:spPr>
        <p:txBody>
          <a:bodyPr wrap="none">
            <a:spAutoFit/>
          </a:bodyPr>
          <a:lstStyle/>
          <a:p>
            <a:r>
              <a:rPr lang="en-IN" sz="2400" b="1" dirty="0">
                <a:solidFill>
                  <a:srgbClr val="C00000"/>
                </a:solidFill>
              </a:rPr>
              <a:t>E</a:t>
            </a:r>
            <a:endParaRPr lang="en-US" sz="2400" b="1" dirty="0"/>
          </a:p>
        </p:txBody>
      </p:sp>
      <p:sp>
        <p:nvSpPr>
          <p:cNvPr id="22" name="Rectangle 21"/>
          <p:cNvSpPr/>
          <p:nvPr/>
        </p:nvSpPr>
        <p:spPr>
          <a:xfrm>
            <a:off x="10498580" y="5362844"/>
            <a:ext cx="330540" cy="461665"/>
          </a:xfrm>
          <a:prstGeom prst="rect">
            <a:avLst/>
          </a:prstGeom>
        </p:spPr>
        <p:txBody>
          <a:bodyPr wrap="none">
            <a:spAutoFit/>
          </a:bodyPr>
          <a:lstStyle/>
          <a:p>
            <a:r>
              <a:rPr lang="en-IN" sz="2400" b="1" dirty="0">
                <a:solidFill>
                  <a:srgbClr val="C00000"/>
                </a:solidFill>
              </a:rPr>
              <a:t>F</a:t>
            </a:r>
            <a:endParaRPr lang="en-US" sz="2400" b="1" dirty="0"/>
          </a:p>
        </p:txBody>
      </p:sp>
      <p:sp>
        <p:nvSpPr>
          <p:cNvPr id="23" name="Rectangle 22"/>
          <p:cNvSpPr/>
          <p:nvPr/>
        </p:nvSpPr>
        <p:spPr>
          <a:xfrm>
            <a:off x="10871153" y="5362844"/>
            <a:ext cx="364202" cy="461665"/>
          </a:xfrm>
          <a:prstGeom prst="rect">
            <a:avLst/>
          </a:prstGeom>
        </p:spPr>
        <p:txBody>
          <a:bodyPr wrap="none">
            <a:spAutoFit/>
          </a:bodyPr>
          <a:lstStyle/>
          <a:p>
            <a:r>
              <a:rPr lang="en-IN" sz="2400" b="1" dirty="0">
                <a:solidFill>
                  <a:srgbClr val="C00000"/>
                </a:solidFill>
              </a:rPr>
              <a:t>G</a:t>
            </a:r>
            <a:endParaRPr lang="en-US" sz="2400" b="1" dirty="0"/>
          </a:p>
        </p:txBody>
      </p:sp>
      <p:sp>
        <p:nvSpPr>
          <p:cNvPr id="24" name="TextBox 23"/>
          <p:cNvSpPr txBox="1"/>
          <p:nvPr/>
        </p:nvSpPr>
        <p:spPr>
          <a:xfrm>
            <a:off x="8000999" y="4827493"/>
            <a:ext cx="3953435" cy="400110"/>
          </a:xfrm>
          <a:prstGeom prst="rect">
            <a:avLst/>
          </a:prstGeom>
          <a:noFill/>
        </p:spPr>
        <p:txBody>
          <a:bodyPr wrap="square" rtlCol="0">
            <a:spAutoFit/>
          </a:bodyPr>
          <a:lstStyle/>
          <a:p>
            <a:r>
              <a:rPr lang="en-IN" sz="2000" b="1" dirty="0" err="1"/>
              <a:t>Preorder</a:t>
            </a:r>
            <a:r>
              <a:rPr lang="en-IN" sz="2000" b="1" dirty="0"/>
              <a:t> traversal of a </a:t>
            </a:r>
            <a:r>
              <a:rPr lang="en-IN" sz="2000" b="1" dirty="0" smtClean="0"/>
              <a:t>given </a:t>
            </a:r>
            <a:r>
              <a:rPr lang="en-IN" sz="2000" b="1" dirty="0"/>
              <a:t>tree as</a:t>
            </a:r>
            <a:endParaRPr lang="en-US" sz="2000" b="1" dirty="0"/>
          </a:p>
        </p:txBody>
      </p:sp>
      <p:sp>
        <p:nvSpPr>
          <p:cNvPr id="25" name="TextBox 24"/>
          <p:cNvSpPr txBox="1"/>
          <p:nvPr/>
        </p:nvSpPr>
        <p:spPr>
          <a:xfrm>
            <a:off x="9936203" y="1376145"/>
            <a:ext cx="377026" cy="400110"/>
          </a:xfrm>
          <a:prstGeom prst="rect">
            <a:avLst/>
          </a:prstGeom>
          <a:noFill/>
        </p:spPr>
        <p:txBody>
          <a:bodyPr wrap="none" rtlCol="0">
            <a:spAutoFit/>
          </a:bodyPr>
          <a:lstStyle/>
          <a:p>
            <a:r>
              <a:rPr lang="en-US" sz="2000" dirty="0">
                <a:solidFill>
                  <a:srgbClr val="C00000"/>
                </a:solidFill>
              </a:rPr>
              <a:t>✓</a:t>
            </a:r>
          </a:p>
        </p:txBody>
      </p:sp>
      <p:sp>
        <p:nvSpPr>
          <p:cNvPr id="26" name="TextBox 25"/>
          <p:cNvSpPr txBox="1"/>
          <p:nvPr/>
        </p:nvSpPr>
        <p:spPr>
          <a:xfrm>
            <a:off x="9457353" y="2272615"/>
            <a:ext cx="377026" cy="400110"/>
          </a:xfrm>
          <a:prstGeom prst="rect">
            <a:avLst/>
          </a:prstGeom>
          <a:noFill/>
        </p:spPr>
        <p:txBody>
          <a:bodyPr wrap="none" rtlCol="0">
            <a:spAutoFit/>
          </a:bodyPr>
          <a:lstStyle/>
          <a:p>
            <a:r>
              <a:rPr lang="en-US" sz="2000" dirty="0">
                <a:solidFill>
                  <a:srgbClr val="C00000"/>
                </a:solidFill>
              </a:rPr>
              <a:t>✓</a:t>
            </a:r>
          </a:p>
        </p:txBody>
      </p:sp>
      <p:sp>
        <p:nvSpPr>
          <p:cNvPr id="27" name="TextBox 26"/>
          <p:cNvSpPr txBox="1"/>
          <p:nvPr/>
        </p:nvSpPr>
        <p:spPr>
          <a:xfrm>
            <a:off x="9001909" y="3169085"/>
            <a:ext cx="377026" cy="400110"/>
          </a:xfrm>
          <a:prstGeom prst="rect">
            <a:avLst/>
          </a:prstGeom>
          <a:noFill/>
        </p:spPr>
        <p:txBody>
          <a:bodyPr wrap="none" rtlCol="0">
            <a:spAutoFit/>
          </a:bodyPr>
          <a:lstStyle/>
          <a:p>
            <a:r>
              <a:rPr lang="en-US" sz="2000" dirty="0">
                <a:solidFill>
                  <a:srgbClr val="C00000"/>
                </a:solidFill>
              </a:rPr>
              <a:t>✓</a:t>
            </a:r>
          </a:p>
        </p:txBody>
      </p:sp>
      <p:sp>
        <p:nvSpPr>
          <p:cNvPr id="28" name="TextBox 27"/>
          <p:cNvSpPr txBox="1"/>
          <p:nvPr/>
        </p:nvSpPr>
        <p:spPr>
          <a:xfrm>
            <a:off x="10451655" y="2272615"/>
            <a:ext cx="377026" cy="400110"/>
          </a:xfrm>
          <a:prstGeom prst="rect">
            <a:avLst/>
          </a:prstGeom>
          <a:noFill/>
        </p:spPr>
        <p:txBody>
          <a:bodyPr wrap="none" rtlCol="0">
            <a:spAutoFit/>
          </a:bodyPr>
          <a:lstStyle/>
          <a:p>
            <a:r>
              <a:rPr lang="en-US" sz="2000" dirty="0">
                <a:solidFill>
                  <a:srgbClr val="C00000"/>
                </a:solidFill>
              </a:rPr>
              <a:t>✓</a:t>
            </a:r>
          </a:p>
        </p:txBody>
      </p:sp>
      <p:sp>
        <p:nvSpPr>
          <p:cNvPr id="29" name="TextBox 28"/>
          <p:cNvSpPr txBox="1"/>
          <p:nvPr/>
        </p:nvSpPr>
        <p:spPr>
          <a:xfrm>
            <a:off x="9981419" y="3169085"/>
            <a:ext cx="377026" cy="400110"/>
          </a:xfrm>
          <a:prstGeom prst="rect">
            <a:avLst/>
          </a:prstGeom>
          <a:noFill/>
        </p:spPr>
        <p:txBody>
          <a:bodyPr wrap="none" rtlCol="0">
            <a:spAutoFit/>
          </a:bodyPr>
          <a:lstStyle/>
          <a:p>
            <a:r>
              <a:rPr lang="en-US" sz="2000" dirty="0">
                <a:solidFill>
                  <a:srgbClr val="C00000"/>
                </a:solidFill>
              </a:rPr>
              <a:t>✓</a:t>
            </a:r>
          </a:p>
        </p:txBody>
      </p:sp>
      <p:sp>
        <p:nvSpPr>
          <p:cNvPr id="30" name="TextBox 29"/>
          <p:cNvSpPr txBox="1"/>
          <p:nvPr/>
        </p:nvSpPr>
        <p:spPr>
          <a:xfrm>
            <a:off x="10475253" y="3998320"/>
            <a:ext cx="377026" cy="400110"/>
          </a:xfrm>
          <a:prstGeom prst="rect">
            <a:avLst/>
          </a:prstGeom>
          <a:noFill/>
        </p:spPr>
        <p:txBody>
          <a:bodyPr wrap="none" rtlCol="0">
            <a:spAutoFit/>
          </a:bodyPr>
          <a:lstStyle/>
          <a:p>
            <a:r>
              <a:rPr lang="en-US" sz="2000" dirty="0">
                <a:solidFill>
                  <a:srgbClr val="C00000"/>
                </a:solidFill>
              </a:rPr>
              <a:t>✓</a:t>
            </a:r>
          </a:p>
        </p:txBody>
      </p:sp>
      <p:sp>
        <p:nvSpPr>
          <p:cNvPr id="31" name="TextBox 30"/>
          <p:cNvSpPr txBox="1"/>
          <p:nvPr/>
        </p:nvSpPr>
        <p:spPr>
          <a:xfrm>
            <a:off x="10919008" y="3169085"/>
            <a:ext cx="377026" cy="400110"/>
          </a:xfrm>
          <a:prstGeom prst="rect">
            <a:avLst/>
          </a:prstGeom>
          <a:noFill/>
        </p:spPr>
        <p:txBody>
          <a:bodyPr wrap="none" rtlCol="0">
            <a:spAutoFit/>
          </a:bodyPr>
          <a:lstStyle/>
          <a:p>
            <a:r>
              <a:rPr lang="en-US" sz="2000" dirty="0">
                <a:solidFill>
                  <a:srgbClr val="C00000"/>
                </a:solidFill>
              </a:rPr>
              <a:t>✓</a:t>
            </a:r>
          </a:p>
        </p:txBody>
      </p:sp>
      <p:cxnSp>
        <p:nvCxnSpPr>
          <p:cNvPr id="33" name="Straight Connector 32"/>
          <p:cNvCxnSpPr/>
          <p:nvPr/>
        </p:nvCxnSpPr>
        <p:spPr>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2451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2000" fill="hold"/>
                                        <p:tgtEl>
                                          <p:spTgt spid="4"/>
                                        </p:tgtEl>
                                        <p:attrNameLst>
                                          <p:attrName>fillcolor</p:attrName>
                                        </p:attrNameLst>
                                      </p:cBhvr>
                                      <p:to>
                                        <a:srgbClr val="00BBD3"/>
                                      </p:to>
                                    </p:animClr>
                                    <p:set>
                                      <p:cBhvr>
                                        <p:cTn id="67" dur="2000" fill="hold"/>
                                        <p:tgtEl>
                                          <p:spTgt spid="4"/>
                                        </p:tgtEl>
                                        <p:attrNameLst>
                                          <p:attrName>fill.type</p:attrName>
                                        </p:attrNameLst>
                                      </p:cBhvr>
                                      <p:to>
                                        <p:strVal val="solid"/>
                                      </p:to>
                                    </p:set>
                                    <p:set>
                                      <p:cBhvr>
                                        <p:cTn id="68" dur="2000" fill="hold"/>
                                        <p:tgtEl>
                                          <p:spTgt spid="4"/>
                                        </p:tgtEl>
                                        <p:attrNameLst>
                                          <p:attrName>fill.on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5"/>
                                        </p:tgtEl>
                                        <p:attrNameLst>
                                          <p:attrName>fillcolor</p:attrName>
                                        </p:attrNameLst>
                                      </p:cBhvr>
                                      <p:to>
                                        <a:schemeClr val="accent2"/>
                                      </p:to>
                                    </p:animClr>
                                    <p:set>
                                      <p:cBhvr>
                                        <p:cTn id="81" dur="2000" fill="hold"/>
                                        <p:tgtEl>
                                          <p:spTgt spid="5"/>
                                        </p:tgtEl>
                                        <p:attrNameLst>
                                          <p:attrName>fill.type</p:attrName>
                                        </p:attrNameLst>
                                      </p:cBhvr>
                                      <p:to>
                                        <p:strVal val="solid"/>
                                      </p:to>
                                    </p:set>
                                    <p:set>
                                      <p:cBhvr>
                                        <p:cTn id="82" dur="2000" fill="hold"/>
                                        <p:tgtEl>
                                          <p:spTgt spid="5"/>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2" fill="hold" nodeType="clickEffect">
                                  <p:stCondLst>
                                    <p:cond delay="0"/>
                                  </p:stCondLst>
                                  <p:childTnLst>
                                    <p:animClr clrSpc="rgb" dir="cw">
                                      <p:cBhvr>
                                        <p:cTn id="94" dur="2000" fill="hold"/>
                                        <p:tgtEl>
                                          <p:spTgt spid="6"/>
                                        </p:tgtEl>
                                        <p:attrNameLst>
                                          <p:attrName>fillcolor</p:attrName>
                                        </p:attrNameLst>
                                      </p:cBhvr>
                                      <p:to>
                                        <a:schemeClr val="accent2"/>
                                      </p:to>
                                    </p:animClr>
                                    <p:set>
                                      <p:cBhvr>
                                        <p:cTn id="95" dur="2000" fill="hold"/>
                                        <p:tgtEl>
                                          <p:spTgt spid="6"/>
                                        </p:tgtEl>
                                        <p:attrNameLst>
                                          <p:attrName>fill.type</p:attrName>
                                        </p:attrNameLst>
                                      </p:cBhvr>
                                      <p:to>
                                        <p:strVal val="solid"/>
                                      </p:to>
                                    </p:set>
                                    <p:set>
                                      <p:cBhvr>
                                        <p:cTn id="96" dur="2000" fill="hold"/>
                                        <p:tgtEl>
                                          <p:spTgt spid="6"/>
                                        </p:tgtEl>
                                        <p:attrNameLst>
                                          <p:attrName>fill.on</p:attrName>
                                        </p:attrNameLst>
                                      </p:cBhvr>
                                      <p:to>
                                        <p:strVal val="tru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mph" presetSubtype="2" fill="hold" nodeType="clickEffect">
                                  <p:stCondLst>
                                    <p:cond delay="0"/>
                                  </p:stCondLst>
                                  <p:childTnLst>
                                    <p:animClr clrSpc="rgb" dir="cw">
                                      <p:cBhvr>
                                        <p:cTn id="108" dur="2000" fill="hold"/>
                                        <p:tgtEl>
                                          <p:spTgt spid="8"/>
                                        </p:tgtEl>
                                        <p:attrNameLst>
                                          <p:attrName>fillcolor</p:attrName>
                                        </p:attrNameLst>
                                      </p:cBhvr>
                                      <p:to>
                                        <a:schemeClr val="accent2"/>
                                      </p:to>
                                    </p:animClr>
                                    <p:set>
                                      <p:cBhvr>
                                        <p:cTn id="109" dur="2000" fill="hold"/>
                                        <p:tgtEl>
                                          <p:spTgt spid="8"/>
                                        </p:tgtEl>
                                        <p:attrNameLst>
                                          <p:attrName>fill.type</p:attrName>
                                        </p:attrNameLst>
                                      </p:cBhvr>
                                      <p:to>
                                        <p:strVal val="solid"/>
                                      </p:to>
                                    </p:set>
                                    <p:set>
                                      <p:cBhvr>
                                        <p:cTn id="110" dur="2000" fill="hold"/>
                                        <p:tgtEl>
                                          <p:spTgt spid="8"/>
                                        </p:tgtEl>
                                        <p:attrNameLst>
                                          <p:attrName>fill.on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2" fill="hold" nodeType="clickEffect">
                                  <p:stCondLst>
                                    <p:cond delay="0"/>
                                  </p:stCondLst>
                                  <p:childTnLst>
                                    <p:animClr clrSpc="rgb" dir="cw">
                                      <p:cBhvr>
                                        <p:cTn id="122" dur="2000" fill="hold"/>
                                        <p:tgtEl>
                                          <p:spTgt spid="7"/>
                                        </p:tgtEl>
                                        <p:attrNameLst>
                                          <p:attrName>fillcolor</p:attrName>
                                        </p:attrNameLst>
                                      </p:cBhvr>
                                      <p:to>
                                        <a:schemeClr val="accent2"/>
                                      </p:to>
                                    </p:animClr>
                                    <p:set>
                                      <p:cBhvr>
                                        <p:cTn id="123" dur="2000" fill="hold"/>
                                        <p:tgtEl>
                                          <p:spTgt spid="7"/>
                                        </p:tgtEl>
                                        <p:attrNameLst>
                                          <p:attrName>fill.type</p:attrName>
                                        </p:attrNameLst>
                                      </p:cBhvr>
                                      <p:to>
                                        <p:strVal val="solid"/>
                                      </p:to>
                                    </p:set>
                                    <p:set>
                                      <p:cBhvr>
                                        <p:cTn id="124" dur="2000" fill="hold"/>
                                        <p:tgtEl>
                                          <p:spTgt spid="7"/>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2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2" fill="hold" nodeType="clickEffect">
                                  <p:stCondLst>
                                    <p:cond delay="0"/>
                                  </p:stCondLst>
                                  <p:childTnLst>
                                    <p:animClr clrSpc="rgb" dir="cw">
                                      <p:cBhvr>
                                        <p:cTn id="136" dur="2000" fill="hold"/>
                                        <p:tgtEl>
                                          <p:spTgt spid="10"/>
                                        </p:tgtEl>
                                        <p:attrNameLst>
                                          <p:attrName>fillcolor</p:attrName>
                                        </p:attrNameLst>
                                      </p:cBhvr>
                                      <p:to>
                                        <a:schemeClr val="accent2"/>
                                      </p:to>
                                    </p:animClr>
                                    <p:set>
                                      <p:cBhvr>
                                        <p:cTn id="137" dur="2000" fill="hold"/>
                                        <p:tgtEl>
                                          <p:spTgt spid="10"/>
                                        </p:tgtEl>
                                        <p:attrNameLst>
                                          <p:attrName>fill.type</p:attrName>
                                        </p:attrNameLst>
                                      </p:cBhvr>
                                      <p:to>
                                        <p:strVal val="solid"/>
                                      </p:to>
                                    </p:set>
                                    <p:set>
                                      <p:cBhvr>
                                        <p:cTn id="138" dur="2000" fill="hold"/>
                                        <p:tgtEl>
                                          <p:spTgt spid="10"/>
                                        </p:tgtEl>
                                        <p:attrNameLst>
                                          <p:attrName>fill.on</p:attrName>
                                        </p:attrNameLst>
                                      </p:cBhvr>
                                      <p:to>
                                        <p:strVal val="tru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3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2"/>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mph" presetSubtype="2" fill="hold" nodeType="clickEffect">
                                  <p:stCondLst>
                                    <p:cond delay="0"/>
                                  </p:stCondLst>
                                  <p:childTnLst>
                                    <p:animClr clrSpc="rgb" dir="cw">
                                      <p:cBhvr>
                                        <p:cTn id="150" dur="2000" fill="hold"/>
                                        <p:tgtEl>
                                          <p:spTgt spid="9"/>
                                        </p:tgtEl>
                                        <p:attrNameLst>
                                          <p:attrName>fillcolor</p:attrName>
                                        </p:attrNameLst>
                                      </p:cBhvr>
                                      <p:to>
                                        <a:schemeClr val="accent2"/>
                                      </p:to>
                                    </p:animClr>
                                    <p:set>
                                      <p:cBhvr>
                                        <p:cTn id="151" dur="2000" fill="hold"/>
                                        <p:tgtEl>
                                          <p:spTgt spid="9"/>
                                        </p:tgtEl>
                                        <p:attrNameLst>
                                          <p:attrName>fill.type</p:attrName>
                                        </p:attrNameLst>
                                      </p:cBhvr>
                                      <p:to>
                                        <p:strVal val="solid"/>
                                      </p:to>
                                    </p:set>
                                    <p:set>
                                      <p:cBhvr>
                                        <p:cTn id="152" dur="2000" fill="hold"/>
                                        <p:tgtEl>
                                          <p:spTgt spid="9"/>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3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Inorder</a:t>
            </a:r>
            <a:r>
              <a:rPr lang="en-IN" dirty="0" smtClean="0"/>
              <a:t> </a:t>
            </a:r>
            <a:r>
              <a:rPr lang="en-IN" dirty="0"/>
              <a:t>Traversal</a:t>
            </a:r>
            <a:endParaRPr lang="en-US" dirty="0"/>
          </a:p>
        </p:txBody>
      </p:sp>
      <p:sp>
        <p:nvSpPr>
          <p:cNvPr id="4" name="Content Placeholder 2"/>
          <p:cNvSpPr>
            <a:spLocks noGrp="1"/>
          </p:cNvSpPr>
          <p:nvPr>
            <p:ph idx="1"/>
          </p:nvPr>
        </p:nvSpPr>
        <p:spPr/>
        <p:txBody>
          <a:bodyPr/>
          <a:lstStyle/>
          <a:p>
            <a:r>
              <a:rPr lang="en-IN" dirty="0" err="1" smtClean="0"/>
              <a:t>Inorder</a:t>
            </a:r>
            <a:r>
              <a:rPr lang="en-IN" dirty="0" smtClean="0"/>
              <a:t> </a:t>
            </a:r>
            <a:r>
              <a:rPr lang="en-IN" dirty="0"/>
              <a:t>traversal of a binary tree is defined as </a:t>
            </a:r>
            <a:r>
              <a:rPr lang="en-IN" dirty="0" smtClean="0"/>
              <a:t>follow</a:t>
            </a:r>
          </a:p>
          <a:p>
            <a:pPr marL="819150" lvl="1" indent="-457200">
              <a:buClr>
                <a:schemeClr val="tx1"/>
              </a:buClr>
              <a:buFont typeface="+mj-lt"/>
              <a:buAutoNum type="arabicPeriod"/>
            </a:pPr>
            <a:r>
              <a:rPr lang="en-IN" b="1" dirty="0">
                <a:solidFill>
                  <a:srgbClr val="C00000"/>
                </a:solidFill>
              </a:rPr>
              <a:t>Traverse</a:t>
            </a:r>
            <a:r>
              <a:rPr lang="en-IN" dirty="0">
                <a:solidFill>
                  <a:srgbClr val="C00000"/>
                </a:solidFill>
              </a:rPr>
              <a:t> </a:t>
            </a:r>
            <a:r>
              <a:rPr lang="en-IN" dirty="0"/>
              <a:t>the </a:t>
            </a:r>
            <a:r>
              <a:rPr lang="en-IN" b="1" dirty="0">
                <a:solidFill>
                  <a:srgbClr val="C00000"/>
                </a:solidFill>
              </a:rPr>
              <a:t>left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smtClean="0"/>
              <a:t>Inorder</a:t>
            </a:r>
            <a:endParaRPr lang="en-IN" dirty="0"/>
          </a:p>
          <a:p>
            <a:pPr marL="819150" lvl="1" indent="-457200">
              <a:buClr>
                <a:schemeClr val="tx1"/>
              </a:buClr>
              <a:buFont typeface="+mj-lt"/>
              <a:buAutoNum type="arabicPeriod"/>
            </a:pPr>
            <a:r>
              <a:rPr lang="en-IN" b="1" dirty="0" smtClean="0">
                <a:solidFill>
                  <a:srgbClr val="C00000"/>
                </a:solidFill>
              </a:rPr>
              <a:t>Process</a:t>
            </a:r>
            <a:r>
              <a:rPr lang="en-IN" dirty="0" smtClean="0">
                <a:solidFill>
                  <a:srgbClr val="C00000"/>
                </a:solidFill>
              </a:rPr>
              <a:t> </a:t>
            </a:r>
            <a:r>
              <a:rPr lang="en-IN" dirty="0"/>
              <a:t>the </a:t>
            </a:r>
            <a:r>
              <a:rPr lang="en-IN" b="1" dirty="0">
                <a:solidFill>
                  <a:srgbClr val="C00000"/>
                </a:solidFill>
              </a:rPr>
              <a:t>root</a:t>
            </a:r>
            <a:r>
              <a:rPr lang="en-IN" b="1" dirty="0">
                <a:solidFill>
                  <a:srgbClr val="FF0000"/>
                </a:solidFill>
              </a:rPr>
              <a:t> </a:t>
            </a:r>
            <a:r>
              <a:rPr lang="en-IN" b="1" dirty="0">
                <a:solidFill>
                  <a:srgbClr val="C00000"/>
                </a:solidFill>
              </a:rPr>
              <a:t>node</a:t>
            </a:r>
          </a:p>
          <a:p>
            <a:pPr marL="819150" lvl="1" indent="-457200">
              <a:buClr>
                <a:schemeClr val="tx1"/>
              </a:buClr>
              <a:buFont typeface="+mj-lt"/>
              <a:buAutoNum type="arabicPeriod"/>
            </a:pPr>
            <a:r>
              <a:rPr lang="en-IN" b="1" dirty="0" smtClean="0">
                <a:solidFill>
                  <a:srgbClr val="C00000"/>
                </a:solidFill>
              </a:rPr>
              <a:t>Traverse</a:t>
            </a:r>
            <a:r>
              <a:rPr lang="en-IN" dirty="0" smtClean="0">
                <a:solidFill>
                  <a:srgbClr val="C00000"/>
                </a:solidFill>
              </a:rPr>
              <a:t> </a:t>
            </a:r>
            <a:r>
              <a:rPr lang="en-IN" dirty="0"/>
              <a:t>the </a:t>
            </a:r>
            <a:r>
              <a:rPr lang="en-IN" b="1" dirty="0">
                <a:solidFill>
                  <a:srgbClr val="C00000"/>
                </a:solidFill>
              </a:rPr>
              <a:t>right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smtClean="0"/>
              <a:t>Inorder</a:t>
            </a:r>
            <a:endParaRPr lang="en-IN" dirty="0"/>
          </a:p>
        </p:txBody>
      </p:sp>
      <p:sp>
        <p:nvSpPr>
          <p:cNvPr id="5" name="Oval 4"/>
          <p:cNvSpPr/>
          <p:nvPr/>
        </p:nvSpPr>
        <p:spPr>
          <a:xfrm>
            <a:off x="9524997" y="116093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6" name="Oval 5"/>
          <p:cNvSpPr/>
          <p:nvPr/>
        </p:nvSpPr>
        <p:spPr>
          <a:xfrm>
            <a:off x="8969186" y="20842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7" name="Oval 6"/>
          <p:cNvSpPr/>
          <p:nvPr/>
        </p:nvSpPr>
        <p:spPr>
          <a:xfrm>
            <a:off x="8507504"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8" name="Oval 7"/>
          <p:cNvSpPr/>
          <p:nvPr/>
        </p:nvSpPr>
        <p:spPr>
          <a:xfrm>
            <a:off x="9677397"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9" name="Oval 8"/>
          <p:cNvSpPr/>
          <p:nvPr/>
        </p:nvSpPr>
        <p:spPr>
          <a:xfrm>
            <a:off x="10183902" y="20842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10" name="Oval 9"/>
          <p:cNvSpPr/>
          <p:nvPr/>
        </p:nvSpPr>
        <p:spPr>
          <a:xfrm>
            <a:off x="10753160"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1" name="Oval 10"/>
          <p:cNvSpPr/>
          <p:nvPr/>
        </p:nvSpPr>
        <p:spPr>
          <a:xfrm>
            <a:off x="10165973" y="38772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2" name="Straight Arrow Connector 11"/>
          <p:cNvCxnSpPr>
            <a:stCxn id="5" idx="3"/>
            <a:endCxn id="6" idx="0"/>
          </p:cNvCxnSpPr>
          <p:nvPr/>
        </p:nvCxnSpPr>
        <p:spPr>
          <a:xfrm flipH="1">
            <a:off x="9249986" y="1640286"/>
            <a:ext cx="357255" cy="44400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6" idx="3"/>
            <a:endCxn id="7" idx="0"/>
          </p:cNvCxnSpPr>
          <p:nvPr/>
        </p:nvCxnSpPr>
        <p:spPr>
          <a:xfrm flipH="1">
            <a:off x="8788304" y="2563650"/>
            <a:ext cx="263126"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5" idx="5"/>
            <a:endCxn id="9" idx="0"/>
          </p:cNvCxnSpPr>
          <p:nvPr/>
        </p:nvCxnSpPr>
        <p:spPr>
          <a:xfrm>
            <a:off x="10004353" y="1640286"/>
            <a:ext cx="460349" cy="44400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9" idx="3"/>
            <a:endCxn id="8" idx="0"/>
          </p:cNvCxnSpPr>
          <p:nvPr/>
        </p:nvCxnSpPr>
        <p:spPr>
          <a:xfrm flipH="1">
            <a:off x="9958197" y="2563650"/>
            <a:ext cx="307949"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9" idx="5"/>
            <a:endCxn id="10" idx="0"/>
          </p:cNvCxnSpPr>
          <p:nvPr/>
        </p:nvCxnSpPr>
        <p:spPr>
          <a:xfrm>
            <a:off x="10663258" y="2563650"/>
            <a:ext cx="370702"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8" idx="5"/>
            <a:endCxn id="11" idx="0"/>
          </p:cNvCxnSpPr>
          <p:nvPr/>
        </p:nvCxnSpPr>
        <p:spPr>
          <a:xfrm>
            <a:off x="10156753" y="3473567"/>
            <a:ext cx="290020"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9304213" y="5074136"/>
            <a:ext cx="369012" cy="461665"/>
          </a:xfrm>
          <a:prstGeom prst="rect">
            <a:avLst/>
          </a:prstGeom>
          <a:noFill/>
        </p:spPr>
        <p:txBody>
          <a:bodyPr wrap="none" rtlCol="0">
            <a:spAutoFit/>
          </a:bodyPr>
          <a:lstStyle/>
          <a:p>
            <a:pPr algn="ctr"/>
            <a:r>
              <a:rPr lang="en-IN" sz="2400" b="1" dirty="0">
                <a:solidFill>
                  <a:srgbClr val="C00000"/>
                </a:solidFill>
              </a:rPr>
              <a:t>A</a:t>
            </a:r>
            <a:endParaRPr lang="en-US" sz="2400" b="1" dirty="0">
              <a:solidFill>
                <a:srgbClr val="C00000"/>
              </a:solidFill>
            </a:endParaRPr>
          </a:p>
        </p:txBody>
      </p:sp>
      <p:sp>
        <p:nvSpPr>
          <p:cNvPr id="19" name="TextBox 18"/>
          <p:cNvSpPr txBox="1"/>
          <p:nvPr/>
        </p:nvSpPr>
        <p:spPr>
          <a:xfrm>
            <a:off x="8917791" y="5074136"/>
            <a:ext cx="357790" cy="461665"/>
          </a:xfrm>
          <a:prstGeom prst="rect">
            <a:avLst/>
          </a:prstGeom>
          <a:noFill/>
        </p:spPr>
        <p:txBody>
          <a:bodyPr wrap="none" rtlCol="0">
            <a:spAutoFit/>
          </a:bodyPr>
          <a:lstStyle/>
          <a:p>
            <a:pPr algn="ctr"/>
            <a:r>
              <a:rPr lang="en-IN" sz="2400" b="1" dirty="0">
                <a:solidFill>
                  <a:srgbClr val="C00000"/>
                </a:solidFill>
              </a:rPr>
              <a:t>B</a:t>
            </a:r>
            <a:endParaRPr lang="en-US" sz="2400" b="1" dirty="0">
              <a:solidFill>
                <a:srgbClr val="C00000"/>
              </a:solidFill>
            </a:endParaRPr>
          </a:p>
        </p:txBody>
      </p:sp>
      <p:sp>
        <p:nvSpPr>
          <p:cNvPr id="20" name="TextBox 19"/>
          <p:cNvSpPr txBox="1"/>
          <p:nvPr/>
        </p:nvSpPr>
        <p:spPr>
          <a:xfrm>
            <a:off x="8528163" y="5074136"/>
            <a:ext cx="360996" cy="461665"/>
          </a:xfrm>
          <a:prstGeom prst="rect">
            <a:avLst/>
          </a:prstGeom>
          <a:noFill/>
        </p:spPr>
        <p:txBody>
          <a:bodyPr wrap="none" rtlCol="0">
            <a:spAutoFit/>
          </a:bodyPr>
          <a:lstStyle/>
          <a:p>
            <a:pPr algn="ctr"/>
            <a:r>
              <a:rPr lang="en-IN" sz="2400" b="1" dirty="0">
                <a:solidFill>
                  <a:srgbClr val="C00000"/>
                </a:solidFill>
              </a:rPr>
              <a:t>C</a:t>
            </a:r>
            <a:endParaRPr lang="en-US" sz="2400" b="1" dirty="0">
              <a:solidFill>
                <a:srgbClr val="C00000"/>
              </a:solidFill>
            </a:endParaRPr>
          </a:p>
        </p:txBody>
      </p:sp>
      <p:sp>
        <p:nvSpPr>
          <p:cNvPr id="21" name="Rectangle 20"/>
          <p:cNvSpPr/>
          <p:nvPr/>
        </p:nvSpPr>
        <p:spPr>
          <a:xfrm>
            <a:off x="10425009" y="5074136"/>
            <a:ext cx="357790" cy="461665"/>
          </a:xfrm>
          <a:prstGeom prst="rect">
            <a:avLst/>
          </a:prstGeom>
        </p:spPr>
        <p:txBody>
          <a:bodyPr wrap="none">
            <a:spAutoFit/>
          </a:bodyPr>
          <a:lstStyle/>
          <a:p>
            <a:r>
              <a:rPr lang="en-IN" sz="2400" b="1" dirty="0">
                <a:solidFill>
                  <a:srgbClr val="C00000"/>
                </a:solidFill>
              </a:rPr>
              <a:t>D</a:t>
            </a:r>
            <a:endParaRPr lang="en-US" sz="2400" b="1" dirty="0"/>
          </a:p>
        </p:txBody>
      </p:sp>
      <p:sp>
        <p:nvSpPr>
          <p:cNvPr id="22" name="Rectangle 21"/>
          <p:cNvSpPr/>
          <p:nvPr/>
        </p:nvSpPr>
        <p:spPr>
          <a:xfrm>
            <a:off x="9701857" y="5074136"/>
            <a:ext cx="335348" cy="461665"/>
          </a:xfrm>
          <a:prstGeom prst="rect">
            <a:avLst/>
          </a:prstGeom>
        </p:spPr>
        <p:txBody>
          <a:bodyPr wrap="none">
            <a:spAutoFit/>
          </a:bodyPr>
          <a:lstStyle/>
          <a:p>
            <a:r>
              <a:rPr lang="en-IN" sz="2400" b="1" dirty="0">
                <a:solidFill>
                  <a:srgbClr val="C00000"/>
                </a:solidFill>
              </a:rPr>
              <a:t>E</a:t>
            </a:r>
            <a:endParaRPr lang="en-US" sz="2400" b="1" dirty="0"/>
          </a:p>
        </p:txBody>
      </p:sp>
      <p:sp>
        <p:nvSpPr>
          <p:cNvPr id="23" name="Rectangle 22"/>
          <p:cNvSpPr/>
          <p:nvPr/>
        </p:nvSpPr>
        <p:spPr>
          <a:xfrm>
            <a:off x="10065837" y="5074136"/>
            <a:ext cx="330540" cy="461665"/>
          </a:xfrm>
          <a:prstGeom prst="rect">
            <a:avLst/>
          </a:prstGeom>
        </p:spPr>
        <p:txBody>
          <a:bodyPr wrap="none">
            <a:spAutoFit/>
          </a:bodyPr>
          <a:lstStyle/>
          <a:p>
            <a:r>
              <a:rPr lang="en-IN" sz="2400" b="1" dirty="0">
                <a:solidFill>
                  <a:srgbClr val="C00000"/>
                </a:solidFill>
              </a:rPr>
              <a:t>F</a:t>
            </a:r>
            <a:endParaRPr lang="en-US" sz="2400" b="1" dirty="0"/>
          </a:p>
        </p:txBody>
      </p:sp>
      <p:sp>
        <p:nvSpPr>
          <p:cNvPr id="24" name="Rectangle 23"/>
          <p:cNvSpPr/>
          <p:nvPr/>
        </p:nvSpPr>
        <p:spPr>
          <a:xfrm>
            <a:off x="10811429" y="5074136"/>
            <a:ext cx="364202" cy="461665"/>
          </a:xfrm>
          <a:prstGeom prst="rect">
            <a:avLst/>
          </a:prstGeom>
        </p:spPr>
        <p:txBody>
          <a:bodyPr wrap="none">
            <a:spAutoFit/>
          </a:bodyPr>
          <a:lstStyle/>
          <a:p>
            <a:r>
              <a:rPr lang="en-IN" sz="2400" b="1" dirty="0">
                <a:solidFill>
                  <a:srgbClr val="C00000"/>
                </a:solidFill>
              </a:rPr>
              <a:t>G</a:t>
            </a:r>
            <a:endParaRPr lang="en-US" sz="2400" b="1" dirty="0"/>
          </a:p>
        </p:txBody>
      </p:sp>
      <p:sp>
        <p:nvSpPr>
          <p:cNvPr id="25" name="TextBox 24"/>
          <p:cNvSpPr txBox="1"/>
          <p:nvPr/>
        </p:nvSpPr>
        <p:spPr>
          <a:xfrm>
            <a:off x="7937652" y="4572483"/>
            <a:ext cx="3805517" cy="400110"/>
          </a:xfrm>
          <a:prstGeom prst="rect">
            <a:avLst/>
          </a:prstGeom>
          <a:noFill/>
        </p:spPr>
        <p:txBody>
          <a:bodyPr wrap="square" rtlCol="0">
            <a:spAutoFit/>
          </a:bodyPr>
          <a:lstStyle/>
          <a:p>
            <a:r>
              <a:rPr lang="en-IN" sz="2000" b="1" dirty="0" err="1"/>
              <a:t>Inorder</a:t>
            </a:r>
            <a:r>
              <a:rPr lang="en-IN" sz="2000" b="1" dirty="0"/>
              <a:t> traversal of a </a:t>
            </a:r>
            <a:r>
              <a:rPr lang="en-IN" sz="2000" b="1" dirty="0" smtClean="0"/>
              <a:t>given </a:t>
            </a:r>
            <a:r>
              <a:rPr lang="en-IN" sz="2000" b="1" dirty="0"/>
              <a:t>tree as</a:t>
            </a:r>
            <a:endParaRPr lang="en-US" sz="2000" b="1" dirty="0"/>
          </a:p>
        </p:txBody>
      </p:sp>
      <p:sp>
        <p:nvSpPr>
          <p:cNvPr id="26" name="TextBox 25"/>
          <p:cNvSpPr txBox="1"/>
          <p:nvPr/>
        </p:nvSpPr>
        <p:spPr>
          <a:xfrm>
            <a:off x="10098738" y="1257064"/>
            <a:ext cx="357790" cy="369332"/>
          </a:xfrm>
          <a:prstGeom prst="rect">
            <a:avLst/>
          </a:prstGeom>
          <a:noFill/>
        </p:spPr>
        <p:txBody>
          <a:bodyPr wrap="none" rtlCol="0">
            <a:spAutoFit/>
          </a:bodyPr>
          <a:lstStyle/>
          <a:p>
            <a:r>
              <a:rPr lang="en-US" dirty="0">
                <a:solidFill>
                  <a:srgbClr val="C00000"/>
                </a:solidFill>
              </a:rPr>
              <a:t>✓</a:t>
            </a:r>
          </a:p>
        </p:txBody>
      </p:sp>
      <p:sp>
        <p:nvSpPr>
          <p:cNvPr id="27" name="TextBox 26"/>
          <p:cNvSpPr txBox="1"/>
          <p:nvPr/>
        </p:nvSpPr>
        <p:spPr>
          <a:xfrm>
            <a:off x="9519438" y="2192796"/>
            <a:ext cx="357790" cy="369332"/>
          </a:xfrm>
          <a:prstGeom prst="rect">
            <a:avLst/>
          </a:prstGeom>
          <a:noFill/>
        </p:spPr>
        <p:txBody>
          <a:bodyPr wrap="none" rtlCol="0">
            <a:spAutoFit/>
          </a:bodyPr>
          <a:lstStyle/>
          <a:p>
            <a:r>
              <a:rPr lang="en-US" dirty="0">
                <a:solidFill>
                  <a:srgbClr val="C00000"/>
                </a:solidFill>
              </a:rPr>
              <a:t>✓</a:t>
            </a:r>
          </a:p>
        </p:txBody>
      </p:sp>
      <p:sp>
        <p:nvSpPr>
          <p:cNvPr id="28" name="TextBox 27"/>
          <p:cNvSpPr txBox="1"/>
          <p:nvPr/>
        </p:nvSpPr>
        <p:spPr>
          <a:xfrm>
            <a:off x="9066482" y="3090345"/>
            <a:ext cx="357790" cy="369332"/>
          </a:xfrm>
          <a:prstGeom prst="rect">
            <a:avLst/>
          </a:prstGeom>
          <a:noFill/>
        </p:spPr>
        <p:txBody>
          <a:bodyPr wrap="none" rtlCol="0">
            <a:spAutoFit/>
          </a:bodyPr>
          <a:lstStyle/>
          <a:p>
            <a:r>
              <a:rPr lang="en-US" dirty="0">
                <a:solidFill>
                  <a:srgbClr val="C00000"/>
                </a:solidFill>
              </a:rPr>
              <a:t>✓</a:t>
            </a:r>
          </a:p>
        </p:txBody>
      </p:sp>
      <p:sp>
        <p:nvSpPr>
          <p:cNvPr id="29" name="TextBox 28"/>
          <p:cNvSpPr txBox="1"/>
          <p:nvPr/>
        </p:nvSpPr>
        <p:spPr>
          <a:xfrm>
            <a:off x="10734724" y="2177249"/>
            <a:ext cx="357790" cy="369332"/>
          </a:xfrm>
          <a:prstGeom prst="rect">
            <a:avLst/>
          </a:prstGeom>
          <a:noFill/>
        </p:spPr>
        <p:txBody>
          <a:bodyPr wrap="none" rtlCol="0">
            <a:spAutoFit/>
          </a:bodyPr>
          <a:lstStyle/>
          <a:p>
            <a:r>
              <a:rPr lang="en-US" dirty="0">
                <a:solidFill>
                  <a:srgbClr val="C00000"/>
                </a:solidFill>
              </a:rPr>
              <a:t>✓</a:t>
            </a:r>
          </a:p>
        </p:txBody>
      </p:sp>
      <p:sp>
        <p:nvSpPr>
          <p:cNvPr id="30" name="TextBox 29"/>
          <p:cNvSpPr txBox="1"/>
          <p:nvPr/>
        </p:nvSpPr>
        <p:spPr>
          <a:xfrm>
            <a:off x="10209217" y="3090345"/>
            <a:ext cx="357790" cy="369332"/>
          </a:xfrm>
          <a:prstGeom prst="rect">
            <a:avLst/>
          </a:prstGeom>
          <a:noFill/>
        </p:spPr>
        <p:txBody>
          <a:bodyPr wrap="none" rtlCol="0">
            <a:spAutoFit/>
          </a:bodyPr>
          <a:lstStyle/>
          <a:p>
            <a:r>
              <a:rPr lang="en-US" dirty="0">
                <a:solidFill>
                  <a:srgbClr val="C00000"/>
                </a:solidFill>
              </a:rPr>
              <a:t>✓</a:t>
            </a:r>
          </a:p>
        </p:txBody>
      </p:sp>
      <p:sp>
        <p:nvSpPr>
          <p:cNvPr id="31" name="TextBox 30"/>
          <p:cNvSpPr txBox="1"/>
          <p:nvPr/>
        </p:nvSpPr>
        <p:spPr>
          <a:xfrm>
            <a:off x="10754462" y="3973368"/>
            <a:ext cx="357790" cy="369332"/>
          </a:xfrm>
          <a:prstGeom prst="rect">
            <a:avLst/>
          </a:prstGeom>
          <a:noFill/>
        </p:spPr>
        <p:txBody>
          <a:bodyPr wrap="none" rtlCol="0">
            <a:spAutoFit/>
          </a:bodyPr>
          <a:lstStyle/>
          <a:p>
            <a:r>
              <a:rPr lang="en-US" dirty="0">
                <a:solidFill>
                  <a:srgbClr val="C00000"/>
                </a:solidFill>
              </a:rPr>
              <a:t>✓</a:t>
            </a:r>
          </a:p>
        </p:txBody>
      </p:sp>
      <p:sp>
        <p:nvSpPr>
          <p:cNvPr id="32" name="TextBox 31"/>
          <p:cNvSpPr txBox="1"/>
          <p:nvPr/>
        </p:nvSpPr>
        <p:spPr>
          <a:xfrm>
            <a:off x="11330000" y="3090345"/>
            <a:ext cx="357790" cy="369332"/>
          </a:xfrm>
          <a:prstGeom prst="rect">
            <a:avLst/>
          </a:prstGeom>
          <a:noFill/>
        </p:spPr>
        <p:txBody>
          <a:bodyPr wrap="none" rtlCol="0">
            <a:spAutoFit/>
          </a:bodyPr>
          <a:lstStyle/>
          <a:p>
            <a:r>
              <a:rPr lang="en-US" dirty="0">
                <a:solidFill>
                  <a:srgbClr val="C00000"/>
                </a:solidFill>
              </a:rPr>
              <a:t>✓</a:t>
            </a:r>
          </a:p>
        </p:txBody>
      </p:sp>
      <p:cxnSp>
        <p:nvCxnSpPr>
          <p:cNvPr id="33" name="Straight Connector 32"/>
          <p:cNvCxnSpPr/>
          <p:nvPr/>
        </p:nvCxnSpPr>
        <p:spPr>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9231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grpId="1" nodeType="clickEffect">
                                  <p:stCondLst>
                                    <p:cond delay="0"/>
                                  </p:stCondLst>
                                  <p:childTnLst>
                                    <p:animClr clrSpc="rgb" dir="cw">
                                      <p:cBhvr>
                                        <p:cTn id="58" dur="2000" fill="hold"/>
                                        <p:tgtEl>
                                          <p:spTgt spid="7"/>
                                        </p:tgtEl>
                                        <p:attrNameLst>
                                          <p:attrName>fillcolor</p:attrName>
                                        </p:attrNameLst>
                                      </p:cBhvr>
                                      <p:to>
                                        <a:schemeClr val="accent2"/>
                                      </p:to>
                                    </p:animClr>
                                    <p:set>
                                      <p:cBhvr>
                                        <p:cTn id="59" dur="2000" fill="hold"/>
                                        <p:tgtEl>
                                          <p:spTgt spid="7"/>
                                        </p:tgtEl>
                                        <p:attrNameLst>
                                          <p:attrName>fill.type</p:attrName>
                                        </p:attrNameLst>
                                      </p:cBhvr>
                                      <p:to>
                                        <p:strVal val="solid"/>
                                      </p:to>
                                    </p:set>
                                    <p:set>
                                      <p:cBhvr>
                                        <p:cTn id="60" dur="2000" fill="hold"/>
                                        <p:tgtEl>
                                          <p:spTgt spid="7"/>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down)">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2" fill="hold" grpId="1" nodeType="clickEffect">
                                  <p:stCondLst>
                                    <p:cond delay="0"/>
                                  </p:stCondLst>
                                  <p:childTnLst>
                                    <p:animClr clrSpc="rgb" dir="cw">
                                      <p:cBhvr>
                                        <p:cTn id="73" dur="2000" fill="hold"/>
                                        <p:tgtEl>
                                          <p:spTgt spid="6"/>
                                        </p:tgtEl>
                                        <p:attrNameLst>
                                          <p:attrName>fillcolor</p:attrName>
                                        </p:attrNameLst>
                                      </p:cBhvr>
                                      <p:to>
                                        <a:schemeClr val="accent2"/>
                                      </p:to>
                                    </p:animClr>
                                    <p:set>
                                      <p:cBhvr>
                                        <p:cTn id="74" dur="2000" fill="hold"/>
                                        <p:tgtEl>
                                          <p:spTgt spid="6"/>
                                        </p:tgtEl>
                                        <p:attrNameLst>
                                          <p:attrName>fill.type</p:attrName>
                                        </p:attrNameLst>
                                      </p:cBhvr>
                                      <p:to>
                                        <p:strVal val="solid"/>
                                      </p:to>
                                    </p:set>
                                    <p:set>
                                      <p:cBhvr>
                                        <p:cTn id="75" dur="2000" fill="hold"/>
                                        <p:tgtEl>
                                          <p:spTgt spid="6"/>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down)">
                                      <p:cBhvr>
                                        <p:cTn id="80" dur="500"/>
                                        <p:tgtEl>
                                          <p:spTgt spid="2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mph" presetSubtype="2" fill="hold" grpId="1" nodeType="clickEffect">
                                  <p:stCondLst>
                                    <p:cond delay="0"/>
                                  </p:stCondLst>
                                  <p:childTnLst>
                                    <p:animClr clrSpc="rgb" dir="cw">
                                      <p:cBhvr>
                                        <p:cTn id="88" dur="2000" fill="hold"/>
                                        <p:tgtEl>
                                          <p:spTgt spid="5"/>
                                        </p:tgtEl>
                                        <p:attrNameLst>
                                          <p:attrName>fillcolor</p:attrName>
                                        </p:attrNameLst>
                                      </p:cBhvr>
                                      <p:to>
                                        <a:schemeClr val="accent2"/>
                                      </p:to>
                                    </p:animClr>
                                    <p:set>
                                      <p:cBhvr>
                                        <p:cTn id="89" dur="2000" fill="hold"/>
                                        <p:tgtEl>
                                          <p:spTgt spid="5"/>
                                        </p:tgtEl>
                                        <p:attrNameLst>
                                          <p:attrName>fill.type</p:attrName>
                                        </p:attrNameLst>
                                      </p:cBhvr>
                                      <p:to>
                                        <p:strVal val="solid"/>
                                      </p:to>
                                    </p:set>
                                    <p:set>
                                      <p:cBhvr>
                                        <p:cTn id="90" dur="2000" fill="hold"/>
                                        <p:tgtEl>
                                          <p:spTgt spid="5"/>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wipe(down)">
                                      <p:cBhvr>
                                        <p:cTn id="95" dur="500"/>
                                        <p:tgtEl>
                                          <p:spTgt spid="26"/>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grpId="1" nodeType="clickEffect">
                                  <p:stCondLst>
                                    <p:cond delay="0"/>
                                  </p:stCondLst>
                                  <p:childTnLst>
                                    <p:animClr clrSpc="rgb" dir="cw">
                                      <p:cBhvr>
                                        <p:cTn id="103" dur="2000" fill="hold"/>
                                        <p:tgtEl>
                                          <p:spTgt spid="8"/>
                                        </p:tgtEl>
                                        <p:attrNameLst>
                                          <p:attrName>fillcolor</p:attrName>
                                        </p:attrNameLst>
                                      </p:cBhvr>
                                      <p:to>
                                        <a:schemeClr val="accent2"/>
                                      </p:to>
                                    </p:animClr>
                                    <p:set>
                                      <p:cBhvr>
                                        <p:cTn id="104" dur="2000" fill="hold"/>
                                        <p:tgtEl>
                                          <p:spTgt spid="8"/>
                                        </p:tgtEl>
                                        <p:attrNameLst>
                                          <p:attrName>fill.type</p:attrName>
                                        </p:attrNameLst>
                                      </p:cBhvr>
                                      <p:to>
                                        <p:strVal val="solid"/>
                                      </p:to>
                                    </p:set>
                                    <p:set>
                                      <p:cBhvr>
                                        <p:cTn id="105" dur="2000" fill="hold"/>
                                        <p:tgtEl>
                                          <p:spTgt spid="8"/>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wipe(down)">
                                      <p:cBhvr>
                                        <p:cTn id="110" dur="500"/>
                                        <p:tgtEl>
                                          <p:spTgt spid="30"/>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grpId="1" nodeType="clickEffect">
                                  <p:stCondLst>
                                    <p:cond delay="0"/>
                                  </p:stCondLst>
                                  <p:childTnLst>
                                    <p:animClr clrSpc="rgb" dir="cw">
                                      <p:cBhvr>
                                        <p:cTn id="118" dur="2000" fill="hold"/>
                                        <p:tgtEl>
                                          <p:spTgt spid="11"/>
                                        </p:tgtEl>
                                        <p:attrNameLst>
                                          <p:attrName>fillcolor</p:attrName>
                                        </p:attrNameLst>
                                      </p:cBhvr>
                                      <p:to>
                                        <a:schemeClr val="accent2"/>
                                      </p:to>
                                    </p:animClr>
                                    <p:set>
                                      <p:cBhvr>
                                        <p:cTn id="119" dur="2000" fill="hold"/>
                                        <p:tgtEl>
                                          <p:spTgt spid="11"/>
                                        </p:tgtEl>
                                        <p:attrNameLst>
                                          <p:attrName>fill.type</p:attrName>
                                        </p:attrNameLst>
                                      </p:cBhvr>
                                      <p:to>
                                        <p:strVal val="solid"/>
                                      </p:to>
                                    </p:set>
                                    <p:set>
                                      <p:cBhvr>
                                        <p:cTn id="120" dur="2000" fill="hold"/>
                                        <p:tgtEl>
                                          <p:spTgt spid="11"/>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wipe(down)">
                                      <p:cBhvr>
                                        <p:cTn id="125" dur="500"/>
                                        <p:tgtEl>
                                          <p:spTgt spid="31"/>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2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2" fill="hold" grpId="1" nodeType="clickEffect">
                                  <p:stCondLst>
                                    <p:cond delay="0"/>
                                  </p:stCondLst>
                                  <p:childTnLst>
                                    <p:animClr clrSpc="rgb" dir="cw">
                                      <p:cBhvr>
                                        <p:cTn id="133" dur="2000" fill="hold"/>
                                        <p:tgtEl>
                                          <p:spTgt spid="9"/>
                                        </p:tgtEl>
                                        <p:attrNameLst>
                                          <p:attrName>fillcolor</p:attrName>
                                        </p:attrNameLst>
                                      </p:cBhvr>
                                      <p:to>
                                        <a:schemeClr val="accent2"/>
                                      </p:to>
                                    </p:animClr>
                                    <p:set>
                                      <p:cBhvr>
                                        <p:cTn id="134" dur="2000" fill="hold"/>
                                        <p:tgtEl>
                                          <p:spTgt spid="9"/>
                                        </p:tgtEl>
                                        <p:attrNameLst>
                                          <p:attrName>fill.type</p:attrName>
                                        </p:attrNameLst>
                                      </p:cBhvr>
                                      <p:to>
                                        <p:strVal val="solid"/>
                                      </p:to>
                                    </p:set>
                                    <p:set>
                                      <p:cBhvr>
                                        <p:cTn id="135" dur="2000" fill="hold"/>
                                        <p:tgtEl>
                                          <p:spTgt spid="9"/>
                                        </p:tgtEl>
                                        <p:attrNameLst>
                                          <p:attrName>fill.on</p:attrName>
                                        </p:attrNameLst>
                                      </p:cBhvr>
                                      <p:to>
                                        <p:strVal val="tru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29"/>
                                        </p:tgtEl>
                                        <p:attrNameLst>
                                          <p:attrName>style.visibility</p:attrName>
                                        </p:attrNameLst>
                                      </p:cBhvr>
                                      <p:to>
                                        <p:strVal val="visible"/>
                                      </p:to>
                                    </p:set>
                                    <p:animEffect transition="in" filter="wipe(down)">
                                      <p:cBhvr>
                                        <p:cTn id="140" dur="500"/>
                                        <p:tgtEl>
                                          <p:spTgt spid="29"/>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1"/>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2" fill="hold" grpId="1" nodeType="clickEffect">
                                  <p:stCondLst>
                                    <p:cond delay="0"/>
                                  </p:stCondLst>
                                  <p:childTnLst>
                                    <p:animClr clrSpc="rgb" dir="cw">
                                      <p:cBhvr>
                                        <p:cTn id="148" dur="2000" fill="hold"/>
                                        <p:tgtEl>
                                          <p:spTgt spid="10"/>
                                        </p:tgtEl>
                                        <p:attrNameLst>
                                          <p:attrName>fillcolor</p:attrName>
                                        </p:attrNameLst>
                                      </p:cBhvr>
                                      <p:to>
                                        <a:schemeClr val="accent2"/>
                                      </p:to>
                                    </p:animClr>
                                    <p:set>
                                      <p:cBhvr>
                                        <p:cTn id="149" dur="2000" fill="hold"/>
                                        <p:tgtEl>
                                          <p:spTgt spid="10"/>
                                        </p:tgtEl>
                                        <p:attrNameLst>
                                          <p:attrName>fill.type</p:attrName>
                                        </p:attrNameLst>
                                      </p:cBhvr>
                                      <p:to>
                                        <p:strVal val="solid"/>
                                      </p:to>
                                    </p:set>
                                    <p:set>
                                      <p:cBhvr>
                                        <p:cTn id="150" dur="2000" fill="hold"/>
                                        <p:tgtEl>
                                          <p:spTgt spid="10"/>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32"/>
                                        </p:tgtEl>
                                        <p:attrNameLst>
                                          <p:attrName>style.visibility</p:attrName>
                                        </p:attrNameLst>
                                      </p:cBhvr>
                                      <p:to>
                                        <p:strVal val="visible"/>
                                      </p:to>
                                    </p:set>
                                    <p:animEffect transition="in" filter="wipe(down)">
                                      <p:cBhvr>
                                        <p:cTn id="155" dur="500"/>
                                        <p:tgtEl>
                                          <p:spTgt spid="32"/>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1"/>
          <p:cNvSpPr>
            <a:spLocks noGrp="1"/>
          </p:cNvSpPr>
          <p:nvPr>
            <p:ph type="title"/>
          </p:nvPr>
        </p:nvSpPr>
        <p:spPr/>
        <p:txBody>
          <a:bodyPr/>
          <a:lstStyle/>
          <a:p>
            <a:r>
              <a:rPr lang="en-IN" dirty="0" err="1" smtClean="0"/>
              <a:t>Postorder</a:t>
            </a:r>
            <a:r>
              <a:rPr lang="en-IN" dirty="0" smtClean="0"/>
              <a:t> </a:t>
            </a:r>
            <a:r>
              <a:rPr lang="en-IN" dirty="0"/>
              <a:t>Traversal</a:t>
            </a:r>
            <a:endParaRPr lang="en-US" dirty="0"/>
          </a:p>
        </p:txBody>
      </p:sp>
      <p:sp>
        <p:nvSpPr>
          <p:cNvPr id="37" name="Content Placeholder 2"/>
          <p:cNvSpPr>
            <a:spLocks noGrp="1"/>
          </p:cNvSpPr>
          <p:nvPr>
            <p:ph idx="1"/>
          </p:nvPr>
        </p:nvSpPr>
        <p:spPr/>
        <p:txBody>
          <a:bodyPr/>
          <a:lstStyle/>
          <a:p>
            <a:r>
              <a:rPr lang="en-IN" dirty="0" err="1" smtClean="0"/>
              <a:t>Postorder</a:t>
            </a:r>
            <a:r>
              <a:rPr lang="en-IN" dirty="0" smtClean="0"/>
              <a:t> </a:t>
            </a:r>
            <a:r>
              <a:rPr lang="en-IN" dirty="0"/>
              <a:t>traversal of a binary tree is defined as </a:t>
            </a:r>
            <a:r>
              <a:rPr lang="en-IN" dirty="0" smtClean="0"/>
              <a:t>follow</a:t>
            </a:r>
          </a:p>
          <a:p>
            <a:pPr marL="819150" lvl="1" indent="-457200">
              <a:buClr>
                <a:schemeClr val="tx1"/>
              </a:buClr>
              <a:buFont typeface="+mj-lt"/>
              <a:buAutoNum type="arabicPeriod"/>
            </a:pPr>
            <a:r>
              <a:rPr lang="en-IN" b="1" dirty="0">
                <a:solidFill>
                  <a:srgbClr val="C00000"/>
                </a:solidFill>
              </a:rPr>
              <a:t>Traverse</a:t>
            </a:r>
            <a:r>
              <a:rPr lang="en-IN" dirty="0">
                <a:solidFill>
                  <a:srgbClr val="C00000"/>
                </a:solidFill>
              </a:rPr>
              <a:t> </a:t>
            </a:r>
            <a:r>
              <a:rPr lang="en-IN" dirty="0"/>
              <a:t>the </a:t>
            </a:r>
            <a:r>
              <a:rPr lang="en-IN" b="1" dirty="0">
                <a:solidFill>
                  <a:srgbClr val="C00000"/>
                </a:solidFill>
              </a:rPr>
              <a:t>left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smtClean="0"/>
              <a:t>Postorder</a:t>
            </a:r>
            <a:endParaRPr lang="en-IN" dirty="0"/>
          </a:p>
          <a:p>
            <a:pPr marL="819150" lvl="1" indent="-457200">
              <a:buClr>
                <a:schemeClr val="tx1"/>
              </a:buClr>
              <a:buFont typeface="+mj-lt"/>
              <a:buAutoNum type="arabicPeriod"/>
            </a:pPr>
            <a:r>
              <a:rPr lang="en-IN" b="1" dirty="0">
                <a:solidFill>
                  <a:srgbClr val="C00000"/>
                </a:solidFill>
              </a:rPr>
              <a:t>Traverse</a:t>
            </a:r>
            <a:r>
              <a:rPr lang="en-IN" dirty="0">
                <a:solidFill>
                  <a:srgbClr val="C00000"/>
                </a:solidFill>
              </a:rPr>
              <a:t> </a:t>
            </a:r>
            <a:r>
              <a:rPr lang="en-IN" dirty="0"/>
              <a:t>the </a:t>
            </a:r>
            <a:r>
              <a:rPr lang="en-IN" b="1" dirty="0">
                <a:solidFill>
                  <a:srgbClr val="C00000"/>
                </a:solidFill>
              </a:rPr>
              <a:t>right</a:t>
            </a:r>
            <a:r>
              <a:rPr lang="en-IN" b="1" dirty="0">
                <a:solidFill>
                  <a:srgbClr val="FF0000"/>
                </a:solidFill>
              </a:rPr>
              <a:t> </a:t>
            </a:r>
            <a:r>
              <a:rPr lang="en-IN" b="1" dirty="0" err="1">
                <a:solidFill>
                  <a:srgbClr val="C00000"/>
                </a:solidFill>
              </a:rPr>
              <a:t>subtree</a:t>
            </a:r>
            <a:r>
              <a:rPr lang="en-IN" b="1" dirty="0">
                <a:solidFill>
                  <a:srgbClr val="C00000"/>
                </a:solidFill>
              </a:rPr>
              <a:t> </a:t>
            </a:r>
            <a:r>
              <a:rPr lang="en-IN" dirty="0"/>
              <a:t>in </a:t>
            </a:r>
            <a:r>
              <a:rPr lang="en-IN" dirty="0" err="1" smtClean="0"/>
              <a:t>Postorder</a:t>
            </a:r>
            <a:endParaRPr lang="en-IN" dirty="0"/>
          </a:p>
          <a:p>
            <a:pPr marL="819150" lvl="1" indent="-457200">
              <a:buClr>
                <a:schemeClr val="tx1"/>
              </a:buClr>
              <a:buFont typeface="+mj-lt"/>
              <a:buAutoNum type="arabicPeriod"/>
            </a:pPr>
            <a:r>
              <a:rPr lang="en-IN" b="1" dirty="0" smtClean="0">
                <a:solidFill>
                  <a:srgbClr val="C00000"/>
                </a:solidFill>
              </a:rPr>
              <a:t>Process</a:t>
            </a:r>
            <a:r>
              <a:rPr lang="en-IN" dirty="0" smtClean="0">
                <a:solidFill>
                  <a:srgbClr val="C00000"/>
                </a:solidFill>
              </a:rPr>
              <a:t> </a:t>
            </a:r>
            <a:r>
              <a:rPr lang="en-IN" dirty="0"/>
              <a:t>the </a:t>
            </a:r>
            <a:r>
              <a:rPr lang="en-IN" b="1" dirty="0">
                <a:solidFill>
                  <a:srgbClr val="C00000"/>
                </a:solidFill>
              </a:rPr>
              <a:t>root</a:t>
            </a:r>
            <a:r>
              <a:rPr lang="en-IN" b="1" dirty="0">
                <a:solidFill>
                  <a:srgbClr val="FF0000"/>
                </a:solidFill>
              </a:rPr>
              <a:t> </a:t>
            </a:r>
            <a:r>
              <a:rPr lang="en-IN" b="1" dirty="0" smtClean="0">
                <a:solidFill>
                  <a:srgbClr val="C00000"/>
                </a:solidFill>
              </a:rPr>
              <a:t>node</a:t>
            </a:r>
            <a:endParaRPr lang="en-IN" b="1" dirty="0">
              <a:solidFill>
                <a:srgbClr val="C00000"/>
              </a:solidFill>
            </a:endParaRPr>
          </a:p>
        </p:txBody>
      </p:sp>
      <p:sp>
        <p:nvSpPr>
          <p:cNvPr id="38" name="Oval 37"/>
          <p:cNvSpPr/>
          <p:nvPr/>
        </p:nvSpPr>
        <p:spPr>
          <a:xfrm>
            <a:off x="9619126" y="102646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39" name="Oval 38"/>
          <p:cNvSpPr/>
          <p:nvPr/>
        </p:nvSpPr>
        <p:spPr>
          <a:xfrm>
            <a:off x="8969186" y="21575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40" name="Oval 39"/>
          <p:cNvSpPr/>
          <p:nvPr/>
        </p:nvSpPr>
        <p:spPr>
          <a:xfrm>
            <a:off x="8440269" y="31690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41" name="Oval 40"/>
          <p:cNvSpPr/>
          <p:nvPr/>
        </p:nvSpPr>
        <p:spPr>
          <a:xfrm>
            <a:off x="9771526" y="319591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42" name="Oval 41"/>
          <p:cNvSpPr/>
          <p:nvPr/>
        </p:nvSpPr>
        <p:spPr>
          <a:xfrm>
            <a:off x="10318372" y="21575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43" name="Oval 42"/>
          <p:cNvSpPr/>
          <p:nvPr/>
        </p:nvSpPr>
        <p:spPr>
          <a:xfrm>
            <a:off x="11008653" y="315557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44" name="Oval 43"/>
          <p:cNvSpPr/>
          <p:nvPr/>
        </p:nvSpPr>
        <p:spPr>
          <a:xfrm>
            <a:off x="10313890" y="415962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45" name="Straight Arrow Connector 44"/>
          <p:cNvCxnSpPr>
            <a:stCxn id="38" idx="3"/>
            <a:endCxn id="39" idx="0"/>
          </p:cNvCxnSpPr>
          <p:nvPr/>
        </p:nvCxnSpPr>
        <p:spPr>
          <a:xfrm flipH="1">
            <a:off x="9249986" y="1505816"/>
            <a:ext cx="451384" cy="6517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39" idx="3"/>
            <a:endCxn id="40" idx="0"/>
          </p:cNvCxnSpPr>
          <p:nvPr/>
        </p:nvCxnSpPr>
        <p:spPr>
          <a:xfrm flipH="1">
            <a:off x="8721069" y="2636913"/>
            <a:ext cx="330361" cy="53210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 name="Straight Arrow Connector 46"/>
          <p:cNvCxnSpPr>
            <a:stCxn id="38" idx="5"/>
            <a:endCxn id="42" idx="0"/>
          </p:cNvCxnSpPr>
          <p:nvPr/>
        </p:nvCxnSpPr>
        <p:spPr>
          <a:xfrm>
            <a:off x="10098482" y="1505816"/>
            <a:ext cx="500690" cy="6517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a:stCxn id="42" idx="3"/>
            <a:endCxn id="41" idx="0"/>
          </p:cNvCxnSpPr>
          <p:nvPr/>
        </p:nvCxnSpPr>
        <p:spPr>
          <a:xfrm flipH="1">
            <a:off x="10052326" y="2636913"/>
            <a:ext cx="348290" cy="55900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9" name="Straight Arrow Connector 48"/>
          <p:cNvCxnSpPr>
            <a:stCxn id="42" idx="5"/>
            <a:endCxn id="43" idx="0"/>
          </p:cNvCxnSpPr>
          <p:nvPr/>
        </p:nvCxnSpPr>
        <p:spPr>
          <a:xfrm>
            <a:off x="10797728" y="2636913"/>
            <a:ext cx="491725" cy="51866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0" name="Straight Arrow Connector 49"/>
          <p:cNvCxnSpPr>
            <a:stCxn id="41" idx="5"/>
            <a:endCxn id="44" idx="0"/>
          </p:cNvCxnSpPr>
          <p:nvPr/>
        </p:nvCxnSpPr>
        <p:spPr>
          <a:xfrm>
            <a:off x="10250882" y="3675272"/>
            <a:ext cx="343808"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1" name="TextBox 50"/>
          <p:cNvSpPr txBox="1"/>
          <p:nvPr/>
        </p:nvSpPr>
        <p:spPr>
          <a:xfrm>
            <a:off x="10873010" y="5304607"/>
            <a:ext cx="340158" cy="400110"/>
          </a:xfrm>
          <a:prstGeom prst="rect">
            <a:avLst/>
          </a:prstGeom>
          <a:noFill/>
        </p:spPr>
        <p:txBody>
          <a:bodyPr wrap="none" rtlCol="0">
            <a:spAutoFit/>
          </a:bodyPr>
          <a:lstStyle/>
          <a:p>
            <a:pPr algn="ctr"/>
            <a:r>
              <a:rPr lang="en-IN" sz="2000" b="1" dirty="0">
                <a:solidFill>
                  <a:srgbClr val="C00000"/>
                </a:solidFill>
              </a:rPr>
              <a:t>A</a:t>
            </a:r>
            <a:endParaRPr lang="en-US" sz="2000" b="1" dirty="0">
              <a:solidFill>
                <a:srgbClr val="C00000"/>
              </a:solidFill>
            </a:endParaRPr>
          </a:p>
        </p:txBody>
      </p:sp>
      <p:sp>
        <p:nvSpPr>
          <p:cNvPr id="52" name="TextBox 51"/>
          <p:cNvSpPr txBox="1"/>
          <p:nvPr/>
        </p:nvSpPr>
        <p:spPr>
          <a:xfrm>
            <a:off x="8845713" y="5304607"/>
            <a:ext cx="328937" cy="400110"/>
          </a:xfrm>
          <a:prstGeom prst="rect">
            <a:avLst/>
          </a:prstGeom>
          <a:noFill/>
        </p:spPr>
        <p:txBody>
          <a:bodyPr wrap="none" rtlCol="0">
            <a:spAutoFit/>
          </a:bodyPr>
          <a:lstStyle/>
          <a:p>
            <a:pPr algn="ctr"/>
            <a:r>
              <a:rPr lang="en-IN" sz="2000" b="1" dirty="0">
                <a:solidFill>
                  <a:srgbClr val="C00000"/>
                </a:solidFill>
              </a:rPr>
              <a:t>B</a:t>
            </a:r>
            <a:endParaRPr lang="en-US" sz="2000" b="1" dirty="0">
              <a:solidFill>
                <a:srgbClr val="C00000"/>
              </a:solidFill>
            </a:endParaRPr>
          </a:p>
        </p:txBody>
      </p:sp>
      <p:sp>
        <p:nvSpPr>
          <p:cNvPr id="53" name="TextBox 52"/>
          <p:cNvSpPr txBox="1"/>
          <p:nvPr/>
        </p:nvSpPr>
        <p:spPr>
          <a:xfrm>
            <a:off x="8434161" y="5322917"/>
            <a:ext cx="330540" cy="400110"/>
          </a:xfrm>
          <a:prstGeom prst="rect">
            <a:avLst/>
          </a:prstGeom>
          <a:noFill/>
        </p:spPr>
        <p:txBody>
          <a:bodyPr wrap="none" rtlCol="0">
            <a:spAutoFit/>
          </a:bodyPr>
          <a:lstStyle/>
          <a:p>
            <a:pPr algn="ctr"/>
            <a:r>
              <a:rPr lang="en-IN" sz="2000" b="1" dirty="0">
                <a:solidFill>
                  <a:srgbClr val="C00000"/>
                </a:solidFill>
              </a:rPr>
              <a:t>C</a:t>
            </a:r>
            <a:endParaRPr lang="en-US" sz="2000" b="1" dirty="0">
              <a:solidFill>
                <a:srgbClr val="C00000"/>
              </a:solidFill>
            </a:endParaRPr>
          </a:p>
        </p:txBody>
      </p:sp>
      <p:sp>
        <p:nvSpPr>
          <p:cNvPr id="54" name="Rectangle 53"/>
          <p:cNvSpPr/>
          <p:nvPr/>
        </p:nvSpPr>
        <p:spPr>
          <a:xfrm>
            <a:off x="10463064" y="5304607"/>
            <a:ext cx="328936" cy="400110"/>
          </a:xfrm>
          <a:prstGeom prst="rect">
            <a:avLst/>
          </a:prstGeom>
        </p:spPr>
        <p:txBody>
          <a:bodyPr wrap="none">
            <a:spAutoFit/>
          </a:bodyPr>
          <a:lstStyle/>
          <a:p>
            <a:r>
              <a:rPr lang="en-IN" sz="2000" b="1" dirty="0">
                <a:solidFill>
                  <a:srgbClr val="C00000"/>
                </a:solidFill>
              </a:rPr>
              <a:t>D</a:t>
            </a:r>
            <a:endParaRPr lang="en-US" sz="2000" b="1" dirty="0"/>
          </a:p>
        </p:txBody>
      </p:sp>
      <p:sp>
        <p:nvSpPr>
          <p:cNvPr id="55" name="Rectangle 54"/>
          <p:cNvSpPr/>
          <p:nvPr/>
        </p:nvSpPr>
        <p:spPr>
          <a:xfrm>
            <a:off x="9643168" y="5304607"/>
            <a:ext cx="309700" cy="400110"/>
          </a:xfrm>
          <a:prstGeom prst="rect">
            <a:avLst/>
          </a:prstGeom>
        </p:spPr>
        <p:txBody>
          <a:bodyPr wrap="none">
            <a:spAutoFit/>
          </a:bodyPr>
          <a:lstStyle/>
          <a:p>
            <a:r>
              <a:rPr lang="en-IN" sz="2000" b="1" dirty="0">
                <a:solidFill>
                  <a:srgbClr val="C00000"/>
                </a:solidFill>
              </a:rPr>
              <a:t>E</a:t>
            </a:r>
            <a:endParaRPr lang="en-US" sz="2000" b="1" dirty="0"/>
          </a:p>
        </p:txBody>
      </p:sp>
      <p:sp>
        <p:nvSpPr>
          <p:cNvPr id="56" name="Rectangle 55"/>
          <p:cNvSpPr/>
          <p:nvPr/>
        </p:nvSpPr>
        <p:spPr>
          <a:xfrm>
            <a:off x="9255662" y="5304607"/>
            <a:ext cx="306494" cy="400110"/>
          </a:xfrm>
          <a:prstGeom prst="rect">
            <a:avLst/>
          </a:prstGeom>
        </p:spPr>
        <p:txBody>
          <a:bodyPr wrap="none">
            <a:spAutoFit/>
          </a:bodyPr>
          <a:lstStyle/>
          <a:p>
            <a:r>
              <a:rPr lang="en-IN" sz="2000" b="1" dirty="0">
                <a:solidFill>
                  <a:srgbClr val="C00000"/>
                </a:solidFill>
              </a:rPr>
              <a:t>F</a:t>
            </a:r>
            <a:endParaRPr lang="en-US" sz="2000" b="1" dirty="0"/>
          </a:p>
        </p:txBody>
      </p:sp>
      <p:sp>
        <p:nvSpPr>
          <p:cNvPr id="57" name="Rectangle 56"/>
          <p:cNvSpPr/>
          <p:nvPr/>
        </p:nvSpPr>
        <p:spPr>
          <a:xfrm>
            <a:off x="10033880" y="5304607"/>
            <a:ext cx="348172" cy="400110"/>
          </a:xfrm>
          <a:prstGeom prst="rect">
            <a:avLst/>
          </a:prstGeom>
        </p:spPr>
        <p:txBody>
          <a:bodyPr wrap="none">
            <a:spAutoFit/>
          </a:bodyPr>
          <a:lstStyle/>
          <a:p>
            <a:r>
              <a:rPr lang="en-IN" sz="2000" b="1" dirty="0">
                <a:solidFill>
                  <a:srgbClr val="C00000"/>
                </a:solidFill>
              </a:rPr>
              <a:t>G</a:t>
            </a:r>
            <a:endParaRPr lang="en-US" sz="2000" b="1" dirty="0"/>
          </a:p>
        </p:txBody>
      </p:sp>
      <p:sp>
        <p:nvSpPr>
          <p:cNvPr id="58" name="TextBox 57"/>
          <p:cNvSpPr txBox="1"/>
          <p:nvPr/>
        </p:nvSpPr>
        <p:spPr>
          <a:xfrm>
            <a:off x="7876089" y="4822014"/>
            <a:ext cx="4059822" cy="400110"/>
          </a:xfrm>
          <a:prstGeom prst="rect">
            <a:avLst/>
          </a:prstGeom>
          <a:noFill/>
        </p:spPr>
        <p:txBody>
          <a:bodyPr wrap="square" rtlCol="0">
            <a:spAutoFit/>
          </a:bodyPr>
          <a:lstStyle/>
          <a:p>
            <a:r>
              <a:rPr lang="en-IN" sz="2000" b="1" dirty="0" err="1"/>
              <a:t>Postorder</a:t>
            </a:r>
            <a:r>
              <a:rPr lang="en-IN" sz="2000" b="1" dirty="0"/>
              <a:t> traversal of a </a:t>
            </a:r>
            <a:r>
              <a:rPr lang="en-IN" sz="2000" b="1" dirty="0" smtClean="0"/>
              <a:t>given </a:t>
            </a:r>
            <a:r>
              <a:rPr lang="en-IN" sz="2000" b="1" dirty="0"/>
              <a:t>tree as</a:t>
            </a:r>
            <a:endParaRPr lang="en-US" sz="2000" b="1" dirty="0"/>
          </a:p>
        </p:txBody>
      </p:sp>
      <p:sp>
        <p:nvSpPr>
          <p:cNvPr id="59" name="TextBox 58"/>
          <p:cNvSpPr txBox="1"/>
          <p:nvPr/>
        </p:nvSpPr>
        <p:spPr>
          <a:xfrm>
            <a:off x="10178249" y="1122594"/>
            <a:ext cx="357790" cy="369332"/>
          </a:xfrm>
          <a:prstGeom prst="rect">
            <a:avLst/>
          </a:prstGeom>
          <a:noFill/>
        </p:spPr>
        <p:txBody>
          <a:bodyPr wrap="none" rtlCol="0">
            <a:spAutoFit/>
          </a:bodyPr>
          <a:lstStyle/>
          <a:p>
            <a:r>
              <a:rPr lang="en-US" dirty="0">
                <a:solidFill>
                  <a:srgbClr val="C00000"/>
                </a:solidFill>
              </a:rPr>
              <a:t>✓</a:t>
            </a:r>
          </a:p>
        </p:txBody>
      </p:sp>
      <p:sp>
        <p:nvSpPr>
          <p:cNvPr id="60" name="TextBox 59"/>
          <p:cNvSpPr txBox="1"/>
          <p:nvPr/>
        </p:nvSpPr>
        <p:spPr>
          <a:xfrm>
            <a:off x="9538833" y="2253691"/>
            <a:ext cx="357790" cy="369332"/>
          </a:xfrm>
          <a:prstGeom prst="rect">
            <a:avLst/>
          </a:prstGeom>
          <a:noFill/>
        </p:spPr>
        <p:txBody>
          <a:bodyPr wrap="none" rtlCol="0">
            <a:spAutoFit/>
          </a:bodyPr>
          <a:lstStyle/>
          <a:p>
            <a:r>
              <a:rPr lang="en-US" dirty="0">
                <a:solidFill>
                  <a:srgbClr val="C00000"/>
                </a:solidFill>
              </a:rPr>
              <a:t>✓</a:t>
            </a:r>
          </a:p>
        </p:txBody>
      </p:sp>
      <p:sp>
        <p:nvSpPr>
          <p:cNvPr id="61" name="TextBox 60"/>
          <p:cNvSpPr txBox="1"/>
          <p:nvPr/>
        </p:nvSpPr>
        <p:spPr>
          <a:xfrm>
            <a:off x="9002148" y="3265156"/>
            <a:ext cx="357790" cy="369332"/>
          </a:xfrm>
          <a:prstGeom prst="rect">
            <a:avLst/>
          </a:prstGeom>
          <a:noFill/>
        </p:spPr>
        <p:txBody>
          <a:bodyPr wrap="none" rtlCol="0">
            <a:spAutoFit/>
          </a:bodyPr>
          <a:lstStyle/>
          <a:p>
            <a:r>
              <a:rPr lang="en-US" dirty="0">
                <a:solidFill>
                  <a:srgbClr val="C00000"/>
                </a:solidFill>
              </a:rPr>
              <a:t>✓</a:t>
            </a:r>
          </a:p>
        </p:txBody>
      </p:sp>
      <p:sp>
        <p:nvSpPr>
          <p:cNvPr id="62" name="TextBox 61"/>
          <p:cNvSpPr txBox="1"/>
          <p:nvPr/>
        </p:nvSpPr>
        <p:spPr>
          <a:xfrm>
            <a:off x="10873010" y="2253691"/>
            <a:ext cx="357790" cy="369332"/>
          </a:xfrm>
          <a:prstGeom prst="rect">
            <a:avLst/>
          </a:prstGeom>
          <a:noFill/>
        </p:spPr>
        <p:txBody>
          <a:bodyPr wrap="none" rtlCol="0">
            <a:spAutoFit/>
          </a:bodyPr>
          <a:lstStyle/>
          <a:p>
            <a:r>
              <a:rPr lang="en-US" dirty="0">
                <a:solidFill>
                  <a:srgbClr val="C00000"/>
                </a:solidFill>
              </a:rPr>
              <a:t>✓</a:t>
            </a:r>
          </a:p>
        </p:txBody>
      </p:sp>
      <p:sp>
        <p:nvSpPr>
          <p:cNvPr id="63" name="TextBox 62"/>
          <p:cNvSpPr txBox="1"/>
          <p:nvPr/>
        </p:nvSpPr>
        <p:spPr>
          <a:xfrm>
            <a:off x="10317178" y="3292050"/>
            <a:ext cx="357790" cy="369332"/>
          </a:xfrm>
          <a:prstGeom prst="rect">
            <a:avLst/>
          </a:prstGeom>
          <a:noFill/>
        </p:spPr>
        <p:txBody>
          <a:bodyPr wrap="none" rtlCol="0">
            <a:spAutoFit/>
          </a:bodyPr>
          <a:lstStyle/>
          <a:p>
            <a:r>
              <a:rPr lang="en-US" dirty="0">
                <a:solidFill>
                  <a:srgbClr val="C00000"/>
                </a:solidFill>
              </a:rPr>
              <a:t>✓</a:t>
            </a:r>
          </a:p>
        </p:txBody>
      </p:sp>
      <p:sp>
        <p:nvSpPr>
          <p:cNvPr id="64" name="TextBox 63"/>
          <p:cNvSpPr txBox="1"/>
          <p:nvPr/>
        </p:nvSpPr>
        <p:spPr>
          <a:xfrm>
            <a:off x="10883546" y="4255755"/>
            <a:ext cx="357790" cy="369332"/>
          </a:xfrm>
          <a:prstGeom prst="rect">
            <a:avLst/>
          </a:prstGeom>
          <a:noFill/>
        </p:spPr>
        <p:txBody>
          <a:bodyPr wrap="none" rtlCol="0">
            <a:spAutoFit/>
          </a:bodyPr>
          <a:lstStyle/>
          <a:p>
            <a:r>
              <a:rPr lang="en-US" dirty="0">
                <a:solidFill>
                  <a:srgbClr val="C00000"/>
                </a:solidFill>
              </a:rPr>
              <a:t>✓</a:t>
            </a:r>
          </a:p>
        </p:txBody>
      </p:sp>
      <p:sp>
        <p:nvSpPr>
          <p:cNvPr id="65" name="TextBox 64"/>
          <p:cNvSpPr txBox="1"/>
          <p:nvPr/>
        </p:nvSpPr>
        <p:spPr>
          <a:xfrm>
            <a:off x="11546148" y="3251709"/>
            <a:ext cx="357790" cy="369332"/>
          </a:xfrm>
          <a:prstGeom prst="rect">
            <a:avLst/>
          </a:prstGeom>
          <a:noFill/>
        </p:spPr>
        <p:txBody>
          <a:bodyPr wrap="none" rtlCol="0">
            <a:spAutoFit/>
          </a:bodyPr>
          <a:lstStyle/>
          <a:p>
            <a:r>
              <a:rPr lang="en-US" dirty="0">
                <a:solidFill>
                  <a:srgbClr val="C00000"/>
                </a:solidFill>
              </a:rPr>
              <a:t>✓</a:t>
            </a:r>
          </a:p>
        </p:txBody>
      </p:sp>
      <p:cxnSp>
        <p:nvCxnSpPr>
          <p:cNvPr id="66" name="Straight Connector 65"/>
          <p:cNvCxnSpPr/>
          <p:nvPr/>
        </p:nvCxnSpPr>
        <p:spPr>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5309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grpId="1" nodeType="clickEffect">
                                  <p:stCondLst>
                                    <p:cond delay="0"/>
                                  </p:stCondLst>
                                  <p:childTnLst>
                                    <p:animClr clrSpc="rgb" dir="cw">
                                      <p:cBhvr>
                                        <p:cTn id="58" dur="2000" fill="hold"/>
                                        <p:tgtEl>
                                          <p:spTgt spid="40"/>
                                        </p:tgtEl>
                                        <p:attrNameLst>
                                          <p:attrName>fillcolor</p:attrName>
                                        </p:attrNameLst>
                                      </p:cBhvr>
                                      <p:to>
                                        <a:schemeClr val="accent2"/>
                                      </p:to>
                                    </p:animClr>
                                    <p:set>
                                      <p:cBhvr>
                                        <p:cTn id="59" dur="2000" fill="hold"/>
                                        <p:tgtEl>
                                          <p:spTgt spid="40"/>
                                        </p:tgtEl>
                                        <p:attrNameLst>
                                          <p:attrName>fill.type</p:attrName>
                                        </p:attrNameLst>
                                      </p:cBhvr>
                                      <p:to>
                                        <p:strVal val="solid"/>
                                      </p:to>
                                    </p:set>
                                    <p:set>
                                      <p:cBhvr>
                                        <p:cTn id="60" dur="2000" fill="hold"/>
                                        <p:tgtEl>
                                          <p:spTgt spid="40"/>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wipe(down)">
                                      <p:cBhvr>
                                        <p:cTn id="65" dur="500"/>
                                        <p:tgtEl>
                                          <p:spTgt spid="61"/>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2" fill="hold" grpId="1" nodeType="clickEffect">
                                  <p:stCondLst>
                                    <p:cond delay="0"/>
                                  </p:stCondLst>
                                  <p:childTnLst>
                                    <p:animClr clrSpc="rgb" dir="cw">
                                      <p:cBhvr>
                                        <p:cTn id="73" dur="2000" fill="hold"/>
                                        <p:tgtEl>
                                          <p:spTgt spid="39"/>
                                        </p:tgtEl>
                                        <p:attrNameLst>
                                          <p:attrName>fillcolor</p:attrName>
                                        </p:attrNameLst>
                                      </p:cBhvr>
                                      <p:to>
                                        <a:schemeClr val="accent2"/>
                                      </p:to>
                                    </p:animClr>
                                    <p:set>
                                      <p:cBhvr>
                                        <p:cTn id="74" dur="2000" fill="hold"/>
                                        <p:tgtEl>
                                          <p:spTgt spid="39"/>
                                        </p:tgtEl>
                                        <p:attrNameLst>
                                          <p:attrName>fill.type</p:attrName>
                                        </p:attrNameLst>
                                      </p:cBhvr>
                                      <p:to>
                                        <p:strVal val="solid"/>
                                      </p:to>
                                    </p:set>
                                    <p:set>
                                      <p:cBhvr>
                                        <p:cTn id="75" dur="2000" fill="hold"/>
                                        <p:tgtEl>
                                          <p:spTgt spid="39"/>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wipe(down)">
                                      <p:cBhvr>
                                        <p:cTn id="80" dur="500"/>
                                        <p:tgtEl>
                                          <p:spTgt spid="60"/>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mph" presetSubtype="2" fill="hold" grpId="1" nodeType="clickEffect">
                                  <p:stCondLst>
                                    <p:cond delay="0"/>
                                  </p:stCondLst>
                                  <p:childTnLst>
                                    <p:animClr clrSpc="rgb" dir="cw">
                                      <p:cBhvr>
                                        <p:cTn id="88" dur="2000" fill="hold"/>
                                        <p:tgtEl>
                                          <p:spTgt spid="44"/>
                                        </p:tgtEl>
                                        <p:attrNameLst>
                                          <p:attrName>fillcolor</p:attrName>
                                        </p:attrNameLst>
                                      </p:cBhvr>
                                      <p:to>
                                        <a:schemeClr val="accent2"/>
                                      </p:to>
                                    </p:animClr>
                                    <p:set>
                                      <p:cBhvr>
                                        <p:cTn id="89" dur="2000" fill="hold"/>
                                        <p:tgtEl>
                                          <p:spTgt spid="44"/>
                                        </p:tgtEl>
                                        <p:attrNameLst>
                                          <p:attrName>fill.type</p:attrName>
                                        </p:attrNameLst>
                                      </p:cBhvr>
                                      <p:to>
                                        <p:strVal val="solid"/>
                                      </p:to>
                                    </p:set>
                                    <p:set>
                                      <p:cBhvr>
                                        <p:cTn id="90" dur="2000" fill="hold"/>
                                        <p:tgtEl>
                                          <p:spTgt spid="44"/>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wipe(down)">
                                      <p:cBhvr>
                                        <p:cTn id="95" dur="500"/>
                                        <p:tgtEl>
                                          <p:spTgt spid="64"/>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6"/>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grpId="1" nodeType="clickEffect">
                                  <p:stCondLst>
                                    <p:cond delay="0"/>
                                  </p:stCondLst>
                                  <p:childTnLst>
                                    <p:animClr clrSpc="rgb" dir="cw">
                                      <p:cBhvr>
                                        <p:cTn id="103" dur="2000" fill="hold"/>
                                        <p:tgtEl>
                                          <p:spTgt spid="41"/>
                                        </p:tgtEl>
                                        <p:attrNameLst>
                                          <p:attrName>fillcolor</p:attrName>
                                        </p:attrNameLst>
                                      </p:cBhvr>
                                      <p:to>
                                        <a:schemeClr val="accent2"/>
                                      </p:to>
                                    </p:animClr>
                                    <p:set>
                                      <p:cBhvr>
                                        <p:cTn id="104" dur="2000" fill="hold"/>
                                        <p:tgtEl>
                                          <p:spTgt spid="41"/>
                                        </p:tgtEl>
                                        <p:attrNameLst>
                                          <p:attrName>fill.type</p:attrName>
                                        </p:attrNameLst>
                                      </p:cBhvr>
                                      <p:to>
                                        <p:strVal val="solid"/>
                                      </p:to>
                                    </p:set>
                                    <p:set>
                                      <p:cBhvr>
                                        <p:cTn id="105" dur="2000" fill="hold"/>
                                        <p:tgtEl>
                                          <p:spTgt spid="41"/>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wipe(down)">
                                      <p:cBhvr>
                                        <p:cTn id="110" dur="500"/>
                                        <p:tgtEl>
                                          <p:spTgt spid="63"/>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grpId="1" nodeType="clickEffect">
                                  <p:stCondLst>
                                    <p:cond delay="0"/>
                                  </p:stCondLst>
                                  <p:childTnLst>
                                    <p:animClr clrSpc="rgb" dir="cw">
                                      <p:cBhvr>
                                        <p:cTn id="118" dur="2000" fill="hold"/>
                                        <p:tgtEl>
                                          <p:spTgt spid="43"/>
                                        </p:tgtEl>
                                        <p:attrNameLst>
                                          <p:attrName>fillcolor</p:attrName>
                                        </p:attrNameLst>
                                      </p:cBhvr>
                                      <p:to>
                                        <a:schemeClr val="accent2"/>
                                      </p:to>
                                    </p:animClr>
                                    <p:set>
                                      <p:cBhvr>
                                        <p:cTn id="119" dur="2000" fill="hold"/>
                                        <p:tgtEl>
                                          <p:spTgt spid="43"/>
                                        </p:tgtEl>
                                        <p:attrNameLst>
                                          <p:attrName>fill.type</p:attrName>
                                        </p:attrNameLst>
                                      </p:cBhvr>
                                      <p:to>
                                        <p:strVal val="solid"/>
                                      </p:to>
                                    </p:set>
                                    <p:set>
                                      <p:cBhvr>
                                        <p:cTn id="120" dur="2000" fill="hold"/>
                                        <p:tgtEl>
                                          <p:spTgt spid="43"/>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65"/>
                                        </p:tgtEl>
                                        <p:attrNameLst>
                                          <p:attrName>style.visibility</p:attrName>
                                        </p:attrNameLst>
                                      </p:cBhvr>
                                      <p:to>
                                        <p:strVal val="visible"/>
                                      </p:to>
                                    </p:set>
                                    <p:animEffect transition="in" filter="wipe(down)">
                                      <p:cBhvr>
                                        <p:cTn id="125" dur="500"/>
                                        <p:tgtEl>
                                          <p:spTgt spid="65"/>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57"/>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2" fill="hold" grpId="1" nodeType="clickEffect">
                                  <p:stCondLst>
                                    <p:cond delay="0"/>
                                  </p:stCondLst>
                                  <p:childTnLst>
                                    <p:animClr clrSpc="rgb" dir="cw">
                                      <p:cBhvr>
                                        <p:cTn id="133" dur="2000" fill="hold"/>
                                        <p:tgtEl>
                                          <p:spTgt spid="42"/>
                                        </p:tgtEl>
                                        <p:attrNameLst>
                                          <p:attrName>fillcolor</p:attrName>
                                        </p:attrNameLst>
                                      </p:cBhvr>
                                      <p:to>
                                        <a:schemeClr val="accent2"/>
                                      </p:to>
                                    </p:animClr>
                                    <p:set>
                                      <p:cBhvr>
                                        <p:cTn id="134" dur="2000" fill="hold"/>
                                        <p:tgtEl>
                                          <p:spTgt spid="42"/>
                                        </p:tgtEl>
                                        <p:attrNameLst>
                                          <p:attrName>fill.type</p:attrName>
                                        </p:attrNameLst>
                                      </p:cBhvr>
                                      <p:to>
                                        <p:strVal val="solid"/>
                                      </p:to>
                                    </p:set>
                                    <p:set>
                                      <p:cBhvr>
                                        <p:cTn id="135" dur="2000" fill="hold"/>
                                        <p:tgtEl>
                                          <p:spTgt spid="42"/>
                                        </p:tgtEl>
                                        <p:attrNameLst>
                                          <p:attrName>fill.on</p:attrName>
                                        </p:attrNameLst>
                                      </p:cBhvr>
                                      <p:to>
                                        <p:strVal val="tru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62"/>
                                        </p:tgtEl>
                                        <p:attrNameLst>
                                          <p:attrName>style.visibility</p:attrName>
                                        </p:attrNameLst>
                                      </p:cBhvr>
                                      <p:to>
                                        <p:strVal val="visible"/>
                                      </p:to>
                                    </p:set>
                                    <p:animEffect transition="in" filter="wipe(down)">
                                      <p:cBhvr>
                                        <p:cTn id="140" dur="500"/>
                                        <p:tgtEl>
                                          <p:spTgt spid="62"/>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54"/>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2" fill="hold" grpId="1" nodeType="clickEffect">
                                  <p:stCondLst>
                                    <p:cond delay="0"/>
                                  </p:stCondLst>
                                  <p:childTnLst>
                                    <p:animClr clrSpc="rgb" dir="cw">
                                      <p:cBhvr>
                                        <p:cTn id="148" dur="2000" fill="hold"/>
                                        <p:tgtEl>
                                          <p:spTgt spid="38"/>
                                        </p:tgtEl>
                                        <p:attrNameLst>
                                          <p:attrName>fillcolor</p:attrName>
                                        </p:attrNameLst>
                                      </p:cBhvr>
                                      <p:to>
                                        <a:schemeClr val="accent2"/>
                                      </p:to>
                                    </p:animClr>
                                    <p:set>
                                      <p:cBhvr>
                                        <p:cTn id="149" dur="2000" fill="hold"/>
                                        <p:tgtEl>
                                          <p:spTgt spid="38"/>
                                        </p:tgtEl>
                                        <p:attrNameLst>
                                          <p:attrName>fill.type</p:attrName>
                                        </p:attrNameLst>
                                      </p:cBhvr>
                                      <p:to>
                                        <p:strVal val="solid"/>
                                      </p:to>
                                    </p:set>
                                    <p:set>
                                      <p:cBhvr>
                                        <p:cTn id="150" dur="2000" fill="hold"/>
                                        <p:tgtEl>
                                          <p:spTgt spid="38"/>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wipe(down)">
                                      <p:cBhvr>
                                        <p:cTn id="155" dur="500"/>
                                        <p:tgtEl>
                                          <p:spTgt spid="59"/>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Converse Traversal</a:t>
            </a:r>
          </a:p>
        </p:txBody>
      </p:sp>
      <p:sp>
        <p:nvSpPr>
          <p:cNvPr id="3" name="Content Placeholder 2"/>
          <p:cNvSpPr>
            <a:spLocks noGrp="1"/>
          </p:cNvSpPr>
          <p:nvPr>
            <p:ph idx="1"/>
          </p:nvPr>
        </p:nvSpPr>
        <p:spPr/>
        <p:txBody>
          <a:bodyPr/>
          <a:lstStyle/>
          <a:p>
            <a:r>
              <a:rPr lang="en-IN" dirty="0" smtClean="0"/>
              <a:t>If </a:t>
            </a:r>
            <a:r>
              <a:rPr lang="en-IN" dirty="0"/>
              <a:t>we </a:t>
            </a:r>
            <a:r>
              <a:rPr lang="en-IN" b="1" i="1" dirty="0">
                <a:solidFill>
                  <a:srgbClr val="C00000"/>
                </a:solidFill>
              </a:rPr>
              <a:t>interchange left and right words </a:t>
            </a:r>
            <a:r>
              <a:rPr lang="en-IN" b="1" i="1" dirty="0"/>
              <a:t>in the preceding definitions</a:t>
            </a:r>
            <a:r>
              <a:rPr lang="en-IN" dirty="0"/>
              <a:t>, we obtain three new traversal orders which are called</a:t>
            </a:r>
          </a:p>
          <a:p>
            <a:pPr lvl="1">
              <a:buClr>
                <a:schemeClr val="tx1"/>
              </a:buClr>
            </a:pPr>
            <a:r>
              <a:rPr lang="en-IN" b="1" dirty="0" smtClean="0">
                <a:solidFill>
                  <a:srgbClr val="C00000"/>
                </a:solidFill>
              </a:rPr>
              <a:t>Converse </a:t>
            </a:r>
            <a:r>
              <a:rPr lang="en-IN" b="1" dirty="0" err="1" smtClean="0">
                <a:solidFill>
                  <a:srgbClr val="C00000"/>
                </a:solidFill>
              </a:rPr>
              <a:t>Preorder</a:t>
            </a:r>
            <a:r>
              <a:rPr lang="en-IN" b="1" dirty="0" smtClean="0">
                <a:solidFill>
                  <a:srgbClr val="C00000"/>
                </a:solidFill>
              </a:rPr>
              <a:t> </a:t>
            </a:r>
            <a:r>
              <a:rPr lang="en-IN" dirty="0" smtClean="0"/>
              <a:t>Traversal:  A  </a:t>
            </a:r>
            <a:r>
              <a:rPr lang="en-IN" dirty="0"/>
              <a:t>D  G  E  F  B  </a:t>
            </a:r>
            <a:r>
              <a:rPr lang="en-IN" dirty="0" smtClean="0"/>
              <a:t>C</a:t>
            </a:r>
            <a:endParaRPr lang="en-IN" dirty="0"/>
          </a:p>
          <a:p>
            <a:pPr lvl="1">
              <a:buClr>
                <a:schemeClr val="tx1"/>
              </a:buClr>
            </a:pPr>
            <a:r>
              <a:rPr lang="en-IN" b="1" dirty="0" smtClean="0">
                <a:solidFill>
                  <a:srgbClr val="C00000"/>
                </a:solidFill>
              </a:rPr>
              <a:t>Converse </a:t>
            </a:r>
            <a:r>
              <a:rPr lang="en-IN" b="1" dirty="0" err="1">
                <a:solidFill>
                  <a:srgbClr val="C00000"/>
                </a:solidFill>
              </a:rPr>
              <a:t>Inorder</a:t>
            </a:r>
            <a:r>
              <a:rPr lang="en-IN" b="1" dirty="0">
                <a:solidFill>
                  <a:srgbClr val="C00000"/>
                </a:solidFill>
              </a:rPr>
              <a:t> </a:t>
            </a:r>
            <a:r>
              <a:rPr lang="en-IN" dirty="0" smtClean="0"/>
              <a:t>Traversal: G  </a:t>
            </a:r>
            <a:r>
              <a:rPr lang="en-IN" dirty="0"/>
              <a:t>D  F  E  A  B  </a:t>
            </a:r>
            <a:r>
              <a:rPr lang="en-IN" dirty="0" smtClean="0"/>
              <a:t>C</a:t>
            </a:r>
            <a:endParaRPr lang="en-IN" dirty="0"/>
          </a:p>
          <a:p>
            <a:pPr lvl="1">
              <a:buClr>
                <a:schemeClr val="tx1"/>
              </a:buClr>
            </a:pPr>
            <a:r>
              <a:rPr lang="en-IN" b="1" dirty="0" smtClean="0">
                <a:solidFill>
                  <a:srgbClr val="C00000"/>
                </a:solidFill>
              </a:rPr>
              <a:t>Converse </a:t>
            </a:r>
            <a:r>
              <a:rPr lang="en-IN" b="1" dirty="0" err="1">
                <a:solidFill>
                  <a:srgbClr val="C00000"/>
                </a:solidFill>
              </a:rPr>
              <a:t>Postorder</a:t>
            </a:r>
            <a:r>
              <a:rPr lang="en-IN" b="1" dirty="0">
                <a:solidFill>
                  <a:srgbClr val="FF0000"/>
                </a:solidFill>
              </a:rPr>
              <a:t> </a:t>
            </a:r>
            <a:r>
              <a:rPr lang="en-IN" dirty="0" smtClean="0"/>
              <a:t>Traversal: G  </a:t>
            </a:r>
            <a:r>
              <a:rPr lang="en-IN" dirty="0"/>
              <a:t>F  E  D  C  B  </a:t>
            </a:r>
            <a:r>
              <a:rPr lang="en-IN" dirty="0" smtClean="0"/>
              <a:t>A</a:t>
            </a:r>
            <a:endParaRPr lang="en-US" dirty="0"/>
          </a:p>
        </p:txBody>
      </p:sp>
    </p:spTree>
    <p:extLst>
      <p:ext uri="{BB962C8B-B14F-4D97-AF65-F5344CB8AC3E}">
        <p14:creationId xmlns:p14="http://schemas.microsoft.com/office/powerpoint/2010/main" val="327036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Write Pre/In/Post Order Traversal</a:t>
            </a:r>
            <a:endParaRPr lang="en-US" dirty="0"/>
          </a:p>
        </p:txBody>
      </p:sp>
      <p:sp>
        <p:nvSpPr>
          <p:cNvPr id="4" name="Rectangle 12"/>
          <p:cNvSpPr>
            <a:spLocks noChangeArrowheads="1"/>
          </p:cNvSpPr>
          <p:nvPr/>
        </p:nvSpPr>
        <p:spPr bwMode="auto">
          <a:xfrm>
            <a:off x="1676401"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1"/>
          <p:cNvSpPr>
            <a:spLocks noChangeArrowheads="1"/>
          </p:cNvSpPr>
          <p:nvPr/>
        </p:nvSpPr>
        <p:spPr bwMode="auto">
          <a:xfrm>
            <a:off x="1676401"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2" name="Rectangle 74"/>
          <p:cNvSpPr>
            <a:spLocks noChangeArrowheads="1"/>
          </p:cNvSpPr>
          <p:nvPr/>
        </p:nvSpPr>
        <p:spPr bwMode="auto">
          <a:xfrm>
            <a:off x="1676401"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3" name="Group 2"/>
          <p:cNvGrpSpPr/>
          <p:nvPr/>
        </p:nvGrpSpPr>
        <p:grpSpPr>
          <a:xfrm>
            <a:off x="550788" y="897966"/>
            <a:ext cx="1712726" cy="3156901"/>
            <a:chOff x="547384" y="1153022"/>
            <a:chExt cx="1712726" cy="3156901"/>
          </a:xfrm>
        </p:grpSpPr>
        <p:sp>
          <p:nvSpPr>
            <p:cNvPr id="29" name="Oval 28"/>
            <p:cNvSpPr/>
            <p:nvPr/>
          </p:nvSpPr>
          <p:spPr>
            <a:xfrm>
              <a:off x="1072117" y="11530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1</a:t>
              </a:r>
              <a:endParaRPr lang="en-IN" b="1" dirty="0"/>
            </a:p>
          </p:txBody>
        </p:sp>
        <p:sp>
          <p:nvSpPr>
            <p:cNvPr id="76" name="Oval 75"/>
            <p:cNvSpPr/>
            <p:nvPr/>
          </p:nvSpPr>
          <p:spPr>
            <a:xfrm>
              <a:off x="547384" y="19934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2</a:t>
              </a:r>
              <a:endParaRPr lang="en-IN" b="1" dirty="0"/>
            </a:p>
          </p:txBody>
        </p:sp>
        <p:sp>
          <p:nvSpPr>
            <p:cNvPr id="78" name="Oval 77"/>
            <p:cNvSpPr/>
            <p:nvPr/>
          </p:nvSpPr>
          <p:spPr>
            <a:xfrm>
              <a:off x="1698510" y="19934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3</a:t>
              </a:r>
              <a:endParaRPr lang="en-IN" b="1" dirty="0"/>
            </a:p>
          </p:txBody>
        </p:sp>
        <p:sp>
          <p:nvSpPr>
            <p:cNvPr id="80" name="Oval 79"/>
            <p:cNvSpPr/>
            <p:nvPr/>
          </p:nvSpPr>
          <p:spPr>
            <a:xfrm>
              <a:off x="1072117" y="293980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4</a:t>
              </a:r>
              <a:endParaRPr lang="en-IN" b="1" dirty="0"/>
            </a:p>
          </p:txBody>
        </p:sp>
        <p:sp>
          <p:nvSpPr>
            <p:cNvPr id="81" name="Oval 80"/>
            <p:cNvSpPr/>
            <p:nvPr/>
          </p:nvSpPr>
          <p:spPr>
            <a:xfrm>
              <a:off x="1698510" y="374832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5</a:t>
              </a:r>
              <a:endParaRPr lang="en-IN" b="1" dirty="0"/>
            </a:p>
          </p:txBody>
        </p:sp>
        <p:cxnSp>
          <p:nvCxnSpPr>
            <p:cNvPr id="37" name="Straight Arrow Connector 36"/>
            <p:cNvCxnSpPr>
              <a:stCxn id="29" idx="3"/>
              <a:endCxn id="76" idx="0"/>
            </p:cNvCxnSpPr>
            <p:nvPr/>
          </p:nvCxnSpPr>
          <p:spPr>
            <a:xfrm flipH="1">
              <a:off x="828184" y="1632378"/>
              <a:ext cx="326177"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29" idx="5"/>
              <a:endCxn id="78" idx="0"/>
            </p:cNvCxnSpPr>
            <p:nvPr/>
          </p:nvCxnSpPr>
          <p:spPr>
            <a:xfrm>
              <a:off x="1551473" y="1632378"/>
              <a:ext cx="427837"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8" idx="3"/>
              <a:endCxn id="80" idx="0"/>
            </p:cNvCxnSpPr>
            <p:nvPr/>
          </p:nvCxnSpPr>
          <p:spPr>
            <a:xfrm flipH="1">
              <a:off x="1352917" y="2472813"/>
              <a:ext cx="427837" cy="46699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80" idx="5"/>
              <a:endCxn id="81" idx="1"/>
            </p:cNvCxnSpPr>
            <p:nvPr/>
          </p:nvCxnSpPr>
          <p:spPr>
            <a:xfrm>
              <a:off x="1551473" y="3419161"/>
              <a:ext cx="229281" cy="411406"/>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2785167" y="897966"/>
            <a:ext cx="4669044" cy="3282355"/>
            <a:chOff x="3163550" y="1648492"/>
            <a:chExt cx="4669044" cy="3282355"/>
          </a:xfrm>
        </p:grpSpPr>
        <p:sp>
          <p:nvSpPr>
            <p:cNvPr id="74" name="Oval 73"/>
            <p:cNvSpPr/>
            <p:nvPr/>
          </p:nvSpPr>
          <p:spPr>
            <a:xfrm>
              <a:off x="5203792" y="164849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50</a:t>
              </a:r>
              <a:endParaRPr lang="en-IN" sz="1600" b="1" dirty="0"/>
            </a:p>
          </p:txBody>
        </p:sp>
        <p:sp>
          <p:nvSpPr>
            <p:cNvPr id="75" name="Oval 74"/>
            <p:cNvSpPr/>
            <p:nvPr/>
          </p:nvSpPr>
          <p:spPr>
            <a:xfrm>
              <a:off x="4315990" y="24889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25</a:t>
              </a:r>
              <a:endParaRPr lang="en-IN" sz="1600" b="1" dirty="0"/>
            </a:p>
          </p:txBody>
        </p:sp>
        <p:sp>
          <p:nvSpPr>
            <p:cNvPr id="77" name="Oval 76"/>
            <p:cNvSpPr/>
            <p:nvPr/>
          </p:nvSpPr>
          <p:spPr>
            <a:xfrm>
              <a:off x="6139466" y="258305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75</a:t>
              </a:r>
              <a:endParaRPr lang="en-IN" sz="1600" b="1" dirty="0"/>
            </a:p>
          </p:txBody>
        </p:sp>
        <p:cxnSp>
          <p:nvCxnSpPr>
            <p:cNvPr id="79" name="Straight Arrow Connector 78"/>
            <p:cNvCxnSpPr>
              <a:stCxn id="74" idx="3"/>
              <a:endCxn id="75" idx="0"/>
            </p:cNvCxnSpPr>
            <p:nvPr/>
          </p:nvCxnSpPr>
          <p:spPr>
            <a:xfrm flipH="1">
              <a:off x="4596790" y="2127848"/>
              <a:ext cx="689246"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74" idx="5"/>
              <a:endCxn id="77" idx="0"/>
            </p:cNvCxnSpPr>
            <p:nvPr/>
          </p:nvCxnSpPr>
          <p:spPr>
            <a:xfrm>
              <a:off x="5683148" y="2127848"/>
              <a:ext cx="737118" cy="455208"/>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3767564"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22</a:t>
              </a:r>
              <a:endParaRPr lang="en-IN" sz="1600" b="1" dirty="0"/>
            </a:p>
          </p:txBody>
        </p:sp>
        <p:sp>
          <p:nvSpPr>
            <p:cNvPr id="87" name="Oval 86"/>
            <p:cNvSpPr/>
            <p:nvPr/>
          </p:nvSpPr>
          <p:spPr>
            <a:xfrm>
              <a:off x="4743879"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40</a:t>
              </a:r>
              <a:endParaRPr lang="en-IN" sz="1600" b="1" dirty="0"/>
            </a:p>
          </p:txBody>
        </p:sp>
        <p:cxnSp>
          <p:nvCxnSpPr>
            <p:cNvPr id="88" name="Straight Arrow Connector 87"/>
            <p:cNvCxnSpPr>
              <a:stCxn id="75" idx="3"/>
              <a:endCxn id="86" idx="0"/>
            </p:cNvCxnSpPr>
            <p:nvPr/>
          </p:nvCxnSpPr>
          <p:spPr>
            <a:xfrm flipH="1">
              <a:off x="4048364" y="2968283"/>
              <a:ext cx="349870" cy="480017"/>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75" idx="5"/>
              <a:endCxn id="87" idx="0"/>
            </p:cNvCxnSpPr>
            <p:nvPr/>
          </p:nvCxnSpPr>
          <p:spPr>
            <a:xfrm>
              <a:off x="4795346" y="2968283"/>
              <a:ext cx="229333" cy="480017"/>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3163550"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15</a:t>
              </a:r>
              <a:endParaRPr lang="en-IN" sz="1600" b="1" dirty="0"/>
            </a:p>
          </p:txBody>
        </p:sp>
        <p:cxnSp>
          <p:nvCxnSpPr>
            <p:cNvPr id="91" name="Straight Arrow Connector 90"/>
            <p:cNvCxnSpPr>
              <a:stCxn id="86" idx="3"/>
              <a:endCxn id="90" idx="0"/>
            </p:cNvCxnSpPr>
            <p:nvPr/>
          </p:nvCxnSpPr>
          <p:spPr>
            <a:xfrm flipH="1">
              <a:off x="3444350" y="3927656"/>
              <a:ext cx="405458"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2" name="Oval 91"/>
            <p:cNvSpPr/>
            <p:nvPr/>
          </p:nvSpPr>
          <p:spPr>
            <a:xfrm>
              <a:off x="4260258"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30</a:t>
              </a:r>
              <a:endParaRPr lang="en-IN" sz="1600" b="1" dirty="0"/>
            </a:p>
          </p:txBody>
        </p:sp>
        <p:cxnSp>
          <p:nvCxnSpPr>
            <p:cNvPr id="93" name="Straight Arrow Connector 92"/>
            <p:cNvCxnSpPr>
              <a:stCxn id="87" idx="3"/>
              <a:endCxn id="92" idx="0"/>
            </p:cNvCxnSpPr>
            <p:nvPr/>
          </p:nvCxnSpPr>
          <p:spPr>
            <a:xfrm flipH="1">
              <a:off x="4541058" y="3927656"/>
              <a:ext cx="285065"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0" name="Oval 109"/>
            <p:cNvSpPr/>
            <p:nvPr/>
          </p:nvSpPr>
          <p:spPr>
            <a:xfrm>
              <a:off x="5627628"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60</a:t>
              </a:r>
              <a:endParaRPr lang="en-IN" sz="1600" b="1" dirty="0"/>
            </a:p>
          </p:txBody>
        </p:sp>
        <p:sp>
          <p:nvSpPr>
            <p:cNvPr id="111" name="Oval 110"/>
            <p:cNvSpPr/>
            <p:nvPr/>
          </p:nvSpPr>
          <p:spPr>
            <a:xfrm>
              <a:off x="6698072"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80</a:t>
              </a:r>
              <a:endParaRPr lang="en-IN" sz="1600" b="1" dirty="0"/>
            </a:p>
          </p:txBody>
        </p:sp>
        <p:cxnSp>
          <p:nvCxnSpPr>
            <p:cNvPr id="112" name="Straight Arrow Connector 111"/>
            <p:cNvCxnSpPr>
              <a:stCxn id="77" idx="3"/>
              <a:endCxn id="110" idx="0"/>
            </p:cNvCxnSpPr>
            <p:nvPr/>
          </p:nvCxnSpPr>
          <p:spPr>
            <a:xfrm flipH="1">
              <a:off x="5908428" y="3062412"/>
              <a:ext cx="313282" cy="385888"/>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77" idx="5"/>
              <a:endCxn id="111" idx="0"/>
            </p:cNvCxnSpPr>
            <p:nvPr/>
          </p:nvCxnSpPr>
          <p:spPr>
            <a:xfrm>
              <a:off x="6618822" y="3062412"/>
              <a:ext cx="360050" cy="385888"/>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4" name="Oval 113"/>
            <p:cNvSpPr/>
            <p:nvPr/>
          </p:nvSpPr>
          <p:spPr>
            <a:xfrm>
              <a:off x="7270994"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90</a:t>
              </a:r>
              <a:endParaRPr lang="en-IN" sz="1600" b="1" dirty="0"/>
            </a:p>
          </p:txBody>
        </p:sp>
        <p:cxnSp>
          <p:nvCxnSpPr>
            <p:cNvPr id="115" name="Straight Arrow Connector 114"/>
            <p:cNvCxnSpPr>
              <a:stCxn id="111" idx="5"/>
              <a:endCxn id="114" idx="0"/>
            </p:cNvCxnSpPr>
            <p:nvPr/>
          </p:nvCxnSpPr>
          <p:spPr>
            <a:xfrm>
              <a:off x="7177428" y="3927656"/>
              <a:ext cx="374366"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7827415" y="897966"/>
            <a:ext cx="4197541" cy="4621543"/>
            <a:chOff x="7765860" y="793505"/>
            <a:chExt cx="4197541" cy="4621543"/>
          </a:xfrm>
        </p:grpSpPr>
        <p:sp>
          <p:nvSpPr>
            <p:cNvPr id="126" name="Oval 125"/>
            <p:cNvSpPr/>
            <p:nvPr/>
          </p:nvSpPr>
          <p:spPr>
            <a:xfrm>
              <a:off x="8467039" y="79350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15</a:t>
              </a:r>
              <a:endParaRPr lang="en-IN" sz="1600" b="1" dirty="0"/>
            </a:p>
          </p:txBody>
        </p:sp>
        <p:sp>
          <p:nvSpPr>
            <p:cNvPr id="127" name="Oval 126"/>
            <p:cNvSpPr/>
            <p:nvPr/>
          </p:nvSpPr>
          <p:spPr>
            <a:xfrm>
              <a:off x="7768853" y="162049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3</a:t>
              </a:r>
              <a:endParaRPr lang="en-IN" sz="1600" b="1" dirty="0"/>
            </a:p>
          </p:txBody>
        </p:sp>
        <p:sp>
          <p:nvSpPr>
            <p:cNvPr id="128" name="Oval 127"/>
            <p:cNvSpPr/>
            <p:nvPr/>
          </p:nvSpPr>
          <p:spPr>
            <a:xfrm>
              <a:off x="9242707" y="162049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1</a:t>
              </a:r>
              <a:endParaRPr lang="en-IN" sz="1600" b="1" dirty="0"/>
            </a:p>
          </p:txBody>
        </p:sp>
        <p:cxnSp>
          <p:nvCxnSpPr>
            <p:cNvPr id="129" name="Straight Arrow Connector 128"/>
            <p:cNvCxnSpPr>
              <a:stCxn id="126" idx="3"/>
              <a:endCxn id="127" idx="0"/>
            </p:cNvCxnSpPr>
            <p:nvPr/>
          </p:nvCxnSpPr>
          <p:spPr>
            <a:xfrm flipH="1">
              <a:off x="8049653" y="1272861"/>
              <a:ext cx="499630" cy="34763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126" idx="5"/>
              <a:endCxn id="128" idx="0"/>
            </p:cNvCxnSpPr>
            <p:nvPr/>
          </p:nvCxnSpPr>
          <p:spPr>
            <a:xfrm>
              <a:off x="8946395" y="1272861"/>
              <a:ext cx="577112" cy="34763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1" name="Oval 130"/>
            <p:cNvSpPr/>
            <p:nvPr/>
          </p:nvSpPr>
          <p:spPr>
            <a:xfrm>
              <a:off x="8292228" y="24117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6</a:t>
              </a:r>
              <a:endParaRPr lang="en-IN" sz="1600" b="1" dirty="0"/>
            </a:p>
          </p:txBody>
        </p:sp>
        <p:cxnSp>
          <p:nvCxnSpPr>
            <p:cNvPr id="132" name="Straight Arrow Connector 131"/>
            <p:cNvCxnSpPr>
              <a:stCxn id="127" idx="5"/>
              <a:endCxn id="131" idx="0"/>
            </p:cNvCxnSpPr>
            <p:nvPr/>
          </p:nvCxnSpPr>
          <p:spPr>
            <a:xfrm>
              <a:off x="8248209" y="2099849"/>
              <a:ext cx="324819" cy="31192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3" name="Oval 132"/>
            <p:cNvSpPr/>
            <p:nvPr/>
          </p:nvSpPr>
          <p:spPr>
            <a:xfrm>
              <a:off x="9841654" y="24117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22</a:t>
              </a:r>
              <a:endParaRPr lang="en-IN" sz="1600" b="1" dirty="0"/>
            </a:p>
          </p:txBody>
        </p:sp>
        <p:cxnSp>
          <p:nvCxnSpPr>
            <p:cNvPr id="134" name="Straight Arrow Connector 133"/>
            <p:cNvCxnSpPr>
              <a:stCxn id="128" idx="5"/>
              <a:endCxn id="133" idx="0"/>
            </p:cNvCxnSpPr>
            <p:nvPr/>
          </p:nvCxnSpPr>
          <p:spPr>
            <a:xfrm>
              <a:off x="9722063" y="2099849"/>
              <a:ext cx="400391" cy="31192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5" name="Oval 134"/>
            <p:cNvSpPr/>
            <p:nvPr/>
          </p:nvSpPr>
          <p:spPr>
            <a:xfrm>
              <a:off x="10374235" y="32010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45</a:t>
              </a:r>
              <a:endParaRPr lang="en-IN" sz="1600" b="1" dirty="0"/>
            </a:p>
          </p:txBody>
        </p:sp>
        <p:cxnSp>
          <p:nvCxnSpPr>
            <p:cNvPr id="136" name="Straight Arrow Connector 135"/>
            <p:cNvCxnSpPr>
              <a:stCxn id="133" idx="5"/>
              <a:endCxn id="135" idx="0"/>
            </p:cNvCxnSpPr>
            <p:nvPr/>
          </p:nvCxnSpPr>
          <p:spPr>
            <a:xfrm>
              <a:off x="10321010" y="2891134"/>
              <a:ext cx="334025" cy="309965"/>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7" name="Oval 136"/>
            <p:cNvSpPr/>
            <p:nvPr/>
          </p:nvSpPr>
          <p:spPr>
            <a:xfrm>
              <a:off x="7765860" y="32010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5</a:t>
              </a:r>
              <a:endParaRPr lang="en-IN" sz="1600" b="1" dirty="0"/>
            </a:p>
          </p:txBody>
        </p:sp>
        <p:cxnSp>
          <p:nvCxnSpPr>
            <p:cNvPr id="138" name="Straight Arrow Connector 137"/>
            <p:cNvCxnSpPr>
              <a:stCxn id="131" idx="3"/>
              <a:endCxn id="137" idx="0"/>
            </p:cNvCxnSpPr>
            <p:nvPr/>
          </p:nvCxnSpPr>
          <p:spPr>
            <a:xfrm flipH="1">
              <a:off x="8046660" y="2891134"/>
              <a:ext cx="327812" cy="309965"/>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9" name="Oval 138"/>
            <p:cNvSpPr/>
            <p:nvPr/>
          </p:nvSpPr>
          <p:spPr>
            <a:xfrm>
              <a:off x="9844232" y="40140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23</a:t>
              </a:r>
              <a:endParaRPr lang="en-IN" sz="1600" b="1" dirty="0"/>
            </a:p>
          </p:txBody>
        </p:sp>
        <p:cxnSp>
          <p:nvCxnSpPr>
            <p:cNvPr id="140" name="Straight Arrow Connector 139"/>
            <p:cNvCxnSpPr>
              <a:stCxn id="135" idx="3"/>
              <a:endCxn id="139" idx="0"/>
            </p:cNvCxnSpPr>
            <p:nvPr/>
          </p:nvCxnSpPr>
          <p:spPr>
            <a:xfrm flipH="1">
              <a:off x="10125032" y="3680455"/>
              <a:ext cx="331447" cy="333634"/>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Oval 140"/>
            <p:cNvSpPr/>
            <p:nvPr/>
          </p:nvSpPr>
          <p:spPr>
            <a:xfrm>
              <a:off x="10904238" y="40140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65</a:t>
              </a:r>
            </a:p>
          </p:txBody>
        </p:sp>
        <p:cxnSp>
          <p:nvCxnSpPr>
            <p:cNvPr id="142" name="Straight Arrow Connector 141"/>
            <p:cNvCxnSpPr>
              <a:stCxn id="135" idx="5"/>
              <a:endCxn id="141" idx="0"/>
            </p:cNvCxnSpPr>
            <p:nvPr/>
          </p:nvCxnSpPr>
          <p:spPr>
            <a:xfrm>
              <a:off x="10853591" y="3680455"/>
              <a:ext cx="331447" cy="333634"/>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3" name="Oval 142"/>
            <p:cNvSpPr/>
            <p:nvPr/>
          </p:nvSpPr>
          <p:spPr>
            <a:xfrm>
              <a:off x="11401801" y="485344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78</a:t>
              </a:r>
            </a:p>
          </p:txBody>
        </p:sp>
        <p:cxnSp>
          <p:nvCxnSpPr>
            <p:cNvPr id="144" name="Straight Arrow Connector 143"/>
            <p:cNvCxnSpPr>
              <a:stCxn id="141" idx="5"/>
              <a:endCxn id="143" idx="0"/>
            </p:cNvCxnSpPr>
            <p:nvPr/>
          </p:nvCxnSpPr>
          <p:spPr>
            <a:xfrm>
              <a:off x="11383594" y="4493445"/>
              <a:ext cx="299007" cy="360003"/>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Oval 144"/>
            <p:cNvSpPr/>
            <p:nvPr/>
          </p:nvSpPr>
          <p:spPr>
            <a:xfrm>
              <a:off x="10412635" y="485344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t>34</a:t>
              </a:r>
              <a:endParaRPr lang="en-IN" sz="1600" b="1" dirty="0"/>
            </a:p>
          </p:txBody>
        </p:sp>
        <p:cxnSp>
          <p:nvCxnSpPr>
            <p:cNvPr id="146" name="Straight Arrow Connector 145"/>
            <p:cNvCxnSpPr>
              <a:stCxn id="139" idx="5"/>
              <a:endCxn id="145" idx="0"/>
            </p:cNvCxnSpPr>
            <p:nvPr/>
          </p:nvCxnSpPr>
          <p:spPr>
            <a:xfrm>
              <a:off x="10323588" y="4493445"/>
              <a:ext cx="369847" cy="360003"/>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a:xfrm>
            <a:off x="2595282" y="887003"/>
            <a:ext cx="0" cy="5449046"/>
          </a:xfrm>
          <a:prstGeom prst="line">
            <a:avLst/>
          </a:prstGeom>
        </p:spPr>
        <p:style>
          <a:lnRef idx="3">
            <a:schemeClr val="dk1"/>
          </a:lnRef>
          <a:fillRef idx="0">
            <a:schemeClr val="dk1"/>
          </a:fillRef>
          <a:effectRef idx="2">
            <a:schemeClr val="dk1"/>
          </a:effectRef>
          <a:fontRef idx="minor">
            <a:schemeClr val="tx1"/>
          </a:fontRef>
        </p:style>
      </p:cxnSp>
      <p:cxnSp>
        <p:nvCxnSpPr>
          <p:cNvPr id="147" name="Straight Connector 146"/>
          <p:cNvCxnSpPr/>
          <p:nvPr/>
        </p:nvCxnSpPr>
        <p:spPr>
          <a:xfrm>
            <a:off x="7628964" y="887003"/>
            <a:ext cx="0" cy="5449046"/>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871776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Write Pre/In/Post Order </a:t>
            </a:r>
            <a:r>
              <a:rPr lang="en-IN" dirty="0" smtClean="0"/>
              <a:t>Traversal Cont</a:t>
            </a:r>
            <a:r>
              <a:rPr lang="en-IN" dirty="0"/>
              <a:t>.</a:t>
            </a:r>
            <a:endParaRPr lang="en-US" dirty="0"/>
          </a:p>
        </p:txBody>
      </p:sp>
      <p:grpSp>
        <p:nvGrpSpPr>
          <p:cNvPr id="86" name="Group 85"/>
          <p:cNvGrpSpPr/>
          <p:nvPr/>
        </p:nvGrpSpPr>
        <p:grpSpPr>
          <a:xfrm>
            <a:off x="203916" y="801175"/>
            <a:ext cx="4170602" cy="2857340"/>
            <a:chOff x="203916" y="891328"/>
            <a:chExt cx="4170602" cy="2857340"/>
          </a:xfrm>
        </p:grpSpPr>
        <p:sp>
          <p:nvSpPr>
            <p:cNvPr id="21" name="Oval 20"/>
            <p:cNvSpPr/>
            <p:nvPr/>
          </p:nvSpPr>
          <p:spPr>
            <a:xfrm>
              <a:off x="2191555" y="891328"/>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73</a:t>
              </a:r>
              <a:endParaRPr lang="en-US" sz="2400" b="1" dirty="0"/>
            </a:p>
          </p:txBody>
        </p:sp>
        <p:sp>
          <p:nvSpPr>
            <p:cNvPr id="22" name="Oval 21"/>
            <p:cNvSpPr/>
            <p:nvPr/>
          </p:nvSpPr>
          <p:spPr>
            <a:xfrm>
              <a:off x="1244958" y="15392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13</a:t>
              </a:r>
              <a:endParaRPr lang="en-US" sz="2400" b="1" dirty="0"/>
            </a:p>
          </p:txBody>
        </p:sp>
        <p:sp>
          <p:nvSpPr>
            <p:cNvPr id="23" name="Oval 22"/>
            <p:cNvSpPr/>
            <p:nvPr/>
          </p:nvSpPr>
          <p:spPr>
            <a:xfrm>
              <a:off x="710483" y="228332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10</a:t>
              </a:r>
              <a:endParaRPr lang="en-US" sz="2400" b="1" dirty="0"/>
            </a:p>
          </p:txBody>
        </p:sp>
        <p:sp>
          <p:nvSpPr>
            <p:cNvPr id="24" name="Oval 23"/>
            <p:cNvSpPr/>
            <p:nvPr/>
          </p:nvSpPr>
          <p:spPr>
            <a:xfrm>
              <a:off x="1772990" y="229226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28</a:t>
              </a:r>
              <a:endParaRPr lang="en-US" sz="2400" b="1" dirty="0"/>
            </a:p>
          </p:txBody>
        </p:sp>
        <p:sp>
          <p:nvSpPr>
            <p:cNvPr id="25" name="Oval 24"/>
            <p:cNvSpPr/>
            <p:nvPr/>
          </p:nvSpPr>
          <p:spPr>
            <a:xfrm>
              <a:off x="203916" y="304033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5</a:t>
              </a:r>
              <a:endParaRPr lang="en-US" sz="2400" b="1" dirty="0"/>
            </a:p>
          </p:txBody>
        </p:sp>
        <p:sp>
          <p:nvSpPr>
            <p:cNvPr id="26" name="Oval 25"/>
            <p:cNvSpPr/>
            <p:nvPr/>
          </p:nvSpPr>
          <p:spPr>
            <a:xfrm>
              <a:off x="3151025" y="15392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75</a:t>
              </a:r>
              <a:endParaRPr lang="en-US" sz="2400" b="1" dirty="0"/>
            </a:p>
          </p:txBody>
        </p:sp>
        <p:sp>
          <p:nvSpPr>
            <p:cNvPr id="27" name="Oval 26"/>
            <p:cNvSpPr/>
            <p:nvPr/>
          </p:nvSpPr>
          <p:spPr>
            <a:xfrm>
              <a:off x="2597233" y="22732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74</a:t>
              </a:r>
              <a:endParaRPr lang="en-US" sz="2400" b="1" dirty="0"/>
            </a:p>
          </p:txBody>
        </p:sp>
        <p:sp>
          <p:nvSpPr>
            <p:cNvPr id="28" name="Oval 27"/>
            <p:cNvSpPr/>
            <p:nvPr/>
          </p:nvSpPr>
          <p:spPr>
            <a:xfrm>
              <a:off x="3666180" y="22732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89</a:t>
              </a:r>
              <a:endParaRPr lang="en-US" sz="2400" b="1" dirty="0"/>
            </a:p>
          </p:txBody>
        </p:sp>
        <p:cxnSp>
          <p:nvCxnSpPr>
            <p:cNvPr id="30" name="Straight Arrow Connector 29"/>
            <p:cNvCxnSpPr>
              <a:endCxn id="22" idx="7"/>
            </p:cNvCxnSpPr>
            <p:nvPr/>
          </p:nvCxnSpPr>
          <p:spPr>
            <a:xfrm flipH="1">
              <a:off x="1849562" y="1444416"/>
              <a:ext cx="445727" cy="19852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p:cNvCxnSpPr>
              <a:endCxn id="26" idx="1"/>
            </p:cNvCxnSpPr>
            <p:nvPr/>
          </p:nvCxnSpPr>
          <p:spPr>
            <a:xfrm>
              <a:off x="2796159" y="1444416"/>
              <a:ext cx="458600" cy="19852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p:cNvCxnSpPr>
              <a:stCxn id="22" idx="3"/>
              <a:endCxn id="23" idx="0"/>
            </p:cNvCxnSpPr>
            <p:nvPr/>
          </p:nvCxnSpPr>
          <p:spPr>
            <a:xfrm flipH="1">
              <a:off x="1064652" y="2143807"/>
              <a:ext cx="284040" cy="13952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a:stCxn id="22" idx="5"/>
              <a:endCxn id="24" idx="0"/>
            </p:cNvCxnSpPr>
            <p:nvPr/>
          </p:nvCxnSpPr>
          <p:spPr>
            <a:xfrm>
              <a:off x="1849562" y="2143807"/>
              <a:ext cx="277597" cy="148456"/>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p:cNvCxnSpPr>
              <a:stCxn id="23" idx="3"/>
              <a:endCxn id="25" idx="0"/>
            </p:cNvCxnSpPr>
            <p:nvPr/>
          </p:nvCxnSpPr>
          <p:spPr>
            <a:xfrm flipH="1">
              <a:off x="558085" y="2887931"/>
              <a:ext cx="256132" cy="15239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stCxn id="26" idx="3"/>
              <a:endCxn id="27" idx="0"/>
            </p:cNvCxnSpPr>
            <p:nvPr/>
          </p:nvCxnSpPr>
          <p:spPr>
            <a:xfrm flipH="1">
              <a:off x="2951402" y="2143807"/>
              <a:ext cx="303357" cy="12949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26" idx="5"/>
              <a:endCxn id="28" idx="0"/>
            </p:cNvCxnSpPr>
            <p:nvPr/>
          </p:nvCxnSpPr>
          <p:spPr>
            <a:xfrm>
              <a:off x="3755629" y="2143807"/>
              <a:ext cx="264720" cy="12949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grpSp>
        <p:nvGrpSpPr>
          <p:cNvPr id="91" name="Group 90"/>
          <p:cNvGrpSpPr/>
          <p:nvPr/>
        </p:nvGrpSpPr>
        <p:grpSpPr>
          <a:xfrm>
            <a:off x="678827" y="3497531"/>
            <a:ext cx="3836812" cy="2964521"/>
            <a:chOff x="678827" y="3433136"/>
            <a:chExt cx="3836812" cy="2964521"/>
          </a:xfrm>
        </p:grpSpPr>
        <p:sp>
          <p:nvSpPr>
            <p:cNvPr id="49" name="Oval 48"/>
            <p:cNvSpPr/>
            <p:nvPr/>
          </p:nvSpPr>
          <p:spPr>
            <a:xfrm>
              <a:off x="2205664" y="343313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t>
              </a:r>
              <a:endParaRPr lang="en-US" sz="2400" b="1" dirty="0"/>
            </a:p>
          </p:txBody>
        </p:sp>
        <p:sp>
          <p:nvSpPr>
            <p:cNvPr id="50" name="Oval 49"/>
            <p:cNvSpPr/>
            <p:nvPr/>
          </p:nvSpPr>
          <p:spPr>
            <a:xfrm>
              <a:off x="1279826" y="4155794"/>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t>
              </a:r>
              <a:endParaRPr lang="en-US" sz="2400" b="1" dirty="0"/>
            </a:p>
          </p:txBody>
        </p:sp>
        <p:sp>
          <p:nvSpPr>
            <p:cNvPr id="51" name="Oval 50"/>
            <p:cNvSpPr/>
            <p:nvPr/>
          </p:nvSpPr>
          <p:spPr>
            <a:xfrm>
              <a:off x="3156553" y="4158285"/>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t>
              </a:r>
              <a:endParaRPr lang="en-US" sz="2400" b="1" dirty="0"/>
            </a:p>
          </p:txBody>
        </p:sp>
        <p:sp>
          <p:nvSpPr>
            <p:cNvPr id="52" name="Oval 51"/>
            <p:cNvSpPr/>
            <p:nvPr/>
          </p:nvSpPr>
          <p:spPr>
            <a:xfrm>
              <a:off x="678827" y="492639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a:t>
              </a:r>
              <a:endParaRPr lang="en-US" sz="2400" b="1" dirty="0"/>
            </a:p>
          </p:txBody>
        </p:sp>
        <p:sp>
          <p:nvSpPr>
            <p:cNvPr id="53" name="Oval 52"/>
            <p:cNvSpPr/>
            <p:nvPr/>
          </p:nvSpPr>
          <p:spPr>
            <a:xfrm>
              <a:off x="1791762" y="48891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B</a:t>
              </a:r>
              <a:endParaRPr lang="en-US" sz="2400" b="1" dirty="0"/>
            </a:p>
          </p:txBody>
        </p:sp>
        <p:sp>
          <p:nvSpPr>
            <p:cNvPr id="54" name="Oval 53"/>
            <p:cNvSpPr/>
            <p:nvPr/>
          </p:nvSpPr>
          <p:spPr>
            <a:xfrm>
              <a:off x="2580388" y="492639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t>
              </a:r>
              <a:endParaRPr lang="en-US" sz="2400" b="1" dirty="0"/>
            </a:p>
          </p:txBody>
        </p:sp>
        <p:sp>
          <p:nvSpPr>
            <p:cNvPr id="55" name="Oval 54"/>
            <p:cNvSpPr/>
            <p:nvPr/>
          </p:nvSpPr>
          <p:spPr>
            <a:xfrm>
              <a:off x="2072328" y="568931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a:t>
              </a:r>
              <a:endParaRPr lang="en-US" sz="2400" b="1" dirty="0"/>
            </a:p>
          </p:txBody>
        </p:sp>
        <p:sp>
          <p:nvSpPr>
            <p:cNvPr id="56" name="Oval 55"/>
            <p:cNvSpPr/>
            <p:nvPr/>
          </p:nvSpPr>
          <p:spPr>
            <a:xfrm>
              <a:off x="3151554" y="568931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D</a:t>
              </a:r>
              <a:endParaRPr lang="en-US" sz="2400" b="1" dirty="0"/>
            </a:p>
          </p:txBody>
        </p:sp>
        <p:sp>
          <p:nvSpPr>
            <p:cNvPr id="57" name="Oval 56"/>
            <p:cNvSpPr/>
            <p:nvPr/>
          </p:nvSpPr>
          <p:spPr>
            <a:xfrm>
              <a:off x="3807301" y="48891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E</a:t>
              </a:r>
              <a:endParaRPr lang="en-US" sz="2400" b="1" dirty="0"/>
            </a:p>
          </p:txBody>
        </p:sp>
        <p:cxnSp>
          <p:nvCxnSpPr>
            <p:cNvPr id="59" name="Straight Arrow Connector 58"/>
            <p:cNvCxnSpPr>
              <a:stCxn id="49" idx="3"/>
              <a:endCxn id="50" idx="7"/>
            </p:cNvCxnSpPr>
            <p:nvPr/>
          </p:nvCxnSpPr>
          <p:spPr>
            <a:xfrm flipH="1">
              <a:off x="1884430" y="4037740"/>
              <a:ext cx="424968" cy="22178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p:cNvCxnSpPr>
              <a:stCxn id="50" idx="3"/>
              <a:endCxn id="52" idx="0"/>
            </p:cNvCxnSpPr>
            <p:nvPr/>
          </p:nvCxnSpPr>
          <p:spPr>
            <a:xfrm flipH="1">
              <a:off x="1032996" y="4760398"/>
              <a:ext cx="350564" cy="165992"/>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p:cNvCxnSpPr>
              <a:stCxn id="50" idx="5"/>
              <a:endCxn id="53" idx="0"/>
            </p:cNvCxnSpPr>
            <p:nvPr/>
          </p:nvCxnSpPr>
          <p:spPr>
            <a:xfrm>
              <a:off x="1884430" y="4760398"/>
              <a:ext cx="261501" cy="12879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5" name="Straight Arrow Connector 64"/>
            <p:cNvCxnSpPr>
              <a:stCxn id="49" idx="5"/>
              <a:endCxn id="51" idx="1"/>
            </p:cNvCxnSpPr>
            <p:nvPr/>
          </p:nvCxnSpPr>
          <p:spPr>
            <a:xfrm>
              <a:off x="2810268" y="4037740"/>
              <a:ext cx="450019" cy="22427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p:cNvCxnSpPr>
              <a:stCxn id="51" idx="3"/>
              <a:endCxn id="54" idx="0"/>
            </p:cNvCxnSpPr>
            <p:nvPr/>
          </p:nvCxnSpPr>
          <p:spPr>
            <a:xfrm flipH="1">
              <a:off x="2934557" y="4762889"/>
              <a:ext cx="325730" cy="16350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9" name="Straight Arrow Connector 68"/>
            <p:cNvCxnSpPr>
              <a:stCxn id="51" idx="5"/>
              <a:endCxn id="57" idx="0"/>
            </p:cNvCxnSpPr>
            <p:nvPr/>
          </p:nvCxnSpPr>
          <p:spPr>
            <a:xfrm>
              <a:off x="3761157" y="4762889"/>
              <a:ext cx="400313" cy="12630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71" name="Straight Arrow Connector 70"/>
            <p:cNvCxnSpPr>
              <a:stCxn id="54" idx="3"/>
              <a:endCxn id="55" idx="0"/>
            </p:cNvCxnSpPr>
            <p:nvPr/>
          </p:nvCxnSpPr>
          <p:spPr>
            <a:xfrm flipH="1">
              <a:off x="2426497" y="5530994"/>
              <a:ext cx="257625" cy="15832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p:cNvCxnSpPr>
              <a:stCxn id="54" idx="5"/>
              <a:endCxn id="56" idx="0"/>
            </p:cNvCxnSpPr>
            <p:nvPr/>
          </p:nvCxnSpPr>
          <p:spPr>
            <a:xfrm>
              <a:off x="3184992" y="5530994"/>
              <a:ext cx="320731" cy="15832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grpSp>
        <p:nvGrpSpPr>
          <p:cNvPr id="140" name="Group 139"/>
          <p:cNvGrpSpPr/>
          <p:nvPr/>
        </p:nvGrpSpPr>
        <p:grpSpPr>
          <a:xfrm>
            <a:off x="6796066" y="799103"/>
            <a:ext cx="4591945" cy="5093479"/>
            <a:chOff x="6796066" y="799103"/>
            <a:chExt cx="4591945" cy="5093479"/>
          </a:xfrm>
        </p:grpSpPr>
        <p:sp>
          <p:nvSpPr>
            <p:cNvPr id="90" name="Oval 89"/>
            <p:cNvSpPr/>
            <p:nvPr/>
          </p:nvSpPr>
          <p:spPr>
            <a:xfrm>
              <a:off x="8153381" y="7991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15</a:t>
              </a:r>
              <a:endParaRPr lang="en-US" sz="2400" b="1" dirty="0"/>
            </a:p>
          </p:txBody>
        </p:sp>
        <p:sp>
          <p:nvSpPr>
            <p:cNvPr id="92" name="Oval 91"/>
            <p:cNvSpPr/>
            <p:nvPr/>
          </p:nvSpPr>
          <p:spPr>
            <a:xfrm>
              <a:off x="7329309" y="1684292"/>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5</a:t>
              </a:r>
              <a:endParaRPr lang="en-US" sz="2400" b="1" dirty="0"/>
            </a:p>
          </p:txBody>
        </p:sp>
        <p:sp>
          <p:nvSpPr>
            <p:cNvPr id="93" name="Oval 92"/>
            <p:cNvSpPr/>
            <p:nvPr/>
          </p:nvSpPr>
          <p:spPr>
            <a:xfrm>
              <a:off x="6796066" y="248695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3</a:t>
              </a:r>
              <a:endParaRPr lang="en-US" sz="2400" b="1" dirty="0"/>
            </a:p>
          </p:txBody>
        </p:sp>
        <p:sp>
          <p:nvSpPr>
            <p:cNvPr id="94" name="Oval 93"/>
            <p:cNvSpPr/>
            <p:nvPr/>
          </p:nvSpPr>
          <p:spPr>
            <a:xfrm>
              <a:off x="7902946" y="249692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12</a:t>
              </a:r>
              <a:endParaRPr lang="en-US" sz="2400" b="1" dirty="0"/>
            </a:p>
          </p:txBody>
        </p:sp>
        <p:sp>
          <p:nvSpPr>
            <p:cNvPr id="95" name="Oval 94"/>
            <p:cNvSpPr/>
            <p:nvPr/>
          </p:nvSpPr>
          <p:spPr>
            <a:xfrm>
              <a:off x="8997117" y="1684292"/>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16</a:t>
              </a:r>
              <a:endParaRPr lang="en-US" sz="2400" b="1" dirty="0"/>
            </a:p>
          </p:txBody>
        </p:sp>
        <p:sp>
          <p:nvSpPr>
            <p:cNvPr id="96" name="Oval 95"/>
            <p:cNvSpPr/>
            <p:nvPr/>
          </p:nvSpPr>
          <p:spPr>
            <a:xfrm>
              <a:off x="7329309" y="352671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10</a:t>
              </a:r>
              <a:endParaRPr lang="en-US" sz="2400" b="1" dirty="0"/>
            </a:p>
          </p:txBody>
        </p:sp>
        <p:sp>
          <p:nvSpPr>
            <p:cNvPr id="97" name="Oval 96"/>
            <p:cNvSpPr/>
            <p:nvPr/>
          </p:nvSpPr>
          <p:spPr>
            <a:xfrm>
              <a:off x="8418804" y="348645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13</a:t>
              </a:r>
              <a:endParaRPr lang="en-US" sz="2400" b="1" dirty="0"/>
            </a:p>
          </p:txBody>
        </p:sp>
        <p:sp>
          <p:nvSpPr>
            <p:cNvPr id="98" name="Oval 97"/>
            <p:cNvSpPr/>
            <p:nvPr/>
          </p:nvSpPr>
          <p:spPr>
            <a:xfrm>
              <a:off x="6796066" y="4470628"/>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6</a:t>
              </a:r>
              <a:endParaRPr lang="en-US" sz="2400" b="1" dirty="0"/>
            </a:p>
          </p:txBody>
        </p:sp>
        <p:sp>
          <p:nvSpPr>
            <p:cNvPr id="99" name="Oval 98"/>
            <p:cNvSpPr/>
            <p:nvPr/>
          </p:nvSpPr>
          <p:spPr>
            <a:xfrm>
              <a:off x="7506864" y="5184244"/>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7</a:t>
              </a:r>
              <a:endParaRPr lang="en-US" sz="2400" b="1" dirty="0"/>
            </a:p>
          </p:txBody>
        </p:sp>
        <p:sp>
          <p:nvSpPr>
            <p:cNvPr id="100" name="Oval 99"/>
            <p:cNvSpPr/>
            <p:nvPr/>
          </p:nvSpPr>
          <p:spPr>
            <a:xfrm>
              <a:off x="9971335" y="2519808"/>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20</a:t>
              </a:r>
              <a:endParaRPr lang="en-US" sz="2400" b="1" dirty="0"/>
            </a:p>
          </p:txBody>
        </p:sp>
        <p:sp>
          <p:nvSpPr>
            <p:cNvPr id="101" name="Oval 100"/>
            <p:cNvSpPr/>
            <p:nvPr/>
          </p:nvSpPr>
          <p:spPr>
            <a:xfrm>
              <a:off x="9397204" y="348645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18</a:t>
              </a:r>
              <a:endParaRPr lang="en-US" sz="2400" b="1" dirty="0"/>
            </a:p>
          </p:txBody>
        </p:sp>
        <p:sp>
          <p:nvSpPr>
            <p:cNvPr id="102" name="Oval 101"/>
            <p:cNvSpPr/>
            <p:nvPr/>
          </p:nvSpPr>
          <p:spPr>
            <a:xfrm>
              <a:off x="10679673" y="354457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23</a:t>
              </a:r>
              <a:endParaRPr lang="en-US" sz="2400" b="1" dirty="0"/>
            </a:p>
          </p:txBody>
        </p:sp>
        <p:cxnSp>
          <p:nvCxnSpPr>
            <p:cNvPr id="104" name="Straight Arrow Connector 103"/>
            <p:cNvCxnSpPr>
              <a:stCxn id="90" idx="3"/>
              <a:endCxn id="92" idx="0"/>
            </p:cNvCxnSpPr>
            <p:nvPr/>
          </p:nvCxnSpPr>
          <p:spPr>
            <a:xfrm flipH="1">
              <a:off x="7683478" y="1403707"/>
              <a:ext cx="573637" cy="28058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06" name="Straight Arrow Connector 105"/>
            <p:cNvCxnSpPr>
              <a:stCxn id="90" idx="5"/>
              <a:endCxn id="95" idx="0"/>
            </p:cNvCxnSpPr>
            <p:nvPr/>
          </p:nvCxnSpPr>
          <p:spPr>
            <a:xfrm>
              <a:off x="8757985" y="1403707"/>
              <a:ext cx="593301" cy="28058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08" name="Straight Arrow Connector 107"/>
            <p:cNvCxnSpPr>
              <a:stCxn id="92" idx="3"/>
              <a:endCxn id="93" idx="0"/>
            </p:cNvCxnSpPr>
            <p:nvPr/>
          </p:nvCxnSpPr>
          <p:spPr>
            <a:xfrm flipH="1">
              <a:off x="7150235" y="2288896"/>
              <a:ext cx="282808" cy="19806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0" name="Straight Arrow Connector 109"/>
            <p:cNvCxnSpPr>
              <a:stCxn id="92" idx="5"/>
              <a:endCxn id="94" idx="0"/>
            </p:cNvCxnSpPr>
            <p:nvPr/>
          </p:nvCxnSpPr>
          <p:spPr>
            <a:xfrm>
              <a:off x="7933913" y="2288896"/>
              <a:ext cx="323202" cy="20803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2" name="Straight Arrow Connector 111"/>
            <p:cNvCxnSpPr>
              <a:stCxn id="95" idx="6"/>
              <a:endCxn id="100" idx="0"/>
            </p:cNvCxnSpPr>
            <p:nvPr/>
          </p:nvCxnSpPr>
          <p:spPr>
            <a:xfrm>
              <a:off x="9705455" y="2038461"/>
              <a:ext cx="620049" cy="481347"/>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4" name="Straight Arrow Connector 113"/>
            <p:cNvCxnSpPr>
              <a:stCxn id="100" idx="3"/>
              <a:endCxn id="101" idx="0"/>
            </p:cNvCxnSpPr>
            <p:nvPr/>
          </p:nvCxnSpPr>
          <p:spPr>
            <a:xfrm flipH="1">
              <a:off x="9751373" y="3124412"/>
              <a:ext cx="323696" cy="36204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6" name="Straight Arrow Connector 115"/>
            <p:cNvCxnSpPr>
              <a:stCxn id="100" idx="5"/>
              <a:endCxn id="102" idx="0"/>
            </p:cNvCxnSpPr>
            <p:nvPr/>
          </p:nvCxnSpPr>
          <p:spPr>
            <a:xfrm>
              <a:off x="10575939" y="3124412"/>
              <a:ext cx="457903" cy="42016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8" name="Straight Arrow Connector 117"/>
            <p:cNvCxnSpPr>
              <a:stCxn id="94" idx="3"/>
              <a:endCxn id="96" idx="0"/>
            </p:cNvCxnSpPr>
            <p:nvPr/>
          </p:nvCxnSpPr>
          <p:spPr>
            <a:xfrm flipH="1">
              <a:off x="7683478" y="3101533"/>
              <a:ext cx="323202" cy="425177"/>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0" name="Straight Arrow Connector 119"/>
            <p:cNvCxnSpPr>
              <a:stCxn id="94" idx="5"/>
              <a:endCxn id="97" idx="0"/>
            </p:cNvCxnSpPr>
            <p:nvPr/>
          </p:nvCxnSpPr>
          <p:spPr>
            <a:xfrm>
              <a:off x="8507550" y="3101533"/>
              <a:ext cx="265423" cy="38492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2" name="Straight Arrow Connector 121"/>
            <p:cNvCxnSpPr>
              <a:stCxn id="96" idx="3"/>
              <a:endCxn id="98" idx="0"/>
            </p:cNvCxnSpPr>
            <p:nvPr/>
          </p:nvCxnSpPr>
          <p:spPr>
            <a:xfrm flipH="1">
              <a:off x="7150235" y="4131314"/>
              <a:ext cx="282808" cy="33931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4" name="Straight Arrow Connector 123"/>
            <p:cNvCxnSpPr>
              <a:stCxn id="98" idx="5"/>
              <a:endCxn id="99" idx="1"/>
            </p:cNvCxnSpPr>
            <p:nvPr/>
          </p:nvCxnSpPr>
          <p:spPr>
            <a:xfrm>
              <a:off x="7400670" y="5075232"/>
              <a:ext cx="209928" cy="212746"/>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53038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Linked Representation of Binary Tree</a:t>
            </a:r>
            <a:endParaRPr lang="en-US" dirty="0"/>
          </a:p>
        </p:txBody>
      </p:sp>
      <p:sp>
        <p:nvSpPr>
          <p:cNvPr id="4" name="Oval 3"/>
          <p:cNvSpPr/>
          <p:nvPr/>
        </p:nvSpPr>
        <p:spPr>
          <a:xfrm>
            <a:off x="1904394" y="268212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1287862"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724446"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1987519"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8" name="Oval 7"/>
          <p:cNvSpPr/>
          <p:nvPr/>
        </p:nvSpPr>
        <p:spPr>
          <a:xfrm>
            <a:off x="2482823"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9" name="Oval 8"/>
          <p:cNvSpPr/>
          <p:nvPr/>
        </p:nvSpPr>
        <p:spPr>
          <a:xfrm>
            <a:off x="3075102"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0" name="Oval 9"/>
          <p:cNvSpPr/>
          <p:nvPr/>
        </p:nvSpPr>
        <p:spPr>
          <a:xfrm>
            <a:off x="2482823" y="556388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1" name="Straight Arrow Connector 10"/>
          <p:cNvCxnSpPr>
            <a:stCxn id="4" idx="3"/>
            <a:endCxn id="5" idx="0"/>
          </p:cNvCxnSpPr>
          <p:nvPr/>
        </p:nvCxnSpPr>
        <p:spPr>
          <a:xfrm flipH="1">
            <a:off x="1568662" y="3161484"/>
            <a:ext cx="417976"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5" idx="3"/>
            <a:endCxn id="6" idx="0"/>
          </p:cNvCxnSpPr>
          <p:nvPr/>
        </p:nvCxnSpPr>
        <p:spPr>
          <a:xfrm flipH="1">
            <a:off x="1005246" y="4103599"/>
            <a:ext cx="364860"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4" idx="5"/>
            <a:endCxn id="8" idx="0"/>
          </p:cNvCxnSpPr>
          <p:nvPr/>
        </p:nvCxnSpPr>
        <p:spPr>
          <a:xfrm>
            <a:off x="2383750" y="3161484"/>
            <a:ext cx="379873"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8" idx="3"/>
            <a:endCxn id="7" idx="0"/>
          </p:cNvCxnSpPr>
          <p:nvPr/>
        </p:nvCxnSpPr>
        <p:spPr>
          <a:xfrm flipH="1">
            <a:off x="2268319" y="4103599"/>
            <a:ext cx="296748"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8" idx="5"/>
            <a:endCxn id="9" idx="0"/>
          </p:cNvCxnSpPr>
          <p:nvPr/>
        </p:nvCxnSpPr>
        <p:spPr>
          <a:xfrm>
            <a:off x="2962179" y="4103599"/>
            <a:ext cx="393723"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5"/>
            <a:endCxn id="10" idx="0"/>
          </p:cNvCxnSpPr>
          <p:nvPr/>
        </p:nvCxnSpPr>
        <p:spPr>
          <a:xfrm>
            <a:off x="2466875" y="5109906"/>
            <a:ext cx="296748" cy="45397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24" name="Group 23"/>
          <p:cNvGrpSpPr/>
          <p:nvPr/>
        </p:nvGrpSpPr>
        <p:grpSpPr>
          <a:xfrm>
            <a:off x="1445621" y="1219199"/>
            <a:ext cx="3385677" cy="558801"/>
            <a:chOff x="-76200" y="4191000"/>
            <a:chExt cx="1997075" cy="381000"/>
          </a:xfrm>
        </p:grpSpPr>
        <p:sp>
          <p:nvSpPr>
            <p:cNvPr id="25" name="Rectangle 24"/>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DATA</a:t>
              </a:r>
              <a:endParaRPr lang="en-US" sz="2000" b="1" dirty="0"/>
            </a:p>
          </p:txBody>
        </p:sp>
        <p:sp>
          <p:nvSpPr>
            <p:cNvPr id="26" name="Rectangle 25"/>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LPTR</a:t>
              </a:r>
              <a:endParaRPr lang="en-US" sz="2000" b="1" dirty="0"/>
            </a:p>
          </p:txBody>
        </p:sp>
        <p:sp>
          <p:nvSpPr>
            <p:cNvPr id="27" name="Rectangle 26"/>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RPTR</a:t>
              </a:r>
              <a:endParaRPr lang="en-US" sz="2000" b="1" dirty="0"/>
            </a:p>
          </p:txBody>
        </p:sp>
      </p:grpSp>
      <p:sp>
        <p:nvSpPr>
          <p:cNvPr id="28" name="TextBox 27"/>
          <p:cNvSpPr txBox="1"/>
          <p:nvPr/>
        </p:nvSpPr>
        <p:spPr>
          <a:xfrm>
            <a:off x="1607904" y="1849397"/>
            <a:ext cx="3066489" cy="400110"/>
          </a:xfrm>
          <a:prstGeom prst="rect">
            <a:avLst/>
          </a:prstGeom>
          <a:noFill/>
        </p:spPr>
        <p:txBody>
          <a:bodyPr wrap="square" rtlCol="0">
            <a:spAutoFit/>
          </a:bodyPr>
          <a:lstStyle/>
          <a:p>
            <a:pPr algn="ctr"/>
            <a:r>
              <a:rPr lang="en-IN" sz="2000" b="1" dirty="0"/>
              <a:t>Typical node </a:t>
            </a:r>
            <a:r>
              <a:rPr lang="en-IN" sz="2000" b="1" dirty="0" smtClean="0"/>
              <a:t>of Binary </a:t>
            </a:r>
            <a:r>
              <a:rPr lang="en-IN" sz="2000" b="1" dirty="0"/>
              <a:t>Tree</a:t>
            </a:r>
            <a:endParaRPr lang="en-US" sz="2000" b="1" dirty="0"/>
          </a:p>
        </p:txBody>
      </p:sp>
      <p:grpSp>
        <p:nvGrpSpPr>
          <p:cNvPr id="29" name="Group 28"/>
          <p:cNvGrpSpPr/>
          <p:nvPr/>
        </p:nvGrpSpPr>
        <p:grpSpPr>
          <a:xfrm>
            <a:off x="6596545" y="1796877"/>
            <a:ext cx="1440000" cy="540000"/>
            <a:chOff x="304800" y="4191000"/>
            <a:chExt cx="1066800" cy="381000"/>
          </a:xfrm>
        </p:grpSpPr>
        <p:sp>
          <p:nvSpPr>
            <p:cNvPr id="30" name="Rectangle 2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31" name="Rectangle 3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2" name="Rectangle 3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3" name="Group 32"/>
          <p:cNvGrpSpPr/>
          <p:nvPr/>
        </p:nvGrpSpPr>
        <p:grpSpPr>
          <a:xfrm>
            <a:off x="5377345" y="3092277"/>
            <a:ext cx="1440000" cy="540000"/>
            <a:chOff x="304800" y="4191000"/>
            <a:chExt cx="1066800" cy="381000"/>
          </a:xfrm>
        </p:grpSpPr>
        <p:sp>
          <p:nvSpPr>
            <p:cNvPr id="34" name="Rectangle 3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35" name="Rectangle 3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6" name="Rectangle 3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7" name="Group 36"/>
          <p:cNvGrpSpPr/>
          <p:nvPr/>
        </p:nvGrpSpPr>
        <p:grpSpPr>
          <a:xfrm>
            <a:off x="7739545" y="3092277"/>
            <a:ext cx="1440000" cy="540000"/>
            <a:chOff x="304800" y="4191000"/>
            <a:chExt cx="1066800" cy="381000"/>
          </a:xfrm>
        </p:grpSpPr>
        <p:sp>
          <p:nvSpPr>
            <p:cNvPr id="38" name="Rectangle 3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39" name="Rectangle 3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0" name="Rectangle 3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1" name="Group 40"/>
          <p:cNvGrpSpPr/>
          <p:nvPr/>
        </p:nvGrpSpPr>
        <p:grpSpPr>
          <a:xfrm>
            <a:off x="4386745" y="4463877"/>
            <a:ext cx="1440000" cy="540000"/>
            <a:chOff x="304800" y="4191000"/>
            <a:chExt cx="1066800" cy="381000"/>
          </a:xfrm>
        </p:grpSpPr>
        <p:sp>
          <p:nvSpPr>
            <p:cNvPr id="42" name="Rectangle 4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43" name="Rectangle 4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4" name="Rectangle 4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5" name="Group 44"/>
          <p:cNvGrpSpPr/>
          <p:nvPr/>
        </p:nvGrpSpPr>
        <p:grpSpPr>
          <a:xfrm>
            <a:off x="6825145" y="4463877"/>
            <a:ext cx="1440000" cy="540000"/>
            <a:chOff x="304800" y="4191000"/>
            <a:chExt cx="1066800" cy="381000"/>
          </a:xfrm>
        </p:grpSpPr>
        <p:sp>
          <p:nvSpPr>
            <p:cNvPr id="46" name="Rectangle 4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47" name="Rectangle 4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8" name="Rectangle 4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9" name="Group 48"/>
          <p:cNvGrpSpPr/>
          <p:nvPr/>
        </p:nvGrpSpPr>
        <p:grpSpPr>
          <a:xfrm>
            <a:off x="8806345" y="4463877"/>
            <a:ext cx="1440000" cy="540000"/>
            <a:chOff x="304800" y="4191000"/>
            <a:chExt cx="1066800" cy="381000"/>
          </a:xfrm>
        </p:grpSpPr>
        <p:sp>
          <p:nvSpPr>
            <p:cNvPr id="50" name="Rectangle 4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51" name="Rectangle 5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2" name="Rectangle 5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3" name="Group 52"/>
          <p:cNvGrpSpPr/>
          <p:nvPr/>
        </p:nvGrpSpPr>
        <p:grpSpPr>
          <a:xfrm>
            <a:off x="7815745" y="5759277"/>
            <a:ext cx="1440000" cy="540000"/>
            <a:chOff x="304800" y="4191000"/>
            <a:chExt cx="1066800" cy="381000"/>
          </a:xfrm>
        </p:grpSpPr>
        <p:sp>
          <p:nvSpPr>
            <p:cNvPr id="54" name="Rectangle 5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sp>
          <p:nvSpPr>
            <p:cNvPr id="55" name="Rectangle 5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6" name="Rectangle 5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7" name="Freeform 56"/>
          <p:cNvSpPr/>
          <p:nvPr/>
        </p:nvSpPr>
        <p:spPr>
          <a:xfrm>
            <a:off x="6105115" y="2042885"/>
            <a:ext cx="691077" cy="103388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8" name="Freeform 57"/>
          <p:cNvSpPr/>
          <p:nvPr/>
        </p:nvSpPr>
        <p:spPr>
          <a:xfrm>
            <a:off x="5097170" y="3369260"/>
            <a:ext cx="454135" cy="1080000"/>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9" name="Freeform 58"/>
          <p:cNvSpPr/>
          <p:nvPr/>
        </p:nvSpPr>
        <p:spPr>
          <a:xfrm>
            <a:off x="7853714" y="2043229"/>
            <a:ext cx="691200" cy="1033200"/>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0" name="Freeform 59"/>
          <p:cNvSpPr/>
          <p:nvPr/>
        </p:nvSpPr>
        <p:spPr>
          <a:xfrm>
            <a:off x="7529409" y="3369260"/>
            <a:ext cx="413622" cy="1080000"/>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1" name="Freeform 60"/>
          <p:cNvSpPr/>
          <p:nvPr/>
        </p:nvSpPr>
        <p:spPr>
          <a:xfrm>
            <a:off x="8976059" y="3369260"/>
            <a:ext cx="550961" cy="1080000"/>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2" name="Freeform 61"/>
          <p:cNvSpPr/>
          <p:nvPr/>
        </p:nvSpPr>
        <p:spPr>
          <a:xfrm>
            <a:off x="8084170" y="4736645"/>
            <a:ext cx="425436" cy="1014614"/>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64" name="Straight Connector 63"/>
          <p:cNvCxnSpPr/>
          <p:nvPr/>
        </p:nvCxnSpPr>
        <p:spPr>
          <a:xfrm flipH="1">
            <a:off x="6405915" y="3092277"/>
            <a:ext cx="394562"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5" name="Straight Connector 64"/>
          <p:cNvCxnSpPr/>
          <p:nvPr/>
        </p:nvCxnSpPr>
        <p:spPr>
          <a:xfrm flipH="1">
            <a:off x="4382860" y="4463877"/>
            <a:ext cx="42308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6" name="Straight Connector 65"/>
          <p:cNvCxnSpPr/>
          <p:nvPr/>
        </p:nvCxnSpPr>
        <p:spPr>
          <a:xfrm flipH="1">
            <a:off x="5414602" y="4463877"/>
            <a:ext cx="403351"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7" name="Straight Connector 66"/>
          <p:cNvCxnSpPr/>
          <p:nvPr/>
        </p:nvCxnSpPr>
        <p:spPr>
          <a:xfrm flipH="1">
            <a:off x="6841797" y="4481690"/>
            <a:ext cx="371433"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8" name="Straight Connector 67"/>
          <p:cNvCxnSpPr/>
          <p:nvPr/>
        </p:nvCxnSpPr>
        <p:spPr>
          <a:xfrm flipH="1">
            <a:off x="8806345" y="4481690"/>
            <a:ext cx="388800"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9" name="Straight Connector 68"/>
          <p:cNvCxnSpPr/>
          <p:nvPr/>
        </p:nvCxnSpPr>
        <p:spPr>
          <a:xfrm flipH="1">
            <a:off x="9834918" y="4488995"/>
            <a:ext cx="403638" cy="514882"/>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0" name="Straight Connector 69"/>
          <p:cNvCxnSpPr/>
          <p:nvPr/>
        </p:nvCxnSpPr>
        <p:spPr>
          <a:xfrm flipH="1">
            <a:off x="8861634" y="5759277"/>
            <a:ext cx="38990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1" name="Straight Connector 70"/>
          <p:cNvCxnSpPr/>
          <p:nvPr/>
        </p:nvCxnSpPr>
        <p:spPr>
          <a:xfrm flipH="1">
            <a:off x="7815745" y="5759277"/>
            <a:ext cx="411428"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72" name="TextBox 71"/>
          <p:cNvSpPr txBox="1"/>
          <p:nvPr/>
        </p:nvSpPr>
        <p:spPr>
          <a:xfrm>
            <a:off x="7131935" y="808546"/>
            <a:ext cx="351378" cy="461665"/>
          </a:xfrm>
          <a:prstGeom prst="rect">
            <a:avLst/>
          </a:prstGeom>
          <a:noFill/>
        </p:spPr>
        <p:txBody>
          <a:bodyPr wrap="none" rtlCol="0">
            <a:spAutoFit/>
          </a:bodyPr>
          <a:lstStyle/>
          <a:p>
            <a:pPr algn="ctr"/>
            <a:r>
              <a:rPr lang="en-IN" sz="2400" b="1" dirty="0">
                <a:solidFill>
                  <a:srgbClr val="C00000"/>
                </a:solidFill>
              </a:rPr>
              <a:t>T</a:t>
            </a:r>
            <a:endParaRPr lang="en-US" sz="2400" b="1" dirty="0">
              <a:solidFill>
                <a:srgbClr val="C00000"/>
              </a:solidFill>
            </a:endParaRPr>
          </a:p>
        </p:txBody>
      </p:sp>
      <p:cxnSp>
        <p:nvCxnSpPr>
          <p:cNvPr id="74" name="Straight Arrow Connector 73"/>
          <p:cNvCxnSpPr>
            <a:stCxn id="72" idx="2"/>
            <a:endCxn id="30" idx="0"/>
          </p:cNvCxnSpPr>
          <p:nvPr/>
        </p:nvCxnSpPr>
        <p:spPr>
          <a:xfrm>
            <a:off x="7307624" y="1270211"/>
            <a:ext cx="8922" cy="5266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27765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wipe(right)">
                                      <p:cBhvr>
                                        <p:cTn id="45" dur="500"/>
                                        <p:tgtEl>
                                          <p:spTgt spid="5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wipe(right)">
                                      <p:cBhvr>
                                        <p:cTn id="54" dur="500"/>
                                        <p:tgtEl>
                                          <p:spTgt spid="58"/>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wipe(left)">
                                      <p:cBhvr>
                                        <p:cTn id="75" dur="500"/>
                                        <p:tgtEl>
                                          <p:spTgt spid="59"/>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2" fill="hold" grpId="0" nodeType="clickEffect">
                                  <p:stCondLst>
                                    <p:cond delay="0"/>
                                  </p:stCondLst>
                                  <p:childTnLst>
                                    <p:set>
                                      <p:cBhvr>
                                        <p:cTn id="83" dur="1" fill="hold">
                                          <p:stCondLst>
                                            <p:cond delay="0"/>
                                          </p:stCondLst>
                                        </p:cTn>
                                        <p:tgtEl>
                                          <p:spTgt spid="60"/>
                                        </p:tgtEl>
                                        <p:attrNameLst>
                                          <p:attrName>style.visibility</p:attrName>
                                        </p:attrNameLst>
                                      </p:cBhvr>
                                      <p:to>
                                        <p:strVal val="visible"/>
                                      </p:to>
                                    </p:set>
                                    <p:animEffect transition="in" filter="wipe(right)">
                                      <p:cBhvr>
                                        <p:cTn id="84" dur="500"/>
                                        <p:tgtEl>
                                          <p:spTgt spid="60"/>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61"/>
                                        </p:tgtEl>
                                        <p:attrNameLst>
                                          <p:attrName>style.visibility</p:attrName>
                                        </p:attrNameLst>
                                      </p:cBhvr>
                                      <p:to>
                                        <p:strVal val="visible"/>
                                      </p:to>
                                    </p:set>
                                    <p:animEffect transition="in" filter="wipe(left)">
                                      <p:cBhvr>
                                        <p:cTn id="93" dur="500"/>
                                        <p:tgtEl>
                                          <p:spTgt spid="61"/>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49"/>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62"/>
                                        </p:tgtEl>
                                        <p:attrNameLst>
                                          <p:attrName>style.visibility</p:attrName>
                                        </p:attrNameLst>
                                      </p:cBhvr>
                                      <p:to>
                                        <p:strVal val="visible"/>
                                      </p:to>
                                    </p:set>
                                    <p:animEffect transition="in" filter="wipe(left)">
                                      <p:cBhvr>
                                        <p:cTn id="106" dur="500"/>
                                        <p:tgtEl>
                                          <p:spTgt spid="62"/>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9"/>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2"/>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28" grpId="0"/>
      <p:bldP spid="57" grpId="0" animBg="1"/>
      <p:bldP spid="58" grpId="0" animBg="1"/>
      <p:bldP spid="59" grpId="0" animBg="1"/>
      <p:bldP spid="60" grpId="0" animBg="1"/>
      <p:bldP spid="61" grpId="0" animBg="1"/>
      <p:bldP spid="62" grpId="0" animBg="1"/>
      <p:bldP spid="7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a:t>
            </a:r>
            <a:r>
              <a:rPr lang="en-US" dirty="0"/>
              <a:t>of </a:t>
            </a:r>
            <a:r>
              <a:rPr lang="en-US" dirty="0" smtClean="0"/>
              <a:t>Binary Tree Traversal</a:t>
            </a:r>
            <a:endParaRPr lang="en-US" dirty="0"/>
          </a:p>
        </p:txBody>
      </p:sp>
      <p:sp>
        <p:nvSpPr>
          <p:cNvPr id="3" name="Content Placeholder 2"/>
          <p:cNvSpPr>
            <a:spLocks noGrp="1"/>
          </p:cNvSpPr>
          <p:nvPr>
            <p:ph idx="1"/>
          </p:nvPr>
        </p:nvSpPr>
        <p:spPr/>
        <p:txBody>
          <a:bodyPr/>
          <a:lstStyle/>
          <a:p>
            <a:r>
              <a:rPr lang="en-US" dirty="0"/>
              <a:t>Preorder Traversal - Procedure: RPREORDER(T)</a:t>
            </a:r>
          </a:p>
          <a:p>
            <a:r>
              <a:rPr lang="en-US" dirty="0" err="1"/>
              <a:t>Inorder</a:t>
            </a:r>
            <a:r>
              <a:rPr lang="en-US" dirty="0"/>
              <a:t> Traversal - Procedure: RINORDER(T)</a:t>
            </a:r>
          </a:p>
          <a:p>
            <a:r>
              <a:rPr lang="en-US" dirty="0" err="1"/>
              <a:t>Postorder</a:t>
            </a:r>
            <a:r>
              <a:rPr lang="en-US" dirty="0"/>
              <a:t> Traversal - Procedure: RPOSTORDER(T)</a:t>
            </a:r>
          </a:p>
        </p:txBody>
      </p:sp>
    </p:spTree>
    <p:extLst>
      <p:ext uri="{BB962C8B-B14F-4D97-AF65-F5344CB8AC3E}">
        <p14:creationId xmlns:p14="http://schemas.microsoft.com/office/powerpoint/2010/main" val="11264583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RPREORDER(T)</a:t>
            </a:r>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traverses</a:t>
            </a:r>
            <a:r>
              <a:rPr lang="en-IN" b="1" dirty="0">
                <a:solidFill>
                  <a:srgbClr val="FF0000"/>
                </a:solidFill>
              </a:rPr>
              <a:t> </a:t>
            </a:r>
            <a:r>
              <a:rPr lang="en-IN" b="1" dirty="0">
                <a:solidFill>
                  <a:srgbClr val="C00000"/>
                </a:solidFill>
              </a:rPr>
              <a:t>the</a:t>
            </a:r>
            <a:r>
              <a:rPr lang="en-IN" b="1" dirty="0">
                <a:solidFill>
                  <a:srgbClr val="FF0000"/>
                </a:solidFill>
              </a:rPr>
              <a:t> </a:t>
            </a:r>
            <a:r>
              <a:rPr lang="en-IN" b="1" dirty="0">
                <a:solidFill>
                  <a:srgbClr val="C00000"/>
                </a:solidFill>
              </a:rPr>
              <a:t>tree</a:t>
            </a:r>
            <a:r>
              <a:rPr lang="en-IN" dirty="0">
                <a:solidFill>
                  <a:srgbClr val="C00000"/>
                </a:solidFill>
              </a:rPr>
              <a:t> </a:t>
            </a:r>
            <a:r>
              <a:rPr lang="en-IN" dirty="0"/>
              <a:t>in </a:t>
            </a:r>
            <a:r>
              <a:rPr lang="en-IN" b="1" dirty="0" err="1">
                <a:solidFill>
                  <a:srgbClr val="C00000"/>
                </a:solidFill>
              </a:rPr>
              <a:t>preorder</a:t>
            </a:r>
            <a:r>
              <a:rPr lang="en-IN" dirty="0"/>
              <a:t>, in a recursive </a:t>
            </a:r>
            <a:r>
              <a:rPr lang="en-IN" dirty="0" smtClean="0"/>
              <a:t>manner.</a:t>
            </a:r>
          </a:p>
          <a:p>
            <a:r>
              <a:rPr lang="en-IN" b="1" dirty="0" smtClean="0">
                <a:solidFill>
                  <a:srgbClr val="C00000"/>
                </a:solidFill>
              </a:rPr>
              <a:t>T</a:t>
            </a:r>
            <a:r>
              <a:rPr lang="en-IN" dirty="0" smtClean="0">
                <a:solidFill>
                  <a:srgbClr val="C00000"/>
                </a:solidFill>
              </a:rPr>
              <a:t> </a:t>
            </a:r>
            <a:r>
              <a:rPr lang="en-IN" b="1" dirty="0">
                <a:solidFill>
                  <a:srgbClr val="C00000"/>
                </a:solidFill>
              </a:rPr>
              <a:t>is root node address</a:t>
            </a:r>
            <a:r>
              <a:rPr lang="en-IN" b="1" dirty="0">
                <a:solidFill>
                  <a:srgbClr val="FF0000"/>
                </a:solidFill>
              </a:rPr>
              <a:t> </a:t>
            </a:r>
            <a:r>
              <a:rPr lang="en-IN" dirty="0"/>
              <a:t>of given binary tree</a:t>
            </a:r>
          </a:p>
          <a:p>
            <a:r>
              <a:rPr lang="en-IN" dirty="0" smtClean="0"/>
              <a:t>Node structure of binary tree is described as below</a:t>
            </a:r>
            <a:endParaRPr lang="en-US" dirty="0"/>
          </a:p>
        </p:txBody>
      </p:sp>
      <p:grpSp>
        <p:nvGrpSpPr>
          <p:cNvPr id="9" name="Group 8"/>
          <p:cNvGrpSpPr/>
          <p:nvPr/>
        </p:nvGrpSpPr>
        <p:grpSpPr>
          <a:xfrm>
            <a:off x="8396513" y="1401670"/>
            <a:ext cx="3385677" cy="558801"/>
            <a:chOff x="-76200" y="4191000"/>
            <a:chExt cx="1997075" cy="381000"/>
          </a:xfrm>
        </p:grpSpPr>
        <p:sp>
          <p:nvSpPr>
            <p:cNvPr id="10" name="Rectangle 9"/>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DATA</a:t>
              </a:r>
              <a:endParaRPr lang="en-US" sz="2000" b="1" dirty="0"/>
            </a:p>
          </p:txBody>
        </p:sp>
        <p:sp>
          <p:nvSpPr>
            <p:cNvPr id="11" name="Rectangle 10"/>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LPTR</a:t>
              </a:r>
              <a:endParaRPr lang="en-US" sz="2000" b="1" dirty="0"/>
            </a:p>
          </p:txBody>
        </p:sp>
        <p:sp>
          <p:nvSpPr>
            <p:cNvPr id="12" name="Rectangle 11"/>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RPTR</a:t>
              </a:r>
              <a:endParaRPr lang="en-US" sz="2000" b="1" dirty="0"/>
            </a:p>
          </p:txBody>
        </p:sp>
      </p:grpSp>
      <p:sp>
        <p:nvSpPr>
          <p:cNvPr id="13" name="TextBox 12"/>
          <p:cNvSpPr txBox="1"/>
          <p:nvPr/>
        </p:nvSpPr>
        <p:spPr>
          <a:xfrm>
            <a:off x="8558796" y="2031868"/>
            <a:ext cx="3066489" cy="400110"/>
          </a:xfrm>
          <a:prstGeom prst="rect">
            <a:avLst/>
          </a:prstGeom>
          <a:noFill/>
        </p:spPr>
        <p:txBody>
          <a:bodyPr wrap="square" rtlCol="0">
            <a:spAutoFit/>
          </a:bodyPr>
          <a:lstStyle/>
          <a:p>
            <a:pPr algn="ctr"/>
            <a:r>
              <a:rPr lang="en-IN" sz="2000" b="1" dirty="0"/>
              <a:t>Typical node </a:t>
            </a:r>
            <a:r>
              <a:rPr lang="en-IN" sz="2000" b="1" dirty="0" smtClean="0"/>
              <a:t>of Binary </a:t>
            </a:r>
            <a:r>
              <a:rPr lang="en-IN" sz="2000" b="1" dirty="0"/>
              <a:t>Tree</a:t>
            </a:r>
            <a:endParaRPr lang="en-US" sz="2000" b="1" dirty="0"/>
          </a:p>
        </p:txBody>
      </p:sp>
      <p:sp>
        <p:nvSpPr>
          <p:cNvPr id="14" name="TextBox 13"/>
          <p:cNvSpPr txBox="1"/>
          <p:nvPr/>
        </p:nvSpPr>
        <p:spPr>
          <a:xfrm>
            <a:off x="482103" y="2701896"/>
            <a:ext cx="5760000" cy="2800767"/>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[Check for Empty Tree]</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    </a:t>
            </a:r>
            <a:r>
              <a:rPr lang="en-IN" sz="2200" dirty="0">
                <a:latin typeface="Consolas" pitchFamily="49" charset="0"/>
                <a:cs typeface="Consolas" pitchFamily="49" charset="0"/>
              </a:rPr>
              <a:t>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write (‘Empty Tree’)</a:t>
            </a:r>
          </a:p>
          <a:p>
            <a:r>
              <a:rPr lang="en-IN" sz="2200" dirty="0">
                <a:latin typeface="Consolas" pitchFamily="49" charset="0"/>
                <a:cs typeface="Consolas" pitchFamily="49" charset="0"/>
              </a:rPr>
              <a:t> 	   return</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a:t>
            </a:r>
            <a:r>
              <a:rPr lang="en-IN" sz="2200" b="1" dirty="0">
                <a:latin typeface="Consolas" pitchFamily="49" charset="0"/>
                <a:cs typeface="Consolas" pitchFamily="49" charset="0"/>
              </a:rPr>
              <a:t>  </a:t>
            </a:r>
            <a:r>
              <a:rPr lang="en-IN" sz="2200" dirty="0">
                <a:latin typeface="Consolas" pitchFamily="49" charset="0"/>
                <a:cs typeface="Consolas" pitchFamily="49" charset="0"/>
              </a:rPr>
              <a:t>write (DATA(T))</a:t>
            </a:r>
          </a:p>
          <a:p>
            <a:r>
              <a:rPr lang="en-IN" sz="2200" b="1" dirty="0">
                <a:solidFill>
                  <a:schemeClr val="tx2"/>
                </a:solidFill>
                <a:latin typeface="Consolas" pitchFamily="49" charset="0"/>
                <a:cs typeface="Consolas" pitchFamily="49" charset="0"/>
              </a:rPr>
              <a:t>2. [Process the Left Sub Tree]</a:t>
            </a:r>
          </a:p>
          <a:p>
            <a:r>
              <a:rPr lang="en-IN" sz="2200" b="1"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 </a:t>
            </a:r>
            <a:r>
              <a:rPr lang="en-IN" sz="2200" b="1" dirty="0">
                <a:latin typeface="Consolas" pitchFamily="49" charset="0"/>
                <a:cs typeface="Consolas" pitchFamily="49" charset="0"/>
              </a:rPr>
              <a:t>   </a:t>
            </a:r>
            <a:r>
              <a:rPr lang="en-IN" sz="2200" dirty="0">
                <a:latin typeface="Consolas" pitchFamily="49" charset="0"/>
                <a:cs typeface="Consolas" pitchFamily="49" charset="0"/>
              </a:rPr>
              <a:t>LPTR (T) ≠ NULL</a:t>
            </a:r>
          </a:p>
          <a:p>
            <a:r>
              <a:rPr lang="en-IN" sz="2200" b="1"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RPREORDER (LPTR (T</a:t>
            </a:r>
            <a:r>
              <a:rPr lang="en-IN" sz="2200" dirty="0" smtClean="0">
                <a:latin typeface="Consolas" pitchFamily="49" charset="0"/>
                <a:cs typeface="Consolas" pitchFamily="49" charset="0"/>
              </a:rPr>
              <a:t>))</a:t>
            </a:r>
          </a:p>
        </p:txBody>
      </p:sp>
      <p:sp>
        <p:nvSpPr>
          <p:cNvPr id="15" name="TextBox 14"/>
          <p:cNvSpPr txBox="1"/>
          <p:nvPr/>
        </p:nvSpPr>
        <p:spPr>
          <a:xfrm>
            <a:off x="6271462" y="2701896"/>
            <a:ext cx="5760000" cy="178510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smtClean="0">
                <a:solidFill>
                  <a:schemeClr val="tx2"/>
                </a:solidFill>
                <a:latin typeface="Consolas" pitchFamily="49" charset="0"/>
                <a:cs typeface="Consolas" pitchFamily="49" charset="0"/>
              </a:rPr>
              <a:t>3. [Process the Right Sub Tree]</a:t>
            </a:r>
          </a:p>
          <a:p>
            <a:r>
              <a:rPr lang="en-IN" sz="2200" b="1" dirty="0" smtClean="0">
                <a:latin typeface="Consolas" pitchFamily="49" charset="0"/>
                <a:cs typeface="Consolas" pitchFamily="49" charset="0"/>
              </a:rPr>
              <a:t>   </a:t>
            </a:r>
            <a:r>
              <a:rPr lang="en-IN" sz="2200" b="1" dirty="0" smtClean="0">
                <a:solidFill>
                  <a:schemeClr val="tx2">
                    <a:lumMod val="75000"/>
                  </a:schemeClr>
                </a:solidFill>
                <a:latin typeface="Consolas" pitchFamily="49" charset="0"/>
                <a:cs typeface="Consolas" pitchFamily="49" charset="0"/>
              </a:rPr>
              <a:t>IF</a:t>
            </a:r>
            <a:r>
              <a:rPr lang="en-IN" sz="2200" b="1" dirty="0" smtClean="0">
                <a:latin typeface="Consolas" pitchFamily="49" charset="0"/>
                <a:cs typeface="Consolas" pitchFamily="49" charset="0"/>
              </a:rPr>
              <a:t>    </a:t>
            </a:r>
            <a:r>
              <a:rPr lang="en-IN" sz="2200" dirty="0" smtClean="0">
                <a:latin typeface="Consolas" pitchFamily="49" charset="0"/>
                <a:cs typeface="Consolas" pitchFamily="49" charset="0"/>
              </a:rPr>
              <a:t>RPTR (T) ≠ NULL</a:t>
            </a:r>
          </a:p>
          <a:p>
            <a:r>
              <a:rPr lang="en-IN" sz="2200" b="1" dirty="0" smtClean="0">
                <a:latin typeface="Consolas" pitchFamily="49" charset="0"/>
                <a:cs typeface="Consolas" pitchFamily="49" charset="0"/>
              </a:rPr>
              <a:t>   </a:t>
            </a:r>
            <a:r>
              <a:rPr lang="en-IN" sz="2200" b="1" dirty="0" smtClean="0">
                <a:solidFill>
                  <a:schemeClr val="tx2">
                    <a:lumMod val="75000"/>
                  </a:schemeClr>
                </a:solidFill>
                <a:latin typeface="Consolas" pitchFamily="49" charset="0"/>
                <a:cs typeface="Consolas" pitchFamily="49" charset="0"/>
              </a:rPr>
              <a:t>THEN</a:t>
            </a:r>
            <a:r>
              <a:rPr lang="en-IN" sz="2200" b="1" dirty="0" smtClean="0">
                <a:latin typeface="Consolas" pitchFamily="49" charset="0"/>
                <a:cs typeface="Consolas" pitchFamily="49" charset="0"/>
              </a:rPr>
              <a:t>  </a:t>
            </a:r>
            <a:r>
              <a:rPr lang="en-IN" sz="2200" dirty="0" smtClean="0">
                <a:latin typeface="Consolas" pitchFamily="49" charset="0"/>
                <a:cs typeface="Consolas" pitchFamily="49" charset="0"/>
              </a:rPr>
              <a:t>RPREORDER (RPTR (T))</a:t>
            </a:r>
          </a:p>
          <a:p>
            <a:r>
              <a:rPr lang="en-IN" sz="2200" b="1" dirty="0" smtClean="0">
                <a:solidFill>
                  <a:schemeClr val="tx2"/>
                </a:solidFill>
                <a:latin typeface="Consolas" pitchFamily="49" charset="0"/>
                <a:cs typeface="Consolas" pitchFamily="49" charset="0"/>
              </a:rPr>
              <a:t>4. [Finished]</a:t>
            </a:r>
          </a:p>
          <a:p>
            <a:r>
              <a:rPr lang="en-IN" sz="2200" dirty="0" smtClean="0">
                <a:latin typeface="Consolas" pitchFamily="49" charset="0"/>
                <a:cs typeface="Consolas" pitchFamily="49" charset="0"/>
              </a:rPr>
              <a:t>   Return</a:t>
            </a:r>
            <a:endParaRPr lang="en-IN" sz="2200" dirty="0">
              <a:latin typeface="Consolas" pitchFamily="49" charset="0"/>
              <a:cs typeface="Consolas" pitchFamily="49" charset="0"/>
            </a:endParaRPr>
          </a:p>
        </p:txBody>
      </p:sp>
    </p:spTree>
    <p:extLst>
      <p:ext uri="{BB962C8B-B14F-4D97-AF65-F5344CB8AC3E}">
        <p14:creationId xmlns:p14="http://schemas.microsoft.com/office/powerpoint/2010/main" val="409890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xEl>
                                              <p:pRg st="1" end="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P spid="14" grpId="0" uiExpand="1" build="allAtOnce" animBg="1"/>
      <p:bldP spid="15"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Procedure: RINORDER(T)</a:t>
            </a:r>
            <a:endParaRPr lang="en-US" dirty="0"/>
          </a:p>
        </p:txBody>
      </p:sp>
      <p:sp>
        <p:nvSpPr>
          <p:cNvPr id="3" name="Content Placeholder 2"/>
          <p:cNvSpPr>
            <a:spLocks noGrp="1"/>
          </p:cNvSpPr>
          <p:nvPr>
            <p:ph idx="1"/>
          </p:nvPr>
        </p:nvSpPr>
        <p:spPr/>
        <p:txBody>
          <a:bodyPr/>
          <a:lstStyle/>
          <a:p>
            <a:r>
              <a:rPr lang="en-IN" dirty="0" smtClean="0"/>
              <a:t>This procedure </a:t>
            </a:r>
            <a:r>
              <a:rPr lang="en-IN" b="1" dirty="0" smtClean="0">
                <a:solidFill>
                  <a:srgbClr val="C00000"/>
                </a:solidFill>
              </a:rPr>
              <a:t>traverses the tree</a:t>
            </a:r>
            <a:r>
              <a:rPr lang="en-IN" dirty="0" smtClean="0">
                <a:solidFill>
                  <a:srgbClr val="C00000"/>
                </a:solidFill>
              </a:rPr>
              <a:t> </a:t>
            </a:r>
            <a:r>
              <a:rPr lang="en-IN" dirty="0" smtClean="0"/>
              <a:t>in </a:t>
            </a:r>
            <a:r>
              <a:rPr lang="en-IN" b="1" dirty="0" err="1" smtClean="0">
                <a:solidFill>
                  <a:srgbClr val="C00000"/>
                </a:solidFill>
              </a:rPr>
              <a:t>InOrder</a:t>
            </a:r>
            <a:r>
              <a:rPr lang="en-IN" dirty="0" smtClean="0"/>
              <a:t>, in a recursive manner.</a:t>
            </a:r>
          </a:p>
          <a:p>
            <a:r>
              <a:rPr lang="en-IN" b="1" dirty="0" smtClean="0">
                <a:solidFill>
                  <a:srgbClr val="C00000"/>
                </a:solidFill>
              </a:rPr>
              <a:t>T</a:t>
            </a:r>
            <a:r>
              <a:rPr lang="en-IN" dirty="0" smtClean="0">
                <a:solidFill>
                  <a:srgbClr val="C00000"/>
                </a:solidFill>
              </a:rPr>
              <a:t> </a:t>
            </a:r>
            <a:r>
              <a:rPr lang="en-IN" b="1" dirty="0" smtClean="0">
                <a:solidFill>
                  <a:srgbClr val="C00000"/>
                </a:solidFill>
              </a:rPr>
              <a:t>is root node address </a:t>
            </a:r>
            <a:r>
              <a:rPr lang="en-IN" dirty="0" smtClean="0"/>
              <a:t>of given binary tree.</a:t>
            </a:r>
          </a:p>
          <a:p>
            <a:r>
              <a:rPr lang="en-IN" dirty="0" smtClean="0"/>
              <a:t>Node structure of binary tree is described as below</a:t>
            </a:r>
            <a:r>
              <a:rPr lang="en-US" dirty="0"/>
              <a:t>.</a:t>
            </a:r>
            <a:endParaRPr lang="en-US" dirty="0" smtClean="0"/>
          </a:p>
        </p:txBody>
      </p:sp>
      <p:grpSp>
        <p:nvGrpSpPr>
          <p:cNvPr id="11" name="Group 10"/>
          <p:cNvGrpSpPr/>
          <p:nvPr/>
        </p:nvGrpSpPr>
        <p:grpSpPr>
          <a:xfrm>
            <a:off x="8396513" y="1401670"/>
            <a:ext cx="3385677" cy="558801"/>
            <a:chOff x="-76200" y="4191000"/>
            <a:chExt cx="1997075" cy="381000"/>
          </a:xfrm>
        </p:grpSpPr>
        <p:sp>
          <p:nvSpPr>
            <p:cNvPr id="12" name="Rectangle 11"/>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DATA</a:t>
              </a:r>
              <a:endParaRPr lang="en-US" sz="2000" b="1" dirty="0"/>
            </a:p>
          </p:txBody>
        </p:sp>
        <p:sp>
          <p:nvSpPr>
            <p:cNvPr id="13" name="Rectangle 12"/>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LPTR</a:t>
              </a:r>
              <a:endParaRPr lang="en-US" sz="2000" b="1" dirty="0"/>
            </a:p>
          </p:txBody>
        </p:sp>
        <p:sp>
          <p:nvSpPr>
            <p:cNvPr id="14" name="Rectangle 13"/>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RPTR</a:t>
              </a:r>
              <a:endParaRPr lang="en-US" sz="2000" b="1" dirty="0"/>
            </a:p>
          </p:txBody>
        </p:sp>
      </p:grpSp>
      <p:sp>
        <p:nvSpPr>
          <p:cNvPr id="15" name="TextBox 14"/>
          <p:cNvSpPr txBox="1"/>
          <p:nvPr/>
        </p:nvSpPr>
        <p:spPr>
          <a:xfrm>
            <a:off x="8558796" y="2031868"/>
            <a:ext cx="3066489" cy="400110"/>
          </a:xfrm>
          <a:prstGeom prst="rect">
            <a:avLst/>
          </a:prstGeom>
          <a:noFill/>
        </p:spPr>
        <p:txBody>
          <a:bodyPr wrap="square" rtlCol="0">
            <a:spAutoFit/>
          </a:bodyPr>
          <a:lstStyle/>
          <a:p>
            <a:pPr algn="ctr"/>
            <a:r>
              <a:rPr lang="en-IN" sz="2000" b="1" dirty="0"/>
              <a:t>Typical node </a:t>
            </a:r>
            <a:r>
              <a:rPr lang="en-IN" sz="2000" b="1" dirty="0" smtClean="0"/>
              <a:t>of Binary </a:t>
            </a:r>
            <a:r>
              <a:rPr lang="en-IN" sz="2000" b="1" dirty="0"/>
              <a:t>Tree</a:t>
            </a:r>
            <a:endParaRPr lang="en-US" sz="2000" b="1" dirty="0"/>
          </a:p>
        </p:txBody>
      </p:sp>
      <p:sp>
        <p:nvSpPr>
          <p:cNvPr id="16" name="TextBox 15"/>
          <p:cNvSpPr txBox="1"/>
          <p:nvPr/>
        </p:nvSpPr>
        <p:spPr>
          <a:xfrm>
            <a:off x="460829" y="2614809"/>
            <a:ext cx="5760000" cy="3139321"/>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[Check for Empty Tree]</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b="1" dirty="0">
                <a:latin typeface="Consolas" pitchFamily="49" charset="0"/>
                <a:cs typeface="Consolas" pitchFamily="49" charset="0"/>
              </a:rPr>
              <a:t>    </a:t>
            </a:r>
            <a:r>
              <a:rPr lang="en-IN" sz="2200" dirty="0">
                <a:latin typeface="Consolas" pitchFamily="49" charset="0"/>
                <a:cs typeface="Consolas" pitchFamily="49" charset="0"/>
              </a:rPr>
              <a:t>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write (‘Empty Tree’)</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2. [Process the Left Sub Tree]</a:t>
            </a:r>
          </a:p>
          <a:p>
            <a:r>
              <a:rPr lang="en-IN" sz="2200" b="1"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b="1" dirty="0">
                <a:latin typeface="Consolas" pitchFamily="49" charset="0"/>
                <a:cs typeface="Consolas" pitchFamily="49" charset="0"/>
              </a:rPr>
              <a:t>    </a:t>
            </a:r>
            <a:r>
              <a:rPr lang="en-IN" sz="2200" dirty="0">
                <a:latin typeface="Consolas" pitchFamily="49" charset="0"/>
                <a:cs typeface="Consolas" pitchFamily="49" charset="0"/>
              </a:rPr>
              <a:t>LPTR (T) ≠ NULL</a:t>
            </a:r>
          </a:p>
          <a:p>
            <a:r>
              <a:rPr lang="en-IN" sz="2200" b="1"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RINORDER (LPTR (T))</a:t>
            </a:r>
          </a:p>
          <a:p>
            <a:r>
              <a:rPr lang="en-IN" sz="2200" b="1" dirty="0">
                <a:solidFill>
                  <a:schemeClr val="tx2"/>
                </a:solidFill>
                <a:latin typeface="Consolas" pitchFamily="49" charset="0"/>
                <a:cs typeface="Consolas" pitchFamily="49" charset="0"/>
              </a:rPr>
              <a:t>3. [Process the Root Node]</a:t>
            </a:r>
          </a:p>
          <a:p>
            <a:r>
              <a:rPr lang="en-IN" sz="2200" dirty="0">
                <a:latin typeface="Consolas" pitchFamily="49" charset="0"/>
                <a:cs typeface="Consolas" pitchFamily="49" charset="0"/>
              </a:rPr>
              <a:t>   write (DATA(T</a:t>
            </a:r>
            <a:r>
              <a:rPr lang="en-IN" sz="2200" dirty="0" smtClean="0">
                <a:latin typeface="Consolas" pitchFamily="49" charset="0"/>
                <a:cs typeface="Consolas" pitchFamily="49" charset="0"/>
              </a:rPr>
              <a:t>))</a:t>
            </a:r>
          </a:p>
        </p:txBody>
      </p:sp>
      <p:sp>
        <p:nvSpPr>
          <p:cNvPr id="17" name="TextBox 16"/>
          <p:cNvSpPr txBox="1"/>
          <p:nvPr/>
        </p:nvSpPr>
        <p:spPr>
          <a:xfrm>
            <a:off x="6271793" y="2614809"/>
            <a:ext cx="5760000" cy="178510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smtClean="0">
                <a:solidFill>
                  <a:schemeClr val="tx2"/>
                </a:solidFill>
                <a:latin typeface="Consolas" pitchFamily="49" charset="0"/>
                <a:cs typeface="Consolas" pitchFamily="49" charset="0"/>
              </a:rPr>
              <a:t>4. [Process the Right Sub Tree]</a:t>
            </a:r>
          </a:p>
          <a:p>
            <a:r>
              <a:rPr lang="en-IN" sz="2200" b="1" dirty="0" smtClean="0">
                <a:latin typeface="Consolas" pitchFamily="49" charset="0"/>
                <a:cs typeface="Consolas" pitchFamily="49" charset="0"/>
              </a:rPr>
              <a:t>   </a:t>
            </a:r>
            <a:r>
              <a:rPr lang="en-IN" sz="2200" b="1" dirty="0" smtClean="0">
                <a:solidFill>
                  <a:schemeClr val="tx2">
                    <a:lumMod val="75000"/>
                  </a:schemeClr>
                </a:solidFill>
                <a:latin typeface="Consolas" pitchFamily="49" charset="0"/>
                <a:cs typeface="Consolas" pitchFamily="49" charset="0"/>
              </a:rPr>
              <a:t>IF</a:t>
            </a:r>
            <a:r>
              <a:rPr lang="en-IN" sz="2200" b="1" dirty="0" smtClean="0">
                <a:latin typeface="Consolas" pitchFamily="49" charset="0"/>
                <a:cs typeface="Consolas" pitchFamily="49" charset="0"/>
              </a:rPr>
              <a:t>    </a:t>
            </a:r>
            <a:r>
              <a:rPr lang="en-IN" sz="2200" dirty="0" smtClean="0">
                <a:latin typeface="Consolas" pitchFamily="49" charset="0"/>
                <a:cs typeface="Consolas" pitchFamily="49" charset="0"/>
              </a:rPr>
              <a:t>RPTR (T) ≠ NULL</a:t>
            </a:r>
          </a:p>
          <a:p>
            <a:r>
              <a:rPr lang="en-IN" sz="2200" b="1" dirty="0" smtClean="0">
                <a:latin typeface="Consolas" pitchFamily="49" charset="0"/>
                <a:cs typeface="Consolas" pitchFamily="49" charset="0"/>
              </a:rPr>
              <a:t>   </a:t>
            </a:r>
            <a:r>
              <a:rPr lang="en-IN" sz="2200" b="1" dirty="0" smtClean="0">
                <a:solidFill>
                  <a:schemeClr val="tx2">
                    <a:lumMod val="75000"/>
                  </a:schemeClr>
                </a:solidFill>
                <a:latin typeface="Consolas" pitchFamily="49" charset="0"/>
                <a:cs typeface="Consolas" pitchFamily="49" charset="0"/>
              </a:rPr>
              <a:t>THEN</a:t>
            </a:r>
            <a:r>
              <a:rPr lang="en-IN" sz="2200" b="1" dirty="0" smtClean="0">
                <a:latin typeface="Consolas" pitchFamily="49" charset="0"/>
                <a:cs typeface="Consolas" pitchFamily="49" charset="0"/>
              </a:rPr>
              <a:t>  </a:t>
            </a:r>
            <a:r>
              <a:rPr lang="en-IN" sz="2200" dirty="0" smtClean="0">
                <a:latin typeface="Consolas" pitchFamily="49" charset="0"/>
                <a:cs typeface="Consolas" pitchFamily="49" charset="0"/>
              </a:rPr>
              <a:t>RINORDER (RPTR (T))</a:t>
            </a:r>
          </a:p>
          <a:p>
            <a:r>
              <a:rPr lang="en-IN" sz="2200" b="1" dirty="0" smtClean="0">
                <a:solidFill>
                  <a:schemeClr val="tx2"/>
                </a:solidFill>
                <a:latin typeface="Consolas" pitchFamily="49" charset="0"/>
                <a:cs typeface="Consolas" pitchFamily="49" charset="0"/>
              </a:rPr>
              <a:t>5. [Finished]</a:t>
            </a:r>
          </a:p>
          <a:p>
            <a:r>
              <a:rPr lang="en-IN" sz="2200" dirty="0" smtClean="0">
                <a:latin typeface="Consolas" pitchFamily="49" charset="0"/>
                <a:cs typeface="Consolas" pitchFamily="49" charset="0"/>
              </a:rPr>
              <a:t>   Return</a:t>
            </a:r>
            <a:endParaRPr lang="en-IN" sz="2200" dirty="0">
              <a:latin typeface="Consolas" pitchFamily="49" charset="0"/>
              <a:cs typeface="Consolas" pitchFamily="49" charset="0"/>
            </a:endParaRPr>
          </a:p>
        </p:txBody>
      </p:sp>
    </p:spTree>
    <p:extLst>
      <p:ext uri="{BB962C8B-B14F-4D97-AF65-F5344CB8AC3E}">
        <p14:creationId xmlns:p14="http://schemas.microsoft.com/office/powerpoint/2010/main" val="354745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uiExpand="1" build="allAtOnce" animBg="1"/>
      <p:bldP spid="17" grpId="0" uiExpand="1"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RPOSTORDER(T)</a:t>
            </a:r>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traverses the tree</a:t>
            </a:r>
            <a:r>
              <a:rPr lang="en-IN" dirty="0">
                <a:solidFill>
                  <a:srgbClr val="C00000"/>
                </a:solidFill>
              </a:rPr>
              <a:t> </a:t>
            </a:r>
            <a:r>
              <a:rPr lang="en-IN" dirty="0"/>
              <a:t>in </a:t>
            </a:r>
            <a:r>
              <a:rPr lang="en-IN" b="1" dirty="0" err="1" smtClean="0">
                <a:solidFill>
                  <a:srgbClr val="C00000"/>
                </a:solidFill>
              </a:rPr>
              <a:t>PostOrder</a:t>
            </a:r>
            <a:r>
              <a:rPr lang="en-IN" dirty="0"/>
              <a:t>, in a recursive </a:t>
            </a:r>
            <a:r>
              <a:rPr lang="en-IN" dirty="0" smtClean="0"/>
              <a:t>manner.</a:t>
            </a:r>
          </a:p>
          <a:p>
            <a:r>
              <a:rPr lang="en-IN" b="1" dirty="0" smtClean="0">
                <a:solidFill>
                  <a:srgbClr val="C00000"/>
                </a:solidFill>
              </a:rPr>
              <a:t>T</a:t>
            </a:r>
            <a:r>
              <a:rPr lang="en-IN" dirty="0" smtClean="0">
                <a:solidFill>
                  <a:srgbClr val="C00000"/>
                </a:solidFill>
              </a:rPr>
              <a:t> </a:t>
            </a:r>
            <a:r>
              <a:rPr lang="en-IN" b="1" dirty="0">
                <a:solidFill>
                  <a:srgbClr val="C00000"/>
                </a:solidFill>
              </a:rPr>
              <a:t>is root node address</a:t>
            </a:r>
            <a:r>
              <a:rPr lang="en-IN" b="1" dirty="0">
                <a:solidFill>
                  <a:srgbClr val="FF0000"/>
                </a:solidFill>
              </a:rPr>
              <a:t> </a:t>
            </a:r>
            <a:r>
              <a:rPr lang="en-IN" dirty="0"/>
              <a:t>of given binary </a:t>
            </a:r>
            <a:r>
              <a:rPr lang="en-IN" dirty="0" smtClean="0"/>
              <a:t>tree.</a:t>
            </a:r>
            <a:endParaRPr lang="en-IN" dirty="0"/>
          </a:p>
          <a:p>
            <a:r>
              <a:rPr lang="en-IN" dirty="0"/>
              <a:t>Node structure of binary tree is described as </a:t>
            </a:r>
            <a:r>
              <a:rPr lang="en-IN" dirty="0" smtClean="0"/>
              <a:t>below.</a:t>
            </a:r>
            <a:endParaRPr lang="en-US" dirty="0"/>
          </a:p>
        </p:txBody>
      </p:sp>
      <p:grpSp>
        <p:nvGrpSpPr>
          <p:cNvPr id="9" name="Group 8"/>
          <p:cNvGrpSpPr/>
          <p:nvPr/>
        </p:nvGrpSpPr>
        <p:grpSpPr>
          <a:xfrm>
            <a:off x="8396513" y="1401670"/>
            <a:ext cx="3385677" cy="558801"/>
            <a:chOff x="-76200" y="4191000"/>
            <a:chExt cx="1997075" cy="381000"/>
          </a:xfrm>
        </p:grpSpPr>
        <p:sp>
          <p:nvSpPr>
            <p:cNvPr id="10" name="Rectangle 9"/>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DATA</a:t>
              </a:r>
              <a:endParaRPr lang="en-US" sz="2000" b="1" dirty="0"/>
            </a:p>
          </p:txBody>
        </p:sp>
        <p:sp>
          <p:nvSpPr>
            <p:cNvPr id="11" name="Rectangle 10"/>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LPTR</a:t>
              </a:r>
              <a:endParaRPr lang="en-US" sz="2000" b="1" dirty="0"/>
            </a:p>
          </p:txBody>
        </p:sp>
        <p:sp>
          <p:nvSpPr>
            <p:cNvPr id="12" name="Rectangle 11"/>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RPTR</a:t>
              </a:r>
              <a:endParaRPr lang="en-US" sz="2000" b="1" dirty="0"/>
            </a:p>
          </p:txBody>
        </p:sp>
      </p:grpSp>
      <p:sp>
        <p:nvSpPr>
          <p:cNvPr id="13" name="TextBox 12"/>
          <p:cNvSpPr txBox="1"/>
          <p:nvPr/>
        </p:nvSpPr>
        <p:spPr>
          <a:xfrm>
            <a:off x="8558796" y="2031868"/>
            <a:ext cx="3066489" cy="400110"/>
          </a:xfrm>
          <a:prstGeom prst="rect">
            <a:avLst/>
          </a:prstGeom>
          <a:noFill/>
        </p:spPr>
        <p:txBody>
          <a:bodyPr wrap="square" rtlCol="0">
            <a:spAutoFit/>
          </a:bodyPr>
          <a:lstStyle/>
          <a:p>
            <a:pPr algn="ctr"/>
            <a:r>
              <a:rPr lang="en-IN" sz="2000" b="1" dirty="0"/>
              <a:t>Typical node </a:t>
            </a:r>
            <a:r>
              <a:rPr lang="en-IN" sz="2000" b="1" dirty="0" smtClean="0"/>
              <a:t>of Binary </a:t>
            </a:r>
            <a:r>
              <a:rPr lang="en-IN" sz="2000" b="1" dirty="0"/>
              <a:t>Tree</a:t>
            </a:r>
            <a:endParaRPr lang="en-US" sz="2000" b="1" dirty="0"/>
          </a:p>
        </p:txBody>
      </p:sp>
      <p:sp>
        <p:nvSpPr>
          <p:cNvPr id="14" name="TextBox 13"/>
          <p:cNvSpPr txBox="1"/>
          <p:nvPr/>
        </p:nvSpPr>
        <p:spPr>
          <a:xfrm>
            <a:off x="460829" y="2585781"/>
            <a:ext cx="5760000" cy="347787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[Check for Empty Tree]</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b="1" dirty="0">
                <a:latin typeface="Consolas" pitchFamily="49" charset="0"/>
                <a:cs typeface="Consolas" pitchFamily="49" charset="0"/>
              </a:rPr>
              <a:t>    </a:t>
            </a:r>
            <a:r>
              <a:rPr lang="en-IN" sz="2200" dirty="0">
                <a:latin typeface="Consolas" pitchFamily="49" charset="0"/>
                <a:cs typeface="Consolas" pitchFamily="49" charset="0"/>
              </a:rPr>
              <a:t>T = NULL</a:t>
            </a:r>
          </a:p>
          <a:p>
            <a:r>
              <a:rPr lang="en-IN" sz="2200" dirty="0">
                <a:latin typeface="Consolas" pitchFamily="49" charset="0"/>
                <a:cs typeface="Consolas" pitchFamily="49" charset="0"/>
              </a:rPr>
              <a:t>   </a:t>
            </a:r>
            <a:r>
              <a:rPr lang="en-IN" sz="2200" b="1" dirty="0">
                <a:solidFill>
                  <a:schemeClr val="tx2"/>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write (‘Empty Tree’)</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2. [Process the Left Sub Tree]</a:t>
            </a:r>
          </a:p>
          <a:p>
            <a:r>
              <a:rPr lang="en-IN" sz="2200" b="1" dirty="0">
                <a:latin typeface="Consolas" pitchFamily="49" charset="0"/>
                <a:cs typeface="Consolas" pitchFamily="49" charset="0"/>
              </a:rPr>
              <a:t>   </a:t>
            </a:r>
            <a:r>
              <a:rPr lang="en-IN" sz="2200" b="1" dirty="0">
                <a:solidFill>
                  <a:schemeClr val="tx2"/>
                </a:solidFill>
                <a:latin typeface="Consolas" pitchFamily="49" charset="0"/>
                <a:cs typeface="Consolas" pitchFamily="49" charset="0"/>
              </a:rPr>
              <a:t>IF</a:t>
            </a:r>
            <a:r>
              <a:rPr lang="en-IN" sz="2200" b="1" dirty="0">
                <a:latin typeface="Consolas" pitchFamily="49" charset="0"/>
                <a:cs typeface="Consolas" pitchFamily="49" charset="0"/>
              </a:rPr>
              <a:t>    </a:t>
            </a:r>
            <a:r>
              <a:rPr lang="en-IN" sz="2200" dirty="0">
                <a:latin typeface="Consolas" pitchFamily="49" charset="0"/>
                <a:cs typeface="Consolas" pitchFamily="49" charset="0"/>
              </a:rPr>
              <a:t>LPTR (T) ≠ NULL</a:t>
            </a:r>
          </a:p>
          <a:p>
            <a:r>
              <a:rPr lang="en-IN" sz="2200" b="1" dirty="0">
                <a:latin typeface="Consolas" pitchFamily="49" charset="0"/>
                <a:cs typeface="Consolas" pitchFamily="49" charset="0"/>
              </a:rPr>
              <a:t>   </a:t>
            </a:r>
            <a:r>
              <a:rPr lang="en-IN" sz="2200" b="1" dirty="0">
                <a:solidFill>
                  <a:schemeClr val="tx2"/>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dirty="0">
                <a:latin typeface="Consolas" pitchFamily="49" charset="0"/>
                <a:cs typeface="Consolas" pitchFamily="49" charset="0"/>
              </a:rPr>
              <a:t>RPOSTORDER (LPTR (T))</a:t>
            </a:r>
          </a:p>
          <a:p>
            <a:r>
              <a:rPr lang="en-IN" sz="2200" b="1" dirty="0">
                <a:solidFill>
                  <a:schemeClr val="tx2"/>
                </a:solidFill>
                <a:latin typeface="Consolas" pitchFamily="49" charset="0"/>
                <a:cs typeface="Consolas" pitchFamily="49" charset="0"/>
              </a:rPr>
              <a:t>3. [Process the Right Sub Tree]</a:t>
            </a:r>
          </a:p>
          <a:p>
            <a:r>
              <a:rPr lang="en-IN" sz="2200" b="1" dirty="0">
                <a:latin typeface="Consolas" pitchFamily="49" charset="0"/>
                <a:cs typeface="Consolas" pitchFamily="49" charset="0"/>
              </a:rPr>
              <a:t>   </a:t>
            </a:r>
            <a:r>
              <a:rPr lang="en-IN" sz="2200" b="1" dirty="0">
                <a:solidFill>
                  <a:schemeClr val="tx2"/>
                </a:solidFill>
                <a:latin typeface="Consolas" pitchFamily="49" charset="0"/>
                <a:cs typeface="Consolas" pitchFamily="49" charset="0"/>
              </a:rPr>
              <a:t>IF</a:t>
            </a:r>
            <a:r>
              <a:rPr lang="en-IN" sz="2200" b="1" dirty="0">
                <a:latin typeface="Consolas" pitchFamily="49" charset="0"/>
                <a:cs typeface="Consolas" pitchFamily="49" charset="0"/>
              </a:rPr>
              <a:t>    </a:t>
            </a:r>
            <a:r>
              <a:rPr lang="en-IN" sz="2200" dirty="0">
                <a:latin typeface="Consolas" pitchFamily="49" charset="0"/>
                <a:cs typeface="Consolas" pitchFamily="49" charset="0"/>
              </a:rPr>
              <a:t>RPTR (T) ≠ NULL</a:t>
            </a:r>
          </a:p>
          <a:p>
            <a:r>
              <a:rPr lang="en-IN" sz="2200" b="1" dirty="0">
                <a:latin typeface="Consolas" pitchFamily="49" charset="0"/>
                <a:cs typeface="Consolas" pitchFamily="49" charset="0"/>
              </a:rPr>
              <a:t>   </a:t>
            </a:r>
            <a:r>
              <a:rPr lang="en-IN" sz="2200" b="1" dirty="0">
                <a:solidFill>
                  <a:schemeClr val="tx2"/>
                </a:solidFill>
                <a:latin typeface="Consolas" pitchFamily="49" charset="0"/>
                <a:cs typeface="Consolas" pitchFamily="49" charset="0"/>
              </a:rPr>
              <a:t>THEN</a:t>
            </a:r>
            <a:r>
              <a:rPr lang="en-IN" sz="2200" b="1" dirty="0">
                <a:latin typeface="Consolas" pitchFamily="49" charset="0"/>
                <a:cs typeface="Consolas" pitchFamily="49" charset="0"/>
              </a:rPr>
              <a:t> </a:t>
            </a:r>
            <a:r>
              <a:rPr lang="en-IN" sz="2200" b="1" dirty="0" smtClean="0">
                <a:solidFill>
                  <a:schemeClr val="tx2"/>
                </a:solidFill>
                <a:latin typeface="Consolas" pitchFamily="49" charset="0"/>
                <a:cs typeface="Consolas" pitchFamily="49" charset="0"/>
              </a:rPr>
              <a:t> </a:t>
            </a:r>
            <a:r>
              <a:rPr lang="en-IN" sz="2200" dirty="0" smtClean="0">
                <a:latin typeface="Consolas" pitchFamily="49" charset="0"/>
                <a:cs typeface="Consolas" pitchFamily="49" charset="0"/>
              </a:rPr>
              <a:t>RPOSTORDER </a:t>
            </a:r>
            <a:r>
              <a:rPr lang="en-IN" sz="2200" dirty="0">
                <a:latin typeface="Consolas" pitchFamily="49" charset="0"/>
                <a:cs typeface="Consolas" pitchFamily="49" charset="0"/>
              </a:rPr>
              <a:t>(RPTR (T</a:t>
            </a:r>
            <a:r>
              <a:rPr lang="en-IN" sz="2200" dirty="0" smtClean="0">
                <a:latin typeface="Consolas" pitchFamily="49" charset="0"/>
                <a:cs typeface="Consolas" pitchFamily="49" charset="0"/>
              </a:rPr>
              <a:t>))</a:t>
            </a:r>
            <a:endParaRPr lang="en-IN" sz="2200" dirty="0">
              <a:latin typeface="Consolas" pitchFamily="49" charset="0"/>
              <a:cs typeface="Consolas" pitchFamily="49" charset="0"/>
            </a:endParaRPr>
          </a:p>
        </p:txBody>
      </p:sp>
      <p:sp>
        <p:nvSpPr>
          <p:cNvPr id="15" name="TextBox 14"/>
          <p:cNvSpPr txBox="1"/>
          <p:nvPr/>
        </p:nvSpPr>
        <p:spPr>
          <a:xfrm>
            <a:off x="6268081" y="2585781"/>
            <a:ext cx="5760000" cy="1446550"/>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smtClean="0">
                <a:solidFill>
                  <a:schemeClr val="tx2"/>
                </a:solidFill>
                <a:latin typeface="Consolas" pitchFamily="49" charset="0"/>
                <a:cs typeface="Consolas" pitchFamily="49" charset="0"/>
              </a:rPr>
              <a:t>4</a:t>
            </a:r>
            <a:r>
              <a:rPr lang="en-IN" sz="2200" b="1" dirty="0">
                <a:solidFill>
                  <a:schemeClr val="tx2"/>
                </a:solidFill>
                <a:latin typeface="Consolas" pitchFamily="49" charset="0"/>
                <a:cs typeface="Consolas" pitchFamily="49" charset="0"/>
              </a:rPr>
              <a:t>. [Process the Root Node]</a:t>
            </a:r>
          </a:p>
          <a:p>
            <a:r>
              <a:rPr lang="en-IN" sz="2200" dirty="0">
                <a:latin typeface="Consolas" pitchFamily="49" charset="0"/>
                <a:cs typeface="Consolas" pitchFamily="49" charset="0"/>
              </a:rPr>
              <a:t>   write (DATA(T))</a:t>
            </a:r>
          </a:p>
          <a:p>
            <a:r>
              <a:rPr lang="en-IN" sz="2200" b="1" dirty="0">
                <a:solidFill>
                  <a:schemeClr val="tx2"/>
                </a:solidFill>
                <a:latin typeface="Consolas" pitchFamily="49" charset="0"/>
                <a:cs typeface="Consolas" pitchFamily="49" charset="0"/>
              </a:rPr>
              <a:t>5. [Finished]</a:t>
            </a:r>
          </a:p>
          <a:p>
            <a:r>
              <a:rPr lang="en-IN" sz="2200" dirty="0">
                <a:latin typeface="Consolas" pitchFamily="49" charset="0"/>
                <a:cs typeface="Consolas" pitchFamily="49" charset="0"/>
              </a:rPr>
              <a:t>   Return</a:t>
            </a:r>
          </a:p>
        </p:txBody>
      </p:sp>
    </p:spTree>
    <p:extLst>
      <p:ext uri="{BB962C8B-B14F-4D97-AF65-F5344CB8AC3E}">
        <p14:creationId xmlns:p14="http://schemas.microsoft.com/office/powerpoint/2010/main" val="387152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5">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uiExpand="1" build="allAtOnce" animBg="1"/>
      <p:bldP spid="15" grpId="0" uiExpand="1"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Construct Binary Tree from Traversal</a:t>
            </a:r>
            <a:endParaRPr lang="en-US" dirty="0"/>
          </a:p>
        </p:txBody>
      </p:sp>
      <p:sp>
        <p:nvSpPr>
          <p:cNvPr id="4" name="TextBox 3"/>
          <p:cNvSpPr txBox="1"/>
          <p:nvPr/>
        </p:nvSpPr>
        <p:spPr>
          <a:xfrm>
            <a:off x="1819835" y="762002"/>
            <a:ext cx="8686800" cy="430887"/>
          </a:xfrm>
          <a:prstGeom prst="rect">
            <a:avLst/>
          </a:prstGeom>
          <a:noFill/>
        </p:spPr>
        <p:txBody>
          <a:bodyPr wrap="square" rtlCol="0">
            <a:spAutoFit/>
          </a:bodyPr>
          <a:lstStyle/>
          <a:p>
            <a:pPr algn="ctr"/>
            <a:r>
              <a:rPr lang="en-IN" sz="2200" b="1" dirty="0"/>
              <a:t>Construct a Binary tree </a:t>
            </a:r>
            <a:r>
              <a:rPr lang="en-IN" sz="2200" dirty="0"/>
              <a:t>from the given </a:t>
            </a:r>
            <a:r>
              <a:rPr lang="en-IN" sz="2200" b="1" dirty="0" err="1">
                <a:solidFill>
                  <a:srgbClr val="C00000"/>
                </a:solidFill>
              </a:rPr>
              <a:t>Inorder</a:t>
            </a:r>
            <a:r>
              <a:rPr lang="en-IN" sz="2200" dirty="0">
                <a:solidFill>
                  <a:srgbClr val="C00000"/>
                </a:solidFill>
              </a:rPr>
              <a:t> </a:t>
            </a:r>
            <a:r>
              <a:rPr lang="en-IN" sz="2200" dirty="0"/>
              <a:t>and </a:t>
            </a:r>
            <a:r>
              <a:rPr lang="en-IN" sz="2200" b="1" dirty="0" err="1">
                <a:solidFill>
                  <a:srgbClr val="C00000"/>
                </a:solidFill>
              </a:rPr>
              <a:t>Postorder</a:t>
            </a:r>
            <a:r>
              <a:rPr lang="en-IN" sz="2200" dirty="0">
                <a:solidFill>
                  <a:srgbClr val="C00000"/>
                </a:solidFill>
              </a:rPr>
              <a:t> </a:t>
            </a:r>
            <a:r>
              <a:rPr lang="en-IN" sz="2200" dirty="0"/>
              <a:t>traversals</a:t>
            </a:r>
            <a:endParaRPr lang="en-US" sz="2200" dirty="0"/>
          </a:p>
        </p:txBody>
      </p:sp>
      <p:sp>
        <p:nvSpPr>
          <p:cNvPr id="5" name="TextBox 4"/>
          <p:cNvSpPr txBox="1"/>
          <p:nvPr/>
        </p:nvSpPr>
        <p:spPr>
          <a:xfrm>
            <a:off x="1822847" y="1593720"/>
            <a:ext cx="3273588" cy="738664"/>
          </a:xfrm>
          <a:prstGeom prst="rect">
            <a:avLst/>
          </a:prstGeom>
          <a:noFill/>
        </p:spPr>
        <p:txBody>
          <a:bodyPr wrap="none" rtlCol="0">
            <a:spAutoFit/>
          </a:bodyPr>
          <a:lstStyle/>
          <a:p>
            <a:r>
              <a:rPr lang="pt-BR" sz="2100" b="1" dirty="0"/>
              <a:t>Inorder     :</a:t>
            </a:r>
            <a:r>
              <a:rPr lang="pt-BR" sz="2100" dirty="0"/>
              <a:t> D G B </a:t>
            </a:r>
            <a:r>
              <a:rPr lang="pt-BR" sz="2100" b="1" dirty="0"/>
              <a:t>A</a:t>
            </a:r>
            <a:r>
              <a:rPr lang="pt-BR" sz="2100" dirty="0"/>
              <a:t> H E I C F </a:t>
            </a:r>
          </a:p>
          <a:p>
            <a:r>
              <a:rPr lang="pt-BR" sz="2100" b="1" dirty="0"/>
              <a:t>Postorder :</a:t>
            </a:r>
            <a:r>
              <a:rPr lang="pt-BR" sz="2100" dirty="0"/>
              <a:t> G D B H I E F C </a:t>
            </a:r>
            <a:r>
              <a:rPr lang="pt-BR" sz="2100" b="1" dirty="0"/>
              <a:t>A</a:t>
            </a:r>
            <a:endParaRPr lang="en-US" sz="2100" b="1" dirty="0"/>
          </a:p>
        </p:txBody>
      </p:sp>
      <p:sp>
        <p:nvSpPr>
          <p:cNvPr id="6" name="TextBox 5"/>
          <p:cNvSpPr txBox="1"/>
          <p:nvPr/>
        </p:nvSpPr>
        <p:spPr>
          <a:xfrm>
            <a:off x="5248835" y="1189673"/>
            <a:ext cx="5145832" cy="1477328"/>
          </a:xfrm>
          <a:prstGeom prst="rect">
            <a:avLst/>
          </a:prstGeom>
          <a:noFill/>
        </p:spPr>
        <p:txBody>
          <a:bodyPr wrap="none" rtlCol="0">
            <a:spAutoFit/>
          </a:bodyPr>
          <a:lstStyle/>
          <a:p>
            <a:pPr marL="285750" indent="-285750">
              <a:buFont typeface="Arial" pitchFamily="34" charset="0"/>
              <a:buChar char="•"/>
            </a:pPr>
            <a:r>
              <a:rPr lang="en-IN" dirty="0"/>
              <a:t>Step 1: Find the root node </a:t>
            </a:r>
          </a:p>
          <a:p>
            <a:pPr marL="742950" lvl="1" indent="-285750">
              <a:buFont typeface="Arial" pitchFamily="34" charset="0"/>
              <a:buChar char="•"/>
            </a:pPr>
            <a:r>
              <a:rPr lang="en-IN" dirty="0" err="1"/>
              <a:t>Preoder</a:t>
            </a:r>
            <a:r>
              <a:rPr lang="en-IN" dirty="0"/>
              <a:t> Traversal – first node is root node </a:t>
            </a:r>
          </a:p>
          <a:p>
            <a:pPr marL="742950" lvl="1" indent="-285750">
              <a:buFont typeface="Arial" pitchFamily="34" charset="0"/>
              <a:buChar char="•"/>
            </a:pPr>
            <a:r>
              <a:rPr lang="en-IN" dirty="0" err="1"/>
              <a:t>Postoder</a:t>
            </a:r>
            <a:r>
              <a:rPr lang="en-IN" dirty="0"/>
              <a:t> Traversal last node is root node</a:t>
            </a:r>
          </a:p>
          <a:p>
            <a:pPr marL="285750" indent="-285750">
              <a:buFont typeface="Arial" pitchFamily="34" charset="0"/>
              <a:buChar char="•"/>
            </a:pPr>
            <a:r>
              <a:rPr lang="en-IN" dirty="0"/>
              <a:t>Step 2: Find Left &amp; Right Sub Tree</a:t>
            </a:r>
          </a:p>
          <a:p>
            <a:pPr marL="742950" lvl="1" indent="-285750">
              <a:buFont typeface="Arial" pitchFamily="34" charset="0"/>
              <a:buChar char="•"/>
            </a:pPr>
            <a:r>
              <a:rPr lang="en-IN" dirty="0" err="1"/>
              <a:t>Inorder</a:t>
            </a:r>
            <a:r>
              <a:rPr lang="en-IN" dirty="0"/>
              <a:t> traversal gives Left and right sub tree</a:t>
            </a:r>
            <a:endParaRPr lang="en-US" dirty="0"/>
          </a:p>
        </p:txBody>
      </p:sp>
      <p:cxnSp>
        <p:nvCxnSpPr>
          <p:cNvPr id="8" name="Straight Connector 7"/>
          <p:cNvCxnSpPr/>
          <p:nvPr/>
        </p:nvCxnSpPr>
        <p:spPr>
          <a:xfrm>
            <a:off x="5096435" y="1226405"/>
            <a:ext cx="0" cy="1440597"/>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a:off x="1793330" y="1226404"/>
            <a:ext cx="8763000" cy="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a:off x="1819835" y="2667001"/>
            <a:ext cx="8763000" cy="0"/>
          </a:xfrm>
          <a:prstGeom prst="line">
            <a:avLst/>
          </a:prstGeom>
        </p:spPr>
        <p:style>
          <a:lnRef idx="2">
            <a:schemeClr val="dk1"/>
          </a:lnRef>
          <a:fillRef idx="0">
            <a:schemeClr val="dk1"/>
          </a:fillRef>
          <a:effectRef idx="1">
            <a:schemeClr val="dk1"/>
          </a:effectRef>
          <a:fontRef idx="minor">
            <a:schemeClr val="tx1"/>
          </a:fontRef>
        </p:style>
      </p:cxnSp>
      <p:sp>
        <p:nvSpPr>
          <p:cNvPr id="3" name="Oval 2"/>
          <p:cNvSpPr/>
          <p:nvPr/>
        </p:nvSpPr>
        <p:spPr>
          <a:xfrm>
            <a:off x="1625220" y="391757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7" name="Rounded Rectangle 6"/>
          <p:cNvSpPr/>
          <p:nvPr/>
        </p:nvSpPr>
        <p:spPr>
          <a:xfrm>
            <a:off x="1777620" y="4831979"/>
            <a:ext cx="14478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H,E,I,C,F</a:t>
            </a:r>
            <a:endParaRPr lang="en-US" sz="2400" b="1" dirty="0"/>
          </a:p>
        </p:txBody>
      </p:sp>
      <p:sp>
        <p:nvSpPr>
          <p:cNvPr id="14" name="Rounded Rectangle 13"/>
          <p:cNvSpPr/>
          <p:nvPr/>
        </p:nvSpPr>
        <p:spPr>
          <a:xfrm>
            <a:off x="654424" y="4821093"/>
            <a:ext cx="970797"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D,G,B</a:t>
            </a:r>
            <a:endParaRPr lang="en-US" sz="2400" b="1" dirty="0"/>
          </a:p>
        </p:txBody>
      </p:sp>
      <p:cxnSp>
        <p:nvCxnSpPr>
          <p:cNvPr id="17" name="Straight Arrow Connector 16"/>
          <p:cNvCxnSpPr>
            <a:stCxn id="3" idx="3"/>
            <a:endCxn id="14" idx="0"/>
          </p:cNvCxnSpPr>
          <p:nvPr/>
        </p:nvCxnSpPr>
        <p:spPr>
          <a:xfrm flipH="1">
            <a:off x="1139823" y="4396935"/>
            <a:ext cx="567641" cy="4241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3" idx="5"/>
            <a:endCxn id="7" idx="0"/>
          </p:cNvCxnSpPr>
          <p:nvPr/>
        </p:nvCxnSpPr>
        <p:spPr>
          <a:xfrm>
            <a:off x="2104576" y="4396935"/>
            <a:ext cx="396944" cy="4350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2" name="TextBox 21"/>
          <p:cNvSpPr txBox="1"/>
          <p:nvPr/>
        </p:nvSpPr>
        <p:spPr>
          <a:xfrm>
            <a:off x="234362" y="3285647"/>
            <a:ext cx="3281604" cy="415498"/>
          </a:xfrm>
          <a:prstGeom prst="rect">
            <a:avLst/>
          </a:prstGeom>
          <a:noFill/>
        </p:spPr>
        <p:txBody>
          <a:bodyPr wrap="none" rtlCol="0">
            <a:spAutoFit/>
          </a:bodyPr>
          <a:lstStyle/>
          <a:p>
            <a:r>
              <a:rPr lang="pt-BR" sz="2100" b="1" dirty="0"/>
              <a:t>Inorder     : </a:t>
            </a:r>
            <a:r>
              <a:rPr lang="pt-BR" sz="2100" dirty="0"/>
              <a:t>D G B A H E I C F </a:t>
            </a:r>
          </a:p>
        </p:txBody>
      </p:sp>
      <p:sp>
        <p:nvSpPr>
          <p:cNvPr id="23" name="TextBox 22"/>
          <p:cNvSpPr txBox="1"/>
          <p:nvPr/>
        </p:nvSpPr>
        <p:spPr>
          <a:xfrm>
            <a:off x="199736" y="2764975"/>
            <a:ext cx="3237938" cy="415498"/>
          </a:xfrm>
          <a:prstGeom prst="rect">
            <a:avLst/>
          </a:prstGeom>
          <a:noFill/>
        </p:spPr>
        <p:txBody>
          <a:bodyPr wrap="none" rtlCol="0">
            <a:spAutoFit/>
          </a:bodyPr>
          <a:lstStyle/>
          <a:p>
            <a:r>
              <a:rPr lang="pt-BR" sz="2100" b="1" dirty="0"/>
              <a:t>Postorder :</a:t>
            </a:r>
            <a:r>
              <a:rPr lang="pt-BR" sz="2100" dirty="0"/>
              <a:t> G D B H I E F C A</a:t>
            </a:r>
            <a:endParaRPr lang="en-US" sz="2100" dirty="0"/>
          </a:p>
        </p:txBody>
      </p:sp>
      <p:sp>
        <p:nvSpPr>
          <p:cNvPr id="24" name="TextBox 23"/>
          <p:cNvSpPr txBox="1"/>
          <p:nvPr/>
        </p:nvSpPr>
        <p:spPr>
          <a:xfrm>
            <a:off x="3039533" y="2764973"/>
            <a:ext cx="348172" cy="415498"/>
          </a:xfrm>
          <a:prstGeom prst="rect">
            <a:avLst/>
          </a:prstGeom>
          <a:noFill/>
        </p:spPr>
        <p:txBody>
          <a:bodyPr wrap="none" rtlCol="0">
            <a:spAutoFit/>
          </a:bodyPr>
          <a:lstStyle/>
          <a:p>
            <a:r>
              <a:rPr lang="pt-BR" sz="2100" b="1" dirty="0">
                <a:solidFill>
                  <a:srgbClr val="C00000"/>
                </a:solidFill>
              </a:rPr>
              <a:t>A</a:t>
            </a:r>
            <a:endParaRPr lang="en-US" sz="2100" b="1" dirty="0">
              <a:solidFill>
                <a:srgbClr val="C00000"/>
              </a:solidFill>
            </a:endParaRPr>
          </a:p>
        </p:txBody>
      </p:sp>
      <p:sp>
        <p:nvSpPr>
          <p:cNvPr id="25" name="TextBox 24"/>
          <p:cNvSpPr txBox="1"/>
          <p:nvPr/>
        </p:nvSpPr>
        <p:spPr>
          <a:xfrm>
            <a:off x="2089364" y="3285645"/>
            <a:ext cx="348172" cy="415498"/>
          </a:xfrm>
          <a:prstGeom prst="rect">
            <a:avLst/>
          </a:prstGeom>
          <a:noFill/>
        </p:spPr>
        <p:txBody>
          <a:bodyPr wrap="none" rtlCol="0">
            <a:spAutoFit/>
          </a:bodyPr>
          <a:lstStyle/>
          <a:p>
            <a:r>
              <a:rPr lang="pt-BR" sz="2100" b="1" dirty="0">
                <a:solidFill>
                  <a:srgbClr val="C00000"/>
                </a:solidFill>
              </a:rPr>
              <a:t>A</a:t>
            </a:r>
            <a:endParaRPr lang="en-US" sz="2100" b="1" dirty="0">
              <a:solidFill>
                <a:srgbClr val="C00000"/>
              </a:solidFill>
            </a:endParaRPr>
          </a:p>
        </p:txBody>
      </p:sp>
      <p:cxnSp>
        <p:nvCxnSpPr>
          <p:cNvPr id="27" name="Straight Connector 26"/>
          <p:cNvCxnSpPr/>
          <p:nvPr/>
        </p:nvCxnSpPr>
        <p:spPr>
          <a:xfrm flipH="1">
            <a:off x="1527842" y="3657601"/>
            <a:ext cx="556647"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p:nvPr/>
        </p:nvCxnSpPr>
        <p:spPr>
          <a:xfrm flipH="1">
            <a:off x="2420470" y="3657601"/>
            <a:ext cx="81839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1" name="Oval 20"/>
          <p:cNvSpPr/>
          <p:nvPr/>
        </p:nvSpPr>
        <p:spPr>
          <a:xfrm>
            <a:off x="5823265" y="303431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cxnSp>
        <p:nvCxnSpPr>
          <p:cNvPr id="26" name="Straight Arrow Connector 25"/>
          <p:cNvCxnSpPr>
            <a:stCxn id="21" idx="3"/>
            <a:endCxn id="30" idx="0"/>
          </p:cNvCxnSpPr>
          <p:nvPr/>
        </p:nvCxnSpPr>
        <p:spPr>
          <a:xfrm flipH="1">
            <a:off x="5285668" y="3513672"/>
            <a:ext cx="6198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21" idx="5"/>
            <a:endCxn id="33" idx="0"/>
          </p:cNvCxnSpPr>
          <p:nvPr/>
        </p:nvCxnSpPr>
        <p:spPr>
          <a:xfrm>
            <a:off x="6302621" y="3513672"/>
            <a:ext cx="5436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0" name="Oval 29"/>
          <p:cNvSpPr/>
          <p:nvPr/>
        </p:nvSpPr>
        <p:spPr>
          <a:xfrm>
            <a:off x="5004868" y="38072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1" name="Rounded Rectangle 30"/>
          <p:cNvSpPr/>
          <p:nvPr/>
        </p:nvSpPr>
        <p:spPr>
          <a:xfrm>
            <a:off x="4371008" y="4569207"/>
            <a:ext cx="710061"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D,G</a:t>
            </a:r>
            <a:endParaRPr lang="en-US" sz="2400" b="1" dirty="0"/>
          </a:p>
        </p:txBody>
      </p:sp>
      <p:cxnSp>
        <p:nvCxnSpPr>
          <p:cNvPr id="32" name="Straight Arrow Connector 31"/>
          <p:cNvCxnSpPr>
            <a:stCxn id="30" idx="3"/>
            <a:endCxn id="31" idx="0"/>
          </p:cNvCxnSpPr>
          <p:nvPr/>
        </p:nvCxnSpPr>
        <p:spPr>
          <a:xfrm flipH="1">
            <a:off x="4726039" y="4286563"/>
            <a:ext cx="361073" cy="2826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3" name="Oval 32"/>
          <p:cNvSpPr/>
          <p:nvPr/>
        </p:nvSpPr>
        <p:spPr>
          <a:xfrm>
            <a:off x="6565462" y="38072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4" name="Rounded Rectangle 33"/>
          <p:cNvSpPr/>
          <p:nvPr/>
        </p:nvSpPr>
        <p:spPr>
          <a:xfrm>
            <a:off x="5442737" y="4580087"/>
            <a:ext cx="1009931"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H,E,I</a:t>
            </a:r>
            <a:endParaRPr lang="en-US" sz="2400" b="1" dirty="0"/>
          </a:p>
        </p:txBody>
      </p:sp>
      <p:sp>
        <p:nvSpPr>
          <p:cNvPr id="35" name="Oval 34"/>
          <p:cNvSpPr/>
          <p:nvPr/>
        </p:nvSpPr>
        <p:spPr>
          <a:xfrm>
            <a:off x="7062268" y="461668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F</a:t>
            </a:r>
            <a:endParaRPr lang="en-US" sz="2400" b="1" dirty="0"/>
          </a:p>
        </p:txBody>
      </p:sp>
      <p:cxnSp>
        <p:nvCxnSpPr>
          <p:cNvPr id="36" name="Straight Arrow Connector 35"/>
          <p:cNvCxnSpPr>
            <a:stCxn id="33" idx="3"/>
            <a:endCxn id="34" idx="0"/>
          </p:cNvCxnSpPr>
          <p:nvPr/>
        </p:nvCxnSpPr>
        <p:spPr>
          <a:xfrm flipH="1">
            <a:off x="5947703" y="4286563"/>
            <a:ext cx="700003" cy="29352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a:stCxn id="33" idx="5"/>
            <a:endCxn id="35" idx="0"/>
          </p:cNvCxnSpPr>
          <p:nvPr/>
        </p:nvCxnSpPr>
        <p:spPr>
          <a:xfrm>
            <a:off x="7044818" y="4286563"/>
            <a:ext cx="298250" cy="33011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8" name="Oval 37"/>
          <p:cNvSpPr/>
          <p:nvPr/>
        </p:nvSpPr>
        <p:spPr>
          <a:xfrm>
            <a:off x="9828117" y="294446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cxnSp>
        <p:nvCxnSpPr>
          <p:cNvPr id="39" name="Straight Arrow Connector 38"/>
          <p:cNvCxnSpPr>
            <a:stCxn id="38" idx="3"/>
            <a:endCxn id="41" idx="0"/>
          </p:cNvCxnSpPr>
          <p:nvPr/>
        </p:nvCxnSpPr>
        <p:spPr>
          <a:xfrm flipH="1">
            <a:off x="9290520" y="3423823"/>
            <a:ext cx="6198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8" idx="5"/>
            <a:endCxn id="43" idx="0"/>
          </p:cNvCxnSpPr>
          <p:nvPr/>
        </p:nvCxnSpPr>
        <p:spPr>
          <a:xfrm>
            <a:off x="10307473" y="3423823"/>
            <a:ext cx="5436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1" name="Oval 40"/>
          <p:cNvSpPr/>
          <p:nvPr/>
        </p:nvSpPr>
        <p:spPr>
          <a:xfrm>
            <a:off x="9009720" y="371735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cxnSp>
        <p:nvCxnSpPr>
          <p:cNvPr id="42" name="Straight Arrow Connector 41"/>
          <p:cNvCxnSpPr>
            <a:stCxn id="41" idx="3"/>
            <a:endCxn id="47" idx="0"/>
          </p:cNvCxnSpPr>
          <p:nvPr/>
        </p:nvCxnSpPr>
        <p:spPr>
          <a:xfrm flipH="1">
            <a:off x="8661117" y="4196714"/>
            <a:ext cx="430847" cy="41548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Oval 42"/>
          <p:cNvSpPr/>
          <p:nvPr/>
        </p:nvSpPr>
        <p:spPr>
          <a:xfrm>
            <a:off x="10570314" y="371735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44" name="Oval 43"/>
          <p:cNvSpPr/>
          <p:nvPr/>
        </p:nvSpPr>
        <p:spPr>
          <a:xfrm>
            <a:off x="11067120" y="452683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F</a:t>
            </a:r>
            <a:endParaRPr lang="en-US" sz="2400" b="1" dirty="0"/>
          </a:p>
        </p:txBody>
      </p:sp>
      <p:cxnSp>
        <p:nvCxnSpPr>
          <p:cNvPr id="45" name="Straight Arrow Connector 44"/>
          <p:cNvCxnSpPr>
            <a:stCxn id="43" idx="3"/>
            <a:endCxn id="50" idx="0"/>
          </p:cNvCxnSpPr>
          <p:nvPr/>
        </p:nvCxnSpPr>
        <p:spPr>
          <a:xfrm flipH="1">
            <a:off x="10221711" y="4196714"/>
            <a:ext cx="430847" cy="3244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43" idx="5"/>
            <a:endCxn id="44" idx="0"/>
          </p:cNvCxnSpPr>
          <p:nvPr/>
        </p:nvCxnSpPr>
        <p:spPr>
          <a:xfrm>
            <a:off x="11049670" y="4196714"/>
            <a:ext cx="298250" cy="33011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7" name="Oval 46"/>
          <p:cNvSpPr/>
          <p:nvPr/>
        </p:nvSpPr>
        <p:spPr>
          <a:xfrm>
            <a:off x="8380317" y="46121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48" name="Oval 47"/>
          <p:cNvSpPr/>
          <p:nvPr/>
        </p:nvSpPr>
        <p:spPr>
          <a:xfrm>
            <a:off x="8834073" y="54503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G</a:t>
            </a:r>
            <a:endParaRPr lang="en-US" sz="2400" b="1" dirty="0"/>
          </a:p>
        </p:txBody>
      </p:sp>
      <p:cxnSp>
        <p:nvCxnSpPr>
          <p:cNvPr id="49" name="Straight Arrow Connector 48"/>
          <p:cNvCxnSpPr>
            <a:stCxn id="47" idx="5"/>
            <a:endCxn id="48" idx="0"/>
          </p:cNvCxnSpPr>
          <p:nvPr/>
        </p:nvCxnSpPr>
        <p:spPr>
          <a:xfrm>
            <a:off x="8859673" y="5091550"/>
            <a:ext cx="255200" cy="3588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0" name="Oval 49"/>
          <p:cNvSpPr/>
          <p:nvPr/>
        </p:nvSpPr>
        <p:spPr>
          <a:xfrm>
            <a:off x="9940911" y="452117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51" name="Oval 50"/>
          <p:cNvSpPr/>
          <p:nvPr/>
        </p:nvSpPr>
        <p:spPr>
          <a:xfrm>
            <a:off x="9447117" y="540095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a:t>
            </a:r>
            <a:endParaRPr lang="en-US" sz="2400" b="1" dirty="0"/>
          </a:p>
        </p:txBody>
      </p:sp>
      <p:sp>
        <p:nvSpPr>
          <p:cNvPr id="52" name="Oval 51"/>
          <p:cNvSpPr/>
          <p:nvPr/>
        </p:nvSpPr>
        <p:spPr>
          <a:xfrm>
            <a:off x="10394667" y="543902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a:t>
            </a:r>
            <a:endParaRPr lang="en-US" sz="2400" b="1" dirty="0"/>
          </a:p>
        </p:txBody>
      </p:sp>
      <p:cxnSp>
        <p:nvCxnSpPr>
          <p:cNvPr id="53" name="Straight Arrow Connector 52"/>
          <p:cNvCxnSpPr>
            <a:stCxn id="50" idx="3"/>
            <a:endCxn id="51" idx="0"/>
          </p:cNvCxnSpPr>
          <p:nvPr/>
        </p:nvCxnSpPr>
        <p:spPr>
          <a:xfrm flipH="1">
            <a:off x="9727917" y="5000528"/>
            <a:ext cx="295238" cy="40042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 name="Straight Arrow Connector 53"/>
          <p:cNvCxnSpPr>
            <a:stCxn id="50" idx="5"/>
            <a:endCxn id="52" idx="0"/>
          </p:cNvCxnSpPr>
          <p:nvPr/>
        </p:nvCxnSpPr>
        <p:spPr>
          <a:xfrm>
            <a:off x="10420267" y="5000528"/>
            <a:ext cx="255200" cy="43849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36378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righ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3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4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4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4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47"/>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4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53"/>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54"/>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 grpId="0" animBg="1"/>
      <p:bldP spid="7" grpId="0" animBg="1"/>
      <p:bldP spid="14" grpId="0" animBg="1"/>
      <p:bldP spid="22" grpId="0"/>
      <p:bldP spid="23" grpId="0"/>
      <p:bldP spid="24" grpId="0"/>
      <p:bldP spid="25" grpId="0"/>
      <p:bldP spid="21" grpId="0" animBg="1"/>
      <p:bldP spid="30" grpId="0" animBg="1"/>
      <p:bldP spid="31" grpId="0" animBg="1"/>
      <p:bldP spid="33" grpId="0" animBg="1"/>
      <p:bldP spid="34" grpId="0" animBg="1"/>
      <p:bldP spid="35" grpId="0" animBg="1"/>
      <p:bldP spid="38" grpId="0" animBg="1"/>
      <p:bldP spid="41" grpId="0" animBg="1"/>
      <p:bldP spid="43" grpId="0" animBg="1"/>
      <p:bldP spid="44" grpId="0" animBg="1"/>
      <p:bldP spid="47" grpId="0" animBg="1"/>
      <p:bldP spid="48" grpId="0" animBg="1"/>
      <p:bldP spid="50" grpId="0" animBg="1"/>
      <p:bldP spid="51" grpId="0" animBg="1"/>
      <p:bldP spid="5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Construct Binary Tree from Traversal</a:t>
            </a:r>
            <a:endParaRPr lang="en-US" dirty="0"/>
          </a:p>
        </p:txBody>
      </p:sp>
      <p:sp>
        <p:nvSpPr>
          <p:cNvPr id="4" name="TextBox 3"/>
          <p:cNvSpPr txBox="1"/>
          <p:nvPr/>
        </p:nvSpPr>
        <p:spPr>
          <a:xfrm>
            <a:off x="6221414" y="826117"/>
            <a:ext cx="3913187" cy="415498"/>
          </a:xfrm>
          <a:prstGeom prst="rect">
            <a:avLst/>
          </a:prstGeom>
          <a:noFill/>
        </p:spPr>
        <p:txBody>
          <a:bodyPr wrap="none" rtlCol="0">
            <a:spAutoFit/>
          </a:bodyPr>
          <a:lstStyle/>
          <a:p>
            <a:r>
              <a:rPr lang="pt-BR" sz="2100" b="1" dirty="0"/>
              <a:t>Inorder   : </a:t>
            </a:r>
            <a:r>
              <a:rPr lang="pt-BR" sz="2100" dirty="0"/>
              <a:t>Q B K C F A G P E D  H R</a:t>
            </a:r>
          </a:p>
        </p:txBody>
      </p:sp>
      <p:sp>
        <p:nvSpPr>
          <p:cNvPr id="5" name="TextBox 4"/>
          <p:cNvSpPr txBox="1"/>
          <p:nvPr/>
        </p:nvSpPr>
        <p:spPr>
          <a:xfrm>
            <a:off x="1920358" y="826117"/>
            <a:ext cx="3947043" cy="415498"/>
          </a:xfrm>
          <a:prstGeom prst="rect">
            <a:avLst/>
          </a:prstGeom>
          <a:noFill/>
        </p:spPr>
        <p:txBody>
          <a:bodyPr wrap="none" rtlCol="0">
            <a:spAutoFit/>
          </a:bodyPr>
          <a:lstStyle/>
          <a:p>
            <a:r>
              <a:rPr lang="pt-BR" sz="2100" b="1" dirty="0"/>
              <a:t>Preorder : </a:t>
            </a:r>
            <a:r>
              <a:rPr lang="pt-BR" sz="2100" dirty="0"/>
              <a:t>G B Q A C K F P D  E R H</a:t>
            </a:r>
            <a:endParaRPr lang="en-US" sz="2100" dirty="0"/>
          </a:p>
        </p:txBody>
      </p:sp>
      <p:cxnSp>
        <p:nvCxnSpPr>
          <p:cNvPr id="6" name="Straight Connector 5"/>
          <p:cNvCxnSpPr/>
          <p:nvPr/>
        </p:nvCxnSpPr>
        <p:spPr>
          <a:xfrm>
            <a:off x="1752600" y="1317813"/>
            <a:ext cx="8686800" cy="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p:cNvCxnSpPr/>
          <p:nvPr/>
        </p:nvCxnSpPr>
        <p:spPr>
          <a:xfrm>
            <a:off x="6019800" y="749915"/>
            <a:ext cx="0" cy="567898"/>
          </a:xfrm>
          <a:prstGeom prst="line">
            <a:avLst/>
          </a:prstGeom>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3058417" y="826115"/>
            <a:ext cx="341760" cy="415498"/>
          </a:xfrm>
          <a:prstGeom prst="rect">
            <a:avLst/>
          </a:prstGeom>
          <a:noFill/>
        </p:spPr>
        <p:txBody>
          <a:bodyPr wrap="none" rtlCol="0">
            <a:spAutoFit/>
          </a:bodyPr>
          <a:lstStyle/>
          <a:p>
            <a:pPr algn="ctr"/>
            <a:r>
              <a:rPr lang="pt-BR" sz="2100" b="1" dirty="0">
                <a:solidFill>
                  <a:srgbClr val="C00000"/>
                </a:solidFill>
              </a:rPr>
              <a:t>G</a:t>
            </a:r>
            <a:endParaRPr lang="en-US" sz="2100" b="1" dirty="0">
              <a:solidFill>
                <a:srgbClr val="C00000"/>
              </a:solidFill>
            </a:endParaRPr>
          </a:p>
        </p:txBody>
      </p:sp>
      <p:sp>
        <p:nvSpPr>
          <p:cNvPr id="9" name="TextBox 8"/>
          <p:cNvSpPr txBox="1"/>
          <p:nvPr/>
        </p:nvSpPr>
        <p:spPr>
          <a:xfrm>
            <a:off x="8557752" y="827872"/>
            <a:ext cx="341760" cy="415498"/>
          </a:xfrm>
          <a:prstGeom prst="rect">
            <a:avLst/>
          </a:prstGeom>
          <a:noFill/>
        </p:spPr>
        <p:txBody>
          <a:bodyPr wrap="none" rtlCol="0">
            <a:spAutoFit/>
          </a:bodyPr>
          <a:lstStyle/>
          <a:p>
            <a:pPr algn="ctr"/>
            <a:r>
              <a:rPr lang="pt-BR" sz="2100" b="1" dirty="0">
                <a:solidFill>
                  <a:srgbClr val="C00000"/>
                </a:solidFill>
              </a:rPr>
              <a:t>G</a:t>
            </a:r>
            <a:endParaRPr lang="en-US" sz="2100" b="1" dirty="0">
              <a:solidFill>
                <a:srgbClr val="C00000"/>
              </a:solidFill>
            </a:endParaRPr>
          </a:p>
        </p:txBody>
      </p:sp>
      <p:cxnSp>
        <p:nvCxnSpPr>
          <p:cNvPr id="11" name="Straight Connector 10"/>
          <p:cNvCxnSpPr/>
          <p:nvPr/>
        </p:nvCxnSpPr>
        <p:spPr>
          <a:xfrm flipH="1">
            <a:off x="7454153" y="1241613"/>
            <a:ext cx="113515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p:nvPr/>
        </p:nvCxnSpPr>
        <p:spPr>
          <a:xfrm flipH="1">
            <a:off x="8910439" y="1241613"/>
            <a:ext cx="100452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15" name="Oval 14"/>
          <p:cNvSpPr/>
          <p:nvPr/>
        </p:nvSpPr>
        <p:spPr>
          <a:xfrm>
            <a:off x="1588869" y="15733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G</a:t>
            </a:r>
            <a:endParaRPr lang="en-US" sz="2400" b="1" dirty="0"/>
          </a:p>
        </p:txBody>
      </p:sp>
      <p:sp>
        <p:nvSpPr>
          <p:cNvPr id="16" name="Rounded Rectangle 15"/>
          <p:cNvSpPr/>
          <p:nvPr/>
        </p:nvSpPr>
        <p:spPr>
          <a:xfrm>
            <a:off x="284861" y="2489633"/>
            <a:ext cx="14400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Q B K C F A</a:t>
            </a:r>
          </a:p>
        </p:txBody>
      </p:sp>
      <p:sp>
        <p:nvSpPr>
          <p:cNvPr id="17" name="Rounded Rectangle 16"/>
          <p:cNvSpPr/>
          <p:nvPr/>
        </p:nvSpPr>
        <p:spPr>
          <a:xfrm>
            <a:off x="1985687" y="2489633"/>
            <a:ext cx="14400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t>P E D  H R</a:t>
            </a:r>
            <a:endParaRPr lang="en-US" sz="2000" b="1" dirty="0"/>
          </a:p>
        </p:txBody>
      </p:sp>
      <p:cxnSp>
        <p:nvCxnSpPr>
          <p:cNvPr id="19" name="Straight Arrow Connector 18"/>
          <p:cNvCxnSpPr>
            <a:stCxn id="15" idx="3"/>
            <a:endCxn id="16" idx="0"/>
          </p:cNvCxnSpPr>
          <p:nvPr/>
        </p:nvCxnSpPr>
        <p:spPr>
          <a:xfrm flipH="1">
            <a:off x="1004861" y="2052663"/>
            <a:ext cx="666252" cy="43697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15" idx="5"/>
            <a:endCxn id="17" idx="0"/>
          </p:cNvCxnSpPr>
          <p:nvPr/>
        </p:nvCxnSpPr>
        <p:spPr>
          <a:xfrm>
            <a:off x="2068225" y="2052663"/>
            <a:ext cx="637462" cy="43697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2" name="Oval 21"/>
          <p:cNvSpPr/>
          <p:nvPr/>
        </p:nvSpPr>
        <p:spPr>
          <a:xfrm>
            <a:off x="1548480" y="357243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G</a:t>
            </a:r>
            <a:endParaRPr lang="en-US" sz="2400" b="1" dirty="0"/>
          </a:p>
        </p:txBody>
      </p:sp>
      <p:sp>
        <p:nvSpPr>
          <p:cNvPr id="27" name="Rounded Rectangle 26"/>
          <p:cNvSpPr/>
          <p:nvPr/>
        </p:nvSpPr>
        <p:spPr>
          <a:xfrm>
            <a:off x="1101718" y="5353857"/>
            <a:ext cx="10800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K C F A</a:t>
            </a:r>
          </a:p>
        </p:txBody>
      </p:sp>
      <p:sp>
        <p:nvSpPr>
          <p:cNvPr id="28" name="Oval 27"/>
          <p:cNvSpPr/>
          <p:nvPr/>
        </p:nvSpPr>
        <p:spPr>
          <a:xfrm>
            <a:off x="802346" y="43461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0" name="Oval 29"/>
          <p:cNvSpPr/>
          <p:nvPr/>
        </p:nvSpPr>
        <p:spPr>
          <a:xfrm>
            <a:off x="309288" y="51663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Q</a:t>
            </a:r>
            <a:endParaRPr lang="en-US" sz="2400" b="1" dirty="0"/>
          </a:p>
        </p:txBody>
      </p:sp>
      <p:cxnSp>
        <p:nvCxnSpPr>
          <p:cNvPr id="32" name="Straight Arrow Connector 31"/>
          <p:cNvCxnSpPr>
            <a:stCxn id="28" idx="3"/>
            <a:endCxn id="30" idx="0"/>
          </p:cNvCxnSpPr>
          <p:nvPr/>
        </p:nvCxnSpPr>
        <p:spPr>
          <a:xfrm flipH="1">
            <a:off x="590088" y="4825545"/>
            <a:ext cx="294502" cy="3407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4" name="Straight Arrow Connector 33"/>
          <p:cNvCxnSpPr>
            <a:stCxn id="28" idx="5"/>
            <a:endCxn id="27" idx="0"/>
          </p:cNvCxnSpPr>
          <p:nvPr/>
        </p:nvCxnSpPr>
        <p:spPr>
          <a:xfrm>
            <a:off x="1281702" y="4825545"/>
            <a:ext cx="360016" cy="52831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5" name="Rounded Rectangle 34"/>
          <p:cNvSpPr/>
          <p:nvPr/>
        </p:nvSpPr>
        <p:spPr>
          <a:xfrm>
            <a:off x="2465298" y="5353857"/>
            <a:ext cx="10800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t>E D  H R</a:t>
            </a:r>
            <a:endParaRPr lang="en-US" sz="2000" b="1" dirty="0"/>
          </a:p>
        </p:txBody>
      </p:sp>
      <p:sp>
        <p:nvSpPr>
          <p:cNvPr id="36" name="Oval 35"/>
          <p:cNvSpPr/>
          <p:nvPr/>
        </p:nvSpPr>
        <p:spPr>
          <a:xfrm>
            <a:off x="2281522" y="437340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P</a:t>
            </a:r>
            <a:endParaRPr lang="en-US" sz="2400" b="1" dirty="0"/>
          </a:p>
        </p:txBody>
      </p:sp>
      <p:cxnSp>
        <p:nvCxnSpPr>
          <p:cNvPr id="39" name="Straight Arrow Connector 38"/>
          <p:cNvCxnSpPr>
            <a:stCxn id="36" idx="5"/>
            <a:endCxn id="35" idx="0"/>
          </p:cNvCxnSpPr>
          <p:nvPr/>
        </p:nvCxnSpPr>
        <p:spPr>
          <a:xfrm>
            <a:off x="2760878" y="4852759"/>
            <a:ext cx="244420" cy="50109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0" name="Oval 39"/>
          <p:cNvSpPr/>
          <p:nvPr/>
        </p:nvSpPr>
        <p:spPr>
          <a:xfrm>
            <a:off x="5453198" y="16495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G</a:t>
            </a:r>
            <a:endParaRPr lang="en-US" sz="2400" b="1" dirty="0"/>
          </a:p>
        </p:txBody>
      </p:sp>
      <p:cxnSp>
        <p:nvCxnSpPr>
          <p:cNvPr id="41" name="Straight Arrow Connector 40"/>
          <p:cNvCxnSpPr>
            <a:stCxn id="40" idx="3"/>
            <a:endCxn id="44" idx="0"/>
          </p:cNvCxnSpPr>
          <p:nvPr/>
        </p:nvCxnSpPr>
        <p:spPr>
          <a:xfrm flipH="1">
            <a:off x="5076918" y="2128863"/>
            <a:ext cx="458524" cy="23333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40" idx="5"/>
            <a:endCxn id="49" idx="0"/>
          </p:cNvCxnSpPr>
          <p:nvPr/>
        </p:nvCxnSpPr>
        <p:spPr>
          <a:xfrm>
            <a:off x="5932554" y="2128863"/>
            <a:ext cx="426910" cy="23333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4" name="Oval 43"/>
          <p:cNvSpPr/>
          <p:nvPr/>
        </p:nvSpPr>
        <p:spPr>
          <a:xfrm>
            <a:off x="4796118" y="23622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45" name="Oval 44"/>
          <p:cNvSpPr/>
          <p:nvPr/>
        </p:nvSpPr>
        <p:spPr>
          <a:xfrm>
            <a:off x="4356848" y="333026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Q</a:t>
            </a:r>
            <a:endParaRPr lang="en-US" sz="2400" b="1" dirty="0"/>
          </a:p>
        </p:txBody>
      </p:sp>
      <p:cxnSp>
        <p:nvCxnSpPr>
          <p:cNvPr id="46" name="Straight Arrow Connector 45"/>
          <p:cNvCxnSpPr>
            <a:stCxn id="44" idx="3"/>
            <a:endCxn id="45" idx="0"/>
          </p:cNvCxnSpPr>
          <p:nvPr/>
        </p:nvCxnSpPr>
        <p:spPr>
          <a:xfrm flipH="1">
            <a:off x="4637648" y="2841556"/>
            <a:ext cx="240714" cy="48870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 name="Straight Arrow Connector 46"/>
          <p:cNvCxnSpPr>
            <a:stCxn id="44" idx="5"/>
            <a:endCxn id="53" idx="0"/>
          </p:cNvCxnSpPr>
          <p:nvPr/>
        </p:nvCxnSpPr>
        <p:spPr>
          <a:xfrm>
            <a:off x="5275474" y="2841556"/>
            <a:ext cx="246525" cy="48870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9" name="Oval 48"/>
          <p:cNvSpPr/>
          <p:nvPr/>
        </p:nvSpPr>
        <p:spPr>
          <a:xfrm>
            <a:off x="6078664" y="23622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P</a:t>
            </a:r>
            <a:endParaRPr lang="en-US" sz="2400" b="1" dirty="0"/>
          </a:p>
        </p:txBody>
      </p:sp>
      <p:cxnSp>
        <p:nvCxnSpPr>
          <p:cNvPr id="50" name="Straight Arrow Connector 49"/>
          <p:cNvCxnSpPr>
            <a:stCxn id="49" idx="5"/>
            <a:endCxn id="56" idx="0"/>
          </p:cNvCxnSpPr>
          <p:nvPr/>
        </p:nvCxnSpPr>
        <p:spPr>
          <a:xfrm>
            <a:off x="6558020" y="2841556"/>
            <a:ext cx="263126" cy="3991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2" name="Rounded Rectangle 51"/>
          <p:cNvSpPr/>
          <p:nvPr/>
        </p:nvSpPr>
        <p:spPr>
          <a:xfrm>
            <a:off x="4667278" y="4316503"/>
            <a:ext cx="801786"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K C F</a:t>
            </a:r>
          </a:p>
        </p:txBody>
      </p:sp>
      <p:sp>
        <p:nvSpPr>
          <p:cNvPr id="53" name="Oval 52"/>
          <p:cNvSpPr/>
          <p:nvPr/>
        </p:nvSpPr>
        <p:spPr>
          <a:xfrm>
            <a:off x="5241199" y="333026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55" name="Rounded Rectangle 54"/>
          <p:cNvSpPr/>
          <p:nvPr/>
        </p:nvSpPr>
        <p:spPr>
          <a:xfrm>
            <a:off x="6983505" y="4316503"/>
            <a:ext cx="679344"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t>H R</a:t>
            </a:r>
            <a:endParaRPr lang="en-US" sz="2000" b="1" dirty="0"/>
          </a:p>
        </p:txBody>
      </p:sp>
      <p:sp>
        <p:nvSpPr>
          <p:cNvPr id="56" name="Oval 55"/>
          <p:cNvSpPr/>
          <p:nvPr/>
        </p:nvSpPr>
        <p:spPr>
          <a:xfrm>
            <a:off x="6540346" y="32407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cxnSp>
        <p:nvCxnSpPr>
          <p:cNvPr id="59" name="Straight Arrow Connector 58"/>
          <p:cNvCxnSpPr>
            <a:stCxn id="53" idx="3"/>
            <a:endCxn id="52" idx="0"/>
          </p:cNvCxnSpPr>
          <p:nvPr/>
        </p:nvCxnSpPr>
        <p:spPr>
          <a:xfrm flipH="1">
            <a:off x="5068171" y="3809618"/>
            <a:ext cx="255272" cy="50688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4" name="Straight Arrow Connector 63"/>
          <p:cNvCxnSpPr>
            <a:stCxn id="56" idx="5"/>
            <a:endCxn id="55" idx="0"/>
          </p:cNvCxnSpPr>
          <p:nvPr/>
        </p:nvCxnSpPr>
        <p:spPr>
          <a:xfrm>
            <a:off x="7019702" y="3720096"/>
            <a:ext cx="303475" cy="59640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5" name="Oval 64"/>
          <p:cNvSpPr/>
          <p:nvPr/>
        </p:nvSpPr>
        <p:spPr>
          <a:xfrm>
            <a:off x="9678132" y="152848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G</a:t>
            </a:r>
            <a:endParaRPr lang="en-US" sz="2400" b="1" dirty="0"/>
          </a:p>
        </p:txBody>
      </p:sp>
      <p:cxnSp>
        <p:nvCxnSpPr>
          <p:cNvPr id="66" name="Straight Arrow Connector 65"/>
          <p:cNvCxnSpPr>
            <a:stCxn id="65" idx="3"/>
            <a:endCxn id="68" idx="7"/>
          </p:cNvCxnSpPr>
          <p:nvPr/>
        </p:nvCxnSpPr>
        <p:spPr>
          <a:xfrm flipH="1">
            <a:off x="9364112" y="2007842"/>
            <a:ext cx="396264" cy="3066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7" name="Straight Arrow Connector 66"/>
          <p:cNvCxnSpPr>
            <a:stCxn id="65" idx="5"/>
            <a:endCxn id="72" idx="1"/>
          </p:cNvCxnSpPr>
          <p:nvPr/>
        </p:nvCxnSpPr>
        <p:spPr>
          <a:xfrm>
            <a:off x="10157488" y="2007842"/>
            <a:ext cx="288688" cy="3066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8" name="Oval 67"/>
          <p:cNvSpPr/>
          <p:nvPr/>
        </p:nvSpPr>
        <p:spPr>
          <a:xfrm>
            <a:off x="8884756" y="223221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69" name="Oval 68"/>
          <p:cNvSpPr/>
          <p:nvPr/>
        </p:nvSpPr>
        <p:spPr>
          <a:xfrm>
            <a:off x="8400662"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Q</a:t>
            </a:r>
            <a:endParaRPr lang="en-US" sz="2400" b="1" dirty="0"/>
          </a:p>
        </p:txBody>
      </p:sp>
      <p:cxnSp>
        <p:nvCxnSpPr>
          <p:cNvPr id="70" name="Straight Arrow Connector 69"/>
          <p:cNvCxnSpPr>
            <a:stCxn id="68" idx="3"/>
            <a:endCxn id="69" idx="0"/>
          </p:cNvCxnSpPr>
          <p:nvPr/>
        </p:nvCxnSpPr>
        <p:spPr>
          <a:xfrm flipH="1">
            <a:off x="8681462" y="2711571"/>
            <a:ext cx="285538"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a:stCxn id="68" idx="5"/>
            <a:endCxn id="75" idx="0"/>
          </p:cNvCxnSpPr>
          <p:nvPr/>
        </p:nvCxnSpPr>
        <p:spPr>
          <a:xfrm>
            <a:off x="9364112" y="2711571"/>
            <a:ext cx="213820"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2" name="Oval 71"/>
          <p:cNvSpPr/>
          <p:nvPr/>
        </p:nvSpPr>
        <p:spPr>
          <a:xfrm>
            <a:off x="10363932" y="223221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P</a:t>
            </a:r>
            <a:endParaRPr lang="en-US" sz="2400" b="1" dirty="0"/>
          </a:p>
        </p:txBody>
      </p:sp>
      <p:cxnSp>
        <p:nvCxnSpPr>
          <p:cNvPr id="73" name="Straight Arrow Connector 72"/>
          <p:cNvCxnSpPr>
            <a:stCxn id="72" idx="5"/>
            <a:endCxn id="77" idx="0"/>
          </p:cNvCxnSpPr>
          <p:nvPr/>
        </p:nvCxnSpPr>
        <p:spPr>
          <a:xfrm>
            <a:off x="10843288" y="2711571"/>
            <a:ext cx="191408"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5" name="Oval 74"/>
          <p:cNvSpPr/>
          <p:nvPr/>
        </p:nvSpPr>
        <p:spPr>
          <a:xfrm>
            <a:off x="9297132"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77" name="Oval 76"/>
          <p:cNvSpPr/>
          <p:nvPr/>
        </p:nvSpPr>
        <p:spPr>
          <a:xfrm>
            <a:off x="10753896"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cxnSp>
        <p:nvCxnSpPr>
          <p:cNvPr id="78" name="Straight Arrow Connector 77"/>
          <p:cNvCxnSpPr>
            <a:stCxn id="75" idx="3"/>
            <a:endCxn id="89" idx="0"/>
          </p:cNvCxnSpPr>
          <p:nvPr/>
        </p:nvCxnSpPr>
        <p:spPr>
          <a:xfrm flipH="1">
            <a:off x="8990744" y="3627781"/>
            <a:ext cx="388632"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9" name="Straight Arrow Connector 78"/>
          <p:cNvCxnSpPr>
            <a:stCxn id="77" idx="5"/>
            <a:endCxn id="104" idx="0"/>
          </p:cNvCxnSpPr>
          <p:nvPr/>
        </p:nvCxnSpPr>
        <p:spPr>
          <a:xfrm>
            <a:off x="11233252" y="3627781"/>
            <a:ext cx="460349"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6" name="Straight Arrow Connector 85"/>
          <p:cNvCxnSpPr>
            <a:stCxn id="22" idx="3"/>
            <a:endCxn id="28" idx="7"/>
          </p:cNvCxnSpPr>
          <p:nvPr/>
        </p:nvCxnSpPr>
        <p:spPr>
          <a:xfrm flipH="1">
            <a:off x="1281702" y="4051794"/>
            <a:ext cx="349022" cy="37663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8" name="Straight Arrow Connector 87"/>
          <p:cNvCxnSpPr>
            <a:stCxn id="22" idx="5"/>
            <a:endCxn id="36" idx="1"/>
          </p:cNvCxnSpPr>
          <p:nvPr/>
        </p:nvCxnSpPr>
        <p:spPr>
          <a:xfrm>
            <a:off x="2027836" y="4051794"/>
            <a:ext cx="335930" cy="403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9" name="Oval 88"/>
          <p:cNvSpPr/>
          <p:nvPr/>
        </p:nvSpPr>
        <p:spPr>
          <a:xfrm>
            <a:off x="8709944"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91" name="Oval 90"/>
          <p:cNvSpPr/>
          <p:nvPr/>
        </p:nvSpPr>
        <p:spPr>
          <a:xfrm>
            <a:off x="8176544"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K</a:t>
            </a:r>
            <a:endParaRPr lang="en-US" sz="2400" b="1" dirty="0"/>
          </a:p>
        </p:txBody>
      </p:sp>
      <p:sp>
        <p:nvSpPr>
          <p:cNvPr id="92" name="Oval 91"/>
          <p:cNvSpPr/>
          <p:nvPr/>
        </p:nvSpPr>
        <p:spPr>
          <a:xfrm>
            <a:off x="9243344"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F</a:t>
            </a:r>
            <a:endParaRPr lang="en-US" sz="2400" b="1" dirty="0"/>
          </a:p>
        </p:txBody>
      </p:sp>
      <p:cxnSp>
        <p:nvCxnSpPr>
          <p:cNvPr id="94" name="Straight Arrow Connector 93"/>
          <p:cNvCxnSpPr>
            <a:stCxn id="89" idx="3"/>
            <a:endCxn id="91" idx="0"/>
          </p:cNvCxnSpPr>
          <p:nvPr/>
        </p:nvCxnSpPr>
        <p:spPr>
          <a:xfrm flipH="1">
            <a:off x="8457344" y="4497911"/>
            <a:ext cx="33484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6" name="Straight Arrow Connector 95"/>
          <p:cNvCxnSpPr>
            <a:stCxn id="89" idx="5"/>
            <a:endCxn id="92" idx="0"/>
          </p:cNvCxnSpPr>
          <p:nvPr/>
        </p:nvCxnSpPr>
        <p:spPr>
          <a:xfrm>
            <a:off x="9189300" y="4497911"/>
            <a:ext cx="33484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8" name="Oval 97"/>
          <p:cNvSpPr/>
          <p:nvPr/>
        </p:nvSpPr>
        <p:spPr>
          <a:xfrm>
            <a:off x="5939118" y="42181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cxnSp>
        <p:nvCxnSpPr>
          <p:cNvPr id="100" name="Straight Arrow Connector 99"/>
          <p:cNvCxnSpPr>
            <a:stCxn id="56" idx="3"/>
            <a:endCxn id="98" idx="0"/>
          </p:cNvCxnSpPr>
          <p:nvPr/>
        </p:nvCxnSpPr>
        <p:spPr>
          <a:xfrm flipH="1">
            <a:off x="6219918" y="3720096"/>
            <a:ext cx="402672" cy="4980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1" name="Oval 100"/>
          <p:cNvSpPr/>
          <p:nvPr/>
        </p:nvSpPr>
        <p:spPr>
          <a:xfrm>
            <a:off x="10115292"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cxnSp>
        <p:nvCxnSpPr>
          <p:cNvPr id="103" name="Straight Arrow Connector 102"/>
          <p:cNvCxnSpPr>
            <a:stCxn id="77" idx="3"/>
            <a:endCxn id="101" idx="0"/>
          </p:cNvCxnSpPr>
          <p:nvPr/>
        </p:nvCxnSpPr>
        <p:spPr>
          <a:xfrm flipH="1">
            <a:off x="10396092" y="3627781"/>
            <a:ext cx="440048"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4" name="Oval 103"/>
          <p:cNvSpPr/>
          <p:nvPr/>
        </p:nvSpPr>
        <p:spPr>
          <a:xfrm>
            <a:off x="11412801"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R</a:t>
            </a:r>
            <a:endParaRPr lang="en-US" sz="2400" b="1" dirty="0"/>
          </a:p>
        </p:txBody>
      </p:sp>
      <p:sp>
        <p:nvSpPr>
          <p:cNvPr id="106" name="Oval 105"/>
          <p:cNvSpPr/>
          <p:nvPr/>
        </p:nvSpPr>
        <p:spPr>
          <a:xfrm>
            <a:off x="10887631"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a:t>
            </a:r>
            <a:endParaRPr lang="en-US" sz="2400" b="1" dirty="0"/>
          </a:p>
        </p:txBody>
      </p:sp>
      <p:cxnSp>
        <p:nvCxnSpPr>
          <p:cNvPr id="108" name="Straight Arrow Connector 107"/>
          <p:cNvCxnSpPr>
            <a:stCxn id="104" idx="3"/>
            <a:endCxn id="106" idx="0"/>
          </p:cNvCxnSpPr>
          <p:nvPr/>
        </p:nvCxnSpPr>
        <p:spPr>
          <a:xfrm flipH="1">
            <a:off x="11168431" y="4497911"/>
            <a:ext cx="32661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0" name="Straight Connector 109"/>
          <p:cNvCxnSpPr/>
          <p:nvPr/>
        </p:nvCxnSpPr>
        <p:spPr>
          <a:xfrm>
            <a:off x="174812" y="3160061"/>
            <a:ext cx="3845861" cy="0"/>
          </a:xfrm>
          <a:prstGeom prst="line">
            <a:avLst/>
          </a:prstGeom>
        </p:spPr>
        <p:style>
          <a:lnRef idx="2">
            <a:schemeClr val="dk1"/>
          </a:lnRef>
          <a:fillRef idx="0">
            <a:schemeClr val="dk1"/>
          </a:fillRef>
          <a:effectRef idx="1">
            <a:schemeClr val="dk1"/>
          </a:effectRef>
          <a:fontRef idx="minor">
            <a:schemeClr val="tx1"/>
          </a:fontRef>
        </p:style>
      </p:cxnSp>
      <p:cxnSp>
        <p:nvCxnSpPr>
          <p:cNvPr id="112" name="Straight Connector 111"/>
          <p:cNvCxnSpPr/>
          <p:nvPr/>
        </p:nvCxnSpPr>
        <p:spPr>
          <a:xfrm>
            <a:off x="4020672" y="1519518"/>
            <a:ext cx="0" cy="4680000"/>
          </a:xfrm>
          <a:prstGeom prst="line">
            <a:avLst/>
          </a:prstGeom>
        </p:spPr>
        <p:style>
          <a:lnRef idx="2">
            <a:schemeClr val="dk1"/>
          </a:lnRef>
          <a:fillRef idx="0">
            <a:schemeClr val="dk1"/>
          </a:fillRef>
          <a:effectRef idx="1">
            <a:schemeClr val="dk1"/>
          </a:effectRef>
          <a:fontRef idx="minor">
            <a:schemeClr val="tx1"/>
          </a:fontRef>
        </p:style>
      </p:cxnSp>
      <p:cxnSp>
        <p:nvCxnSpPr>
          <p:cNvPr id="124" name="Straight Connector 123"/>
          <p:cNvCxnSpPr/>
          <p:nvPr/>
        </p:nvCxnSpPr>
        <p:spPr>
          <a:xfrm flipV="1">
            <a:off x="7808804" y="1519518"/>
            <a:ext cx="0" cy="4680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1636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righ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right)">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wipe(left)">
                                      <p:cBhvr>
                                        <p:cTn id="86" dur="500"/>
                                        <p:tgtEl>
                                          <p:spTgt spid="34"/>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left)">
                                      <p:cBhvr>
                                        <p:cTn id="99" dur="500"/>
                                        <p:tgtEl>
                                          <p:spTgt spid="39"/>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1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41"/>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42"/>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4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8" dur="500"/>
                                        <p:tgtEl>
                                          <p:spTgt spid="47"/>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5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nodeType="click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wipe(right)">
                                      <p:cBhvr>
                                        <p:cTn id="137" dur="500"/>
                                        <p:tgtEl>
                                          <p:spTgt spid="59"/>
                                        </p:tgtEl>
                                      </p:cBhvr>
                                    </p:animEffec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52"/>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50"/>
                                        </p:tgtEl>
                                        <p:attrNameLst>
                                          <p:attrName>style.visibility</p:attrName>
                                        </p:attrNameLst>
                                      </p:cBhvr>
                                      <p:to>
                                        <p:strVal val="visible"/>
                                      </p:to>
                                    </p:set>
                                    <p:animEffect transition="in" filter="wipe(left)">
                                      <p:cBhvr>
                                        <p:cTn id="146" dur="500"/>
                                        <p:tgtEl>
                                          <p:spTgt spid="50"/>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nodeType="clickEffect">
                                  <p:stCondLst>
                                    <p:cond delay="0"/>
                                  </p:stCondLst>
                                  <p:childTnLst>
                                    <p:set>
                                      <p:cBhvr>
                                        <p:cTn id="154" dur="1" fill="hold">
                                          <p:stCondLst>
                                            <p:cond delay="0"/>
                                          </p:stCondLst>
                                        </p:cTn>
                                        <p:tgtEl>
                                          <p:spTgt spid="100"/>
                                        </p:tgtEl>
                                        <p:attrNameLst>
                                          <p:attrName>style.visibility</p:attrName>
                                        </p:attrNameLst>
                                      </p:cBhvr>
                                      <p:to>
                                        <p:strVal val="visible"/>
                                      </p:to>
                                    </p:set>
                                    <p:animEffect transition="in" filter="wipe(right)">
                                      <p:cBhvr>
                                        <p:cTn id="155" dur="500"/>
                                        <p:tgtEl>
                                          <p:spTgt spid="100"/>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9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wipe(left)">
                                      <p:cBhvr>
                                        <p:cTn id="164" dur="500"/>
                                        <p:tgtEl>
                                          <p:spTgt spid="64"/>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55"/>
                                        </p:tgtEl>
                                        <p:attrNameLst>
                                          <p:attrName>style.visibility</p:attrName>
                                        </p:attrNameLst>
                                      </p:cBhvr>
                                      <p:to>
                                        <p:strVal val="visible"/>
                                      </p:to>
                                    </p:set>
                                  </p:childTnLst>
                                </p:cTn>
                              </p:par>
                            </p:childTnLst>
                          </p:cTn>
                        </p:par>
                        <p:par>
                          <p:cTn id="169" fill="hold">
                            <p:stCondLst>
                              <p:cond delay="0"/>
                            </p:stCondLst>
                            <p:childTnLst>
                              <p:par>
                                <p:cTn id="170" presetID="22" presetClass="entr" presetSubtype="4" fill="hold" nodeType="afterEffect">
                                  <p:stCondLst>
                                    <p:cond delay="0"/>
                                  </p:stCondLst>
                                  <p:childTnLst>
                                    <p:set>
                                      <p:cBhvr>
                                        <p:cTn id="171" dur="1" fill="hold">
                                          <p:stCondLst>
                                            <p:cond delay="0"/>
                                          </p:stCondLst>
                                        </p:cTn>
                                        <p:tgtEl>
                                          <p:spTgt spid="124"/>
                                        </p:tgtEl>
                                        <p:attrNameLst>
                                          <p:attrName>style.visibility</p:attrName>
                                        </p:attrNameLst>
                                      </p:cBhvr>
                                      <p:to>
                                        <p:strVal val="visible"/>
                                      </p:to>
                                    </p:set>
                                    <p:animEffect transition="in" filter="wipe(down)">
                                      <p:cBhvr>
                                        <p:cTn id="172" dur="500"/>
                                        <p:tgtEl>
                                          <p:spTgt spid="124"/>
                                        </p:tgtEl>
                                      </p:cBhvr>
                                    </p:animEffec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6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66"/>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68"/>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7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72"/>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73"/>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7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70"/>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69"/>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75"/>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03"/>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01"/>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22" presetClass="entr" presetSubtype="2" fill="hold" nodeType="clickEffect">
                                  <p:stCondLst>
                                    <p:cond delay="0"/>
                                  </p:stCondLst>
                                  <p:childTnLst>
                                    <p:set>
                                      <p:cBhvr>
                                        <p:cTn id="204" dur="1" fill="hold">
                                          <p:stCondLst>
                                            <p:cond delay="0"/>
                                          </p:stCondLst>
                                        </p:cTn>
                                        <p:tgtEl>
                                          <p:spTgt spid="78"/>
                                        </p:tgtEl>
                                        <p:attrNameLst>
                                          <p:attrName>style.visibility</p:attrName>
                                        </p:attrNameLst>
                                      </p:cBhvr>
                                      <p:to>
                                        <p:strVal val="visible"/>
                                      </p:to>
                                    </p:set>
                                    <p:animEffect transition="in" filter="wipe(right)">
                                      <p:cBhvr>
                                        <p:cTn id="205" dur="500"/>
                                        <p:tgtEl>
                                          <p:spTgt spid="78"/>
                                        </p:tgtEl>
                                      </p:cBhvr>
                                    </p:animEffec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89"/>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22" presetClass="entr" presetSubtype="2" fill="hold" nodeType="clickEffect">
                                  <p:stCondLst>
                                    <p:cond delay="0"/>
                                  </p:stCondLst>
                                  <p:childTnLst>
                                    <p:set>
                                      <p:cBhvr>
                                        <p:cTn id="213" dur="1" fill="hold">
                                          <p:stCondLst>
                                            <p:cond delay="0"/>
                                          </p:stCondLst>
                                        </p:cTn>
                                        <p:tgtEl>
                                          <p:spTgt spid="94"/>
                                        </p:tgtEl>
                                        <p:attrNameLst>
                                          <p:attrName>style.visibility</p:attrName>
                                        </p:attrNameLst>
                                      </p:cBhvr>
                                      <p:to>
                                        <p:strVal val="visible"/>
                                      </p:to>
                                    </p:set>
                                    <p:animEffect transition="in" filter="wipe(right)">
                                      <p:cBhvr>
                                        <p:cTn id="214" dur="500"/>
                                        <p:tgtEl>
                                          <p:spTgt spid="94"/>
                                        </p:tgtEl>
                                      </p:cBhvr>
                                    </p:animEffec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91"/>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nodeType="clickEffect">
                                  <p:stCondLst>
                                    <p:cond delay="0"/>
                                  </p:stCondLst>
                                  <p:childTnLst>
                                    <p:set>
                                      <p:cBhvr>
                                        <p:cTn id="222" dur="1" fill="hold">
                                          <p:stCondLst>
                                            <p:cond delay="0"/>
                                          </p:stCondLst>
                                        </p:cTn>
                                        <p:tgtEl>
                                          <p:spTgt spid="96"/>
                                        </p:tgtEl>
                                        <p:attrNameLst>
                                          <p:attrName>style.visibility</p:attrName>
                                        </p:attrNameLst>
                                      </p:cBhvr>
                                      <p:to>
                                        <p:strVal val="visible"/>
                                      </p:to>
                                    </p:set>
                                    <p:animEffect transition="in" filter="wipe(left)">
                                      <p:cBhvr>
                                        <p:cTn id="223" dur="500"/>
                                        <p:tgtEl>
                                          <p:spTgt spid="96"/>
                                        </p:tgtEl>
                                      </p:cBhvr>
                                    </p:animEffec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92"/>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79"/>
                                        </p:tgtEl>
                                        <p:attrNameLst>
                                          <p:attrName>style.visibility</p:attrName>
                                        </p:attrNameLst>
                                      </p:cBhvr>
                                      <p:to>
                                        <p:strVal val="visible"/>
                                      </p:to>
                                    </p:set>
                                    <p:animEffect transition="in" filter="wipe(left)">
                                      <p:cBhvr>
                                        <p:cTn id="232" dur="500"/>
                                        <p:tgtEl>
                                          <p:spTgt spid="79"/>
                                        </p:tgtEl>
                                      </p:cBhvr>
                                    </p:animEffec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104"/>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22" presetClass="entr" presetSubtype="2" fill="hold" nodeType="clickEffect">
                                  <p:stCondLst>
                                    <p:cond delay="0"/>
                                  </p:stCondLst>
                                  <p:childTnLst>
                                    <p:set>
                                      <p:cBhvr>
                                        <p:cTn id="240" dur="1" fill="hold">
                                          <p:stCondLst>
                                            <p:cond delay="0"/>
                                          </p:stCondLst>
                                        </p:cTn>
                                        <p:tgtEl>
                                          <p:spTgt spid="108"/>
                                        </p:tgtEl>
                                        <p:attrNameLst>
                                          <p:attrName>style.visibility</p:attrName>
                                        </p:attrNameLst>
                                      </p:cBhvr>
                                      <p:to>
                                        <p:strVal val="visible"/>
                                      </p:to>
                                    </p:set>
                                    <p:animEffect transition="in" filter="wipe(right)">
                                      <p:cBhvr>
                                        <p:cTn id="241" dur="500"/>
                                        <p:tgtEl>
                                          <p:spTgt spid="108"/>
                                        </p:tgtEl>
                                      </p:cBhvr>
                                    </p:animEffect>
                                  </p:childTnLst>
                                </p:cTn>
                              </p:par>
                            </p:childTnLst>
                          </p:cTn>
                        </p:par>
                      </p:childTnLst>
                    </p:cTn>
                  </p:par>
                  <p:par>
                    <p:cTn id="242" fill="hold">
                      <p:stCondLst>
                        <p:cond delay="indefinite"/>
                      </p:stCondLst>
                      <p:childTnLst>
                        <p:par>
                          <p:cTn id="243" fill="hold">
                            <p:stCondLst>
                              <p:cond delay="0"/>
                            </p:stCondLst>
                            <p:childTnLst>
                              <p:par>
                                <p:cTn id="244" presetID="1" presetClass="entr" presetSubtype="0" fill="hold" grpId="0" nodeType="clickEffect">
                                  <p:stCondLst>
                                    <p:cond delay="0"/>
                                  </p:stCondLst>
                                  <p:childTnLst>
                                    <p:set>
                                      <p:cBhvr>
                                        <p:cTn id="245"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5" grpId="0" animBg="1"/>
      <p:bldP spid="16" grpId="0" animBg="1"/>
      <p:bldP spid="17" grpId="0" animBg="1"/>
      <p:bldP spid="22" grpId="0" animBg="1"/>
      <p:bldP spid="27" grpId="0" animBg="1"/>
      <p:bldP spid="28" grpId="0" animBg="1"/>
      <p:bldP spid="30" grpId="0" animBg="1"/>
      <p:bldP spid="35" grpId="0" animBg="1"/>
      <p:bldP spid="36" grpId="0" animBg="1"/>
      <p:bldP spid="40" grpId="0" animBg="1"/>
      <p:bldP spid="44" grpId="0" animBg="1"/>
      <p:bldP spid="45" grpId="0" animBg="1"/>
      <p:bldP spid="49" grpId="0" animBg="1"/>
      <p:bldP spid="52" grpId="0" animBg="1"/>
      <p:bldP spid="53" grpId="0" animBg="1"/>
      <p:bldP spid="55" grpId="0" animBg="1"/>
      <p:bldP spid="56" grpId="0" animBg="1"/>
      <p:bldP spid="65" grpId="0" animBg="1"/>
      <p:bldP spid="68" grpId="0" animBg="1"/>
      <p:bldP spid="69" grpId="0" animBg="1"/>
      <p:bldP spid="72" grpId="0" animBg="1"/>
      <p:bldP spid="75" grpId="0" animBg="1"/>
      <p:bldP spid="77" grpId="0" animBg="1"/>
      <p:bldP spid="89" grpId="0" animBg="1"/>
      <p:bldP spid="91" grpId="0" animBg="1"/>
      <p:bldP spid="92" grpId="0" animBg="1"/>
      <p:bldP spid="98" grpId="0" animBg="1"/>
      <p:bldP spid="101" grpId="0" animBg="1"/>
      <p:bldP spid="104" grpId="0" animBg="1"/>
      <p:bldP spid="10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 a Binary Tree from given Traversals</a:t>
            </a:r>
            <a:endParaRPr lang="en-US" dirty="0"/>
          </a:p>
        </p:txBody>
      </p:sp>
      <p:sp>
        <p:nvSpPr>
          <p:cNvPr id="3" name="Content Placeholder 2"/>
          <p:cNvSpPr>
            <a:spLocks noGrp="1"/>
          </p:cNvSpPr>
          <p:nvPr>
            <p:ph idx="1"/>
          </p:nvPr>
        </p:nvSpPr>
        <p:spPr/>
        <p:txBody>
          <a:bodyPr/>
          <a:lstStyle/>
          <a:p>
            <a:r>
              <a:rPr lang="en-US" dirty="0"/>
              <a:t>Construct a tree for the given In-order and Pre-order OR In-order Post-order </a:t>
            </a:r>
            <a:r>
              <a:rPr lang="en-US" dirty="0" smtClean="0"/>
              <a:t>traversals</a:t>
            </a:r>
          </a:p>
          <a:p>
            <a:pPr lvl="1"/>
            <a:r>
              <a:rPr lang="en-US" dirty="0" err="1"/>
              <a:t>Inorder</a:t>
            </a:r>
            <a:r>
              <a:rPr lang="en-US" dirty="0"/>
              <a:t>: </a:t>
            </a:r>
            <a:r>
              <a:rPr lang="en-US" dirty="0" smtClean="0"/>
              <a:t>DGBAHEICF | </a:t>
            </a:r>
            <a:r>
              <a:rPr lang="en-US" dirty="0" err="1" smtClean="0"/>
              <a:t>Postorder</a:t>
            </a:r>
            <a:r>
              <a:rPr lang="en-US" dirty="0"/>
              <a:t>: </a:t>
            </a:r>
            <a:r>
              <a:rPr lang="en-US" dirty="0" smtClean="0"/>
              <a:t>GDBHIEFCA</a:t>
            </a:r>
          </a:p>
          <a:p>
            <a:pPr lvl="1"/>
            <a:r>
              <a:rPr lang="en-US" dirty="0" err="1"/>
              <a:t>Inorder</a:t>
            </a:r>
            <a:r>
              <a:rPr lang="en-US" dirty="0"/>
              <a:t>: </a:t>
            </a:r>
            <a:r>
              <a:rPr lang="en-US" dirty="0" smtClean="0"/>
              <a:t>EACKFHDBG | Preorder</a:t>
            </a:r>
            <a:r>
              <a:rPr lang="en-US" dirty="0"/>
              <a:t>: </a:t>
            </a:r>
            <a:r>
              <a:rPr lang="en-US" dirty="0" smtClean="0"/>
              <a:t>FAEKCDHGB</a:t>
            </a:r>
          </a:p>
          <a:p>
            <a:pPr lvl="1"/>
            <a:r>
              <a:rPr lang="en-US" dirty="0" err="1"/>
              <a:t>Inorder</a:t>
            </a:r>
            <a:r>
              <a:rPr lang="en-US" dirty="0"/>
              <a:t>: </a:t>
            </a:r>
            <a:r>
              <a:rPr lang="en-US" dirty="0" smtClean="0"/>
              <a:t>QBKCFAGPEDHR | Preorder</a:t>
            </a:r>
            <a:r>
              <a:rPr lang="en-US" dirty="0"/>
              <a:t>: </a:t>
            </a:r>
            <a:r>
              <a:rPr lang="en-US" dirty="0" smtClean="0"/>
              <a:t>GBQACKFPDERH</a:t>
            </a:r>
          </a:p>
          <a:p>
            <a:pPr lvl="1"/>
            <a:r>
              <a:rPr lang="en-US" dirty="0" err="1"/>
              <a:t>Inorder</a:t>
            </a:r>
            <a:r>
              <a:rPr lang="en-US" dirty="0"/>
              <a:t>: </a:t>
            </a:r>
            <a:r>
              <a:rPr lang="en-US" dirty="0" smtClean="0"/>
              <a:t>BIDACGEHF | </a:t>
            </a:r>
            <a:r>
              <a:rPr lang="en-US" dirty="0" err="1" smtClean="0"/>
              <a:t>Postorder</a:t>
            </a:r>
            <a:r>
              <a:rPr lang="en-US" dirty="0"/>
              <a:t>: </a:t>
            </a:r>
            <a:r>
              <a:rPr lang="en-US" dirty="0" smtClean="0"/>
              <a:t>IDBGCHFEA</a:t>
            </a:r>
          </a:p>
          <a:p>
            <a:pPr lvl="1"/>
            <a:r>
              <a:rPr lang="en-US" dirty="0" err="1"/>
              <a:t>Inorder</a:t>
            </a:r>
            <a:r>
              <a:rPr lang="en-US" dirty="0"/>
              <a:t>: </a:t>
            </a:r>
            <a:r>
              <a:rPr lang="en-US" dirty="0" smtClean="0"/>
              <a:t>BCAEDGHFI | </a:t>
            </a:r>
            <a:r>
              <a:rPr lang="en-US" dirty="0" err="1" smtClean="0"/>
              <a:t>Postorder</a:t>
            </a:r>
            <a:r>
              <a:rPr lang="en-US" dirty="0"/>
              <a:t>: </a:t>
            </a:r>
            <a:r>
              <a:rPr lang="en-US" dirty="0" smtClean="0"/>
              <a:t>CBEHGIFDA</a:t>
            </a:r>
          </a:p>
          <a:p>
            <a:pPr lvl="1"/>
            <a:r>
              <a:rPr lang="en-US" dirty="0" err="1"/>
              <a:t>Inorder</a:t>
            </a:r>
            <a:r>
              <a:rPr lang="en-US" dirty="0"/>
              <a:t>: </a:t>
            </a:r>
            <a:r>
              <a:rPr lang="en-US" dirty="0" err="1" smtClean="0"/>
              <a:t>d,b.e,a,f,c,g</a:t>
            </a:r>
            <a:r>
              <a:rPr lang="en-US" dirty="0" smtClean="0"/>
              <a:t> | Preorder</a:t>
            </a:r>
            <a:r>
              <a:rPr lang="en-US" dirty="0"/>
              <a:t>: </a:t>
            </a:r>
            <a:r>
              <a:rPr lang="en-US" dirty="0" err="1" smtClean="0"/>
              <a:t>a,b,d,e,c,f,g</a:t>
            </a:r>
            <a:endParaRPr lang="en-US" dirty="0" smtClean="0"/>
          </a:p>
          <a:p>
            <a:pPr lvl="1"/>
            <a:r>
              <a:rPr lang="en-US" dirty="0" err="1"/>
              <a:t>Inorder</a:t>
            </a:r>
            <a:r>
              <a:rPr lang="en-US" dirty="0"/>
              <a:t>: </a:t>
            </a:r>
            <a:r>
              <a:rPr lang="en-US" dirty="0" smtClean="0"/>
              <a:t>4,10,3,1,7,11,8,2 | Preorder</a:t>
            </a:r>
            <a:r>
              <a:rPr lang="en-US" dirty="0"/>
              <a:t>: </a:t>
            </a:r>
            <a:r>
              <a:rPr lang="en-US" dirty="0" smtClean="0"/>
              <a:t>7,10,4,3,1,2,8,11</a:t>
            </a:r>
          </a:p>
          <a:p>
            <a:pPr lvl="1"/>
            <a:r>
              <a:rPr lang="sv-SE" dirty="0"/>
              <a:t>Inorder:  1, 10, 11, 12, 13, 14, 15, 17, 18, 21 </a:t>
            </a:r>
            <a:r>
              <a:rPr lang="sv-SE" dirty="0" smtClean="0"/>
              <a:t>|  Postorder</a:t>
            </a:r>
            <a:r>
              <a:rPr lang="sv-SE" dirty="0"/>
              <a:t>:  1, 11, 12, 10, 14, 18, 21, 17, 15, 13 </a:t>
            </a:r>
            <a:endParaRPr lang="sv-SE" dirty="0" smtClean="0"/>
          </a:p>
          <a:p>
            <a:pPr lvl="1"/>
            <a:r>
              <a:rPr lang="sv-SE" dirty="0"/>
              <a:t>Inorder:  1 3 4 6 7 8 10 13 </a:t>
            </a:r>
            <a:r>
              <a:rPr lang="sv-SE" dirty="0" smtClean="0"/>
              <a:t>14 | Preorder</a:t>
            </a:r>
            <a:r>
              <a:rPr lang="sv-SE" dirty="0"/>
              <a:t>:  8 3 1 6 4 7 10 14 13 </a:t>
            </a:r>
            <a:endParaRPr lang="sv-SE" dirty="0" smtClean="0"/>
          </a:p>
          <a:p>
            <a:pPr lvl="1"/>
            <a:r>
              <a:rPr lang="sv-SE" dirty="0"/>
              <a:t>Inorder traversal = {4, 2, 5, 1, 3, 6</a:t>
            </a:r>
            <a:r>
              <a:rPr lang="sv-SE" dirty="0" smtClean="0"/>
              <a:t>} | Preorder </a:t>
            </a:r>
            <a:r>
              <a:rPr lang="sv-SE" dirty="0"/>
              <a:t>traversal = {1, 2, 4, 5, 3, 6}</a:t>
            </a:r>
          </a:p>
          <a:p>
            <a:pPr lvl="1"/>
            <a:endParaRPr lang="sv-SE" dirty="0"/>
          </a:p>
          <a:p>
            <a:pPr lvl="1"/>
            <a:endParaRPr lang="sv-SE" dirty="0"/>
          </a:p>
          <a:p>
            <a:pPr lvl="1"/>
            <a:endParaRPr lang="en-US" dirty="0"/>
          </a:p>
          <a:p>
            <a:pPr lvl="1"/>
            <a:endParaRPr lang="en-US" dirty="0" smtClean="0"/>
          </a:p>
          <a:p>
            <a:pPr lvl="1"/>
            <a:endParaRPr lang="en-US" dirty="0"/>
          </a:p>
          <a:p>
            <a:pPr lvl="1"/>
            <a:endParaRPr lang="en-US" dirty="0"/>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21903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Linked Representation of Binary Tree</a:t>
            </a:r>
            <a:endParaRPr lang="en-US" dirty="0"/>
          </a:p>
        </p:txBody>
      </p:sp>
      <p:sp>
        <p:nvSpPr>
          <p:cNvPr id="4" name="Oval 3"/>
          <p:cNvSpPr/>
          <p:nvPr/>
        </p:nvSpPr>
        <p:spPr>
          <a:xfrm>
            <a:off x="1956645" y="268212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1340113"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776697"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2039770"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8" name="Oval 7"/>
          <p:cNvSpPr/>
          <p:nvPr/>
        </p:nvSpPr>
        <p:spPr>
          <a:xfrm>
            <a:off x="2535074"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9" name="Oval 8"/>
          <p:cNvSpPr/>
          <p:nvPr/>
        </p:nvSpPr>
        <p:spPr>
          <a:xfrm>
            <a:off x="3127353"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0" name="Oval 9"/>
          <p:cNvSpPr/>
          <p:nvPr/>
        </p:nvSpPr>
        <p:spPr>
          <a:xfrm>
            <a:off x="2535074" y="556388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1" name="Straight Arrow Connector 10"/>
          <p:cNvCxnSpPr>
            <a:stCxn id="4" idx="3"/>
            <a:endCxn id="5" idx="0"/>
          </p:cNvCxnSpPr>
          <p:nvPr/>
        </p:nvCxnSpPr>
        <p:spPr>
          <a:xfrm flipH="1">
            <a:off x="1620913" y="3161484"/>
            <a:ext cx="417976"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5" idx="3"/>
            <a:endCxn id="6" idx="0"/>
          </p:cNvCxnSpPr>
          <p:nvPr/>
        </p:nvCxnSpPr>
        <p:spPr>
          <a:xfrm flipH="1">
            <a:off x="1057497" y="4103599"/>
            <a:ext cx="364860"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4" idx="5"/>
            <a:endCxn id="8" idx="0"/>
          </p:cNvCxnSpPr>
          <p:nvPr/>
        </p:nvCxnSpPr>
        <p:spPr>
          <a:xfrm>
            <a:off x="2436001" y="3161484"/>
            <a:ext cx="379873"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8" idx="3"/>
            <a:endCxn id="7" idx="0"/>
          </p:cNvCxnSpPr>
          <p:nvPr/>
        </p:nvCxnSpPr>
        <p:spPr>
          <a:xfrm flipH="1">
            <a:off x="2320570" y="4103599"/>
            <a:ext cx="296748"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8" idx="5"/>
            <a:endCxn id="9" idx="0"/>
          </p:cNvCxnSpPr>
          <p:nvPr/>
        </p:nvCxnSpPr>
        <p:spPr>
          <a:xfrm>
            <a:off x="3014430" y="4103599"/>
            <a:ext cx="393723"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5"/>
            <a:endCxn id="10" idx="0"/>
          </p:cNvCxnSpPr>
          <p:nvPr/>
        </p:nvCxnSpPr>
        <p:spPr>
          <a:xfrm>
            <a:off x="2519126" y="5109906"/>
            <a:ext cx="296748" cy="45397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24" name="Group 23"/>
          <p:cNvGrpSpPr/>
          <p:nvPr/>
        </p:nvGrpSpPr>
        <p:grpSpPr>
          <a:xfrm>
            <a:off x="1497872" y="1219199"/>
            <a:ext cx="3385677" cy="558801"/>
            <a:chOff x="-76200" y="4191000"/>
            <a:chExt cx="1997075" cy="381000"/>
          </a:xfrm>
        </p:grpSpPr>
        <p:sp>
          <p:nvSpPr>
            <p:cNvPr id="25" name="Rectangle 24"/>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DATA</a:t>
              </a:r>
              <a:endParaRPr lang="en-US" sz="2000" b="1" dirty="0"/>
            </a:p>
          </p:txBody>
        </p:sp>
        <p:sp>
          <p:nvSpPr>
            <p:cNvPr id="26" name="Rectangle 25"/>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LPTR</a:t>
              </a:r>
              <a:endParaRPr lang="en-US" sz="2000" b="1" dirty="0"/>
            </a:p>
          </p:txBody>
        </p:sp>
        <p:sp>
          <p:nvSpPr>
            <p:cNvPr id="27" name="Rectangle 26"/>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IN" sz="2000" b="1" dirty="0"/>
                <a:t>RPTR</a:t>
              </a:r>
              <a:endParaRPr lang="en-US" sz="2000" b="1" dirty="0"/>
            </a:p>
          </p:txBody>
        </p:sp>
      </p:grpSp>
      <p:sp>
        <p:nvSpPr>
          <p:cNvPr id="28" name="TextBox 27"/>
          <p:cNvSpPr txBox="1"/>
          <p:nvPr/>
        </p:nvSpPr>
        <p:spPr>
          <a:xfrm>
            <a:off x="1660155" y="1849397"/>
            <a:ext cx="3066489" cy="400110"/>
          </a:xfrm>
          <a:prstGeom prst="rect">
            <a:avLst/>
          </a:prstGeom>
          <a:noFill/>
        </p:spPr>
        <p:txBody>
          <a:bodyPr wrap="square" rtlCol="0">
            <a:spAutoFit/>
          </a:bodyPr>
          <a:lstStyle/>
          <a:p>
            <a:pPr algn="ctr"/>
            <a:r>
              <a:rPr lang="en-IN" sz="2000" b="1" dirty="0"/>
              <a:t>Typical node </a:t>
            </a:r>
            <a:r>
              <a:rPr lang="en-IN" sz="2000" b="1" dirty="0" smtClean="0"/>
              <a:t>of Binary </a:t>
            </a:r>
            <a:r>
              <a:rPr lang="en-IN" sz="2000" b="1" dirty="0"/>
              <a:t>Tree</a:t>
            </a:r>
            <a:endParaRPr lang="en-US" sz="2000" b="1" dirty="0"/>
          </a:p>
        </p:txBody>
      </p:sp>
      <p:grpSp>
        <p:nvGrpSpPr>
          <p:cNvPr id="29" name="Group 28"/>
          <p:cNvGrpSpPr/>
          <p:nvPr/>
        </p:nvGrpSpPr>
        <p:grpSpPr>
          <a:xfrm>
            <a:off x="6648796" y="1796877"/>
            <a:ext cx="1440000" cy="540000"/>
            <a:chOff x="304800" y="4191000"/>
            <a:chExt cx="1066800" cy="381000"/>
          </a:xfrm>
        </p:grpSpPr>
        <p:sp>
          <p:nvSpPr>
            <p:cNvPr id="30" name="Rectangle 2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31" name="Rectangle 3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2" name="Rectangle 3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3" name="Group 32"/>
          <p:cNvGrpSpPr/>
          <p:nvPr/>
        </p:nvGrpSpPr>
        <p:grpSpPr>
          <a:xfrm>
            <a:off x="5429596" y="3092277"/>
            <a:ext cx="1440000" cy="540000"/>
            <a:chOff x="304800" y="4191000"/>
            <a:chExt cx="1066800" cy="381000"/>
          </a:xfrm>
        </p:grpSpPr>
        <p:sp>
          <p:nvSpPr>
            <p:cNvPr id="34" name="Rectangle 3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35" name="Rectangle 3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6" name="Rectangle 3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7" name="Group 36"/>
          <p:cNvGrpSpPr/>
          <p:nvPr/>
        </p:nvGrpSpPr>
        <p:grpSpPr>
          <a:xfrm>
            <a:off x="7791796" y="3092277"/>
            <a:ext cx="1440000" cy="540000"/>
            <a:chOff x="304800" y="4191000"/>
            <a:chExt cx="1066800" cy="381000"/>
          </a:xfrm>
        </p:grpSpPr>
        <p:sp>
          <p:nvSpPr>
            <p:cNvPr id="38" name="Rectangle 3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39" name="Rectangle 3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0" name="Rectangle 3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1" name="Group 40"/>
          <p:cNvGrpSpPr/>
          <p:nvPr/>
        </p:nvGrpSpPr>
        <p:grpSpPr>
          <a:xfrm>
            <a:off x="4438996" y="4463877"/>
            <a:ext cx="1440000" cy="540000"/>
            <a:chOff x="304800" y="4191000"/>
            <a:chExt cx="1066800" cy="381000"/>
          </a:xfrm>
        </p:grpSpPr>
        <p:sp>
          <p:nvSpPr>
            <p:cNvPr id="42" name="Rectangle 4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43" name="Rectangle 4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4" name="Rectangle 4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5" name="Group 44"/>
          <p:cNvGrpSpPr/>
          <p:nvPr/>
        </p:nvGrpSpPr>
        <p:grpSpPr>
          <a:xfrm>
            <a:off x="6877396" y="4463877"/>
            <a:ext cx="1440000" cy="540000"/>
            <a:chOff x="304800" y="4191000"/>
            <a:chExt cx="1066800" cy="381000"/>
          </a:xfrm>
        </p:grpSpPr>
        <p:sp>
          <p:nvSpPr>
            <p:cNvPr id="46" name="Rectangle 4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47" name="Rectangle 4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8" name="Rectangle 4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9" name="Group 48"/>
          <p:cNvGrpSpPr/>
          <p:nvPr/>
        </p:nvGrpSpPr>
        <p:grpSpPr>
          <a:xfrm>
            <a:off x="8858596" y="4463877"/>
            <a:ext cx="1440000" cy="540000"/>
            <a:chOff x="304800" y="4191000"/>
            <a:chExt cx="1066800" cy="381000"/>
          </a:xfrm>
        </p:grpSpPr>
        <p:sp>
          <p:nvSpPr>
            <p:cNvPr id="50" name="Rectangle 4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51" name="Rectangle 5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2" name="Rectangle 5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3" name="Group 52"/>
          <p:cNvGrpSpPr/>
          <p:nvPr/>
        </p:nvGrpSpPr>
        <p:grpSpPr>
          <a:xfrm>
            <a:off x="7867996" y="5759277"/>
            <a:ext cx="1440000" cy="540000"/>
            <a:chOff x="304800" y="4191000"/>
            <a:chExt cx="1066800" cy="381000"/>
          </a:xfrm>
        </p:grpSpPr>
        <p:sp>
          <p:nvSpPr>
            <p:cNvPr id="54" name="Rectangle 5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sp>
          <p:nvSpPr>
            <p:cNvPr id="55" name="Rectangle 5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6" name="Rectangle 5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7" name="Freeform 56"/>
          <p:cNvSpPr/>
          <p:nvPr/>
        </p:nvSpPr>
        <p:spPr>
          <a:xfrm>
            <a:off x="6157366" y="2042885"/>
            <a:ext cx="691077" cy="103388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8" name="Freeform 57"/>
          <p:cNvSpPr/>
          <p:nvPr/>
        </p:nvSpPr>
        <p:spPr>
          <a:xfrm>
            <a:off x="5149421" y="3369260"/>
            <a:ext cx="454135" cy="1080000"/>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9" name="Freeform 58"/>
          <p:cNvSpPr/>
          <p:nvPr/>
        </p:nvSpPr>
        <p:spPr>
          <a:xfrm>
            <a:off x="7905965" y="2043229"/>
            <a:ext cx="691200" cy="1033200"/>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0" name="Freeform 59"/>
          <p:cNvSpPr/>
          <p:nvPr/>
        </p:nvSpPr>
        <p:spPr>
          <a:xfrm>
            <a:off x="7581660" y="3369260"/>
            <a:ext cx="413622" cy="1080000"/>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1" name="Freeform 60"/>
          <p:cNvSpPr/>
          <p:nvPr/>
        </p:nvSpPr>
        <p:spPr>
          <a:xfrm>
            <a:off x="9028310" y="3369260"/>
            <a:ext cx="550961" cy="1080000"/>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2" name="Freeform 61"/>
          <p:cNvSpPr/>
          <p:nvPr/>
        </p:nvSpPr>
        <p:spPr>
          <a:xfrm>
            <a:off x="8136421" y="4736645"/>
            <a:ext cx="425436" cy="1014614"/>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64" name="Straight Connector 63"/>
          <p:cNvCxnSpPr/>
          <p:nvPr/>
        </p:nvCxnSpPr>
        <p:spPr>
          <a:xfrm flipH="1">
            <a:off x="6458166" y="3092277"/>
            <a:ext cx="394562"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5" name="Straight Connector 64"/>
          <p:cNvCxnSpPr/>
          <p:nvPr/>
        </p:nvCxnSpPr>
        <p:spPr>
          <a:xfrm flipH="1">
            <a:off x="4435111" y="4463877"/>
            <a:ext cx="42308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6" name="Straight Connector 65"/>
          <p:cNvCxnSpPr/>
          <p:nvPr/>
        </p:nvCxnSpPr>
        <p:spPr>
          <a:xfrm flipH="1">
            <a:off x="5466853" y="4463877"/>
            <a:ext cx="403351"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7" name="Straight Connector 66"/>
          <p:cNvCxnSpPr/>
          <p:nvPr/>
        </p:nvCxnSpPr>
        <p:spPr>
          <a:xfrm flipH="1">
            <a:off x="6894048" y="4481690"/>
            <a:ext cx="371433"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8" name="Straight Connector 67"/>
          <p:cNvCxnSpPr/>
          <p:nvPr/>
        </p:nvCxnSpPr>
        <p:spPr>
          <a:xfrm flipH="1">
            <a:off x="8858596" y="4481690"/>
            <a:ext cx="388800"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9" name="Straight Connector 68"/>
          <p:cNvCxnSpPr/>
          <p:nvPr/>
        </p:nvCxnSpPr>
        <p:spPr>
          <a:xfrm flipH="1">
            <a:off x="9887169" y="4488995"/>
            <a:ext cx="403638" cy="514882"/>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0" name="Straight Connector 69"/>
          <p:cNvCxnSpPr/>
          <p:nvPr/>
        </p:nvCxnSpPr>
        <p:spPr>
          <a:xfrm flipH="1">
            <a:off x="8913885" y="5759277"/>
            <a:ext cx="38990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1" name="Straight Connector 70"/>
          <p:cNvCxnSpPr/>
          <p:nvPr/>
        </p:nvCxnSpPr>
        <p:spPr>
          <a:xfrm flipH="1">
            <a:off x="7867996" y="5759277"/>
            <a:ext cx="411428"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72" name="TextBox 71"/>
          <p:cNvSpPr txBox="1"/>
          <p:nvPr/>
        </p:nvSpPr>
        <p:spPr>
          <a:xfrm>
            <a:off x="7184186" y="808546"/>
            <a:ext cx="351378" cy="461665"/>
          </a:xfrm>
          <a:prstGeom prst="rect">
            <a:avLst/>
          </a:prstGeom>
          <a:noFill/>
        </p:spPr>
        <p:txBody>
          <a:bodyPr wrap="none" rtlCol="0">
            <a:spAutoFit/>
          </a:bodyPr>
          <a:lstStyle/>
          <a:p>
            <a:pPr algn="ctr"/>
            <a:r>
              <a:rPr lang="en-IN" sz="2400" b="1" dirty="0">
                <a:solidFill>
                  <a:srgbClr val="C00000"/>
                </a:solidFill>
              </a:rPr>
              <a:t>T</a:t>
            </a:r>
            <a:endParaRPr lang="en-US" sz="2400" b="1" dirty="0">
              <a:solidFill>
                <a:srgbClr val="C00000"/>
              </a:solidFill>
            </a:endParaRPr>
          </a:p>
        </p:txBody>
      </p:sp>
      <p:cxnSp>
        <p:nvCxnSpPr>
          <p:cNvPr id="74" name="Straight Arrow Connector 73"/>
          <p:cNvCxnSpPr>
            <a:stCxn id="72" idx="2"/>
            <a:endCxn id="30" idx="0"/>
          </p:cNvCxnSpPr>
          <p:nvPr/>
        </p:nvCxnSpPr>
        <p:spPr>
          <a:xfrm>
            <a:off x="7359875" y="1270211"/>
            <a:ext cx="8922" cy="5266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609658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Threaded Binary Tree</a:t>
            </a:r>
          </a:p>
        </p:txBody>
      </p:sp>
      <p:sp>
        <p:nvSpPr>
          <p:cNvPr id="3" name="Content Placeholder 2"/>
          <p:cNvSpPr>
            <a:spLocks noGrp="1"/>
          </p:cNvSpPr>
          <p:nvPr>
            <p:ph idx="1"/>
          </p:nvPr>
        </p:nvSpPr>
        <p:spPr/>
        <p:txBody>
          <a:bodyPr/>
          <a:lstStyle/>
          <a:p>
            <a:r>
              <a:rPr lang="en-IN" dirty="0"/>
              <a:t>The </a:t>
            </a:r>
            <a:r>
              <a:rPr lang="en-IN" b="1" dirty="0">
                <a:solidFill>
                  <a:srgbClr val="C00000"/>
                </a:solidFill>
              </a:rPr>
              <a:t>wasted NULL </a:t>
            </a:r>
            <a:r>
              <a:rPr lang="en-IN" dirty="0"/>
              <a:t>links in the binary tree storage representation can be </a:t>
            </a:r>
            <a:r>
              <a:rPr lang="en-IN" b="1" dirty="0">
                <a:solidFill>
                  <a:srgbClr val="C00000"/>
                </a:solidFill>
              </a:rPr>
              <a:t>replaced by </a:t>
            </a:r>
            <a:r>
              <a:rPr lang="en-IN" b="1" dirty="0" smtClean="0">
                <a:solidFill>
                  <a:srgbClr val="C00000"/>
                </a:solidFill>
              </a:rPr>
              <a:t>threads</a:t>
            </a:r>
          </a:p>
          <a:p>
            <a:r>
              <a:rPr lang="en-IN" dirty="0"/>
              <a:t>A binary </a:t>
            </a:r>
            <a:r>
              <a:rPr lang="en-IN" b="1" dirty="0">
                <a:solidFill>
                  <a:srgbClr val="C00000"/>
                </a:solidFill>
              </a:rPr>
              <a:t>tree</a:t>
            </a:r>
            <a:r>
              <a:rPr lang="en-IN" dirty="0">
                <a:solidFill>
                  <a:srgbClr val="C00000"/>
                </a:solidFill>
              </a:rPr>
              <a:t> </a:t>
            </a:r>
            <a:r>
              <a:rPr lang="en-IN" dirty="0"/>
              <a:t>is </a:t>
            </a:r>
            <a:r>
              <a:rPr lang="en-IN" b="1" dirty="0">
                <a:solidFill>
                  <a:srgbClr val="C00000"/>
                </a:solidFill>
              </a:rPr>
              <a:t>threaded</a:t>
            </a:r>
            <a:r>
              <a:rPr lang="en-IN" dirty="0">
                <a:solidFill>
                  <a:srgbClr val="C00000"/>
                </a:solidFill>
              </a:rPr>
              <a:t> </a:t>
            </a:r>
            <a:r>
              <a:rPr lang="en-IN" b="1" dirty="0">
                <a:solidFill>
                  <a:srgbClr val="C00000"/>
                </a:solidFill>
              </a:rPr>
              <a:t>according</a:t>
            </a:r>
            <a:r>
              <a:rPr lang="en-IN" dirty="0">
                <a:solidFill>
                  <a:srgbClr val="C00000"/>
                </a:solidFill>
              </a:rPr>
              <a:t> </a:t>
            </a:r>
            <a:r>
              <a:rPr lang="en-IN" dirty="0"/>
              <a:t>to particular </a:t>
            </a:r>
            <a:r>
              <a:rPr lang="en-IN" b="1" dirty="0">
                <a:solidFill>
                  <a:srgbClr val="C00000"/>
                </a:solidFill>
              </a:rPr>
              <a:t>traversal order</a:t>
            </a:r>
            <a:r>
              <a:rPr lang="en-IN" dirty="0"/>
              <a:t>. e.g.: Threads for the </a:t>
            </a:r>
            <a:r>
              <a:rPr lang="en-IN" dirty="0" err="1"/>
              <a:t>inorder</a:t>
            </a:r>
            <a:r>
              <a:rPr lang="en-IN" dirty="0"/>
              <a:t> traversals of tree are pointers to its higher nodes, for this traversal </a:t>
            </a:r>
            <a:r>
              <a:rPr lang="en-IN" dirty="0" smtClean="0"/>
              <a:t>order</a:t>
            </a:r>
          </a:p>
          <a:p>
            <a:r>
              <a:rPr lang="en-IN" b="1" dirty="0" smtClean="0">
                <a:solidFill>
                  <a:srgbClr val="C00000"/>
                </a:solidFill>
              </a:rPr>
              <a:t>In-Threaded Binary Tree</a:t>
            </a:r>
          </a:p>
          <a:p>
            <a:pPr lvl="1"/>
            <a:r>
              <a:rPr lang="en-IN" b="1" dirty="0"/>
              <a:t>If left link</a:t>
            </a:r>
            <a:r>
              <a:rPr lang="en-IN" dirty="0"/>
              <a:t> </a:t>
            </a:r>
            <a:r>
              <a:rPr lang="en-IN" b="1" dirty="0"/>
              <a:t>of </a:t>
            </a:r>
            <a:r>
              <a:rPr lang="en-IN" b="1" dirty="0">
                <a:solidFill>
                  <a:srgbClr val="C00000"/>
                </a:solidFill>
              </a:rPr>
              <a:t>node</a:t>
            </a:r>
            <a:r>
              <a:rPr lang="en-IN" b="1" dirty="0">
                <a:solidFill>
                  <a:srgbClr val="FF0000"/>
                </a:solidFill>
              </a:rPr>
              <a:t> </a:t>
            </a:r>
            <a:r>
              <a:rPr lang="en-IN" b="1" dirty="0"/>
              <a:t>P </a:t>
            </a:r>
            <a:r>
              <a:rPr lang="en-IN" b="1" dirty="0">
                <a:solidFill>
                  <a:srgbClr val="C00000"/>
                </a:solidFill>
              </a:rPr>
              <a:t>is null</a:t>
            </a:r>
            <a:r>
              <a:rPr lang="en-IN" dirty="0"/>
              <a:t>, then this link is </a:t>
            </a:r>
            <a:r>
              <a:rPr lang="en-IN" b="1" dirty="0">
                <a:solidFill>
                  <a:srgbClr val="C00000"/>
                </a:solidFill>
              </a:rPr>
              <a:t>replaced</a:t>
            </a:r>
            <a:r>
              <a:rPr lang="en-IN" b="1" dirty="0">
                <a:solidFill>
                  <a:srgbClr val="FF0000"/>
                </a:solidFill>
              </a:rPr>
              <a:t> </a:t>
            </a:r>
            <a:r>
              <a:rPr lang="en-IN" b="1" dirty="0">
                <a:solidFill>
                  <a:srgbClr val="C00000"/>
                </a:solidFill>
              </a:rPr>
              <a:t>by</a:t>
            </a:r>
            <a:r>
              <a:rPr lang="en-IN" dirty="0">
                <a:solidFill>
                  <a:srgbClr val="C00000"/>
                </a:solidFill>
              </a:rPr>
              <a:t> </a:t>
            </a:r>
            <a:r>
              <a:rPr lang="en-IN" dirty="0"/>
              <a:t>the </a:t>
            </a:r>
            <a:r>
              <a:rPr lang="en-IN" b="1" dirty="0">
                <a:solidFill>
                  <a:srgbClr val="C00000"/>
                </a:solidFill>
              </a:rPr>
              <a:t>address</a:t>
            </a:r>
            <a:r>
              <a:rPr lang="en-IN" b="1" dirty="0">
                <a:solidFill>
                  <a:srgbClr val="FF0000"/>
                </a:solidFill>
              </a:rPr>
              <a:t> </a:t>
            </a:r>
            <a:r>
              <a:rPr lang="en-IN" b="1" dirty="0">
                <a:solidFill>
                  <a:srgbClr val="C00000"/>
                </a:solidFill>
              </a:rPr>
              <a:t>of</a:t>
            </a:r>
            <a:r>
              <a:rPr lang="en-IN" b="1" dirty="0">
                <a:solidFill>
                  <a:srgbClr val="FF0000"/>
                </a:solidFill>
              </a:rPr>
              <a:t> </a:t>
            </a:r>
            <a:r>
              <a:rPr lang="en-IN" b="1" dirty="0">
                <a:solidFill>
                  <a:srgbClr val="C00000"/>
                </a:solidFill>
              </a:rPr>
              <a:t>its</a:t>
            </a:r>
            <a:r>
              <a:rPr lang="en-IN" b="1" dirty="0">
                <a:solidFill>
                  <a:srgbClr val="FF0000"/>
                </a:solidFill>
              </a:rPr>
              <a:t> </a:t>
            </a:r>
            <a:r>
              <a:rPr lang="en-IN" b="1" dirty="0" smtClean="0">
                <a:solidFill>
                  <a:srgbClr val="C00000"/>
                </a:solidFill>
              </a:rPr>
              <a:t>predecessor</a:t>
            </a:r>
          </a:p>
          <a:p>
            <a:pPr lvl="1"/>
            <a:r>
              <a:rPr lang="en-IN" b="1" dirty="0"/>
              <a:t>If right link of </a:t>
            </a:r>
            <a:r>
              <a:rPr lang="en-IN" b="1" dirty="0">
                <a:solidFill>
                  <a:srgbClr val="C00000"/>
                </a:solidFill>
              </a:rPr>
              <a:t>node </a:t>
            </a:r>
            <a:r>
              <a:rPr lang="en-IN" b="1" dirty="0"/>
              <a:t>P</a:t>
            </a:r>
            <a:r>
              <a:rPr lang="en-IN" b="1" dirty="0">
                <a:solidFill>
                  <a:srgbClr val="FF0000"/>
                </a:solidFill>
              </a:rPr>
              <a:t> </a:t>
            </a:r>
            <a:r>
              <a:rPr lang="en-IN" b="1" dirty="0">
                <a:solidFill>
                  <a:srgbClr val="C00000"/>
                </a:solidFill>
              </a:rPr>
              <a:t>is null</a:t>
            </a:r>
            <a:r>
              <a:rPr lang="en-IN" dirty="0"/>
              <a:t>, then </a:t>
            </a:r>
            <a:r>
              <a:rPr lang="en-IN" dirty="0" smtClean="0"/>
              <a:t>this link is </a:t>
            </a:r>
            <a:r>
              <a:rPr lang="en-IN" b="1" dirty="0" smtClean="0">
                <a:solidFill>
                  <a:srgbClr val="C00000"/>
                </a:solidFill>
              </a:rPr>
              <a:t>replaced </a:t>
            </a:r>
            <a:r>
              <a:rPr lang="en-IN" b="1" dirty="0">
                <a:solidFill>
                  <a:srgbClr val="C00000"/>
                </a:solidFill>
              </a:rPr>
              <a:t>by</a:t>
            </a:r>
            <a:r>
              <a:rPr lang="en-IN" dirty="0">
                <a:solidFill>
                  <a:srgbClr val="C00000"/>
                </a:solidFill>
              </a:rPr>
              <a:t> </a:t>
            </a:r>
            <a:r>
              <a:rPr lang="en-IN" dirty="0"/>
              <a:t>the </a:t>
            </a:r>
            <a:r>
              <a:rPr lang="en-IN" b="1" dirty="0">
                <a:solidFill>
                  <a:srgbClr val="C00000"/>
                </a:solidFill>
              </a:rPr>
              <a:t>address of its </a:t>
            </a:r>
            <a:r>
              <a:rPr lang="en-IN" b="1" dirty="0" smtClean="0">
                <a:solidFill>
                  <a:srgbClr val="C00000"/>
                </a:solidFill>
              </a:rPr>
              <a:t>successor</a:t>
            </a:r>
          </a:p>
          <a:p>
            <a:r>
              <a:rPr lang="en-IN" dirty="0"/>
              <a:t>Because the left or right </a:t>
            </a:r>
            <a:r>
              <a:rPr lang="en-IN" b="1" dirty="0"/>
              <a:t>link</a:t>
            </a:r>
            <a:r>
              <a:rPr lang="en-IN" dirty="0"/>
              <a:t> of </a:t>
            </a:r>
            <a:r>
              <a:rPr lang="en-IN" b="1" dirty="0"/>
              <a:t>a node </a:t>
            </a:r>
            <a:r>
              <a:rPr lang="en-IN" dirty="0"/>
              <a:t>can denote </a:t>
            </a:r>
            <a:r>
              <a:rPr lang="en-IN" b="1" dirty="0">
                <a:solidFill>
                  <a:srgbClr val="C00000"/>
                </a:solidFill>
              </a:rPr>
              <a:t>either structural link </a:t>
            </a:r>
            <a:r>
              <a:rPr lang="en-IN" dirty="0"/>
              <a:t>or </a:t>
            </a:r>
            <a:r>
              <a:rPr lang="en-IN" b="1" dirty="0">
                <a:solidFill>
                  <a:srgbClr val="C00000"/>
                </a:solidFill>
              </a:rPr>
              <a:t>a thread</a:t>
            </a:r>
            <a:r>
              <a:rPr lang="en-IN" dirty="0"/>
              <a:t>, we must somehow be able to distinguish them</a:t>
            </a:r>
            <a:endParaRPr lang="en-US" dirty="0"/>
          </a:p>
        </p:txBody>
      </p:sp>
    </p:spTree>
    <p:extLst>
      <p:ext uri="{BB962C8B-B14F-4D97-AF65-F5344CB8AC3E}">
        <p14:creationId xmlns:p14="http://schemas.microsoft.com/office/powerpoint/2010/main" val="408913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Threaded Binary Tree</a:t>
            </a:r>
          </a:p>
        </p:txBody>
      </p:sp>
      <p:sp>
        <p:nvSpPr>
          <p:cNvPr id="3" name="Content Placeholder 2"/>
          <p:cNvSpPr>
            <a:spLocks noGrp="1"/>
          </p:cNvSpPr>
          <p:nvPr>
            <p:ph idx="1"/>
          </p:nvPr>
        </p:nvSpPr>
        <p:spPr/>
        <p:txBody>
          <a:bodyPr/>
          <a:lstStyle/>
          <a:p>
            <a:r>
              <a:rPr lang="en-IN" b="1" dirty="0"/>
              <a:t>Method 1:- </a:t>
            </a:r>
            <a:r>
              <a:rPr lang="en-IN" dirty="0"/>
              <a:t>Represent </a:t>
            </a:r>
            <a:r>
              <a:rPr lang="en-IN" b="1" dirty="0">
                <a:solidFill>
                  <a:srgbClr val="C00000"/>
                </a:solidFill>
              </a:rPr>
              <a:t>thread a </a:t>
            </a:r>
            <a:r>
              <a:rPr lang="en-IN" b="1" dirty="0" smtClean="0">
                <a:solidFill>
                  <a:srgbClr val="C00000"/>
                </a:solidFill>
              </a:rPr>
              <a:t>Negative address</a:t>
            </a:r>
            <a:endParaRPr lang="en-IN" dirty="0">
              <a:solidFill>
                <a:srgbClr val="C00000"/>
              </a:solidFill>
            </a:endParaRPr>
          </a:p>
          <a:p>
            <a:r>
              <a:rPr lang="en-IN" b="1" dirty="0" smtClean="0"/>
              <a:t>Method </a:t>
            </a:r>
            <a:r>
              <a:rPr lang="en-IN" b="1" dirty="0"/>
              <a:t>2:- </a:t>
            </a:r>
            <a:r>
              <a:rPr lang="en-IN" dirty="0"/>
              <a:t>To have a </a:t>
            </a:r>
            <a:r>
              <a:rPr lang="en-IN" b="1" dirty="0">
                <a:solidFill>
                  <a:srgbClr val="C00000"/>
                </a:solidFill>
              </a:rPr>
              <a:t>separate Boolean flag </a:t>
            </a:r>
            <a:r>
              <a:rPr lang="en-IN" dirty="0"/>
              <a:t>for each of left and right pointers, node structure for this is given </a:t>
            </a:r>
            <a:r>
              <a:rPr lang="en-IN" dirty="0" smtClean="0"/>
              <a:t>below</a:t>
            </a:r>
            <a:endParaRPr lang="en-US" dirty="0"/>
          </a:p>
        </p:txBody>
      </p:sp>
      <p:sp>
        <p:nvSpPr>
          <p:cNvPr id="5" name="Rectangle 4"/>
          <p:cNvSpPr/>
          <p:nvPr/>
        </p:nvSpPr>
        <p:spPr>
          <a:xfrm>
            <a:off x="5377654"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DATA</a:t>
            </a:r>
            <a:endParaRPr lang="en-US" sz="2000" b="1" dirty="0"/>
          </a:p>
        </p:txBody>
      </p:sp>
      <p:sp>
        <p:nvSpPr>
          <p:cNvPr id="6" name="Rectangle 5"/>
          <p:cNvSpPr/>
          <p:nvPr/>
        </p:nvSpPr>
        <p:spPr>
          <a:xfrm>
            <a:off x="3942914"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LTHREAD</a:t>
            </a:r>
            <a:endParaRPr lang="en-US" sz="2000" b="1" dirty="0"/>
          </a:p>
        </p:txBody>
      </p:sp>
      <p:sp>
        <p:nvSpPr>
          <p:cNvPr id="7" name="Rectangle 6"/>
          <p:cNvSpPr/>
          <p:nvPr/>
        </p:nvSpPr>
        <p:spPr>
          <a:xfrm>
            <a:off x="8256010"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RPTR</a:t>
            </a:r>
            <a:endParaRPr lang="en-US" sz="2000" b="1" dirty="0"/>
          </a:p>
        </p:txBody>
      </p:sp>
      <p:sp>
        <p:nvSpPr>
          <p:cNvPr id="8" name="TextBox 7"/>
          <p:cNvSpPr txBox="1"/>
          <p:nvPr/>
        </p:nvSpPr>
        <p:spPr>
          <a:xfrm>
            <a:off x="3644153" y="2998635"/>
            <a:ext cx="4477000" cy="400110"/>
          </a:xfrm>
          <a:prstGeom prst="rect">
            <a:avLst/>
          </a:prstGeom>
          <a:noFill/>
        </p:spPr>
        <p:txBody>
          <a:bodyPr wrap="square" rtlCol="0">
            <a:spAutoFit/>
          </a:bodyPr>
          <a:lstStyle/>
          <a:p>
            <a:pPr algn="ctr"/>
            <a:r>
              <a:rPr lang="en-IN" sz="2000" b="1" dirty="0"/>
              <a:t>Typical node of Threaded Binary Tree</a:t>
            </a:r>
            <a:endParaRPr lang="en-US" sz="2000" b="1" dirty="0"/>
          </a:p>
        </p:txBody>
      </p:sp>
      <p:sp>
        <p:nvSpPr>
          <p:cNvPr id="9" name="Rectangle 8"/>
          <p:cNvSpPr/>
          <p:nvPr/>
        </p:nvSpPr>
        <p:spPr>
          <a:xfrm>
            <a:off x="2501159"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LPTR</a:t>
            </a:r>
            <a:endParaRPr lang="en-US" sz="2000" b="1" dirty="0"/>
          </a:p>
        </p:txBody>
      </p:sp>
      <p:sp>
        <p:nvSpPr>
          <p:cNvPr id="10" name="Rectangle 9"/>
          <p:cNvSpPr/>
          <p:nvPr/>
        </p:nvSpPr>
        <p:spPr>
          <a:xfrm>
            <a:off x="6819072"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RTHREAD</a:t>
            </a:r>
            <a:endParaRPr lang="en-US" sz="2000" b="1" dirty="0"/>
          </a:p>
        </p:txBody>
      </p:sp>
      <p:sp>
        <p:nvSpPr>
          <p:cNvPr id="11" name="TextBox 10"/>
          <p:cNvSpPr txBox="1"/>
          <p:nvPr/>
        </p:nvSpPr>
        <p:spPr>
          <a:xfrm>
            <a:off x="3453510" y="3600272"/>
            <a:ext cx="4852290" cy="1200329"/>
          </a:xfrm>
          <a:prstGeom prst="rect">
            <a:avLst/>
          </a:prstGeom>
          <a:noFill/>
        </p:spPr>
        <p:txBody>
          <a:bodyPr wrap="none" rtlCol="0">
            <a:spAutoFit/>
          </a:bodyPr>
          <a:lstStyle/>
          <a:p>
            <a:pPr marL="285750" indent="-285750">
              <a:buFont typeface="Arial" pitchFamily="34" charset="0"/>
              <a:buChar char="•"/>
            </a:pPr>
            <a:r>
              <a:rPr lang="en-US" b="1" dirty="0"/>
              <a:t>LTHREAD = true = </a:t>
            </a:r>
            <a:r>
              <a:rPr lang="en-US" dirty="0"/>
              <a:t>Denotes leaf thread link</a:t>
            </a:r>
          </a:p>
          <a:p>
            <a:pPr marL="285750" indent="-285750">
              <a:buFont typeface="Arial" pitchFamily="34" charset="0"/>
              <a:buChar char="•"/>
            </a:pPr>
            <a:r>
              <a:rPr lang="en-US" b="1" dirty="0"/>
              <a:t>LTHREAD = false =</a:t>
            </a:r>
            <a:r>
              <a:rPr lang="en-US" dirty="0"/>
              <a:t> Denotes leaf structural link</a:t>
            </a:r>
          </a:p>
          <a:p>
            <a:pPr marL="285750" indent="-285750">
              <a:buFont typeface="Arial" pitchFamily="34" charset="0"/>
              <a:buChar char="•"/>
            </a:pPr>
            <a:r>
              <a:rPr lang="en-US" b="1" dirty="0"/>
              <a:t>RTHREAD = true =</a:t>
            </a:r>
            <a:r>
              <a:rPr lang="en-US" dirty="0"/>
              <a:t> Denotes right threaded link</a:t>
            </a:r>
          </a:p>
          <a:p>
            <a:pPr marL="285750" indent="-285750">
              <a:buFont typeface="Arial" pitchFamily="34" charset="0"/>
              <a:buChar char="•"/>
            </a:pPr>
            <a:r>
              <a:rPr lang="en-US" b="1" dirty="0"/>
              <a:t>RTHREAD = false =</a:t>
            </a:r>
            <a:r>
              <a:rPr lang="en-US" dirty="0"/>
              <a:t> Denotes right structural link</a:t>
            </a:r>
          </a:p>
        </p:txBody>
      </p:sp>
      <p:sp>
        <p:nvSpPr>
          <p:cNvPr id="12" name="TextBox 11"/>
          <p:cNvSpPr txBox="1"/>
          <p:nvPr/>
        </p:nvSpPr>
        <p:spPr>
          <a:xfrm>
            <a:off x="860399" y="5261836"/>
            <a:ext cx="7260754" cy="1015663"/>
          </a:xfrm>
          <a:prstGeom prst="rect">
            <a:avLst/>
          </a:prstGeom>
          <a:noFill/>
        </p:spPr>
        <p:txBody>
          <a:bodyPr wrap="square" rtlCol="0">
            <a:spAutoFit/>
          </a:bodyPr>
          <a:lstStyle/>
          <a:p>
            <a:pPr lvl="0" algn="ctr"/>
            <a:r>
              <a:rPr lang="en-US" sz="2000" b="1" dirty="0"/>
              <a:t>Head node is simply another node which serves as the </a:t>
            </a:r>
            <a:r>
              <a:rPr lang="en-US" sz="2000" b="1" dirty="0" smtClean="0"/>
              <a:t>predecessor and </a:t>
            </a:r>
            <a:r>
              <a:rPr lang="en-US" sz="2000" b="1" dirty="0"/>
              <a:t>successor of first and last tree </a:t>
            </a:r>
            <a:r>
              <a:rPr lang="en-US" sz="2000" b="1" dirty="0" smtClean="0"/>
              <a:t>nodes. </a:t>
            </a:r>
          </a:p>
          <a:p>
            <a:pPr lvl="0" algn="ctr"/>
            <a:r>
              <a:rPr lang="en-US" sz="2000" b="1" dirty="0" smtClean="0"/>
              <a:t>Tree </a:t>
            </a:r>
            <a:r>
              <a:rPr lang="en-US" sz="2000" b="1" dirty="0"/>
              <a:t>is attached to the left branch of the head </a:t>
            </a:r>
            <a:r>
              <a:rPr lang="en-US" sz="2000" b="1" dirty="0" smtClean="0"/>
              <a:t>node.</a:t>
            </a:r>
            <a:endParaRPr lang="en-US" sz="2000" b="1" dirty="0"/>
          </a:p>
        </p:txBody>
      </p:sp>
      <p:grpSp>
        <p:nvGrpSpPr>
          <p:cNvPr id="13" name="Group 12"/>
          <p:cNvGrpSpPr/>
          <p:nvPr/>
        </p:nvGrpSpPr>
        <p:grpSpPr>
          <a:xfrm>
            <a:off x="9544226" y="4164837"/>
            <a:ext cx="2083904" cy="381000"/>
            <a:chOff x="-76200" y="4191000"/>
            <a:chExt cx="1997075" cy="381000"/>
          </a:xfrm>
        </p:grpSpPr>
        <p:sp>
          <p:nvSpPr>
            <p:cNvPr id="14" name="Rectangle 13"/>
            <p:cNvSpPr/>
            <p:nvPr/>
          </p:nvSpPr>
          <p:spPr>
            <a:xfrm>
              <a:off x="609599" y="4191000"/>
              <a:ext cx="628651"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b="1" dirty="0"/>
            </a:p>
          </p:txBody>
        </p:sp>
        <p:sp>
          <p:nvSpPr>
            <p:cNvPr id="15" name="Rectangle 14"/>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6" name="Rectangle 15"/>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cxnSp>
        <p:nvCxnSpPr>
          <p:cNvPr id="19" name="Curved Connector 18"/>
          <p:cNvCxnSpPr>
            <a:stCxn id="16" idx="3"/>
            <a:endCxn id="14" idx="2"/>
          </p:cNvCxnSpPr>
          <p:nvPr/>
        </p:nvCxnSpPr>
        <p:spPr>
          <a:xfrm flipH="1">
            <a:off x="10587834" y="4355337"/>
            <a:ext cx="1040296" cy="190500"/>
          </a:xfrm>
          <a:prstGeom prst="curvedConnector4">
            <a:avLst>
              <a:gd name="adj1" fmla="val -10559"/>
              <a:gd name="adj2" fmla="val 388312"/>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5" name="Curved Connector 24"/>
          <p:cNvCxnSpPr>
            <a:stCxn id="15" idx="1"/>
            <a:endCxn id="14" idx="2"/>
          </p:cNvCxnSpPr>
          <p:nvPr/>
        </p:nvCxnSpPr>
        <p:spPr>
          <a:xfrm rot="10800000" flipH="1" flipV="1">
            <a:off x="9544226" y="4355337"/>
            <a:ext cx="1043608" cy="190500"/>
          </a:xfrm>
          <a:prstGeom prst="curvedConnector4">
            <a:avLst>
              <a:gd name="adj1" fmla="val -19629"/>
              <a:gd name="adj2" fmla="val 357143"/>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32" name="TextBox 31"/>
          <p:cNvSpPr txBox="1"/>
          <p:nvPr/>
        </p:nvSpPr>
        <p:spPr>
          <a:xfrm>
            <a:off x="10208252" y="3719305"/>
            <a:ext cx="725263" cy="369332"/>
          </a:xfrm>
          <a:prstGeom prst="rect">
            <a:avLst/>
          </a:prstGeom>
          <a:noFill/>
        </p:spPr>
        <p:txBody>
          <a:bodyPr wrap="none" rtlCol="0">
            <a:spAutoFit/>
          </a:bodyPr>
          <a:lstStyle/>
          <a:p>
            <a:pPr algn="ctr"/>
            <a:r>
              <a:rPr lang="en-IN" b="1" dirty="0"/>
              <a:t>HEAD</a:t>
            </a:r>
            <a:endParaRPr lang="en-US" b="1" dirty="0"/>
          </a:p>
        </p:txBody>
      </p:sp>
    </p:spTree>
    <p:extLst>
      <p:ext uri="{BB962C8B-B14F-4D97-AF65-F5344CB8AC3E}">
        <p14:creationId xmlns:p14="http://schemas.microsoft.com/office/powerpoint/2010/main" val="265327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animBg="1"/>
      <p:bldP spid="10" grpId="0" animBg="1"/>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Threaded Binary Tree</a:t>
            </a:r>
          </a:p>
        </p:txBody>
      </p:sp>
      <p:sp>
        <p:nvSpPr>
          <p:cNvPr id="4" name="Oval 3"/>
          <p:cNvSpPr/>
          <p:nvPr/>
        </p:nvSpPr>
        <p:spPr>
          <a:xfrm>
            <a:off x="1806391" y="115466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1317815" y="21183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842686"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1958791"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8" name="Oval 7"/>
          <p:cNvSpPr/>
          <p:nvPr/>
        </p:nvSpPr>
        <p:spPr>
          <a:xfrm>
            <a:off x="2382373" y="21183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9" name="Oval 8"/>
          <p:cNvSpPr/>
          <p:nvPr/>
        </p:nvSpPr>
        <p:spPr>
          <a:xfrm>
            <a:off x="2819402"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10" name="Oval 9"/>
          <p:cNvSpPr/>
          <p:nvPr/>
        </p:nvSpPr>
        <p:spPr>
          <a:xfrm>
            <a:off x="2382373" y="38440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cxnSp>
        <p:nvCxnSpPr>
          <p:cNvPr id="11" name="Straight Arrow Connector 10"/>
          <p:cNvCxnSpPr>
            <a:stCxn id="4" idx="3"/>
            <a:endCxn id="5" idx="0"/>
          </p:cNvCxnSpPr>
          <p:nvPr/>
        </p:nvCxnSpPr>
        <p:spPr>
          <a:xfrm flipH="1">
            <a:off x="1598615" y="1634024"/>
            <a:ext cx="290020"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5" idx="3"/>
            <a:endCxn id="6" idx="0"/>
          </p:cNvCxnSpPr>
          <p:nvPr/>
        </p:nvCxnSpPr>
        <p:spPr>
          <a:xfrm flipH="1">
            <a:off x="1123486" y="2597729"/>
            <a:ext cx="276573"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4" idx="5"/>
            <a:endCxn id="8" idx="0"/>
          </p:cNvCxnSpPr>
          <p:nvPr/>
        </p:nvCxnSpPr>
        <p:spPr>
          <a:xfrm>
            <a:off x="2285747" y="1634024"/>
            <a:ext cx="377426"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8" idx="3"/>
            <a:endCxn id="7" idx="0"/>
          </p:cNvCxnSpPr>
          <p:nvPr/>
        </p:nvCxnSpPr>
        <p:spPr>
          <a:xfrm flipH="1">
            <a:off x="2239591" y="2597729"/>
            <a:ext cx="225026"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8" idx="5"/>
            <a:endCxn id="9" idx="0"/>
          </p:cNvCxnSpPr>
          <p:nvPr/>
        </p:nvCxnSpPr>
        <p:spPr>
          <a:xfrm>
            <a:off x="2861729" y="2597729"/>
            <a:ext cx="238473"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5"/>
            <a:endCxn id="10" idx="0"/>
          </p:cNvCxnSpPr>
          <p:nvPr/>
        </p:nvCxnSpPr>
        <p:spPr>
          <a:xfrm>
            <a:off x="2438147" y="3480752"/>
            <a:ext cx="225026" cy="3633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22" name="Group 21"/>
          <p:cNvGrpSpPr/>
          <p:nvPr/>
        </p:nvGrpSpPr>
        <p:grpSpPr>
          <a:xfrm>
            <a:off x="7162798" y="2335306"/>
            <a:ext cx="1066800" cy="381000"/>
            <a:chOff x="304800" y="4191000"/>
            <a:chExt cx="1066800" cy="381000"/>
          </a:xfrm>
        </p:grpSpPr>
        <p:sp>
          <p:nvSpPr>
            <p:cNvPr id="23" name="Rectangle 2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24" name="Rectangle 2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5" name="Rectangle 2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26" name="Group 25"/>
          <p:cNvGrpSpPr/>
          <p:nvPr/>
        </p:nvGrpSpPr>
        <p:grpSpPr>
          <a:xfrm>
            <a:off x="5943598" y="3325906"/>
            <a:ext cx="1066800" cy="381000"/>
            <a:chOff x="304800" y="4191000"/>
            <a:chExt cx="1066800" cy="381000"/>
          </a:xfrm>
        </p:grpSpPr>
        <p:sp>
          <p:nvSpPr>
            <p:cNvPr id="27" name="Rectangle 2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28" name="Rectangle 2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9" name="Rectangle 2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0" name="Group 29"/>
          <p:cNvGrpSpPr/>
          <p:nvPr/>
        </p:nvGrpSpPr>
        <p:grpSpPr>
          <a:xfrm>
            <a:off x="8305798" y="3325906"/>
            <a:ext cx="1066800" cy="381000"/>
            <a:chOff x="304800" y="4191000"/>
            <a:chExt cx="1066800" cy="381000"/>
          </a:xfrm>
        </p:grpSpPr>
        <p:sp>
          <p:nvSpPr>
            <p:cNvPr id="31" name="Rectangle 30"/>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32" name="Rectangle 31"/>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3" name="Rectangle 32"/>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4" name="Group 33"/>
          <p:cNvGrpSpPr/>
          <p:nvPr/>
        </p:nvGrpSpPr>
        <p:grpSpPr>
          <a:xfrm>
            <a:off x="4952998" y="4468906"/>
            <a:ext cx="1066800" cy="381000"/>
            <a:chOff x="304800" y="4191000"/>
            <a:chExt cx="1066800" cy="381000"/>
          </a:xfrm>
        </p:grpSpPr>
        <p:sp>
          <p:nvSpPr>
            <p:cNvPr id="35" name="Rectangle 3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36" name="Rectangle 3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7" name="Rectangle 3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8" name="Group 37"/>
          <p:cNvGrpSpPr/>
          <p:nvPr/>
        </p:nvGrpSpPr>
        <p:grpSpPr>
          <a:xfrm>
            <a:off x="7391398" y="4468906"/>
            <a:ext cx="1066800" cy="381000"/>
            <a:chOff x="304800" y="4191000"/>
            <a:chExt cx="1066800" cy="381000"/>
          </a:xfrm>
        </p:grpSpPr>
        <p:sp>
          <p:nvSpPr>
            <p:cNvPr id="39" name="Rectangle 3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40" name="Rectangle 3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1" name="Rectangle 4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2" name="Group 41"/>
          <p:cNvGrpSpPr/>
          <p:nvPr/>
        </p:nvGrpSpPr>
        <p:grpSpPr>
          <a:xfrm>
            <a:off x="9372598" y="4468906"/>
            <a:ext cx="1066800" cy="381000"/>
            <a:chOff x="304800" y="4191000"/>
            <a:chExt cx="1066800" cy="381000"/>
          </a:xfrm>
        </p:grpSpPr>
        <p:sp>
          <p:nvSpPr>
            <p:cNvPr id="43" name="Rectangle 4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44" name="Rectangle 4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5" name="Rectangle 4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6" name="Group 45"/>
          <p:cNvGrpSpPr/>
          <p:nvPr/>
        </p:nvGrpSpPr>
        <p:grpSpPr>
          <a:xfrm>
            <a:off x="8381998" y="5535706"/>
            <a:ext cx="1066800" cy="381000"/>
            <a:chOff x="304800" y="4191000"/>
            <a:chExt cx="1066800" cy="381000"/>
          </a:xfrm>
        </p:grpSpPr>
        <p:sp>
          <p:nvSpPr>
            <p:cNvPr id="47" name="Rectangle 4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sp>
          <p:nvSpPr>
            <p:cNvPr id="48" name="Rectangle 4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9" name="Rectangle 4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0" name="Freeform 49"/>
          <p:cNvSpPr/>
          <p:nvPr/>
        </p:nvSpPr>
        <p:spPr>
          <a:xfrm>
            <a:off x="6464654" y="2511611"/>
            <a:ext cx="829994" cy="825964"/>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1" name="Freeform 50"/>
          <p:cNvSpPr/>
          <p:nvPr/>
        </p:nvSpPr>
        <p:spPr>
          <a:xfrm>
            <a:off x="5511018" y="3497063"/>
            <a:ext cx="508781" cy="974188"/>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2" name="Freeform 51"/>
          <p:cNvSpPr/>
          <p:nvPr/>
        </p:nvSpPr>
        <p:spPr>
          <a:xfrm>
            <a:off x="8083060" y="2511611"/>
            <a:ext cx="731520" cy="825964"/>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3" name="Freeform 52"/>
          <p:cNvSpPr/>
          <p:nvPr/>
        </p:nvSpPr>
        <p:spPr>
          <a:xfrm>
            <a:off x="7886112" y="3525199"/>
            <a:ext cx="534572" cy="946053"/>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4" name="Freeform 53"/>
          <p:cNvSpPr/>
          <p:nvPr/>
        </p:nvSpPr>
        <p:spPr>
          <a:xfrm>
            <a:off x="9236610" y="3482996"/>
            <a:ext cx="647114" cy="988256"/>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5" name="Freeform 54"/>
          <p:cNvSpPr/>
          <p:nvPr/>
        </p:nvSpPr>
        <p:spPr>
          <a:xfrm>
            <a:off x="8322211" y="4618962"/>
            <a:ext cx="534573" cy="916745"/>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56" name="Straight Connector 55"/>
          <p:cNvCxnSpPr/>
          <p:nvPr/>
        </p:nvCxnSpPr>
        <p:spPr>
          <a:xfrm flipH="1">
            <a:off x="6705598" y="33282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7" name="Straight Connector 56"/>
          <p:cNvCxnSpPr/>
          <p:nvPr/>
        </p:nvCxnSpPr>
        <p:spPr>
          <a:xfrm flipH="1">
            <a:off x="4952998" y="44712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8" name="Straight Connector 57"/>
          <p:cNvCxnSpPr/>
          <p:nvPr/>
        </p:nvCxnSpPr>
        <p:spPr>
          <a:xfrm flipH="1">
            <a:off x="57149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9" name="Straight Connector 58"/>
          <p:cNvCxnSpPr/>
          <p:nvPr/>
        </p:nvCxnSpPr>
        <p:spPr>
          <a:xfrm flipH="1">
            <a:off x="73913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0" name="Straight Connector 59"/>
          <p:cNvCxnSpPr/>
          <p:nvPr/>
        </p:nvCxnSpPr>
        <p:spPr>
          <a:xfrm flipH="1">
            <a:off x="93725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1" name="Straight Connector 60"/>
          <p:cNvCxnSpPr/>
          <p:nvPr/>
        </p:nvCxnSpPr>
        <p:spPr>
          <a:xfrm flipH="1">
            <a:off x="101345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2" name="Straight Connector 61"/>
          <p:cNvCxnSpPr/>
          <p:nvPr/>
        </p:nvCxnSpPr>
        <p:spPr>
          <a:xfrm flipH="1">
            <a:off x="9143998" y="55380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3" name="Straight Connector 62"/>
          <p:cNvCxnSpPr/>
          <p:nvPr/>
        </p:nvCxnSpPr>
        <p:spPr>
          <a:xfrm flipH="1">
            <a:off x="8381998" y="55357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66" name="TextBox 65"/>
          <p:cNvSpPr txBox="1"/>
          <p:nvPr/>
        </p:nvSpPr>
        <p:spPr>
          <a:xfrm>
            <a:off x="917589" y="5207456"/>
            <a:ext cx="2215671" cy="461665"/>
          </a:xfrm>
          <a:prstGeom prst="rect">
            <a:avLst/>
          </a:prstGeom>
          <a:noFill/>
        </p:spPr>
        <p:txBody>
          <a:bodyPr wrap="none" rtlCol="0">
            <a:spAutoFit/>
          </a:bodyPr>
          <a:lstStyle/>
          <a:p>
            <a:r>
              <a:rPr lang="en-US" sz="2400" b="1" dirty="0"/>
              <a:t>C  B  A  E  F  D  G</a:t>
            </a:r>
          </a:p>
        </p:txBody>
      </p:sp>
      <p:sp>
        <p:nvSpPr>
          <p:cNvPr id="67" name="TextBox 66"/>
          <p:cNvSpPr txBox="1"/>
          <p:nvPr/>
        </p:nvSpPr>
        <p:spPr>
          <a:xfrm>
            <a:off x="1046630" y="4726538"/>
            <a:ext cx="1957588" cy="400110"/>
          </a:xfrm>
          <a:prstGeom prst="rect">
            <a:avLst/>
          </a:prstGeom>
          <a:noFill/>
        </p:spPr>
        <p:txBody>
          <a:bodyPr wrap="none" rtlCol="0">
            <a:spAutoFit/>
          </a:bodyPr>
          <a:lstStyle/>
          <a:p>
            <a:pPr algn="ctr"/>
            <a:r>
              <a:rPr lang="en-IN" sz="2000" b="1" dirty="0" err="1"/>
              <a:t>Inorder</a:t>
            </a:r>
            <a:r>
              <a:rPr lang="en-IN" sz="2000" b="1" dirty="0"/>
              <a:t> Traversal</a:t>
            </a:r>
            <a:endParaRPr lang="en-US" sz="2000" b="1" dirty="0"/>
          </a:p>
        </p:txBody>
      </p:sp>
      <p:cxnSp>
        <p:nvCxnSpPr>
          <p:cNvPr id="69" name="Straight Connector 68"/>
          <p:cNvCxnSpPr/>
          <p:nvPr/>
        </p:nvCxnSpPr>
        <p:spPr>
          <a:xfrm>
            <a:off x="4137211" y="1066801"/>
            <a:ext cx="0" cy="5179255"/>
          </a:xfrm>
          <a:prstGeom prst="line">
            <a:avLst/>
          </a:prstGeom>
        </p:spPr>
        <p:style>
          <a:lnRef idx="2">
            <a:schemeClr val="dk1"/>
          </a:lnRef>
          <a:fillRef idx="0">
            <a:schemeClr val="dk1"/>
          </a:fillRef>
          <a:effectRef idx="1">
            <a:schemeClr val="dk1"/>
          </a:effectRef>
          <a:fontRef idx="minor">
            <a:schemeClr val="tx1"/>
          </a:fontRef>
        </p:style>
      </p:cxnSp>
      <p:grpSp>
        <p:nvGrpSpPr>
          <p:cNvPr id="70" name="Group 69"/>
          <p:cNvGrpSpPr/>
          <p:nvPr/>
        </p:nvGrpSpPr>
        <p:grpSpPr>
          <a:xfrm>
            <a:off x="6602894" y="1420906"/>
            <a:ext cx="2083904" cy="381000"/>
            <a:chOff x="-76200" y="4191000"/>
            <a:chExt cx="1997075" cy="381000"/>
          </a:xfrm>
        </p:grpSpPr>
        <p:sp>
          <p:nvSpPr>
            <p:cNvPr id="71" name="Rectangle 70"/>
            <p:cNvSpPr/>
            <p:nvPr/>
          </p:nvSpPr>
          <p:spPr>
            <a:xfrm>
              <a:off x="609599" y="4191000"/>
              <a:ext cx="628651"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b="1" dirty="0"/>
            </a:p>
          </p:txBody>
        </p:sp>
        <p:sp>
          <p:nvSpPr>
            <p:cNvPr id="72" name="Rectangle 71"/>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3" name="Rectangle 72"/>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sp>
        <p:nvSpPr>
          <p:cNvPr id="74" name="TextBox 73"/>
          <p:cNvSpPr txBox="1"/>
          <p:nvPr/>
        </p:nvSpPr>
        <p:spPr>
          <a:xfrm>
            <a:off x="7275736" y="975374"/>
            <a:ext cx="725263" cy="369332"/>
          </a:xfrm>
          <a:prstGeom prst="rect">
            <a:avLst/>
          </a:prstGeom>
          <a:noFill/>
        </p:spPr>
        <p:txBody>
          <a:bodyPr wrap="none" rtlCol="0">
            <a:spAutoFit/>
          </a:bodyPr>
          <a:lstStyle/>
          <a:p>
            <a:pPr algn="ctr"/>
            <a:r>
              <a:rPr lang="en-IN" b="1" dirty="0"/>
              <a:t>HEAD</a:t>
            </a:r>
            <a:endParaRPr lang="en-US" b="1" dirty="0"/>
          </a:p>
        </p:txBody>
      </p:sp>
      <p:cxnSp>
        <p:nvCxnSpPr>
          <p:cNvPr id="76" name="Straight Arrow Connector 75"/>
          <p:cNvCxnSpPr>
            <a:stCxn id="29" idx="3"/>
            <a:endCxn id="23" idx="2"/>
          </p:cNvCxnSpPr>
          <p:nvPr/>
        </p:nvCxnSpPr>
        <p:spPr>
          <a:xfrm flipV="1">
            <a:off x="7010398" y="2716306"/>
            <a:ext cx="685800" cy="8001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78" name="Straight Arrow Connector 77"/>
          <p:cNvCxnSpPr>
            <a:stCxn id="37" idx="3"/>
            <a:endCxn id="27" idx="2"/>
          </p:cNvCxnSpPr>
          <p:nvPr/>
        </p:nvCxnSpPr>
        <p:spPr>
          <a:xfrm flipV="1">
            <a:off x="6019798" y="3706906"/>
            <a:ext cx="457200" cy="9525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80" name="Straight Arrow Connector 79"/>
          <p:cNvCxnSpPr>
            <a:stCxn id="40" idx="0"/>
            <a:endCxn id="23" idx="2"/>
          </p:cNvCxnSpPr>
          <p:nvPr/>
        </p:nvCxnSpPr>
        <p:spPr>
          <a:xfrm flipV="1">
            <a:off x="7543798" y="2716306"/>
            <a:ext cx="152400" cy="17526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82" name="Straight Arrow Connector 81"/>
          <p:cNvCxnSpPr>
            <a:stCxn id="48" idx="0"/>
            <a:endCxn id="39" idx="2"/>
          </p:cNvCxnSpPr>
          <p:nvPr/>
        </p:nvCxnSpPr>
        <p:spPr>
          <a:xfrm flipH="1" flipV="1">
            <a:off x="7924798" y="4849906"/>
            <a:ext cx="609600" cy="685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84" name="Straight Arrow Connector 83"/>
          <p:cNvCxnSpPr>
            <a:stCxn id="49" idx="0"/>
            <a:endCxn id="31" idx="2"/>
          </p:cNvCxnSpPr>
          <p:nvPr/>
        </p:nvCxnSpPr>
        <p:spPr>
          <a:xfrm flipH="1" flipV="1">
            <a:off x="8839198" y="3706906"/>
            <a:ext cx="457200" cy="1828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86" name="Straight Arrow Connector 85"/>
          <p:cNvCxnSpPr>
            <a:stCxn id="44" idx="0"/>
            <a:endCxn id="31" idx="2"/>
          </p:cNvCxnSpPr>
          <p:nvPr/>
        </p:nvCxnSpPr>
        <p:spPr>
          <a:xfrm flipH="1" flipV="1">
            <a:off x="8839198" y="3706906"/>
            <a:ext cx="685800" cy="7620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sp>
        <p:nvSpPr>
          <p:cNvPr id="89" name="Freeform 88"/>
          <p:cNvSpPr/>
          <p:nvPr/>
        </p:nvSpPr>
        <p:spPr>
          <a:xfrm>
            <a:off x="5068782" y="1588151"/>
            <a:ext cx="1520042" cy="2873829"/>
          </a:xfrm>
          <a:custGeom>
            <a:avLst/>
            <a:gdLst>
              <a:gd name="connsiteX0" fmla="*/ 0 w 1520042"/>
              <a:gd name="connsiteY0" fmla="*/ 2873829 h 2873829"/>
              <a:gd name="connsiteX1" fmla="*/ 0 w 1520042"/>
              <a:gd name="connsiteY1" fmla="*/ 0 h 2873829"/>
              <a:gd name="connsiteX2" fmla="*/ 1520042 w 1520042"/>
              <a:gd name="connsiteY2" fmla="*/ 0 h 2873829"/>
            </a:gdLst>
            <a:ahLst/>
            <a:cxnLst>
              <a:cxn ang="0">
                <a:pos x="connsiteX0" y="connsiteY0"/>
              </a:cxn>
              <a:cxn ang="0">
                <a:pos x="connsiteX1" y="connsiteY1"/>
              </a:cxn>
              <a:cxn ang="0">
                <a:pos x="connsiteX2" y="connsiteY2"/>
              </a:cxn>
            </a:cxnLst>
            <a:rect l="l" t="t" r="r" b="b"/>
            <a:pathLst>
              <a:path w="1520042" h="2873829">
                <a:moveTo>
                  <a:pt x="0" y="2873829"/>
                </a:moveTo>
                <a:lnTo>
                  <a:pt x="0" y="0"/>
                </a:lnTo>
                <a:lnTo>
                  <a:pt x="1520042"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91" name="Freeform 90"/>
          <p:cNvSpPr/>
          <p:nvPr/>
        </p:nvSpPr>
        <p:spPr>
          <a:xfrm>
            <a:off x="8702633" y="1588151"/>
            <a:ext cx="1603169" cy="2873829"/>
          </a:xfrm>
          <a:custGeom>
            <a:avLst/>
            <a:gdLst>
              <a:gd name="connsiteX0" fmla="*/ 1603169 w 1603169"/>
              <a:gd name="connsiteY0" fmla="*/ 2873829 h 2873829"/>
              <a:gd name="connsiteX1" fmla="*/ 1603169 w 1603169"/>
              <a:gd name="connsiteY1" fmla="*/ 0 h 2873829"/>
              <a:gd name="connsiteX2" fmla="*/ 0 w 1603169"/>
              <a:gd name="connsiteY2" fmla="*/ 0 h 2873829"/>
            </a:gdLst>
            <a:ahLst/>
            <a:cxnLst>
              <a:cxn ang="0">
                <a:pos x="connsiteX0" y="connsiteY0"/>
              </a:cxn>
              <a:cxn ang="0">
                <a:pos x="connsiteX1" y="connsiteY1"/>
              </a:cxn>
              <a:cxn ang="0">
                <a:pos x="connsiteX2" y="connsiteY2"/>
              </a:cxn>
            </a:cxnLst>
            <a:rect l="l" t="t" r="r" b="b"/>
            <a:pathLst>
              <a:path w="1603169" h="2873829">
                <a:moveTo>
                  <a:pt x="1603169" y="2873829"/>
                </a:moveTo>
                <a:lnTo>
                  <a:pt x="1603169" y="0"/>
                </a:lnTo>
                <a:lnTo>
                  <a:pt x="0"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93" name="Straight Arrow Connector 92"/>
          <p:cNvCxnSpPr>
            <a:stCxn id="72" idx="2"/>
            <a:endCxn id="23" idx="0"/>
          </p:cNvCxnSpPr>
          <p:nvPr/>
        </p:nvCxnSpPr>
        <p:spPr>
          <a:xfrm>
            <a:off x="6960704" y="1801906"/>
            <a:ext cx="73549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4" name="TextBox 93"/>
          <p:cNvSpPr txBox="1"/>
          <p:nvPr/>
        </p:nvSpPr>
        <p:spPr>
          <a:xfrm>
            <a:off x="5663794" y="6096000"/>
            <a:ext cx="3238387" cy="400110"/>
          </a:xfrm>
          <a:prstGeom prst="rect">
            <a:avLst/>
          </a:prstGeom>
          <a:noFill/>
        </p:spPr>
        <p:txBody>
          <a:bodyPr wrap="none" rtlCol="0">
            <a:spAutoFit/>
          </a:bodyPr>
          <a:lstStyle/>
          <a:p>
            <a:pPr algn="ctr"/>
            <a:r>
              <a:rPr lang="en-IN" sz="2000" b="1" dirty="0"/>
              <a:t>Fully In-Threaded Binary Tree</a:t>
            </a:r>
            <a:endParaRPr lang="en-US" sz="2000" b="1" dirty="0"/>
          </a:p>
        </p:txBody>
      </p:sp>
    </p:spTree>
    <p:extLst>
      <p:ext uri="{BB962C8B-B14F-4D97-AF65-F5344CB8AC3E}">
        <p14:creationId xmlns:p14="http://schemas.microsoft.com/office/powerpoint/2010/main" val="145199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56"/>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76"/>
                                        </p:tgtEl>
                                        <p:attrNameLst>
                                          <p:attrName>style.visibility</p:attrName>
                                        </p:attrNameLst>
                                      </p:cBhvr>
                                      <p:to>
                                        <p:strVal val="visible"/>
                                      </p:to>
                                    </p:set>
                                    <p:animEffect transition="in" filter="wipe(down)">
                                      <p:cBhvr>
                                        <p:cTn id="93" dur="500"/>
                                        <p:tgtEl>
                                          <p:spTgt spid="7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xit" presetSubtype="0" fill="hold" nodeType="clickEffect">
                                  <p:stCondLst>
                                    <p:cond delay="0"/>
                                  </p:stCondLst>
                                  <p:childTnLst>
                                    <p:set>
                                      <p:cBhvr>
                                        <p:cTn id="97" dur="1" fill="hold">
                                          <p:stCondLst>
                                            <p:cond delay="0"/>
                                          </p:stCondLst>
                                        </p:cTn>
                                        <p:tgtEl>
                                          <p:spTgt spid="5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78"/>
                                        </p:tgtEl>
                                        <p:attrNameLst>
                                          <p:attrName>style.visibility</p:attrName>
                                        </p:attrNameLst>
                                      </p:cBhvr>
                                      <p:to>
                                        <p:strVal val="visible"/>
                                      </p:to>
                                    </p:set>
                                    <p:animEffect transition="in" filter="wipe(down)">
                                      <p:cBhvr>
                                        <p:cTn id="102" dur="500"/>
                                        <p:tgtEl>
                                          <p:spTgt spid="78"/>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59"/>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nodeType="clickEffect">
                                  <p:stCondLst>
                                    <p:cond delay="0"/>
                                  </p:stCondLst>
                                  <p:childTnLst>
                                    <p:set>
                                      <p:cBhvr>
                                        <p:cTn id="110" dur="1" fill="hold">
                                          <p:stCondLst>
                                            <p:cond delay="0"/>
                                          </p:stCondLst>
                                        </p:cTn>
                                        <p:tgtEl>
                                          <p:spTgt spid="80"/>
                                        </p:tgtEl>
                                        <p:attrNameLst>
                                          <p:attrName>style.visibility</p:attrName>
                                        </p:attrNameLst>
                                      </p:cBhvr>
                                      <p:to>
                                        <p:strVal val="visible"/>
                                      </p:to>
                                    </p:set>
                                    <p:animEffect transition="in" filter="wipe(down)">
                                      <p:cBhvr>
                                        <p:cTn id="111" dur="500"/>
                                        <p:tgtEl>
                                          <p:spTgt spid="80"/>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nodeType="clickEffect">
                                  <p:stCondLst>
                                    <p:cond delay="0"/>
                                  </p:stCondLst>
                                  <p:childTnLst>
                                    <p:set>
                                      <p:cBhvr>
                                        <p:cTn id="115" dur="1" fill="hold">
                                          <p:stCondLst>
                                            <p:cond delay="0"/>
                                          </p:stCondLst>
                                        </p:cTn>
                                        <p:tgtEl>
                                          <p:spTgt spid="63"/>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82"/>
                                        </p:tgtEl>
                                        <p:attrNameLst>
                                          <p:attrName>style.visibility</p:attrName>
                                        </p:attrNameLst>
                                      </p:cBhvr>
                                      <p:to>
                                        <p:strVal val="visible"/>
                                      </p:to>
                                    </p:set>
                                    <p:animEffect transition="in" filter="wipe(down)">
                                      <p:cBhvr>
                                        <p:cTn id="120" dur="500"/>
                                        <p:tgtEl>
                                          <p:spTgt spid="82"/>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nodeType="clickEffect">
                                  <p:stCondLst>
                                    <p:cond delay="0"/>
                                  </p:stCondLst>
                                  <p:childTnLst>
                                    <p:set>
                                      <p:cBhvr>
                                        <p:cTn id="124" dur="1" fill="hold">
                                          <p:stCondLst>
                                            <p:cond delay="0"/>
                                          </p:stCondLst>
                                        </p:cTn>
                                        <p:tgtEl>
                                          <p:spTgt spid="62"/>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84"/>
                                        </p:tgtEl>
                                        <p:attrNameLst>
                                          <p:attrName>style.visibility</p:attrName>
                                        </p:attrNameLst>
                                      </p:cBhvr>
                                      <p:to>
                                        <p:strVal val="visible"/>
                                      </p:to>
                                    </p:set>
                                    <p:animEffect transition="in" filter="wipe(down)">
                                      <p:cBhvr>
                                        <p:cTn id="129" dur="500"/>
                                        <p:tgtEl>
                                          <p:spTgt spid="84"/>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xit" presetSubtype="0" fill="hold" nodeType="clickEffect">
                                  <p:stCondLst>
                                    <p:cond delay="0"/>
                                  </p:stCondLst>
                                  <p:childTnLst>
                                    <p:set>
                                      <p:cBhvr>
                                        <p:cTn id="133" dur="1" fill="hold">
                                          <p:stCondLst>
                                            <p:cond delay="0"/>
                                          </p:stCondLst>
                                        </p:cTn>
                                        <p:tgtEl>
                                          <p:spTgt spid="60"/>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86"/>
                                        </p:tgtEl>
                                        <p:attrNameLst>
                                          <p:attrName>style.visibility</p:attrName>
                                        </p:attrNameLst>
                                      </p:cBhvr>
                                      <p:to>
                                        <p:strVal val="visible"/>
                                      </p:to>
                                    </p:set>
                                    <p:animEffect transition="in" filter="wipe(down)">
                                      <p:cBhvr>
                                        <p:cTn id="138" dur="500"/>
                                        <p:tgtEl>
                                          <p:spTgt spid="86"/>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70"/>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4"/>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nodeType="clickEffect">
                                  <p:stCondLst>
                                    <p:cond delay="0"/>
                                  </p:stCondLst>
                                  <p:childTnLst>
                                    <p:set>
                                      <p:cBhvr>
                                        <p:cTn id="148" dur="1" fill="hold">
                                          <p:stCondLst>
                                            <p:cond delay="0"/>
                                          </p:stCondLst>
                                        </p:cTn>
                                        <p:tgtEl>
                                          <p:spTgt spid="57"/>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89"/>
                                        </p:tgtEl>
                                        <p:attrNameLst>
                                          <p:attrName>style.visibility</p:attrName>
                                        </p:attrNameLst>
                                      </p:cBhvr>
                                      <p:to>
                                        <p:strVal val="visible"/>
                                      </p:to>
                                    </p:set>
                                    <p:animEffect transition="in" filter="wipe(left)">
                                      <p:cBhvr>
                                        <p:cTn id="153" dur="500"/>
                                        <p:tgtEl>
                                          <p:spTgt spid="89"/>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nodeType="clickEffect">
                                  <p:stCondLst>
                                    <p:cond delay="0"/>
                                  </p:stCondLst>
                                  <p:childTnLst>
                                    <p:set>
                                      <p:cBhvr>
                                        <p:cTn id="157" dur="1" fill="hold">
                                          <p:stCondLst>
                                            <p:cond delay="0"/>
                                          </p:stCondLst>
                                        </p:cTn>
                                        <p:tgtEl>
                                          <p:spTgt spid="61"/>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2" fill="hold" grpId="0" nodeType="clickEffect">
                                  <p:stCondLst>
                                    <p:cond delay="0"/>
                                  </p:stCondLst>
                                  <p:childTnLst>
                                    <p:set>
                                      <p:cBhvr>
                                        <p:cTn id="161" dur="1" fill="hold">
                                          <p:stCondLst>
                                            <p:cond delay="0"/>
                                          </p:stCondLst>
                                        </p:cTn>
                                        <p:tgtEl>
                                          <p:spTgt spid="91"/>
                                        </p:tgtEl>
                                        <p:attrNameLst>
                                          <p:attrName>style.visibility</p:attrName>
                                        </p:attrNameLst>
                                      </p:cBhvr>
                                      <p:to>
                                        <p:strVal val="visible"/>
                                      </p:to>
                                    </p:set>
                                    <p:animEffect transition="in" filter="wipe(right)">
                                      <p:cBhvr>
                                        <p:cTn id="162" dur="500"/>
                                        <p:tgtEl>
                                          <p:spTgt spid="91"/>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1" fill="hold" nodeType="clickEffect">
                                  <p:stCondLst>
                                    <p:cond delay="0"/>
                                  </p:stCondLst>
                                  <p:childTnLst>
                                    <p:set>
                                      <p:cBhvr>
                                        <p:cTn id="166" dur="1" fill="hold">
                                          <p:stCondLst>
                                            <p:cond delay="0"/>
                                          </p:stCondLst>
                                        </p:cTn>
                                        <p:tgtEl>
                                          <p:spTgt spid="93"/>
                                        </p:tgtEl>
                                        <p:attrNameLst>
                                          <p:attrName>style.visibility</p:attrName>
                                        </p:attrNameLst>
                                      </p:cBhvr>
                                      <p:to>
                                        <p:strVal val="visible"/>
                                      </p:to>
                                    </p:set>
                                    <p:animEffect transition="in" filter="wipe(up)">
                                      <p:cBhvr>
                                        <p:cTn id="167" dur="500"/>
                                        <p:tgtEl>
                                          <p:spTgt spid="93"/>
                                        </p:tgtEl>
                                      </p:cBhvr>
                                    </p:animEffec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50" grpId="0" animBg="1"/>
      <p:bldP spid="51" grpId="0" animBg="1"/>
      <p:bldP spid="52" grpId="0" animBg="1"/>
      <p:bldP spid="53" grpId="0" animBg="1"/>
      <p:bldP spid="54" grpId="0" animBg="1"/>
      <p:bldP spid="55" grpId="0" animBg="1"/>
      <p:bldP spid="66" grpId="0"/>
      <p:bldP spid="67" grpId="0"/>
      <p:bldP spid="74" grpId="0"/>
      <p:bldP spid="89" grpId="0" animBg="1"/>
      <p:bldP spid="91" grpId="0" animBg="1"/>
      <p:bldP spid="9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Threaded Binary Tree</a:t>
            </a:r>
          </a:p>
        </p:txBody>
      </p:sp>
      <p:sp>
        <p:nvSpPr>
          <p:cNvPr id="4" name="Oval 3"/>
          <p:cNvSpPr/>
          <p:nvPr/>
        </p:nvSpPr>
        <p:spPr>
          <a:xfrm>
            <a:off x="1882845" y="11345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5" name="Oval 4"/>
          <p:cNvSpPr/>
          <p:nvPr/>
        </p:nvSpPr>
        <p:spPr>
          <a:xfrm>
            <a:off x="1000079" y="206458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6" name="Oval 5"/>
          <p:cNvSpPr/>
          <p:nvPr/>
        </p:nvSpPr>
        <p:spPr>
          <a:xfrm>
            <a:off x="484609"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7" name="Oval 6"/>
          <p:cNvSpPr/>
          <p:nvPr/>
        </p:nvSpPr>
        <p:spPr>
          <a:xfrm>
            <a:off x="2264101"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sp>
        <p:nvSpPr>
          <p:cNvPr id="8" name="Oval 7"/>
          <p:cNvSpPr/>
          <p:nvPr/>
        </p:nvSpPr>
        <p:spPr>
          <a:xfrm>
            <a:off x="2745430" y="206458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9" name="Oval 8"/>
          <p:cNvSpPr/>
          <p:nvPr/>
        </p:nvSpPr>
        <p:spPr>
          <a:xfrm>
            <a:off x="3281594"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H</a:t>
            </a:r>
            <a:endParaRPr lang="en-US" sz="2000" b="1" dirty="0"/>
          </a:p>
        </p:txBody>
      </p:sp>
      <p:sp>
        <p:nvSpPr>
          <p:cNvPr id="10" name="Oval 9"/>
          <p:cNvSpPr/>
          <p:nvPr/>
        </p:nvSpPr>
        <p:spPr>
          <a:xfrm>
            <a:off x="2745430" y="38575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cxnSp>
        <p:nvCxnSpPr>
          <p:cNvPr id="11" name="Straight Arrow Connector 10"/>
          <p:cNvCxnSpPr>
            <a:stCxn id="4" idx="3"/>
            <a:endCxn id="5" idx="0"/>
          </p:cNvCxnSpPr>
          <p:nvPr/>
        </p:nvCxnSpPr>
        <p:spPr>
          <a:xfrm flipH="1">
            <a:off x="1280879" y="1613890"/>
            <a:ext cx="684210" cy="4506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5" idx="3"/>
            <a:endCxn id="6" idx="0"/>
          </p:cNvCxnSpPr>
          <p:nvPr/>
        </p:nvCxnSpPr>
        <p:spPr>
          <a:xfrm flipH="1">
            <a:off x="765409" y="2543941"/>
            <a:ext cx="316914"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4" idx="5"/>
            <a:endCxn id="8" idx="0"/>
          </p:cNvCxnSpPr>
          <p:nvPr/>
        </p:nvCxnSpPr>
        <p:spPr>
          <a:xfrm>
            <a:off x="2362201" y="1613890"/>
            <a:ext cx="664029" cy="4506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8" idx="3"/>
            <a:endCxn id="7" idx="0"/>
          </p:cNvCxnSpPr>
          <p:nvPr/>
        </p:nvCxnSpPr>
        <p:spPr>
          <a:xfrm flipH="1">
            <a:off x="2544901" y="2543941"/>
            <a:ext cx="282773"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a:stCxn id="8" idx="5"/>
            <a:endCxn id="9" idx="0"/>
          </p:cNvCxnSpPr>
          <p:nvPr/>
        </p:nvCxnSpPr>
        <p:spPr>
          <a:xfrm>
            <a:off x="3224786" y="2543941"/>
            <a:ext cx="337608"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5"/>
            <a:endCxn id="10" idx="0"/>
          </p:cNvCxnSpPr>
          <p:nvPr/>
        </p:nvCxnSpPr>
        <p:spPr>
          <a:xfrm>
            <a:off x="2743457" y="3440411"/>
            <a:ext cx="282773"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7" name="TextBox 16"/>
          <p:cNvSpPr txBox="1"/>
          <p:nvPr/>
        </p:nvSpPr>
        <p:spPr>
          <a:xfrm>
            <a:off x="809712" y="5127245"/>
            <a:ext cx="2371162" cy="523220"/>
          </a:xfrm>
          <a:prstGeom prst="rect">
            <a:avLst/>
          </a:prstGeom>
          <a:noFill/>
        </p:spPr>
        <p:txBody>
          <a:bodyPr wrap="none" rtlCol="0">
            <a:spAutoFit/>
          </a:bodyPr>
          <a:lstStyle/>
          <a:p>
            <a:r>
              <a:rPr lang="en-US" sz="2800" b="1" dirty="0"/>
              <a:t>C B D A F G E H</a:t>
            </a:r>
          </a:p>
        </p:txBody>
      </p:sp>
      <p:sp>
        <p:nvSpPr>
          <p:cNvPr id="18" name="TextBox 17"/>
          <p:cNvSpPr txBox="1"/>
          <p:nvPr/>
        </p:nvSpPr>
        <p:spPr>
          <a:xfrm>
            <a:off x="1016499" y="4686177"/>
            <a:ext cx="1957588" cy="400110"/>
          </a:xfrm>
          <a:prstGeom prst="rect">
            <a:avLst/>
          </a:prstGeom>
          <a:noFill/>
        </p:spPr>
        <p:txBody>
          <a:bodyPr wrap="none" rtlCol="0">
            <a:spAutoFit/>
          </a:bodyPr>
          <a:lstStyle/>
          <a:p>
            <a:pPr algn="ctr"/>
            <a:r>
              <a:rPr lang="en-IN" sz="2000" b="1" dirty="0" err="1"/>
              <a:t>Inorder</a:t>
            </a:r>
            <a:r>
              <a:rPr lang="en-IN" sz="2000" b="1" dirty="0"/>
              <a:t> Traversal</a:t>
            </a:r>
            <a:endParaRPr lang="en-US" sz="2000" b="1" dirty="0"/>
          </a:p>
        </p:txBody>
      </p:sp>
      <p:cxnSp>
        <p:nvCxnSpPr>
          <p:cNvPr id="19" name="Straight Connector 18"/>
          <p:cNvCxnSpPr/>
          <p:nvPr/>
        </p:nvCxnSpPr>
        <p:spPr>
          <a:xfrm>
            <a:off x="4249781" y="1066801"/>
            <a:ext cx="0" cy="5179255"/>
          </a:xfrm>
          <a:prstGeom prst="line">
            <a:avLst/>
          </a:prstGeom>
        </p:spPr>
        <p:style>
          <a:lnRef idx="2">
            <a:schemeClr val="dk1"/>
          </a:lnRef>
          <a:fillRef idx="0">
            <a:schemeClr val="dk1"/>
          </a:fillRef>
          <a:effectRef idx="1">
            <a:schemeClr val="dk1"/>
          </a:effectRef>
          <a:fontRef idx="minor">
            <a:schemeClr val="tx1"/>
          </a:fontRef>
        </p:style>
      </p:cxnSp>
      <p:sp>
        <p:nvSpPr>
          <p:cNvPr id="20" name="Oval 19"/>
          <p:cNvSpPr/>
          <p:nvPr/>
        </p:nvSpPr>
        <p:spPr>
          <a:xfrm>
            <a:off x="1475208"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cxnSp>
        <p:nvCxnSpPr>
          <p:cNvPr id="22" name="Straight Arrow Connector 21"/>
          <p:cNvCxnSpPr>
            <a:stCxn id="5" idx="5"/>
            <a:endCxn id="20" idx="0"/>
          </p:cNvCxnSpPr>
          <p:nvPr/>
        </p:nvCxnSpPr>
        <p:spPr>
          <a:xfrm>
            <a:off x="1479435" y="2543941"/>
            <a:ext cx="276573" cy="41711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25" name="Group 24"/>
          <p:cNvGrpSpPr/>
          <p:nvPr/>
        </p:nvGrpSpPr>
        <p:grpSpPr>
          <a:xfrm>
            <a:off x="7114004" y="2743200"/>
            <a:ext cx="1066800" cy="381000"/>
            <a:chOff x="304800" y="4191000"/>
            <a:chExt cx="1066800" cy="381000"/>
          </a:xfrm>
        </p:grpSpPr>
        <p:sp>
          <p:nvSpPr>
            <p:cNvPr id="26" name="Rectangle 2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A</a:t>
              </a:r>
              <a:endParaRPr lang="en-US" sz="2000" b="1" dirty="0"/>
            </a:p>
          </p:txBody>
        </p:sp>
        <p:sp>
          <p:nvSpPr>
            <p:cNvPr id="27" name="Rectangle 2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8" name="Rectangle 2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29" name="Group 28"/>
          <p:cNvGrpSpPr/>
          <p:nvPr/>
        </p:nvGrpSpPr>
        <p:grpSpPr>
          <a:xfrm>
            <a:off x="5361404" y="3733800"/>
            <a:ext cx="1066800" cy="381000"/>
            <a:chOff x="304800" y="4191000"/>
            <a:chExt cx="1066800" cy="381000"/>
          </a:xfrm>
        </p:grpSpPr>
        <p:sp>
          <p:nvSpPr>
            <p:cNvPr id="30" name="Rectangle 2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B</a:t>
              </a:r>
              <a:endParaRPr lang="en-US" sz="2000" b="1" dirty="0"/>
            </a:p>
          </p:txBody>
        </p:sp>
        <p:sp>
          <p:nvSpPr>
            <p:cNvPr id="31" name="Rectangle 3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2" name="Rectangle 3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3" name="Group 32"/>
          <p:cNvGrpSpPr/>
          <p:nvPr/>
        </p:nvGrpSpPr>
        <p:grpSpPr>
          <a:xfrm>
            <a:off x="8257004" y="3733800"/>
            <a:ext cx="1066800" cy="381000"/>
            <a:chOff x="304800" y="4191000"/>
            <a:chExt cx="1066800" cy="381000"/>
          </a:xfrm>
        </p:grpSpPr>
        <p:sp>
          <p:nvSpPr>
            <p:cNvPr id="34" name="Rectangle 3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E</a:t>
              </a:r>
              <a:endParaRPr lang="en-US" sz="2000" b="1" dirty="0"/>
            </a:p>
          </p:txBody>
        </p:sp>
        <p:sp>
          <p:nvSpPr>
            <p:cNvPr id="35" name="Rectangle 3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6" name="Rectangle 3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7" name="Group 36"/>
          <p:cNvGrpSpPr/>
          <p:nvPr/>
        </p:nvGrpSpPr>
        <p:grpSpPr>
          <a:xfrm>
            <a:off x="4523204" y="4876800"/>
            <a:ext cx="1066800" cy="381000"/>
            <a:chOff x="304800" y="4191000"/>
            <a:chExt cx="1066800" cy="381000"/>
          </a:xfrm>
        </p:grpSpPr>
        <p:sp>
          <p:nvSpPr>
            <p:cNvPr id="38" name="Rectangle 3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C</a:t>
              </a:r>
              <a:endParaRPr lang="en-US" sz="2000" b="1" dirty="0"/>
            </a:p>
          </p:txBody>
        </p:sp>
        <p:sp>
          <p:nvSpPr>
            <p:cNvPr id="39" name="Rectangle 3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0" name="Rectangle 3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1" name="Group 40"/>
          <p:cNvGrpSpPr/>
          <p:nvPr/>
        </p:nvGrpSpPr>
        <p:grpSpPr>
          <a:xfrm>
            <a:off x="7342604" y="4876800"/>
            <a:ext cx="1066800" cy="381000"/>
            <a:chOff x="304800" y="4191000"/>
            <a:chExt cx="1066800" cy="381000"/>
          </a:xfrm>
        </p:grpSpPr>
        <p:sp>
          <p:nvSpPr>
            <p:cNvPr id="42" name="Rectangle 4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F</a:t>
              </a:r>
              <a:endParaRPr lang="en-US" sz="2000" b="1" dirty="0"/>
            </a:p>
          </p:txBody>
        </p:sp>
        <p:sp>
          <p:nvSpPr>
            <p:cNvPr id="43" name="Rectangle 4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4" name="Rectangle 4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5" name="Group 44"/>
          <p:cNvGrpSpPr/>
          <p:nvPr/>
        </p:nvGrpSpPr>
        <p:grpSpPr>
          <a:xfrm>
            <a:off x="9323804" y="4876800"/>
            <a:ext cx="1066800" cy="381000"/>
            <a:chOff x="304800" y="4191000"/>
            <a:chExt cx="1066800" cy="381000"/>
          </a:xfrm>
        </p:grpSpPr>
        <p:sp>
          <p:nvSpPr>
            <p:cNvPr id="46" name="Rectangle 4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H</a:t>
              </a:r>
              <a:endParaRPr lang="en-US" sz="2000" b="1" dirty="0"/>
            </a:p>
          </p:txBody>
        </p:sp>
        <p:sp>
          <p:nvSpPr>
            <p:cNvPr id="47" name="Rectangle 4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8" name="Rectangle 4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49" name="Group 48"/>
          <p:cNvGrpSpPr/>
          <p:nvPr/>
        </p:nvGrpSpPr>
        <p:grpSpPr>
          <a:xfrm>
            <a:off x="8333204" y="5943600"/>
            <a:ext cx="1066800" cy="381000"/>
            <a:chOff x="304800" y="4191000"/>
            <a:chExt cx="1066800" cy="381000"/>
          </a:xfrm>
        </p:grpSpPr>
        <p:sp>
          <p:nvSpPr>
            <p:cNvPr id="50" name="Rectangle 4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G</a:t>
              </a:r>
              <a:endParaRPr lang="en-US" sz="2000" b="1" dirty="0"/>
            </a:p>
          </p:txBody>
        </p:sp>
        <p:sp>
          <p:nvSpPr>
            <p:cNvPr id="51" name="Rectangle 5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2" name="Rectangle 5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3" name="Freeform 52"/>
          <p:cNvSpPr/>
          <p:nvPr/>
        </p:nvSpPr>
        <p:spPr>
          <a:xfrm>
            <a:off x="5971005" y="2915530"/>
            <a:ext cx="1261403" cy="82993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4" name="Freeform 53"/>
          <p:cNvSpPr/>
          <p:nvPr/>
        </p:nvSpPr>
        <p:spPr>
          <a:xfrm>
            <a:off x="5056606" y="3904957"/>
            <a:ext cx="457199" cy="974188"/>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5" name="Freeform 54"/>
          <p:cNvSpPr/>
          <p:nvPr/>
        </p:nvSpPr>
        <p:spPr>
          <a:xfrm>
            <a:off x="8034266" y="2901463"/>
            <a:ext cx="731520" cy="844006"/>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6" name="Freeform 55"/>
          <p:cNvSpPr/>
          <p:nvPr/>
        </p:nvSpPr>
        <p:spPr>
          <a:xfrm>
            <a:off x="7837318" y="3933093"/>
            <a:ext cx="534572" cy="946053"/>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7" name="Freeform 56"/>
          <p:cNvSpPr/>
          <p:nvPr/>
        </p:nvSpPr>
        <p:spPr>
          <a:xfrm>
            <a:off x="9187816" y="3930732"/>
            <a:ext cx="647114" cy="948414"/>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8" name="Freeform 57"/>
          <p:cNvSpPr/>
          <p:nvPr/>
        </p:nvSpPr>
        <p:spPr>
          <a:xfrm>
            <a:off x="8300311" y="5066770"/>
            <a:ext cx="534573" cy="876831"/>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60" name="Straight Connector 59"/>
          <p:cNvCxnSpPr/>
          <p:nvPr/>
        </p:nvCxnSpPr>
        <p:spPr>
          <a:xfrm flipH="1">
            <a:off x="4523204" y="4879146"/>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1" name="Straight Connector 60"/>
          <p:cNvCxnSpPr/>
          <p:nvPr/>
        </p:nvCxnSpPr>
        <p:spPr>
          <a:xfrm flipH="1">
            <a:off x="52852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2" name="Straight Connector 61"/>
          <p:cNvCxnSpPr/>
          <p:nvPr/>
        </p:nvCxnSpPr>
        <p:spPr>
          <a:xfrm flipH="1">
            <a:off x="73426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3" name="Straight Connector 62"/>
          <p:cNvCxnSpPr/>
          <p:nvPr/>
        </p:nvCxnSpPr>
        <p:spPr>
          <a:xfrm flipH="1">
            <a:off x="93238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4" name="Straight Connector 63"/>
          <p:cNvCxnSpPr/>
          <p:nvPr/>
        </p:nvCxnSpPr>
        <p:spPr>
          <a:xfrm flipH="1">
            <a:off x="100858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5" name="Straight Connector 64"/>
          <p:cNvCxnSpPr/>
          <p:nvPr/>
        </p:nvCxnSpPr>
        <p:spPr>
          <a:xfrm flipH="1">
            <a:off x="9095204" y="5945946"/>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6" name="Straight Connector 65"/>
          <p:cNvCxnSpPr/>
          <p:nvPr/>
        </p:nvCxnSpPr>
        <p:spPr>
          <a:xfrm flipH="1">
            <a:off x="8333204" y="59436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grpSp>
        <p:nvGrpSpPr>
          <p:cNvPr id="67" name="Group 66"/>
          <p:cNvGrpSpPr/>
          <p:nvPr/>
        </p:nvGrpSpPr>
        <p:grpSpPr>
          <a:xfrm>
            <a:off x="6554100" y="1828800"/>
            <a:ext cx="2083904" cy="381000"/>
            <a:chOff x="-76200" y="4191000"/>
            <a:chExt cx="1997075" cy="381000"/>
          </a:xfrm>
        </p:grpSpPr>
        <p:sp>
          <p:nvSpPr>
            <p:cNvPr id="68" name="Rectangle 67"/>
            <p:cNvSpPr/>
            <p:nvPr/>
          </p:nvSpPr>
          <p:spPr>
            <a:xfrm>
              <a:off x="609599" y="4191000"/>
              <a:ext cx="628651"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00" b="1" dirty="0"/>
            </a:p>
          </p:txBody>
        </p:sp>
        <p:sp>
          <p:nvSpPr>
            <p:cNvPr id="69" name="Rectangle 68"/>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0" name="Rectangle 69"/>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sp>
        <p:nvSpPr>
          <p:cNvPr id="71" name="TextBox 70"/>
          <p:cNvSpPr txBox="1"/>
          <p:nvPr/>
        </p:nvSpPr>
        <p:spPr>
          <a:xfrm>
            <a:off x="7226942" y="1383268"/>
            <a:ext cx="725263" cy="369332"/>
          </a:xfrm>
          <a:prstGeom prst="rect">
            <a:avLst/>
          </a:prstGeom>
          <a:noFill/>
        </p:spPr>
        <p:txBody>
          <a:bodyPr wrap="none" rtlCol="0">
            <a:spAutoFit/>
          </a:bodyPr>
          <a:lstStyle/>
          <a:p>
            <a:pPr algn="ctr"/>
            <a:r>
              <a:rPr lang="en-IN" b="1" dirty="0"/>
              <a:t>HEAD</a:t>
            </a:r>
            <a:endParaRPr lang="en-US" b="1" dirty="0"/>
          </a:p>
        </p:txBody>
      </p:sp>
      <p:sp>
        <p:nvSpPr>
          <p:cNvPr id="79" name="Freeform 78"/>
          <p:cNvSpPr/>
          <p:nvPr/>
        </p:nvSpPr>
        <p:spPr>
          <a:xfrm>
            <a:off x="8653839" y="1996045"/>
            <a:ext cx="1603169" cy="2873829"/>
          </a:xfrm>
          <a:custGeom>
            <a:avLst/>
            <a:gdLst>
              <a:gd name="connsiteX0" fmla="*/ 1603169 w 1603169"/>
              <a:gd name="connsiteY0" fmla="*/ 2873829 h 2873829"/>
              <a:gd name="connsiteX1" fmla="*/ 1603169 w 1603169"/>
              <a:gd name="connsiteY1" fmla="*/ 0 h 2873829"/>
              <a:gd name="connsiteX2" fmla="*/ 0 w 1603169"/>
              <a:gd name="connsiteY2" fmla="*/ 0 h 2873829"/>
            </a:gdLst>
            <a:ahLst/>
            <a:cxnLst>
              <a:cxn ang="0">
                <a:pos x="connsiteX0" y="connsiteY0"/>
              </a:cxn>
              <a:cxn ang="0">
                <a:pos x="connsiteX1" y="connsiteY1"/>
              </a:cxn>
              <a:cxn ang="0">
                <a:pos x="connsiteX2" y="connsiteY2"/>
              </a:cxn>
            </a:cxnLst>
            <a:rect l="l" t="t" r="r" b="b"/>
            <a:pathLst>
              <a:path w="1603169" h="2873829">
                <a:moveTo>
                  <a:pt x="1603169" y="2873829"/>
                </a:moveTo>
                <a:lnTo>
                  <a:pt x="1603169" y="0"/>
                </a:lnTo>
                <a:lnTo>
                  <a:pt x="0"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80" name="Straight Arrow Connector 79"/>
          <p:cNvCxnSpPr>
            <a:stCxn id="69" idx="2"/>
            <a:endCxn id="26" idx="0"/>
          </p:cNvCxnSpPr>
          <p:nvPr/>
        </p:nvCxnSpPr>
        <p:spPr>
          <a:xfrm>
            <a:off x="6911910" y="2209800"/>
            <a:ext cx="73549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81" name="Group 80"/>
          <p:cNvGrpSpPr/>
          <p:nvPr/>
        </p:nvGrpSpPr>
        <p:grpSpPr>
          <a:xfrm>
            <a:off x="6123404" y="4869873"/>
            <a:ext cx="1066800" cy="381000"/>
            <a:chOff x="304800" y="4191000"/>
            <a:chExt cx="1066800" cy="381000"/>
          </a:xfrm>
        </p:grpSpPr>
        <p:sp>
          <p:nvSpPr>
            <p:cNvPr id="82" name="Rectangle 8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D</a:t>
              </a:r>
              <a:endParaRPr lang="en-US" sz="2000" b="1" dirty="0"/>
            </a:p>
          </p:txBody>
        </p:sp>
        <p:sp>
          <p:nvSpPr>
            <p:cNvPr id="83" name="Rectangle 8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4" name="Rectangle 8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86" name="Freeform 85"/>
          <p:cNvSpPr/>
          <p:nvPr/>
        </p:nvSpPr>
        <p:spPr>
          <a:xfrm>
            <a:off x="6272835" y="3930732"/>
            <a:ext cx="391886" cy="938150"/>
          </a:xfrm>
          <a:custGeom>
            <a:avLst/>
            <a:gdLst>
              <a:gd name="connsiteX0" fmla="*/ 0 w 391886"/>
              <a:gd name="connsiteY0" fmla="*/ 0 h 938150"/>
              <a:gd name="connsiteX1" fmla="*/ 391886 w 391886"/>
              <a:gd name="connsiteY1" fmla="*/ 0 h 938150"/>
              <a:gd name="connsiteX2" fmla="*/ 391886 w 391886"/>
              <a:gd name="connsiteY2" fmla="*/ 938150 h 938150"/>
            </a:gdLst>
            <a:ahLst/>
            <a:cxnLst>
              <a:cxn ang="0">
                <a:pos x="connsiteX0" y="connsiteY0"/>
              </a:cxn>
              <a:cxn ang="0">
                <a:pos x="connsiteX1" y="connsiteY1"/>
              </a:cxn>
              <a:cxn ang="0">
                <a:pos x="connsiteX2" y="connsiteY2"/>
              </a:cxn>
            </a:cxnLst>
            <a:rect l="l" t="t" r="r" b="b"/>
            <a:pathLst>
              <a:path w="391886" h="938150">
                <a:moveTo>
                  <a:pt x="0" y="0"/>
                </a:moveTo>
                <a:lnTo>
                  <a:pt x="391886" y="0"/>
                </a:lnTo>
                <a:lnTo>
                  <a:pt x="391886" y="93815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87" name="Straight Connector 86"/>
          <p:cNvCxnSpPr/>
          <p:nvPr/>
        </p:nvCxnSpPr>
        <p:spPr>
          <a:xfrm flipH="1">
            <a:off x="61234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88" name="Straight Connector 87"/>
          <p:cNvCxnSpPr/>
          <p:nvPr/>
        </p:nvCxnSpPr>
        <p:spPr>
          <a:xfrm flipH="1">
            <a:off x="68854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89" name="TextBox 88"/>
          <p:cNvSpPr txBox="1"/>
          <p:nvPr/>
        </p:nvSpPr>
        <p:spPr>
          <a:xfrm>
            <a:off x="4824551" y="852572"/>
            <a:ext cx="5771131" cy="400110"/>
          </a:xfrm>
          <a:prstGeom prst="rect">
            <a:avLst/>
          </a:prstGeom>
          <a:noFill/>
        </p:spPr>
        <p:txBody>
          <a:bodyPr wrap="none" rtlCol="0">
            <a:spAutoFit/>
          </a:bodyPr>
          <a:lstStyle/>
          <a:p>
            <a:pPr algn="ctr"/>
            <a:r>
              <a:rPr lang="en-IN" sz="2000" b="1" dirty="0"/>
              <a:t>Construct Right In-Threaded Binary Tree of given Tree</a:t>
            </a:r>
            <a:endParaRPr lang="en-US" sz="2000" b="1" dirty="0"/>
          </a:p>
        </p:txBody>
      </p:sp>
      <p:cxnSp>
        <p:nvCxnSpPr>
          <p:cNvPr id="91" name="Straight Arrow Connector 90"/>
          <p:cNvCxnSpPr>
            <a:stCxn id="40" idx="0"/>
            <a:endCxn id="30" idx="2"/>
          </p:cNvCxnSpPr>
          <p:nvPr/>
        </p:nvCxnSpPr>
        <p:spPr>
          <a:xfrm flipV="1">
            <a:off x="5437604" y="4114800"/>
            <a:ext cx="457200" cy="7620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93" name="Straight Arrow Connector 92"/>
          <p:cNvCxnSpPr>
            <a:stCxn id="84" idx="0"/>
            <a:endCxn id="26" idx="2"/>
          </p:cNvCxnSpPr>
          <p:nvPr/>
        </p:nvCxnSpPr>
        <p:spPr>
          <a:xfrm flipV="1">
            <a:off x="7037804" y="3124201"/>
            <a:ext cx="609600" cy="1745673"/>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95" name="Straight Arrow Connector 94"/>
          <p:cNvCxnSpPr>
            <a:stCxn id="52" idx="0"/>
            <a:endCxn id="34" idx="2"/>
          </p:cNvCxnSpPr>
          <p:nvPr/>
        </p:nvCxnSpPr>
        <p:spPr>
          <a:xfrm flipH="1" flipV="1">
            <a:off x="8790404" y="4114800"/>
            <a:ext cx="457200" cy="1828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7283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8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6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91"/>
                                        </p:tgtEl>
                                        <p:attrNameLst>
                                          <p:attrName>style.visibility</p:attrName>
                                        </p:attrNameLst>
                                      </p:cBhvr>
                                      <p:to>
                                        <p:strVal val="visible"/>
                                      </p:to>
                                    </p:set>
                                    <p:animEffect transition="in" filter="wipe(down)">
                                      <p:cBhvr>
                                        <p:cTn id="109" dur="500"/>
                                        <p:tgtEl>
                                          <p:spTgt spid="9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nodeType="clickEffect">
                                  <p:stCondLst>
                                    <p:cond delay="0"/>
                                  </p:stCondLst>
                                  <p:childTnLst>
                                    <p:set>
                                      <p:cBhvr>
                                        <p:cTn id="113" dur="1" fill="hold">
                                          <p:stCondLst>
                                            <p:cond delay="0"/>
                                          </p:stCondLst>
                                        </p:cTn>
                                        <p:tgtEl>
                                          <p:spTgt spid="88"/>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93"/>
                                        </p:tgtEl>
                                        <p:attrNameLst>
                                          <p:attrName>style.visibility</p:attrName>
                                        </p:attrNameLst>
                                      </p:cBhvr>
                                      <p:to>
                                        <p:strVal val="visible"/>
                                      </p:to>
                                    </p:set>
                                    <p:animEffect transition="in" filter="wipe(down)">
                                      <p:cBhvr>
                                        <p:cTn id="118" dur="500"/>
                                        <p:tgtEl>
                                          <p:spTgt spid="93"/>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nodeType="clickEffect">
                                  <p:stCondLst>
                                    <p:cond delay="0"/>
                                  </p:stCondLst>
                                  <p:childTnLst>
                                    <p:set>
                                      <p:cBhvr>
                                        <p:cTn id="122" dur="1" fill="hold">
                                          <p:stCondLst>
                                            <p:cond delay="0"/>
                                          </p:stCondLst>
                                        </p:cTn>
                                        <p:tgtEl>
                                          <p:spTgt spid="65"/>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95"/>
                                        </p:tgtEl>
                                        <p:attrNameLst>
                                          <p:attrName>style.visibility</p:attrName>
                                        </p:attrNameLst>
                                      </p:cBhvr>
                                      <p:to>
                                        <p:strVal val="visible"/>
                                      </p:to>
                                    </p:set>
                                    <p:animEffect transition="in" filter="wipe(down)">
                                      <p:cBhvr>
                                        <p:cTn id="127" dur="500"/>
                                        <p:tgtEl>
                                          <p:spTgt spid="95"/>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67"/>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71"/>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nodeType="clickEffect">
                                  <p:stCondLst>
                                    <p:cond delay="0"/>
                                  </p:stCondLst>
                                  <p:childTnLst>
                                    <p:set>
                                      <p:cBhvr>
                                        <p:cTn id="137" dur="1" fill="hold">
                                          <p:stCondLst>
                                            <p:cond delay="0"/>
                                          </p:stCondLst>
                                        </p:cTn>
                                        <p:tgtEl>
                                          <p:spTgt spid="64"/>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79"/>
                                        </p:tgtEl>
                                        <p:attrNameLst>
                                          <p:attrName>style.visibility</p:attrName>
                                        </p:attrNameLst>
                                      </p:cBhvr>
                                      <p:to>
                                        <p:strVal val="visible"/>
                                      </p:to>
                                    </p:set>
                                    <p:animEffect transition="in" filter="wipe(right)">
                                      <p:cBhvr>
                                        <p:cTn id="142" dur="500"/>
                                        <p:tgtEl>
                                          <p:spTgt spid="79"/>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nodeType="clickEffect">
                                  <p:stCondLst>
                                    <p:cond delay="0"/>
                                  </p:stCondLst>
                                  <p:childTnLst>
                                    <p:set>
                                      <p:cBhvr>
                                        <p:cTn id="146" dur="1" fill="hold">
                                          <p:stCondLst>
                                            <p:cond delay="0"/>
                                          </p:stCondLst>
                                        </p:cTn>
                                        <p:tgtEl>
                                          <p:spTgt spid="80"/>
                                        </p:tgtEl>
                                        <p:attrNameLst>
                                          <p:attrName>style.visibility</p:attrName>
                                        </p:attrNameLst>
                                      </p:cBhvr>
                                      <p:to>
                                        <p:strVal val="visible"/>
                                      </p:to>
                                    </p:set>
                                    <p:animEffect transition="in" filter="wipe(up)">
                                      <p:cBhvr>
                                        <p:cTn id="14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7" grpId="0"/>
      <p:bldP spid="18" grpId="0"/>
      <p:bldP spid="20" grpId="0" animBg="1"/>
      <p:bldP spid="53" grpId="0" animBg="1"/>
      <p:bldP spid="54" grpId="0" animBg="1"/>
      <p:bldP spid="55" grpId="0" animBg="1"/>
      <p:bldP spid="56" grpId="0" animBg="1"/>
      <p:bldP spid="57" grpId="0" animBg="1"/>
      <p:bldP spid="58" grpId="0" animBg="1"/>
      <p:bldP spid="71" grpId="0"/>
      <p:bldP spid="79" grpId="0" animBg="1"/>
      <p:bldP spid="86" grpId="0" animBg="1"/>
      <p:bldP spid="8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Threaded </a:t>
            </a:r>
            <a:r>
              <a:rPr lang="en-US" dirty="0"/>
              <a:t>Binary Tree</a:t>
            </a:r>
          </a:p>
        </p:txBody>
      </p:sp>
      <p:sp>
        <p:nvSpPr>
          <p:cNvPr id="3" name="Content Placeholder 2"/>
          <p:cNvSpPr>
            <a:spLocks noGrp="1"/>
          </p:cNvSpPr>
          <p:nvPr>
            <p:ph idx="1"/>
          </p:nvPr>
        </p:nvSpPr>
        <p:spPr/>
        <p:txBody>
          <a:bodyPr>
            <a:normAutofit/>
          </a:bodyPr>
          <a:lstStyle/>
          <a:p>
            <a:r>
              <a:rPr lang="en-IN" b="1" dirty="0" err="1" smtClean="0">
                <a:solidFill>
                  <a:srgbClr val="C00000"/>
                </a:solidFill>
              </a:rPr>
              <a:t>Inorder</a:t>
            </a:r>
            <a:r>
              <a:rPr lang="en-IN" b="1" dirty="0" smtClean="0">
                <a:solidFill>
                  <a:srgbClr val="C00000"/>
                </a:solidFill>
              </a:rPr>
              <a:t> </a:t>
            </a:r>
            <a:r>
              <a:rPr lang="en-IN" b="1" dirty="0">
                <a:solidFill>
                  <a:srgbClr val="C00000"/>
                </a:solidFill>
              </a:rPr>
              <a:t>traversal is faster</a:t>
            </a:r>
            <a:r>
              <a:rPr lang="en-IN" b="1" dirty="0">
                <a:solidFill>
                  <a:srgbClr val="FF0000"/>
                </a:solidFill>
              </a:rPr>
              <a:t> </a:t>
            </a:r>
            <a:r>
              <a:rPr lang="en-IN" dirty="0"/>
              <a:t>than unthreaded version as stack is not </a:t>
            </a:r>
            <a:r>
              <a:rPr lang="en-IN" dirty="0" smtClean="0"/>
              <a:t>required.</a:t>
            </a:r>
          </a:p>
          <a:p>
            <a:r>
              <a:rPr lang="en-IN" b="1" dirty="0" smtClean="0">
                <a:solidFill>
                  <a:srgbClr val="C00000"/>
                </a:solidFill>
              </a:rPr>
              <a:t>Effectively</a:t>
            </a:r>
            <a:r>
              <a:rPr lang="en-IN" b="1" dirty="0" smtClean="0">
                <a:solidFill>
                  <a:srgbClr val="FF0000"/>
                </a:solidFill>
              </a:rPr>
              <a:t> </a:t>
            </a:r>
            <a:r>
              <a:rPr lang="en-IN" b="1" dirty="0">
                <a:solidFill>
                  <a:srgbClr val="C00000"/>
                </a:solidFill>
              </a:rPr>
              <a:t>determines</a:t>
            </a:r>
            <a:r>
              <a:rPr lang="en-IN" b="1" dirty="0">
                <a:solidFill>
                  <a:srgbClr val="FF0000"/>
                </a:solidFill>
              </a:rPr>
              <a:t> </a:t>
            </a:r>
            <a:r>
              <a:rPr lang="en-IN" dirty="0"/>
              <a:t>the </a:t>
            </a:r>
            <a:r>
              <a:rPr lang="en-IN" b="1" dirty="0">
                <a:solidFill>
                  <a:srgbClr val="C00000"/>
                </a:solidFill>
              </a:rPr>
              <a:t>predecessor</a:t>
            </a:r>
            <a:r>
              <a:rPr lang="en-IN" b="1" dirty="0">
                <a:solidFill>
                  <a:srgbClr val="FF0000"/>
                </a:solidFill>
              </a:rPr>
              <a:t> </a:t>
            </a:r>
            <a:r>
              <a:rPr lang="en-IN" b="1" dirty="0">
                <a:solidFill>
                  <a:srgbClr val="C00000"/>
                </a:solidFill>
              </a:rPr>
              <a:t>and</a:t>
            </a:r>
            <a:r>
              <a:rPr lang="en-IN" b="1" dirty="0">
                <a:solidFill>
                  <a:srgbClr val="FF0000"/>
                </a:solidFill>
              </a:rPr>
              <a:t> </a:t>
            </a:r>
            <a:r>
              <a:rPr lang="en-IN" b="1" dirty="0">
                <a:solidFill>
                  <a:srgbClr val="C00000"/>
                </a:solidFill>
              </a:rPr>
              <a:t>successor</a:t>
            </a:r>
            <a:r>
              <a:rPr lang="en-IN" b="1" dirty="0">
                <a:solidFill>
                  <a:srgbClr val="FF0000"/>
                </a:solidFill>
              </a:rPr>
              <a:t> </a:t>
            </a:r>
            <a:r>
              <a:rPr lang="en-IN" dirty="0"/>
              <a:t>for </a:t>
            </a:r>
            <a:r>
              <a:rPr lang="en-IN" dirty="0" err="1"/>
              <a:t>inorder</a:t>
            </a:r>
            <a:r>
              <a:rPr lang="en-IN" dirty="0"/>
              <a:t> traversal, for unthreaded tree this task is more </a:t>
            </a:r>
            <a:r>
              <a:rPr lang="en-IN" dirty="0" smtClean="0"/>
              <a:t>difficult.</a:t>
            </a:r>
          </a:p>
          <a:p>
            <a:r>
              <a:rPr lang="en-IN" b="1" dirty="0" smtClean="0">
                <a:solidFill>
                  <a:srgbClr val="C00000"/>
                </a:solidFill>
              </a:rPr>
              <a:t>A</a:t>
            </a:r>
            <a:r>
              <a:rPr lang="en-IN" b="1" dirty="0" smtClean="0">
                <a:solidFill>
                  <a:srgbClr val="FF0000"/>
                </a:solidFill>
              </a:rPr>
              <a:t> </a:t>
            </a:r>
            <a:r>
              <a:rPr lang="en-IN" b="1" dirty="0">
                <a:solidFill>
                  <a:srgbClr val="C00000"/>
                </a:solidFill>
              </a:rPr>
              <a:t>stack is required</a:t>
            </a:r>
            <a:r>
              <a:rPr lang="en-IN" dirty="0">
                <a:solidFill>
                  <a:srgbClr val="C00000"/>
                </a:solidFill>
              </a:rPr>
              <a:t> </a:t>
            </a:r>
            <a:r>
              <a:rPr lang="en-IN" dirty="0"/>
              <a:t>to provide upward pointing information </a:t>
            </a:r>
            <a:r>
              <a:rPr lang="en-IN" b="1" dirty="0">
                <a:solidFill>
                  <a:srgbClr val="C00000"/>
                </a:solidFill>
              </a:rPr>
              <a:t>in binary tree</a:t>
            </a:r>
            <a:r>
              <a:rPr lang="en-IN" dirty="0">
                <a:solidFill>
                  <a:srgbClr val="C00000"/>
                </a:solidFill>
              </a:rPr>
              <a:t> </a:t>
            </a:r>
            <a:r>
              <a:rPr lang="en-IN" dirty="0"/>
              <a:t>which </a:t>
            </a:r>
            <a:r>
              <a:rPr lang="en-IN" b="1" dirty="0">
                <a:solidFill>
                  <a:srgbClr val="C00000"/>
                </a:solidFill>
              </a:rPr>
              <a:t>threading</a:t>
            </a:r>
            <a:r>
              <a:rPr lang="en-IN" b="1" dirty="0">
                <a:solidFill>
                  <a:srgbClr val="FF0000"/>
                </a:solidFill>
              </a:rPr>
              <a:t> </a:t>
            </a:r>
            <a:r>
              <a:rPr lang="en-IN" b="1" dirty="0">
                <a:solidFill>
                  <a:srgbClr val="C00000"/>
                </a:solidFill>
              </a:rPr>
              <a:t>provides without stack</a:t>
            </a:r>
            <a:r>
              <a:rPr lang="en-IN" dirty="0"/>
              <a:t>.</a:t>
            </a:r>
          </a:p>
          <a:p>
            <a:r>
              <a:rPr lang="en-IN" dirty="0"/>
              <a:t>It is possible to </a:t>
            </a:r>
            <a:r>
              <a:rPr lang="en-IN" b="1" dirty="0">
                <a:solidFill>
                  <a:srgbClr val="C00000"/>
                </a:solidFill>
              </a:rPr>
              <a:t>generate successor or predecessor</a:t>
            </a:r>
            <a:r>
              <a:rPr lang="en-IN" b="1" dirty="0">
                <a:solidFill>
                  <a:srgbClr val="FF0000"/>
                </a:solidFill>
              </a:rPr>
              <a:t> </a:t>
            </a:r>
            <a:r>
              <a:rPr lang="en-IN" dirty="0"/>
              <a:t>of any node </a:t>
            </a:r>
            <a:r>
              <a:rPr lang="en-IN" b="1" dirty="0">
                <a:solidFill>
                  <a:srgbClr val="C00000"/>
                </a:solidFill>
              </a:rPr>
              <a:t>without</a:t>
            </a:r>
            <a:r>
              <a:rPr lang="en-IN" dirty="0">
                <a:solidFill>
                  <a:srgbClr val="C00000"/>
                </a:solidFill>
              </a:rPr>
              <a:t> </a:t>
            </a:r>
            <a:r>
              <a:rPr lang="en-IN" dirty="0"/>
              <a:t>having over head of </a:t>
            </a:r>
            <a:r>
              <a:rPr lang="en-IN" b="1" dirty="0">
                <a:solidFill>
                  <a:srgbClr val="C00000"/>
                </a:solidFill>
              </a:rPr>
              <a:t>stack</a:t>
            </a:r>
            <a:r>
              <a:rPr lang="en-IN" dirty="0">
                <a:solidFill>
                  <a:srgbClr val="C00000"/>
                </a:solidFill>
              </a:rPr>
              <a:t> </a:t>
            </a:r>
            <a:r>
              <a:rPr lang="en-IN" dirty="0"/>
              <a:t>with the help of threading</a:t>
            </a:r>
            <a:r>
              <a:rPr lang="en-IN" dirty="0" smtClean="0"/>
              <a:t>.</a:t>
            </a:r>
          </a:p>
        </p:txBody>
      </p:sp>
    </p:spTree>
    <p:extLst>
      <p:ext uri="{BB962C8B-B14F-4D97-AF65-F5344CB8AC3E}">
        <p14:creationId xmlns:p14="http://schemas.microsoft.com/office/powerpoint/2010/main" val="176914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Disadvantages </a:t>
            </a:r>
            <a:r>
              <a:rPr lang="en-US" dirty="0"/>
              <a:t>of Threaded Binary Tree</a:t>
            </a:r>
          </a:p>
        </p:txBody>
      </p:sp>
      <p:sp>
        <p:nvSpPr>
          <p:cNvPr id="3" name="Content Placeholder 2"/>
          <p:cNvSpPr>
            <a:spLocks noGrp="1"/>
          </p:cNvSpPr>
          <p:nvPr>
            <p:ph idx="1"/>
          </p:nvPr>
        </p:nvSpPr>
        <p:spPr/>
        <p:txBody>
          <a:bodyPr/>
          <a:lstStyle/>
          <a:p>
            <a:r>
              <a:rPr lang="en-IN" dirty="0" smtClean="0"/>
              <a:t>Threaded </a:t>
            </a:r>
            <a:r>
              <a:rPr lang="en-IN" dirty="0"/>
              <a:t>trees are </a:t>
            </a:r>
            <a:r>
              <a:rPr lang="en-IN" b="1" dirty="0">
                <a:solidFill>
                  <a:srgbClr val="C00000"/>
                </a:solidFill>
              </a:rPr>
              <a:t>unable to share common </a:t>
            </a:r>
            <a:r>
              <a:rPr lang="en-IN" b="1" dirty="0" smtClean="0">
                <a:solidFill>
                  <a:srgbClr val="C00000"/>
                </a:solidFill>
              </a:rPr>
              <a:t>sub trees.</a:t>
            </a:r>
            <a:endParaRPr lang="en-IN" b="1" dirty="0">
              <a:solidFill>
                <a:srgbClr val="C00000"/>
              </a:solidFill>
            </a:endParaRPr>
          </a:p>
          <a:p>
            <a:r>
              <a:rPr lang="en-IN" dirty="0"/>
              <a:t>If </a:t>
            </a:r>
            <a:r>
              <a:rPr lang="en-IN" b="1" dirty="0" smtClean="0">
                <a:solidFill>
                  <a:srgbClr val="C00000"/>
                </a:solidFill>
              </a:rPr>
              <a:t>Negative addressing </a:t>
            </a:r>
            <a:r>
              <a:rPr lang="en-IN" b="1" dirty="0">
                <a:solidFill>
                  <a:srgbClr val="C00000"/>
                </a:solidFill>
              </a:rPr>
              <a:t>is not permitted</a:t>
            </a:r>
            <a:r>
              <a:rPr lang="en-IN" dirty="0">
                <a:solidFill>
                  <a:srgbClr val="C00000"/>
                </a:solidFill>
              </a:rPr>
              <a:t> </a:t>
            </a:r>
            <a:r>
              <a:rPr lang="en-IN" dirty="0"/>
              <a:t>in programming language, </a:t>
            </a:r>
            <a:r>
              <a:rPr lang="en-IN" b="1" dirty="0">
                <a:solidFill>
                  <a:srgbClr val="C00000"/>
                </a:solidFill>
              </a:rPr>
              <a:t>two additional fields are </a:t>
            </a:r>
            <a:r>
              <a:rPr lang="en-IN" b="1" dirty="0" smtClean="0">
                <a:solidFill>
                  <a:srgbClr val="C00000"/>
                </a:solidFill>
              </a:rPr>
              <a:t>required.</a:t>
            </a:r>
          </a:p>
          <a:p>
            <a:r>
              <a:rPr lang="en-IN" b="1" dirty="0" smtClean="0">
                <a:solidFill>
                  <a:srgbClr val="C00000"/>
                </a:solidFill>
              </a:rPr>
              <a:t>Insertion</a:t>
            </a:r>
            <a:r>
              <a:rPr lang="en-IN" dirty="0" smtClean="0">
                <a:solidFill>
                  <a:srgbClr val="C00000"/>
                </a:solidFill>
              </a:rPr>
              <a:t> </a:t>
            </a:r>
            <a:r>
              <a:rPr lang="en-IN" dirty="0"/>
              <a:t>into and </a:t>
            </a:r>
            <a:r>
              <a:rPr lang="en-IN" b="1" dirty="0">
                <a:solidFill>
                  <a:srgbClr val="C00000"/>
                </a:solidFill>
              </a:rPr>
              <a:t>deletion</a:t>
            </a:r>
            <a:r>
              <a:rPr lang="en-IN" dirty="0">
                <a:solidFill>
                  <a:srgbClr val="C00000"/>
                </a:solidFill>
              </a:rPr>
              <a:t> </a:t>
            </a:r>
            <a:r>
              <a:rPr lang="en-IN" dirty="0"/>
              <a:t>from threaded binary tree are </a:t>
            </a:r>
            <a:r>
              <a:rPr lang="en-IN" b="1" dirty="0">
                <a:solidFill>
                  <a:srgbClr val="C00000"/>
                </a:solidFill>
              </a:rPr>
              <a:t>more time consuming </a:t>
            </a:r>
            <a:r>
              <a:rPr lang="en-IN" dirty="0"/>
              <a:t>because both thread and structural link must be </a:t>
            </a:r>
            <a:r>
              <a:rPr lang="en-IN" dirty="0" smtClean="0"/>
              <a:t>maintained.</a:t>
            </a:r>
            <a:endParaRPr lang="en-US" dirty="0"/>
          </a:p>
        </p:txBody>
      </p:sp>
    </p:spTree>
    <p:extLst>
      <p:ext uri="{BB962C8B-B14F-4D97-AF65-F5344CB8AC3E}">
        <p14:creationId xmlns:p14="http://schemas.microsoft.com/office/powerpoint/2010/main" val="44767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Threaded Binary </a:t>
            </a:r>
            <a:r>
              <a:rPr lang="en-US" dirty="0" smtClean="0"/>
              <a:t>Tree examples</a:t>
            </a:r>
            <a:endParaRPr lang="en-US" dirty="0"/>
          </a:p>
        </p:txBody>
      </p:sp>
      <p:grpSp>
        <p:nvGrpSpPr>
          <p:cNvPr id="51" name="Group 50"/>
          <p:cNvGrpSpPr/>
          <p:nvPr/>
        </p:nvGrpSpPr>
        <p:grpSpPr>
          <a:xfrm>
            <a:off x="1780811" y="1836501"/>
            <a:ext cx="3271552" cy="3387083"/>
            <a:chOff x="610952" y="1150856"/>
            <a:chExt cx="3271552" cy="3387083"/>
          </a:xfrm>
        </p:grpSpPr>
        <p:sp>
          <p:nvSpPr>
            <p:cNvPr id="4" name="Oval 3"/>
            <p:cNvSpPr/>
            <p:nvPr/>
          </p:nvSpPr>
          <p:spPr>
            <a:xfrm>
              <a:off x="1846237" y="115085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A</a:t>
              </a:r>
              <a:endParaRPr lang="en-US" sz="2000" b="1" dirty="0"/>
            </a:p>
          </p:txBody>
        </p:sp>
        <p:cxnSp>
          <p:nvCxnSpPr>
            <p:cNvPr id="5" name="Straight Arrow Connector 4"/>
            <p:cNvCxnSpPr>
              <a:stCxn id="4" idx="2"/>
              <a:endCxn id="6" idx="0"/>
            </p:cNvCxnSpPr>
            <p:nvPr/>
          </p:nvCxnSpPr>
          <p:spPr>
            <a:xfrm flipH="1">
              <a:off x="891752" y="1431656"/>
              <a:ext cx="954485" cy="4003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 name="Oval 5"/>
            <p:cNvSpPr/>
            <p:nvPr/>
          </p:nvSpPr>
          <p:spPr>
            <a:xfrm>
              <a:off x="610952" y="183204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B</a:t>
              </a:r>
              <a:endParaRPr lang="en-US" sz="2000" b="1" dirty="0"/>
            </a:p>
          </p:txBody>
        </p:sp>
        <p:sp>
          <p:nvSpPr>
            <p:cNvPr id="7" name="Oval 6"/>
            <p:cNvSpPr/>
            <p:nvPr/>
          </p:nvSpPr>
          <p:spPr>
            <a:xfrm>
              <a:off x="1284637" y="25175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C</a:t>
              </a:r>
              <a:endParaRPr lang="en-US" sz="2000" b="1" dirty="0"/>
            </a:p>
          </p:txBody>
        </p:sp>
        <p:sp>
          <p:nvSpPr>
            <p:cNvPr id="8" name="Oval 7"/>
            <p:cNvSpPr/>
            <p:nvPr/>
          </p:nvSpPr>
          <p:spPr>
            <a:xfrm>
              <a:off x="610952" y="32336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D</a:t>
              </a:r>
              <a:endParaRPr lang="en-US" sz="2000" b="1" dirty="0"/>
            </a:p>
          </p:txBody>
        </p:sp>
        <p:sp>
          <p:nvSpPr>
            <p:cNvPr id="9" name="Oval 8"/>
            <p:cNvSpPr/>
            <p:nvPr/>
          </p:nvSpPr>
          <p:spPr>
            <a:xfrm>
              <a:off x="1973161" y="328169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E</a:t>
              </a:r>
              <a:endParaRPr lang="en-US" sz="2000" b="1" dirty="0"/>
            </a:p>
          </p:txBody>
        </p:sp>
        <p:sp>
          <p:nvSpPr>
            <p:cNvPr id="10" name="Oval 9"/>
            <p:cNvSpPr/>
            <p:nvPr/>
          </p:nvSpPr>
          <p:spPr>
            <a:xfrm>
              <a:off x="3010097" y="182293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F</a:t>
              </a:r>
              <a:endParaRPr lang="en-US" sz="2000" b="1" dirty="0"/>
            </a:p>
          </p:txBody>
        </p:sp>
        <p:sp>
          <p:nvSpPr>
            <p:cNvPr id="11" name="Oval 10"/>
            <p:cNvSpPr/>
            <p:nvPr/>
          </p:nvSpPr>
          <p:spPr>
            <a:xfrm>
              <a:off x="2534761" y="25175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G</a:t>
              </a:r>
              <a:endParaRPr lang="en-US" sz="2000" b="1" dirty="0"/>
            </a:p>
          </p:txBody>
        </p:sp>
        <p:sp>
          <p:nvSpPr>
            <p:cNvPr id="12" name="Oval 11"/>
            <p:cNvSpPr/>
            <p:nvPr/>
          </p:nvSpPr>
          <p:spPr>
            <a:xfrm>
              <a:off x="3320904" y="328169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H</a:t>
              </a:r>
              <a:endParaRPr lang="en-US" sz="2000" b="1" dirty="0"/>
            </a:p>
          </p:txBody>
        </p:sp>
        <p:sp>
          <p:nvSpPr>
            <p:cNvPr id="13" name="Oval 12"/>
            <p:cNvSpPr/>
            <p:nvPr/>
          </p:nvSpPr>
          <p:spPr>
            <a:xfrm>
              <a:off x="2509672" y="397633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I</a:t>
              </a:r>
              <a:endParaRPr lang="en-US" sz="2000" b="1" dirty="0"/>
            </a:p>
          </p:txBody>
        </p:sp>
        <p:cxnSp>
          <p:nvCxnSpPr>
            <p:cNvPr id="17" name="Straight Arrow Connector 16"/>
            <p:cNvCxnSpPr>
              <a:stCxn id="4" idx="6"/>
              <a:endCxn id="10" idx="0"/>
            </p:cNvCxnSpPr>
            <p:nvPr/>
          </p:nvCxnSpPr>
          <p:spPr>
            <a:xfrm>
              <a:off x="2407837" y="1431656"/>
              <a:ext cx="883060" cy="39128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6" idx="5"/>
              <a:endCxn id="7" idx="1"/>
            </p:cNvCxnSpPr>
            <p:nvPr/>
          </p:nvCxnSpPr>
          <p:spPr>
            <a:xfrm>
              <a:off x="1090308" y="2311401"/>
              <a:ext cx="276573" cy="28842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7" idx="3"/>
              <a:endCxn id="8" idx="7"/>
            </p:cNvCxnSpPr>
            <p:nvPr/>
          </p:nvCxnSpPr>
          <p:spPr>
            <a:xfrm flipH="1">
              <a:off x="1090308" y="2996940"/>
              <a:ext cx="276573" cy="31899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7" idx="5"/>
              <a:endCxn id="9" idx="1"/>
            </p:cNvCxnSpPr>
            <p:nvPr/>
          </p:nvCxnSpPr>
          <p:spPr>
            <a:xfrm>
              <a:off x="1763993" y="2996940"/>
              <a:ext cx="291412" cy="3669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0" idx="3"/>
              <a:endCxn id="11" idx="0"/>
            </p:cNvCxnSpPr>
            <p:nvPr/>
          </p:nvCxnSpPr>
          <p:spPr>
            <a:xfrm flipH="1">
              <a:off x="2815561" y="2302292"/>
              <a:ext cx="276780" cy="21529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a:stCxn id="11" idx="5"/>
              <a:endCxn id="12" idx="1"/>
            </p:cNvCxnSpPr>
            <p:nvPr/>
          </p:nvCxnSpPr>
          <p:spPr>
            <a:xfrm>
              <a:off x="3014117" y="2996940"/>
              <a:ext cx="389031" cy="3669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 name="Straight Arrow Connector 29"/>
            <p:cNvCxnSpPr>
              <a:stCxn id="12" idx="3"/>
              <a:endCxn id="13" idx="7"/>
            </p:cNvCxnSpPr>
            <p:nvPr/>
          </p:nvCxnSpPr>
          <p:spPr>
            <a:xfrm flipH="1">
              <a:off x="2989028" y="3761047"/>
              <a:ext cx="414120" cy="297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54" name="Group 53"/>
          <p:cNvGrpSpPr/>
          <p:nvPr/>
        </p:nvGrpSpPr>
        <p:grpSpPr>
          <a:xfrm>
            <a:off x="6579101" y="1711661"/>
            <a:ext cx="3056947" cy="2355964"/>
            <a:chOff x="6661797" y="1105273"/>
            <a:chExt cx="3056947" cy="2355964"/>
          </a:xfrm>
        </p:grpSpPr>
        <p:sp>
          <p:nvSpPr>
            <p:cNvPr id="34" name="Oval 33"/>
            <p:cNvSpPr/>
            <p:nvPr/>
          </p:nvSpPr>
          <p:spPr>
            <a:xfrm>
              <a:off x="7348482" y="11052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C</a:t>
              </a:r>
              <a:endParaRPr lang="en-US" sz="2000" b="1" dirty="0"/>
            </a:p>
          </p:txBody>
        </p:sp>
        <p:sp>
          <p:nvSpPr>
            <p:cNvPr id="35" name="Oval 34"/>
            <p:cNvSpPr/>
            <p:nvPr/>
          </p:nvSpPr>
          <p:spPr>
            <a:xfrm>
              <a:off x="6661797" y="19559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B</a:t>
              </a:r>
              <a:endParaRPr lang="en-US" sz="2000" b="1" dirty="0"/>
            </a:p>
          </p:txBody>
        </p:sp>
        <p:sp>
          <p:nvSpPr>
            <p:cNvPr id="36" name="Oval 35"/>
            <p:cNvSpPr/>
            <p:nvPr/>
          </p:nvSpPr>
          <p:spPr>
            <a:xfrm>
              <a:off x="8281382" y="19559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E</a:t>
              </a:r>
              <a:endParaRPr lang="en-US" sz="2000" b="1" dirty="0"/>
            </a:p>
          </p:txBody>
        </p:sp>
        <p:sp>
          <p:nvSpPr>
            <p:cNvPr id="37" name="Oval 36"/>
            <p:cNvSpPr/>
            <p:nvPr/>
          </p:nvSpPr>
          <p:spPr>
            <a:xfrm>
              <a:off x="7557116" y="289963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D</a:t>
              </a:r>
              <a:endParaRPr lang="en-US" sz="2000" b="1" dirty="0"/>
            </a:p>
          </p:txBody>
        </p:sp>
        <p:sp>
          <p:nvSpPr>
            <p:cNvPr id="38" name="Oval 37"/>
            <p:cNvSpPr/>
            <p:nvPr/>
          </p:nvSpPr>
          <p:spPr>
            <a:xfrm>
              <a:off x="9157144" y="287563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F</a:t>
              </a:r>
              <a:endParaRPr lang="en-US" sz="2000" b="1" dirty="0"/>
            </a:p>
          </p:txBody>
        </p:sp>
        <p:cxnSp>
          <p:nvCxnSpPr>
            <p:cNvPr id="40" name="Straight Arrow Connector 39"/>
            <p:cNvCxnSpPr>
              <a:stCxn id="34" idx="3"/>
              <a:endCxn id="35" idx="0"/>
            </p:cNvCxnSpPr>
            <p:nvPr/>
          </p:nvCxnSpPr>
          <p:spPr>
            <a:xfrm flipH="1">
              <a:off x="6942597" y="1584629"/>
              <a:ext cx="488129" cy="37135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34" idx="5"/>
              <a:endCxn id="36" idx="1"/>
            </p:cNvCxnSpPr>
            <p:nvPr/>
          </p:nvCxnSpPr>
          <p:spPr>
            <a:xfrm>
              <a:off x="7827838" y="1584629"/>
              <a:ext cx="535788" cy="45359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36" idx="3"/>
              <a:endCxn id="37" idx="7"/>
            </p:cNvCxnSpPr>
            <p:nvPr/>
          </p:nvCxnSpPr>
          <p:spPr>
            <a:xfrm flipH="1">
              <a:off x="8036472" y="2435340"/>
              <a:ext cx="327154" cy="5465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36" idx="5"/>
              <a:endCxn id="38" idx="1"/>
            </p:cNvCxnSpPr>
            <p:nvPr/>
          </p:nvCxnSpPr>
          <p:spPr>
            <a:xfrm>
              <a:off x="8760738" y="2435340"/>
              <a:ext cx="478650" cy="5225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6" name="Rectangle 55"/>
          <p:cNvSpPr/>
          <p:nvPr/>
        </p:nvSpPr>
        <p:spPr>
          <a:xfrm>
            <a:off x="242896" y="904580"/>
            <a:ext cx="11644303" cy="461665"/>
          </a:xfrm>
          <a:prstGeom prst="rect">
            <a:avLst/>
          </a:prstGeom>
        </p:spPr>
        <p:txBody>
          <a:bodyPr wrap="square">
            <a:spAutoFit/>
          </a:bodyPr>
          <a:lstStyle/>
          <a:p>
            <a:r>
              <a:rPr lang="en-US" sz="2400" dirty="0"/>
              <a:t>Draw Right In-threaded, Left In-threaded and Fully In-threaded Binary Tree for given </a:t>
            </a:r>
            <a:r>
              <a:rPr lang="en-US" sz="2400" dirty="0" smtClean="0"/>
              <a:t>Trees</a:t>
            </a:r>
            <a:endParaRPr lang="en-US" sz="2400" dirty="0"/>
          </a:p>
        </p:txBody>
      </p:sp>
    </p:spTree>
    <p:extLst>
      <p:ext uri="{BB962C8B-B14F-4D97-AF65-F5344CB8AC3E}">
        <p14:creationId xmlns:p14="http://schemas.microsoft.com/office/powerpoint/2010/main" val="18724448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Binary Search Tree (BST)</a:t>
            </a:r>
            <a:endParaRPr lang="en-US" dirty="0"/>
          </a:p>
        </p:txBody>
      </p:sp>
      <p:sp>
        <p:nvSpPr>
          <p:cNvPr id="3" name="Content Placeholder 2"/>
          <p:cNvSpPr>
            <a:spLocks noGrp="1"/>
          </p:cNvSpPr>
          <p:nvPr>
            <p:ph idx="1"/>
          </p:nvPr>
        </p:nvSpPr>
        <p:spPr/>
        <p:txBody>
          <a:bodyPr/>
          <a:lstStyle/>
          <a:p>
            <a:r>
              <a:rPr lang="en-IN" dirty="0"/>
              <a:t>A </a:t>
            </a:r>
            <a:r>
              <a:rPr lang="en-IN" b="1" dirty="0">
                <a:solidFill>
                  <a:srgbClr val="C00000"/>
                </a:solidFill>
              </a:rPr>
              <a:t>binary search tree</a:t>
            </a:r>
            <a:r>
              <a:rPr lang="en-IN" b="1" dirty="0">
                <a:solidFill>
                  <a:srgbClr val="FF0000"/>
                </a:solidFill>
              </a:rPr>
              <a:t> </a:t>
            </a:r>
            <a:r>
              <a:rPr lang="en-IN" dirty="0"/>
              <a:t>is a </a:t>
            </a:r>
            <a:r>
              <a:rPr lang="en-IN" b="1" dirty="0">
                <a:solidFill>
                  <a:srgbClr val="C00000"/>
                </a:solidFill>
              </a:rPr>
              <a:t>binary tree</a:t>
            </a:r>
            <a:r>
              <a:rPr lang="en-IN" b="1" dirty="0">
                <a:solidFill>
                  <a:srgbClr val="FF0000"/>
                </a:solidFill>
              </a:rPr>
              <a:t>  </a:t>
            </a:r>
            <a:r>
              <a:rPr lang="en-IN" dirty="0"/>
              <a:t>in which </a:t>
            </a:r>
            <a:r>
              <a:rPr lang="en-IN" b="1" dirty="0">
                <a:solidFill>
                  <a:srgbClr val="C00000"/>
                </a:solidFill>
              </a:rPr>
              <a:t>each node</a:t>
            </a:r>
            <a:r>
              <a:rPr lang="en-IN" b="1" dirty="0">
                <a:solidFill>
                  <a:srgbClr val="FF0000"/>
                </a:solidFill>
              </a:rPr>
              <a:t> </a:t>
            </a:r>
            <a:r>
              <a:rPr lang="en-IN" dirty="0"/>
              <a:t>possessed a key that </a:t>
            </a:r>
            <a:r>
              <a:rPr lang="en-IN" b="1" dirty="0">
                <a:solidFill>
                  <a:srgbClr val="C00000"/>
                </a:solidFill>
              </a:rPr>
              <a:t>satisfy</a:t>
            </a:r>
            <a:r>
              <a:rPr lang="en-IN" dirty="0">
                <a:solidFill>
                  <a:srgbClr val="C00000"/>
                </a:solidFill>
              </a:rPr>
              <a:t> </a:t>
            </a:r>
            <a:r>
              <a:rPr lang="en-IN" dirty="0"/>
              <a:t>the </a:t>
            </a:r>
            <a:r>
              <a:rPr lang="en-IN" b="1" dirty="0">
                <a:solidFill>
                  <a:srgbClr val="C00000"/>
                </a:solidFill>
              </a:rPr>
              <a:t>following</a:t>
            </a:r>
            <a:r>
              <a:rPr lang="en-IN" b="1" dirty="0">
                <a:solidFill>
                  <a:srgbClr val="FF0000"/>
                </a:solidFill>
              </a:rPr>
              <a:t> </a:t>
            </a:r>
            <a:r>
              <a:rPr lang="en-IN" b="1" dirty="0">
                <a:solidFill>
                  <a:srgbClr val="C00000"/>
                </a:solidFill>
              </a:rPr>
              <a:t>conditions</a:t>
            </a:r>
          </a:p>
          <a:p>
            <a:pPr marL="819150" lvl="1" indent="-457200">
              <a:buFont typeface="+mj-lt"/>
              <a:buAutoNum type="arabicPeriod"/>
            </a:pPr>
            <a:r>
              <a:rPr lang="en-IN" dirty="0" smtClean="0"/>
              <a:t>All </a:t>
            </a:r>
            <a:r>
              <a:rPr lang="en-IN" b="1" dirty="0">
                <a:solidFill>
                  <a:srgbClr val="C00000"/>
                </a:solidFill>
              </a:rPr>
              <a:t>key</a:t>
            </a:r>
            <a:r>
              <a:rPr lang="en-IN" dirty="0">
                <a:solidFill>
                  <a:srgbClr val="C00000"/>
                </a:solidFill>
              </a:rPr>
              <a:t> </a:t>
            </a:r>
            <a:r>
              <a:rPr lang="en-IN" dirty="0"/>
              <a:t>(if any) in </a:t>
            </a:r>
            <a:r>
              <a:rPr lang="en-IN" b="1" dirty="0">
                <a:solidFill>
                  <a:srgbClr val="C00000"/>
                </a:solidFill>
              </a:rPr>
              <a:t>the left sub tree</a:t>
            </a:r>
            <a:r>
              <a:rPr lang="en-IN" dirty="0">
                <a:solidFill>
                  <a:srgbClr val="C00000"/>
                </a:solidFill>
              </a:rPr>
              <a:t> </a:t>
            </a:r>
            <a:r>
              <a:rPr lang="en-IN" dirty="0"/>
              <a:t>of the root </a:t>
            </a:r>
            <a:r>
              <a:rPr lang="en-IN" b="1" dirty="0">
                <a:solidFill>
                  <a:srgbClr val="C00000"/>
                </a:solidFill>
              </a:rPr>
              <a:t>precedes the key</a:t>
            </a:r>
            <a:r>
              <a:rPr lang="en-IN" b="1" dirty="0">
                <a:solidFill>
                  <a:srgbClr val="FF0000"/>
                </a:solidFill>
              </a:rPr>
              <a:t> </a:t>
            </a:r>
            <a:r>
              <a:rPr lang="en-IN" dirty="0"/>
              <a:t>in the </a:t>
            </a:r>
            <a:r>
              <a:rPr lang="en-IN" b="1" dirty="0" smtClean="0">
                <a:solidFill>
                  <a:srgbClr val="C00000"/>
                </a:solidFill>
              </a:rPr>
              <a:t>root</a:t>
            </a:r>
            <a:endParaRPr lang="en-IN" dirty="0">
              <a:solidFill>
                <a:srgbClr val="C00000"/>
              </a:solidFill>
            </a:endParaRPr>
          </a:p>
          <a:p>
            <a:pPr marL="819150" lvl="1" indent="-457200">
              <a:buFont typeface="+mj-lt"/>
              <a:buAutoNum type="arabicPeriod"/>
            </a:pPr>
            <a:r>
              <a:rPr lang="en-IN" dirty="0" smtClean="0"/>
              <a:t>The </a:t>
            </a:r>
            <a:r>
              <a:rPr lang="en-IN" b="1" dirty="0">
                <a:solidFill>
                  <a:srgbClr val="C00000"/>
                </a:solidFill>
              </a:rPr>
              <a:t>key in the root</a:t>
            </a:r>
            <a:r>
              <a:rPr lang="en-IN" dirty="0">
                <a:solidFill>
                  <a:srgbClr val="C00000"/>
                </a:solidFill>
              </a:rPr>
              <a:t> </a:t>
            </a:r>
            <a:r>
              <a:rPr lang="en-IN" b="1" dirty="0">
                <a:solidFill>
                  <a:srgbClr val="C00000"/>
                </a:solidFill>
              </a:rPr>
              <a:t>precedes</a:t>
            </a:r>
            <a:r>
              <a:rPr lang="en-IN" dirty="0">
                <a:solidFill>
                  <a:srgbClr val="C00000"/>
                </a:solidFill>
              </a:rPr>
              <a:t> </a:t>
            </a:r>
            <a:r>
              <a:rPr lang="en-IN" dirty="0"/>
              <a:t>all </a:t>
            </a:r>
            <a:r>
              <a:rPr lang="en-IN" b="1" dirty="0">
                <a:solidFill>
                  <a:srgbClr val="C00000"/>
                </a:solidFill>
              </a:rPr>
              <a:t>key</a:t>
            </a:r>
            <a:r>
              <a:rPr lang="en-IN" dirty="0">
                <a:solidFill>
                  <a:srgbClr val="C00000"/>
                </a:solidFill>
              </a:rPr>
              <a:t> </a:t>
            </a:r>
            <a:r>
              <a:rPr lang="en-IN" dirty="0"/>
              <a:t>(if any) in the </a:t>
            </a:r>
            <a:r>
              <a:rPr lang="en-IN" b="1" dirty="0">
                <a:solidFill>
                  <a:srgbClr val="C00000"/>
                </a:solidFill>
              </a:rPr>
              <a:t>right sub </a:t>
            </a:r>
            <a:r>
              <a:rPr lang="en-IN" b="1" dirty="0" smtClean="0">
                <a:solidFill>
                  <a:srgbClr val="C00000"/>
                </a:solidFill>
              </a:rPr>
              <a:t>tree</a:t>
            </a:r>
            <a:endParaRPr lang="en-IN" dirty="0">
              <a:solidFill>
                <a:srgbClr val="C00000"/>
              </a:solidFill>
            </a:endParaRPr>
          </a:p>
          <a:p>
            <a:pPr marL="819150" lvl="1" indent="-457200">
              <a:buFont typeface="+mj-lt"/>
              <a:buAutoNum type="arabicPeriod"/>
            </a:pPr>
            <a:r>
              <a:rPr lang="en-IN" dirty="0" smtClean="0"/>
              <a:t>The </a:t>
            </a:r>
            <a:r>
              <a:rPr lang="en-IN" b="1" dirty="0">
                <a:solidFill>
                  <a:srgbClr val="C00000"/>
                </a:solidFill>
              </a:rPr>
              <a:t>left and right </a:t>
            </a:r>
            <a:r>
              <a:rPr lang="en-IN" b="1" dirty="0" smtClean="0">
                <a:solidFill>
                  <a:srgbClr val="C00000"/>
                </a:solidFill>
              </a:rPr>
              <a:t>sub </a:t>
            </a:r>
            <a:r>
              <a:rPr lang="en-IN" b="1" dirty="0">
                <a:solidFill>
                  <a:srgbClr val="C00000"/>
                </a:solidFill>
              </a:rPr>
              <a:t>trees </a:t>
            </a:r>
            <a:r>
              <a:rPr lang="en-IN" dirty="0"/>
              <a:t>of the root are again </a:t>
            </a:r>
            <a:r>
              <a:rPr lang="en-IN" b="1" dirty="0">
                <a:solidFill>
                  <a:srgbClr val="C00000"/>
                </a:solidFill>
              </a:rPr>
              <a:t>search </a:t>
            </a:r>
            <a:r>
              <a:rPr lang="en-IN" b="1" dirty="0" smtClean="0">
                <a:solidFill>
                  <a:srgbClr val="C00000"/>
                </a:solidFill>
              </a:rPr>
              <a:t>trees</a:t>
            </a:r>
            <a:endParaRPr lang="en-US" dirty="0">
              <a:solidFill>
                <a:srgbClr val="C00000"/>
              </a:solidFill>
            </a:endParaRPr>
          </a:p>
        </p:txBody>
      </p:sp>
    </p:spTree>
    <p:extLst>
      <p:ext uri="{BB962C8B-B14F-4D97-AF65-F5344CB8AC3E}">
        <p14:creationId xmlns:p14="http://schemas.microsoft.com/office/powerpoint/2010/main" val="137720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Construct Binary </a:t>
            </a:r>
            <a:r>
              <a:rPr lang="en-IN" dirty="0"/>
              <a:t>Search Tree (BST)</a:t>
            </a:r>
            <a:endParaRPr lang="en-US" dirty="0"/>
          </a:p>
        </p:txBody>
      </p:sp>
      <p:sp>
        <p:nvSpPr>
          <p:cNvPr id="4" name="TextBox 3"/>
          <p:cNvSpPr txBox="1"/>
          <p:nvPr/>
        </p:nvSpPr>
        <p:spPr>
          <a:xfrm>
            <a:off x="1752600" y="851649"/>
            <a:ext cx="8686800" cy="830997"/>
          </a:xfrm>
          <a:prstGeom prst="rect">
            <a:avLst/>
          </a:prstGeom>
          <a:noFill/>
        </p:spPr>
        <p:txBody>
          <a:bodyPr wrap="square" rtlCol="0">
            <a:spAutoFit/>
          </a:bodyPr>
          <a:lstStyle/>
          <a:p>
            <a:pPr algn="ctr"/>
            <a:r>
              <a:rPr lang="en-IN" sz="2400" dirty="0"/>
              <a:t>Construct binary search tree for the following data</a:t>
            </a:r>
            <a:br>
              <a:rPr lang="en-IN" sz="2400" dirty="0"/>
            </a:br>
            <a:r>
              <a:rPr lang="en-IN" sz="2400" dirty="0"/>
              <a:t>50 , 25 , 75 , 22 , 40 , 60 , 80 , 90 , 15 , 30 </a:t>
            </a:r>
            <a:endParaRPr lang="en-US" sz="2400" dirty="0"/>
          </a:p>
        </p:txBody>
      </p:sp>
      <p:sp>
        <p:nvSpPr>
          <p:cNvPr id="6" name="Oval 5"/>
          <p:cNvSpPr/>
          <p:nvPr/>
        </p:nvSpPr>
        <p:spPr>
          <a:xfrm>
            <a:off x="5616388" y="1860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50</a:t>
            </a:r>
            <a:endParaRPr lang="en-US" sz="1900" b="1" dirty="0"/>
          </a:p>
        </p:txBody>
      </p:sp>
      <p:sp>
        <p:nvSpPr>
          <p:cNvPr id="7" name="Oval 6"/>
          <p:cNvSpPr/>
          <p:nvPr/>
        </p:nvSpPr>
        <p:spPr>
          <a:xfrm>
            <a:off x="4514225" y="2622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25</a:t>
            </a:r>
            <a:endParaRPr lang="en-US" sz="1900" b="1" dirty="0"/>
          </a:p>
        </p:txBody>
      </p:sp>
      <p:sp>
        <p:nvSpPr>
          <p:cNvPr id="8" name="Oval 7"/>
          <p:cNvSpPr/>
          <p:nvPr/>
        </p:nvSpPr>
        <p:spPr>
          <a:xfrm>
            <a:off x="6781800" y="2622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75</a:t>
            </a:r>
            <a:endParaRPr lang="en-US" sz="1900" b="1" dirty="0"/>
          </a:p>
        </p:txBody>
      </p:sp>
      <p:sp>
        <p:nvSpPr>
          <p:cNvPr id="9" name="Oval 8"/>
          <p:cNvSpPr/>
          <p:nvPr/>
        </p:nvSpPr>
        <p:spPr>
          <a:xfrm>
            <a:off x="36576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22</a:t>
            </a:r>
            <a:endParaRPr lang="en-US" sz="1900" b="1" dirty="0"/>
          </a:p>
        </p:txBody>
      </p:sp>
      <p:sp>
        <p:nvSpPr>
          <p:cNvPr id="10" name="Oval 9"/>
          <p:cNvSpPr/>
          <p:nvPr/>
        </p:nvSpPr>
        <p:spPr>
          <a:xfrm>
            <a:off x="52578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40</a:t>
            </a:r>
            <a:endParaRPr lang="en-US" sz="1900" b="1" dirty="0"/>
          </a:p>
        </p:txBody>
      </p:sp>
      <p:sp>
        <p:nvSpPr>
          <p:cNvPr id="11" name="Oval 10"/>
          <p:cNvSpPr/>
          <p:nvPr/>
        </p:nvSpPr>
        <p:spPr>
          <a:xfrm>
            <a:off x="60960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60</a:t>
            </a:r>
            <a:endParaRPr lang="en-US" sz="1900" b="1" dirty="0"/>
          </a:p>
        </p:txBody>
      </p:sp>
      <p:sp>
        <p:nvSpPr>
          <p:cNvPr id="12" name="Oval 11"/>
          <p:cNvSpPr/>
          <p:nvPr/>
        </p:nvSpPr>
        <p:spPr>
          <a:xfrm>
            <a:off x="76200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80</a:t>
            </a:r>
            <a:endParaRPr lang="en-US" sz="1900" b="1" dirty="0"/>
          </a:p>
        </p:txBody>
      </p:sp>
      <p:sp>
        <p:nvSpPr>
          <p:cNvPr id="13" name="Oval 12"/>
          <p:cNvSpPr/>
          <p:nvPr/>
        </p:nvSpPr>
        <p:spPr>
          <a:xfrm>
            <a:off x="8382000"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90</a:t>
            </a:r>
            <a:endParaRPr lang="en-US" sz="1900" b="1" dirty="0"/>
          </a:p>
        </p:txBody>
      </p:sp>
      <p:sp>
        <p:nvSpPr>
          <p:cNvPr id="14" name="Oval 13"/>
          <p:cNvSpPr/>
          <p:nvPr/>
        </p:nvSpPr>
        <p:spPr>
          <a:xfrm>
            <a:off x="2895600"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15</a:t>
            </a:r>
            <a:endParaRPr lang="en-US" sz="1900" b="1" dirty="0"/>
          </a:p>
        </p:txBody>
      </p:sp>
      <p:sp>
        <p:nvSpPr>
          <p:cNvPr id="15" name="Oval 14"/>
          <p:cNvSpPr/>
          <p:nvPr/>
        </p:nvSpPr>
        <p:spPr>
          <a:xfrm>
            <a:off x="4514225"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900" b="1" dirty="0"/>
              <a:t>30</a:t>
            </a:r>
            <a:endParaRPr lang="en-US" sz="1900" b="1" dirty="0"/>
          </a:p>
        </p:txBody>
      </p:sp>
      <p:cxnSp>
        <p:nvCxnSpPr>
          <p:cNvPr id="17" name="Straight Arrow Connector 16"/>
          <p:cNvCxnSpPr>
            <a:stCxn id="6" idx="3"/>
            <a:endCxn id="7" idx="7"/>
          </p:cNvCxnSpPr>
          <p:nvPr/>
        </p:nvCxnSpPr>
        <p:spPr>
          <a:xfrm flipH="1">
            <a:off x="5034551" y="2380503"/>
            <a:ext cx="671111" cy="33094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7" idx="3"/>
            <a:endCxn id="9" idx="0"/>
          </p:cNvCxnSpPr>
          <p:nvPr/>
        </p:nvCxnSpPr>
        <p:spPr>
          <a:xfrm flipH="1">
            <a:off x="3962400" y="3142503"/>
            <a:ext cx="641099"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4" idx="0"/>
          </p:cNvCxnSpPr>
          <p:nvPr/>
        </p:nvCxnSpPr>
        <p:spPr>
          <a:xfrm flipH="1">
            <a:off x="3200400" y="4064324"/>
            <a:ext cx="546474"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7" idx="5"/>
            <a:endCxn id="10" idx="0"/>
          </p:cNvCxnSpPr>
          <p:nvPr/>
        </p:nvCxnSpPr>
        <p:spPr>
          <a:xfrm>
            <a:off x="5034551" y="3142503"/>
            <a:ext cx="528049"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a:stCxn id="10" idx="3"/>
            <a:endCxn id="15" idx="0"/>
          </p:cNvCxnSpPr>
          <p:nvPr/>
        </p:nvCxnSpPr>
        <p:spPr>
          <a:xfrm flipH="1">
            <a:off x="4819025" y="4064324"/>
            <a:ext cx="528049"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6" idx="5"/>
            <a:endCxn id="8" idx="1"/>
          </p:cNvCxnSpPr>
          <p:nvPr/>
        </p:nvCxnSpPr>
        <p:spPr>
          <a:xfrm>
            <a:off x="6136714" y="2380503"/>
            <a:ext cx="734360" cy="33094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a:stCxn id="8" idx="3"/>
            <a:endCxn id="11" idx="0"/>
          </p:cNvCxnSpPr>
          <p:nvPr/>
        </p:nvCxnSpPr>
        <p:spPr>
          <a:xfrm flipH="1">
            <a:off x="6400800" y="3142503"/>
            <a:ext cx="470274"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stCxn id="8" idx="5"/>
            <a:endCxn id="12" idx="0"/>
          </p:cNvCxnSpPr>
          <p:nvPr/>
        </p:nvCxnSpPr>
        <p:spPr>
          <a:xfrm>
            <a:off x="7302126" y="3142503"/>
            <a:ext cx="622674"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5" name="Straight Arrow Connector 34"/>
          <p:cNvCxnSpPr>
            <a:stCxn id="12" idx="5"/>
            <a:endCxn id="13" idx="0"/>
          </p:cNvCxnSpPr>
          <p:nvPr/>
        </p:nvCxnSpPr>
        <p:spPr>
          <a:xfrm>
            <a:off x="8140326" y="4064324"/>
            <a:ext cx="546474"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6" name="TextBox 35"/>
          <p:cNvSpPr txBox="1"/>
          <p:nvPr/>
        </p:nvSpPr>
        <p:spPr>
          <a:xfrm>
            <a:off x="1905000" y="5603234"/>
            <a:ext cx="8686800" cy="830997"/>
          </a:xfrm>
          <a:prstGeom prst="rect">
            <a:avLst/>
          </a:prstGeom>
          <a:noFill/>
        </p:spPr>
        <p:txBody>
          <a:bodyPr wrap="square" rtlCol="0">
            <a:spAutoFit/>
          </a:bodyPr>
          <a:lstStyle/>
          <a:p>
            <a:pPr algn="ctr"/>
            <a:r>
              <a:rPr lang="en-IN" sz="2400" dirty="0"/>
              <a:t>Construct binary search tree for the following data</a:t>
            </a:r>
            <a:br>
              <a:rPr lang="en-IN" sz="2400" dirty="0"/>
            </a:br>
            <a:r>
              <a:rPr lang="en-IN" sz="2400" dirty="0"/>
              <a:t>10, 3, 15, 22, 6, 45, 65, 23, 78, 34, 5</a:t>
            </a:r>
            <a:endParaRPr lang="en-US" sz="2400" dirty="0"/>
          </a:p>
        </p:txBody>
      </p:sp>
      <p:cxnSp>
        <p:nvCxnSpPr>
          <p:cNvPr id="38" name="Straight Connector 37"/>
          <p:cNvCxnSpPr/>
          <p:nvPr/>
        </p:nvCxnSpPr>
        <p:spPr>
          <a:xfrm>
            <a:off x="1752600" y="5441577"/>
            <a:ext cx="86868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6694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right)">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left)">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wipe(left)">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right)">
                                      <p:cBhvr>
                                        <p:cTn id="78"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right)">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36"/>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Search a node in Binary </a:t>
            </a:r>
            <a:r>
              <a:rPr lang="en-IN" dirty="0"/>
              <a:t>Search </a:t>
            </a:r>
            <a:r>
              <a:rPr lang="en-IN" dirty="0" smtClean="0"/>
              <a:t>Tree</a:t>
            </a:r>
            <a:endParaRPr lang="en-US" dirty="0"/>
          </a:p>
        </p:txBody>
      </p:sp>
      <p:sp>
        <p:nvSpPr>
          <p:cNvPr id="3" name="Content Placeholder 2"/>
          <p:cNvSpPr>
            <a:spLocks noGrp="1"/>
          </p:cNvSpPr>
          <p:nvPr>
            <p:ph idx="1"/>
          </p:nvPr>
        </p:nvSpPr>
        <p:spPr/>
        <p:txBody>
          <a:bodyPr/>
          <a:lstStyle/>
          <a:p>
            <a:r>
              <a:rPr lang="en-IN" dirty="0" smtClean="0"/>
              <a:t>To search for target value.</a:t>
            </a:r>
          </a:p>
          <a:p>
            <a:r>
              <a:rPr lang="en-IN" dirty="0"/>
              <a:t>W</a:t>
            </a:r>
            <a:r>
              <a:rPr lang="en-IN" dirty="0" smtClean="0"/>
              <a:t>e first compare it with the key at root of the tree.</a:t>
            </a:r>
          </a:p>
          <a:p>
            <a:r>
              <a:rPr lang="en-IN" dirty="0" smtClean="0"/>
              <a:t>If it is not same, we go to either Left sub tree or Right sub tree as appropriate and repeat the search in sub tree.</a:t>
            </a:r>
          </a:p>
          <a:p>
            <a:r>
              <a:rPr lang="en-IN" dirty="0" smtClean="0"/>
              <a:t>If we have </a:t>
            </a:r>
            <a:r>
              <a:rPr lang="en-IN" b="1" dirty="0" smtClean="0"/>
              <a:t>In-Order List </a:t>
            </a:r>
            <a:r>
              <a:rPr lang="en-IN" dirty="0" smtClean="0"/>
              <a:t>&amp; we want to search for specific node it requires </a:t>
            </a:r>
            <a:r>
              <a:rPr lang="en-IN" b="1" dirty="0" smtClean="0">
                <a:solidFill>
                  <a:srgbClr val="C00000"/>
                </a:solidFill>
              </a:rPr>
              <a:t>O(n) time.</a:t>
            </a:r>
          </a:p>
          <a:p>
            <a:r>
              <a:rPr lang="en-IN" dirty="0" smtClean="0"/>
              <a:t>In case of</a:t>
            </a:r>
            <a:r>
              <a:rPr lang="en-IN" dirty="0" smtClean="0">
                <a:solidFill>
                  <a:srgbClr val="FF0000"/>
                </a:solidFill>
              </a:rPr>
              <a:t> </a:t>
            </a:r>
            <a:r>
              <a:rPr lang="en-IN" b="1" dirty="0" smtClean="0">
                <a:solidFill>
                  <a:srgbClr val="C00000"/>
                </a:solidFill>
              </a:rPr>
              <a:t>Binary tree </a:t>
            </a:r>
            <a:r>
              <a:rPr lang="en-IN" dirty="0" smtClean="0"/>
              <a:t>it requires </a:t>
            </a:r>
            <a:r>
              <a:rPr lang="en-IN" b="1" dirty="0" smtClean="0">
                <a:solidFill>
                  <a:srgbClr val="C00000"/>
                </a:solidFill>
              </a:rPr>
              <a:t>O(Log</a:t>
            </a:r>
            <a:r>
              <a:rPr lang="en-IN" b="1" baseline="-25000" dirty="0" smtClean="0">
                <a:solidFill>
                  <a:srgbClr val="C00000"/>
                </a:solidFill>
              </a:rPr>
              <a:t>2</a:t>
            </a:r>
            <a:r>
              <a:rPr lang="en-IN" b="1" dirty="0" smtClean="0">
                <a:solidFill>
                  <a:srgbClr val="C00000"/>
                </a:solidFill>
              </a:rPr>
              <a:t>n)</a:t>
            </a:r>
            <a:r>
              <a:rPr lang="en-IN" dirty="0" smtClean="0">
                <a:solidFill>
                  <a:srgbClr val="FF0000"/>
                </a:solidFill>
              </a:rPr>
              <a:t> </a:t>
            </a:r>
            <a:r>
              <a:rPr lang="en-IN" dirty="0" smtClean="0"/>
              <a:t>time to search a node.</a:t>
            </a:r>
            <a:endParaRPr lang="en-US" dirty="0"/>
          </a:p>
        </p:txBody>
      </p:sp>
    </p:spTree>
    <p:extLst>
      <p:ext uri="{BB962C8B-B14F-4D97-AF65-F5344CB8AC3E}">
        <p14:creationId xmlns:p14="http://schemas.microsoft.com/office/powerpoint/2010/main" val="165052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Delete node from Binary Search Tree</a:t>
            </a:r>
            <a:endParaRPr lang="en-US" dirty="0"/>
          </a:p>
        </p:txBody>
      </p:sp>
      <p:sp>
        <p:nvSpPr>
          <p:cNvPr id="4" name="Oval 3"/>
          <p:cNvSpPr/>
          <p:nvPr/>
        </p:nvSpPr>
        <p:spPr>
          <a:xfrm>
            <a:off x="2743200" y="1066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133600"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770529"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4384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352800"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9718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8100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289612" y="3048000"/>
            <a:ext cx="360000" cy="360000"/>
          </a:xfrm>
          <a:prstGeom prst="ellipse">
            <a:avLst/>
          </a:prstGeom>
          <a:solidFill>
            <a:srgbClr val="B8474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b="1" dirty="0"/>
              <a:t>a</a:t>
            </a:r>
            <a:endParaRPr lang="en-US" b="1" dirty="0"/>
          </a:p>
        </p:txBody>
      </p:sp>
      <p:cxnSp>
        <p:nvCxnSpPr>
          <p:cNvPr id="13" name="Straight Arrow Connector 12"/>
          <p:cNvCxnSpPr>
            <a:stCxn id="4" idx="3"/>
            <a:endCxn id="5" idx="0"/>
          </p:cNvCxnSpPr>
          <p:nvPr/>
        </p:nvCxnSpPr>
        <p:spPr>
          <a:xfrm flipH="1">
            <a:off x="2313600" y="13740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5" idx="3"/>
            <a:endCxn id="6" idx="0"/>
          </p:cNvCxnSpPr>
          <p:nvPr/>
        </p:nvCxnSpPr>
        <p:spPr>
          <a:xfrm flipH="1">
            <a:off x="1950529" y="1983679"/>
            <a:ext cx="235792"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5" idx="5"/>
            <a:endCxn id="7" idx="0"/>
          </p:cNvCxnSpPr>
          <p:nvPr/>
        </p:nvCxnSpPr>
        <p:spPr>
          <a:xfrm>
            <a:off x="2440879" y="1983679"/>
            <a:ext cx="1775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4" idx="5"/>
            <a:endCxn id="8" idx="0"/>
          </p:cNvCxnSpPr>
          <p:nvPr/>
        </p:nvCxnSpPr>
        <p:spPr>
          <a:xfrm>
            <a:off x="3050479" y="13740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a:stCxn id="8" idx="3"/>
            <a:endCxn id="9" idx="0"/>
          </p:cNvCxnSpPr>
          <p:nvPr/>
        </p:nvCxnSpPr>
        <p:spPr>
          <a:xfrm flipH="1">
            <a:off x="3151800" y="1983679"/>
            <a:ext cx="2537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8" idx="5"/>
            <a:endCxn id="10" idx="0"/>
          </p:cNvCxnSpPr>
          <p:nvPr/>
        </p:nvCxnSpPr>
        <p:spPr>
          <a:xfrm>
            <a:off x="3660079" y="19836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0" idx="5"/>
            <a:endCxn id="11" idx="0"/>
          </p:cNvCxnSpPr>
          <p:nvPr/>
        </p:nvCxnSpPr>
        <p:spPr>
          <a:xfrm>
            <a:off x="4117279" y="2669479"/>
            <a:ext cx="352333" cy="378521"/>
          </a:xfrm>
          <a:prstGeom prst="straightConnector1">
            <a:avLst/>
          </a:prstGeom>
          <a:ln w="28575">
            <a:solidFill>
              <a:srgbClr val="B84742"/>
            </a:solidFill>
            <a:prstDash val="dash"/>
            <a:tailEnd type="arrow"/>
          </a:ln>
        </p:spPr>
        <p:style>
          <a:lnRef idx="2">
            <a:schemeClr val="accent2"/>
          </a:lnRef>
          <a:fillRef idx="0">
            <a:schemeClr val="accent2"/>
          </a:fillRef>
          <a:effectRef idx="1">
            <a:schemeClr val="accent2"/>
          </a:effectRef>
          <a:fontRef idx="minor">
            <a:schemeClr val="tx1"/>
          </a:fontRef>
        </p:style>
      </p:cxnSp>
      <p:sp>
        <p:nvSpPr>
          <p:cNvPr id="27" name="Oval 26"/>
          <p:cNvSpPr/>
          <p:nvPr/>
        </p:nvSpPr>
        <p:spPr>
          <a:xfrm>
            <a:off x="8583706" y="1066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920318"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75438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82550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9273988"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89662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9677400" y="2362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stCxn id="27" idx="3"/>
            <a:endCxn id="28" idx="0"/>
          </p:cNvCxnSpPr>
          <p:nvPr/>
        </p:nvCxnSpPr>
        <p:spPr>
          <a:xfrm flipH="1">
            <a:off x="8100318" y="1374079"/>
            <a:ext cx="536109"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p:cNvCxnSpPr>
            <a:stCxn id="28" idx="3"/>
            <a:endCxn id="29" idx="0"/>
          </p:cNvCxnSpPr>
          <p:nvPr/>
        </p:nvCxnSpPr>
        <p:spPr>
          <a:xfrm flipH="1">
            <a:off x="7723800" y="1983679"/>
            <a:ext cx="24923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a:stCxn id="28" idx="5"/>
            <a:endCxn id="30" idx="0"/>
          </p:cNvCxnSpPr>
          <p:nvPr/>
        </p:nvCxnSpPr>
        <p:spPr>
          <a:xfrm>
            <a:off x="8227597" y="1983679"/>
            <a:ext cx="20740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8" name="Straight Arrow Connector 37"/>
          <p:cNvCxnSpPr>
            <a:stCxn id="27" idx="5"/>
            <a:endCxn id="31" idx="0"/>
          </p:cNvCxnSpPr>
          <p:nvPr/>
        </p:nvCxnSpPr>
        <p:spPr>
          <a:xfrm>
            <a:off x="8890985" y="1374079"/>
            <a:ext cx="563003"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a:stCxn id="31" idx="3"/>
            <a:endCxn id="32" idx="0"/>
          </p:cNvCxnSpPr>
          <p:nvPr/>
        </p:nvCxnSpPr>
        <p:spPr>
          <a:xfrm flipH="1">
            <a:off x="9146200" y="1983679"/>
            <a:ext cx="18050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1" idx="5"/>
            <a:endCxn id="33" idx="0"/>
          </p:cNvCxnSpPr>
          <p:nvPr/>
        </p:nvCxnSpPr>
        <p:spPr>
          <a:xfrm>
            <a:off x="9581267" y="1983679"/>
            <a:ext cx="27613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2" name="Right Arrow 41"/>
          <p:cNvSpPr/>
          <p:nvPr/>
        </p:nvSpPr>
        <p:spPr>
          <a:xfrm>
            <a:off x="4661560" y="1116650"/>
            <a:ext cx="2514600" cy="1245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Delete node </a:t>
            </a:r>
            <a:r>
              <a:rPr lang="en-IN" sz="2400" b="1" dirty="0">
                <a:solidFill>
                  <a:srgbClr val="FFFF00"/>
                </a:solidFill>
              </a:rPr>
              <a:t>a</a:t>
            </a:r>
            <a:endParaRPr lang="en-US" sz="2400" b="1" dirty="0">
              <a:solidFill>
                <a:srgbClr val="FFFF00"/>
              </a:solidFill>
            </a:endParaRPr>
          </a:p>
        </p:txBody>
      </p:sp>
      <p:sp>
        <p:nvSpPr>
          <p:cNvPr id="43" name="TextBox 42"/>
          <p:cNvSpPr txBox="1"/>
          <p:nvPr/>
        </p:nvSpPr>
        <p:spPr>
          <a:xfrm>
            <a:off x="5313660" y="3048001"/>
            <a:ext cx="3068340" cy="461665"/>
          </a:xfrm>
          <a:prstGeom prst="rect">
            <a:avLst/>
          </a:prstGeom>
          <a:noFill/>
        </p:spPr>
        <p:txBody>
          <a:bodyPr wrap="none" rtlCol="0">
            <a:spAutoFit/>
          </a:bodyPr>
          <a:lstStyle/>
          <a:p>
            <a:r>
              <a:rPr lang="en-IN" sz="2400" b="1" dirty="0"/>
              <a:t>Delete from Leaf Node</a:t>
            </a:r>
            <a:endParaRPr lang="en-US" sz="2400" b="1" dirty="0"/>
          </a:p>
        </p:txBody>
      </p:sp>
      <p:cxnSp>
        <p:nvCxnSpPr>
          <p:cNvPr id="45" name="Straight Connector 44"/>
          <p:cNvCxnSpPr/>
          <p:nvPr/>
        </p:nvCxnSpPr>
        <p:spPr>
          <a:xfrm>
            <a:off x="1676400" y="3657600"/>
            <a:ext cx="8839200" cy="0"/>
          </a:xfrm>
          <a:prstGeom prst="line">
            <a:avLst/>
          </a:prstGeom>
        </p:spPr>
        <p:style>
          <a:lnRef idx="2">
            <a:schemeClr val="dk1"/>
          </a:lnRef>
          <a:fillRef idx="0">
            <a:schemeClr val="dk1"/>
          </a:fillRef>
          <a:effectRef idx="1">
            <a:schemeClr val="dk1"/>
          </a:effectRef>
          <a:fontRef idx="minor">
            <a:schemeClr val="tx1"/>
          </a:fontRef>
        </p:style>
      </p:cxnSp>
      <p:sp>
        <p:nvSpPr>
          <p:cNvPr id="46" name="Oval 45"/>
          <p:cNvSpPr/>
          <p:nvPr/>
        </p:nvSpPr>
        <p:spPr>
          <a:xfrm>
            <a:off x="2743200" y="3886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2133600"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6764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24384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38100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a:t>
            </a:r>
            <a:endParaRPr lang="en-US" b="1" dirty="0"/>
          </a:p>
        </p:txBody>
      </p:sp>
      <p:cxnSp>
        <p:nvCxnSpPr>
          <p:cNvPr id="54" name="Straight Arrow Connector 53"/>
          <p:cNvCxnSpPr>
            <a:stCxn id="46" idx="3"/>
            <a:endCxn id="47" idx="0"/>
          </p:cNvCxnSpPr>
          <p:nvPr/>
        </p:nvCxnSpPr>
        <p:spPr>
          <a:xfrm flipH="1">
            <a:off x="2313600" y="41934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5" name="Straight Arrow Connector 54"/>
          <p:cNvCxnSpPr>
            <a:stCxn id="47" idx="3"/>
            <a:endCxn id="48" idx="0"/>
          </p:cNvCxnSpPr>
          <p:nvPr/>
        </p:nvCxnSpPr>
        <p:spPr>
          <a:xfrm flipH="1">
            <a:off x="1856400" y="48030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6" name="Straight Arrow Connector 55"/>
          <p:cNvCxnSpPr>
            <a:stCxn id="47" idx="5"/>
            <a:endCxn id="49" idx="0"/>
          </p:cNvCxnSpPr>
          <p:nvPr/>
        </p:nvCxnSpPr>
        <p:spPr>
          <a:xfrm>
            <a:off x="2440879" y="4803079"/>
            <a:ext cx="1775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7" name="Straight Arrow Connector 56"/>
          <p:cNvCxnSpPr>
            <a:stCxn id="46" idx="5"/>
            <a:endCxn id="61" idx="0"/>
          </p:cNvCxnSpPr>
          <p:nvPr/>
        </p:nvCxnSpPr>
        <p:spPr>
          <a:xfrm>
            <a:off x="3050479" y="4193479"/>
            <a:ext cx="437684" cy="3469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9" name="Straight Arrow Connector 58"/>
          <p:cNvCxnSpPr>
            <a:stCxn id="61" idx="5"/>
            <a:endCxn id="52" idx="0"/>
          </p:cNvCxnSpPr>
          <p:nvPr/>
        </p:nvCxnSpPr>
        <p:spPr>
          <a:xfrm>
            <a:off x="3615442" y="4847716"/>
            <a:ext cx="374558" cy="3338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1" name="Oval 60"/>
          <p:cNvSpPr/>
          <p:nvPr/>
        </p:nvSpPr>
        <p:spPr>
          <a:xfrm>
            <a:off x="3308163" y="4540437"/>
            <a:ext cx="360000" cy="360000"/>
          </a:xfrm>
          <a:prstGeom prst="ellipse">
            <a:avLst/>
          </a:prstGeom>
          <a:solidFill>
            <a:srgbClr val="B8474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b="1" dirty="0"/>
              <a:t>a</a:t>
            </a:r>
            <a:endParaRPr lang="en-US" b="1" dirty="0"/>
          </a:p>
        </p:txBody>
      </p:sp>
      <p:sp>
        <p:nvSpPr>
          <p:cNvPr id="66" name="Oval 65"/>
          <p:cNvSpPr/>
          <p:nvPr/>
        </p:nvSpPr>
        <p:spPr>
          <a:xfrm>
            <a:off x="3397437" y="5943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4191000" y="5943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Arrow Connector 68"/>
          <p:cNvCxnSpPr>
            <a:stCxn id="52" idx="3"/>
            <a:endCxn id="66" idx="0"/>
          </p:cNvCxnSpPr>
          <p:nvPr/>
        </p:nvCxnSpPr>
        <p:spPr>
          <a:xfrm flipH="1">
            <a:off x="3577437" y="5488879"/>
            <a:ext cx="285284"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a:stCxn id="52" idx="5"/>
            <a:endCxn id="67" idx="0"/>
          </p:cNvCxnSpPr>
          <p:nvPr/>
        </p:nvCxnSpPr>
        <p:spPr>
          <a:xfrm>
            <a:off x="4117279" y="5488879"/>
            <a:ext cx="253721"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2" name="Right Arrow 71"/>
          <p:cNvSpPr/>
          <p:nvPr/>
        </p:nvSpPr>
        <p:spPr>
          <a:xfrm>
            <a:off x="4648200" y="4012250"/>
            <a:ext cx="2514600" cy="1245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Delete node </a:t>
            </a:r>
            <a:r>
              <a:rPr lang="en-IN" sz="2400" b="1" dirty="0">
                <a:solidFill>
                  <a:srgbClr val="FFFF00"/>
                </a:solidFill>
              </a:rPr>
              <a:t>a</a:t>
            </a:r>
            <a:endParaRPr lang="en-US" sz="2400" b="1" dirty="0">
              <a:solidFill>
                <a:srgbClr val="FFFF00"/>
              </a:solidFill>
            </a:endParaRPr>
          </a:p>
        </p:txBody>
      </p:sp>
      <p:sp>
        <p:nvSpPr>
          <p:cNvPr id="73" name="Oval 72"/>
          <p:cNvSpPr/>
          <p:nvPr/>
        </p:nvSpPr>
        <p:spPr>
          <a:xfrm>
            <a:off x="8404412" y="3886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7781365"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7391400"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8153400"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9045575"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a:t>
            </a:r>
            <a:endParaRPr lang="en-US" b="1" dirty="0"/>
          </a:p>
        </p:txBody>
      </p:sp>
      <p:cxnSp>
        <p:nvCxnSpPr>
          <p:cNvPr id="78" name="Straight Arrow Connector 77"/>
          <p:cNvCxnSpPr>
            <a:stCxn id="73" idx="3"/>
            <a:endCxn id="74" idx="0"/>
          </p:cNvCxnSpPr>
          <p:nvPr/>
        </p:nvCxnSpPr>
        <p:spPr>
          <a:xfrm flipH="1">
            <a:off x="7961365" y="4193479"/>
            <a:ext cx="495768"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9" name="Straight Arrow Connector 78"/>
          <p:cNvCxnSpPr>
            <a:stCxn id="74" idx="3"/>
            <a:endCxn id="75" idx="0"/>
          </p:cNvCxnSpPr>
          <p:nvPr/>
        </p:nvCxnSpPr>
        <p:spPr>
          <a:xfrm flipH="1">
            <a:off x="7571400" y="4803079"/>
            <a:ext cx="26268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0" name="Straight Arrow Connector 79"/>
          <p:cNvCxnSpPr>
            <a:stCxn id="74" idx="5"/>
            <a:endCxn id="76" idx="0"/>
          </p:cNvCxnSpPr>
          <p:nvPr/>
        </p:nvCxnSpPr>
        <p:spPr>
          <a:xfrm>
            <a:off x="8088644" y="4803079"/>
            <a:ext cx="24475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1" name="Straight Arrow Connector 80"/>
          <p:cNvCxnSpPr>
            <a:stCxn id="73" idx="5"/>
            <a:endCxn id="77" idx="0"/>
          </p:cNvCxnSpPr>
          <p:nvPr/>
        </p:nvCxnSpPr>
        <p:spPr>
          <a:xfrm>
            <a:off x="8711691" y="4193479"/>
            <a:ext cx="513884"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4" name="Oval 83"/>
          <p:cNvSpPr/>
          <p:nvPr/>
        </p:nvSpPr>
        <p:spPr>
          <a:xfrm>
            <a:off x="8686800"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9480363"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p:cNvCxnSpPr>
            <a:stCxn id="77" idx="3"/>
            <a:endCxn id="84" idx="0"/>
          </p:cNvCxnSpPr>
          <p:nvPr/>
        </p:nvCxnSpPr>
        <p:spPr>
          <a:xfrm flipH="1">
            <a:off x="8866800" y="4803079"/>
            <a:ext cx="23149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7" name="Straight Arrow Connector 86"/>
          <p:cNvCxnSpPr>
            <a:stCxn id="77" idx="5"/>
            <a:endCxn id="85" idx="0"/>
          </p:cNvCxnSpPr>
          <p:nvPr/>
        </p:nvCxnSpPr>
        <p:spPr>
          <a:xfrm>
            <a:off x="9352854" y="4803079"/>
            <a:ext cx="307509"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9" name="TextBox 88"/>
          <p:cNvSpPr txBox="1"/>
          <p:nvPr/>
        </p:nvSpPr>
        <p:spPr>
          <a:xfrm>
            <a:off x="4985112" y="5939135"/>
            <a:ext cx="5530488" cy="415498"/>
          </a:xfrm>
          <a:prstGeom prst="rect">
            <a:avLst/>
          </a:prstGeom>
          <a:noFill/>
        </p:spPr>
        <p:txBody>
          <a:bodyPr wrap="none" rtlCol="0">
            <a:spAutoFit/>
          </a:bodyPr>
          <a:lstStyle/>
          <a:p>
            <a:r>
              <a:rPr lang="en-IN" sz="2100" b="1" dirty="0"/>
              <a:t>Delete from Non Terminal (Empty Left Sub Tree)</a:t>
            </a:r>
            <a:endParaRPr lang="en-US" sz="2100" b="1" dirty="0"/>
          </a:p>
        </p:txBody>
      </p:sp>
    </p:spTree>
    <p:extLst>
      <p:ext uri="{BB962C8B-B14F-4D97-AF65-F5344CB8AC3E}">
        <p14:creationId xmlns:p14="http://schemas.microsoft.com/office/powerpoint/2010/main" val="385274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9"/>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77"/>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78"/>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7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0"/>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1"/>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8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86"/>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7" grpId="0" animBg="1"/>
      <p:bldP spid="28" grpId="0" animBg="1"/>
      <p:bldP spid="29" grpId="0" animBg="1"/>
      <p:bldP spid="30" grpId="0" animBg="1"/>
      <p:bldP spid="31" grpId="0" animBg="1"/>
      <p:bldP spid="32" grpId="0" animBg="1"/>
      <p:bldP spid="33" grpId="0" animBg="1"/>
      <p:bldP spid="42" grpId="0" animBg="1"/>
      <p:bldP spid="43" grpId="0"/>
      <p:bldP spid="46" grpId="0" animBg="1"/>
      <p:bldP spid="47" grpId="0" animBg="1"/>
      <p:bldP spid="48" grpId="0" animBg="1"/>
      <p:bldP spid="49" grpId="0" animBg="1"/>
      <p:bldP spid="52" grpId="0" animBg="1"/>
      <p:bldP spid="61" grpId="0" animBg="1"/>
      <p:bldP spid="66" grpId="0" animBg="1"/>
      <p:bldP spid="67" grpId="0" animBg="1"/>
      <p:bldP spid="72" grpId="0" animBg="1"/>
      <p:bldP spid="73" grpId="0" animBg="1"/>
      <p:bldP spid="74" grpId="0" animBg="1"/>
      <p:bldP spid="75" grpId="0" animBg="1"/>
      <p:bldP spid="76" grpId="0" animBg="1"/>
      <p:bldP spid="77" grpId="0" animBg="1"/>
      <p:bldP spid="84" grpId="0" animBg="1"/>
      <p:bldP spid="85" grpId="0" animBg="1"/>
      <p:bldP spid="8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Delete node from BST</a:t>
            </a:r>
            <a:endParaRPr lang="en-US" dirty="0"/>
          </a:p>
        </p:txBody>
      </p:sp>
      <p:sp>
        <p:nvSpPr>
          <p:cNvPr id="4" name="Oval 3"/>
          <p:cNvSpPr/>
          <p:nvPr/>
        </p:nvSpPr>
        <p:spPr>
          <a:xfrm>
            <a:off x="2510119" y="1295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76604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362637"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124637"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4" idx="3"/>
            <a:endCxn id="5" idx="0"/>
          </p:cNvCxnSpPr>
          <p:nvPr/>
        </p:nvCxnSpPr>
        <p:spPr>
          <a:xfrm flipH="1">
            <a:off x="1946049" y="1602679"/>
            <a:ext cx="61679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a:stCxn id="5" idx="3"/>
            <a:endCxn id="6" idx="0"/>
          </p:cNvCxnSpPr>
          <p:nvPr/>
        </p:nvCxnSpPr>
        <p:spPr>
          <a:xfrm flipH="1">
            <a:off x="1542637" y="2212279"/>
            <a:ext cx="27613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a:stCxn id="5" idx="5"/>
            <a:endCxn id="7" idx="0"/>
          </p:cNvCxnSpPr>
          <p:nvPr/>
        </p:nvCxnSpPr>
        <p:spPr>
          <a:xfrm>
            <a:off x="2073328" y="2212279"/>
            <a:ext cx="23130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4" idx="5"/>
            <a:endCxn id="26" idx="0"/>
          </p:cNvCxnSpPr>
          <p:nvPr/>
        </p:nvCxnSpPr>
        <p:spPr>
          <a:xfrm>
            <a:off x="2817398" y="1602679"/>
            <a:ext cx="666097"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9" name="Oval 18"/>
          <p:cNvSpPr/>
          <p:nvPr/>
        </p:nvSpPr>
        <p:spPr>
          <a:xfrm>
            <a:off x="4630270" y="329462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a:t>
            </a:r>
            <a:endParaRPr lang="en-US" b="1" dirty="0"/>
          </a:p>
        </p:txBody>
      </p:sp>
      <p:cxnSp>
        <p:nvCxnSpPr>
          <p:cNvPr id="20" name="Straight Arrow Connector 19"/>
          <p:cNvCxnSpPr>
            <a:stCxn id="21" idx="5"/>
            <a:endCxn id="19" idx="0"/>
          </p:cNvCxnSpPr>
          <p:nvPr/>
        </p:nvCxnSpPr>
        <p:spPr>
          <a:xfrm>
            <a:off x="4207113" y="2898079"/>
            <a:ext cx="603157" cy="39654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 name="Oval 20"/>
          <p:cNvSpPr/>
          <p:nvPr/>
        </p:nvSpPr>
        <p:spPr>
          <a:xfrm>
            <a:off x="3899834" y="2590800"/>
            <a:ext cx="360000" cy="360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b="1" dirty="0"/>
              <a:t>a</a:t>
            </a:r>
            <a:endParaRPr lang="en-US" b="1" dirty="0"/>
          </a:p>
        </p:txBody>
      </p:sp>
      <p:sp>
        <p:nvSpPr>
          <p:cNvPr id="22" name="Oval 21"/>
          <p:cNvSpPr/>
          <p:nvPr/>
        </p:nvSpPr>
        <p:spPr>
          <a:xfrm>
            <a:off x="4217707"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091952"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a:stCxn id="19" idx="3"/>
            <a:endCxn id="22" idx="0"/>
          </p:cNvCxnSpPr>
          <p:nvPr/>
        </p:nvCxnSpPr>
        <p:spPr>
          <a:xfrm flipH="1">
            <a:off x="4397707" y="3601901"/>
            <a:ext cx="285284"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9" idx="5"/>
            <a:endCxn id="23" idx="0"/>
          </p:cNvCxnSpPr>
          <p:nvPr/>
        </p:nvCxnSpPr>
        <p:spPr>
          <a:xfrm>
            <a:off x="4937549" y="3601901"/>
            <a:ext cx="334403"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6" name="Oval 25"/>
          <p:cNvSpPr/>
          <p:nvPr/>
        </p:nvSpPr>
        <p:spPr>
          <a:xfrm>
            <a:off x="3303495"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662519"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p:cNvCxnSpPr>
            <a:stCxn id="26" idx="3"/>
            <a:endCxn id="27" idx="0"/>
          </p:cNvCxnSpPr>
          <p:nvPr/>
        </p:nvCxnSpPr>
        <p:spPr>
          <a:xfrm flipH="1">
            <a:off x="2842519" y="2212279"/>
            <a:ext cx="513697"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 name="Straight Arrow Connector 29"/>
          <p:cNvCxnSpPr>
            <a:stCxn id="26" idx="5"/>
            <a:endCxn id="21" idx="0"/>
          </p:cNvCxnSpPr>
          <p:nvPr/>
        </p:nvCxnSpPr>
        <p:spPr>
          <a:xfrm>
            <a:off x="3610774" y="2212279"/>
            <a:ext cx="469060"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 name="Oval 31"/>
          <p:cNvSpPr/>
          <p:nvPr/>
        </p:nvSpPr>
        <p:spPr>
          <a:xfrm>
            <a:off x="3285751" y="329462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a:t>
            </a:r>
            <a:endParaRPr lang="en-US" b="1" dirty="0"/>
          </a:p>
        </p:txBody>
      </p:sp>
      <p:sp>
        <p:nvSpPr>
          <p:cNvPr id="33" name="Oval 32"/>
          <p:cNvSpPr/>
          <p:nvPr/>
        </p:nvSpPr>
        <p:spPr>
          <a:xfrm>
            <a:off x="2873188"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3666751"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stCxn id="32" idx="3"/>
            <a:endCxn id="33" idx="0"/>
          </p:cNvCxnSpPr>
          <p:nvPr/>
        </p:nvCxnSpPr>
        <p:spPr>
          <a:xfrm flipH="1">
            <a:off x="3053188" y="3601901"/>
            <a:ext cx="285284"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p:cNvCxnSpPr>
            <a:stCxn id="32" idx="5"/>
            <a:endCxn id="34" idx="0"/>
          </p:cNvCxnSpPr>
          <p:nvPr/>
        </p:nvCxnSpPr>
        <p:spPr>
          <a:xfrm>
            <a:off x="3593030" y="3601901"/>
            <a:ext cx="253721"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8" name="Straight Arrow Connector 37"/>
          <p:cNvCxnSpPr>
            <a:stCxn id="21" idx="3"/>
            <a:endCxn id="32" idx="0"/>
          </p:cNvCxnSpPr>
          <p:nvPr/>
        </p:nvCxnSpPr>
        <p:spPr>
          <a:xfrm flipH="1">
            <a:off x="3465751" y="2898079"/>
            <a:ext cx="486804" cy="39654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8" name="Right Arrow 27"/>
          <p:cNvSpPr/>
          <p:nvPr/>
        </p:nvSpPr>
        <p:spPr>
          <a:xfrm>
            <a:off x="4661560" y="1447800"/>
            <a:ext cx="2514600" cy="1245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Delete node </a:t>
            </a:r>
            <a:r>
              <a:rPr lang="en-IN" sz="2400" b="1" dirty="0">
                <a:solidFill>
                  <a:srgbClr val="FFFF00"/>
                </a:solidFill>
              </a:rPr>
              <a:t>a</a:t>
            </a:r>
            <a:endParaRPr lang="en-US" sz="2400" b="1" dirty="0">
              <a:solidFill>
                <a:srgbClr val="FFFF00"/>
              </a:solidFill>
            </a:endParaRPr>
          </a:p>
        </p:txBody>
      </p:sp>
      <p:sp>
        <p:nvSpPr>
          <p:cNvPr id="31" name="Oval 30"/>
          <p:cNvSpPr/>
          <p:nvPr/>
        </p:nvSpPr>
        <p:spPr>
          <a:xfrm>
            <a:off x="8381999" y="1295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777239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315199"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8157881"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p:cNvCxnSpPr>
            <a:stCxn id="31" idx="3"/>
            <a:endCxn id="37" idx="7"/>
          </p:cNvCxnSpPr>
          <p:nvPr/>
        </p:nvCxnSpPr>
        <p:spPr>
          <a:xfrm flipH="1">
            <a:off x="8079678" y="1602679"/>
            <a:ext cx="355042" cy="35504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37" idx="3"/>
            <a:endCxn id="39" idx="0"/>
          </p:cNvCxnSpPr>
          <p:nvPr/>
        </p:nvCxnSpPr>
        <p:spPr>
          <a:xfrm flipH="1">
            <a:off x="7495199" y="22122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3" name="Straight Arrow Connector 42"/>
          <p:cNvCxnSpPr>
            <a:stCxn id="37" idx="5"/>
            <a:endCxn id="40" idx="0"/>
          </p:cNvCxnSpPr>
          <p:nvPr/>
        </p:nvCxnSpPr>
        <p:spPr>
          <a:xfrm>
            <a:off x="8079678" y="2212279"/>
            <a:ext cx="25820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31" idx="5"/>
            <a:endCxn id="52" idx="1"/>
          </p:cNvCxnSpPr>
          <p:nvPr/>
        </p:nvCxnSpPr>
        <p:spPr>
          <a:xfrm>
            <a:off x="8689278" y="1602679"/>
            <a:ext cx="469342" cy="35504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5" name="Oval 44"/>
          <p:cNvSpPr/>
          <p:nvPr/>
        </p:nvSpPr>
        <p:spPr>
          <a:xfrm>
            <a:off x="9556562"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a:t>
            </a:r>
            <a:endParaRPr lang="en-US" b="1" dirty="0"/>
          </a:p>
        </p:txBody>
      </p:sp>
      <p:sp>
        <p:nvSpPr>
          <p:cNvPr id="48" name="Oval 47"/>
          <p:cNvSpPr/>
          <p:nvPr/>
        </p:nvSpPr>
        <p:spPr>
          <a:xfrm>
            <a:off x="9127190" y="3352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9991350" y="3352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p:cNvCxnSpPr>
            <a:stCxn id="45" idx="3"/>
            <a:endCxn id="48" idx="0"/>
          </p:cNvCxnSpPr>
          <p:nvPr/>
        </p:nvCxnSpPr>
        <p:spPr>
          <a:xfrm flipH="1">
            <a:off x="9307190" y="2898079"/>
            <a:ext cx="302093"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1" name="Straight Arrow Connector 50"/>
          <p:cNvCxnSpPr>
            <a:stCxn id="45" idx="5"/>
            <a:endCxn id="49" idx="0"/>
          </p:cNvCxnSpPr>
          <p:nvPr/>
        </p:nvCxnSpPr>
        <p:spPr>
          <a:xfrm>
            <a:off x="9863841" y="2898079"/>
            <a:ext cx="307509"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2" name="Oval 51"/>
          <p:cNvSpPr/>
          <p:nvPr/>
        </p:nvSpPr>
        <p:spPr>
          <a:xfrm>
            <a:off x="910589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641975"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p:cNvCxnSpPr>
            <a:stCxn id="52" idx="3"/>
            <a:endCxn id="53" idx="0"/>
          </p:cNvCxnSpPr>
          <p:nvPr/>
        </p:nvCxnSpPr>
        <p:spPr>
          <a:xfrm flipH="1">
            <a:off x="8821975" y="2212279"/>
            <a:ext cx="336645"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5" name="Straight Arrow Connector 54"/>
          <p:cNvCxnSpPr>
            <a:stCxn id="52" idx="5"/>
            <a:endCxn id="45" idx="0"/>
          </p:cNvCxnSpPr>
          <p:nvPr/>
        </p:nvCxnSpPr>
        <p:spPr>
          <a:xfrm>
            <a:off x="9413178" y="2212279"/>
            <a:ext cx="323384"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6" name="Oval 55"/>
          <p:cNvSpPr/>
          <p:nvPr/>
        </p:nvSpPr>
        <p:spPr>
          <a:xfrm>
            <a:off x="8722657" y="401151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a:t>
            </a:r>
            <a:endParaRPr lang="en-US" b="1" dirty="0"/>
          </a:p>
        </p:txBody>
      </p:sp>
      <p:sp>
        <p:nvSpPr>
          <p:cNvPr id="57" name="Oval 56"/>
          <p:cNvSpPr/>
          <p:nvPr/>
        </p:nvSpPr>
        <p:spPr>
          <a:xfrm>
            <a:off x="8238563" y="478024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9248213" y="478024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p:cNvCxnSpPr>
            <a:stCxn id="56" idx="3"/>
            <a:endCxn id="57" idx="0"/>
          </p:cNvCxnSpPr>
          <p:nvPr/>
        </p:nvCxnSpPr>
        <p:spPr>
          <a:xfrm flipH="1">
            <a:off x="8418563" y="4318798"/>
            <a:ext cx="356815" cy="4614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0" name="Straight Arrow Connector 59"/>
          <p:cNvCxnSpPr>
            <a:stCxn id="56" idx="5"/>
            <a:endCxn id="58" idx="0"/>
          </p:cNvCxnSpPr>
          <p:nvPr/>
        </p:nvCxnSpPr>
        <p:spPr>
          <a:xfrm>
            <a:off x="9029936" y="4318798"/>
            <a:ext cx="398277" cy="4614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1" name="Straight Arrow Connector 60"/>
          <p:cNvCxnSpPr>
            <a:stCxn id="48" idx="3"/>
            <a:endCxn id="56" idx="0"/>
          </p:cNvCxnSpPr>
          <p:nvPr/>
        </p:nvCxnSpPr>
        <p:spPr>
          <a:xfrm flipH="1">
            <a:off x="8902657" y="3660079"/>
            <a:ext cx="277254" cy="3514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2" name="TextBox 61"/>
          <p:cNvSpPr txBox="1"/>
          <p:nvPr/>
        </p:nvSpPr>
        <p:spPr>
          <a:xfrm>
            <a:off x="2895600" y="5756702"/>
            <a:ext cx="6188104" cy="415498"/>
          </a:xfrm>
          <a:prstGeom prst="rect">
            <a:avLst/>
          </a:prstGeom>
          <a:noFill/>
        </p:spPr>
        <p:txBody>
          <a:bodyPr wrap="none" rtlCol="0">
            <a:spAutoFit/>
          </a:bodyPr>
          <a:lstStyle/>
          <a:p>
            <a:pPr algn="ctr"/>
            <a:r>
              <a:rPr lang="en-IN" sz="2100" b="1" dirty="0"/>
              <a:t>Delete from Non Terminal (Neither Sub Tree is Empty)</a:t>
            </a:r>
            <a:endParaRPr lang="en-US" sz="2100" b="1" dirty="0"/>
          </a:p>
        </p:txBody>
      </p:sp>
    </p:spTree>
    <p:extLst>
      <p:ext uri="{BB962C8B-B14F-4D97-AF65-F5344CB8AC3E}">
        <p14:creationId xmlns:p14="http://schemas.microsoft.com/office/powerpoint/2010/main" val="318202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6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Node Structure of Binary Tree</a:t>
            </a:r>
            <a:endParaRPr lang="en-US" dirty="0"/>
          </a:p>
        </p:txBody>
      </p:sp>
      <p:grpSp>
        <p:nvGrpSpPr>
          <p:cNvPr id="9" name="Group 8"/>
          <p:cNvGrpSpPr/>
          <p:nvPr/>
        </p:nvGrpSpPr>
        <p:grpSpPr>
          <a:xfrm>
            <a:off x="267133" y="1693098"/>
            <a:ext cx="4973975" cy="3046542"/>
            <a:chOff x="3987145" y="3631469"/>
            <a:chExt cx="4973975" cy="3046542"/>
          </a:xfrm>
        </p:grpSpPr>
        <p:sp>
          <p:nvSpPr>
            <p:cNvPr id="19" name="Rectangle 18"/>
            <p:cNvSpPr/>
            <p:nvPr/>
          </p:nvSpPr>
          <p:spPr>
            <a:xfrm>
              <a:off x="3987145" y="3631469"/>
              <a:ext cx="4973975" cy="304654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303280" y="3841447"/>
              <a:ext cx="4464139" cy="2677656"/>
            </a:xfrm>
            <a:prstGeom prst="rect">
              <a:avLst/>
            </a:prstGeom>
            <a:noFill/>
          </p:spPr>
          <p:txBody>
            <a:bodyPr wrap="square" rtlCol="0">
              <a:spAutoFit/>
            </a:bodyPr>
            <a:lstStyle/>
            <a:p>
              <a:r>
                <a:rPr lang="en-US" sz="2400" b="1" dirty="0" err="1">
                  <a:solidFill>
                    <a:schemeClr val="tx2"/>
                  </a:solidFill>
                  <a:latin typeface="Consolas" pitchFamily="49" charset="0"/>
                  <a:cs typeface="Consolas" pitchFamily="49" charset="0"/>
                </a:rPr>
                <a:t>struct</a:t>
              </a:r>
              <a:r>
                <a:rPr lang="en-US" sz="2400" b="1" dirty="0">
                  <a:solidFill>
                    <a:schemeClr val="tx2"/>
                  </a:solidFill>
                  <a:latin typeface="Consolas" pitchFamily="49" charset="0"/>
                  <a:cs typeface="Consolas" pitchFamily="49" charset="0"/>
                </a:rPr>
                <a:t> </a:t>
              </a:r>
              <a:r>
                <a:rPr lang="en-US" sz="2400" b="1" dirty="0">
                  <a:solidFill>
                    <a:schemeClr val="accent6"/>
                  </a:solidFill>
                  <a:latin typeface="Consolas" pitchFamily="49" charset="0"/>
                  <a:cs typeface="Consolas" pitchFamily="49" charset="0"/>
                </a:rPr>
                <a:t>node</a:t>
              </a:r>
            </a:p>
            <a:p>
              <a:r>
                <a:rPr lang="en-US" sz="2400" b="1" dirty="0">
                  <a:latin typeface="Consolas" pitchFamily="49" charset="0"/>
                  <a:cs typeface="Consolas" pitchFamily="49" charset="0"/>
                </a:rPr>
                <a:t>{</a:t>
              </a:r>
            </a:p>
            <a:p>
              <a:r>
                <a:rPr lang="en-US" sz="2400" b="1" dirty="0">
                  <a:latin typeface="Consolas" pitchFamily="49" charset="0"/>
                  <a:cs typeface="Consolas" pitchFamily="49" charset="0"/>
                </a:rPr>
                <a:t>	</a:t>
              </a:r>
              <a:r>
                <a:rPr lang="en-US" sz="2400" b="1" dirty="0" err="1" smtClean="0">
                  <a:solidFill>
                    <a:schemeClr val="accent3">
                      <a:lumMod val="75000"/>
                    </a:schemeClr>
                  </a:solidFill>
                  <a:latin typeface="Consolas" pitchFamily="49" charset="0"/>
                  <a:cs typeface="Consolas" pitchFamily="49" charset="0"/>
                </a:rPr>
                <a:t>int</a:t>
              </a:r>
              <a:r>
                <a:rPr lang="en-US" sz="2400" b="1" dirty="0" smtClean="0">
                  <a:solidFill>
                    <a:schemeClr val="accent3">
                      <a:lumMod val="75000"/>
                    </a:schemeClr>
                  </a:solidFill>
                  <a:latin typeface="Consolas" pitchFamily="49" charset="0"/>
                  <a:cs typeface="Consolas" pitchFamily="49" charset="0"/>
                </a:rPr>
                <a:t> </a:t>
              </a:r>
              <a:r>
                <a:rPr lang="en-US" sz="2400" b="1" dirty="0" smtClean="0">
                  <a:latin typeface="Consolas" pitchFamily="49" charset="0"/>
                  <a:cs typeface="Consolas" pitchFamily="49" charset="0"/>
                </a:rPr>
                <a:t>key;</a:t>
              </a:r>
              <a:endParaRPr lang="en-US" sz="2400" b="1" dirty="0">
                <a:latin typeface="Consolas" pitchFamily="49" charset="0"/>
                <a:cs typeface="Consolas" pitchFamily="49" charset="0"/>
              </a:endParaRPr>
            </a:p>
            <a:p>
              <a:r>
                <a:rPr lang="en-US" sz="2400" b="1" dirty="0">
                  <a:latin typeface="Consolas" pitchFamily="49" charset="0"/>
                  <a:cs typeface="Consolas" pitchFamily="49" charset="0"/>
                </a:rPr>
                <a:t>	</a:t>
              </a:r>
              <a:r>
                <a:rPr lang="en-US" sz="2400" b="1" dirty="0" err="1" smtClean="0">
                  <a:solidFill>
                    <a:schemeClr val="accent3">
                      <a:lumMod val="75000"/>
                    </a:schemeClr>
                  </a:solidFill>
                  <a:latin typeface="Consolas" pitchFamily="49" charset="0"/>
                  <a:cs typeface="Consolas" pitchFamily="49" charset="0"/>
                </a:rPr>
                <a:t>struct</a:t>
              </a:r>
              <a:r>
                <a:rPr lang="en-US" sz="2400" b="1" dirty="0" smtClean="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node </a:t>
              </a:r>
              <a:r>
                <a:rPr lang="en-US" sz="2400" b="1" dirty="0" smtClean="0">
                  <a:latin typeface="Consolas" pitchFamily="49" charset="0"/>
                  <a:cs typeface="Consolas" pitchFamily="49" charset="0"/>
                </a:rPr>
                <a:t>*left;</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struct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node </a:t>
              </a:r>
              <a:r>
                <a:rPr lang="en-US" sz="2400" b="1" dirty="0" smtClean="0">
                  <a:latin typeface="Consolas" pitchFamily="49" charset="0"/>
                  <a:cs typeface="Consolas" pitchFamily="49" charset="0"/>
                </a:rPr>
                <a:t>*right;</a:t>
              </a:r>
              <a:endParaRPr lang="en-US" sz="2400" b="1" dirty="0">
                <a:latin typeface="Consolas" pitchFamily="49" charset="0"/>
                <a:cs typeface="Consolas" pitchFamily="49" charset="0"/>
              </a:endParaRPr>
            </a:p>
            <a:p>
              <a:endParaRPr lang="en-US" sz="2400" b="1" dirty="0">
                <a:latin typeface="Consolas" pitchFamily="49" charset="0"/>
                <a:cs typeface="Consolas" pitchFamily="49" charset="0"/>
              </a:endParaRPr>
            </a:p>
            <a:p>
              <a:r>
                <a:rPr lang="en-US" sz="2400" b="1" dirty="0">
                  <a:latin typeface="Consolas" pitchFamily="49" charset="0"/>
                  <a:cs typeface="Consolas" pitchFamily="49" charset="0"/>
                </a:rPr>
                <a:t>};</a:t>
              </a:r>
            </a:p>
          </p:txBody>
        </p:sp>
      </p:grpSp>
      <p:sp>
        <p:nvSpPr>
          <p:cNvPr id="44" name="TextBox 43"/>
          <p:cNvSpPr txBox="1"/>
          <p:nvPr/>
        </p:nvSpPr>
        <p:spPr>
          <a:xfrm>
            <a:off x="267133" y="925150"/>
            <a:ext cx="4973975" cy="553998"/>
          </a:xfrm>
          <a:prstGeom prst="rect">
            <a:avLst/>
          </a:prstGeom>
          <a:noFill/>
        </p:spPr>
        <p:txBody>
          <a:bodyPr wrap="square" rtlCol="0">
            <a:spAutoFit/>
          </a:bodyPr>
          <a:lstStyle/>
          <a:p>
            <a:pPr algn="ctr"/>
            <a:r>
              <a:rPr lang="en-IN" sz="3000" b="1" dirty="0"/>
              <a:t>C Structure </a:t>
            </a:r>
            <a:r>
              <a:rPr lang="en-IN" sz="3000" b="1" dirty="0" smtClean="0"/>
              <a:t>to represent a </a:t>
            </a:r>
            <a:r>
              <a:rPr lang="en-IN" sz="3000" b="1" dirty="0"/>
              <a:t>node</a:t>
            </a:r>
          </a:p>
        </p:txBody>
      </p:sp>
      <p:grpSp>
        <p:nvGrpSpPr>
          <p:cNvPr id="32" name="Group 31"/>
          <p:cNvGrpSpPr/>
          <p:nvPr/>
        </p:nvGrpSpPr>
        <p:grpSpPr>
          <a:xfrm>
            <a:off x="5444762" y="1693097"/>
            <a:ext cx="6409509" cy="4580703"/>
            <a:chOff x="4211776" y="3928792"/>
            <a:chExt cx="3680633" cy="5497048"/>
          </a:xfrm>
        </p:grpSpPr>
        <p:sp>
          <p:nvSpPr>
            <p:cNvPr id="33" name="Rectangle 32"/>
            <p:cNvSpPr/>
            <p:nvPr/>
          </p:nvSpPr>
          <p:spPr>
            <a:xfrm>
              <a:off x="4211776" y="3928792"/>
              <a:ext cx="3680632" cy="549704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4265977" y="3998230"/>
              <a:ext cx="3626432" cy="5281644"/>
            </a:xfrm>
            <a:prstGeom prst="rect">
              <a:avLst/>
            </a:prstGeom>
            <a:noFill/>
          </p:spPr>
          <p:txBody>
            <a:bodyPr wrap="square" rtlCol="0">
              <a:spAutoFit/>
            </a:bodyPr>
            <a:lstStyle/>
            <a:p>
              <a:r>
                <a:rPr lang="en-US" sz="2000" b="1" dirty="0" smtClean="0">
                  <a:solidFill>
                    <a:schemeClr val="tx2"/>
                  </a:solidFill>
                  <a:latin typeface="Consolas" pitchFamily="49" charset="0"/>
                  <a:cs typeface="Consolas" pitchFamily="49" charset="0"/>
                </a:rPr>
                <a:t>class</a:t>
              </a:r>
              <a:r>
                <a:rPr lang="en-US" sz="2000" b="1" dirty="0" smtClean="0">
                  <a:latin typeface="Consolas" pitchFamily="49" charset="0"/>
                  <a:cs typeface="Consolas" pitchFamily="49" charset="0"/>
                </a:rPr>
                <a:t> </a:t>
              </a:r>
              <a:r>
                <a:rPr lang="en-US" sz="2000" b="1" dirty="0">
                  <a:solidFill>
                    <a:schemeClr val="accent6"/>
                  </a:solidFill>
                  <a:latin typeface="Consolas" pitchFamily="49" charset="0"/>
                  <a:cs typeface="Consolas" pitchFamily="49" charset="0"/>
                </a:rPr>
                <a:t>Node</a:t>
              </a:r>
              <a:r>
                <a:rPr lang="en-US" sz="2000" b="1" dirty="0">
                  <a:latin typeface="Consolas" pitchFamily="49" charset="0"/>
                  <a:cs typeface="Consolas" pitchFamily="49" charset="0"/>
                </a:rPr>
                <a:t> {</a:t>
              </a:r>
            </a:p>
            <a:p>
              <a:r>
                <a:rPr lang="en-US" sz="2000" b="1" dirty="0" smtClean="0">
                  <a:latin typeface="Consolas" pitchFamily="49" charset="0"/>
                  <a:cs typeface="Consolas" pitchFamily="49" charset="0"/>
                </a:rPr>
                <a:t>	</a:t>
              </a:r>
              <a:r>
                <a:rPr lang="en-US" sz="2000" b="1" dirty="0" err="1" smtClean="0">
                  <a:solidFill>
                    <a:schemeClr val="accent3">
                      <a:lumMod val="75000"/>
                    </a:schemeClr>
                  </a:solidFill>
                  <a:latin typeface="Consolas" pitchFamily="49" charset="0"/>
                  <a:cs typeface="Consolas" pitchFamily="49" charset="0"/>
                </a:rPr>
                <a:t>int</a:t>
              </a:r>
              <a:r>
                <a:rPr lang="en-US" sz="2000" b="1" dirty="0" smtClean="0">
                  <a:solidFill>
                    <a:schemeClr val="accent3">
                      <a:lumMod val="75000"/>
                    </a:schemeClr>
                  </a:solidFill>
                  <a:latin typeface="Consolas" pitchFamily="49" charset="0"/>
                  <a:cs typeface="Consolas" pitchFamily="49" charset="0"/>
                </a:rPr>
                <a:t> </a:t>
              </a:r>
              <a:r>
                <a:rPr lang="en-US" sz="2000" b="1" dirty="0" smtClean="0">
                  <a:latin typeface="Consolas" pitchFamily="49" charset="0"/>
                  <a:cs typeface="Consolas" pitchFamily="49" charset="0"/>
                </a:rPr>
                <a:t>key;</a:t>
              </a:r>
              <a:endParaRPr lang="en-US" sz="2000" b="1" dirty="0">
                <a:latin typeface="Consolas" pitchFamily="49" charset="0"/>
                <a:cs typeface="Consolas" pitchFamily="49" charset="0"/>
              </a:endParaRPr>
            </a:p>
            <a:p>
              <a:r>
                <a:rPr lang="en-US" sz="2000" b="1" dirty="0">
                  <a:latin typeface="Consolas" pitchFamily="49" charset="0"/>
                  <a:cs typeface="Consolas" pitchFamily="49" charset="0"/>
                </a:rPr>
                <a:t>	</a:t>
              </a:r>
              <a:r>
                <a:rPr lang="en-US" sz="2000" b="1" dirty="0" smtClean="0">
                  <a:solidFill>
                    <a:schemeClr val="accent3">
                      <a:lumMod val="75000"/>
                    </a:schemeClr>
                  </a:solidFill>
                  <a:latin typeface="Consolas" pitchFamily="49" charset="0"/>
                  <a:cs typeface="Consolas" pitchFamily="49" charset="0"/>
                </a:rPr>
                <a:t>Node</a:t>
              </a:r>
              <a:r>
                <a:rPr lang="en-US" sz="2000" b="1" dirty="0" smtClean="0">
                  <a:latin typeface="Consolas" pitchFamily="49" charset="0"/>
                  <a:cs typeface="Consolas" pitchFamily="49" charset="0"/>
                </a:rPr>
                <a:t> left;</a:t>
              </a:r>
            </a:p>
            <a:p>
              <a:r>
                <a:rPr lang="en-US" sz="2000" b="1" dirty="0">
                  <a:latin typeface="Consolas" pitchFamily="49" charset="0"/>
                  <a:cs typeface="Consolas" pitchFamily="49" charset="0"/>
                </a:rPr>
                <a:t>	</a:t>
              </a:r>
              <a:r>
                <a:rPr lang="en-US" sz="2000" b="1" dirty="0">
                  <a:solidFill>
                    <a:schemeClr val="accent3">
                      <a:lumMod val="75000"/>
                    </a:schemeClr>
                  </a:solidFill>
                  <a:latin typeface="Consolas" pitchFamily="49" charset="0"/>
                  <a:cs typeface="Consolas" pitchFamily="49" charset="0"/>
                </a:rPr>
                <a:t>Node</a:t>
              </a:r>
              <a:r>
                <a:rPr lang="en-US" sz="2000" b="1" dirty="0">
                  <a:latin typeface="Consolas" pitchFamily="49" charset="0"/>
                  <a:cs typeface="Consolas" pitchFamily="49" charset="0"/>
                </a:rPr>
                <a:t> </a:t>
              </a:r>
              <a:r>
                <a:rPr lang="en-US" sz="2000" b="1" dirty="0" smtClean="0">
                  <a:latin typeface="Consolas" pitchFamily="49" charset="0"/>
                  <a:cs typeface="Consolas" pitchFamily="49" charset="0"/>
                </a:rPr>
                <a:t>right;</a:t>
              </a:r>
              <a:endParaRPr lang="en-US" sz="2000" b="1" dirty="0">
                <a:latin typeface="Consolas" pitchFamily="49" charset="0"/>
                <a:cs typeface="Consolas" pitchFamily="49" charset="0"/>
              </a:endParaRPr>
            </a:p>
            <a:p>
              <a:endParaRPr lang="en-US" sz="2000" b="1" dirty="0">
                <a:latin typeface="Consolas" pitchFamily="49" charset="0"/>
                <a:cs typeface="Consolas" pitchFamily="49" charset="0"/>
              </a:endParaRPr>
            </a:p>
            <a:p>
              <a:endParaRPr lang="en-US" sz="2000" b="1" dirty="0">
                <a:latin typeface="Consolas" pitchFamily="49" charset="0"/>
                <a:cs typeface="Consolas" pitchFamily="49" charset="0"/>
              </a:endParaRPr>
            </a:p>
            <a:p>
              <a:r>
                <a:rPr lang="en-US" sz="2000" b="1" dirty="0">
                  <a:latin typeface="Consolas" pitchFamily="49" charset="0"/>
                  <a:cs typeface="Consolas" pitchFamily="49" charset="0"/>
                </a:rPr>
                <a:t>	</a:t>
              </a:r>
              <a:r>
                <a:rPr lang="en-US" sz="2000" b="1" i="1" dirty="0" smtClean="0">
                  <a:solidFill>
                    <a:schemeClr val="tx2">
                      <a:lumMod val="40000"/>
                      <a:lumOff val="60000"/>
                    </a:schemeClr>
                  </a:solidFill>
                  <a:latin typeface="Consolas" pitchFamily="49" charset="0"/>
                  <a:cs typeface="Consolas" pitchFamily="49" charset="0"/>
                </a:rPr>
                <a:t>// </a:t>
              </a:r>
              <a:r>
                <a:rPr lang="en-US" sz="2000" b="1" i="1" dirty="0">
                  <a:solidFill>
                    <a:schemeClr val="tx2">
                      <a:lumMod val="40000"/>
                      <a:lumOff val="60000"/>
                    </a:schemeClr>
                  </a:solidFill>
                  <a:latin typeface="Consolas" pitchFamily="49" charset="0"/>
                  <a:cs typeface="Consolas" pitchFamily="49" charset="0"/>
                </a:rPr>
                <a:t>Constructor to create a new node</a:t>
              </a:r>
            </a:p>
            <a:p>
              <a:r>
                <a:rPr lang="en-US" sz="2000" b="1" i="1" dirty="0">
                  <a:solidFill>
                    <a:schemeClr val="tx2">
                      <a:lumMod val="40000"/>
                      <a:lumOff val="60000"/>
                    </a:schemeClr>
                  </a:solidFill>
                  <a:latin typeface="Consolas" pitchFamily="49" charset="0"/>
                  <a:cs typeface="Consolas" pitchFamily="49" charset="0"/>
                </a:rPr>
                <a:t>	</a:t>
              </a:r>
              <a:r>
                <a:rPr lang="en-US" sz="2000" b="1" i="1" dirty="0" smtClean="0">
                  <a:solidFill>
                    <a:schemeClr val="tx2">
                      <a:lumMod val="40000"/>
                      <a:lumOff val="60000"/>
                    </a:schemeClr>
                  </a:solidFill>
                  <a:latin typeface="Consolas" pitchFamily="49" charset="0"/>
                  <a:cs typeface="Consolas" pitchFamily="49" charset="0"/>
                </a:rPr>
                <a:t>//</a:t>
              </a:r>
              <a:r>
                <a:rPr lang="en-US" b="1" i="1" dirty="0" smtClean="0">
                  <a:solidFill>
                    <a:schemeClr val="tx2">
                      <a:lumMod val="40000"/>
                      <a:lumOff val="60000"/>
                    </a:schemeClr>
                  </a:solidFill>
                  <a:latin typeface="Consolas" pitchFamily="49" charset="0"/>
                  <a:cs typeface="Consolas" pitchFamily="49" charset="0"/>
                </a:rPr>
                <a:t> left &amp; right is initialized as </a:t>
              </a:r>
              <a:r>
                <a:rPr lang="en-US" b="1" i="1" dirty="0">
                  <a:solidFill>
                    <a:schemeClr val="tx2">
                      <a:lumMod val="40000"/>
                      <a:lumOff val="60000"/>
                    </a:schemeClr>
                  </a:solidFill>
                  <a:latin typeface="Consolas" pitchFamily="49" charset="0"/>
                  <a:cs typeface="Consolas" pitchFamily="49" charset="0"/>
                </a:rPr>
                <a:t>null</a:t>
              </a:r>
            </a:p>
            <a:p>
              <a:r>
                <a:rPr lang="en-US" sz="2000" b="1" dirty="0">
                  <a:latin typeface="Consolas" pitchFamily="49" charset="0"/>
                  <a:cs typeface="Consolas" pitchFamily="49" charset="0"/>
                </a:rPr>
                <a:t>	</a:t>
              </a:r>
              <a:r>
                <a:rPr lang="en-US" sz="2000" b="1" dirty="0" smtClean="0">
                  <a:latin typeface="Consolas" pitchFamily="49" charset="0"/>
                  <a:cs typeface="Consolas" pitchFamily="49" charset="0"/>
                </a:rPr>
                <a:t>public </a:t>
              </a:r>
              <a:r>
                <a:rPr lang="en-US" sz="2000" b="1" dirty="0" smtClean="0">
                  <a:solidFill>
                    <a:schemeClr val="accent4">
                      <a:lumMod val="75000"/>
                    </a:schemeClr>
                  </a:solidFill>
                  <a:latin typeface="Consolas" pitchFamily="49" charset="0"/>
                  <a:cs typeface="Consolas" pitchFamily="49" charset="0"/>
                </a:rPr>
                <a:t>Node</a:t>
              </a:r>
              <a:r>
                <a:rPr lang="en-US" sz="2000" b="1" dirty="0" smtClean="0">
                  <a:latin typeface="Consolas" pitchFamily="49" charset="0"/>
                  <a:cs typeface="Consolas" pitchFamily="49" charset="0"/>
                </a:rPr>
                <a:t>(</a:t>
              </a:r>
              <a:r>
                <a:rPr lang="en-US" sz="2000" b="1" dirty="0" err="1" smtClean="0">
                  <a:solidFill>
                    <a:schemeClr val="accent3">
                      <a:lumMod val="75000"/>
                    </a:schemeClr>
                  </a:solidFill>
                  <a:latin typeface="Consolas" pitchFamily="49" charset="0"/>
                  <a:cs typeface="Consolas" pitchFamily="49" charset="0"/>
                </a:rPr>
                <a:t>int</a:t>
              </a:r>
              <a:r>
                <a:rPr lang="en-US" sz="2000" b="1" dirty="0" smtClean="0">
                  <a:latin typeface="Consolas" pitchFamily="49" charset="0"/>
                  <a:cs typeface="Consolas" pitchFamily="49" charset="0"/>
                </a:rPr>
                <a:t> data) </a:t>
              </a:r>
              <a:r>
                <a:rPr lang="en-US" sz="2000" b="1" dirty="0">
                  <a:latin typeface="Consolas" pitchFamily="49" charset="0"/>
                  <a:cs typeface="Consolas" pitchFamily="49" charset="0"/>
                </a:rPr>
                <a:t>{ </a:t>
              </a:r>
              <a:endParaRPr lang="en-US" sz="2000" b="1" dirty="0" smtClean="0">
                <a:latin typeface="Consolas" pitchFamily="49" charset="0"/>
                <a:cs typeface="Consolas" pitchFamily="49" charset="0"/>
              </a:endParaRPr>
            </a:p>
            <a:p>
              <a:r>
                <a:rPr lang="en-US" sz="2000" b="1" dirty="0">
                  <a:latin typeface="Consolas" pitchFamily="49" charset="0"/>
                  <a:cs typeface="Consolas" pitchFamily="49" charset="0"/>
                </a:rPr>
                <a:t> </a:t>
              </a:r>
              <a:r>
                <a:rPr lang="en-US" sz="2000" b="1" dirty="0" smtClean="0">
                  <a:latin typeface="Consolas" pitchFamily="49" charset="0"/>
                  <a:cs typeface="Consolas" pitchFamily="49" charset="0"/>
                </a:rPr>
                <a:t>		 </a:t>
              </a:r>
              <a:r>
                <a:rPr lang="en-US" sz="2000" b="1" dirty="0" err="1" smtClean="0">
                  <a:latin typeface="Consolas" pitchFamily="49" charset="0"/>
                  <a:cs typeface="Consolas" pitchFamily="49" charset="0"/>
                </a:rPr>
                <a:t>this.key</a:t>
              </a:r>
              <a:r>
                <a:rPr lang="en-US" sz="2000" b="1" dirty="0" smtClean="0">
                  <a:latin typeface="Consolas" pitchFamily="49" charset="0"/>
                  <a:cs typeface="Consolas" pitchFamily="49" charset="0"/>
                </a:rPr>
                <a:t>   = data; </a:t>
              </a:r>
            </a:p>
            <a:p>
              <a:r>
                <a:rPr lang="en-US" sz="2000" b="1" dirty="0" smtClean="0">
                  <a:latin typeface="Consolas" pitchFamily="49" charset="0"/>
                  <a:cs typeface="Consolas" pitchFamily="49" charset="0"/>
                </a:rPr>
                <a:t>	</a:t>
              </a:r>
              <a:r>
                <a:rPr lang="en-US" sz="2000" b="1" dirty="0">
                  <a:latin typeface="Consolas" pitchFamily="49" charset="0"/>
                  <a:cs typeface="Consolas" pitchFamily="49" charset="0"/>
                </a:rPr>
                <a:t>	</a:t>
              </a:r>
              <a:r>
                <a:rPr lang="en-US" sz="2000" b="1" dirty="0" smtClean="0">
                  <a:latin typeface="Consolas" pitchFamily="49" charset="0"/>
                  <a:cs typeface="Consolas" pitchFamily="49" charset="0"/>
                </a:rPr>
                <a:t> </a:t>
              </a:r>
              <a:r>
                <a:rPr lang="en-US" sz="2000" b="1" dirty="0" err="1" smtClean="0">
                  <a:latin typeface="Consolas" pitchFamily="49" charset="0"/>
                  <a:cs typeface="Consolas" pitchFamily="49" charset="0"/>
                </a:rPr>
                <a:t>this.left</a:t>
              </a:r>
              <a:r>
                <a:rPr lang="en-US" sz="2000" b="1" dirty="0" smtClean="0">
                  <a:latin typeface="Consolas" pitchFamily="49" charset="0"/>
                  <a:cs typeface="Consolas" pitchFamily="49" charset="0"/>
                </a:rPr>
                <a:t>  = null;</a:t>
              </a:r>
            </a:p>
            <a:p>
              <a:r>
                <a:rPr lang="en-US" sz="2000" b="1" dirty="0" smtClean="0">
                  <a:latin typeface="Consolas" pitchFamily="49" charset="0"/>
                  <a:cs typeface="Consolas" pitchFamily="49" charset="0"/>
                </a:rPr>
                <a:t>	</a:t>
              </a:r>
              <a:r>
                <a:rPr lang="en-US" sz="2000" b="1" dirty="0">
                  <a:latin typeface="Consolas" pitchFamily="49" charset="0"/>
                  <a:cs typeface="Consolas" pitchFamily="49" charset="0"/>
                </a:rPr>
                <a:t>	 </a:t>
              </a:r>
              <a:r>
                <a:rPr lang="en-US" sz="2000" b="1" dirty="0" err="1" smtClean="0">
                  <a:latin typeface="Consolas" pitchFamily="49" charset="0"/>
                  <a:cs typeface="Consolas" pitchFamily="49" charset="0"/>
                </a:rPr>
                <a:t>this.right</a:t>
              </a:r>
              <a:r>
                <a:rPr lang="en-US" sz="2000" b="1" dirty="0" smtClean="0">
                  <a:latin typeface="Consolas" pitchFamily="49" charset="0"/>
                  <a:cs typeface="Consolas" pitchFamily="49" charset="0"/>
                </a:rPr>
                <a:t> = null;	</a:t>
              </a:r>
            </a:p>
            <a:p>
              <a:r>
                <a:rPr lang="en-US" sz="2000" b="1" dirty="0">
                  <a:latin typeface="Consolas" pitchFamily="49" charset="0"/>
                  <a:cs typeface="Consolas" pitchFamily="49" charset="0"/>
                </a:rPr>
                <a:t>	</a:t>
              </a:r>
              <a:r>
                <a:rPr lang="en-US" sz="2000" b="1" dirty="0" smtClean="0">
                  <a:latin typeface="Consolas" pitchFamily="49" charset="0"/>
                  <a:cs typeface="Consolas" pitchFamily="49" charset="0"/>
                </a:rPr>
                <a:t>}</a:t>
              </a:r>
              <a:endParaRPr lang="en-US" sz="2000" b="1" dirty="0">
                <a:latin typeface="Consolas" pitchFamily="49" charset="0"/>
                <a:cs typeface="Consolas" pitchFamily="49" charset="0"/>
              </a:endParaRPr>
            </a:p>
            <a:p>
              <a:r>
                <a:rPr lang="en-US" sz="2000" b="1" dirty="0" smtClean="0">
                  <a:latin typeface="Consolas" pitchFamily="49" charset="0"/>
                  <a:cs typeface="Consolas" pitchFamily="49" charset="0"/>
                </a:rPr>
                <a:t>}</a:t>
              </a:r>
              <a:endParaRPr lang="en-US" sz="2000" b="1" dirty="0">
                <a:latin typeface="Consolas" pitchFamily="49" charset="0"/>
                <a:cs typeface="Consolas" pitchFamily="49" charset="0"/>
              </a:endParaRPr>
            </a:p>
          </p:txBody>
        </p:sp>
      </p:grpSp>
      <p:sp>
        <p:nvSpPr>
          <p:cNvPr id="35" name="TextBox 34"/>
          <p:cNvSpPr txBox="1"/>
          <p:nvPr/>
        </p:nvSpPr>
        <p:spPr>
          <a:xfrm>
            <a:off x="5444762" y="925150"/>
            <a:ext cx="6409507" cy="553998"/>
          </a:xfrm>
          <a:prstGeom prst="rect">
            <a:avLst/>
          </a:prstGeom>
          <a:noFill/>
        </p:spPr>
        <p:txBody>
          <a:bodyPr wrap="square" rtlCol="0">
            <a:spAutoFit/>
          </a:bodyPr>
          <a:lstStyle/>
          <a:p>
            <a:pPr algn="ctr"/>
            <a:r>
              <a:rPr lang="en-IN" sz="3000" b="1" dirty="0" smtClean="0"/>
              <a:t>Java class to represent a </a:t>
            </a:r>
            <a:r>
              <a:rPr lang="en-IN" sz="3000" b="1" dirty="0"/>
              <a:t>node</a:t>
            </a:r>
          </a:p>
        </p:txBody>
      </p:sp>
      <p:grpSp>
        <p:nvGrpSpPr>
          <p:cNvPr id="31" name="Group 30"/>
          <p:cNvGrpSpPr/>
          <p:nvPr/>
        </p:nvGrpSpPr>
        <p:grpSpPr>
          <a:xfrm>
            <a:off x="1433596" y="5106141"/>
            <a:ext cx="2705573" cy="466320"/>
            <a:chOff x="-76200" y="4191000"/>
            <a:chExt cx="1997075" cy="381000"/>
          </a:xfrm>
        </p:grpSpPr>
        <p:sp>
          <p:nvSpPr>
            <p:cNvPr id="36" name="Rectangle 35"/>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Key</a:t>
              </a:r>
              <a:endParaRPr lang="en-US" sz="2000" b="1" dirty="0"/>
            </a:p>
          </p:txBody>
        </p:sp>
        <p:sp>
          <p:nvSpPr>
            <p:cNvPr id="37" name="Rectangle 36"/>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L</a:t>
              </a:r>
              <a:r>
                <a:rPr lang="en-IN" b="1" dirty="0" smtClean="0"/>
                <a:t>eft</a:t>
              </a:r>
              <a:endParaRPr lang="en-US" b="1" dirty="0"/>
            </a:p>
          </p:txBody>
        </p:sp>
        <p:sp>
          <p:nvSpPr>
            <p:cNvPr id="38" name="Rectangle 37"/>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Right</a:t>
              </a:r>
              <a:endParaRPr lang="en-US" b="1" dirty="0"/>
            </a:p>
          </p:txBody>
        </p:sp>
      </p:grpSp>
    </p:spTree>
    <p:extLst>
      <p:ext uri="{BB962C8B-B14F-4D97-AF65-F5344CB8AC3E}">
        <p14:creationId xmlns:p14="http://schemas.microsoft.com/office/powerpoint/2010/main" val="100516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a:t>
            </a:r>
            <a:r>
              <a:rPr lang="en-US" dirty="0"/>
              <a:t>code to Insert a Node in BST</a:t>
            </a:r>
            <a:endParaRPr lang="en-IN" dirty="0"/>
          </a:p>
        </p:txBody>
      </p:sp>
      <p:sp>
        <p:nvSpPr>
          <p:cNvPr id="8" name="Rectangle 7"/>
          <p:cNvSpPr/>
          <p:nvPr/>
        </p:nvSpPr>
        <p:spPr>
          <a:xfrm>
            <a:off x="5448822" y="764024"/>
            <a:ext cx="6743178" cy="5847755"/>
          </a:xfrm>
          <a:prstGeom prst="rect">
            <a:avLst/>
          </a:prstGeom>
        </p:spPr>
        <p:txBody>
          <a:bodyPr wrap="square">
            <a:spAutoFit/>
          </a:bodyPr>
          <a:lstStyle/>
          <a:p>
            <a:r>
              <a:rPr lang="en-US" sz="1500" dirty="0">
                <a:solidFill>
                  <a:srgbClr val="008000"/>
                </a:solidFill>
                <a:highlight>
                  <a:srgbClr val="FFFFFF"/>
                </a:highlight>
                <a:latin typeface="Cascadia Mono" panose="020B0609020000020004" pitchFamily="49" charset="0"/>
              </a:rPr>
              <a:t>// Function to insert a new node with the given key</a:t>
            </a:r>
            <a:endParaRPr lang="en-US" sz="1500" dirty="0">
              <a:solidFill>
                <a:srgbClr val="000000"/>
              </a:solidFill>
              <a:highlight>
                <a:srgbClr val="FFFFFF"/>
              </a:highlight>
              <a:latin typeface="Cascadia Mono" panose="020B0609020000020004" pitchFamily="49" charset="0"/>
            </a:endParaRPr>
          </a:p>
          <a:p>
            <a:r>
              <a:rPr lang="en-IN" sz="1500" dirty="0" err="1">
                <a:solidFill>
                  <a:srgbClr val="0000FF"/>
                </a:solidFill>
                <a:highlight>
                  <a:srgbClr val="FFFFFF"/>
                </a:highlight>
                <a:latin typeface="Cascadia Mono" panose="020B0609020000020004" pitchFamily="49" charset="0"/>
              </a:rPr>
              <a:t>struct</a:t>
            </a:r>
            <a:r>
              <a:rPr lang="en-IN" sz="1500" dirty="0">
                <a:solidFill>
                  <a:srgbClr val="000000"/>
                </a:solidFill>
                <a:highlight>
                  <a:srgbClr val="FFFFFF"/>
                </a:highlight>
                <a:latin typeface="Cascadia Mono" panose="020B0609020000020004" pitchFamily="49" charset="0"/>
              </a:rPr>
              <a:t> </a:t>
            </a:r>
            <a:r>
              <a:rPr lang="en-IN" sz="1500" dirty="0">
                <a:solidFill>
                  <a:srgbClr val="2B91AF"/>
                </a:solidFill>
                <a:highlight>
                  <a:srgbClr val="FFFFFF"/>
                </a:highlight>
                <a:latin typeface="Cascadia Mono" panose="020B0609020000020004" pitchFamily="49" charset="0"/>
              </a:rPr>
              <a:t>Node</a:t>
            </a:r>
            <a:r>
              <a:rPr lang="en-IN" sz="1500" dirty="0">
                <a:solidFill>
                  <a:srgbClr val="000000"/>
                </a:solidFill>
                <a:highlight>
                  <a:srgbClr val="FFFFFF"/>
                </a:highlight>
                <a:latin typeface="Cascadia Mono" panose="020B0609020000020004" pitchFamily="49" charset="0"/>
              </a:rPr>
              <a:t>*insert(</a:t>
            </a:r>
            <a:r>
              <a:rPr lang="en-IN" sz="1500" dirty="0" err="1">
                <a:solidFill>
                  <a:srgbClr val="0000FF"/>
                </a:solidFill>
                <a:highlight>
                  <a:srgbClr val="FFFFFF"/>
                </a:highlight>
                <a:latin typeface="Cascadia Mono" panose="020B0609020000020004" pitchFamily="49" charset="0"/>
              </a:rPr>
              <a:t>struct</a:t>
            </a:r>
            <a:r>
              <a:rPr lang="en-IN" sz="1500" dirty="0">
                <a:solidFill>
                  <a:srgbClr val="000000"/>
                </a:solidFill>
                <a:highlight>
                  <a:srgbClr val="FFFFFF"/>
                </a:highlight>
                <a:latin typeface="Cascadia Mono" panose="020B0609020000020004" pitchFamily="49" charset="0"/>
              </a:rPr>
              <a:t> </a:t>
            </a:r>
            <a:r>
              <a:rPr lang="en-IN" sz="1500" dirty="0">
                <a:solidFill>
                  <a:srgbClr val="2B91AF"/>
                </a:solidFill>
                <a:highlight>
                  <a:srgbClr val="FFFFFF"/>
                </a:highlight>
                <a:latin typeface="Cascadia Mono" panose="020B0609020000020004" pitchFamily="49" charset="0"/>
              </a:rPr>
              <a:t>Node</a:t>
            </a:r>
            <a:r>
              <a:rPr lang="en-IN" sz="1500" dirty="0">
                <a:solidFill>
                  <a:srgbClr val="000000"/>
                </a:solidFill>
                <a:highlight>
                  <a:srgbClr val="FFFFFF"/>
                </a:highlight>
                <a:latin typeface="Cascadia Mono" panose="020B0609020000020004" pitchFamily="49" charset="0"/>
              </a:rPr>
              <a:t>*node, </a:t>
            </a:r>
            <a:r>
              <a:rPr lang="en-IN" sz="1500" dirty="0" err="1">
                <a:solidFill>
                  <a:srgbClr val="0000FF"/>
                </a:solidFill>
                <a:highlight>
                  <a:srgbClr val="FFFFFF"/>
                </a:highlight>
                <a:latin typeface="Cascadia Mono" panose="020B0609020000020004" pitchFamily="49" charset="0"/>
              </a:rPr>
              <a:t>int</a:t>
            </a:r>
            <a:r>
              <a:rPr lang="en-IN" sz="1500" dirty="0">
                <a:solidFill>
                  <a:srgbClr val="000000"/>
                </a:solidFill>
                <a:highlight>
                  <a:srgbClr val="FFFFFF"/>
                </a:highlight>
                <a:latin typeface="Cascadia Mono" panose="020B0609020000020004" pitchFamily="49" charset="0"/>
              </a:rPr>
              <a:t> key) {</a:t>
            </a:r>
          </a:p>
          <a:p>
            <a:r>
              <a:rPr lang="en-IN" sz="1500" dirty="0">
                <a:solidFill>
                  <a:srgbClr val="000000"/>
                </a:solidFill>
                <a:highlight>
                  <a:srgbClr val="FFFFFF"/>
                </a:highlight>
                <a:latin typeface="Cascadia Mono" panose="020B0609020000020004" pitchFamily="49" charset="0"/>
              </a:rPr>
              <a:t>  </a:t>
            </a:r>
          </a:p>
          <a:p>
            <a:r>
              <a:rPr lang="en-US" sz="1500" dirty="0" smtClean="0">
                <a:solidFill>
                  <a:srgbClr val="008000"/>
                </a:solidFill>
                <a:highlight>
                  <a:srgbClr val="FFFFFF"/>
                </a:highlight>
                <a:latin typeface="Cascadia Mono" panose="020B0609020000020004" pitchFamily="49" charset="0"/>
              </a:rPr>
              <a:t>// </a:t>
            </a:r>
            <a:r>
              <a:rPr lang="en-US" sz="1500" dirty="0">
                <a:solidFill>
                  <a:srgbClr val="008000"/>
                </a:solidFill>
                <a:highlight>
                  <a:srgbClr val="FFFFFF"/>
                </a:highlight>
                <a:latin typeface="Cascadia Mono" panose="020B0609020000020004" pitchFamily="49" charset="0"/>
              </a:rPr>
              <a:t>If the tree is empty, return a new node</a:t>
            </a:r>
            <a:endParaRPr lang="en-US" sz="1500" dirty="0">
              <a:solidFill>
                <a:srgbClr val="000000"/>
              </a:solidFill>
              <a:highlight>
                <a:srgbClr val="FFFFFF"/>
              </a:highlight>
              <a:latin typeface="Cascadia Mono" panose="020B0609020000020004" pitchFamily="49" charset="0"/>
            </a:endParaRPr>
          </a:p>
          <a:p>
            <a:r>
              <a:rPr lang="en-IN" sz="1500" dirty="0" smtClean="0">
                <a:solidFill>
                  <a:srgbClr val="0000FF"/>
                </a:solidFill>
                <a:highlight>
                  <a:srgbClr val="FFFFFF"/>
                </a:highlight>
                <a:latin typeface="Cascadia Mono" panose="020B0609020000020004" pitchFamily="49" charset="0"/>
              </a:rPr>
              <a:t>if</a:t>
            </a:r>
            <a:r>
              <a:rPr lang="en-IN" sz="1500" dirty="0" smtClean="0">
                <a:solidFill>
                  <a:srgbClr val="000000"/>
                </a:solidFill>
                <a:highlight>
                  <a:srgbClr val="FFFFFF"/>
                </a:highlight>
                <a:latin typeface="Cascadia Mono" panose="020B0609020000020004" pitchFamily="49" charset="0"/>
              </a:rPr>
              <a:t> </a:t>
            </a:r>
            <a:r>
              <a:rPr lang="en-IN" sz="1500" dirty="0">
                <a:solidFill>
                  <a:srgbClr val="000000"/>
                </a:solidFill>
                <a:highlight>
                  <a:srgbClr val="FFFFFF"/>
                </a:highlight>
                <a:latin typeface="Cascadia Mono" panose="020B0609020000020004" pitchFamily="49" charset="0"/>
              </a:rPr>
              <a:t>(node == NULL)</a:t>
            </a:r>
          </a:p>
          <a:p>
            <a:r>
              <a:rPr lang="en-IN" sz="1500" dirty="0" smtClean="0">
                <a:solidFill>
                  <a:srgbClr val="000000"/>
                </a:solidFill>
                <a:highlight>
                  <a:srgbClr val="FFFFFF"/>
                </a:highlight>
                <a:latin typeface="Cascadia Mono" panose="020B0609020000020004" pitchFamily="49" charset="0"/>
              </a:rPr>
              <a:t>    </a:t>
            </a:r>
            <a:r>
              <a:rPr lang="en-IN" sz="1500" dirty="0">
                <a:solidFill>
                  <a:srgbClr val="0000FF"/>
                </a:solidFill>
                <a:highlight>
                  <a:srgbClr val="FFFFFF"/>
                </a:highlight>
                <a:latin typeface="Cascadia Mono" panose="020B0609020000020004" pitchFamily="49" charset="0"/>
              </a:rPr>
              <a:t>return</a:t>
            </a:r>
            <a:r>
              <a:rPr lang="en-IN" sz="1500" dirty="0">
                <a:solidFill>
                  <a:srgbClr val="000000"/>
                </a:solidFill>
                <a:highlight>
                  <a:srgbClr val="FFFFFF"/>
                </a:highlight>
                <a:latin typeface="Cascadia Mono" panose="020B0609020000020004" pitchFamily="49" charset="0"/>
              </a:rPr>
              <a:t> </a:t>
            </a:r>
            <a:r>
              <a:rPr lang="en-IN" sz="1500" dirty="0" err="1">
                <a:solidFill>
                  <a:srgbClr val="000000"/>
                </a:solidFill>
                <a:highlight>
                  <a:srgbClr val="FFFFFF"/>
                </a:highlight>
                <a:latin typeface="Cascadia Mono" panose="020B0609020000020004" pitchFamily="49" charset="0"/>
              </a:rPr>
              <a:t>newNode</a:t>
            </a:r>
            <a:r>
              <a:rPr lang="en-IN" sz="1500" dirty="0">
                <a:solidFill>
                  <a:srgbClr val="000000"/>
                </a:solidFill>
                <a:highlight>
                  <a:srgbClr val="FFFFFF"/>
                </a:highlight>
                <a:latin typeface="Cascadia Mono" panose="020B0609020000020004" pitchFamily="49" charset="0"/>
              </a:rPr>
              <a:t>(key);</a:t>
            </a:r>
          </a:p>
          <a:p>
            <a:endParaRPr lang="en-IN" sz="1500" dirty="0">
              <a:solidFill>
                <a:srgbClr val="000000"/>
              </a:solidFill>
              <a:highlight>
                <a:srgbClr val="FFFFFF"/>
              </a:highlight>
              <a:latin typeface="Cascadia Mono" panose="020B0609020000020004" pitchFamily="49" charset="0"/>
            </a:endParaRPr>
          </a:p>
          <a:p>
            <a:r>
              <a:rPr lang="en-US" sz="1400" dirty="0">
                <a:solidFill>
                  <a:srgbClr val="008000"/>
                </a:solidFill>
                <a:highlight>
                  <a:srgbClr val="FFFFFF"/>
                </a:highlight>
                <a:latin typeface="Cascadia Mono" panose="020B0609020000020004" pitchFamily="49" charset="0"/>
              </a:rPr>
              <a:t>// If the key is already present in the tree</a:t>
            </a:r>
            <a:r>
              <a:rPr lang="en-US" sz="1400" dirty="0" smtClean="0">
                <a:solidFill>
                  <a:srgbClr val="008000"/>
                </a:solidFill>
                <a:highlight>
                  <a:srgbClr val="FFFFFF"/>
                </a:highlight>
                <a:latin typeface="Cascadia Mono" panose="020B0609020000020004" pitchFamily="49" charset="0"/>
              </a:rPr>
              <a:t>, </a:t>
            </a:r>
            <a:r>
              <a:rPr lang="en-IN" sz="1400" dirty="0" smtClean="0">
                <a:solidFill>
                  <a:srgbClr val="008000"/>
                </a:solidFill>
                <a:highlight>
                  <a:srgbClr val="FFFFFF"/>
                </a:highlight>
                <a:latin typeface="Cascadia Mono" panose="020B0609020000020004" pitchFamily="49" charset="0"/>
              </a:rPr>
              <a:t>return </a:t>
            </a:r>
            <a:r>
              <a:rPr lang="en-IN" sz="1400" dirty="0">
                <a:solidFill>
                  <a:srgbClr val="008000"/>
                </a:solidFill>
                <a:highlight>
                  <a:srgbClr val="FFFFFF"/>
                </a:highlight>
                <a:latin typeface="Cascadia Mono" panose="020B0609020000020004" pitchFamily="49" charset="0"/>
              </a:rPr>
              <a:t>the node</a:t>
            </a:r>
            <a:endParaRPr lang="en-IN" sz="1400" dirty="0">
              <a:solidFill>
                <a:srgbClr val="000000"/>
              </a:solidFill>
              <a:highlight>
                <a:srgbClr val="FFFFFF"/>
              </a:highlight>
              <a:latin typeface="Cascadia Mono" panose="020B0609020000020004" pitchFamily="49" charset="0"/>
            </a:endParaRPr>
          </a:p>
          <a:p>
            <a:r>
              <a:rPr lang="en-IN" sz="1500" dirty="0">
                <a:solidFill>
                  <a:srgbClr val="0000FF"/>
                </a:solidFill>
                <a:highlight>
                  <a:srgbClr val="FFFFFF"/>
                </a:highlight>
                <a:latin typeface="Cascadia Mono" panose="020B0609020000020004" pitchFamily="49" charset="0"/>
              </a:rPr>
              <a:t>if</a:t>
            </a:r>
            <a:r>
              <a:rPr lang="en-IN" sz="1500" dirty="0">
                <a:solidFill>
                  <a:srgbClr val="000000"/>
                </a:solidFill>
                <a:highlight>
                  <a:srgbClr val="FFFFFF"/>
                </a:highlight>
                <a:latin typeface="Cascadia Mono" panose="020B0609020000020004" pitchFamily="49" charset="0"/>
              </a:rPr>
              <a:t> (node-&gt;key == key)</a:t>
            </a:r>
          </a:p>
          <a:p>
            <a:r>
              <a:rPr lang="en-IN" sz="1500" dirty="0">
                <a:solidFill>
                  <a:srgbClr val="000000"/>
                </a:solidFill>
                <a:highlight>
                  <a:srgbClr val="FFFFFF"/>
                </a:highlight>
                <a:latin typeface="Cascadia Mono" panose="020B0609020000020004" pitchFamily="49" charset="0"/>
              </a:rPr>
              <a:t>    </a:t>
            </a:r>
            <a:r>
              <a:rPr lang="en-IN" sz="1500" dirty="0">
                <a:solidFill>
                  <a:srgbClr val="0000FF"/>
                </a:solidFill>
                <a:highlight>
                  <a:srgbClr val="FFFFFF"/>
                </a:highlight>
                <a:latin typeface="Cascadia Mono" panose="020B0609020000020004" pitchFamily="49" charset="0"/>
              </a:rPr>
              <a:t>return</a:t>
            </a:r>
            <a:r>
              <a:rPr lang="en-IN" sz="1500" dirty="0">
                <a:solidFill>
                  <a:srgbClr val="000000"/>
                </a:solidFill>
                <a:highlight>
                  <a:srgbClr val="FFFFFF"/>
                </a:highlight>
                <a:latin typeface="Cascadia Mono" panose="020B0609020000020004" pitchFamily="49" charset="0"/>
              </a:rPr>
              <a:t> node;</a:t>
            </a:r>
          </a:p>
          <a:p>
            <a:endParaRPr lang="en-IN"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Otherwise, recur down the tree. If the key </a:t>
            </a:r>
            <a:endParaRPr lang="en-US"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to be inserted is greater than the node's key,</a:t>
            </a:r>
            <a:endParaRPr lang="en-US"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insert it in the right subtree</a:t>
            </a:r>
            <a:endParaRPr lang="en-US" sz="1500" dirty="0">
              <a:solidFill>
                <a:srgbClr val="000000"/>
              </a:solidFill>
              <a:highlight>
                <a:srgbClr val="FFFFFF"/>
              </a:highlight>
              <a:latin typeface="Cascadia Mono" panose="020B0609020000020004" pitchFamily="49" charset="0"/>
            </a:endParaRPr>
          </a:p>
          <a:p>
            <a:r>
              <a:rPr lang="en-IN" sz="1500" dirty="0">
                <a:solidFill>
                  <a:srgbClr val="0000FF"/>
                </a:solidFill>
                <a:highlight>
                  <a:srgbClr val="FFFFFF"/>
                </a:highlight>
                <a:latin typeface="Cascadia Mono" panose="020B0609020000020004" pitchFamily="49" charset="0"/>
              </a:rPr>
              <a:t>if</a:t>
            </a:r>
            <a:r>
              <a:rPr lang="en-IN" sz="1500" dirty="0">
                <a:solidFill>
                  <a:srgbClr val="000000"/>
                </a:solidFill>
                <a:highlight>
                  <a:srgbClr val="FFFFFF"/>
                </a:highlight>
                <a:latin typeface="Cascadia Mono" panose="020B0609020000020004" pitchFamily="49" charset="0"/>
              </a:rPr>
              <a:t> (node-&gt;key &lt; key)</a:t>
            </a:r>
          </a:p>
          <a:p>
            <a:r>
              <a:rPr lang="en-US" sz="1500" dirty="0">
                <a:solidFill>
                  <a:srgbClr val="000000"/>
                </a:solidFill>
                <a:highlight>
                  <a:srgbClr val="FFFFFF"/>
                </a:highlight>
                <a:latin typeface="Cascadia Mono" panose="020B0609020000020004" pitchFamily="49" charset="0"/>
              </a:rPr>
              <a:t>    node-&gt;right = insert(node-&gt;right, key);</a:t>
            </a:r>
          </a:p>
          <a:p>
            <a:endParaRPr lang="en-IN"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If the key to be inserted is smaller than </a:t>
            </a:r>
            <a:endParaRPr lang="en-US"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the node's </a:t>
            </a:r>
            <a:r>
              <a:rPr lang="en-US" sz="1500" dirty="0" err="1">
                <a:solidFill>
                  <a:srgbClr val="008000"/>
                </a:solidFill>
                <a:highlight>
                  <a:srgbClr val="FFFFFF"/>
                </a:highlight>
                <a:latin typeface="Cascadia Mono" panose="020B0609020000020004" pitchFamily="49" charset="0"/>
              </a:rPr>
              <a:t>key,insert</a:t>
            </a:r>
            <a:r>
              <a:rPr lang="en-US" sz="1500" dirty="0">
                <a:solidFill>
                  <a:srgbClr val="008000"/>
                </a:solidFill>
                <a:highlight>
                  <a:srgbClr val="FFFFFF"/>
                </a:highlight>
                <a:latin typeface="Cascadia Mono" panose="020B0609020000020004" pitchFamily="49" charset="0"/>
              </a:rPr>
              <a:t> it in the left subtree</a:t>
            </a:r>
            <a:endParaRPr lang="en-US" sz="1500" dirty="0">
              <a:solidFill>
                <a:srgbClr val="000000"/>
              </a:solidFill>
              <a:highlight>
                <a:srgbClr val="FFFFFF"/>
              </a:highlight>
              <a:latin typeface="Cascadia Mono" panose="020B0609020000020004" pitchFamily="49" charset="0"/>
            </a:endParaRPr>
          </a:p>
          <a:p>
            <a:r>
              <a:rPr lang="en-IN" sz="1500" dirty="0">
                <a:solidFill>
                  <a:srgbClr val="0000FF"/>
                </a:solidFill>
                <a:highlight>
                  <a:srgbClr val="FFFFFF"/>
                </a:highlight>
                <a:latin typeface="Cascadia Mono" panose="020B0609020000020004" pitchFamily="49" charset="0"/>
              </a:rPr>
              <a:t>else</a:t>
            </a:r>
            <a:endParaRPr lang="en-IN" sz="1500" dirty="0">
              <a:solidFill>
                <a:srgbClr val="000000"/>
              </a:solidFill>
              <a:highlight>
                <a:srgbClr val="FFFFFF"/>
              </a:highlight>
              <a:latin typeface="Cascadia Mono" panose="020B0609020000020004" pitchFamily="49" charset="0"/>
            </a:endParaRPr>
          </a:p>
          <a:p>
            <a:r>
              <a:rPr lang="en-US" sz="1500" dirty="0">
                <a:solidFill>
                  <a:srgbClr val="000000"/>
                </a:solidFill>
                <a:highlight>
                  <a:srgbClr val="FFFFFF"/>
                </a:highlight>
                <a:latin typeface="Cascadia Mono" panose="020B0609020000020004" pitchFamily="49" charset="0"/>
              </a:rPr>
              <a:t>    node-&gt;left = insert(node-&gt;left, key);</a:t>
            </a:r>
          </a:p>
          <a:p>
            <a:endParaRPr lang="en-IN" sz="1500" dirty="0">
              <a:solidFill>
                <a:srgbClr val="000000"/>
              </a:solidFill>
              <a:highlight>
                <a:srgbClr val="FFFFFF"/>
              </a:highlight>
              <a:latin typeface="Cascadia Mono" panose="020B0609020000020004" pitchFamily="49" charset="0"/>
            </a:endParaRPr>
          </a:p>
          <a:p>
            <a:r>
              <a:rPr lang="en-US" sz="1500" dirty="0">
                <a:solidFill>
                  <a:srgbClr val="008000"/>
                </a:solidFill>
                <a:highlight>
                  <a:srgbClr val="FFFFFF"/>
                </a:highlight>
                <a:latin typeface="Cascadia Mono" panose="020B0609020000020004" pitchFamily="49" charset="0"/>
              </a:rPr>
              <a:t>// Return the (unchanged) node pointer</a:t>
            </a:r>
            <a:endParaRPr lang="en-US" sz="1500" dirty="0">
              <a:solidFill>
                <a:srgbClr val="000000"/>
              </a:solidFill>
              <a:highlight>
                <a:srgbClr val="FFFFFF"/>
              </a:highlight>
              <a:latin typeface="Cascadia Mono" panose="020B0609020000020004" pitchFamily="49" charset="0"/>
            </a:endParaRPr>
          </a:p>
          <a:p>
            <a:r>
              <a:rPr lang="en-IN" sz="1500" dirty="0">
                <a:solidFill>
                  <a:srgbClr val="0000FF"/>
                </a:solidFill>
                <a:highlight>
                  <a:srgbClr val="FFFFFF"/>
                </a:highlight>
                <a:latin typeface="Cascadia Mono" panose="020B0609020000020004" pitchFamily="49" charset="0"/>
              </a:rPr>
              <a:t>return</a:t>
            </a:r>
            <a:r>
              <a:rPr lang="en-IN" sz="1500" dirty="0">
                <a:solidFill>
                  <a:srgbClr val="000000"/>
                </a:solidFill>
                <a:highlight>
                  <a:srgbClr val="FFFFFF"/>
                </a:highlight>
                <a:latin typeface="Cascadia Mono" panose="020B0609020000020004" pitchFamily="49" charset="0"/>
              </a:rPr>
              <a:t> node;</a:t>
            </a:r>
          </a:p>
          <a:p>
            <a:r>
              <a:rPr lang="en-IN" sz="1500" dirty="0">
                <a:solidFill>
                  <a:srgbClr val="000000"/>
                </a:solidFill>
                <a:highlight>
                  <a:srgbClr val="FFFFFF"/>
                </a:highlight>
                <a:latin typeface="Cascadia Mono" panose="020B0609020000020004" pitchFamily="49" charset="0"/>
              </a:rPr>
              <a:t>}</a:t>
            </a:r>
            <a:endParaRPr lang="en-IN" sz="1500" dirty="0"/>
          </a:p>
        </p:txBody>
      </p:sp>
      <p:sp>
        <p:nvSpPr>
          <p:cNvPr id="6" name="Rectangle 5"/>
          <p:cNvSpPr/>
          <p:nvPr/>
        </p:nvSpPr>
        <p:spPr>
          <a:xfrm>
            <a:off x="242170" y="949494"/>
            <a:ext cx="6096000" cy="2554545"/>
          </a:xfrm>
          <a:prstGeom prst="rect">
            <a:avLst/>
          </a:prstGeom>
        </p:spPr>
        <p:txBody>
          <a:bodyPr>
            <a:spAutoFit/>
          </a:bodyPr>
          <a:lstStyle/>
          <a:p>
            <a:r>
              <a:rPr lang="en-IN" sz="1600" dirty="0">
                <a:solidFill>
                  <a:srgbClr val="808080"/>
                </a:solidFill>
                <a:highlight>
                  <a:srgbClr val="FFFFFF"/>
                </a:highlight>
                <a:latin typeface="Cascadia Mono" panose="020B0609020000020004" pitchFamily="49" charset="0"/>
              </a:rPr>
              <a:t>#include</a:t>
            </a:r>
            <a:r>
              <a:rPr lang="en-IN" sz="1600" dirty="0">
                <a:solidFill>
                  <a:srgbClr val="000000"/>
                </a:solidFill>
                <a:highlight>
                  <a:srgbClr val="FFFFFF"/>
                </a:highlight>
                <a:latin typeface="Cascadia Mono" panose="020B0609020000020004" pitchFamily="49" charset="0"/>
              </a:rPr>
              <a:t> &lt;</a:t>
            </a:r>
            <a:r>
              <a:rPr lang="en-IN" sz="1600" dirty="0" err="1">
                <a:solidFill>
                  <a:srgbClr val="000000"/>
                </a:solidFill>
                <a:highlight>
                  <a:srgbClr val="FFFFFF"/>
                </a:highlight>
                <a:latin typeface="Cascadia Mono" panose="020B0609020000020004" pitchFamily="49" charset="0"/>
              </a:rPr>
              <a:t>stdio.h</a:t>
            </a:r>
            <a:r>
              <a:rPr lang="en-IN" sz="1600" dirty="0">
                <a:solidFill>
                  <a:srgbClr val="000000"/>
                </a:solidFill>
                <a:highlight>
                  <a:srgbClr val="FFFFFF"/>
                </a:highlight>
                <a:latin typeface="Cascadia Mono" panose="020B0609020000020004" pitchFamily="49" charset="0"/>
              </a:rPr>
              <a:t>&gt;</a:t>
            </a:r>
          </a:p>
          <a:p>
            <a:r>
              <a:rPr lang="en-IN" sz="1600" dirty="0">
                <a:solidFill>
                  <a:srgbClr val="808080"/>
                </a:solidFill>
                <a:highlight>
                  <a:srgbClr val="FFFFFF"/>
                </a:highlight>
                <a:latin typeface="Cascadia Mono" panose="020B0609020000020004" pitchFamily="49" charset="0"/>
              </a:rPr>
              <a:t>#include</a:t>
            </a:r>
            <a:r>
              <a:rPr lang="en-IN" sz="1600" dirty="0">
                <a:solidFill>
                  <a:srgbClr val="000000"/>
                </a:solidFill>
                <a:highlight>
                  <a:srgbClr val="FFFFFF"/>
                </a:highlight>
                <a:latin typeface="Cascadia Mono" panose="020B0609020000020004" pitchFamily="49" charset="0"/>
              </a:rPr>
              <a:t> &lt;</a:t>
            </a:r>
            <a:r>
              <a:rPr lang="en-IN" sz="1600" dirty="0" err="1">
                <a:solidFill>
                  <a:srgbClr val="000000"/>
                </a:solidFill>
                <a:highlight>
                  <a:srgbClr val="FFFFFF"/>
                </a:highlight>
                <a:latin typeface="Cascadia Mono" panose="020B0609020000020004" pitchFamily="49" charset="0"/>
              </a:rPr>
              <a:t>stdlib.h</a:t>
            </a:r>
            <a:r>
              <a:rPr lang="en-IN" sz="1600" dirty="0">
                <a:solidFill>
                  <a:srgbClr val="000000"/>
                </a:solidFill>
                <a:highlight>
                  <a:srgbClr val="FFFFFF"/>
                </a:highlight>
                <a:latin typeface="Cascadia Mono" panose="020B0609020000020004" pitchFamily="49" charset="0"/>
              </a:rPr>
              <a:t>&gt;</a:t>
            </a:r>
          </a:p>
          <a:p>
            <a:endParaRPr lang="en-IN" sz="1600" dirty="0">
              <a:solidFill>
                <a:srgbClr val="000000"/>
              </a:solidFill>
              <a:highlight>
                <a:srgbClr val="FFFFFF"/>
              </a:highlight>
              <a:latin typeface="Cascadia Mono" panose="020B0609020000020004" pitchFamily="49" charset="0"/>
            </a:endParaRPr>
          </a:p>
          <a:p>
            <a:r>
              <a:rPr lang="en-US" sz="1600" dirty="0">
                <a:solidFill>
                  <a:srgbClr val="008000"/>
                </a:solidFill>
                <a:highlight>
                  <a:srgbClr val="FFFFFF"/>
                </a:highlight>
                <a:latin typeface="Cascadia Mono" panose="020B0609020000020004" pitchFamily="49" charset="0"/>
              </a:rPr>
              <a:t>// Define the structure for a BST node</a:t>
            </a:r>
            <a:endParaRPr lang="en-US" sz="1600" dirty="0">
              <a:solidFill>
                <a:srgbClr val="000000"/>
              </a:solidFill>
              <a:highlight>
                <a:srgbClr val="FFFFFF"/>
              </a:highlight>
              <a:latin typeface="Cascadia Mono" panose="020B0609020000020004" pitchFamily="49" charset="0"/>
            </a:endParaRPr>
          </a:p>
          <a:p>
            <a:r>
              <a:rPr lang="en-IN" sz="1600" dirty="0" err="1">
                <a:solidFill>
                  <a:srgbClr val="0000FF"/>
                </a:solidFill>
                <a:highlight>
                  <a:srgbClr val="FFFFFF"/>
                </a:highlight>
                <a:latin typeface="Cascadia Mono" panose="020B0609020000020004" pitchFamily="49" charset="0"/>
              </a:rPr>
              <a:t>struct</a:t>
            </a:r>
            <a:r>
              <a:rPr lang="en-IN" sz="1600" dirty="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endParaRPr lang="en-IN" sz="1600" dirty="0">
              <a:solidFill>
                <a:srgbClr val="000000"/>
              </a:solidFill>
              <a:highlight>
                <a:srgbClr val="FFFFFF"/>
              </a:highlight>
              <a:latin typeface="Cascadia Mono" panose="020B0609020000020004" pitchFamily="49" charset="0"/>
            </a:endParaRPr>
          </a:p>
          <a:p>
            <a:r>
              <a:rPr lang="en-IN" sz="1600" dirty="0">
                <a:solidFill>
                  <a:srgbClr val="000000"/>
                </a:solidFill>
                <a:highlight>
                  <a:srgbClr val="FFFFFF"/>
                </a:highlight>
                <a:latin typeface="Cascadia Mono" panose="020B0609020000020004" pitchFamily="49" charset="0"/>
              </a:rPr>
              <a:t>{</a:t>
            </a:r>
          </a:p>
          <a:p>
            <a:r>
              <a:rPr lang="en-IN" sz="1600" dirty="0">
                <a:solidFill>
                  <a:srgbClr val="000000"/>
                </a:solidFill>
                <a:highlight>
                  <a:srgbClr val="FFFFFF"/>
                </a:highlight>
                <a:latin typeface="Cascadia Mono" panose="020B0609020000020004" pitchFamily="49" charset="0"/>
              </a:rPr>
              <a:t>    </a:t>
            </a:r>
            <a:r>
              <a:rPr lang="en-IN" sz="1600" dirty="0" err="1">
                <a:solidFill>
                  <a:srgbClr val="0000FF"/>
                </a:solidFill>
                <a:highlight>
                  <a:srgbClr val="FFFFFF"/>
                </a:highlight>
                <a:latin typeface="Cascadia Mono" panose="020B0609020000020004" pitchFamily="49" charset="0"/>
              </a:rPr>
              <a:t>int</a:t>
            </a:r>
            <a:r>
              <a:rPr lang="en-IN" sz="1600" dirty="0">
                <a:solidFill>
                  <a:srgbClr val="000000"/>
                </a:solidFill>
                <a:highlight>
                  <a:srgbClr val="FFFFFF"/>
                </a:highlight>
                <a:latin typeface="Cascadia Mono" panose="020B0609020000020004" pitchFamily="49" charset="0"/>
              </a:rPr>
              <a:t> key;</a:t>
            </a:r>
          </a:p>
          <a:p>
            <a:r>
              <a:rPr lang="en-IN" sz="1600" dirty="0">
                <a:solidFill>
                  <a:srgbClr val="000000"/>
                </a:solidFill>
                <a:highlight>
                  <a:srgbClr val="FFFFFF"/>
                </a:highlight>
                <a:latin typeface="Cascadia Mono" panose="020B0609020000020004" pitchFamily="49" charset="0"/>
              </a:rPr>
              <a:t>    </a:t>
            </a:r>
            <a:r>
              <a:rPr lang="en-IN" sz="1600" dirty="0" err="1">
                <a:solidFill>
                  <a:srgbClr val="0000FF"/>
                </a:solidFill>
                <a:highlight>
                  <a:srgbClr val="FFFFFF"/>
                </a:highlight>
                <a:latin typeface="Cascadia Mono" panose="020B0609020000020004" pitchFamily="49" charset="0"/>
              </a:rPr>
              <a:t>struct</a:t>
            </a:r>
            <a:r>
              <a:rPr lang="en-IN" sz="1600" dirty="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 left;</a:t>
            </a:r>
          </a:p>
          <a:p>
            <a:r>
              <a:rPr lang="en-IN" sz="1600" dirty="0">
                <a:solidFill>
                  <a:srgbClr val="000000"/>
                </a:solidFill>
                <a:highlight>
                  <a:srgbClr val="FFFFFF"/>
                </a:highlight>
                <a:latin typeface="Cascadia Mono" panose="020B0609020000020004" pitchFamily="49" charset="0"/>
              </a:rPr>
              <a:t>    </a:t>
            </a:r>
            <a:r>
              <a:rPr lang="en-IN" sz="1600" dirty="0" err="1">
                <a:solidFill>
                  <a:srgbClr val="0000FF"/>
                </a:solidFill>
                <a:highlight>
                  <a:srgbClr val="FFFFFF"/>
                </a:highlight>
                <a:latin typeface="Cascadia Mono" panose="020B0609020000020004" pitchFamily="49" charset="0"/>
              </a:rPr>
              <a:t>struct</a:t>
            </a:r>
            <a:r>
              <a:rPr lang="en-IN" sz="1600" dirty="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 right;</a:t>
            </a:r>
          </a:p>
          <a:p>
            <a:r>
              <a:rPr lang="en-IN" sz="1600" dirty="0">
                <a:solidFill>
                  <a:srgbClr val="000000"/>
                </a:solidFill>
                <a:highlight>
                  <a:srgbClr val="FFFFFF"/>
                </a:highlight>
                <a:latin typeface="Cascadia Mono" panose="020B0609020000020004" pitchFamily="49" charset="0"/>
              </a:rPr>
              <a:t>};</a:t>
            </a:r>
            <a:endParaRPr lang="en-IN" sz="1600" dirty="0"/>
          </a:p>
        </p:txBody>
      </p:sp>
      <p:sp>
        <p:nvSpPr>
          <p:cNvPr id="7" name="Rectangle 6"/>
          <p:cNvSpPr/>
          <p:nvPr/>
        </p:nvSpPr>
        <p:spPr>
          <a:xfrm>
            <a:off x="242170" y="3596530"/>
            <a:ext cx="4968657" cy="2062103"/>
          </a:xfrm>
          <a:prstGeom prst="rect">
            <a:avLst/>
          </a:prstGeom>
        </p:spPr>
        <p:txBody>
          <a:bodyPr wrap="square">
            <a:spAutoFit/>
          </a:bodyPr>
          <a:lstStyle/>
          <a:p>
            <a:r>
              <a:rPr lang="en-US" sz="1600" dirty="0">
                <a:solidFill>
                  <a:srgbClr val="008000"/>
                </a:solidFill>
                <a:highlight>
                  <a:srgbClr val="FFFFFF"/>
                </a:highlight>
                <a:latin typeface="Cascadia Mono" panose="020B0609020000020004" pitchFamily="49" charset="0"/>
              </a:rPr>
              <a:t>// Function to create a new BST node</a:t>
            </a:r>
            <a:endParaRPr lang="en-US" sz="1600" dirty="0">
              <a:solidFill>
                <a:srgbClr val="000000"/>
              </a:solidFill>
              <a:highlight>
                <a:srgbClr val="FFFFFF"/>
              </a:highlight>
              <a:latin typeface="Cascadia Mono" panose="020B0609020000020004" pitchFamily="49" charset="0"/>
            </a:endParaRPr>
          </a:p>
          <a:p>
            <a:r>
              <a:rPr lang="en-IN" sz="1600" dirty="0" err="1">
                <a:solidFill>
                  <a:srgbClr val="0000FF"/>
                </a:solidFill>
                <a:highlight>
                  <a:srgbClr val="FFFFFF"/>
                </a:highlight>
                <a:latin typeface="Cascadia Mono" panose="020B0609020000020004" pitchFamily="49" charset="0"/>
              </a:rPr>
              <a:t>struct</a:t>
            </a:r>
            <a:r>
              <a:rPr lang="en-IN" sz="1600" dirty="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a:t>
            </a:r>
            <a:r>
              <a:rPr lang="en-IN" sz="1600" dirty="0" err="1">
                <a:solidFill>
                  <a:srgbClr val="000000"/>
                </a:solidFill>
                <a:highlight>
                  <a:srgbClr val="FFFFFF"/>
                </a:highlight>
                <a:latin typeface="Cascadia Mono" panose="020B0609020000020004" pitchFamily="49" charset="0"/>
              </a:rPr>
              <a:t>newNode</a:t>
            </a:r>
            <a:r>
              <a:rPr lang="en-IN" sz="1600" dirty="0">
                <a:solidFill>
                  <a:srgbClr val="000000"/>
                </a:solidFill>
                <a:highlight>
                  <a:srgbClr val="FFFFFF"/>
                </a:highlight>
                <a:latin typeface="Cascadia Mono" panose="020B0609020000020004" pitchFamily="49" charset="0"/>
              </a:rPr>
              <a:t>(</a:t>
            </a:r>
            <a:r>
              <a:rPr lang="en-IN" sz="1600" dirty="0" err="1">
                <a:solidFill>
                  <a:srgbClr val="0000FF"/>
                </a:solidFill>
                <a:highlight>
                  <a:srgbClr val="FFFFFF"/>
                </a:highlight>
                <a:latin typeface="Cascadia Mono" panose="020B0609020000020004" pitchFamily="49" charset="0"/>
              </a:rPr>
              <a:t>int</a:t>
            </a:r>
            <a:r>
              <a:rPr lang="en-IN" sz="1600" dirty="0">
                <a:solidFill>
                  <a:srgbClr val="000000"/>
                </a:solidFill>
                <a:highlight>
                  <a:srgbClr val="FFFFFF"/>
                </a:highlight>
                <a:latin typeface="Cascadia Mono" panose="020B0609020000020004" pitchFamily="49" charset="0"/>
              </a:rPr>
              <a:t> item) {</a:t>
            </a:r>
          </a:p>
          <a:p>
            <a:r>
              <a:rPr lang="en-IN" sz="1600" dirty="0" err="1" smtClean="0">
                <a:solidFill>
                  <a:srgbClr val="0000FF"/>
                </a:solidFill>
                <a:highlight>
                  <a:srgbClr val="FFFFFF"/>
                </a:highlight>
                <a:latin typeface="Cascadia Mono" panose="020B0609020000020004" pitchFamily="49" charset="0"/>
              </a:rPr>
              <a:t>struct</a:t>
            </a:r>
            <a:r>
              <a:rPr lang="en-IN" sz="1600" dirty="0" smtClean="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 *temp </a:t>
            </a:r>
            <a:r>
              <a:rPr lang="en-IN" sz="1600" dirty="0" smtClean="0">
                <a:solidFill>
                  <a:srgbClr val="000000"/>
                </a:solidFill>
                <a:highlight>
                  <a:srgbClr val="FFFFFF"/>
                </a:highlight>
                <a:latin typeface="Cascadia Mono" panose="020B0609020000020004" pitchFamily="49" charset="0"/>
              </a:rPr>
              <a:t>=  </a:t>
            </a:r>
            <a:r>
              <a:rPr lang="en-IN" sz="1600" dirty="0">
                <a:solidFill>
                  <a:srgbClr val="000000"/>
                </a:solidFill>
                <a:highlight>
                  <a:srgbClr val="FFFFFF"/>
                </a:highlight>
                <a:latin typeface="Cascadia Mono" panose="020B0609020000020004" pitchFamily="49" charset="0"/>
              </a:rPr>
              <a:t>(</a:t>
            </a:r>
            <a:r>
              <a:rPr lang="en-IN" sz="1600" dirty="0" err="1">
                <a:solidFill>
                  <a:srgbClr val="0000FF"/>
                </a:solidFill>
                <a:highlight>
                  <a:srgbClr val="FFFFFF"/>
                </a:highlight>
                <a:latin typeface="Cascadia Mono" panose="020B0609020000020004" pitchFamily="49" charset="0"/>
              </a:rPr>
              <a:t>struct</a:t>
            </a:r>
            <a:r>
              <a:rPr lang="en-IN" sz="1600" dirty="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 </a:t>
            </a:r>
            <a:r>
              <a:rPr lang="en-IN" sz="1600" dirty="0" smtClean="0">
                <a:solidFill>
                  <a:srgbClr val="000000"/>
                </a:solidFill>
                <a:highlight>
                  <a:srgbClr val="FFFFFF"/>
                </a:highlight>
                <a:latin typeface="Cascadia Mono" panose="020B0609020000020004" pitchFamily="49" charset="0"/>
              </a:rPr>
              <a:t>*)</a:t>
            </a:r>
          </a:p>
          <a:p>
            <a:r>
              <a:rPr lang="en-IN" sz="1600" dirty="0">
                <a:solidFill>
                  <a:srgbClr val="000000"/>
                </a:solidFill>
                <a:highlight>
                  <a:srgbClr val="FFFFFF"/>
                </a:highlight>
                <a:latin typeface="Cascadia Mono" panose="020B0609020000020004" pitchFamily="49" charset="0"/>
              </a:rPr>
              <a:t> </a:t>
            </a:r>
            <a:r>
              <a:rPr lang="en-IN" sz="1600" dirty="0" smtClean="0">
                <a:solidFill>
                  <a:srgbClr val="000000"/>
                </a:solidFill>
                <a:highlight>
                  <a:srgbClr val="FFFFFF"/>
                </a:highlight>
                <a:latin typeface="Cascadia Mono" panose="020B0609020000020004" pitchFamily="49" charset="0"/>
              </a:rPr>
              <a:t>           </a:t>
            </a:r>
            <a:r>
              <a:rPr lang="en-IN" sz="1600" dirty="0" err="1" smtClean="0">
                <a:solidFill>
                  <a:srgbClr val="000000"/>
                </a:solidFill>
                <a:highlight>
                  <a:srgbClr val="FFFFFF"/>
                </a:highlight>
                <a:latin typeface="Cascadia Mono" panose="020B0609020000020004" pitchFamily="49" charset="0"/>
              </a:rPr>
              <a:t>malloc</a:t>
            </a:r>
            <a:r>
              <a:rPr lang="en-IN" sz="1600" dirty="0" smtClean="0">
                <a:solidFill>
                  <a:srgbClr val="000000"/>
                </a:solidFill>
                <a:highlight>
                  <a:srgbClr val="FFFFFF"/>
                </a:highlight>
                <a:latin typeface="Cascadia Mono" panose="020B0609020000020004" pitchFamily="49" charset="0"/>
              </a:rPr>
              <a:t>(</a:t>
            </a:r>
            <a:r>
              <a:rPr lang="en-IN" sz="1600" dirty="0" err="1" smtClean="0">
                <a:solidFill>
                  <a:srgbClr val="0000FF"/>
                </a:solidFill>
                <a:highlight>
                  <a:srgbClr val="FFFFFF"/>
                </a:highlight>
                <a:latin typeface="Cascadia Mono" panose="020B0609020000020004" pitchFamily="49" charset="0"/>
              </a:rPr>
              <a:t>sizeof</a:t>
            </a:r>
            <a:r>
              <a:rPr lang="en-IN" sz="1600" dirty="0" smtClean="0">
                <a:solidFill>
                  <a:srgbClr val="000000"/>
                </a:solidFill>
                <a:highlight>
                  <a:srgbClr val="FFFFFF"/>
                </a:highlight>
                <a:latin typeface="Cascadia Mono" panose="020B0609020000020004" pitchFamily="49" charset="0"/>
              </a:rPr>
              <a:t>(</a:t>
            </a:r>
            <a:r>
              <a:rPr lang="en-IN" sz="1600" dirty="0" err="1" smtClean="0">
                <a:solidFill>
                  <a:srgbClr val="0000FF"/>
                </a:solidFill>
                <a:highlight>
                  <a:srgbClr val="FFFFFF"/>
                </a:highlight>
                <a:latin typeface="Cascadia Mono" panose="020B0609020000020004" pitchFamily="49" charset="0"/>
              </a:rPr>
              <a:t>struct</a:t>
            </a:r>
            <a:r>
              <a:rPr lang="en-IN" sz="1600" dirty="0" smtClean="0">
                <a:solidFill>
                  <a:srgbClr val="000000"/>
                </a:solidFill>
                <a:highlight>
                  <a:srgbClr val="FFFFFF"/>
                </a:highlight>
                <a:latin typeface="Cascadia Mono" panose="020B0609020000020004" pitchFamily="49" charset="0"/>
              </a:rPr>
              <a:t> </a:t>
            </a:r>
            <a:r>
              <a:rPr lang="en-IN" sz="1600" dirty="0">
                <a:solidFill>
                  <a:srgbClr val="2B91AF"/>
                </a:solidFill>
                <a:highlight>
                  <a:srgbClr val="FFFFFF"/>
                </a:highlight>
                <a:latin typeface="Cascadia Mono" panose="020B0609020000020004" pitchFamily="49" charset="0"/>
              </a:rPr>
              <a:t>Node</a:t>
            </a:r>
            <a:r>
              <a:rPr lang="en-IN" sz="1600" dirty="0">
                <a:solidFill>
                  <a:srgbClr val="000000"/>
                </a:solidFill>
                <a:highlight>
                  <a:srgbClr val="FFFFFF"/>
                </a:highlight>
                <a:latin typeface="Cascadia Mono" panose="020B0609020000020004" pitchFamily="49" charset="0"/>
              </a:rPr>
              <a:t>));</a:t>
            </a:r>
          </a:p>
          <a:p>
            <a:r>
              <a:rPr lang="en-IN" sz="1600" dirty="0">
                <a:solidFill>
                  <a:srgbClr val="000000"/>
                </a:solidFill>
                <a:highlight>
                  <a:srgbClr val="FFFFFF"/>
                </a:highlight>
                <a:latin typeface="Cascadia Mono" panose="020B0609020000020004" pitchFamily="49" charset="0"/>
              </a:rPr>
              <a:t>temp-&gt;key = item;</a:t>
            </a:r>
          </a:p>
          <a:p>
            <a:r>
              <a:rPr lang="en-US" sz="1600" dirty="0">
                <a:solidFill>
                  <a:srgbClr val="000000"/>
                </a:solidFill>
                <a:highlight>
                  <a:srgbClr val="FFFFFF"/>
                </a:highlight>
                <a:latin typeface="Cascadia Mono" panose="020B0609020000020004" pitchFamily="49" charset="0"/>
              </a:rPr>
              <a:t>temp-&gt;left = temp-&gt;right = NULL;</a:t>
            </a:r>
          </a:p>
          <a:p>
            <a:r>
              <a:rPr lang="en-IN" sz="1600" dirty="0">
                <a:solidFill>
                  <a:srgbClr val="0000FF"/>
                </a:solidFill>
                <a:highlight>
                  <a:srgbClr val="FFFFFF"/>
                </a:highlight>
                <a:latin typeface="Cascadia Mono" panose="020B0609020000020004" pitchFamily="49" charset="0"/>
              </a:rPr>
              <a:t>return</a:t>
            </a:r>
            <a:r>
              <a:rPr lang="en-IN" sz="1600" dirty="0">
                <a:solidFill>
                  <a:srgbClr val="000000"/>
                </a:solidFill>
                <a:highlight>
                  <a:srgbClr val="FFFFFF"/>
                </a:highlight>
                <a:latin typeface="Cascadia Mono" panose="020B0609020000020004" pitchFamily="49" charset="0"/>
              </a:rPr>
              <a:t> temp;</a:t>
            </a:r>
          </a:p>
          <a:p>
            <a:r>
              <a:rPr lang="en-IN" sz="1600" dirty="0">
                <a:solidFill>
                  <a:srgbClr val="000000"/>
                </a:solidFill>
                <a:highlight>
                  <a:srgbClr val="FFFFFF"/>
                </a:highlight>
                <a:latin typeface="Cascadia Mono" panose="020B0609020000020004" pitchFamily="49" charset="0"/>
              </a:rPr>
              <a:t>}</a:t>
            </a:r>
            <a:endParaRPr lang="en-IN" sz="1600" dirty="0"/>
          </a:p>
        </p:txBody>
      </p:sp>
      <p:cxnSp>
        <p:nvCxnSpPr>
          <p:cNvPr id="10" name="Straight Connector 9"/>
          <p:cNvCxnSpPr/>
          <p:nvPr/>
        </p:nvCxnSpPr>
        <p:spPr>
          <a:xfrm>
            <a:off x="5235879" y="764024"/>
            <a:ext cx="0" cy="58477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168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code to Search record in BST</a:t>
            </a:r>
            <a:endParaRPr lang="en-IN" dirty="0"/>
          </a:p>
        </p:txBody>
      </p:sp>
      <p:sp>
        <p:nvSpPr>
          <p:cNvPr id="5" name="Rectangle 4"/>
          <p:cNvSpPr/>
          <p:nvPr/>
        </p:nvSpPr>
        <p:spPr>
          <a:xfrm>
            <a:off x="392482" y="978239"/>
            <a:ext cx="6747354" cy="4524315"/>
          </a:xfrm>
          <a:prstGeom prst="rect">
            <a:avLst/>
          </a:prstGeom>
        </p:spPr>
        <p:txBody>
          <a:bodyPr wrap="square">
            <a:spAutoFit/>
          </a:bodyPr>
          <a:lstStyle/>
          <a:p>
            <a:r>
              <a:rPr lang="en-IN" dirty="0" smtClean="0">
                <a:solidFill>
                  <a:srgbClr val="008000"/>
                </a:solidFill>
                <a:highlight>
                  <a:srgbClr val="FFFFFF"/>
                </a:highlight>
                <a:latin typeface="Cascadia Mono" panose="020B0609020000020004" pitchFamily="49" charset="0"/>
              </a:rPr>
              <a:t>//</a:t>
            </a:r>
            <a:r>
              <a:rPr lang="en-IN" dirty="0">
                <a:highlight>
                  <a:srgbClr val="FFFFFF"/>
                </a:highlight>
              </a:rPr>
              <a:t> </a:t>
            </a:r>
            <a:r>
              <a:rPr lang="en-US" dirty="0" smtClean="0">
                <a:solidFill>
                  <a:srgbClr val="008000"/>
                </a:solidFill>
                <a:highlight>
                  <a:srgbClr val="FFFFFF"/>
                </a:highlight>
                <a:latin typeface="Cascadia Mono" panose="020B0609020000020004" pitchFamily="49" charset="0"/>
              </a:rPr>
              <a:t>function </a:t>
            </a:r>
            <a:r>
              <a:rPr lang="en-US" dirty="0">
                <a:solidFill>
                  <a:srgbClr val="008000"/>
                </a:solidFill>
                <a:highlight>
                  <a:srgbClr val="FFFFFF"/>
                </a:highlight>
                <a:latin typeface="Cascadia Mono" panose="020B0609020000020004" pitchFamily="49" charset="0"/>
              </a:rPr>
              <a:t>to search a key in a BST</a:t>
            </a:r>
            <a:endParaRPr lang="en-US" dirty="0">
              <a:solidFill>
                <a:srgbClr val="000000"/>
              </a:solidFill>
              <a:highlight>
                <a:srgbClr val="FFFFFF"/>
              </a:highlight>
              <a:latin typeface="Cascadia Mono" panose="020B0609020000020004" pitchFamily="49" charset="0"/>
            </a:endParaRPr>
          </a:p>
          <a:p>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a:t>
            </a:r>
            <a:r>
              <a:rPr lang="en-US" dirty="0">
                <a:solidFill>
                  <a:srgbClr val="2B91AF"/>
                </a:solidFill>
                <a:highlight>
                  <a:srgbClr val="FFFFFF"/>
                </a:highlight>
                <a:latin typeface="Cascadia Mono" panose="020B0609020000020004" pitchFamily="49" charset="0"/>
              </a:rPr>
              <a:t>Node</a:t>
            </a:r>
            <a:r>
              <a:rPr lang="en-US" dirty="0">
                <a:solidFill>
                  <a:srgbClr val="000000"/>
                </a:solidFill>
                <a:highlight>
                  <a:srgbClr val="FFFFFF"/>
                </a:highlight>
                <a:latin typeface="Cascadia Mono" panose="020B0609020000020004" pitchFamily="49" charset="0"/>
              </a:rPr>
              <a:t>*search(</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a:t>
            </a:r>
            <a:r>
              <a:rPr lang="en-US" dirty="0">
                <a:solidFill>
                  <a:srgbClr val="2B91AF"/>
                </a:solidFill>
                <a:highlight>
                  <a:srgbClr val="FFFFFF"/>
                </a:highlight>
                <a:latin typeface="Cascadia Mono" panose="020B0609020000020004" pitchFamily="49" charset="0"/>
              </a:rPr>
              <a:t>Node</a:t>
            </a:r>
            <a:r>
              <a:rPr lang="en-US" dirty="0">
                <a:solidFill>
                  <a:srgbClr val="000000"/>
                </a:solidFill>
                <a:highlight>
                  <a:srgbClr val="FFFFFF"/>
                </a:highlight>
                <a:latin typeface="Cascadia Mono" panose="020B0609020000020004" pitchFamily="49" charset="0"/>
              </a:rPr>
              <a:t>*root, </a:t>
            </a:r>
            <a:r>
              <a:rPr lang="en-US" dirty="0" err="1">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key)</a:t>
            </a:r>
          </a:p>
          <a:p>
            <a:r>
              <a:rPr lang="en-IN" dirty="0">
                <a:solidFill>
                  <a:srgbClr val="000000"/>
                </a:solidFill>
                <a:highlight>
                  <a:srgbClr val="FFFFFF"/>
                </a:highlight>
                <a:latin typeface="Cascadia Mono" panose="020B0609020000020004" pitchFamily="49" charset="0"/>
              </a:rPr>
              <a:t>{</a:t>
            </a:r>
          </a:p>
          <a:p>
            <a:endParaRPr lang="en-IN" dirty="0">
              <a:solidFill>
                <a:srgbClr val="000000"/>
              </a:solidFill>
              <a:highlight>
                <a:srgbClr val="FFFFFF"/>
              </a:highlight>
              <a:latin typeface="Cascadia Mono" panose="020B0609020000020004" pitchFamily="49" charset="0"/>
            </a:endParaRPr>
          </a:p>
          <a:p>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Base Cases: root is null or key is</a:t>
            </a:r>
            <a:endParaRPr lang="en-US" dirty="0">
              <a:solidFill>
                <a:srgbClr val="000000"/>
              </a:solidFill>
              <a:highlight>
                <a:srgbClr val="FFFFFF"/>
              </a:highlight>
              <a:latin typeface="Cascadia Mono" panose="020B0609020000020004" pitchFamily="49" charset="0"/>
            </a:endParaRPr>
          </a:p>
          <a:p>
            <a:r>
              <a:rPr lang="en-IN" dirty="0">
                <a:solidFill>
                  <a:srgbClr val="000000"/>
                </a:solidFill>
                <a:highlight>
                  <a:srgbClr val="FFFFFF"/>
                </a:highlight>
                <a:latin typeface="Cascadia Mono" panose="020B0609020000020004" pitchFamily="49" charset="0"/>
              </a:rPr>
              <a:t>    </a:t>
            </a:r>
            <a:r>
              <a:rPr lang="en-IN" dirty="0">
                <a:solidFill>
                  <a:srgbClr val="008000"/>
                </a:solidFill>
                <a:highlight>
                  <a:srgbClr val="FFFFFF"/>
                </a:highlight>
                <a:latin typeface="Cascadia Mono" panose="020B0609020000020004" pitchFamily="49" charset="0"/>
              </a:rPr>
              <a:t>// present at root</a:t>
            </a:r>
            <a:endParaRPr lang="en-IN" dirty="0">
              <a:solidFill>
                <a:srgbClr val="000000"/>
              </a:solidFill>
              <a:highlight>
                <a:srgbClr val="FFFFFF"/>
              </a:highlight>
              <a:latin typeface="Cascadia Mono" panose="020B0609020000020004" pitchFamily="49" charset="0"/>
            </a:endParaRPr>
          </a:p>
          <a:p>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if</a:t>
            </a:r>
            <a:r>
              <a:rPr lang="en-US" dirty="0">
                <a:solidFill>
                  <a:srgbClr val="000000"/>
                </a:solidFill>
                <a:highlight>
                  <a:srgbClr val="FFFFFF"/>
                </a:highlight>
                <a:latin typeface="Cascadia Mono" panose="020B0609020000020004" pitchFamily="49" charset="0"/>
              </a:rPr>
              <a:t> (root == NULL || root-&gt;key == key)</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root;</a:t>
            </a:r>
          </a:p>
          <a:p>
            <a:endParaRPr lang="en-IN" dirty="0">
              <a:solidFill>
                <a:srgbClr val="000000"/>
              </a:solidFill>
              <a:highlight>
                <a:srgbClr val="FFFFFF"/>
              </a:highlight>
              <a:latin typeface="Cascadia Mono" panose="020B0609020000020004" pitchFamily="49" charset="0"/>
            </a:endParaRPr>
          </a:p>
          <a:p>
            <a:pPr lvl="1"/>
            <a:r>
              <a:rPr lang="en-US" dirty="0" smtClean="0">
                <a:solidFill>
                  <a:srgbClr val="008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Key is greater than root's key</a:t>
            </a:r>
            <a:endParaRPr lang="en-US" dirty="0">
              <a:solidFill>
                <a:srgbClr val="000000"/>
              </a:solidFill>
              <a:highlight>
                <a:srgbClr val="FFFFFF"/>
              </a:highlight>
              <a:latin typeface="Cascadia Mono" panose="020B0609020000020004" pitchFamily="49" charset="0"/>
            </a:endParaRPr>
          </a:p>
          <a:p>
            <a:pPr lvl="1"/>
            <a:r>
              <a:rPr lang="en-IN" dirty="0">
                <a:solidFill>
                  <a:srgbClr val="0000FF"/>
                </a:solidFill>
                <a:highlight>
                  <a:srgbClr val="FFFFFF"/>
                </a:highlight>
                <a:latin typeface="Cascadia Mono" panose="020B0609020000020004" pitchFamily="49" charset="0"/>
              </a:rPr>
              <a:t>if</a:t>
            </a:r>
            <a:r>
              <a:rPr lang="en-IN" dirty="0">
                <a:solidFill>
                  <a:srgbClr val="000000"/>
                </a:solidFill>
                <a:highlight>
                  <a:srgbClr val="FFFFFF"/>
                </a:highlight>
                <a:latin typeface="Cascadia Mono" panose="020B0609020000020004" pitchFamily="49" charset="0"/>
              </a:rPr>
              <a:t> (root-&gt;key &lt; key)</a:t>
            </a:r>
          </a:p>
          <a:p>
            <a:pPr lvl="1"/>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search(root-&gt;right, key);</a:t>
            </a:r>
          </a:p>
          <a:p>
            <a:pPr lvl="1"/>
            <a:endParaRPr lang="en-IN"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Key is smaller than root's key</a:t>
            </a:r>
            <a:endParaRPr lang="en-US" dirty="0">
              <a:solidFill>
                <a:srgbClr val="000000"/>
              </a:solidFill>
              <a:highlight>
                <a:srgbClr val="FFFFFF"/>
              </a:highlight>
              <a:latin typeface="Cascadia Mono" panose="020B0609020000020004" pitchFamily="49" charset="0"/>
            </a:endParaRPr>
          </a:p>
          <a:p>
            <a:pPr lvl="1"/>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search(root-&gt;left, key);</a:t>
            </a:r>
          </a:p>
          <a:p>
            <a:r>
              <a:rPr lang="en-IN"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3773896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Construct Binary Search Tree (BST)</a:t>
            </a:r>
          </a:p>
        </p:txBody>
      </p:sp>
      <p:sp>
        <p:nvSpPr>
          <p:cNvPr id="3" name="Content Placeholder 2"/>
          <p:cNvSpPr>
            <a:spLocks noGrp="1"/>
          </p:cNvSpPr>
          <p:nvPr>
            <p:ph idx="1"/>
          </p:nvPr>
        </p:nvSpPr>
        <p:spPr>
          <a:xfrm>
            <a:off x="131181" y="863444"/>
            <a:ext cx="5355220" cy="5590565"/>
          </a:xfrm>
        </p:spPr>
        <p:txBody>
          <a:bodyPr/>
          <a:lstStyle/>
          <a:p>
            <a:r>
              <a:rPr lang="en-US" dirty="0" smtClean="0"/>
              <a:t>10,3,15,22,6,45,65,23,78,34,5</a:t>
            </a:r>
            <a:endParaRPr lang="en-US" dirty="0"/>
          </a:p>
          <a:p>
            <a:r>
              <a:rPr lang="en-US" dirty="0" smtClean="0"/>
              <a:t>50 </a:t>
            </a:r>
            <a:r>
              <a:rPr lang="en-US" dirty="0"/>
              <a:t>,25 ,75, 22,40,60,80,90,15,30</a:t>
            </a:r>
          </a:p>
          <a:p>
            <a:r>
              <a:rPr lang="en-US" dirty="0" smtClean="0"/>
              <a:t>50</a:t>
            </a:r>
            <a:r>
              <a:rPr lang="en-US" dirty="0"/>
              <a:t>, 60, 25, 40, 30, 70, 35, 10, 55, 65, 5</a:t>
            </a:r>
          </a:p>
          <a:p>
            <a:r>
              <a:rPr lang="en-US" dirty="0" smtClean="0"/>
              <a:t>45,56,39,12,34,78,54,67,10,32,89,81</a:t>
            </a:r>
            <a:endParaRPr lang="en-US" dirty="0"/>
          </a:p>
          <a:p>
            <a:r>
              <a:rPr lang="en-US" dirty="0" smtClean="0"/>
              <a:t>40,65,25,55,10,70,30,50,15,80,75</a:t>
            </a:r>
            <a:endParaRPr lang="en-US" dirty="0"/>
          </a:p>
          <a:p>
            <a:r>
              <a:rPr lang="en-US" dirty="0" smtClean="0"/>
              <a:t>8,3,11,5,9,12,13,4,6,20</a:t>
            </a:r>
            <a:endParaRPr lang="en-US" dirty="0"/>
          </a:p>
          <a:p>
            <a:r>
              <a:rPr lang="en-US" dirty="0" smtClean="0"/>
              <a:t>10,15,17,8,9,11,12,13,4,14,5</a:t>
            </a:r>
          </a:p>
          <a:p>
            <a:r>
              <a:rPr lang="en-US" dirty="0" smtClean="0"/>
              <a:t>50</a:t>
            </a:r>
            <a:r>
              <a:rPr lang="en-US" dirty="0"/>
              <a:t>, 45, 100, 25, 49, 120, 105, 46, 90, 95 </a:t>
            </a:r>
            <a:endParaRPr lang="en-US" dirty="0" smtClean="0"/>
          </a:p>
          <a:p>
            <a:r>
              <a:rPr lang="en-US" dirty="0" smtClean="0"/>
              <a:t>7,2,9,0,5,6,8,1</a:t>
            </a:r>
            <a:endParaRPr lang="en-US" dirty="0"/>
          </a:p>
          <a:p>
            <a:r>
              <a:rPr lang="en-US" dirty="0" smtClean="0"/>
              <a:t>7,39</a:t>
            </a:r>
            <a:r>
              <a:rPr lang="en-US" dirty="0"/>
              <a:t>,-2,0,3,42,20,5,40</a:t>
            </a:r>
          </a:p>
          <a:p>
            <a:endParaRPr lang="en-US" dirty="0"/>
          </a:p>
          <a:p>
            <a:endParaRPr lang="en-US" dirty="0"/>
          </a:p>
        </p:txBody>
      </p:sp>
      <p:sp>
        <p:nvSpPr>
          <p:cNvPr id="4" name="Content Placeholder 2"/>
          <p:cNvSpPr txBox="1">
            <a:spLocks/>
          </p:cNvSpPr>
          <p:nvPr/>
        </p:nvSpPr>
        <p:spPr>
          <a:xfrm>
            <a:off x="5396249" y="863443"/>
            <a:ext cx="6542466" cy="5590565"/>
          </a:xfrm>
          <a:prstGeom prst="rect">
            <a:avLst/>
          </a:prstGeom>
        </p:spPr>
        <p:txBody>
          <a:bodyPr vert="horz" lIns="91440" tIns="45720" rIns="91440" bIns="45720" rtlCol="0">
            <a:noAutofit/>
          </a:bodyPr>
          <a:lstStyle>
            <a:lvl1pPr marL="265113" indent="-265113" algn="just" defTabSz="914400" rtl="0" eaLnBrk="1" latinLnBrk="0" hangingPunct="1">
              <a:lnSpc>
                <a:spcPct val="114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114000"/>
              </a:lnSpc>
              <a:spcBef>
                <a:spcPts val="10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114000"/>
              </a:lnSpc>
              <a:spcBef>
                <a:spcPts val="10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114000"/>
              </a:lnSpc>
              <a:spcBef>
                <a:spcPts val="10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114000"/>
              </a:lnSpc>
              <a:spcBef>
                <a:spcPts val="10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DBLFHAN</a:t>
            </a:r>
          </a:p>
          <a:p>
            <a:r>
              <a:rPr lang="en-US" dirty="0" smtClean="0"/>
              <a:t>15,16,5,10,8,19,4,6,17,5,21,18,10,15,6</a:t>
            </a:r>
          </a:p>
          <a:p>
            <a:r>
              <a:rPr lang="en-US" dirty="0" smtClean="0"/>
              <a:t>Create </a:t>
            </a:r>
            <a:r>
              <a:rPr lang="en-US" dirty="0"/>
              <a:t>a binary search tree for the following data. 14, 10, 17, 12, 10, 11, 20, 12, 18, 25, 20, 8, 22, 11, 23 Explain deleting node 20 in the resultant binary search tree</a:t>
            </a:r>
            <a:r>
              <a:rPr lang="en-US" dirty="0" smtClean="0"/>
              <a:t>.</a:t>
            </a:r>
          </a:p>
          <a:p>
            <a:r>
              <a:rPr lang="en-US" dirty="0" smtClean="0"/>
              <a:t>Insertion </a:t>
            </a:r>
            <a:r>
              <a:rPr lang="en-US" dirty="0"/>
              <a:t>sequence of names is Norma, Roger</a:t>
            </a:r>
            <a:r>
              <a:rPr lang="en-US" dirty="0" smtClean="0"/>
              <a:t>, John, Bill, Leo, Paul</a:t>
            </a:r>
            <a:r>
              <a:rPr lang="en-US" dirty="0"/>
              <a:t>, Ken and Maurice</a:t>
            </a:r>
          </a:p>
          <a:p>
            <a:pPr lvl="1"/>
            <a:r>
              <a:rPr lang="en-US" dirty="0" smtClean="0"/>
              <a:t>Show </a:t>
            </a:r>
            <a:r>
              <a:rPr lang="en-US" dirty="0"/>
              <a:t>the behavior of creating a lexically ordered binary tree.</a:t>
            </a:r>
          </a:p>
          <a:p>
            <a:pPr lvl="1"/>
            <a:r>
              <a:rPr lang="en-US" dirty="0" smtClean="0"/>
              <a:t>Insert </a:t>
            </a:r>
            <a:r>
              <a:rPr lang="en-US" dirty="0"/>
              <a:t>Kirk. Show the binary tree.</a:t>
            </a:r>
          </a:p>
          <a:p>
            <a:pPr lvl="1"/>
            <a:r>
              <a:rPr lang="en-US" dirty="0" smtClean="0"/>
              <a:t>Delete </a:t>
            </a:r>
            <a:r>
              <a:rPr lang="en-US" dirty="0"/>
              <a:t>John. Show the binary tree.</a:t>
            </a:r>
          </a:p>
          <a:p>
            <a:endParaRPr lang="en-US" dirty="0" smtClean="0"/>
          </a:p>
          <a:p>
            <a:endParaRPr lang="en-US" dirty="0" smtClean="0"/>
          </a:p>
          <a:p>
            <a:endParaRPr lang="en-US" dirty="0"/>
          </a:p>
        </p:txBody>
      </p:sp>
      <p:cxnSp>
        <p:nvCxnSpPr>
          <p:cNvPr id="6" name="Straight Connector 5"/>
          <p:cNvCxnSpPr/>
          <p:nvPr/>
        </p:nvCxnSpPr>
        <p:spPr>
          <a:xfrm>
            <a:off x="5344735" y="863443"/>
            <a:ext cx="0" cy="559056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315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smtClean="0"/>
              <a:t>pradyuman.jadeja@darshan.ac.in</a:t>
            </a:r>
            <a:endParaRPr lang="en-US" dirty="0"/>
          </a:p>
        </p:txBody>
      </p:sp>
      <p:sp>
        <p:nvSpPr>
          <p:cNvPr id="3" name="Text Placeholder 2"/>
          <p:cNvSpPr>
            <a:spLocks noGrp="1"/>
          </p:cNvSpPr>
          <p:nvPr>
            <p:ph type="body" sz="quarter" idx="12"/>
          </p:nvPr>
        </p:nvSpPr>
        <p:spPr/>
        <p:txBody>
          <a:bodyPr/>
          <a:lstStyle/>
          <a:p>
            <a:r>
              <a:rPr lang="en-US" dirty="0"/>
              <a:t>+91 </a:t>
            </a:r>
            <a:r>
              <a:rPr lang="en-US" dirty="0" smtClean="0"/>
              <a:t>9879461848</a:t>
            </a:r>
            <a:endParaRPr lang="en-US" dirty="0"/>
          </a:p>
        </p:txBody>
      </p:sp>
      <p:sp>
        <p:nvSpPr>
          <p:cNvPr id="4" name="Text Placeholder 3"/>
          <p:cNvSpPr>
            <a:spLocks noGrp="1"/>
          </p:cNvSpPr>
          <p:nvPr>
            <p:ph type="body" sz="quarter" idx="13"/>
          </p:nvPr>
        </p:nvSpPr>
        <p:spPr/>
        <p:txBody>
          <a:bodyPr/>
          <a:lstStyle/>
          <a:p>
            <a:r>
              <a:rPr lang="en-US" dirty="0"/>
              <a:t>Computer Engineering </a:t>
            </a:r>
            <a:r>
              <a:rPr lang="en-US" dirty="0" smtClean="0"/>
              <a:t>Department</a:t>
            </a:r>
            <a:endParaRPr lang="en-US" dirty="0"/>
          </a:p>
        </p:txBody>
      </p:sp>
      <p:sp>
        <p:nvSpPr>
          <p:cNvPr id="5" name="Text Placeholder 4"/>
          <p:cNvSpPr>
            <a:spLocks noGrp="1"/>
          </p:cNvSpPr>
          <p:nvPr>
            <p:ph type="body" sz="quarter" idx="14"/>
          </p:nvPr>
        </p:nvSpPr>
        <p:spPr/>
        <p:txBody>
          <a:bodyPr/>
          <a:lstStyle/>
          <a:p>
            <a:r>
              <a:rPr lang="en-IN" dirty="0" err="1" smtClean="0"/>
              <a:t>Dr.</a:t>
            </a:r>
            <a:r>
              <a:rPr lang="en-IN" dirty="0" smtClean="0"/>
              <a:t> </a:t>
            </a:r>
            <a:r>
              <a:rPr lang="en-IN" dirty="0" err="1" smtClean="0"/>
              <a:t>Pradyumansinh</a:t>
            </a:r>
            <a:r>
              <a:rPr lang="en-IN" dirty="0" smtClean="0"/>
              <a:t> </a:t>
            </a:r>
            <a:r>
              <a:rPr lang="en-IN" dirty="0" err="1" smtClean="0"/>
              <a:t>Jadeja</a:t>
            </a:r>
            <a:endParaRPr lang="en-IN" dirty="0"/>
          </a:p>
        </p:txBody>
      </p:sp>
      <p:sp>
        <p:nvSpPr>
          <p:cNvPr id="9"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pic>
        <p:nvPicPr>
          <p:cNvPr id="7" name="Picture Placeholder 6"/>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141683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8622</TotalTime>
  <Words>2411</Words>
  <Application>Microsoft Office PowerPoint</Application>
  <PresentationFormat>Widescreen</PresentationFormat>
  <Paragraphs>604</Paragraphs>
  <Slides>34</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Times New Roman</vt:lpstr>
      <vt:lpstr>Wingdings</vt:lpstr>
      <vt:lpstr>Calibri</vt:lpstr>
      <vt:lpstr>Consolas</vt:lpstr>
      <vt:lpstr>Arial</vt:lpstr>
      <vt:lpstr>Open Sans</vt:lpstr>
      <vt:lpstr>Roboto Condensed</vt:lpstr>
      <vt:lpstr>Wingdings 3</vt:lpstr>
      <vt:lpstr>Cascadia Mono</vt:lpstr>
      <vt:lpstr>Segoe UI Black</vt:lpstr>
      <vt:lpstr>Roboto Condensed Light</vt:lpstr>
      <vt:lpstr>Open Sans Semibold</vt:lpstr>
      <vt:lpstr>Office Theme</vt:lpstr>
      <vt:lpstr>Unit-3 (Part – 2)  Tree Non-Linear Data Structure  </vt:lpstr>
      <vt:lpstr>Tree Traversal</vt:lpstr>
      <vt:lpstr>Preorder Traversal</vt:lpstr>
      <vt:lpstr>Inorder Traversal</vt:lpstr>
      <vt:lpstr>Postorder Traversal</vt:lpstr>
      <vt:lpstr>Converse Traversal</vt:lpstr>
      <vt:lpstr>Write Pre/In/Post Order Traversal</vt:lpstr>
      <vt:lpstr>Write Pre/In/Post Order Traversal Cont.</vt:lpstr>
      <vt:lpstr>Linked Representation of Binary Tree</vt:lpstr>
      <vt:lpstr>Algorithm of Binary Tree Traversal</vt:lpstr>
      <vt:lpstr>Procedure: RPREORDER(T)</vt:lpstr>
      <vt:lpstr>Procedure: RINORDER(T)</vt:lpstr>
      <vt:lpstr>Procedure: RPOSTORDER(T)</vt:lpstr>
      <vt:lpstr>Construct Binary Tree from Traversal</vt:lpstr>
      <vt:lpstr>Construct Binary Tree from Traversal</vt:lpstr>
      <vt:lpstr>Construct a Binary Tree from given Traversals</vt:lpstr>
      <vt:lpstr>Linked Representation of Binary Tree</vt:lpstr>
      <vt:lpstr>Threaded Binary Tree</vt:lpstr>
      <vt:lpstr>Threaded Binary Tree</vt:lpstr>
      <vt:lpstr>Threaded Binary Tree</vt:lpstr>
      <vt:lpstr>Threaded Binary Tree</vt:lpstr>
      <vt:lpstr>Advantages of Threaded Binary Tree</vt:lpstr>
      <vt:lpstr>Disadvantages of Threaded Binary Tree</vt:lpstr>
      <vt:lpstr>Threaded Binary Tree examples</vt:lpstr>
      <vt:lpstr>Binary Search Tree (BST)</vt:lpstr>
      <vt:lpstr>Construct Binary Search Tree (BST)</vt:lpstr>
      <vt:lpstr>Search a node in Binary Search Tree</vt:lpstr>
      <vt:lpstr>Delete node from Binary Search Tree</vt:lpstr>
      <vt:lpstr>Delete node from BST</vt:lpstr>
      <vt:lpstr>Node Structure of Binary Tree</vt:lpstr>
      <vt:lpstr>C code to Insert a Node in BST</vt:lpstr>
      <vt:lpstr>C code to Search record in BST</vt:lpstr>
      <vt:lpstr>Examples: Construct Binary Search Tree (BST)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part 2 - Non-linear Data Structure</dc:title>
  <dc:creator>ADMIN</dc:creator>
  <cp:keywords>Tree, Data Structure, Darshan Institute of Engineering &amp; Technology, DIET</cp:keywords>
  <cp:lastModifiedBy>DELL</cp:lastModifiedBy>
  <cp:revision>724</cp:revision>
  <dcterms:created xsi:type="dcterms:W3CDTF">2020-05-01T05:09:15Z</dcterms:created>
  <dcterms:modified xsi:type="dcterms:W3CDTF">2025-07-18T07:26:55Z</dcterms:modified>
</cp:coreProperties>
</file>