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2"/>
  </p:notesMasterIdLst>
  <p:handoutMasterIdLst>
    <p:handoutMasterId r:id="rId33"/>
  </p:handoutMasterIdLst>
  <p:sldIdLst>
    <p:sldId id="410" r:id="rId2"/>
    <p:sldId id="305" r:id="rId3"/>
    <p:sldId id="387" r:id="rId4"/>
    <p:sldId id="304" r:id="rId5"/>
    <p:sldId id="388" r:id="rId6"/>
    <p:sldId id="285" r:id="rId7"/>
    <p:sldId id="389" r:id="rId8"/>
    <p:sldId id="398" r:id="rId9"/>
    <p:sldId id="399" r:id="rId10"/>
    <p:sldId id="400" r:id="rId11"/>
    <p:sldId id="390" r:id="rId12"/>
    <p:sldId id="401" r:id="rId13"/>
    <p:sldId id="402" r:id="rId14"/>
    <p:sldId id="403" r:id="rId15"/>
    <p:sldId id="391" r:id="rId16"/>
    <p:sldId id="404" r:id="rId17"/>
    <p:sldId id="405" r:id="rId18"/>
    <p:sldId id="406" r:id="rId19"/>
    <p:sldId id="394" r:id="rId20"/>
    <p:sldId id="407" r:id="rId21"/>
    <p:sldId id="295" r:id="rId22"/>
    <p:sldId id="393" r:id="rId23"/>
    <p:sldId id="408" r:id="rId24"/>
    <p:sldId id="409" r:id="rId25"/>
    <p:sldId id="299" r:id="rId26"/>
    <p:sldId id="396" r:id="rId27"/>
    <p:sldId id="397" r:id="rId28"/>
    <p:sldId id="300" r:id="rId29"/>
    <p:sldId id="369" r:id="rId30"/>
    <p:sldId id="411" r:id="rId31"/>
  </p:sldIdLst>
  <p:sldSz cx="12192000" cy="6858000"/>
  <p:notesSz cx="6858000" cy="9144000"/>
  <p:embeddedFontLst>
    <p:embeddedFont>
      <p:font typeface="Roboto Condensed Light" panose="02000000000000000000" pitchFamily="2" charset="0"/>
      <p:regular r:id="rId34"/>
      <p:italic r:id="rId35"/>
    </p:embeddedFont>
    <p:embeddedFont>
      <p:font typeface="Shruti" panose="020B0604020202020204" charset="0"/>
      <p:regular r:id="rId36"/>
      <p:bold r:id="rId37"/>
    </p:embeddedFont>
    <p:embeddedFont>
      <p:font typeface="Wingdings 3" panose="05040102010807070707" pitchFamily="18" charset="2"/>
      <p:regular r:id="rId38"/>
    </p:embeddedFont>
    <p:embeddedFont>
      <p:font typeface="Segoe UI Black" panose="020B0A02040204020203" pitchFamily="34" charset="0"/>
      <p:bold r:id="rId39"/>
      <p:boldItalic r:id="rId40"/>
    </p:embeddedFont>
    <p:embeddedFont>
      <p:font typeface="Wingdings 2" panose="05020102010507070707" pitchFamily="18" charset="2"/>
      <p:regular r:id="rId41"/>
    </p:embeddedFont>
    <p:embeddedFont>
      <p:font typeface="Open Sans" panose="020B0604020202020204" charset="0"/>
      <p:regular r:id="rId42"/>
      <p:bold r:id="rId43"/>
      <p:italic r:id="rId44"/>
      <p:boldItalic r:id="rId45"/>
    </p:embeddedFont>
    <p:embeddedFont>
      <p:font typeface="Open Sans Semibold" panose="020B0604020202020204" charset="0"/>
      <p:bold r:id="rId46"/>
      <p:boldItalic r:id="rId47"/>
    </p:embeddedFont>
    <p:embeddedFont>
      <p:font typeface="Calibri" panose="020F0502020204030204" pitchFamily="34" charset="0"/>
      <p:regular r:id="rId48"/>
      <p:bold r:id="rId49"/>
      <p:italic r:id="rId50"/>
      <p:boldItalic r:id="rId51"/>
    </p:embeddedFont>
    <p:embeddedFont>
      <p:font typeface="Consolas" panose="020B0609020204030204" pitchFamily="49" charset="0"/>
      <p:regular r:id="rId52"/>
      <p:bold r:id="rId53"/>
      <p:italic r:id="rId54"/>
      <p:boldItalic r:id="rId55"/>
    </p:embeddedFont>
    <p:embeddedFont>
      <p:font typeface="Roboto Condensed" panose="02000000000000000000" pitchFamily="2" charset="0"/>
      <p:regular r:id="rId56"/>
      <p:bold r:id="rId57"/>
      <p:italic r:id="rId58"/>
      <p:boldItalic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wYJD8XQjgDnUqpkFmFJUcw==" hashData="P7lwt4MpLEwTsFZzwBpPMDPQhGK6/Y2BkNd7RrNbg3hcHZXB2eSNqOo/Nfa/AYPbXHJF5amSU3o6BEnb2mFuqQ=="/>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558ED5"/>
    <a:srgbClr val="B84742"/>
    <a:srgbClr val="2FA0AE"/>
    <a:srgbClr val="5C0000"/>
    <a:srgbClr val="1D3064"/>
    <a:srgbClr val="F54337"/>
    <a:srgbClr val="ED524F"/>
    <a:srgbClr val="3366FF"/>
    <a:srgbClr val="301B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2" autoAdjust="0"/>
    <p:restoredTop sz="94343" autoAdjust="0"/>
  </p:normalViewPr>
  <p:slideViewPr>
    <p:cSldViewPr snapToGrid="0">
      <p:cViewPr varScale="1">
        <p:scale>
          <a:sx n="78" d="100"/>
          <a:sy n="78" d="100"/>
        </p:scale>
        <p:origin x="1003" y="91"/>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4" d="100"/>
          <a:sy n="54" d="100"/>
        </p:scale>
        <p:origin x="1944" y="4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55" Type="http://schemas.openxmlformats.org/officeDocument/2006/relationships/font" Target="fonts/font22.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font" Target="fonts/font20.fntdata"/><Relationship Id="rId58" Type="http://schemas.openxmlformats.org/officeDocument/2006/relationships/font" Target="fonts/font25.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56" Type="http://schemas.openxmlformats.org/officeDocument/2006/relationships/font" Target="fonts/font23.fntdata"/><Relationship Id="rId8" Type="http://schemas.openxmlformats.org/officeDocument/2006/relationships/slide" Target="slides/slide7.xml"/><Relationship Id="rId51" Type="http://schemas.openxmlformats.org/officeDocument/2006/relationships/font" Target="fonts/font1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font" Target="fonts/font5.fntdata"/><Relationship Id="rId46" Type="http://schemas.openxmlformats.org/officeDocument/2006/relationships/font" Target="fonts/font13.fntdata"/><Relationship Id="rId59" Type="http://schemas.openxmlformats.org/officeDocument/2006/relationships/font" Target="fonts/font26.fntdata"/><Relationship Id="rId20" Type="http://schemas.openxmlformats.org/officeDocument/2006/relationships/slide" Target="slides/slide19.xml"/><Relationship Id="rId41" Type="http://schemas.openxmlformats.org/officeDocument/2006/relationships/font" Target="fonts/font8.fntdata"/><Relationship Id="rId54" Type="http://schemas.openxmlformats.org/officeDocument/2006/relationships/font" Target="fonts/font21.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font" Target="fonts/font16.fntdata"/><Relationship Id="rId57" Type="http://schemas.openxmlformats.org/officeDocument/2006/relationships/font" Target="fonts/font2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font" Target="fonts/font19.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587FD0-6366-498E-B5AA-8D5EAADA1318}" type="datetimeFigureOut">
              <a:rPr lang="en-IN" smtClean="0"/>
              <a:t>02-07-2026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D5F676-4FC3-4D3C-BE37-3352AFB195B1}" type="slidenum">
              <a:rPr lang="en-IN" smtClean="0"/>
              <a:t>‹#›</a:t>
            </a:fld>
            <a:endParaRPr lang="en-IN"/>
          </a:p>
        </p:txBody>
      </p:sp>
    </p:spTree>
    <p:extLst>
      <p:ext uri="{BB962C8B-B14F-4D97-AF65-F5344CB8AC3E}">
        <p14:creationId xmlns:p14="http://schemas.microsoft.com/office/powerpoint/2010/main" val="1072425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7/2/2026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3216191706"/>
      </p:ext>
    </p:extLst>
  </p:cSld>
  <p:clrMapOvr>
    <a:masterClrMapping/>
  </p:clrMapOvr>
</p:notes>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8.jpeg"/><Relationship Id="rId5" Type="http://schemas.openxmlformats.org/officeDocument/2006/relationships/image" Target="../media/image3.png"/><Relationship Id="rId10" Type="http://schemas.openxmlformats.org/officeDocument/2006/relationships/image" Target="../media/image14.jpeg"/><Relationship Id="rId4" Type="http://schemas.openxmlformats.org/officeDocument/2006/relationships/image" Target="../media/image12.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12.png"/><Relationship Id="rId9" Type="http://schemas.microsoft.com/office/2007/relationships/hdphoto" Target="../media/hdphoto1.wdp"/></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8730762" y="307556"/>
            <a:ext cx="270404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a:blip r:embed="rId11">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7594790" y="2237912"/>
            <a:ext cx="4392794" cy="1437753"/>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hank You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8730762" y="307556"/>
            <a:ext cx="270404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
        <p:nvSpPr>
          <p:cNvPr id="30" name="Hexagon 29"/>
          <p:cNvSpPr/>
          <p:nvPr userDrawn="1"/>
        </p:nvSpPr>
        <p:spPr>
          <a:xfrm rot="5400000">
            <a:off x="4309292" y="1717040"/>
            <a:ext cx="3461658" cy="2984188"/>
          </a:xfrm>
          <a:prstGeom prst="hexagon">
            <a:avLst/>
          </a:prstGeom>
          <a:solidFill>
            <a:schemeClr val="bg1">
              <a:lumMod val="95000"/>
            </a:schemeClr>
          </a:solidFill>
          <a:ln w="57150">
            <a:solidFill>
              <a:srgbClr val="1D3064"/>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TextBox 30"/>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34" name="Rectangle 33"/>
          <p:cNvSpPr/>
          <p:nvPr userDrawn="1"/>
        </p:nvSpPr>
        <p:spPr>
          <a:xfrm>
            <a:off x="7678346" y="2221532"/>
            <a:ext cx="4513654" cy="1951692"/>
          </a:xfrm>
          <a:prstGeom prst="rect">
            <a:avLst/>
          </a:prstGeom>
          <a:solidFill>
            <a:srgbClr val="1D306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Rectangle 34"/>
          <p:cNvSpPr/>
          <p:nvPr userDrawn="1"/>
        </p:nvSpPr>
        <p:spPr>
          <a:xfrm>
            <a:off x="0" y="2221532"/>
            <a:ext cx="4402106" cy="1951692"/>
          </a:xfrm>
          <a:prstGeom prst="rect">
            <a:avLst/>
          </a:prstGeom>
          <a:solidFill>
            <a:srgbClr val="1D306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5701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grpSp>
        <p:nvGrpSpPr>
          <p:cNvPr id="28" name="Group 27"/>
          <p:cNvGrpSpPr/>
          <p:nvPr userDrawn="1"/>
        </p:nvGrpSpPr>
        <p:grpSpPr>
          <a:xfrm>
            <a:off x="9691196" y="861192"/>
            <a:ext cx="2554142" cy="587454"/>
            <a:chOff x="9424496" y="861192"/>
            <a:chExt cx="2554142" cy="587454"/>
          </a:xfrm>
        </p:grpSpPr>
        <p:pic>
          <p:nvPicPr>
            <p:cNvPr id="29" name="Picture 28">
              <a:extLst>
                <a:ext uri="{FF2B5EF4-FFF2-40B4-BE49-F238E27FC236}">
                  <a16:creationId xmlns:a16="http://schemas.microsoft.com/office/drawing/2014/main" id="{23F8D339-A0AA-4150-B7E8-C84E7F2AB7D0}"/>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875018" y="861192"/>
              <a:ext cx="1932495" cy="587453"/>
            </a:xfrm>
            <a:prstGeom prst="rect">
              <a:avLst/>
            </a:prstGeom>
          </p:spPr>
        </p:pic>
        <p:sp>
          <p:nvSpPr>
            <p:cNvPr id="30" name="Rectangle 29">
              <a:extLst>
                <a:ext uri="{FF2B5EF4-FFF2-40B4-BE49-F238E27FC236}">
                  <a16:creationId xmlns:a16="http://schemas.microsoft.com/office/drawing/2014/main" id="{6112BAB0-1CB8-413D-970D-4F482F1A0EDB}"/>
                </a:ext>
              </a:extLst>
            </p:cNvPr>
            <p:cNvSpPr/>
            <p:nvPr userDrawn="1"/>
          </p:nvSpPr>
          <p:spPr>
            <a:xfrm>
              <a:off x="9424496" y="8611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761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5"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3561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#2301CS301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(Part 1) – Queue - Linear Data Structure</a:t>
            </a:r>
          </a:p>
        </p:txBody>
      </p:sp>
      <p:sp>
        <p:nvSpPr>
          <p:cNvPr id="16"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0" name="Straight Connector 19">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3561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#2301CS301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(Part 1) – Queue - Linear Data Structure</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p:cNvGrpSpPr/>
          <p:nvPr userDrawn="1"/>
        </p:nvGrpSpPr>
        <p:grpSpPr>
          <a:xfrm>
            <a:off x="9792796" y="5890392"/>
            <a:ext cx="2554142" cy="587454"/>
            <a:chOff x="9475296" y="5890392"/>
            <a:chExt cx="2554142" cy="587454"/>
          </a:xfrm>
        </p:grpSpPr>
        <p:pic>
          <p:nvPicPr>
            <p:cNvPr id="21" name="Picture 20">
              <a:extLst>
                <a:ext uri="{FF2B5EF4-FFF2-40B4-BE49-F238E27FC236}">
                  <a16:creationId xmlns:a16="http://schemas.microsoft.com/office/drawing/2014/main" id="{23F8D339-A0AA-4150-B7E8-C84E7F2AB7D0}"/>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824218" y="5890392"/>
              <a:ext cx="1932495" cy="587453"/>
            </a:xfrm>
            <a:prstGeom prst="rect">
              <a:avLst/>
            </a:prstGeom>
          </p:spPr>
        </p:pic>
        <p:sp>
          <p:nvSpPr>
            <p:cNvPr id="25" name="Rectangle 24">
              <a:extLst>
                <a:ext uri="{FF2B5EF4-FFF2-40B4-BE49-F238E27FC236}">
                  <a16:creationId xmlns:a16="http://schemas.microsoft.com/office/drawing/2014/main" id="{6112BAB0-1CB8-413D-970D-4F482F1A0EDB}"/>
                </a:ext>
              </a:extLst>
            </p:cNvPr>
            <p:cNvSpPr/>
            <p:nvPr userDrawn="1"/>
          </p:nvSpPr>
          <p:spPr>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76144"/>
            <a:ext cx="11929641" cy="5590565"/>
          </a:xfrm>
        </p:spPr>
        <p:txBody>
          <a:bodyPr>
            <a:noAutofit/>
          </a:bodyPr>
          <a:lstStyle>
            <a:lvl1pPr marL="265113" indent="-265113" algn="just">
              <a:spcBef>
                <a:spcPts val="1000"/>
              </a:spcBef>
              <a:buClr>
                <a:schemeClr val="accent6"/>
              </a:buClr>
              <a:buFont typeface="Wingdings 3" panose="05040102010807070707" pitchFamily="18" charset="2"/>
              <a:buChar char=""/>
              <a:defRPr sz="2400">
                <a:solidFill>
                  <a:schemeClr val="tx1"/>
                </a:solidFill>
              </a:defRPr>
            </a:lvl1pPr>
            <a:lvl2pPr marL="809625" indent="-352425" algn="just">
              <a:spcBef>
                <a:spcPts val="1000"/>
              </a:spcBef>
              <a:buClr>
                <a:schemeClr val="accent6"/>
              </a:buClr>
              <a:buFont typeface="Wingdings 3" panose="05040102010807070707" pitchFamily="18" charset="2"/>
              <a:buChar char=""/>
              <a:defRPr sz="2000">
                <a:solidFill>
                  <a:schemeClr val="tx1"/>
                </a:solidFill>
              </a:defRPr>
            </a:lvl2pPr>
            <a:lvl3pPr marL="1143000" indent="-228600" algn="just">
              <a:spcBef>
                <a:spcPts val="1000"/>
              </a:spcBef>
              <a:buClr>
                <a:schemeClr val="accent6"/>
              </a:buClr>
              <a:buFont typeface="Wingdings" panose="05000000000000000000" pitchFamily="2" charset="2"/>
              <a:buChar char="§"/>
              <a:defRPr sz="1800">
                <a:solidFill>
                  <a:schemeClr val="tx1"/>
                </a:solidFill>
              </a:defRPr>
            </a:lvl3pPr>
            <a:lvl4pPr algn="just">
              <a:spcBef>
                <a:spcPts val="1000"/>
              </a:spcBef>
              <a:buClr>
                <a:schemeClr val="accent6"/>
              </a:buClr>
              <a:defRPr sz="1600">
                <a:solidFill>
                  <a:schemeClr val="tx1"/>
                </a:solidFill>
              </a:defRPr>
            </a:lvl4pPr>
            <a:lvl5pPr algn="just">
              <a:spcBef>
                <a:spcPts val="1000"/>
              </a:spcBef>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1">
            <a:extLst>
              <a:ext uri="{FF2B5EF4-FFF2-40B4-BE49-F238E27FC236}">
                <a16:creationId xmlns:a16="http://schemas.microsoft.com/office/drawing/2014/main" id="{F5FC2F6F-E538-2328-6AD9-5C1FEBCF873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202761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p:cNvGrpSpPr/>
          <p:nvPr userDrawn="1"/>
        </p:nvGrpSpPr>
        <p:grpSpPr>
          <a:xfrm>
            <a:off x="-62404" y="5890392"/>
            <a:ext cx="2554142" cy="587454"/>
            <a:chOff x="242396" y="5890392"/>
            <a:chExt cx="2554142" cy="587454"/>
          </a:xfrm>
        </p:grpSpPr>
        <p:pic>
          <p:nvPicPr>
            <p:cNvPr id="15" name="Picture 14">
              <a:extLst>
                <a:ext uri="{FF2B5EF4-FFF2-40B4-BE49-F238E27FC236}">
                  <a16:creationId xmlns:a16="http://schemas.microsoft.com/office/drawing/2014/main" id="{23F8D339-A0AA-4150-B7E8-C84E7F2AB7D0}"/>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438918" y="5890392"/>
              <a:ext cx="1932495" cy="587453"/>
            </a:xfrm>
            <a:prstGeom prst="rect">
              <a:avLst/>
            </a:prstGeom>
          </p:spPr>
        </p:pic>
        <p:sp>
          <p:nvSpPr>
            <p:cNvPr id="21" name="Rectangle 20">
              <a:extLst>
                <a:ext uri="{FF2B5EF4-FFF2-40B4-BE49-F238E27FC236}">
                  <a16:creationId xmlns:a16="http://schemas.microsoft.com/office/drawing/2014/main" id="{6112BAB0-1CB8-413D-970D-4F482F1A0EDB}"/>
                </a:ext>
              </a:extLst>
            </p:cNvPr>
            <p:cNvSpPr/>
            <p:nvPr userDrawn="1"/>
          </p:nvSpPr>
          <p:spPr>
            <a:xfrm>
              <a:off x="2423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888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3561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#2301CS301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(Part 1) – Queue - Linear Data Structure</a:t>
            </a:r>
          </a:p>
        </p:txBody>
      </p:sp>
      <p:sp>
        <p:nvSpPr>
          <p:cNvPr id="28"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9" name="Straight Connector 28">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Date Placeholder 1">
            <a:extLst>
              <a:ext uri="{FF2B5EF4-FFF2-40B4-BE49-F238E27FC236}">
                <a16:creationId xmlns:a16="http://schemas.microsoft.com/office/drawing/2014/main" id="{21739127-9044-425C-5CAA-7CE88C78D6C7}"/>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4686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grpSp>
        <p:nvGrpSpPr>
          <p:cNvPr id="10" name="Group 9"/>
          <p:cNvGrpSpPr/>
          <p:nvPr userDrawn="1"/>
        </p:nvGrpSpPr>
        <p:grpSpPr>
          <a:xfrm>
            <a:off x="9792824" y="6087939"/>
            <a:ext cx="2554142" cy="650953"/>
            <a:chOff x="9437224" y="6087939"/>
            <a:chExt cx="2554142" cy="650953"/>
          </a:xfrm>
        </p:grpSpPr>
        <p:pic>
          <p:nvPicPr>
            <p:cNvPr id="15" name="Picture 14">
              <a:extLst>
                <a:ext uri="{FF2B5EF4-FFF2-40B4-BE49-F238E27FC236}">
                  <a16:creationId xmlns:a16="http://schemas.microsoft.com/office/drawing/2014/main" id="{8DD61FEC-075B-4EDD-97CA-36E6F72630F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48046" y="6151439"/>
              <a:ext cx="1932495" cy="587453"/>
            </a:xfrm>
            <a:prstGeom prst="rect">
              <a:avLst/>
            </a:prstGeom>
          </p:spPr>
        </p:pic>
        <p:sp>
          <p:nvSpPr>
            <p:cNvPr id="16" name="Rectangle 15">
              <a:extLst>
                <a:ext uri="{FF2B5EF4-FFF2-40B4-BE49-F238E27FC236}">
                  <a16:creationId xmlns:a16="http://schemas.microsoft.com/office/drawing/2014/main" id="{CB550E12-AA95-4B1B-A8D2-ED01E515FC43}"/>
                </a:ext>
              </a:extLst>
            </p:cNvPr>
            <p:cNvSpPr/>
            <p:nvPr userDrawn="1"/>
          </p:nvSpPr>
          <p:spPr>
            <a:xfrm>
              <a:off x="9437224" y="6087939"/>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Picture 16">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8" name="Picture 17">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19"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20"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21"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01692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grpSp>
        <p:nvGrpSpPr>
          <p:cNvPr id="14" name="Group 13"/>
          <p:cNvGrpSpPr/>
          <p:nvPr userDrawn="1"/>
        </p:nvGrpSpPr>
        <p:grpSpPr>
          <a:xfrm>
            <a:off x="9815658" y="111892"/>
            <a:ext cx="2554142" cy="587454"/>
            <a:chOff x="9475296" y="5890392"/>
            <a:chExt cx="2554142" cy="587454"/>
          </a:xfrm>
        </p:grpSpPr>
        <p:pic>
          <p:nvPicPr>
            <p:cNvPr id="15" name="Picture 14">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24218" y="5890392"/>
              <a:ext cx="1932495" cy="587453"/>
            </a:xfrm>
            <a:prstGeom prst="rect">
              <a:avLst/>
            </a:prstGeom>
          </p:spPr>
        </p:pic>
        <p:sp>
          <p:nvSpPr>
            <p:cNvPr id="19" name="Rectangle 18">
              <a:extLst>
                <a:ext uri="{FF2B5EF4-FFF2-40B4-BE49-F238E27FC236}">
                  <a16:creationId xmlns:a16="http://schemas.microsoft.com/office/drawing/2014/main" id="{6112BAB0-1CB8-413D-970D-4F482F1A0EDB}"/>
                </a:ext>
              </a:extLst>
            </p:cNvPr>
            <p:cNvSpPr/>
            <p:nvPr userDrawn="1"/>
          </p:nvSpPr>
          <p:spPr>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3561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#2301CS301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(Part 1) – Queue - Linear Data Structure</a:t>
            </a:r>
          </a:p>
        </p:txBody>
      </p:sp>
      <p:sp>
        <p:nvSpPr>
          <p:cNvPr id="20"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1" name="Straight Connector 20">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0232FE4B-76A4-2D4C-BD2A-818E13A8935F}"/>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2971972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grpSp>
        <p:nvGrpSpPr>
          <p:cNvPr id="14" name="Group 13"/>
          <p:cNvGrpSpPr/>
          <p:nvPr userDrawn="1"/>
        </p:nvGrpSpPr>
        <p:grpSpPr>
          <a:xfrm>
            <a:off x="9841058" y="6003345"/>
            <a:ext cx="2554142" cy="587454"/>
            <a:chOff x="9475296" y="5890392"/>
            <a:chExt cx="2554142" cy="587454"/>
          </a:xfrm>
        </p:grpSpPr>
        <p:pic>
          <p:nvPicPr>
            <p:cNvPr id="15" name="Picture 14">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24218" y="5890392"/>
              <a:ext cx="1932495" cy="587453"/>
            </a:xfrm>
            <a:prstGeom prst="rect">
              <a:avLst/>
            </a:prstGeom>
          </p:spPr>
        </p:pic>
        <p:sp>
          <p:nvSpPr>
            <p:cNvPr id="19" name="Rectangle 18">
              <a:extLst>
                <a:ext uri="{FF2B5EF4-FFF2-40B4-BE49-F238E27FC236}">
                  <a16:creationId xmlns:a16="http://schemas.microsoft.com/office/drawing/2014/main" id="{6112BAB0-1CB8-413D-970D-4F482F1A0EDB}"/>
                </a:ext>
              </a:extLst>
            </p:cNvPr>
            <p:cNvSpPr/>
            <p:nvPr userDrawn="1"/>
          </p:nvSpPr>
          <p:spPr>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3561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#2301CS301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(Part 1) – Queue - Linear Data Structure</a:t>
            </a:r>
          </a:p>
        </p:txBody>
      </p:sp>
      <p:sp>
        <p:nvSpPr>
          <p:cNvPr id="20"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1" name="Straight Connector 20">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BF78869C-8A87-47B1-8731-AEC7DDA9168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2062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grpSp>
        <p:nvGrpSpPr>
          <p:cNvPr id="14" name="Group 13"/>
          <p:cNvGrpSpPr/>
          <p:nvPr userDrawn="1"/>
        </p:nvGrpSpPr>
        <p:grpSpPr>
          <a:xfrm>
            <a:off x="-249812" y="5977321"/>
            <a:ext cx="2554142" cy="587454"/>
            <a:chOff x="9475296" y="5890392"/>
            <a:chExt cx="2554142" cy="587454"/>
          </a:xfrm>
        </p:grpSpPr>
        <p:pic>
          <p:nvPicPr>
            <p:cNvPr id="15" name="Picture 14">
              <a:extLst>
                <a:ext uri="{FF2B5EF4-FFF2-40B4-BE49-F238E27FC236}">
                  <a16:creationId xmlns:a16="http://schemas.microsoft.com/office/drawing/2014/main" id="{23F8D339-A0AA-4150-B7E8-C84E7F2AB7D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24218" y="5890392"/>
              <a:ext cx="1932495" cy="587453"/>
            </a:xfrm>
            <a:prstGeom prst="rect">
              <a:avLst/>
            </a:prstGeom>
          </p:spPr>
        </p:pic>
        <p:sp>
          <p:nvSpPr>
            <p:cNvPr id="19" name="Rectangle 18">
              <a:extLst>
                <a:ext uri="{FF2B5EF4-FFF2-40B4-BE49-F238E27FC236}">
                  <a16:creationId xmlns:a16="http://schemas.microsoft.com/office/drawing/2014/main" id="{6112BAB0-1CB8-413D-970D-4F482F1A0EDB}"/>
                </a:ext>
              </a:extLst>
            </p:cNvPr>
            <p:cNvSpPr/>
            <p:nvPr userDrawn="1"/>
          </p:nvSpPr>
          <p:spPr>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356100"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#2301CS301 (DS)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(Part 1) – Queue - Linear Data Structure</a:t>
            </a:r>
          </a:p>
        </p:txBody>
      </p:sp>
      <p:sp>
        <p:nvSpPr>
          <p:cNvPr id="20"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1" name="Straight Connector 20">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CC499519-9C81-796D-49F9-EE068BF7CE07}"/>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Dr.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Pradyumansinh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Jadeja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243314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4000" y="106364"/>
            <a:ext cx="11684000" cy="808037"/>
          </a:xfrm>
        </p:spPr>
        <p:txBody>
          <a:bodyPr>
            <a:normAutofit/>
          </a:bodyPr>
          <a:lstStyle>
            <a:lvl1pPr algn="l">
              <a:defRPr lang="en-US" sz="4400" b="0" kern="1200" dirty="0">
                <a:solidFill>
                  <a:schemeClr val="tx1"/>
                </a:solidFill>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254000" y="990600"/>
            <a:ext cx="11684000" cy="5334000"/>
          </a:xfrm>
        </p:spPr>
        <p:txBody>
          <a:bodyPr>
            <a:normAutofit/>
          </a:bodyPr>
          <a:lstStyle>
            <a:lvl1pPr marL="342900" indent="-342900" algn="just" defTabSz="914400" rtl="0" eaLnBrk="1" latinLnBrk="0" hangingPunct="1">
              <a:lnSpc>
                <a:spcPct val="90000"/>
              </a:lnSpc>
              <a:spcBef>
                <a:spcPts val="600"/>
              </a:spcBef>
              <a:buClrTx/>
              <a:buFont typeface="Wingdings" panose="05000000000000000000" pitchFamily="2" charset="2"/>
              <a:buChar char="§"/>
              <a:defRPr lang="en-US" sz="2400" kern="1200" dirty="0" smtClean="0">
                <a:solidFill>
                  <a:schemeClr val="tx1"/>
                </a:solidFill>
                <a:latin typeface="+mj-lt"/>
                <a:ea typeface="Times New Roman" panose="02020603050405020304" pitchFamily="18" charset="0"/>
                <a:cs typeface="Times New Roman" panose="02020603050405020304" pitchFamily="18" charset="0"/>
              </a:defRPr>
            </a:lvl1pPr>
            <a:lvl2pPr marL="704850" indent="-342900" algn="just" defTabSz="914400" rtl="0" eaLnBrk="1" latinLnBrk="0" hangingPunct="1">
              <a:lnSpc>
                <a:spcPct val="90000"/>
              </a:lnSpc>
              <a:spcBef>
                <a:spcPts val="600"/>
              </a:spcBef>
              <a:buClrTx/>
              <a:buFont typeface="Arial" panose="020B0604020202020204" pitchFamily="34" charset="0"/>
              <a:buChar char="•"/>
              <a:defRPr lang="en-US" sz="2300" kern="1200" dirty="0" smtClean="0">
                <a:solidFill>
                  <a:schemeClr val="tx1"/>
                </a:solidFill>
                <a:latin typeface="+mj-lt"/>
                <a:ea typeface="Times New Roman" panose="02020603050405020304" pitchFamily="18" charset="0"/>
                <a:cs typeface="Times New Roman" panose="02020603050405020304" pitchFamily="18" charset="0"/>
              </a:defRPr>
            </a:lvl2pPr>
            <a:lvl3pPr marL="968375" indent="-342900" algn="just" defTabSz="914400" rtl="0" eaLnBrk="1" latinLnBrk="0" hangingPunct="1">
              <a:lnSpc>
                <a:spcPct val="90000"/>
              </a:lnSpc>
              <a:spcBef>
                <a:spcPts val="600"/>
              </a:spcBef>
              <a:buClrTx/>
              <a:defRPr lang="en-US" sz="2200" kern="1200" dirty="0" smtClean="0">
                <a:solidFill>
                  <a:schemeClr val="tx1"/>
                </a:solidFill>
                <a:latin typeface="+mj-lt"/>
                <a:ea typeface="Times New Roman" panose="02020603050405020304" pitchFamily="18" charset="0"/>
                <a:cs typeface="Times New Roman" panose="02020603050405020304" pitchFamily="18" charset="0"/>
              </a:defRPr>
            </a:lvl3pPr>
            <a:lvl4pPr marL="1239837" indent="-342900" algn="just" defTabSz="914400" rtl="0" eaLnBrk="1" latinLnBrk="0" hangingPunct="1">
              <a:lnSpc>
                <a:spcPct val="90000"/>
              </a:lnSpc>
              <a:spcBef>
                <a:spcPts val="600"/>
              </a:spcBef>
              <a:buClrTx/>
              <a:defRPr lang="en-US" sz="2000" kern="1200" dirty="0" smtClean="0">
                <a:solidFill>
                  <a:schemeClr val="tx1"/>
                </a:solidFill>
                <a:latin typeface="+mj-lt"/>
                <a:ea typeface="Times New Roman" panose="02020603050405020304" pitchFamily="18" charset="0"/>
                <a:cs typeface="Times New Roman" panose="02020603050405020304" pitchFamily="18" charset="0"/>
              </a:defRPr>
            </a:lvl4pPr>
            <a:lvl5pPr marL="1454150" indent="-285750" algn="just" defTabSz="914400" rtl="0" eaLnBrk="1" latinLnBrk="0" hangingPunct="1">
              <a:lnSpc>
                <a:spcPct val="90000"/>
              </a:lnSpc>
              <a:spcBef>
                <a:spcPts val="600"/>
              </a:spcBef>
              <a:buClrTx/>
              <a:defRPr lang="en-US" sz="1600" kern="1200" dirty="0">
                <a:solidFill>
                  <a:schemeClr val="tx1"/>
                </a:solidFill>
                <a:latin typeface="+mj-lt"/>
                <a:ea typeface="Times New Roman" panose="02020603050405020304" pitchFamily="18" charset="0"/>
                <a:cs typeface="Times New Roman" panose="02020603050405020304" pitchFamily="18" charset="0"/>
              </a:defRPr>
            </a:lvl5pPr>
          </a:lstStyle>
          <a:p>
            <a:pPr marL="342900" lvl="0" indent="-342900" algn="l" defTabSz="914400" rtl="0" eaLnBrk="1" latinLnBrk="0" hangingPunct="1">
              <a:lnSpc>
                <a:spcPct val="90000"/>
              </a:lnSpc>
              <a:spcBef>
                <a:spcPts val="600"/>
              </a:spcBef>
              <a:buClrTx/>
              <a:buFont typeface="Wingdings" panose="05000000000000000000" pitchFamily="2" charset="2"/>
              <a:buChar char="§"/>
            </a:pPr>
            <a:r>
              <a:rPr lang="en-US" dirty="0"/>
              <a:t>Click to edit Master text styles</a:t>
            </a:r>
          </a:p>
          <a:p>
            <a:pPr marL="625475" lvl="1" indent="-263525" algn="just" defTabSz="914400" rtl="0" eaLnBrk="1" latinLnBrk="0" hangingPunct="1">
              <a:lnSpc>
                <a:spcPct val="90000"/>
              </a:lnSpc>
              <a:spcBef>
                <a:spcPts val="600"/>
              </a:spcBef>
              <a:buClrTx/>
              <a:buFont typeface="Arial" panose="020B0604020202020204" pitchFamily="34" charset="0"/>
              <a:buChar char="•"/>
            </a:pPr>
            <a:r>
              <a:rPr lang="en-US" dirty="0"/>
              <a:t>Second level</a:t>
            </a:r>
          </a:p>
          <a:p>
            <a:pPr marL="896938" lvl="2" indent="-271463" algn="just" defTabSz="914400" rtl="0" eaLnBrk="1" latinLnBrk="0" hangingPunct="1">
              <a:lnSpc>
                <a:spcPct val="90000"/>
              </a:lnSpc>
              <a:spcBef>
                <a:spcPts val="600"/>
              </a:spcBef>
              <a:buClrTx/>
              <a:buFont typeface="Arial" pitchFamily="34" charset="0"/>
              <a:buChar char="•"/>
            </a:pPr>
            <a:r>
              <a:rPr lang="en-US" dirty="0"/>
              <a:t>Third level</a:t>
            </a:r>
          </a:p>
          <a:p>
            <a:pPr marL="1168400" lvl="3" indent="-271463" algn="just" defTabSz="914400" rtl="0" eaLnBrk="1" latinLnBrk="0" hangingPunct="1">
              <a:lnSpc>
                <a:spcPct val="90000"/>
              </a:lnSpc>
              <a:spcBef>
                <a:spcPts val="600"/>
              </a:spcBef>
              <a:buClrTx/>
              <a:buFont typeface="Arial" pitchFamily="34" charset="0"/>
              <a:buChar char="–"/>
            </a:pPr>
            <a:r>
              <a:rPr lang="en-US" dirty="0"/>
              <a:t>Fourth level</a:t>
            </a:r>
          </a:p>
          <a:p>
            <a:pPr marL="1439863" lvl="4" indent="-271463" algn="just" defTabSz="914400" rtl="0" eaLnBrk="1" latinLnBrk="0" hangingPunct="1">
              <a:lnSpc>
                <a:spcPct val="90000"/>
              </a:lnSpc>
              <a:spcBef>
                <a:spcPts val="600"/>
              </a:spcBef>
              <a:buClrTx/>
              <a:buFont typeface="Arial" pitchFamily="34" charset="0"/>
              <a:buChar char="»"/>
            </a:pPr>
            <a:r>
              <a:rPr lang="en-US" dirty="0"/>
              <a:t>Fifth level</a:t>
            </a:r>
          </a:p>
        </p:txBody>
      </p:sp>
      <p:sp>
        <p:nvSpPr>
          <p:cNvPr id="5" name="Rektangel 11"/>
          <p:cNvSpPr/>
          <p:nvPr userDrawn="1"/>
        </p:nvSpPr>
        <p:spPr>
          <a:xfrm>
            <a:off x="0" y="6477000"/>
            <a:ext cx="53848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r>
              <a:rPr lang="da-DK" sz="1800" noProof="1">
                <a:solidFill>
                  <a:srgbClr val="FFFFFF"/>
                </a:solidFill>
                <a:latin typeface="+mj-lt"/>
                <a:ea typeface="Open Sans" panose="020B0606030504020204" pitchFamily="34" charset="0"/>
                <a:cs typeface="Open Sans" panose="020B0606030504020204" pitchFamily="34" charset="0"/>
              </a:rPr>
              <a:t>Unit</a:t>
            </a:r>
            <a:r>
              <a:rPr lang="da-DK" sz="1800" baseline="0" noProof="1">
                <a:solidFill>
                  <a:srgbClr val="FFFFFF"/>
                </a:solidFill>
                <a:latin typeface="+mj-lt"/>
                <a:ea typeface="Open Sans" panose="020B0606030504020204" pitchFamily="34" charset="0"/>
                <a:cs typeface="Open Sans" panose="020B0606030504020204" pitchFamily="34" charset="0"/>
              </a:rPr>
              <a:t> – 2: </a:t>
            </a:r>
            <a:r>
              <a:rPr lang="en-US" sz="1800" dirty="0"/>
              <a:t>Linear Data Structure</a:t>
            </a:r>
            <a:endParaRPr lang="da-DK" sz="18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254000" y="914400"/>
            <a:ext cx="11684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Rektangel 11"/>
          <p:cNvSpPr/>
          <p:nvPr userDrawn="1"/>
        </p:nvSpPr>
        <p:spPr>
          <a:xfrm>
            <a:off x="6197600" y="6480727"/>
            <a:ext cx="59944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r>
              <a:rPr lang="en-US" sz="1800" noProof="1">
                <a:solidFill>
                  <a:srgbClr val="FFFFFF"/>
                </a:solidFill>
                <a:latin typeface="+mj-lt"/>
                <a:ea typeface="Open Sans" panose="020B0606030504020204" pitchFamily="34" charset="0"/>
                <a:cs typeface="Open Sans" panose="020B0606030504020204" pitchFamily="34" charset="0"/>
              </a:rPr>
              <a:t>Darshan</a:t>
            </a:r>
            <a:r>
              <a:rPr lang="en-US" sz="1800" baseline="0" noProof="1">
                <a:solidFill>
                  <a:srgbClr val="FFFFFF"/>
                </a:solidFill>
                <a:latin typeface="+mj-lt"/>
                <a:ea typeface="Open Sans" panose="020B0606030504020204" pitchFamily="34" charset="0"/>
                <a:cs typeface="Open Sans" panose="020B0606030504020204" pitchFamily="34" charset="0"/>
              </a:rPr>
              <a:t> Institute of Engineering &amp; Technology</a:t>
            </a:r>
            <a:endParaRPr lang="da-DK" sz="1800" noProof="1">
              <a:solidFill>
                <a:srgbClr val="FFFFFF"/>
              </a:solidFill>
              <a:latin typeface="+mj-lt"/>
              <a:ea typeface="Open Sans" panose="020B0606030504020204" pitchFamily="34" charset="0"/>
              <a:cs typeface="Open Sans" panose="020B0606030504020204" pitchFamily="34" charset="0"/>
            </a:endParaRPr>
          </a:p>
        </p:txBody>
      </p:sp>
      <p:sp>
        <p:nvSpPr>
          <p:cNvPr id="10" name="Rektangel 11"/>
          <p:cNvSpPr/>
          <p:nvPr userDrawn="1"/>
        </p:nvSpPr>
        <p:spPr>
          <a:xfrm>
            <a:off x="5384800" y="6477000"/>
            <a:ext cx="8128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fld id="{4CCBBDC9-ADEB-48F3-A42C-1AD0249F062A}" type="slidenum">
              <a:rPr lang="da-DK" sz="1800" noProof="1" smtClean="0">
                <a:solidFill>
                  <a:srgbClr val="FFFFFF"/>
                </a:solidFill>
                <a:latin typeface="+mj-lt"/>
                <a:ea typeface="Open Sans" panose="020B0606030504020204" pitchFamily="34" charset="0"/>
                <a:cs typeface="Open Sans" panose="020B0606030504020204" pitchFamily="34" charset="0"/>
              </a:rPr>
              <a:pPr indent="-342900" algn="ctr">
                <a:defRPr/>
              </a:pPr>
              <a:t>‹#›</a:t>
            </a:fld>
            <a:endParaRPr lang="da-DK" sz="1800" noProof="1">
              <a:solidFill>
                <a:srgbClr val="FFFFFF"/>
              </a:solidFill>
              <a:latin typeface="+mj-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0305711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3625638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7/2/2026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93" r:id="rId2"/>
    <p:sldLayoutId id="2147483670" r:id="rId3"/>
    <p:sldLayoutId id="2147483687" r:id="rId4"/>
    <p:sldLayoutId id="2147483688" r:id="rId5"/>
    <p:sldLayoutId id="2147483671" r:id="rId6"/>
    <p:sldLayoutId id="2147483672" r:id="rId7"/>
    <p:sldLayoutId id="2147483689" r:id="rId8"/>
    <p:sldLayoutId id="2147483690" r:id="rId9"/>
    <p:sldLayoutId id="2147483673" r:id="rId10"/>
    <p:sldLayoutId id="2147483691" r:id="rId11"/>
    <p:sldLayoutId id="2147483674" r:id="rId12"/>
    <p:sldLayoutId id="2147483676" r:id="rId13"/>
    <p:sldLayoutId id="2147483677" r:id="rId14"/>
    <p:sldLayoutId id="2147483678" r:id="rId15"/>
    <p:sldLayoutId id="2147483679" r:id="rId16"/>
    <p:sldLayoutId id="2147483681" r:id="rId17"/>
    <p:sldLayoutId id="2147483683" r:id="rId18"/>
    <p:sldLayoutId id="2147483682" r:id="rId19"/>
    <p:sldLayoutId id="2147483684" r:id="rId20"/>
    <p:sldLayoutId id="2147483685" r:id="rId21"/>
    <p:sldLayoutId id="2147483686" r:id="rId22"/>
    <p:sldLayoutId id="2147483694" r:id="rId23"/>
    <p:sldLayoutId id="2147483695"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7060510" cy="2563094"/>
          </a:xfrm>
        </p:spPr>
        <p:txBody>
          <a:bodyPr/>
          <a:lstStyle/>
          <a:p>
            <a:r>
              <a:rPr lang="en-US" sz="3200" b="0" dirty="0">
                <a:latin typeface="Roboto Condensed Light" panose="02000000000000000000" pitchFamily="2" charset="0"/>
                <a:ea typeface="Roboto Condensed Light" panose="02000000000000000000" pitchFamily="2" charset="0"/>
              </a:rPr>
              <a:t>Unit-2 (Part 1)</a:t>
            </a:r>
            <a:r>
              <a:rPr lang="en-US" sz="4400" dirty="0"/>
              <a:t/>
            </a:r>
            <a:br>
              <a:rPr lang="en-US" sz="4400" dirty="0"/>
            </a:br>
            <a:r>
              <a:rPr lang="en-US" sz="4400" dirty="0"/>
              <a:t>Queue :</a:t>
            </a:r>
            <a:br>
              <a:rPr lang="en-US" sz="4400" dirty="0"/>
            </a:br>
            <a:r>
              <a:rPr lang="en-US" sz="4400" b="0" dirty="0"/>
              <a:t>Linear Data Structure</a:t>
            </a:r>
            <a:endParaRPr lang="en-US" sz="6000" b="0" dirty="0"/>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pradyuman.jadeja@darshan.ac.in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+91 9879461848</a:t>
            </a:r>
          </a:p>
        </p:txBody>
      </p:sp>
      <p:sp>
        <p:nvSpPr>
          <p:cNvPr id="5" name="Text Placeholder 4">
            <a:extLst>
              <a:ext uri="{FF2B5EF4-FFF2-40B4-BE49-F238E27FC236}">
                <a16:creationId xmlns:a16="http://schemas.microsoft.com/office/drawing/2014/main" id="{B786D614-6447-4787-8025-9C902A1B7344}"/>
              </a:ext>
            </a:extLst>
          </p:cNvPr>
          <p:cNvSpPr>
            <a:spLocks noGrp="1"/>
          </p:cNvSpPr>
          <p:nvPr>
            <p:ph type="body" sz="quarter" idx="13"/>
          </p:nvPr>
        </p:nvSpPr>
        <p:spPr/>
        <p:txBody>
          <a:bodyPr/>
          <a:lstStyle/>
          <a:p>
            <a:r>
              <a:rPr lang="en-US" dirty="0"/>
              <a:t>Computer Engineering Department</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p:txBody>
          <a:bodyPr/>
          <a:lstStyle/>
          <a:p>
            <a:r>
              <a:rPr lang="en-US" dirty="0"/>
              <a:t>Dr. </a:t>
            </a:r>
            <a:r>
              <a:rPr lang="en-US" dirty="0" err="1"/>
              <a:t>Pradyumansinh</a:t>
            </a:r>
            <a:r>
              <a:rPr lang="en-US" dirty="0"/>
              <a:t> </a:t>
            </a:r>
            <a:r>
              <a:rPr lang="en-US" dirty="0" err="1"/>
              <a:t>Jadeja</a:t>
            </a:r>
            <a:endParaRPr lang="en-US" dirty="0"/>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t>Data Structures </a:t>
            </a:r>
            <a:r>
              <a:rPr lang="en-US" dirty="0">
                <a:latin typeface="Roboto Condensed Light" panose="02000000000000000000" pitchFamily="2" charset="0"/>
                <a:ea typeface="Roboto Condensed Light" panose="02000000000000000000" pitchFamily="2" charset="0"/>
              </a:rPr>
              <a:t>(DS)</a:t>
            </a:r>
          </a:p>
          <a:p>
            <a:r>
              <a:rPr lang="en-US" dirty="0">
                <a:latin typeface="Roboto Condensed Light" panose="02000000000000000000" pitchFamily="2" charset="0"/>
                <a:ea typeface="Roboto Condensed Light" panose="02000000000000000000" pitchFamily="2" charset="0"/>
              </a:rPr>
              <a:t>DU #2301CS301</a:t>
            </a: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8" name="Picture Placeholder 7"/>
          <p:cNvPicPr>
            <a:picLocks noGrp="1" noChangeAspect="1"/>
          </p:cNvPicPr>
          <p:nvPr>
            <p:ph type="pic" sz="quarter" idx="10"/>
          </p:nvPr>
        </p:nvPicPr>
        <p:blipFill>
          <a:blip r:embed="rId2" cstate="hq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37420485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2" y="1157831"/>
            <a:ext cx="9688649" cy="3416320"/>
          </a:xfrm>
          <a:prstGeom prst="rect">
            <a:avLst/>
          </a:prstGeom>
          <a:noFill/>
        </p:spPr>
        <p:txBody>
          <a:bodyPr wrap="square" rtlCol="0">
            <a:spAutoFit/>
          </a:bodyPr>
          <a:lstStyle/>
          <a:p>
            <a:r>
              <a:rPr lang="en-US" sz="2400" b="1" dirty="0"/>
              <a:t>Topics to be covered</a:t>
            </a:r>
          </a:p>
          <a:p>
            <a:pPr marL="800100" lvl="1" indent="-342900">
              <a:buFont typeface="Wingdings" panose="05000000000000000000" pitchFamily="2" charset="2"/>
              <a:buChar char="§"/>
            </a:pPr>
            <a:r>
              <a:rPr lang="en-US" sz="2400" dirty="0">
                <a:solidFill>
                  <a:schemeClr val="bg1">
                    <a:lumMod val="50000"/>
                  </a:schemeClr>
                </a:solidFill>
              </a:rPr>
              <a:t>Queue – Introduction</a:t>
            </a:r>
          </a:p>
          <a:p>
            <a:pPr marL="800100" lvl="1" indent="-342900">
              <a:buFont typeface="Wingdings" panose="05000000000000000000" pitchFamily="2" charset="2"/>
              <a:buChar char="§"/>
            </a:pPr>
            <a:r>
              <a:rPr lang="en-US" sz="2400" dirty="0">
                <a:solidFill>
                  <a:schemeClr val="bg1">
                    <a:lumMod val="50000"/>
                  </a:schemeClr>
                </a:solidFill>
              </a:rPr>
              <a:t>Applications of Queue</a:t>
            </a:r>
          </a:p>
          <a:p>
            <a:pPr marL="800100" lvl="1" indent="-342900">
              <a:buFont typeface="Wingdings" panose="05000000000000000000" pitchFamily="2" charset="2"/>
              <a:buChar char="§"/>
            </a:pPr>
            <a:r>
              <a:rPr lang="en-US" sz="2400" dirty="0">
                <a:solidFill>
                  <a:schemeClr val="bg1">
                    <a:lumMod val="50000"/>
                  </a:schemeClr>
                </a:solidFill>
              </a:rPr>
              <a:t>Operations on Queue</a:t>
            </a:r>
          </a:p>
          <a:p>
            <a:pPr marL="800100" lvl="1" indent="-342900">
              <a:buFont typeface="Wingdings" panose="05000000000000000000" pitchFamily="2" charset="2"/>
              <a:buChar char="§"/>
            </a:pPr>
            <a:r>
              <a:rPr lang="en-US" sz="2400" dirty="0">
                <a:solidFill>
                  <a:schemeClr val="bg1">
                    <a:lumMod val="50000"/>
                  </a:schemeClr>
                </a:solidFill>
              </a:rPr>
              <a:t>Circular Queue – Introduction</a:t>
            </a:r>
          </a:p>
          <a:p>
            <a:pPr marL="800100" lvl="1" indent="-342900">
              <a:buFont typeface="Wingdings" panose="05000000000000000000" pitchFamily="2" charset="2"/>
              <a:buChar char="§"/>
            </a:pPr>
            <a:r>
              <a:rPr lang="en-US" sz="2400" dirty="0">
                <a:solidFill>
                  <a:schemeClr val="bg1">
                    <a:lumMod val="50000"/>
                  </a:schemeClr>
                </a:solidFill>
              </a:rPr>
              <a:t>Operations on Circular Queue</a:t>
            </a:r>
          </a:p>
          <a:p>
            <a:pPr marL="800100" lvl="1" indent="-342900">
              <a:buFont typeface="Wingdings" panose="05000000000000000000" pitchFamily="2" charset="2"/>
              <a:buChar char="§"/>
            </a:pPr>
            <a:r>
              <a:rPr lang="en-US" sz="2400" dirty="0">
                <a:solidFill>
                  <a:schemeClr val="bg1">
                    <a:lumMod val="50000"/>
                  </a:schemeClr>
                </a:solidFill>
              </a:rPr>
              <a:t>Double Ended Queue – Introduction</a:t>
            </a:r>
          </a:p>
          <a:p>
            <a:pPr marL="800100" lvl="1" indent="-342900">
              <a:buFont typeface="Wingdings" panose="05000000000000000000" pitchFamily="2" charset="2"/>
              <a:buChar char="§"/>
            </a:pPr>
            <a:r>
              <a:rPr lang="en-US" sz="2400" dirty="0">
                <a:solidFill>
                  <a:schemeClr val="bg1">
                    <a:lumMod val="50000"/>
                  </a:schemeClr>
                </a:solidFill>
              </a:rPr>
              <a:t>Operations on Double Ended Queue</a:t>
            </a:r>
          </a:p>
          <a:p>
            <a:pPr marL="800100" lvl="1" indent="-342900">
              <a:buFont typeface="Wingdings" panose="05000000000000000000" pitchFamily="2" charset="2"/>
              <a:buChar char="§"/>
            </a:pPr>
            <a:r>
              <a:rPr lang="en-US" sz="2400" dirty="0">
                <a:solidFill>
                  <a:schemeClr val="bg1">
                    <a:lumMod val="50000"/>
                  </a:schemeClr>
                </a:solidFill>
              </a:rPr>
              <a:t>Priority Queue - Introduction</a:t>
            </a:r>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1"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up)">
                                      <p:cBhvr>
                                        <p:cTn id="20" dur="500"/>
                                        <p:tgtEl>
                                          <p:spTgt spid="8"/>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up)">
                                      <p:cBhvr>
                                        <p:cTn id="24" dur="500"/>
                                        <p:tgtEl>
                                          <p:spTgt spid="5"/>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6ED680-ECDA-2C59-AF2D-3A5BD1081CCA}"/>
              </a:ext>
            </a:extLst>
          </p:cNvPr>
          <p:cNvSpPr>
            <a:spLocks noGrp="1"/>
          </p:cNvSpPr>
          <p:nvPr>
            <p:ph type="title"/>
          </p:nvPr>
        </p:nvSpPr>
        <p:spPr/>
        <p:txBody>
          <a:bodyPr/>
          <a:lstStyle/>
          <a:p>
            <a:r>
              <a:rPr lang="en-US" dirty="0"/>
              <a:t>Queue</a:t>
            </a:r>
          </a:p>
        </p:txBody>
      </p:sp>
      <p:sp>
        <p:nvSpPr>
          <p:cNvPr id="5" name="Text Placeholder 4">
            <a:extLst>
              <a:ext uri="{FF2B5EF4-FFF2-40B4-BE49-F238E27FC236}">
                <a16:creationId xmlns:a16="http://schemas.microsoft.com/office/drawing/2014/main" id="{FB5B7375-27ED-AEFF-9C20-9AC5FE68592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332810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Queue</a:t>
            </a:r>
            <a:endParaRPr lang="en-US" dirty="0"/>
          </a:p>
        </p:txBody>
      </p:sp>
      <p:sp>
        <p:nvSpPr>
          <p:cNvPr id="3" name="Content Placeholder 2"/>
          <p:cNvSpPr>
            <a:spLocks noGrp="1"/>
          </p:cNvSpPr>
          <p:nvPr>
            <p:ph idx="4294967295"/>
          </p:nvPr>
        </p:nvSpPr>
        <p:spPr>
          <a:xfrm>
            <a:off x="131180" y="863444"/>
            <a:ext cx="11929641" cy="5590565"/>
          </a:xfrm>
        </p:spPr>
        <p:txBody>
          <a:bodyPr vert="horz" lIns="91440" tIns="45720" rIns="91440" bIns="45720" rtlCol="0">
            <a:noAutofit/>
          </a:bodyPr>
          <a:lstStyle/>
          <a:p>
            <a:pPr marL="265113" indent="-265113" algn="just">
              <a:buClr>
                <a:schemeClr val="accent6"/>
              </a:buClr>
              <a:buFont typeface="Wingdings 3" panose="05040102010807070707" pitchFamily="18" charset="2"/>
              <a:buChar char=""/>
            </a:pPr>
            <a:r>
              <a:rPr lang="en-IN" sz="2400" dirty="0"/>
              <a:t>A linear list which permits </a:t>
            </a:r>
            <a:r>
              <a:rPr lang="en-IN" sz="2400" b="1" dirty="0"/>
              <a:t>deletion</a:t>
            </a:r>
            <a:r>
              <a:rPr lang="en-IN" sz="2400" dirty="0"/>
              <a:t> to be performed </a:t>
            </a:r>
            <a:r>
              <a:rPr lang="en-IN" sz="2400" dirty="0">
                <a:solidFill>
                  <a:schemeClr val="accent6"/>
                </a:solidFill>
              </a:rPr>
              <a:t>at one end</a:t>
            </a:r>
            <a:r>
              <a:rPr lang="en-IN" sz="2400" dirty="0"/>
              <a:t> of the list and </a:t>
            </a:r>
            <a:r>
              <a:rPr lang="en-IN" sz="2400" b="1" dirty="0"/>
              <a:t>insertion</a:t>
            </a:r>
            <a:r>
              <a:rPr lang="en-IN" sz="2400" dirty="0"/>
              <a:t> at the </a:t>
            </a:r>
            <a:r>
              <a:rPr lang="en-IN" sz="2400" dirty="0">
                <a:solidFill>
                  <a:schemeClr val="accent6"/>
                </a:solidFill>
              </a:rPr>
              <a:t>other end</a:t>
            </a:r>
            <a:r>
              <a:rPr lang="en-IN" sz="2400" dirty="0"/>
              <a:t> is called </a:t>
            </a:r>
            <a:r>
              <a:rPr lang="en-IN" sz="2400" b="1" dirty="0">
                <a:solidFill>
                  <a:schemeClr val="accent6"/>
                </a:solidFill>
              </a:rPr>
              <a:t>queue</a:t>
            </a:r>
            <a:r>
              <a:rPr lang="en-IN" sz="2400" dirty="0"/>
              <a:t>.</a:t>
            </a:r>
          </a:p>
          <a:p>
            <a:pPr marL="265113" indent="-265113" algn="just">
              <a:buClr>
                <a:schemeClr val="accent6"/>
              </a:buClr>
              <a:buFont typeface="Wingdings 3" panose="05040102010807070707" pitchFamily="18" charset="2"/>
              <a:buChar char=""/>
            </a:pPr>
            <a:r>
              <a:rPr lang="en-IN" sz="2400" dirty="0"/>
              <a:t>The information in such a list is processed </a:t>
            </a:r>
            <a:r>
              <a:rPr lang="en-IN" sz="2400" b="1" dirty="0">
                <a:solidFill>
                  <a:schemeClr val="accent6"/>
                </a:solidFill>
              </a:rPr>
              <a:t>FIFO (First In First Out)</a:t>
            </a:r>
            <a:r>
              <a:rPr lang="en-IN" sz="2400" b="1" dirty="0"/>
              <a:t> </a:t>
            </a:r>
            <a:r>
              <a:rPr lang="en-IN" sz="2400" dirty="0"/>
              <a:t>or </a:t>
            </a:r>
            <a:r>
              <a:rPr lang="en-IN" sz="2400" dirty="0">
                <a:solidFill>
                  <a:schemeClr val="accent6"/>
                </a:solidFill>
              </a:rPr>
              <a:t>FCFS </a:t>
            </a:r>
            <a:r>
              <a:rPr lang="en-IN" sz="2400" b="1" dirty="0">
                <a:solidFill>
                  <a:schemeClr val="accent6"/>
                </a:solidFill>
              </a:rPr>
              <a:t>(First Come First Serve)</a:t>
            </a:r>
            <a:r>
              <a:rPr lang="en-IN" sz="2400" dirty="0"/>
              <a:t> manner.</a:t>
            </a:r>
          </a:p>
          <a:p>
            <a:pPr marL="265113" indent="-265113" algn="just">
              <a:buClr>
                <a:schemeClr val="accent6"/>
              </a:buClr>
              <a:buFont typeface="Wingdings 3" panose="05040102010807070707" pitchFamily="18" charset="2"/>
              <a:buChar char=""/>
            </a:pPr>
            <a:r>
              <a:rPr lang="en-IN" sz="2400" b="1" dirty="0">
                <a:solidFill>
                  <a:schemeClr val="accent6"/>
                </a:solidFill>
              </a:rPr>
              <a:t>Front</a:t>
            </a:r>
            <a:r>
              <a:rPr lang="en-IN" sz="2400" dirty="0"/>
              <a:t> is the end of queue from where an element </a:t>
            </a:r>
            <a:r>
              <a:rPr lang="en-IN" sz="2400" b="1" dirty="0">
                <a:solidFill>
                  <a:schemeClr val="accent6"/>
                </a:solidFill>
              </a:rPr>
              <a:t>is deleted</a:t>
            </a:r>
            <a:r>
              <a:rPr lang="en-IN" sz="2400" dirty="0"/>
              <a:t>.</a:t>
            </a:r>
          </a:p>
          <a:p>
            <a:pPr marL="265113" indent="-265113" algn="just">
              <a:buClr>
                <a:schemeClr val="accent6"/>
              </a:buClr>
              <a:buFont typeface="Wingdings 3" panose="05040102010807070707" pitchFamily="18" charset="2"/>
              <a:buChar char=""/>
            </a:pPr>
            <a:r>
              <a:rPr lang="en-IN" sz="2400" b="1" dirty="0">
                <a:solidFill>
                  <a:schemeClr val="accent6"/>
                </a:solidFill>
              </a:rPr>
              <a:t>Rear</a:t>
            </a:r>
            <a:r>
              <a:rPr lang="en-IN" sz="2400" dirty="0"/>
              <a:t> is the end of queue at which new element </a:t>
            </a:r>
            <a:r>
              <a:rPr lang="en-IN" sz="2400" b="1" dirty="0">
                <a:solidFill>
                  <a:schemeClr val="accent6"/>
                </a:solidFill>
              </a:rPr>
              <a:t>is inserted</a:t>
            </a:r>
            <a:r>
              <a:rPr lang="en-IN" sz="2400" dirty="0"/>
              <a:t>.</a:t>
            </a:r>
          </a:p>
          <a:p>
            <a:pPr marL="265113" indent="-265113" algn="just">
              <a:buClr>
                <a:schemeClr val="accent6"/>
              </a:buClr>
              <a:buFont typeface="Wingdings 3" panose="05040102010807070707" pitchFamily="18" charset="2"/>
              <a:buChar char=""/>
            </a:pPr>
            <a:r>
              <a:rPr lang="en-IN" sz="2400" b="1" dirty="0">
                <a:solidFill>
                  <a:schemeClr val="accent6"/>
                </a:solidFill>
              </a:rPr>
              <a:t>Insertion</a:t>
            </a:r>
            <a:r>
              <a:rPr lang="en-IN" sz="2400" dirty="0"/>
              <a:t> operation is called </a:t>
            </a:r>
            <a:r>
              <a:rPr lang="en-IN" sz="2400" b="1" dirty="0" err="1"/>
              <a:t>Enqueue</a:t>
            </a:r>
            <a:r>
              <a:rPr lang="en-IN" sz="2400" dirty="0"/>
              <a:t> &amp; </a:t>
            </a:r>
            <a:r>
              <a:rPr lang="en-IN" sz="2400" b="1" dirty="0">
                <a:solidFill>
                  <a:schemeClr val="accent6"/>
                </a:solidFill>
              </a:rPr>
              <a:t>deletion</a:t>
            </a:r>
            <a:r>
              <a:rPr lang="en-IN" sz="2400" dirty="0"/>
              <a:t> operation is called </a:t>
            </a:r>
            <a:r>
              <a:rPr lang="en-IN" sz="2400" b="1" dirty="0" err="1"/>
              <a:t>Dequeue</a:t>
            </a:r>
            <a:r>
              <a:rPr lang="en-IN" sz="2400" dirty="0"/>
              <a:t>.</a:t>
            </a:r>
          </a:p>
          <a:p>
            <a:pPr marL="265113" indent="-265113" algn="just">
              <a:buClr>
                <a:schemeClr val="accent6"/>
              </a:buClr>
              <a:buFont typeface="Wingdings 3" panose="05040102010807070707" pitchFamily="18" charset="2"/>
              <a:buChar char=""/>
            </a:pPr>
            <a:endParaRPr lang="en-IN" sz="2400" dirty="0"/>
          </a:p>
        </p:txBody>
      </p:sp>
      <p:grpSp>
        <p:nvGrpSpPr>
          <p:cNvPr id="37" name="Group 36"/>
          <p:cNvGrpSpPr/>
          <p:nvPr/>
        </p:nvGrpSpPr>
        <p:grpSpPr>
          <a:xfrm>
            <a:off x="4026260" y="4396713"/>
            <a:ext cx="3779856" cy="552889"/>
            <a:chOff x="1066800" y="3823447"/>
            <a:chExt cx="4114800" cy="552889"/>
          </a:xfrm>
        </p:grpSpPr>
        <p:cxnSp>
          <p:nvCxnSpPr>
            <p:cNvPr id="44" name="Straight Connector 43"/>
            <p:cNvCxnSpPr/>
            <p:nvPr/>
          </p:nvCxnSpPr>
          <p:spPr>
            <a:xfrm>
              <a:off x="1066800" y="3823447"/>
              <a:ext cx="41148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6" name="Straight Connector 45"/>
            <p:cNvCxnSpPr/>
            <p:nvPr/>
          </p:nvCxnSpPr>
          <p:spPr>
            <a:xfrm>
              <a:off x="1066800" y="4376336"/>
              <a:ext cx="41148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sp>
        <p:nvSpPr>
          <p:cNvPr id="47" name="Rectangle 46"/>
          <p:cNvSpPr/>
          <p:nvPr/>
        </p:nvSpPr>
        <p:spPr>
          <a:xfrm>
            <a:off x="4050536"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10</a:t>
            </a:r>
            <a:endParaRPr lang="en-US" b="1" dirty="0"/>
          </a:p>
        </p:txBody>
      </p:sp>
      <p:sp>
        <p:nvSpPr>
          <p:cNvPr id="48" name="Rectangle 47"/>
          <p:cNvSpPr/>
          <p:nvPr/>
        </p:nvSpPr>
        <p:spPr>
          <a:xfrm>
            <a:off x="6533460"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50</a:t>
            </a:r>
            <a:endParaRPr lang="en-US" b="1" dirty="0"/>
          </a:p>
        </p:txBody>
      </p:sp>
      <p:sp>
        <p:nvSpPr>
          <p:cNvPr id="49" name="Rectangle 48"/>
          <p:cNvSpPr/>
          <p:nvPr/>
        </p:nvSpPr>
        <p:spPr>
          <a:xfrm>
            <a:off x="5293470"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5</a:t>
            </a:r>
            <a:endParaRPr lang="en-US" b="1" dirty="0"/>
          </a:p>
        </p:txBody>
      </p:sp>
      <p:sp>
        <p:nvSpPr>
          <p:cNvPr id="50" name="Rectangle 49"/>
          <p:cNvSpPr/>
          <p:nvPr/>
        </p:nvSpPr>
        <p:spPr>
          <a:xfrm>
            <a:off x="5911911"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80</a:t>
            </a:r>
            <a:endParaRPr lang="en-US" b="1" dirty="0"/>
          </a:p>
        </p:txBody>
      </p:sp>
      <p:sp>
        <p:nvSpPr>
          <p:cNvPr id="51" name="Rectangle 50"/>
          <p:cNvSpPr/>
          <p:nvPr/>
        </p:nvSpPr>
        <p:spPr>
          <a:xfrm>
            <a:off x="4673534"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a:t>
            </a:r>
            <a:endParaRPr lang="en-US" b="1" dirty="0"/>
          </a:p>
        </p:txBody>
      </p:sp>
      <p:grpSp>
        <p:nvGrpSpPr>
          <p:cNvPr id="71" name="Group 70"/>
          <p:cNvGrpSpPr/>
          <p:nvPr/>
        </p:nvGrpSpPr>
        <p:grpSpPr>
          <a:xfrm>
            <a:off x="3810000" y="5257800"/>
            <a:ext cx="4081670" cy="533400"/>
            <a:chOff x="2286000" y="5257800"/>
            <a:chExt cx="4081670" cy="533400"/>
          </a:xfrm>
        </p:grpSpPr>
        <p:grpSp>
          <p:nvGrpSpPr>
            <p:cNvPr id="7" name="Group 6"/>
            <p:cNvGrpSpPr/>
            <p:nvPr/>
          </p:nvGrpSpPr>
          <p:grpSpPr>
            <a:xfrm>
              <a:off x="2286000" y="5257800"/>
              <a:ext cx="4081670" cy="533400"/>
              <a:chOff x="2286000" y="5486400"/>
              <a:chExt cx="4081670" cy="533400"/>
            </a:xfrm>
          </p:grpSpPr>
          <p:cxnSp>
            <p:nvCxnSpPr>
              <p:cNvPr id="5" name="Straight Connector 4"/>
              <p:cNvCxnSpPr/>
              <p:nvPr/>
            </p:nvCxnSpPr>
            <p:spPr>
              <a:xfrm>
                <a:off x="2286000" y="5486400"/>
                <a:ext cx="408167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a:off x="2286000" y="6019800"/>
                <a:ext cx="4081670" cy="0"/>
              </a:xfrm>
              <a:prstGeom prst="line">
                <a:avLst/>
              </a:prstGeom>
              <a:ln w="28575"/>
            </p:spPr>
            <p:style>
              <a:lnRef idx="2">
                <a:schemeClr val="accent1"/>
              </a:lnRef>
              <a:fillRef idx="0">
                <a:schemeClr val="accent1"/>
              </a:fillRef>
              <a:effectRef idx="1">
                <a:schemeClr val="accent1"/>
              </a:effectRef>
              <a:fontRef idx="minor">
                <a:schemeClr val="tx1"/>
              </a:fontRef>
            </p:style>
          </p:cxnSp>
        </p:grpSp>
        <p:grpSp>
          <p:nvGrpSpPr>
            <p:cNvPr id="54" name="Group 53"/>
            <p:cNvGrpSpPr/>
            <p:nvPr/>
          </p:nvGrpSpPr>
          <p:grpSpPr>
            <a:xfrm>
              <a:off x="5153960" y="5257800"/>
              <a:ext cx="533400" cy="533400"/>
              <a:chOff x="1600200" y="5486400"/>
              <a:chExt cx="533400" cy="533400"/>
            </a:xfrm>
          </p:grpSpPr>
          <p:sp>
            <p:nvSpPr>
              <p:cNvPr id="6" name="Rectangle 5"/>
              <p:cNvSpPr/>
              <p:nvPr/>
            </p:nvSpPr>
            <p:spPr>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3" name="Straight Connector 52"/>
              <p:cNvCxnSpPr/>
              <p:nvPr/>
            </p:nvCxnSpPr>
            <p:spPr>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55" name="Group 54"/>
            <p:cNvGrpSpPr/>
            <p:nvPr/>
          </p:nvGrpSpPr>
          <p:grpSpPr>
            <a:xfrm>
              <a:off x="4614696" y="5257800"/>
              <a:ext cx="533400" cy="533400"/>
              <a:chOff x="1600200" y="5486400"/>
              <a:chExt cx="533400" cy="533400"/>
            </a:xfrm>
          </p:grpSpPr>
          <p:sp>
            <p:nvSpPr>
              <p:cNvPr id="56" name="Rectangle 55"/>
              <p:cNvSpPr/>
              <p:nvPr/>
            </p:nvSpPr>
            <p:spPr>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p:cNvCxnSpPr/>
              <p:nvPr/>
            </p:nvCxnSpPr>
            <p:spPr>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8" name="Straight Connector 57"/>
              <p:cNvCxnSpPr/>
              <p:nvPr/>
            </p:nvCxnSpPr>
            <p:spPr>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59" name="Group 58"/>
            <p:cNvGrpSpPr/>
            <p:nvPr/>
          </p:nvGrpSpPr>
          <p:grpSpPr>
            <a:xfrm>
              <a:off x="4071248" y="5257800"/>
              <a:ext cx="533400" cy="533400"/>
              <a:chOff x="1600200" y="5486400"/>
              <a:chExt cx="533400" cy="533400"/>
            </a:xfrm>
          </p:grpSpPr>
          <p:sp>
            <p:nvSpPr>
              <p:cNvPr id="60" name="Rectangle 59"/>
              <p:cNvSpPr/>
              <p:nvPr/>
            </p:nvSpPr>
            <p:spPr>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p:cNvCxnSpPr/>
              <p:nvPr/>
            </p:nvCxnSpPr>
            <p:spPr>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2" name="Straight Connector 61"/>
              <p:cNvCxnSpPr/>
              <p:nvPr/>
            </p:nvCxnSpPr>
            <p:spPr>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63" name="Group 62"/>
            <p:cNvGrpSpPr/>
            <p:nvPr/>
          </p:nvGrpSpPr>
          <p:grpSpPr>
            <a:xfrm>
              <a:off x="3527800" y="5257800"/>
              <a:ext cx="533400" cy="533400"/>
              <a:chOff x="1600200" y="5486400"/>
              <a:chExt cx="533400" cy="533400"/>
            </a:xfrm>
          </p:grpSpPr>
          <p:sp>
            <p:nvSpPr>
              <p:cNvPr id="64" name="Rectangle 63"/>
              <p:cNvSpPr/>
              <p:nvPr/>
            </p:nvSpPr>
            <p:spPr>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Connector 64"/>
              <p:cNvCxnSpPr/>
              <p:nvPr/>
            </p:nvCxnSpPr>
            <p:spPr>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6" name="Straight Connector 65"/>
              <p:cNvCxnSpPr/>
              <p:nvPr/>
            </p:nvCxnSpPr>
            <p:spPr>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67" name="Group 66"/>
            <p:cNvGrpSpPr/>
            <p:nvPr/>
          </p:nvGrpSpPr>
          <p:grpSpPr>
            <a:xfrm>
              <a:off x="2984352" y="5257800"/>
              <a:ext cx="533400" cy="533400"/>
              <a:chOff x="1600200" y="5486400"/>
              <a:chExt cx="533400" cy="533400"/>
            </a:xfrm>
          </p:grpSpPr>
          <p:sp>
            <p:nvSpPr>
              <p:cNvPr id="68" name="Rectangle 67"/>
              <p:cNvSpPr/>
              <p:nvPr/>
            </p:nvSpPr>
            <p:spPr>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p:cNvCxnSpPr/>
              <p:nvPr/>
            </p:nvCxnSpPr>
            <p:spPr>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70" name="Straight Connector 69"/>
              <p:cNvCxnSpPr/>
              <p:nvPr/>
            </p:nvCxnSpPr>
            <p:spPr>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grpSp>
        <p:nvGrpSpPr>
          <p:cNvPr id="77" name="Group 76"/>
          <p:cNvGrpSpPr/>
          <p:nvPr/>
        </p:nvGrpSpPr>
        <p:grpSpPr>
          <a:xfrm>
            <a:off x="6638203" y="5791200"/>
            <a:ext cx="612914" cy="609600"/>
            <a:chOff x="5119632" y="5791200"/>
            <a:chExt cx="612914" cy="609600"/>
          </a:xfrm>
        </p:grpSpPr>
        <p:sp>
          <p:nvSpPr>
            <p:cNvPr id="72" name="TextBox 71"/>
            <p:cNvSpPr txBox="1"/>
            <p:nvPr/>
          </p:nvSpPr>
          <p:spPr>
            <a:xfrm>
              <a:off x="5119632" y="6062246"/>
              <a:ext cx="612914" cy="338554"/>
            </a:xfrm>
            <a:prstGeom prst="rect">
              <a:avLst/>
            </a:prstGeom>
            <a:noFill/>
          </p:spPr>
          <p:txBody>
            <a:bodyPr wrap="square" rtlCol="0">
              <a:spAutoFit/>
            </a:bodyPr>
            <a:lstStyle/>
            <a:p>
              <a:pPr algn="ctr"/>
              <a:r>
                <a:rPr lang="en-IN" sz="1600" b="1" dirty="0"/>
                <a:t>Rear</a:t>
              </a:r>
              <a:endParaRPr lang="en-US" sz="1600" b="1" dirty="0"/>
            </a:p>
          </p:txBody>
        </p:sp>
        <p:cxnSp>
          <p:nvCxnSpPr>
            <p:cNvPr id="76" name="Straight Arrow Connector 75"/>
            <p:cNvCxnSpPr>
              <a:stCxn id="72" idx="0"/>
              <a:endCxn id="6" idx="2"/>
            </p:cNvCxnSpPr>
            <p:nvPr/>
          </p:nvCxnSpPr>
          <p:spPr>
            <a:xfrm flipH="1" flipV="1">
              <a:off x="5420660" y="5791200"/>
              <a:ext cx="5429" cy="271046"/>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grpSp>
      <p:grpSp>
        <p:nvGrpSpPr>
          <p:cNvPr id="86" name="Group 85"/>
          <p:cNvGrpSpPr/>
          <p:nvPr/>
        </p:nvGrpSpPr>
        <p:grpSpPr>
          <a:xfrm>
            <a:off x="4430060" y="5757446"/>
            <a:ext cx="689984" cy="609600"/>
            <a:chOff x="5069392" y="5791200"/>
            <a:chExt cx="689984" cy="609600"/>
          </a:xfrm>
        </p:grpSpPr>
        <p:sp>
          <p:nvSpPr>
            <p:cNvPr id="79" name="TextBox 78"/>
            <p:cNvSpPr txBox="1"/>
            <p:nvPr/>
          </p:nvSpPr>
          <p:spPr>
            <a:xfrm>
              <a:off x="5069392" y="6062246"/>
              <a:ext cx="689984" cy="338554"/>
            </a:xfrm>
            <a:prstGeom prst="rect">
              <a:avLst/>
            </a:prstGeom>
            <a:noFill/>
          </p:spPr>
          <p:txBody>
            <a:bodyPr wrap="square" rtlCol="0">
              <a:spAutoFit/>
            </a:bodyPr>
            <a:lstStyle/>
            <a:p>
              <a:pPr algn="ctr"/>
              <a:r>
                <a:rPr lang="en-IN" sz="1600" b="1" dirty="0"/>
                <a:t>Front</a:t>
              </a:r>
              <a:endParaRPr lang="en-US" sz="1600" b="1" dirty="0"/>
            </a:p>
          </p:txBody>
        </p:sp>
        <p:cxnSp>
          <p:nvCxnSpPr>
            <p:cNvPr id="85" name="Straight Arrow Connector 84"/>
            <p:cNvCxnSpPr>
              <a:stCxn id="79" idx="0"/>
              <a:endCxn id="6" idx="2"/>
            </p:cNvCxnSpPr>
            <p:nvPr/>
          </p:nvCxnSpPr>
          <p:spPr>
            <a:xfrm flipV="1">
              <a:off x="5414384" y="5791200"/>
              <a:ext cx="6276" cy="271046"/>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grpSp>
      <p:sp>
        <p:nvSpPr>
          <p:cNvPr id="42" name="Rectangle 41"/>
          <p:cNvSpPr/>
          <p:nvPr/>
        </p:nvSpPr>
        <p:spPr>
          <a:xfrm>
            <a:off x="7156056"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100</a:t>
            </a:r>
            <a:endParaRPr lang="en-US" b="1" dirty="0"/>
          </a:p>
        </p:txBody>
      </p:sp>
      <p:cxnSp>
        <p:nvCxnSpPr>
          <p:cNvPr id="10" name="Straight Arrow Connector 9"/>
          <p:cNvCxnSpPr/>
          <p:nvPr/>
        </p:nvCxnSpPr>
        <p:spPr>
          <a:xfrm flipH="1">
            <a:off x="7543800" y="5524500"/>
            <a:ext cx="990600" cy="0"/>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sp>
        <p:nvSpPr>
          <p:cNvPr id="73" name="TextBox 72"/>
          <p:cNvSpPr txBox="1"/>
          <p:nvPr/>
        </p:nvSpPr>
        <p:spPr>
          <a:xfrm>
            <a:off x="8534400" y="5352225"/>
            <a:ext cx="990600" cy="338554"/>
          </a:xfrm>
          <a:prstGeom prst="rect">
            <a:avLst/>
          </a:prstGeom>
          <a:noFill/>
        </p:spPr>
        <p:txBody>
          <a:bodyPr wrap="square" rtlCol="0">
            <a:spAutoFit/>
          </a:bodyPr>
          <a:lstStyle/>
          <a:p>
            <a:pPr algn="ctr"/>
            <a:r>
              <a:rPr lang="en-IN" sz="1600" b="1" dirty="0"/>
              <a:t>Insertion</a:t>
            </a:r>
            <a:endParaRPr lang="en-US" sz="1600" b="1" dirty="0"/>
          </a:p>
        </p:txBody>
      </p:sp>
      <p:cxnSp>
        <p:nvCxnSpPr>
          <p:cNvPr id="74" name="Straight Arrow Connector 73"/>
          <p:cNvCxnSpPr/>
          <p:nvPr/>
        </p:nvCxnSpPr>
        <p:spPr>
          <a:xfrm flipH="1">
            <a:off x="3228860" y="5549747"/>
            <a:ext cx="990600" cy="0"/>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sp>
        <p:nvSpPr>
          <p:cNvPr id="75" name="TextBox 74"/>
          <p:cNvSpPr txBox="1"/>
          <p:nvPr/>
        </p:nvSpPr>
        <p:spPr>
          <a:xfrm>
            <a:off x="2226325" y="5374824"/>
            <a:ext cx="990600" cy="338554"/>
          </a:xfrm>
          <a:prstGeom prst="rect">
            <a:avLst/>
          </a:prstGeom>
          <a:noFill/>
        </p:spPr>
        <p:txBody>
          <a:bodyPr wrap="square" rtlCol="0">
            <a:spAutoFit/>
          </a:bodyPr>
          <a:lstStyle/>
          <a:p>
            <a:pPr algn="ctr"/>
            <a:r>
              <a:rPr lang="en-IN" sz="1600" b="1" dirty="0"/>
              <a:t>Deletion</a:t>
            </a:r>
            <a:endParaRPr lang="en-US" sz="1600" b="1" dirty="0"/>
          </a:p>
        </p:txBody>
      </p:sp>
    </p:spTree>
    <p:extLst>
      <p:ext uri="{BB962C8B-B14F-4D97-AF65-F5344CB8AC3E}">
        <p14:creationId xmlns:p14="http://schemas.microsoft.com/office/powerpoint/2010/main" val="558589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35" presetClass="path" presetSubtype="0" accel="50000" decel="50000" fill="hold" grpId="1" nodeType="withEffect">
                                  <p:stCondLst>
                                    <p:cond delay="0"/>
                                  </p:stCondLst>
                                  <p:childTnLst>
                                    <p:animMotion origin="layout" path="M 0.64167 2.22222E-6 L 0 2.22222E-6 " pathEditMode="relative" rAng="0" ptsTypes="AA">
                                      <p:cBhvr>
                                        <p:cTn id="20" dur="2000" fill="hold"/>
                                        <p:tgtEl>
                                          <p:spTgt spid="47"/>
                                        </p:tgtEl>
                                        <p:attrNameLst>
                                          <p:attrName>ppt_x</p:attrName>
                                          <p:attrName>ppt_y</p:attrName>
                                        </p:attrNameLst>
                                      </p:cBhvr>
                                      <p:rCtr x="-32083" y="0"/>
                                    </p:animMotion>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childTnLst>
                          </p:cTn>
                        </p:par>
                        <p:par>
                          <p:cTn id="25" fill="hold">
                            <p:stCondLst>
                              <p:cond delay="0"/>
                            </p:stCondLst>
                            <p:childTnLst>
                              <p:par>
                                <p:cTn id="26" presetID="35" presetClass="path" presetSubtype="0" accel="50000" decel="50000" fill="hold" grpId="1" nodeType="afterEffect">
                                  <p:stCondLst>
                                    <p:cond delay="0"/>
                                  </p:stCondLst>
                                  <p:childTnLst>
                                    <p:animMotion origin="layout" path="M 0.57031 4.80444E-6 L 2.5E-6 4.80444E-6 " pathEditMode="relative" rAng="0" ptsTypes="AA">
                                      <p:cBhvr>
                                        <p:cTn id="27" dur="2000" fill="hold"/>
                                        <p:tgtEl>
                                          <p:spTgt spid="51"/>
                                        </p:tgtEl>
                                        <p:attrNameLst>
                                          <p:attrName>ppt_x</p:attrName>
                                          <p:attrName>ppt_y</p:attrName>
                                        </p:attrNameLst>
                                      </p:cBhvr>
                                      <p:rCtr x="-28524" y="0"/>
                                    </p:animMotion>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9"/>
                                        </p:tgtEl>
                                        <p:attrNameLst>
                                          <p:attrName>style.visibility</p:attrName>
                                        </p:attrNameLst>
                                      </p:cBhvr>
                                      <p:to>
                                        <p:strVal val="visible"/>
                                      </p:to>
                                    </p:set>
                                  </p:childTnLst>
                                </p:cTn>
                              </p:par>
                            </p:childTnLst>
                          </p:cTn>
                        </p:par>
                        <p:par>
                          <p:cTn id="32" fill="hold">
                            <p:stCondLst>
                              <p:cond delay="0"/>
                            </p:stCondLst>
                            <p:childTnLst>
                              <p:par>
                                <p:cTn id="33" presetID="35" presetClass="path" presetSubtype="0" accel="50000" decel="50000" fill="hold" grpId="1" nodeType="afterEffect">
                                  <p:stCondLst>
                                    <p:cond delay="0"/>
                                  </p:stCondLst>
                                  <p:childTnLst>
                                    <p:animMotion origin="layout" path="M 0.50347 0 L 2.22222E-6 0 " pathEditMode="relative" rAng="0" ptsTypes="AA">
                                      <p:cBhvr>
                                        <p:cTn id="34" dur="2000" fill="hold"/>
                                        <p:tgtEl>
                                          <p:spTgt spid="49"/>
                                        </p:tgtEl>
                                        <p:attrNameLst>
                                          <p:attrName>ppt_x</p:attrName>
                                          <p:attrName>ppt_y</p:attrName>
                                        </p:attrNameLst>
                                      </p:cBhvr>
                                      <p:rCtr x="-25174" y="0"/>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childTnLst>
                          </p:cTn>
                        </p:par>
                        <p:par>
                          <p:cTn id="39" fill="hold">
                            <p:stCondLst>
                              <p:cond delay="0"/>
                            </p:stCondLst>
                            <p:childTnLst>
                              <p:par>
                                <p:cTn id="40" presetID="35" presetClass="path" presetSubtype="0" accel="50000" decel="50000" fill="hold" grpId="1" nodeType="afterEffect">
                                  <p:stCondLst>
                                    <p:cond delay="0"/>
                                  </p:stCondLst>
                                  <p:childTnLst>
                                    <p:animMotion origin="layout" path="M 0.43507 -8.25815E-7 L -5.55556E-7 -8.25815E-7 " pathEditMode="relative" rAng="0" ptsTypes="AA">
                                      <p:cBhvr>
                                        <p:cTn id="41" dur="2000" fill="hold"/>
                                        <p:tgtEl>
                                          <p:spTgt spid="50"/>
                                        </p:tgtEl>
                                        <p:attrNameLst>
                                          <p:attrName>ppt_x</p:attrName>
                                          <p:attrName>ppt_y</p:attrName>
                                        </p:attrNameLst>
                                      </p:cBhvr>
                                      <p:rCtr x="-21753" y="0"/>
                                    </p:animMotion>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8"/>
                                        </p:tgtEl>
                                        <p:attrNameLst>
                                          <p:attrName>style.visibility</p:attrName>
                                        </p:attrNameLst>
                                      </p:cBhvr>
                                      <p:to>
                                        <p:strVal val="visible"/>
                                      </p:to>
                                    </p:set>
                                  </p:childTnLst>
                                </p:cTn>
                              </p:par>
                            </p:childTnLst>
                          </p:cTn>
                        </p:par>
                        <p:par>
                          <p:cTn id="46" fill="hold">
                            <p:stCondLst>
                              <p:cond delay="0"/>
                            </p:stCondLst>
                            <p:childTnLst>
                              <p:par>
                                <p:cTn id="47" presetID="35" presetClass="path" presetSubtype="0" accel="50000" decel="50000" fill="hold" grpId="1" nodeType="afterEffect">
                                  <p:stCondLst>
                                    <p:cond delay="0"/>
                                  </p:stCondLst>
                                  <p:childTnLst>
                                    <p:animMotion origin="layout" path="M 0.36667 -8.25815E-7 L -3.33333E-6 -8.25815E-7 " pathEditMode="relative" rAng="0" ptsTypes="AA">
                                      <p:cBhvr>
                                        <p:cTn id="48" dur="2000" fill="hold"/>
                                        <p:tgtEl>
                                          <p:spTgt spid="48"/>
                                        </p:tgtEl>
                                        <p:attrNameLst>
                                          <p:attrName>ppt_x</p:attrName>
                                          <p:attrName>ppt_y</p:attrName>
                                        </p:attrNameLst>
                                      </p:cBhvr>
                                      <p:rCtr x="-18333" y="0"/>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childTnLst>
                          </p:cTn>
                        </p:par>
                        <p:par>
                          <p:cTn id="53" fill="hold">
                            <p:stCondLst>
                              <p:cond delay="0"/>
                            </p:stCondLst>
                            <p:childTnLst>
                              <p:par>
                                <p:cTn id="54" presetID="35" presetClass="path" presetSubtype="0" accel="50000" decel="50000" fill="hold" grpId="1" nodeType="afterEffect">
                                  <p:stCondLst>
                                    <p:cond delay="0"/>
                                  </p:stCondLst>
                                  <p:childTnLst>
                                    <p:animMotion origin="layout" path="M 0.29878 -2.5214E-6 L 4.72222E-6 -2.5214E-6 " pathEditMode="relative" rAng="0" ptsTypes="AA">
                                      <p:cBhvr>
                                        <p:cTn id="55" dur="2000" fill="hold"/>
                                        <p:tgtEl>
                                          <p:spTgt spid="42"/>
                                        </p:tgtEl>
                                        <p:attrNameLst>
                                          <p:attrName>ppt_x</p:attrName>
                                          <p:attrName>ppt_y</p:attrName>
                                        </p:attrNameLst>
                                      </p:cBhvr>
                                      <p:rCtr x="-14948" y="0"/>
                                    </p:animMotion>
                                  </p:childTnLst>
                                </p:cTn>
                              </p:par>
                            </p:childTnLst>
                          </p:cTn>
                        </p:par>
                      </p:childTnLst>
                    </p:cTn>
                  </p:par>
                  <p:par>
                    <p:cTn id="56" fill="hold">
                      <p:stCondLst>
                        <p:cond delay="indefinite"/>
                      </p:stCondLst>
                      <p:childTnLst>
                        <p:par>
                          <p:cTn id="57" fill="hold">
                            <p:stCondLst>
                              <p:cond delay="0"/>
                            </p:stCondLst>
                            <p:childTnLst>
                              <p:par>
                                <p:cTn id="58" presetID="35" presetClass="path" presetSubtype="0" accel="50000" decel="50000" fill="hold" grpId="2" nodeType="clickEffect">
                                  <p:stCondLst>
                                    <p:cond delay="0"/>
                                  </p:stCondLst>
                                  <p:childTnLst>
                                    <p:animMotion origin="layout" path="M -2.22222E-6 -0.00092 L -0.25 -0.00092 " pathEditMode="relative" rAng="0" ptsTypes="AA">
                                      <p:cBhvr>
                                        <p:cTn id="59" dur="2000" fill="hold"/>
                                        <p:tgtEl>
                                          <p:spTgt spid="47"/>
                                        </p:tgtEl>
                                        <p:attrNameLst>
                                          <p:attrName>ppt_x</p:attrName>
                                          <p:attrName>ppt_y</p:attrName>
                                        </p:attrNameLst>
                                      </p:cBhvr>
                                      <p:rCtr x="-12500" y="0"/>
                                    </p:animMotion>
                                  </p:childTnLst>
                                </p:cTn>
                              </p:par>
                            </p:childTnLst>
                          </p:cTn>
                        </p:par>
                        <p:par>
                          <p:cTn id="60" fill="hold">
                            <p:stCondLst>
                              <p:cond delay="2000"/>
                            </p:stCondLst>
                            <p:childTnLst>
                              <p:par>
                                <p:cTn id="61" presetID="1" presetClass="exit" presetSubtype="0" fill="hold" grpId="3" nodeType="afterEffect">
                                  <p:stCondLst>
                                    <p:cond delay="0"/>
                                  </p:stCondLst>
                                  <p:childTnLst>
                                    <p:set>
                                      <p:cBhvr>
                                        <p:cTn id="62" dur="1" fill="hold">
                                          <p:stCondLst>
                                            <p:cond delay="0"/>
                                          </p:stCondLst>
                                        </p:cTn>
                                        <p:tgtEl>
                                          <p:spTgt spid="47"/>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35" presetClass="path" presetSubtype="0" accel="50000" decel="50000" fill="hold" grpId="2" nodeType="clickEffect">
                                  <p:stCondLst>
                                    <p:cond delay="0"/>
                                  </p:stCondLst>
                                  <p:childTnLst>
                                    <p:animMotion origin="layout" path="M 2.22222E-6 4.08281E-6 L -0.31945 4.08281E-6 " pathEditMode="relative" rAng="0" ptsTypes="AA">
                                      <p:cBhvr>
                                        <p:cTn id="66" dur="2000" fill="hold"/>
                                        <p:tgtEl>
                                          <p:spTgt spid="51"/>
                                        </p:tgtEl>
                                        <p:attrNameLst>
                                          <p:attrName>ppt_x</p:attrName>
                                          <p:attrName>ppt_y</p:attrName>
                                        </p:attrNameLst>
                                      </p:cBhvr>
                                      <p:rCtr x="-15972" y="0"/>
                                    </p:animMotion>
                                  </p:childTnLst>
                                </p:cTn>
                              </p:par>
                            </p:childTnLst>
                          </p:cTn>
                        </p:par>
                        <p:par>
                          <p:cTn id="67" fill="hold">
                            <p:stCondLst>
                              <p:cond delay="2000"/>
                            </p:stCondLst>
                            <p:childTnLst>
                              <p:par>
                                <p:cTn id="68" presetID="1" presetClass="exit" presetSubtype="0" fill="hold" grpId="3" nodeType="afterEffect">
                                  <p:stCondLst>
                                    <p:cond delay="0"/>
                                  </p:stCondLst>
                                  <p:childTnLst>
                                    <p:set>
                                      <p:cBhvr>
                                        <p:cTn id="69" dur="1" fill="hold">
                                          <p:stCondLst>
                                            <p:cond delay="0"/>
                                          </p:stCondLst>
                                        </p:cTn>
                                        <p:tgtEl>
                                          <p:spTgt spid="51"/>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35" presetClass="path" presetSubtype="0" accel="50000" decel="50000" fill="hold" grpId="2" nodeType="clickEffect">
                                  <p:stCondLst>
                                    <p:cond delay="0"/>
                                  </p:stCondLst>
                                  <p:childTnLst>
                                    <p:animMotion origin="layout" path="M 3.88889E-6 -4.59635E-6 L -0.38716 -4.59635E-6 " pathEditMode="relative" rAng="0" ptsTypes="AA">
                                      <p:cBhvr>
                                        <p:cTn id="73" dur="2000" fill="hold"/>
                                        <p:tgtEl>
                                          <p:spTgt spid="49"/>
                                        </p:tgtEl>
                                        <p:attrNameLst>
                                          <p:attrName>ppt_x</p:attrName>
                                          <p:attrName>ppt_y</p:attrName>
                                        </p:attrNameLst>
                                      </p:cBhvr>
                                      <p:rCtr x="-19358" y="0"/>
                                    </p:animMotion>
                                  </p:childTnLst>
                                </p:cTn>
                              </p:par>
                            </p:childTnLst>
                          </p:cTn>
                        </p:par>
                        <p:par>
                          <p:cTn id="74" fill="hold">
                            <p:stCondLst>
                              <p:cond delay="2000"/>
                            </p:stCondLst>
                            <p:childTnLst>
                              <p:par>
                                <p:cTn id="75" presetID="1" presetClass="exit" presetSubtype="0" fill="hold" grpId="3" nodeType="afterEffect">
                                  <p:stCondLst>
                                    <p:cond delay="0"/>
                                  </p:stCondLst>
                                  <p:childTnLst>
                                    <p:set>
                                      <p:cBhvr>
                                        <p:cTn id="76" dur="1" fill="hold">
                                          <p:stCondLst>
                                            <p:cond delay="0"/>
                                          </p:stCondLst>
                                        </p:cTn>
                                        <p:tgtEl>
                                          <p:spTgt spid="49"/>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35" presetClass="path" presetSubtype="0" accel="50000" decel="50000" fill="hold" grpId="2" nodeType="clickEffect">
                                  <p:stCondLst>
                                    <p:cond delay="0"/>
                                  </p:stCondLst>
                                  <p:childTnLst>
                                    <p:animMotion origin="layout" path="M -4.44444E-6 -0.00069 L -0.45486 -0.00069 " pathEditMode="relative" rAng="0" ptsTypes="AA">
                                      <p:cBhvr>
                                        <p:cTn id="80" dur="2000" fill="hold"/>
                                        <p:tgtEl>
                                          <p:spTgt spid="50"/>
                                        </p:tgtEl>
                                        <p:attrNameLst>
                                          <p:attrName>ppt_x</p:attrName>
                                          <p:attrName>ppt_y</p:attrName>
                                        </p:attrNameLst>
                                      </p:cBhvr>
                                      <p:rCtr x="-22743" y="0"/>
                                    </p:animMotion>
                                  </p:childTnLst>
                                </p:cTn>
                              </p:par>
                            </p:childTnLst>
                          </p:cTn>
                        </p:par>
                        <p:par>
                          <p:cTn id="81" fill="hold">
                            <p:stCondLst>
                              <p:cond delay="2000"/>
                            </p:stCondLst>
                            <p:childTnLst>
                              <p:par>
                                <p:cTn id="82" presetID="1" presetClass="exit" presetSubtype="0" fill="hold" grpId="3" nodeType="afterEffect">
                                  <p:stCondLst>
                                    <p:cond delay="0"/>
                                  </p:stCondLst>
                                  <p:childTnLst>
                                    <p:set>
                                      <p:cBhvr>
                                        <p:cTn id="83" dur="1" fill="hold">
                                          <p:stCondLst>
                                            <p:cond delay="0"/>
                                          </p:stCondLst>
                                        </p:cTn>
                                        <p:tgtEl>
                                          <p:spTgt spid="50"/>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35" presetClass="path" presetSubtype="0" accel="50000" decel="50000" fill="hold" grpId="2" nodeType="clickEffect">
                                  <p:stCondLst>
                                    <p:cond delay="0"/>
                                  </p:stCondLst>
                                  <p:childTnLst>
                                    <p:animMotion origin="layout" path="M 0 0.00092 L -0.51458 0.00092 " pathEditMode="relative" rAng="0" ptsTypes="AA">
                                      <p:cBhvr>
                                        <p:cTn id="87" dur="2000" fill="hold"/>
                                        <p:tgtEl>
                                          <p:spTgt spid="48"/>
                                        </p:tgtEl>
                                        <p:attrNameLst>
                                          <p:attrName>ppt_x</p:attrName>
                                          <p:attrName>ppt_y</p:attrName>
                                        </p:attrNameLst>
                                      </p:cBhvr>
                                      <p:rCtr x="-25729" y="0"/>
                                    </p:animMotion>
                                  </p:childTnLst>
                                </p:cTn>
                              </p:par>
                            </p:childTnLst>
                          </p:cTn>
                        </p:par>
                        <p:par>
                          <p:cTn id="88" fill="hold">
                            <p:stCondLst>
                              <p:cond delay="2000"/>
                            </p:stCondLst>
                            <p:childTnLst>
                              <p:par>
                                <p:cTn id="89" presetID="1" presetClass="exit" presetSubtype="0" fill="hold" grpId="3" nodeType="afterEffect">
                                  <p:stCondLst>
                                    <p:cond delay="0"/>
                                  </p:stCondLst>
                                  <p:childTnLst>
                                    <p:set>
                                      <p:cBhvr>
                                        <p:cTn id="90" dur="1" fill="hold">
                                          <p:stCondLst>
                                            <p:cond delay="0"/>
                                          </p:stCondLst>
                                        </p:cTn>
                                        <p:tgtEl>
                                          <p:spTgt spid="48"/>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35" presetClass="path" presetSubtype="0" accel="50000" decel="50000" fill="hold" grpId="2" nodeType="clickEffect">
                                  <p:stCondLst>
                                    <p:cond delay="0"/>
                                  </p:stCondLst>
                                  <p:childTnLst>
                                    <p:animMotion origin="layout" path="M 4.44444E-6 -0.00093 L -0.58264 -0.00093 " pathEditMode="relative" rAng="0" ptsTypes="AA">
                                      <p:cBhvr>
                                        <p:cTn id="94" dur="2000" fill="hold"/>
                                        <p:tgtEl>
                                          <p:spTgt spid="42"/>
                                        </p:tgtEl>
                                        <p:attrNameLst>
                                          <p:attrName>ppt_x</p:attrName>
                                          <p:attrName>ppt_y</p:attrName>
                                        </p:attrNameLst>
                                      </p:cBhvr>
                                      <p:rCtr x="-29132" y="0"/>
                                    </p:animMotion>
                                  </p:childTnLst>
                                </p:cTn>
                              </p:par>
                            </p:childTnLst>
                          </p:cTn>
                        </p:par>
                        <p:par>
                          <p:cTn id="95" fill="hold">
                            <p:stCondLst>
                              <p:cond delay="2000"/>
                            </p:stCondLst>
                            <p:childTnLst>
                              <p:par>
                                <p:cTn id="96" presetID="1" presetClass="exit" presetSubtype="0" fill="hold" grpId="3" nodeType="afterEffect">
                                  <p:stCondLst>
                                    <p:cond delay="0"/>
                                  </p:stCondLst>
                                  <p:childTnLst>
                                    <p:set>
                                      <p:cBhvr>
                                        <p:cTn id="97" dur="1" fill="hold">
                                          <p:stCondLst>
                                            <p:cond delay="0"/>
                                          </p:stCondLst>
                                        </p:cTn>
                                        <p:tgtEl>
                                          <p:spTgt spid="42"/>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71"/>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86"/>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75"/>
                                        </p:tgtEl>
                                        <p:attrNameLst>
                                          <p:attrName>style.visibility</p:attrName>
                                        </p:attrNameLst>
                                      </p:cBhvr>
                                      <p:to>
                                        <p:strVal val="visible"/>
                                      </p:to>
                                    </p:set>
                                  </p:childTnLst>
                                </p:cTn>
                              </p:par>
                              <p:par>
                                <p:cTn id="114" presetID="1" presetClass="entr" presetSubtype="0" fill="hold" nodeType="withEffect">
                                  <p:stCondLst>
                                    <p:cond delay="0"/>
                                  </p:stCondLst>
                                  <p:childTnLst>
                                    <p:set>
                                      <p:cBhvr>
                                        <p:cTn id="115" dur="1" fill="hold">
                                          <p:stCondLst>
                                            <p:cond delay="0"/>
                                          </p:stCondLst>
                                        </p:cTn>
                                        <p:tgtEl>
                                          <p:spTgt spid="74"/>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nodeType="clickEffect">
                                  <p:stCondLst>
                                    <p:cond delay="0"/>
                                  </p:stCondLst>
                                  <p:childTnLst>
                                    <p:set>
                                      <p:cBhvr>
                                        <p:cTn id="123" dur="1" fill="hold">
                                          <p:stCondLst>
                                            <p:cond delay="0"/>
                                          </p:stCondLst>
                                        </p:cTn>
                                        <p:tgtEl>
                                          <p:spTgt spid="77"/>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nodeType="clickEffect">
                                  <p:stCondLst>
                                    <p:cond delay="0"/>
                                  </p:stCondLst>
                                  <p:childTnLst>
                                    <p:set>
                                      <p:cBhvr>
                                        <p:cTn id="127" dur="1" fill="hold">
                                          <p:stCondLst>
                                            <p:cond delay="0"/>
                                          </p:stCondLst>
                                        </p:cTn>
                                        <p:tgtEl>
                                          <p:spTgt spid="10"/>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73"/>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nodeType="clickEffect">
                                  <p:stCondLst>
                                    <p:cond delay="0"/>
                                  </p:stCondLst>
                                  <p:childTnLst>
                                    <p:set>
                                      <p:cBhvr>
                                        <p:cTn id="133"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7" grpId="1" animBg="1"/>
      <p:bldP spid="47" grpId="2" animBg="1"/>
      <p:bldP spid="47" grpId="3" animBg="1"/>
      <p:bldP spid="48" grpId="0" animBg="1"/>
      <p:bldP spid="48" grpId="1" animBg="1"/>
      <p:bldP spid="48" grpId="2" animBg="1"/>
      <p:bldP spid="48" grpId="3" animBg="1"/>
      <p:bldP spid="49" grpId="0" animBg="1"/>
      <p:bldP spid="49" grpId="1" animBg="1"/>
      <p:bldP spid="49" grpId="2" animBg="1"/>
      <p:bldP spid="49" grpId="3" animBg="1"/>
      <p:bldP spid="50" grpId="0" animBg="1"/>
      <p:bldP spid="50" grpId="1" animBg="1"/>
      <p:bldP spid="50" grpId="2" animBg="1"/>
      <p:bldP spid="50" grpId="3" animBg="1"/>
      <p:bldP spid="51" grpId="0" animBg="1"/>
      <p:bldP spid="51" grpId="1" animBg="1"/>
      <p:bldP spid="51" grpId="2" animBg="1"/>
      <p:bldP spid="51" grpId="3" animBg="1"/>
      <p:bldP spid="42" grpId="0" animBg="1"/>
      <p:bldP spid="42" grpId="1" animBg="1"/>
      <p:bldP spid="42" grpId="2" animBg="1"/>
      <p:bldP spid="42" grpId="3" animBg="1"/>
      <p:bldP spid="73" grpId="0"/>
      <p:bldP spid="75" grpId="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6ED680-ECDA-2C59-AF2D-3A5BD1081CCA}"/>
              </a:ext>
            </a:extLst>
          </p:cNvPr>
          <p:cNvSpPr>
            <a:spLocks noGrp="1"/>
          </p:cNvSpPr>
          <p:nvPr>
            <p:ph type="title"/>
          </p:nvPr>
        </p:nvSpPr>
        <p:spPr/>
        <p:txBody>
          <a:bodyPr/>
          <a:lstStyle/>
          <a:p>
            <a:r>
              <a:rPr lang="en-US" dirty="0"/>
              <a:t>Queue - Applications</a:t>
            </a:r>
          </a:p>
        </p:txBody>
      </p:sp>
      <p:sp>
        <p:nvSpPr>
          <p:cNvPr id="5" name="Text Placeholder 4">
            <a:extLst>
              <a:ext uri="{FF2B5EF4-FFF2-40B4-BE49-F238E27FC236}">
                <a16:creationId xmlns:a16="http://schemas.microsoft.com/office/drawing/2014/main" id="{FB5B7375-27ED-AEFF-9C20-9AC5FE68592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485475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Applications of Queue</a:t>
            </a:r>
            <a:endParaRPr lang="en-US" dirty="0"/>
          </a:p>
        </p:txBody>
      </p:sp>
      <p:sp>
        <p:nvSpPr>
          <p:cNvPr id="3" name="Content Placeholder 2"/>
          <p:cNvSpPr>
            <a:spLocks noGrp="1"/>
          </p:cNvSpPr>
          <p:nvPr>
            <p:ph idx="4294967295"/>
          </p:nvPr>
        </p:nvSpPr>
        <p:spPr>
          <a:xfrm>
            <a:off x="131180" y="863444"/>
            <a:ext cx="11929641" cy="5590565"/>
          </a:xfrm>
        </p:spPr>
        <p:txBody>
          <a:bodyPr vert="horz" lIns="91440" tIns="45720" rIns="91440" bIns="45720" rtlCol="0">
            <a:noAutofit/>
          </a:bodyPr>
          <a:lstStyle/>
          <a:p>
            <a:pPr marL="265113" indent="-265113" algn="just">
              <a:buClr>
                <a:schemeClr val="accent6"/>
              </a:buClr>
              <a:buFont typeface="Wingdings 3" panose="05040102010807070707" pitchFamily="18" charset="2"/>
              <a:buChar char=""/>
            </a:pPr>
            <a:r>
              <a:rPr lang="en-IN" sz="2400" dirty="0">
                <a:solidFill>
                  <a:schemeClr val="accent6"/>
                </a:solidFill>
              </a:rPr>
              <a:t>Queue of people</a:t>
            </a:r>
            <a:r>
              <a:rPr lang="en-IN" sz="2400" dirty="0"/>
              <a:t> at any </a:t>
            </a:r>
            <a:r>
              <a:rPr lang="en-IN" sz="2400" dirty="0">
                <a:solidFill>
                  <a:schemeClr val="accent6"/>
                </a:solidFill>
              </a:rPr>
              <a:t>service point</a:t>
            </a:r>
            <a:r>
              <a:rPr lang="en-IN" sz="2400" dirty="0"/>
              <a:t> such as ticketing etc.</a:t>
            </a:r>
          </a:p>
          <a:p>
            <a:pPr marL="265113" indent="-265113" algn="just">
              <a:buClr>
                <a:schemeClr val="accent6"/>
              </a:buClr>
              <a:buFont typeface="Wingdings 3" panose="05040102010807070707" pitchFamily="18" charset="2"/>
              <a:buChar char=""/>
            </a:pPr>
            <a:r>
              <a:rPr lang="en-IN" sz="2400" dirty="0">
                <a:solidFill>
                  <a:schemeClr val="accent6"/>
                </a:solidFill>
              </a:rPr>
              <a:t>Queue of air planes</a:t>
            </a:r>
            <a:r>
              <a:rPr lang="en-IN" sz="2400" dirty="0"/>
              <a:t> </a:t>
            </a:r>
            <a:r>
              <a:rPr lang="en-IN" sz="2400" dirty="0">
                <a:solidFill>
                  <a:schemeClr val="accent6"/>
                </a:solidFill>
              </a:rPr>
              <a:t>waiting for landing</a:t>
            </a:r>
            <a:r>
              <a:rPr lang="en-IN" sz="2400" dirty="0"/>
              <a:t> instructions.</a:t>
            </a:r>
          </a:p>
          <a:p>
            <a:pPr marL="265113" indent="-265113" algn="just">
              <a:buClr>
                <a:schemeClr val="accent6"/>
              </a:buClr>
              <a:buFont typeface="Wingdings 3" panose="05040102010807070707" pitchFamily="18" charset="2"/>
              <a:buChar char=""/>
            </a:pPr>
            <a:r>
              <a:rPr lang="en-IN" sz="2400" dirty="0">
                <a:solidFill>
                  <a:schemeClr val="accent6"/>
                </a:solidFill>
              </a:rPr>
              <a:t>Queue of processes </a:t>
            </a:r>
            <a:r>
              <a:rPr lang="en-IN" sz="2400" dirty="0"/>
              <a:t>in OS.</a:t>
            </a:r>
          </a:p>
          <a:p>
            <a:pPr marL="265113" indent="-265113" algn="just">
              <a:buClr>
                <a:schemeClr val="accent6"/>
              </a:buClr>
              <a:buFont typeface="Wingdings 3" panose="05040102010807070707" pitchFamily="18" charset="2"/>
              <a:buChar char=""/>
            </a:pPr>
            <a:r>
              <a:rPr lang="en-IN" sz="2400" dirty="0"/>
              <a:t>Queue is also used by Operating systems for </a:t>
            </a:r>
            <a:r>
              <a:rPr lang="en-IN" sz="2400" dirty="0">
                <a:solidFill>
                  <a:schemeClr val="accent6"/>
                </a:solidFill>
              </a:rPr>
              <a:t>Job Scheduling</a:t>
            </a:r>
            <a:r>
              <a:rPr lang="en-IN" sz="2400" dirty="0"/>
              <a:t>.</a:t>
            </a:r>
          </a:p>
          <a:p>
            <a:pPr marL="265113" indent="-265113" algn="just">
              <a:buClr>
                <a:schemeClr val="accent6"/>
              </a:buClr>
              <a:buFont typeface="Wingdings 3" panose="05040102010807070707" pitchFamily="18" charset="2"/>
              <a:buChar char=""/>
            </a:pPr>
            <a:r>
              <a:rPr lang="en-IN" sz="2400" dirty="0"/>
              <a:t>When a </a:t>
            </a:r>
            <a:r>
              <a:rPr lang="en-IN" sz="2400" dirty="0">
                <a:solidFill>
                  <a:schemeClr val="accent6"/>
                </a:solidFill>
              </a:rPr>
              <a:t>resource is shared among multiple consumers</a:t>
            </a:r>
            <a:r>
              <a:rPr lang="en-IN" sz="2400" dirty="0"/>
              <a:t>. E.g., in case of printers the first one to be entered is the first to be processed.</a:t>
            </a:r>
          </a:p>
          <a:p>
            <a:pPr marL="265113" indent="-265113" algn="just">
              <a:buClr>
                <a:schemeClr val="accent6"/>
              </a:buClr>
              <a:buFont typeface="Wingdings 3" panose="05040102010807070707" pitchFamily="18" charset="2"/>
              <a:buChar char=""/>
            </a:pPr>
            <a:r>
              <a:rPr lang="en-IN" sz="2400" dirty="0"/>
              <a:t>When </a:t>
            </a:r>
            <a:r>
              <a:rPr lang="en-IN" sz="2400" dirty="0">
                <a:solidFill>
                  <a:schemeClr val="accent6"/>
                </a:solidFill>
              </a:rPr>
              <a:t>data is transferred asynchronously</a:t>
            </a:r>
            <a:r>
              <a:rPr lang="en-IN" sz="2400" dirty="0"/>
              <a:t> (data not necessarily received at same rate as sent) between two processes. Examples include IO Buffers, pipes, file IO, etc.</a:t>
            </a:r>
          </a:p>
          <a:p>
            <a:pPr marL="265113" indent="-265113" algn="just">
              <a:buClr>
                <a:schemeClr val="accent6"/>
              </a:buClr>
              <a:buFont typeface="Wingdings 3" panose="05040102010807070707" pitchFamily="18" charset="2"/>
              <a:buChar char=""/>
            </a:pPr>
            <a:r>
              <a:rPr lang="en-IN" sz="2400" dirty="0"/>
              <a:t>Queue is used in</a:t>
            </a:r>
            <a:r>
              <a:rPr lang="en-IN" sz="2400" dirty="0">
                <a:solidFill>
                  <a:schemeClr val="accent6"/>
                </a:solidFill>
              </a:rPr>
              <a:t> BFS (Breadth First Search) algorithm</a:t>
            </a:r>
            <a:r>
              <a:rPr lang="en-IN" sz="2400" dirty="0"/>
              <a:t>. It helps in traversing a tree or graph.</a:t>
            </a:r>
          </a:p>
          <a:p>
            <a:pPr marL="265113" indent="-265113" algn="just">
              <a:buClr>
                <a:schemeClr val="accent6"/>
              </a:buClr>
              <a:buFont typeface="Wingdings 3" panose="05040102010807070707" pitchFamily="18" charset="2"/>
              <a:buChar char=""/>
            </a:pPr>
            <a:r>
              <a:rPr lang="en-IN" sz="2400" dirty="0"/>
              <a:t>Queue is used in </a:t>
            </a:r>
            <a:r>
              <a:rPr lang="en-IN" sz="2400" dirty="0">
                <a:solidFill>
                  <a:schemeClr val="accent6"/>
                </a:solidFill>
              </a:rPr>
              <a:t>networking to handle congestion</a:t>
            </a:r>
            <a:r>
              <a:rPr lang="en-IN" sz="2400" dirty="0"/>
              <a:t>.</a:t>
            </a:r>
            <a:endParaRPr lang="en-US" sz="2400" dirty="0"/>
          </a:p>
        </p:txBody>
      </p:sp>
    </p:spTree>
    <p:extLst>
      <p:ext uri="{BB962C8B-B14F-4D97-AF65-F5344CB8AC3E}">
        <p14:creationId xmlns:p14="http://schemas.microsoft.com/office/powerpoint/2010/main" val="860861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6ED680-ECDA-2C59-AF2D-3A5BD1081CCA}"/>
              </a:ext>
            </a:extLst>
          </p:cNvPr>
          <p:cNvSpPr>
            <a:spLocks noGrp="1"/>
          </p:cNvSpPr>
          <p:nvPr>
            <p:ph type="title"/>
          </p:nvPr>
        </p:nvSpPr>
        <p:spPr/>
        <p:txBody>
          <a:bodyPr/>
          <a:lstStyle/>
          <a:p>
            <a:r>
              <a:rPr lang="en-US" dirty="0"/>
              <a:t>Queue - Operations</a:t>
            </a:r>
          </a:p>
        </p:txBody>
      </p:sp>
      <p:sp>
        <p:nvSpPr>
          <p:cNvPr id="5" name="Text Placeholder 4">
            <a:extLst>
              <a:ext uri="{FF2B5EF4-FFF2-40B4-BE49-F238E27FC236}">
                <a16:creationId xmlns:a16="http://schemas.microsoft.com/office/drawing/2014/main" id="{FB5B7375-27ED-AEFF-9C20-9AC5FE685928}"/>
              </a:ext>
            </a:extLst>
          </p:cNvPr>
          <p:cNvSpPr>
            <a:spLocks noGrp="1"/>
          </p:cNvSpPr>
          <p:nvPr>
            <p:ph type="body" idx="1"/>
          </p:nvPr>
        </p:nvSpPr>
        <p:spPr/>
        <p:txBody>
          <a:bodyPr/>
          <a:lstStyle/>
          <a:p>
            <a:r>
              <a:rPr lang="en-US" dirty="0">
                <a:solidFill>
                  <a:srgbClr val="0070C0"/>
                </a:solidFill>
              </a:rPr>
              <a:t>Enqueue</a:t>
            </a:r>
          </a:p>
          <a:p>
            <a:r>
              <a:rPr lang="en-US" dirty="0" err="1">
                <a:solidFill>
                  <a:srgbClr val="0070C0"/>
                </a:solidFill>
              </a:rPr>
              <a:t>Deueue</a:t>
            </a:r>
            <a:endParaRPr lang="en-US" dirty="0">
              <a:solidFill>
                <a:srgbClr val="0070C0"/>
              </a:solidFill>
            </a:endParaRPr>
          </a:p>
          <a:p>
            <a:endParaRPr lang="en-US" dirty="0"/>
          </a:p>
        </p:txBody>
      </p:sp>
    </p:spTree>
    <p:extLst>
      <p:ext uri="{BB962C8B-B14F-4D97-AF65-F5344CB8AC3E}">
        <p14:creationId xmlns:p14="http://schemas.microsoft.com/office/powerpoint/2010/main" val="34653112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Procedure: </a:t>
            </a:r>
            <a:r>
              <a:rPr lang="en-IN" dirty="0" err="1"/>
              <a:t>Enqueue</a:t>
            </a:r>
            <a:r>
              <a:rPr lang="en-IN" dirty="0"/>
              <a:t> (Q, F, R, N,Y)</a:t>
            </a:r>
            <a:endParaRPr lang="en-US" dirty="0"/>
          </a:p>
        </p:txBody>
      </p:sp>
      <p:sp>
        <p:nvSpPr>
          <p:cNvPr id="3" name="Content Placeholder 2"/>
          <p:cNvSpPr>
            <a:spLocks noGrp="1"/>
          </p:cNvSpPr>
          <p:nvPr>
            <p:ph idx="1"/>
          </p:nvPr>
        </p:nvSpPr>
        <p:spPr/>
        <p:txBody>
          <a:bodyPr/>
          <a:lstStyle/>
          <a:p>
            <a:r>
              <a:rPr lang="en-IN" dirty="0"/>
              <a:t>This procedure inserts </a:t>
            </a:r>
            <a:r>
              <a:rPr lang="en-IN" b="1" dirty="0">
                <a:solidFill>
                  <a:srgbClr val="C00000"/>
                </a:solidFill>
              </a:rPr>
              <a:t>Y</a:t>
            </a:r>
            <a:r>
              <a:rPr lang="en-IN" dirty="0"/>
              <a:t> at rear end of Queue.</a:t>
            </a:r>
          </a:p>
          <a:p>
            <a:r>
              <a:rPr lang="en-IN" b="1" dirty="0">
                <a:solidFill>
                  <a:srgbClr val="C00000"/>
                </a:solidFill>
              </a:rPr>
              <a:t>Queue</a:t>
            </a:r>
            <a:r>
              <a:rPr lang="en-IN" dirty="0">
                <a:solidFill>
                  <a:srgbClr val="C00000"/>
                </a:solidFill>
              </a:rPr>
              <a:t> </a:t>
            </a:r>
            <a:r>
              <a:rPr lang="en-IN" dirty="0"/>
              <a:t>is represented by a vector </a:t>
            </a:r>
            <a:r>
              <a:rPr lang="en-IN" b="1" dirty="0">
                <a:solidFill>
                  <a:srgbClr val="C00000"/>
                </a:solidFill>
              </a:rPr>
              <a:t>Q</a:t>
            </a:r>
            <a:r>
              <a:rPr lang="en-IN" dirty="0"/>
              <a:t> containing </a:t>
            </a:r>
            <a:r>
              <a:rPr lang="en-IN" b="1" dirty="0">
                <a:solidFill>
                  <a:srgbClr val="C00000"/>
                </a:solidFill>
              </a:rPr>
              <a:t>N</a:t>
            </a:r>
            <a:r>
              <a:rPr lang="en-IN" dirty="0"/>
              <a:t> elements.</a:t>
            </a:r>
          </a:p>
          <a:p>
            <a:r>
              <a:rPr lang="en-IN" b="1" dirty="0">
                <a:solidFill>
                  <a:srgbClr val="C00000"/>
                </a:solidFill>
              </a:rPr>
              <a:t>F</a:t>
            </a:r>
            <a:r>
              <a:rPr lang="en-IN" dirty="0"/>
              <a:t> is pointer to the front element of a queue.</a:t>
            </a:r>
          </a:p>
          <a:p>
            <a:r>
              <a:rPr lang="en-IN" b="1" dirty="0">
                <a:solidFill>
                  <a:srgbClr val="C00000"/>
                </a:solidFill>
              </a:rPr>
              <a:t>R</a:t>
            </a:r>
            <a:r>
              <a:rPr lang="en-IN" dirty="0">
                <a:solidFill>
                  <a:srgbClr val="C00000"/>
                </a:solidFill>
              </a:rPr>
              <a:t> </a:t>
            </a:r>
            <a:r>
              <a:rPr lang="en-IN" dirty="0"/>
              <a:t>is pointer to the rear element of a queue.</a:t>
            </a:r>
          </a:p>
          <a:p>
            <a:endParaRPr lang="en-IN" dirty="0"/>
          </a:p>
          <a:p>
            <a:endParaRPr lang="en-US" dirty="0"/>
          </a:p>
        </p:txBody>
      </p:sp>
      <p:sp>
        <p:nvSpPr>
          <p:cNvPr id="4" name="TextBox 3"/>
          <p:cNvSpPr txBox="1"/>
          <p:nvPr/>
        </p:nvSpPr>
        <p:spPr>
          <a:xfrm>
            <a:off x="381000" y="3005266"/>
            <a:ext cx="5715000" cy="3600986"/>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[Check for Queue Overflow]</a:t>
            </a:r>
          </a:p>
          <a:p>
            <a:r>
              <a:rPr lang="en-IN" sz="2400"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If</a:t>
            </a:r>
            <a:r>
              <a:rPr lang="en-IN" b="1" dirty="0">
                <a:latin typeface="Consolas" pitchFamily="49" charset="0"/>
                <a:cs typeface="Consolas" pitchFamily="49" charset="0"/>
              </a:rPr>
              <a:t> 	</a:t>
            </a:r>
            <a:r>
              <a:rPr lang="en-IN" dirty="0">
                <a:latin typeface="Consolas" pitchFamily="49" charset="0"/>
                <a:cs typeface="Consolas" pitchFamily="49" charset="0"/>
              </a:rPr>
              <a:t>R &gt;= N-1</a:t>
            </a:r>
          </a:p>
          <a:p>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b="1" dirty="0">
                <a:latin typeface="Consolas" pitchFamily="49" charset="0"/>
                <a:cs typeface="Consolas" pitchFamily="49" charset="0"/>
              </a:rPr>
              <a:t> 	</a:t>
            </a:r>
            <a:r>
              <a:rPr lang="en-IN" dirty="0">
                <a:latin typeface="Consolas" pitchFamily="49" charset="0"/>
                <a:cs typeface="Consolas" pitchFamily="49" charset="0"/>
              </a:rPr>
              <a:t>write (‘Queue Overflow’)</a:t>
            </a:r>
          </a:p>
          <a:p>
            <a:r>
              <a:rPr lang="en-IN" b="1" dirty="0">
                <a:latin typeface="Consolas" pitchFamily="49" charset="0"/>
                <a:cs typeface="Consolas" pitchFamily="49" charset="0"/>
              </a:rPr>
              <a:t>		</a:t>
            </a:r>
            <a:r>
              <a:rPr lang="en-IN" dirty="0">
                <a:latin typeface="Consolas" pitchFamily="49" charset="0"/>
                <a:cs typeface="Consolas" pitchFamily="49" charset="0"/>
              </a:rPr>
              <a:t>Return</a:t>
            </a:r>
          </a:p>
          <a:p>
            <a:r>
              <a:rPr lang="en-IN" sz="2000" b="1" dirty="0">
                <a:solidFill>
                  <a:schemeClr val="tx2"/>
                </a:solidFill>
                <a:latin typeface="Consolas" pitchFamily="49" charset="0"/>
                <a:cs typeface="Consolas" pitchFamily="49" charset="0"/>
              </a:rPr>
              <a:t>2. [Increment REAR pointer]</a:t>
            </a:r>
          </a:p>
          <a:p>
            <a:r>
              <a:rPr lang="en-IN" dirty="0">
                <a:latin typeface="Consolas" pitchFamily="49" charset="0"/>
                <a:cs typeface="Consolas" pitchFamily="49" charset="0"/>
              </a:rPr>
              <a:t>	R </a:t>
            </a:r>
            <a:r>
              <a:rPr lang="en-IN" dirty="0">
                <a:latin typeface="Consolas" pitchFamily="49" charset="0"/>
                <a:cs typeface="Consolas" pitchFamily="49" charset="0"/>
                <a:sym typeface="Wingdings" pitchFamily="2" charset="2"/>
              </a:rPr>
              <a:t></a:t>
            </a:r>
            <a:r>
              <a:rPr lang="en-IN" dirty="0">
                <a:latin typeface="Consolas" pitchFamily="49" charset="0"/>
                <a:cs typeface="Consolas" pitchFamily="49" charset="0"/>
              </a:rPr>
              <a:t> R + 1</a:t>
            </a:r>
          </a:p>
          <a:p>
            <a:r>
              <a:rPr lang="en-IN" sz="2000" b="1" dirty="0">
                <a:solidFill>
                  <a:schemeClr val="tx2"/>
                </a:solidFill>
                <a:latin typeface="Consolas" pitchFamily="49" charset="0"/>
                <a:cs typeface="Consolas" pitchFamily="49" charset="0"/>
              </a:rPr>
              <a:t>3. [Insert element]</a:t>
            </a:r>
          </a:p>
          <a:p>
            <a:r>
              <a:rPr lang="en-IN" b="1" dirty="0">
                <a:latin typeface="Consolas" pitchFamily="49" charset="0"/>
                <a:cs typeface="Consolas" pitchFamily="49" charset="0"/>
              </a:rPr>
              <a:t>	</a:t>
            </a:r>
            <a:r>
              <a:rPr lang="en-IN" dirty="0">
                <a:latin typeface="Consolas" pitchFamily="49" charset="0"/>
                <a:cs typeface="Consolas" pitchFamily="49" charset="0"/>
              </a:rPr>
              <a:t>Q[R] </a:t>
            </a:r>
            <a:r>
              <a:rPr lang="en-IN" dirty="0">
                <a:latin typeface="Consolas" pitchFamily="49" charset="0"/>
                <a:cs typeface="Consolas" pitchFamily="49" charset="0"/>
                <a:sym typeface="Wingdings" pitchFamily="2" charset="2"/>
              </a:rPr>
              <a:t></a:t>
            </a:r>
            <a:r>
              <a:rPr lang="en-IN" dirty="0">
                <a:latin typeface="Consolas" pitchFamily="49" charset="0"/>
                <a:cs typeface="Consolas" pitchFamily="49" charset="0"/>
              </a:rPr>
              <a:t> Y</a:t>
            </a:r>
          </a:p>
          <a:p>
            <a:r>
              <a:rPr lang="en-IN" sz="2000" b="1" dirty="0">
                <a:solidFill>
                  <a:schemeClr val="tx2"/>
                </a:solidFill>
                <a:latin typeface="Consolas" pitchFamily="49" charset="0"/>
                <a:cs typeface="Consolas" pitchFamily="49" charset="0"/>
              </a:rPr>
              <a:t>4. [Is front pointer properly set?]</a:t>
            </a:r>
          </a:p>
          <a:p>
            <a:r>
              <a:rPr lang="en-IN" dirty="0">
                <a:latin typeface="Consolas" pitchFamily="49" charset="0"/>
                <a:cs typeface="Consolas" pitchFamily="49" charset="0"/>
              </a:rPr>
              <a:t>      </a:t>
            </a:r>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IF</a:t>
            </a:r>
            <a:r>
              <a:rPr lang="en-IN" b="1" dirty="0">
                <a:latin typeface="Consolas" pitchFamily="49" charset="0"/>
                <a:cs typeface="Consolas" pitchFamily="49" charset="0"/>
              </a:rPr>
              <a:t> 	</a:t>
            </a:r>
            <a:r>
              <a:rPr lang="en-IN" dirty="0">
                <a:latin typeface="Consolas" pitchFamily="49" charset="0"/>
                <a:cs typeface="Consolas" pitchFamily="49" charset="0"/>
              </a:rPr>
              <a:t>F = -1</a:t>
            </a:r>
          </a:p>
          <a:p>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b="1" dirty="0">
                <a:latin typeface="Consolas" pitchFamily="49" charset="0"/>
                <a:cs typeface="Consolas" pitchFamily="49" charset="0"/>
              </a:rPr>
              <a:t>	</a:t>
            </a:r>
            <a:r>
              <a:rPr lang="en-IN" dirty="0">
                <a:latin typeface="Consolas" pitchFamily="49" charset="0"/>
                <a:cs typeface="Consolas" pitchFamily="49" charset="0"/>
              </a:rPr>
              <a:t>F </a:t>
            </a:r>
            <a:r>
              <a:rPr lang="en-IN" dirty="0">
                <a:latin typeface="Consolas" pitchFamily="49" charset="0"/>
                <a:cs typeface="Consolas" pitchFamily="49" charset="0"/>
                <a:sym typeface="Wingdings" pitchFamily="2" charset="2"/>
              </a:rPr>
              <a:t></a:t>
            </a:r>
            <a:r>
              <a:rPr lang="en-IN" dirty="0">
                <a:latin typeface="Consolas" pitchFamily="49" charset="0"/>
                <a:cs typeface="Consolas" pitchFamily="49" charset="0"/>
              </a:rPr>
              <a:t> 0</a:t>
            </a:r>
          </a:p>
          <a:p>
            <a:r>
              <a:rPr lang="en-IN" b="1" dirty="0">
                <a:latin typeface="Consolas" pitchFamily="49" charset="0"/>
                <a:cs typeface="Consolas" pitchFamily="49" charset="0"/>
              </a:rPr>
              <a:t>       </a:t>
            </a:r>
            <a:r>
              <a:rPr lang="en-IN" dirty="0">
                <a:latin typeface="Consolas" pitchFamily="49" charset="0"/>
                <a:cs typeface="Consolas" pitchFamily="49" charset="0"/>
              </a:rPr>
              <a:t>Return</a:t>
            </a:r>
          </a:p>
        </p:txBody>
      </p:sp>
      <p:grpSp>
        <p:nvGrpSpPr>
          <p:cNvPr id="5" name="Group 4"/>
          <p:cNvGrpSpPr/>
          <p:nvPr/>
        </p:nvGrpSpPr>
        <p:grpSpPr>
          <a:xfrm>
            <a:off x="8928879" y="1716255"/>
            <a:ext cx="1600200" cy="533400"/>
            <a:chOff x="2286000" y="5486400"/>
            <a:chExt cx="4081670" cy="533400"/>
          </a:xfrm>
        </p:grpSpPr>
        <p:cxnSp>
          <p:nvCxnSpPr>
            <p:cNvPr id="6" name="Straight Connector 5"/>
            <p:cNvCxnSpPr/>
            <p:nvPr/>
          </p:nvCxnSpPr>
          <p:spPr>
            <a:xfrm>
              <a:off x="2286000" y="5486400"/>
              <a:ext cx="408167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2286000" y="6019800"/>
              <a:ext cx="4081670" cy="0"/>
            </a:xfrm>
            <a:prstGeom prst="line">
              <a:avLst/>
            </a:prstGeom>
          </p:spPr>
          <p:style>
            <a:lnRef idx="2">
              <a:schemeClr val="accent1"/>
            </a:lnRef>
            <a:fillRef idx="0">
              <a:schemeClr val="accent1"/>
            </a:fillRef>
            <a:effectRef idx="1">
              <a:schemeClr val="accent1"/>
            </a:effectRef>
            <a:fontRef idx="minor">
              <a:schemeClr val="tx1"/>
            </a:fontRef>
          </p:style>
        </p:cxnSp>
      </p:grpSp>
      <p:sp>
        <p:nvSpPr>
          <p:cNvPr id="8" name="Rectangle 7"/>
          <p:cNvSpPr/>
          <p:nvPr/>
        </p:nvSpPr>
        <p:spPr>
          <a:xfrm>
            <a:off x="8909140" y="1716255"/>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5</a:t>
            </a:r>
            <a:endParaRPr lang="en-US" b="1" dirty="0"/>
          </a:p>
        </p:txBody>
      </p:sp>
      <p:sp>
        <p:nvSpPr>
          <p:cNvPr id="9" name="TextBox 8"/>
          <p:cNvSpPr txBox="1"/>
          <p:nvPr/>
        </p:nvSpPr>
        <p:spPr>
          <a:xfrm>
            <a:off x="6378599" y="3005266"/>
            <a:ext cx="2209800"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IN" sz="2400" b="1" dirty="0"/>
              <a:t>N=3, R=-1, F=-1</a:t>
            </a:r>
            <a:endParaRPr lang="en-US" sz="2400" b="1" dirty="0"/>
          </a:p>
        </p:txBody>
      </p:sp>
      <p:sp>
        <p:nvSpPr>
          <p:cNvPr id="10" name="TextBox 9"/>
          <p:cNvSpPr txBox="1"/>
          <p:nvPr/>
        </p:nvSpPr>
        <p:spPr>
          <a:xfrm>
            <a:off x="6383082" y="3614865"/>
            <a:ext cx="685800" cy="400110"/>
          </a:xfrm>
          <a:prstGeom prst="rect">
            <a:avLst/>
          </a:prstGeom>
          <a:noFill/>
        </p:spPr>
        <p:txBody>
          <a:bodyPr wrap="square" rtlCol="0">
            <a:spAutoFit/>
          </a:bodyPr>
          <a:lstStyle/>
          <a:p>
            <a:r>
              <a:rPr lang="en-IN" sz="2000" b="1" dirty="0"/>
              <a:t>F =</a:t>
            </a:r>
            <a:endParaRPr lang="en-US" sz="2000" b="1" dirty="0"/>
          </a:p>
        </p:txBody>
      </p:sp>
      <p:sp>
        <p:nvSpPr>
          <p:cNvPr id="11" name="TextBox 10"/>
          <p:cNvSpPr txBox="1"/>
          <p:nvPr/>
        </p:nvSpPr>
        <p:spPr>
          <a:xfrm>
            <a:off x="6383082" y="3976755"/>
            <a:ext cx="685800" cy="400110"/>
          </a:xfrm>
          <a:prstGeom prst="rect">
            <a:avLst/>
          </a:prstGeom>
          <a:noFill/>
        </p:spPr>
        <p:txBody>
          <a:bodyPr wrap="square" rtlCol="0">
            <a:spAutoFit/>
          </a:bodyPr>
          <a:lstStyle/>
          <a:p>
            <a:r>
              <a:rPr lang="en-IN" sz="2000" b="1" dirty="0"/>
              <a:t>R =</a:t>
            </a:r>
            <a:endParaRPr lang="en-US" sz="2000" b="1" dirty="0"/>
          </a:p>
        </p:txBody>
      </p:sp>
      <p:sp>
        <p:nvSpPr>
          <p:cNvPr id="12" name="TextBox 11"/>
          <p:cNvSpPr txBox="1"/>
          <p:nvPr/>
        </p:nvSpPr>
        <p:spPr>
          <a:xfrm>
            <a:off x="6882227" y="3614865"/>
            <a:ext cx="487788" cy="400110"/>
          </a:xfrm>
          <a:prstGeom prst="rect">
            <a:avLst/>
          </a:prstGeom>
          <a:noFill/>
        </p:spPr>
        <p:txBody>
          <a:bodyPr wrap="square" rtlCol="0">
            <a:spAutoFit/>
          </a:bodyPr>
          <a:lstStyle/>
          <a:p>
            <a:r>
              <a:rPr lang="en-US" sz="2000" b="1" dirty="0"/>
              <a:t>-1</a:t>
            </a:r>
          </a:p>
        </p:txBody>
      </p:sp>
      <p:sp>
        <p:nvSpPr>
          <p:cNvPr id="13" name="TextBox 12"/>
          <p:cNvSpPr txBox="1"/>
          <p:nvPr/>
        </p:nvSpPr>
        <p:spPr>
          <a:xfrm>
            <a:off x="6879772" y="3976755"/>
            <a:ext cx="547013" cy="400110"/>
          </a:xfrm>
          <a:prstGeom prst="rect">
            <a:avLst/>
          </a:prstGeom>
          <a:noFill/>
        </p:spPr>
        <p:txBody>
          <a:bodyPr wrap="square" rtlCol="0">
            <a:spAutoFit/>
          </a:bodyPr>
          <a:lstStyle/>
          <a:p>
            <a:r>
              <a:rPr lang="en-IN" sz="2000" b="1" dirty="0"/>
              <a:t>-1</a:t>
            </a:r>
            <a:endParaRPr lang="en-US" sz="2000" b="1" dirty="0"/>
          </a:p>
        </p:txBody>
      </p:sp>
      <p:sp>
        <p:nvSpPr>
          <p:cNvPr id="14" name="TextBox 13"/>
          <p:cNvSpPr txBox="1"/>
          <p:nvPr/>
        </p:nvSpPr>
        <p:spPr>
          <a:xfrm>
            <a:off x="6378599" y="4376865"/>
            <a:ext cx="2819400" cy="369332"/>
          </a:xfrm>
          <a:prstGeom prst="rect">
            <a:avLst/>
          </a:prstGeom>
          <a:noFill/>
        </p:spPr>
        <p:txBody>
          <a:bodyPr wrap="square" rtlCol="0">
            <a:spAutoFit/>
          </a:bodyPr>
          <a:lstStyle/>
          <a:p>
            <a:r>
              <a:rPr lang="en-IN" b="1" dirty="0" err="1"/>
              <a:t>Enqueue</a:t>
            </a:r>
            <a:r>
              <a:rPr lang="en-IN" b="1" dirty="0"/>
              <a:t> (Q, F, R, N=3,</a:t>
            </a:r>
            <a:r>
              <a:rPr lang="en-IN" b="1" dirty="0">
                <a:solidFill>
                  <a:srgbClr val="C00000"/>
                </a:solidFill>
              </a:rPr>
              <a:t>Y=5</a:t>
            </a:r>
            <a:r>
              <a:rPr lang="en-IN" b="1" dirty="0"/>
              <a:t>)</a:t>
            </a:r>
            <a:endParaRPr lang="en-US" b="1" dirty="0"/>
          </a:p>
        </p:txBody>
      </p:sp>
      <p:sp>
        <p:nvSpPr>
          <p:cNvPr id="15" name="TextBox 14"/>
          <p:cNvSpPr txBox="1"/>
          <p:nvPr/>
        </p:nvSpPr>
        <p:spPr>
          <a:xfrm>
            <a:off x="6946101" y="3970330"/>
            <a:ext cx="314510" cy="400110"/>
          </a:xfrm>
          <a:prstGeom prst="rect">
            <a:avLst/>
          </a:prstGeom>
          <a:noFill/>
        </p:spPr>
        <p:txBody>
          <a:bodyPr wrap="none" rtlCol="0">
            <a:spAutoFit/>
          </a:bodyPr>
          <a:lstStyle/>
          <a:p>
            <a:r>
              <a:rPr lang="en-IN" sz="2000" b="1" dirty="0"/>
              <a:t>0</a:t>
            </a:r>
            <a:endParaRPr lang="en-US" sz="2000" b="1" dirty="0"/>
          </a:p>
        </p:txBody>
      </p:sp>
      <p:grpSp>
        <p:nvGrpSpPr>
          <p:cNvPr id="16" name="Group 15"/>
          <p:cNvGrpSpPr/>
          <p:nvPr/>
        </p:nvGrpSpPr>
        <p:grpSpPr>
          <a:xfrm>
            <a:off x="9005078" y="988257"/>
            <a:ext cx="228600" cy="727999"/>
            <a:chOff x="762000" y="4606001"/>
            <a:chExt cx="228600" cy="727999"/>
          </a:xfrm>
        </p:grpSpPr>
        <p:sp>
          <p:nvSpPr>
            <p:cNvPr id="17" name="TextBox 16"/>
            <p:cNvSpPr txBox="1"/>
            <p:nvPr/>
          </p:nvSpPr>
          <p:spPr>
            <a:xfrm>
              <a:off x="762000" y="4606001"/>
              <a:ext cx="228600" cy="369332"/>
            </a:xfrm>
            <a:prstGeom prst="rect">
              <a:avLst/>
            </a:prstGeom>
            <a:noFill/>
          </p:spPr>
          <p:txBody>
            <a:bodyPr wrap="square" rtlCol="0">
              <a:spAutoFit/>
            </a:bodyPr>
            <a:lstStyle/>
            <a:p>
              <a:pPr algn="ctr"/>
              <a:r>
                <a:rPr lang="en-IN" b="1" dirty="0">
                  <a:solidFill>
                    <a:srgbClr val="C00000"/>
                  </a:solidFill>
                </a:rPr>
                <a:t>R</a:t>
              </a:r>
              <a:endParaRPr lang="en-US" b="1" dirty="0">
                <a:solidFill>
                  <a:srgbClr val="C00000"/>
                </a:solidFill>
              </a:endParaRPr>
            </a:p>
          </p:txBody>
        </p:sp>
        <p:cxnSp>
          <p:nvCxnSpPr>
            <p:cNvPr id="18" name="Straight Arrow Connector 17"/>
            <p:cNvCxnSpPr>
              <a:stCxn id="17" idx="2"/>
            </p:cNvCxnSpPr>
            <p:nvPr/>
          </p:nvCxnSpPr>
          <p:spPr>
            <a:xfrm>
              <a:off x="876300" y="4975333"/>
              <a:ext cx="0" cy="358667"/>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grpSp>
      <p:sp>
        <p:nvSpPr>
          <p:cNvPr id="19" name="TextBox 18"/>
          <p:cNvSpPr txBox="1"/>
          <p:nvPr/>
        </p:nvSpPr>
        <p:spPr>
          <a:xfrm>
            <a:off x="6378599" y="4706100"/>
            <a:ext cx="2819400" cy="369332"/>
          </a:xfrm>
          <a:prstGeom prst="rect">
            <a:avLst/>
          </a:prstGeom>
          <a:noFill/>
        </p:spPr>
        <p:txBody>
          <a:bodyPr wrap="square" rtlCol="0">
            <a:spAutoFit/>
          </a:bodyPr>
          <a:lstStyle/>
          <a:p>
            <a:r>
              <a:rPr lang="en-IN" b="1" dirty="0" err="1"/>
              <a:t>Enqueue</a:t>
            </a:r>
            <a:r>
              <a:rPr lang="en-IN" b="1" dirty="0"/>
              <a:t> (Q, F, R, N=3,</a:t>
            </a:r>
            <a:r>
              <a:rPr lang="en-IN" b="1" dirty="0">
                <a:solidFill>
                  <a:srgbClr val="C00000"/>
                </a:solidFill>
              </a:rPr>
              <a:t>Y=20</a:t>
            </a:r>
            <a:r>
              <a:rPr lang="en-IN" b="1" dirty="0"/>
              <a:t>)</a:t>
            </a:r>
            <a:endParaRPr lang="en-US" b="1" dirty="0"/>
          </a:p>
        </p:txBody>
      </p:sp>
      <p:sp>
        <p:nvSpPr>
          <p:cNvPr id="20" name="TextBox 19"/>
          <p:cNvSpPr txBox="1"/>
          <p:nvPr/>
        </p:nvSpPr>
        <p:spPr>
          <a:xfrm>
            <a:off x="6946101" y="3969395"/>
            <a:ext cx="314510" cy="400110"/>
          </a:xfrm>
          <a:prstGeom prst="rect">
            <a:avLst/>
          </a:prstGeom>
          <a:noFill/>
        </p:spPr>
        <p:txBody>
          <a:bodyPr wrap="none" rtlCol="0">
            <a:spAutoFit/>
          </a:bodyPr>
          <a:lstStyle/>
          <a:p>
            <a:r>
              <a:rPr lang="en-IN" sz="2000" b="1" dirty="0">
                <a:solidFill>
                  <a:schemeClr val="accent4">
                    <a:lumMod val="50000"/>
                  </a:schemeClr>
                </a:solidFill>
              </a:rPr>
              <a:t>1</a:t>
            </a:r>
            <a:endParaRPr lang="en-US" sz="2000" b="1" dirty="0">
              <a:solidFill>
                <a:schemeClr val="accent4">
                  <a:lumMod val="50000"/>
                </a:schemeClr>
              </a:solidFill>
            </a:endParaRPr>
          </a:p>
        </p:txBody>
      </p:sp>
      <p:sp>
        <p:nvSpPr>
          <p:cNvPr id="21" name="Rectangle 20"/>
          <p:cNvSpPr/>
          <p:nvPr/>
        </p:nvSpPr>
        <p:spPr>
          <a:xfrm>
            <a:off x="9451261" y="1714417"/>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20</a:t>
            </a:r>
            <a:endParaRPr lang="en-US" b="1" dirty="0"/>
          </a:p>
        </p:txBody>
      </p:sp>
      <p:sp>
        <p:nvSpPr>
          <p:cNvPr id="22" name="TextBox 21"/>
          <p:cNvSpPr txBox="1"/>
          <p:nvPr/>
        </p:nvSpPr>
        <p:spPr>
          <a:xfrm>
            <a:off x="6378599" y="5035335"/>
            <a:ext cx="2819400" cy="369332"/>
          </a:xfrm>
          <a:prstGeom prst="rect">
            <a:avLst/>
          </a:prstGeom>
          <a:noFill/>
        </p:spPr>
        <p:txBody>
          <a:bodyPr wrap="square" rtlCol="0">
            <a:spAutoFit/>
          </a:bodyPr>
          <a:lstStyle/>
          <a:p>
            <a:r>
              <a:rPr lang="en-IN" b="1" dirty="0" err="1"/>
              <a:t>Enqueue</a:t>
            </a:r>
            <a:r>
              <a:rPr lang="en-IN" b="1" dirty="0"/>
              <a:t> (Q, F, R, N=3,</a:t>
            </a:r>
            <a:r>
              <a:rPr lang="en-IN" b="1" dirty="0">
                <a:solidFill>
                  <a:srgbClr val="C00000"/>
                </a:solidFill>
              </a:rPr>
              <a:t>Y=80</a:t>
            </a:r>
            <a:r>
              <a:rPr lang="en-IN" b="1" dirty="0"/>
              <a:t>)</a:t>
            </a:r>
            <a:endParaRPr lang="en-US" b="1" dirty="0"/>
          </a:p>
        </p:txBody>
      </p:sp>
      <p:sp>
        <p:nvSpPr>
          <p:cNvPr id="23" name="TextBox 22"/>
          <p:cNvSpPr txBox="1"/>
          <p:nvPr/>
        </p:nvSpPr>
        <p:spPr>
          <a:xfrm>
            <a:off x="6948556" y="3950641"/>
            <a:ext cx="314510" cy="400110"/>
          </a:xfrm>
          <a:prstGeom prst="rect">
            <a:avLst/>
          </a:prstGeom>
          <a:noFill/>
        </p:spPr>
        <p:txBody>
          <a:bodyPr wrap="none" rtlCol="0">
            <a:spAutoFit/>
          </a:bodyPr>
          <a:lstStyle/>
          <a:p>
            <a:r>
              <a:rPr lang="en-US" sz="2000" b="1" dirty="0">
                <a:solidFill>
                  <a:schemeClr val="accent2">
                    <a:lumMod val="50000"/>
                  </a:schemeClr>
                </a:solidFill>
              </a:rPr>
              <a:t>2</a:t>
            </a:r>
          </a:p>
        </p:txBody>
      </p:sp>
      <p:sp>
        <p:nvSpPr>
          <p:cNvPr id="24" name="Rectangle 23"/>
          <p:cNvSpPr/>
          <p:nvPr/>
        </p:nvSpPr>
        <p:spPr>
          <a:xfrm>
            <a:off x="9994759" y="1716255"/>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80</a:t>
            </a:r>
            <a:endParaRPr lang="en-US" b="1" dirty="0"/>
          </a:p>
        </p:txBody>
      </p:sp>
      <p:sp>
        <p:nvSpPr>
          <p:cNvPr id="25" name="TextBox 24"/>
          <p:cNvSpPr txBox="1"/>
          <p:nvPr/>
        </p:nvSpPr>
        <p:spPr>
          <a:xfrm>
            <a:off x="6378599" y="5364570"/>
            <a:ext cx="2819400" cy="369332"/>
          </a:xfrm>
          <a:prstGeom prst="rect">
            <a:avLst/>
          </a:prstGeom>
          <a:noFill/>
        </p:spPr>
        <p:txBody>
          <a:bodyPr wrap="square" rtlCol="0">
            <a:spAutoFit/>
          </a:bodyPr>
          <a:lstStyle/>
          <a:p>
            <a:r>
              <a:rPr lang="en-IN" b="1" dirty="0" err="1"/>
              <a:t>Enqueue</a:t>
            </a:r>
            <a:r>
              <a:rPr lang="en-IN" b="1" dirty="0"/>
              <a:t> (Q, F, R, N=3,</a:t>
            </a:r>
            <a:r>
              <a:rPr lang="en-IN" b="1" dirty="0">
                <a:solidFill>
                  <a:srgbClr val="C00000"/>
                </a:solidFill>
              </a:rPr>
              <a:t>Y=3</a:t>
            </a:r>
            <a:r>
              <a:rPr lang="en-IN" b="1" dirty="0"/>
              <a:t>)</a:t>
            </a:r>
            <a:endParaRPr lang="en-US" b="1" dirty="0"/>
          </a:p>
        </p:txBody>
      </p:sp>
      <p:sp>
        <p:nvSpPr>
          <p:cNvPr id="26" name="TextBox 25"/>
          <p:cNvSpPr txBox="1"/>
          <p:nvPr/>
        </p:nvSpPr>
        <p:spPr>
          <a:xfrm>
            <a:off x="6378599" y="5693805"/>
            <a:ext cx="2819400" cy="369332"/>
          </a:xfrm>
          <a:prstGeom prst="rect">
            <a:avLst/>
          </a:prstGeom>
          <a:noFill/>
        </p:spPr>
        <p:txBody>
          <a:bodyPr wrap="square" rtlCol="0">
            <a:spAutoFit/>
          </a:bodyPr>
          <a:lstStyle/>
          <a:p>
            <a:r>
              <a:rPr lang="en-IN" b="1" dirty="0">
                <a:solidFill>
                  <a:srgbClr val="C00000"/>
                </a:solidFill>
              </a:rPr>
              <a:t>Queue Overflow (R &gt;= 2)</a:t>
            </a:r>
            <a:endParaRPr lang="en-US" b="1" dirty="0">
              <a:solidFill>
                <a:srgbClr val="C00000"/>
              </a:solidFill>
            </a:endParaRPr>
          </a:p>
        </p:txBody>
      </p:sp>
      <p:grpSp>
        <p:nvGrpSpPr>
          <p:cNvPr id="27" name="Group 26"/>
          <p:cNvGrpSpPr/>
          <p:nvPr/>
        </p:nvGrpSpPr>
        <p:grpSpPr>
          <a:xfrm>
            <a:off x="9060274" y="2249655"/>
            <a:ext cx="227571" cy="674132"/>
            <a:chOff x="817195" y="5867400"/>
            <a:chExt cx="227571" cy="674132"/>
          </a:xfrm>
        </p:grpSpPr>
        <p:sp>
          <p:nvSpPr>
            <p:cNvPr id="28" name="TextBox 27"/>
            <p:cNvSpPr txBox="1"/>
            <p:nvPr/>
          </p:nvSpPr>
          <p:spPr>
            <a:xfrm>
              <a:off x="817195" y="6172200"/>
              <a:ext cx="227571" cy="369332"/>
            </a:xfrm>
            <a:prstGeom prst="rect">
              <a:avLst/>
            </a:prstGeom>
            <a:noFill/>
          </p:spPr>
          <p:txBody>
            <a:bodyPr wrap="square" rtlCol="0">
              <a:spAutoFit/>
            </a:bodyPr>
            <a:lstStyle/>
            <a:p>
              <a:pPr algn="ctr"/>
              <a:r>
                <a:rPr lang="en-IN" b="1" dirty="0">
                  <a:solidFill>
                    <a:srgbClr val="C00000"/>
                  </a:solidFill>
                </a:rPr>
                <a:t>F</a:t>
              </a:r>
              <a:endParaRPr lang="en-US" b="1" dirty="0">
                <a:solidFill>
                  <a:srgbClr val="C00000"/>
                </a:solidFill>
              </a:endParaRPr>
            </a:p>
          </p:txBody>
        </p:sp>
        <p:cxnSp>
          <p:nvCxnSpPr>
            <p:cNvPr id="29" name="Straight Arrow Connector 28"/>
            <p:cNvCxnSpPr>
              <a:stCxn id="28" idx="0"/>
              <a:endCxn id="8" idx="2"/>
            </p:cNvCxnSpPr>
            <p:nvPr/>
          </p:nvCxnSpPr>
          <p:spPr>
            <a:xfrm flipH="1" flipV="1">
              <a:off x="918693" y="5867400"/>
              <a:ext cx="12288" cy="304800"/>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grpSp>
      <p:sp>
        <p:nvSpPr>
          <p:cNvPr id="30" name="TextBox 29"/>
          <p:cNvSpPr txBox="1"/>
          <p:nvPr/>
        </p:nvSpPr>
        <p:spPr>
          <a:xfrm>
            <a:off x="6940012" y="3596111"/>
            <a:ext cx="314510" cy="400110"/>
          </a:xfrm>
          <a:prstGeom prst="rect">
            <a:avLst/>
          </a:prstGeom>
          <a:noFill/>
        </p:spPr>
        <p:txBody>
          <a:bodyPr wrap="square" rtlCol="0">
            <a:spAutoFit/>
          </a:bodyPr>
          <a:lstStyle/>
          <a:p>
            <a:r>
              <a:rPr lang="en-IN" sz="2000" b="1" dirty="0"/>
              <a:t>0</a:t>
            </a:r>
            <a:endParaRPr lang="en-US" sz="2000" b="1" dirty="0"/>
          </a:p>
        </p:txBody>
      </p:sp>
    </p:spTree>
    <p:extLst>
      <p:ext uri="{BB962C8B-B14F-4D97-AF65-F5344CB8AC3E}">
        <p14:creationId xmlns:p14="http://schemas.microsoft.com/office/powerpoint/2010/main" val="128103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9" end="9"/>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0"/>
                                        </p:tgtEl>
                                        <p:attrNameLst>
                                          <p:attrName>style.visibility</p:attrName>
                                        </p:attrNameLst>
                                      </p:cBhvr>
                                      <p:to>
                                        <p:strVal val="visible"/>
                                      </p:to>
                                    </p:set>
                                  </p:childTnLst>
                                </p:cTn>
                              </p:par>
                              <p:par>
                                <p:cTn id="73" presetID="10" presetClass="entr" presetSubtype="0" fill="hold" grpId="0" nodeType="with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500"/>
                                        <p:tgtEl>
                                          <p:spTgt spid="12"/>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11"/>
                                        </p:tgtEl>
                                        <p:attrNameLst>
                                          <p:attrName>style.visibility</p:attrName>
                                        </p:attrNameLst>
                                      </p:cBhvr>
                                      <p:to>
                                        <p:strVal val="visible"/>
                                      </p:to>
                                    </p:set>
                                  </p:childTnLst>
                                </p:cTn>
                              </p:par>
                              <p:par>
                                <p:cTn id="80" presetID="10" presetClass="entr" presetSubtype="0" fill="hold" grpId="0" nodeType="with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fade">
                                      <p:cBhvr>
                                        <p:cTn id="82" dur="500"/>
                                        <p:tgtEl>
                                          <p:spTgt spid="13"/>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22" presetClass="exit" presetSubtype="4" fill="hold" grpId="1" nodeType="clickEffect">
                                  <p:stCondLst>
                                    <p:cond delay="0"/>
                                  </p:stCondLst>
                                  <p:childTnLst>
                                    <p:animEffect transition="out" filter="wipe(down)">
                                      <p:cBhvr>
                                        <p:cTn id="94" dur="500"/>
                                        <p:tgtEl>
                                          <p:spTgt spid="13"/>
                                        </p:tgtEl>
                                      </p:cBhvr>
                                    </p:animEffect>
                                    <p:set>
                                      <p:cBhvr>
                                        <p:cTn id="95" dur="1" fill="hold">
                                          <p:stCondLst>
                                            <p:cond delay="499"/>
                                          </p:stCondLst>
                                        </p:cTn>
                                        <p:tgtEl>
                                          <p:spTgt spid="13"/>
                                        </p:tgtEl>
                                        <p:attrNameLst>
                                          <p:attrName>style.visibility</p:attrName>
                                        </p:attrNameLst>
                                      </p:cBhvr>
                                      <p:to>
                                        <p:strVal val="hidden"/>
                                      </p:to>
                                    </p:set>
                                  </p:childTnLst>
                                </p:cTn>
                              </p:par>
                              <p:par>
                                <p:cTn id="96" presetID="10" presetClass="entr" presetSubtype="0" fill="hold" grpId="0" nodeType="withEffect">
                                  <p:stCondLst>
                                    <p:cond delay="0"/>
                                  </p:stCondLst>
                                  <p:childTnLst>
                                    <p:set>
                                      <p:cBhvr>
                                        <p:cTn id="97" dur="1" fill="hold">
                                          <p:stCondLst>
                                            <p:cond delay="0"/>
                                          </p:stCondLst>
                                        </p:cTn>
                                        <p:tgtEl>
                                          <p:spTgt spid="15"/>
                                        </p:tgtEl>
                                        <p:attrNameLst>
                                          <p:attrName>style.visibility</p:attrName>
                                        </p:attrNameLst>
                                      </p:cBhvr>
                                      <p:to>
                                        <p:strVal val="visible"/>
                                      </p:to>
                                    </p:set>
                                    <p:animEffect transition="in" filter="fade">
                                      <p:cBhvr>
                                        <p:cTn id="98" dur="500"/>
                                        <p:tgtEl>
                                          <p:spTgt spid="15"/>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8"/>
                                        </p:tgtEl>
                                        <p:attrNameLst>
                                          <p:attrName>style.visibility</p:attrName>
                                        </p:attrNameLst>
                                      </p:cBhvr>
                                      <p:to>
                                        <p:strVal val="visible"/>
                                      </p:to>
                                    </p:set>
                                  </p:childTnLst>
                                </p:cTn>
                              </p:par>
                              <p:par>
                                <p:cTn id="107" presetID="63" presetClass="path" presetSubtype="0" accel="50000" decel="50000" fill="hold" grpId="1" nodeType="withEffect">
                                  <p:stCondLst>
                                    <p:cond delay="0"/>
                                  </p:stCondLst>
                                  <p:childTnLst>
                                    <p:animMotion origin="layout" path="M -4.16667E-6 -3.7037E-7 L 0.26849 -3.7037E-7 " pathEditMode="relative" rAng="0" ptsTypes="AA">
                                      <p:cBhvr>
                                        <p:cTn id="108" dur="2000" spd="-100000" fill="hold"/>
                                        <p:tgtEl>
                                          <p:spTgt spid="8"/>
                                        </p:tgtEl>
                                        <p:attrNameLst>
                                          <p:attrName>ppt_x</p:attrName>
                                          <p:attrName>ppt_y</p:attrName>
                                        </p:attrNameLst>
                                      </p:cBhvr>
                                      <p:rCtr x="13424" y="0"/>
                                    </p:animMotion>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grpId="1" nodeType="clickEffect">
                                  <p:stCondLst>
                                    <p:cond delay="0"/>
                                  </p:stCondLst>
                                  <p:childTnLst>
                                    <p:set>
                                      <p:cBhvr>
                                        <p:cTn id="112" dur="1" fill="hold">
                                          <p:stCondLst>
                                            <p:cond delay="0"/>
                                          </p:stCondLst>
                                        </p:cTn>
                                        <p:tgtEl>
                                          <p:spTgt spid="12"/>
                                        </p:tgtEl>
                                        <p:attrNameLst>
                                          <p:attrName>style.visibility</p:attrName>
                                        </p:attrNameLst>
                                      </p:cBhvr>
                                      <p:to>
                                        <p:strVal val="hidden"/>
                                      </p:to>
                                    </p:set>
                                  </p:childTnLst>
                                </p:cTn>
                              </p:par>
                              <p:par>
                                <p:cTn id="113" presetID="10" presetClass="entr" presetSubtype="0" fill="hold" grpId="0" nodeType="withEffect">
                                  <p:stCondLst>
                                    <p:cond delay="0"/>
                                  </p:stCondLst>
                                  <p:childTnLst>
                                    <p:set>
                                      <p:cBhvr>
                                        <p:cTn id="114" dur="1" fill="hold">
                                          <p:stCondLst>
                                            <p:cond delay="0"/>
                                          </p:stCondLst>
                                        </p:cTn>
                                        <p:tgtEl>
                                          <p:spTgt spid="30"/>
                                        </p:tgtEl>
                                        <p:attrNameLst>
                                          <p:attrName>style.visibility</p:attrName>
                                        </p:attrNameLst>
                                      </p:cBhvr>
                                      <p:to>
                                        <p:strVal val="visible"/>
                                      </p:to>
                                    </p:set>
                                    <p:animEffect transition="in" filter="fade">
                                      <p:cBhvr>
                                        <p:cTn id="115" dur="500"/>
                                        <p:tgtEl>
                                          <p:spTgt spid="30"/>
                                        </p:tgtEl>
                                      </p:cBhvr>
                                    </p:animEffec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27"/>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19"/>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20"/>
                                        </p:tgtEl>
                                        <p:attrNameLst>
                                          <p:attrName>style.visibility</p:attrName>
                                        </p:attrNameLst>
                                      </p:cBhvr>
                                      <p:to>
                                        <p:strVal val="visible"/>
                                      </p:to>
                                    </p:set>
                                    <p:animEffect transition="in" filter="fade">
                                      <p:cBhvr>
                                        <p:cTn id="128" dur="500"/>
                                        <p:tgtEl>
                                          <p:spTgt spid="20"/>
                                        </p:tgtEl>
                                      </p:cBhvr>
                                    </p:animEffect>
                                  </p:childTnLst>
                                </p:cTn>
                              </p:par>
                              <p:par>
                                <p:cTn id="129" presetID="1" presetClass="exit" presetSubtype="0" fill="hold" grpId="1" nodeType="withEffect">
                                  <p:stCondLst>
                                    <p:cond delay="0"/>
                                  </p:stCondLst>
                                  <p:childTnLst>
                                    <p:set>
                                      <p:cBhvr>
                                        <p:cTn id="130" dur="1" fill="hold">
                                          <p:stCondLst>
                                            <p:cond delay="0"/>
                                          </p:stCondLst>
                                        </p:cTn>
                                        <p:tgtEl>
                                          <p:spTgt spid="15"/>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63" presetClass="path" presetSubtype="0" accel="50000" decel="50000" fill="hold" nodeType="clickEffect">
                                  <p:stCondLst>
                                    <p:cond delay="0"/>
                                  </p:stCondLst>
                                  <p:childTnLst>
                                    <p:animMotion origin="layout" path="M 3.33333E-6 -2.22222E-6 L 0.04843 -2.22222E-6 " pathEditMode="relative" rAng="0" ptsTypes="AA">
                                      <p:cBhvr>
                                        <p:cTn id="134" dur="2000" fill="hold"/>
                                        <p:tgtEl>
                                          <p:spTgt spid="16"/>
                                        </p:tgtEl>
                                        <p:attrNameLst>
                                          <p:attrName>ppt_x</p:attrName>
                                          <p:attrName>ppt_y</p:attrName>
                                        </p:attrNameLst>
                                      </p:cBhvr>
                                      <p:rCtr x="2422" y="0"/>
                                    </p:animMotion>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21"/>
                                        </p:tgtEl>
                                        <p:attrNameLst>
                                          <p:attrName>style.visibility</p:attrName>
                                        </p:attrNameLst>
                                      </p:cBhvr>
                                      <p:to>
                                        <p:strVal val="visible"/>
                                      </p:to>
                                    </p:set>
                                  </p:childTnLst>
                                </p:cTn>
                              </p:par>
                              <p:par>
                                <p:cTn id="139" presetID="63" presetClass="path" presetSubtype="0" accel="50000" decel="50000" fill="hold" grpId="1" nodeType="withEffect">
                                  <p:stCondLst>
                                    <p:cond delay="0"/>
                                  </p:stCondLst>
                                  <p:childTnLst>
                                    <p:animMotion origin="layout" path="M 4.58333E-6 1.11111E-6 L 0.2263 1.11111E-6 " pathEditMode="relative" rAng="0" ptsTypes="AA">
                                      <p:cBhvr>
                                        <p:cTn id="140" dur="2000" spd="-100000" fill="hold"/>
                                        <p:tgtEl>
                                          <p:spTgt spid="21"/>
                                        </p:tgtEl>
                                        <p:attrNameLst>
                                          <p:attrName>ppt_x</p:attrName>
                                          <p:attrName>ppt_y</p:attrName>
                                        </p:attrNameLst>
                                      </p:cBhvr>
                                      <p:rCtr x="11315" y="0"/>
                                    </p:animMotion>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22"/>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0" presetClass="entr" presetSubtype="0" fill="hold" grpId="0" nodeType="clickEffect">
                                  <p:stCondLst>
                                    <p:cond delay="0"/>
                                  </p:stCondLst>
                                  <p:childTnLst>
                                    <p:set>
                                      <p:cBhvr>
                                        <p:cTn id="148" dur="1" fill="hold">
                                          <p:stCondLst>
                                            <p:cond delay="0"/>
                                          </p:stCondLst>
                                        </p:cTn>
                                        <p:tgtEl>
                                          <p:spTgt spid="23"/>
                                        </p:tgtEl>
                                        <p:attrNameLst>
                                          <p:attrName>style.visibility</p:attrName>
                                        </p:attrNameLst>
                                      </p:cBhvr>
                                      <p:to>
                                        <p:strVal val="visible"/>
                                      </p:to>
                                    </p:set>
                                    <p:animEffect transition="in" filter="fade">
                                      <p:cBhvr>
                                        <p:cTn id="149" dur="500"/>
                                        <p:tgtEl>
                                          <p:spTgt spid="23"/>
                                        </p:tgtEl>
                                      </p:cBhvr>
                                    </p:animEffect>
                                  </p:childTnLst>
                                </p:cTn>
                              </p:par>
                              <p:par>
                                <p:cTn id="150" presetID="1" presetClass="exit" presetSubtype="0" fill="hold" grpId="1" nodeType="withEffect">
                                  <p:stCondLst>
                                    <p:cond delay="0"/>
                                  </p:stCondLst>
                                  <p:childTnLst>
                                    <p:set>
                                      <p:cBhvr>
                                        <p:cTn id="151" dur="1" fill="hold">
                                          <p:stCondLst>
                                            <p:cond delay="0"/>
                                          </p:stCondLst>
                                        </p:cTn>
                                        <p:tgtEl>
                                          <p:spTgt spid="20"/>
                                        </p:tgtEl>
                                        <p:attrNameLst>
                                          <p:attrName>style.visibility</p:attrName>
                                        </p:attrNameLst>
                                      </p:cBhvr>
                                      <p:to>
                                        <p:strVal val="hidden"/>
                                      </p:to>
                                    </p:set>
                                  </p:childTnLst>
                                </p:cTn>
                              </p:par>
                            </p:childTnLst>
                          </p:cTn>
                        </p:par>
                      </p:childTnLst>
                    </p:cTn>
                  </p:par>
                  <p:par>
                    <p:cTn id="152" fill="hold">
                      <p:stCondLst>
                        <p:cond delay="indefinite"/>
                      </p:stCondLst>
                      <p:childTnLst>
                        <p:par>
                          <p:cTn id="153" fill="hold">
                            <p:stCondLst>
                              <p:cond delay="0"/>
                            </p:stCondLst>
                            <p:childTnLst>
                              <p:par>
                                <p:cTn id="154" presetID="63" presetClass="path" presetSubtype="0" accel="50000" decel="50000" fill="hold" nodeType="clickEffect">
                                  <p:stCondLst>
                                    <p:cond delay="0"/>
                                  </p:stCondLst>
                                  <p:childTnLst>
                                    <p:animMotion origin="layout" path="M 0.04843 -2.22222E-6 L 0.09271 -2.22222E-6 " pathEditMode="relative" rAng="0" ptsTypes="AA">
                                      <p:cBhvr>
                                        <p:cTn id="155" dur="2000" fill="hold"/>
                                        <p:tgtEl>
                                          <p:spTgt spid="16"/>
                                        </p:tgtEl>
                                        <p:attrNameLst>
                                          <p:attrName>ppt_x</p:attrName>
                                          <p:attrName>ppt_y</p:attrName>
                                        </p:attrNameLst>
                                      </p:cBhvr>
                                      <p:rCtr x="2214" y="0"/>
                                    </p:animMotion>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24"/>
                                        </p:tgtEl>
                                        <p:attrNameLst>
                                          <p:attrName>style.visibility</p:attrName>
                                        </p:attrNameLst>
                                      </p:cBhvr>
                                      <p:to>
                                        <p:strVal val="visible"/>
                                      </p:to>
                                    </p:set>
                                  </p:childTnLst>
                                </p:cTn>
                              </p:par>
                              <p:par>
                                <p:cTn id="160" presetID="63" presetClass="path" presetSubtype="0" accel="50000" decel="50000" fill="hold" grpId="1" nodeType="withEffect">
                                  <p:stCondLst>
                                    <p:cond delay="0"/>
                                  </p:stCondLst>
                                  <p:childTnLst>
                                    <p:animMotion origin="layout" path="M 3.33333E-6 -3.7037E-7 L 0.1806 -3.7037E-7 " pathEditMode="relative" rAng="0" ptsTypes="AA">
                                      <p:cBhvr>
                                        <p:cTn id="161" dur="2000" spd="-100000" fill="hold"/>
                                        <p:tgtEl>
                                          <p:spTgt spid="24"/>
                                        </p:tgtEl>
                                        <p:attrNameLst>
                                          <p:attrName>ppt_x</p:attrName>
                                          <p:attrName>ppt_y</p:attrName>
                                        </p:attrNameLst>
                                      </p:cBhvr>
                                      <p:rCtr x="9023" y="0"/>
                                    </p:animMotion>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grpId="0" nodeType="clickEffect">
                                  <p:stCondLst>
                                    <p:cond delay="0"/>
                                  </p:stCondLst>
                                  <p:childTnLst>
                                    <p:set>
                                      <p:cBhvr>
                                        <p:cTn id="165" dur="1" fill="hold">
                                          <p:stCondLst>
                                            <p:cond delay="0"/>
                                          </p:stCondLst>
                                        </p:cTn>
                                        <p:tgtEl>
                                          <p:spTgt spid="25"/>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8" grpId="1" animBg="1"/>
      <p:bldP spid="9" grpId="0" animBg="1"/>
      <p:bldP spid="10" grpId="0"/>
      <p:bldP spid="11" grpId="0"/>
      <p:bldP spid="12" grpId="0"/>
      <p:bldP spid="12" grpId="1"/>
      <p:bldP spid="13" grpId="0"/>
      <p:bldP spid="13" grpId="1"/>
      <p:bldP spid="14" grpId="0"/>
      <p:bldP spid="15" grpId="0"/>
      <p:bldP spid="15" grpId="1"/>
      <p:bldP spid="19" grpId="0"/>
      <p:bldP spid="20" grpId="0"/>
      <p:bldP spid="20" grpId="1"/>
      <p:bldP spid="21" grpId="0" animBg="1"/>
      <p:bldP spid="21" grpId="1" animBg="1"/>
      <p:bldP spid="22" grpId="0"/>
      <p:bldP spid="23" grpId="0"/>
      <p:bldP spid="24" grpId="0" animBg="1"/>
      <p:bldP spid="24" grpId="1" animBg="1"/>
      <p:bldP spid="25" grpId="0"/>
      <p:bldP spid="26" grpId="0"/>
      <p:bldP spid="3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err="1"/>
              <a:t>Function</a:t>
            </a:r>
            <a:r>
              <a:rPr lang="fr-FR" dirty="0"/>
              <a:t>:  </a:t>
            </a:r>
            <a:r>
              <a:rPr lang="fr-FR" dirty="0" err="1"/>
              <a:t>Dequeue</a:t>
            </a:r>
            <a:r>
              <a:rPr lang="fr-FR" dirty="0"/>
              <a:t> (Q, F, R)</a:t>
            </a:r>
            <a:endParaRPr lang="en-US" dirty="0"/>
          </a:p>
        </p:txBody>
      </p:sp>
      <p:sp>
        <p:nvSpPr>
          <p:cNvPr id="3" name="Content Placeholder 2"/>
          <p:cNvSpPr>
            <a:spLocks noGrp="1"/>
          </p:cNvSpPr>
          <p:nvPr>
            <p:ph idx="1"/>
          </p:nvPr>
        </p:nvSpPr>
        <p:spPr/>
        <p:txBody>
          <a:bodyPr/>
          <a:lstStyle/>
          <a:p>
            <a:r>
              <a:rPr lang="en-IN" dirty="0"/>
              <a:t>This function </a:t>
            </a:r>
            <a:r>
              <a:rPr lang="en-IN" b="1" dirty="0">
                <a:solidFill>
                  <a:srgbClr val="C00000"/>
                </a:solidFill>
              </a:rPr>
              <a:t>deletes &amp; returns</a:t>
            </a:r>
            <a:r>
              <a:rPr lang="en-IN" b="1" dirty="0">
                <a:solidFill>
                  <a:srgbClr val="FF0000"/>
                </a:solidFill>
              </a:rPr>
              <a:t> </a:t>
            </a:r>
            <a:r>
              <a:rPr lang="en-IN" dirty="0"/>
              <a:t>an element </a:t>
            </a:r>
            <a:r>
              <a:rPr lang="en-IN" b="1" dirty="0">
                <a:solidFill>
                  <a:srgbClr val="C00000"/>
                </a:solidFill>
              </a:rPr>
              <a:t>from front end</a:t>
            </a:r>
            <a:r>
              <a:rPr lang="en-IN" b="1" dirty="0">
                <a:solidFill>
                  <a:srgbClr val="FF0000"/>
                </a:solidFill>
              </a:rPr>
              <a:t> </a:t>
            </a:r>
            <a:r>
              <a:rPr lang="en-IN" dirty="0"/>
              <a:t>of the Queue.</a:t>
            </a:r>
          </a:p>
          <a:p>
            <a:r>
              <a:rPr lang="en-IN" b="1" dirty="0">
                <a:solidFill>
                  <a:srgbClr val="C00000"/>
                </a:solidFill>
              </a:rPr>
              <a:t>Queue</a:t>
            </a:r>
            <a:r>
              <a:rPr lang="en-IN" dirty="0">
                <a:solidFill>
                  <a:srgbClr val="C00000"/>
                </a:solidFill>
              </a:rPr>
              <a:t> </a:t>
            </a:r>
            <a:r>
              <a:rPr lang="en-IN" dirty="0"/>
              <a:t>is represented by a vector </a:t>
            </a:r>
            <a:r>
              <a:rPr lang="en-IN" b="1" dirty="0">
                <a:solidFill>
                  <a:srgbClr val="C00000"/>
                </a:solidFill>
              </a:rPr>
              <a:t>Q</a:t>
            </a:r>
            <a:r>
              <a:rPr lang="en-IN" dirty="0"/>
              <a:t> containing </a:t>
            </a:r>
            <a:r>
              <a:rPr lang="en-IN" b="1" dirty="0">
                <a:solidFill>
                  <a:srgbClr val="C00000"/>
                </a:solidFill>
              </a:rPr>
              <a:t>N</a:t>
            </a:r>
            <a:r>
              <a:rPr lang="en-IN" dirty="0"/>
              <a:t> elements.</a:t>
            </a:r>
          </a:p>
          <a:p>
            <a:r>
              <a:rPr lang="en-IN" b="1" dirty="0">
                <a:solidFill>
                  <a:srgbClr val="C00000"/>
                </a:solidFill>
              </a:rPr>
              <a:t>F</a:t>
            </a:r>
            <a:r>
              <a:rPr lang="en-IN" dirty="0"/>
              <a:t> is pointer to the </a:t>
            </a:r>
            <a:r>
              <a:rPr lang="en-IN" b="1" dirty="0">
                <a:solidFill>
                  <a:srgbClr val="C00000"/>
                </a:solidFill>
              </a:rPr>
              <a:t>front</a:t>
            </a:r>
            <a:r>
              <a:rPr lang="en-IN" b="1" dirty="0">
                <a:solidFill>
                  <a:srgbClr val="FF0000"/>
                </a:solidFill>
              </a:rPr>
              <a:t> </a:t>
            </a:r>
            <a:r>
              <a:rPr lang="en-IN" dirty="0"/>
              <a:t>element of a queue.</a:t>
            </a:r>
          </a:p>
          <a:p>
            <a:r>
              <a:rPr lang="en-IN" b="1" dirty="0">
                <a:solidFill>
                  <a:srgbClr val="C00000"/>
                </a:solidFill>
              </a:rPr>
              <a:t>R</a:t>
            </a:r>
            <a:r>
              <a:rPr lang="en-IN" dirty="0"/>
              <a:t> is pointer to the </a:t>
            </a:r>
            <a:r>
              <a:rPr lang="en-IN" b="1" dirty="0">
                <a:solidFill>
                  <a:srgbClr val="C00000"/>
                </a:solidFill>
              </a:rPr>
              <a:t>rear</a:t>
            </a:r>
            <a:r>
              <a:rPr lang="en-IN" dirty="0">
                <a:solidFill>
                  <a:srgbClr val="FF0000"/>
                </a:solidFill>
              </a:rPr>
              <a:t> </a:t>
            </a:r>
            <a:r>
              <a:rPr lang="en-IN" dirty="0"/>
              <a:t>element of a queue.</a:t>
            </a:r>
            <a:endParaRPr lang="en-US" dirty="0"/>
          </a:p>
        </p:txBody>
      </p:sp>
      <p:sp>
        <p:nvSpPr>
          <p:cNvPr id="4" name="TextBox 3"/>
          <p:cNvSpPr txBox="1"/>
          <p:nvPr/>
        </p:nvSpPr>
        <p:spPr>
          <a:xfrm>
            <a:off x="461682" y="2687209"/>
            <a:ext cx="5428129" cy="3508653"/>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pPr marL="457200" indent="-457200">
              <a:buAutoNum type="arabicPeriod"/>
            </a:pPr>
            <a:r>
              <a:rPr lang="en-IN" sz="2000" b="1" dirty="0">
                <a:solidFill>
                  <a:schemeClr val="tx2"/>
                </a:solidFill>
                <a:latin typeface="Consolas" pitchFamily="49" charset="0"/>
                <a:cs typeface="Consolas" pitchFamily="49" charset="0"/>
              </a:rPr>
              <a:t>[Check for Queue Underflow]</a:t>
            </a:r>
          </a:p>
          <a:p>
            <a:pPr marL="538163"/>
            <a:r>
              <a:rPr lang="en-IN" b="1" dirty="0">
                <a:solidFill>
                  <a:schemeClr val="tx2">
                    <a:lumMod val="75000"/>
                  </a:schemeClr>
                </a:solidFill>
                <a:latin typeface="Consolas" pitchFamily="49" charset="0"/>
                <a:cs typeface="Consolas" pitchFamily="49" charset="0"/>
              </a:rPr>
              <a:t>If</a:t>
            </a:r>
            <a:r>
              <a:rPr lang="en-IN" dirty="0">
                <a:solidFill>
                  <a:schemeClr val="tx2">
                    <a:lumMod val="75000"/>
                  </a:schemeClr>
                </a:solidFill>
                <a:latin typeface="Consolas" pitchFamily="49" charset="0"/>
                <a:cs typeface="Consolas" pitchFamily="49" charset="0"/>
              </a:rPr>
              <a:t> </a:t>
            </a:r>
            <a:r>
              <a:rPr lang="en-IN" dirty="0">
                <a:latin typeface="Consolas" pitchFamily="49" charset="0"/>
                <a:cs typeface="Consolas" pitchFamily="49" charset="0"/>
              </a:rPr>
              <a:t>  F = -1</a:t>
            </a:r>
          </a:p>
          <a:p>
            <a:r>
              <a:rPr lang="en-IN"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dirty="0">
                <a:solidFill>
                  <a:schemeClr val="tx2">
                    <a:lumMod val="75000"/>
                  </a:schemeClr>
                </a:solidFill>
                <a:latin typeface="Consolas" pitchFamily="49" charset="0"/>
                <a:cs typeface="Consolas" pitchFamily="49" charset="0"/>
              </a:rPr>
              <a:t> </a:t>
            </a:r>
            <a:r>
              <a:rPr lang="en-IN" dirty="0">
                <a:latin typeface="Consolas" pitchFamily="49" charset="0"/>
                <a:cs typeface="Consolas" pitchFamily="49" charset="0"/>
              </a:rPr>
              <a:t>write (‘Queue Underflow’)</a:t>
            </a:r>
          </a:p>
          <a:p>
            <a:r>
              <a:rPr lang="en-IN" dirty="0">
                <a:latin typeface="Consolas" pitchFamily="49" charset="0"/>
                <a:cs typeface="Consolas" pitchFamily="49" charset="0"/>
              </a:rPr>
              <a:t>	  Return(-1)</a:t>
            </a:r>
          </a:p>
          <a:p>
            <a:r>
              <a:rPr lang="en-IN" sz="2000" b="1" dirty="0">
                <a:solidFill>
                  <a:schemeClr val="tx2"/>
                </a:solidFill>
                <a:latin typeface="Consolas" pitchFamily="49" charset="0"/>
                <a:cs typeface="Consolas" pitchFamily="49" charset="0"/>
              </a:rPr>
              <a:t>2. [Delete element]</a:t>
            </a:r>
          </a:p>
          <a:p>
            <a:r>
              <a:rPr lang="en-IN" dirty="0">
                <a:latin typeface="Consolas" pitchFamily="49" charset="0"/>
                <a:cs typeface="Consolas" pitchFamily="49" charset="0"/>
              </a:rPr>
              <a:t>    Y </a:t>
            </a:r>
            <a:r>
              <a:rPr lang="en-IN" dirty="0">
                <a:latin typeface="Consolas" pitchFamily="49" charset="0"/>
                <a:cs typeface="Consolas" pitchFamily="49" charset="0"/>
                <a:sym typeface="Wingdings" pitchFamily="2" charset="2"/>
              </a:rPr>
              <a:t></a:t>
            </a:r>
            <a:r>
              <a:rPr lang="en-IN" dirty="0">
                <a:latin typeface="Consolas" pitchFamily="49" charset="0"/>
                <a:cs typeface="Consolas" pitchFamily="49" charset="0"/>
              </a:rPr>
              <a:t> Q[F]</a:t>
            </a:r>
          </a:p>
          <a:p>
            <a:pPr marL="574675" indent="-574675"/>
            <a:r>
              <a:rPr lang="en-IN" sz="2000" b="1" dirty="0">
                <a:solidFill>
                  <a:schemeClr val="tx2"/>
                </a:solidFill>
                <a:latin typeface="Consolas" pitchFamily="49" charset="0"/>
                <a:cs typeface="Consolas" pitchFamily="49" charset="0"/>
              </a:rPr>
              <a:t>3. [Is Single element left in Queue?]</a:t>
            </a:r>
          </a:p>
          <a:p>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If</a:t>
            </a:r>
            <a:r>
              <a:rPr lang="en-IN" dirty="0">
                <a:latin typeface="Consolas" pitchFamily="49" charset="0"/>
                <a:cs typeface="Consolas" pitchFamily="49" charset="0"/>
              </a:rPr>
              <a:t>   F = R</a:t>
            </a:r>
          </a:p>
          <a:p>
            <a:r>
              <a:rPr lang="en-IN"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dirty="0">
                <a:solidFill>
                  <a:schemeClr val="tx2">
                    <a:lumMod val="75000"/>
                  </a:schemeClr>
                </a:solidFill>
                <a:latin typeface="Consolas" pitchFamily="49" charset="0"/>
                <a:cs typeface="Consolas" pitchFamily="49" charset="0"/>
              </a:rPr>
              <a:t> </a:t>
            </a:r>
            <a:r>
              <a:rPr lang="en-IN" dirty="0">
                <a:latin typeface="Consolas" pitchFamily="49" charset="0"/>
                <a:cs typeface="Consolas" pitchFamily="49" charset="0"/>
              </a:rPr>
              <a:t>F </a:t>
            </a:r>
            <a:r>
              <a:rPr lang="en-IN" dirty="0">
                <a:latin typeface="Consolas" pitchFamily="49" charset="0"/>
                <a:cs typeface="Consolas" pitchFamily="49" charset="0"/>
                <a:sym typeface="Wingdings" pitchFamily="2" charset="2"/>
              </a:rPr>
              <a:t> R  -1</a:t>
            </a:r>
          </a:p>
          <a:p>
            <a:r>
              <a:rPr lang="en-IN" dirty="0">
                <a:latin typeface="Consolas" pitchFamily="49" charset="0"/>
                <a:cs typeface="Consolas" pitchFamily="49" charset="0"/>
                <a:sym typeface="Wingdings" pitchFamily="2" charset="2"/>
              </a:rPr>
              <a:t>    </a:t>
            </a:r>
            <a:r>
              <a:rPr lang="en-IN" b="1" dirty="0">
                <a:solidFill>
                  <a:schemeClr val="tx2">
                    <a:lumMod val="75000"/>
                  </a:schemeClr>
                </a:solidFill>
                <a:latin typeface="Consolas" pitchFamily="49" charset="0"/>
                <a:cs typeface="Consolas" pitchFamily="49" charset="0"/>
                <a:sym typeface="Wingdings" pitchFamily="2" charset="2"/>
              </a:rPr>
              <a:t>Else</a:t>
            </a:r>
            <a:r>
              <a:rPr lang="en-IN" dirty="0">
                <a:latin typeface="Consolas" pitchFamily="49" charset="0"/>
                <a:cs typeface="Consolas" pitchFamily="49" charset="0"/>
                <a:sym typeface="Wingdings" pitchFamily="2" charset="2"/>
              </a:rPr>
              <a:t> F  F+1</a:t>
            </a:r>
            <a:br>
              <a:rPr lang="en-IN" dirty="0">
                <a:latin typeface="Consolas" pitchFamily="49" charset="0"/>
                <a:cs typeface="Consolas" pitchFamily="49" charset="0"/>
                <a:sym typeface="Wingdings" pitchFamily="2" charset="2"/>
              </a:rPr>
            </a:br>
            <a:r>
              <a:rPr lang="en-IN" b="1" dirty="0">
                <a:solidFill>
                  <a:schemeClr val="tx2"/>
                </a:solidFill>
                <a:latin typeface="Consolas" pitchFamily="49" charset="0"/>
                <a:cs typeface="Consolas" pitchFamily="49" charset="0"/>
              </a:rPr>
              <a:t>4. [Return Element]</a:t>
            </a:r>
          </a:p>
          <a:p>
            <a:r>
              <a:rPr lang="en-IN" b="1" dirty="0">
                <a:latin typeface="Consolas" pitchFamily="49" charset="0"/>
                <a:cs typeface="Consolas" pitchFamily="49" charset="0"/>
              </a:rPr>
              <a:t>    </a:t>
            </a:r>
            <a:r>
              <a:rPr lang="en-IN" dirty="0">
                <a:latin typeface="Consolas" pitchFamily="49" charset="0"/>
                <a:cs typeface="Consolas" pitchFamily="49" charset="0"/>
              </a:rPr>
              <a:t>Return (Y)</a:t>
            </a:r>
          </a:p>
        </p:txBody>
      </p:sp>
      <p:grpSp>
        <p:nvGrpSpPr>
          <p:cNvPr id="6" name="Group 5"/>
          <p:cNvGrpSpPr/>
          <p:nvPr/>
        </p:nvGrpSpPr>
        <p:grpSpPr>
          <a:xfrm>
            <a:off x="8373033" y="2544675"/>
            <a:ext cx="2655064" cy="457200"/>
            <a:chOff x="5486400" y="1219200"/>
            <a:chExt cx="2655064" cy="457200"/>
          </a:xfrm>
        </p:grpSpPr>
        <p:sp>
          <p:nvSpPr>
            <p:cNvPr id="7" name="Rectangle 6"/>
            <p:cNvSpPr/>
            <p:nvPr/>
          </p:nvSpPr>
          <p:spPr>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p:cNvGrpSpPr/>
          <p:nvPr/>
        </p:nvGrpSpPr>
        <p:grpSpPr>
          <a:xfrm>
            <a:off x="8384969" y="4320985"/>
            <a:ext cx="2655064" cy="457200"/>
            <a:chOff x="5486400" y="1219200"/>
            <a:chExt cx="2655064" cy="457200"/>
          </a:xfrm>
        </p:grpSpPr>
        <p:sp>
          <p:nvSpPr>
            <p:cNvPr id="13" name="Rectangle 12"/>
            <p:cNvSpPr/>
            <p:nvPr/>
          </p:nvSpPr>
          <p:spPr>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6" name="Rectangle 15"/>
            <p:cNvSpPr/>
            <p:nvPr/>
          </p:nvSpPr>
          <p:spPr>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p:cNvGrpSpPr/>
          <p:nvPr/>
        </p:nvGrpSpPr>
        <p:grpSpPr>
          <a:xfrm>
            <a:off x="8384969" y="5921186"/>
            <a:ext cx="2655064" cy="457200"/>
            <a:chOff x="5486400" y="1219200"/>
            <a:chExt cx="2655064" cy="457200"/>
          </a:xfrm>
        </p:grpSpPr>
        <p:sp>
          <p:nvSpPr>
            <p:cNvPr id="19" name="Rectangle 18"/>
            <p:cNvSpPr/>
            <p:nvPr/>
          </p:nvSpPr>
          <p:spPr>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20" name="Rectangle 19"/>
            <p:cNvSpPr/>
            <p:nvPr/>
          </p:nvSpPr>
          <p:spPr>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a:t>
              </a:r>
              <a:endParaRPr lang="en-US" b="1" dirty="0"/>
            </a:p>
          </p:txBody>
        </p:sp>
        <p:sp>
          <p:nvSpPr>
            <p:cNvPr id="21" name="Rectangle 20"/>
            <p:cNvSpPr/>
            <p:nvPr/>
          </p:nvSpPr>
          <p:spPr>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50</a:t>
              </a:r>
              <a:endParaRPr lang="en-US" b="1" dirty="0"/>
            </a:p>
          </p:txBody>
        </p:sp>
        <p:sp>
          <p:nvSpPr>
            <p:cNvPr id="22" name="Rectangle 21"/>
            <p:cNvSpPr/>
            <p:nvPr/>
          </p:nvSpPr>
          <p:spPr>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p:cNvSpPr txBox="1"/>
          <p:nvPr/>
        </p:nvSpPr>
        <p:spPr>
          <a:xfrm>
            <a:off x="6812306" y="2066361"/>
            <a:ext cx="1327078" cy="646331"/>
          </a:xfrm>
          <a:prstGeom prst="rect">
            <a:avLst/>
          </a:prstGeom>
          <a:noFill/>
        </p:spPr>
        <p:txBody>
          <a:bodyPr wrap="square" rtlCol="0">
            <a:spAutoFit/>
          </a:bodyPr>
          <a:lstStyle/>
          <a:p>
            <a:r>
              <a:rPr lang="en-IN" b="1" dirty="0"/>
              <a:t>Case No 1: </a:t>
            </a:r>
          </a:p>
          <a:p>
            <a:r>
              <a:rPr lang="en-IN" b="1" dirty="0">
                <a:solidFill>
                  <a:schemeClr val="accent3">
                    <a:lumMod val="75000"/>
                  </a:schemeClr>
                </a:solidFill>
              </a:rPr>
              <a:t>F=-1, R=-1</a:t>
            </a:r>
            <a:endParaRPr lang="en-US" b="1" dirty="0">
              <a:solidFill>
                <a:schemeClr val="accent3">
                  <a:lumMod val="75000"/>
                </a:schemeClr>
              </a:solidFill>
            </a:endParaRPr>
          </a:p>
        </p:txBody>
      </p:sp>
      <p:sp>
        <p:nvSpPr>
          <p:cNvPr id="25" name="TextBox 24"/>
          <p:cNvSpPr txBox="1"/>
          <p:nvPr/>
        </p:nvSpPr>
        <p:spPr>
          <a:xfrm>
            <a:off x="8384969" y="2980760"/>
            <a:ext cx="2655064" cy="369332"/>
          </a:xfrm>
          <a:prstGeom prst="rect">
            <a:avLst/>
          </a:prstGeom>
          <a:noFill/>
        </p:spPr>
        <p:txBody>
          <a:bodyPr wrap="square" rtlCol="0">
            <a:spAutoFit/>
          </a:bodyPr>
          <a:lstStyle/>
          <a:p>
            <a:pPr algn="ctr"/>
            <a:r>
              <a:rPr lang="en-IN" b="1" dirty="0">
                <a:solidFill>
                  <a:srgbClr val="C00000"/>
                </a:solidFill>
              </a:rPr>
              <a:t>Queue Underflow</a:t>
            </a:r>
            <a:endParaRPr lang="en-US" b="1" dirty="0">
              <a:solidFill>
                <a:srgbClr val="C00000"/>
              </a:solidFill>
            </a:endParaRPr>
          </a:p>
        </p:txBody>
      </p:sp>
      <p:sp>
        <p:nvSpPr>
          <p:cNvPr id="26" name="TextBox 25"/>
          <p:cNvSpPr txBox="1"/>
          <p:nvPr/>
        </p:nvSpPr>
        <p:spPr>
          <a:xfrm>
            <a:off x="6893555" y="3482786"/>
            <a:ext cx="1327078" cy="646331"/>
          </a:xfrm>
          <a:prstGeom prst="rect">
            <a:avLst/>
          </a:prstGeom>
          <a:noFill/>
        </p:spPr>
        <p:txBody>
          <a:bodyPr wrap="square" rtlCol="0">
            <a:spAutoFit/>
          </a:bodyPr>
          <a:lstStyle/>
          <a:p>
            <a:r>
              <a:rPr lang="en-IN" b="1" dirty="0"/>
              <a:t>Case No 2: </a:t>
            </a:r>
          </a:p>
          <a:p>
            <a:r>
              <a:rPr lang="en-IN" b="1" dirty="0">
                <a:solidFill>
                  <a:schemeClr val="accent3">
                    <a:lumMod val="75000"/>
                  </a:schemeClr>
                </a:solidFill>
              </a:rPr>
              <a:t>F=2, R=2</a:t>
            </a:r>
            <a:endParaRPr lang="en-US" b="1" dirty="0">
              <a:solidFill>
                <a:schemeClr val="accent3">
                  <a:lumMod val="75000"/>
                </a:schemeClr>
              </a:solidFill>
            </a:endParaRPr>
          </a:p>
        </p:txBody>
      </p:sp>
      <p:grpSp>
        <p:nvGrpSpPr>
          <p:cNvPr id="27" name="Group 26"/>
          <p:cNvGrpSpPr/>
          <p:nvPr/>
        </p:nvGrpSpPr>
        <p:grpSpPr>
          <a:xfrm>
            <a:off x="9483901" y="3558986"/>
            <a:ext cx="228600" cy="727999"/>
            <a:chOff x="802406" y="4606001"/>
            <a:chExt cx="228600" cy="727999"/>
          </a:xfrm>
        </p:grpSpPr>
        <p:sp>
          <p:nvSpPr>
            <p:cNvPr id="28" name="TextBox 27"/>
            <p:cNvSpPr txBox="1"/>
            <p:nvPr/>
          </p:nvSpPr>
          <p:spPr>
            <a:xfrm>
              <a:off x="802406" y="4606001"/>
              <a:ext cx="228600" cy="369332"/>
            </a:xfrm>
            <a:prstGeom prst="rect">
              <a:avLst/>
            </a:prstGeom>
            <a:noFill/>
          </p:spPr>
          <p:txBody>
            <a:bodyPr wrap="square" rtlCol="0">
              <a:spAutoFit/>
            </a:bodyPr>
            <a:lstStyle/>
            <a:p>
              <a:pPr algn="ctr"/>
              <a:r>
                <a:rPr lang="en-IN" b="1" dirty="0">
                  <a:solidFill>
                    <a:srgbClr val="C00000"/>
                  </a:solidFill>
                </a:rPr>
                <a:t>F</a:t>
              </a:r>
              <a:endParaRPr lang="en-US" b="1" dirty="0">
                <a:solidFill>
                  <a:srgbClr val="C00000"/>
                </a:solidFill>
              </a:endParaRPr>
            </a:p>
          </p:txBody>
        </p:sp>
        <p:cxnSp>
          <p:nvCxnSpPr>
            <p:cNvPr id="29" name="Straight Arrow Connector 28"/>
            <p:cNvCxnSpPr>
              <a:stCxn id="28" idx="2"/>
            </p:cNvCxnSpPr>
            <p:nvPr/>
          </p:nvCxnSpPr>
          <p:spPr>
            <a:xfrm>
              <a:off x="916706" y="4975333"/>
              <a:ext cx="0" cy="358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30" name="Group 29"/>
          <p:cNvGrpSpPr/>
          <p:nvPr/>
        </p:nvGrpSpPr>
        <p:grpSpPr>
          <a:xfrm>
            <a:off x="9678531" y="3558986"/>
            <a:ext cx="228600" cy="727999"/>
            <a:chOff x="695898" y="4606001"/>
            <a:chExt cx="228600" cy="727999"/>
          </a:xfrm>
        </p:grpSpPr>
        <p:sp>
          <p:nvSpPr>
            <p:cNvPr id="31" name="TextBox 30"/>
            <p:cNvSpPr txBox="1"/>
            <p:nvPr/>
          </p:nvSpPr>
          <p:spPr>
            <a:xfrm>
              <a:off x="695898" y="4606001"/>
              <a:ext cx="228600" cy="369332"/>
            </a:xfrm>
            <a:prstGeom prst="rect">
              <a:avLst/>
            </a:prstGeom>
            <a:noFill/>
          </p:spPr>
          <p:txBody>
            <a:bodyPr wrap="square" rtlCol="0">
              <a:spAutoFit/>
            </a:bodyPr>
            <a:lstStyle/>
            <a:p>
              <a:pPr algn="ctr"/>
              <a:r>
                <a:rPr lang="en-IN" b="1" dirty="0">
                  <a:solidFill>
                    <a:srgbClr val="C00000"/>
                  </a:solidFill>
                </a:rPr>
                <a:t>R</a:t>
              </a:r>
              <a:endParaRPr lang="en-US" b="1" dirty="0">
                <a:solidFill>
                  <a:srgbClr val="C00000"/>
                </a:solidFill>
              </a:endParaRPr>
            </a:p>
          </p:txBody>
        </p:sp>
        <p:cxnSp>
          <p:nvCxnSpPr>
            <p:cNvPr id="32" name="Straight Arrow Connector 31"/>
            <p:cNvCxnSpPr>
              <a:stCxn id="31" idx="2"/>
            </p:cNvCxnSpPr>
            <p:nvPr/>
          </p:nvCxnSpPr>
          <p:spPr>
            <a:xfrm>
              <a:off x="810198" y="4975333"/>
              <a:ext cx="0" cy="358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cxnSp>
        <p:nvCxnSpPr>
          <p:cNvPr id="33" name="Straight Connector 32"/>
          <p:cNvCxnSpPr/>
          <p:nvPr/>
        </p:nvCxnSpPr>
        <p:spPr>
          <a:xfrm>
            <a:off x="6925233" y="3361761"/>
            <a:ext cx="4038600" cy="0"/>
          </a:xfrm>
          <a:prstGeom prst="line">
            <a:avLst/>
          </a:prstGeom>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6903198" y="4320985"/>
            <a:ext cx="1236185" cy="369332"/>
          </a:xfrm>
          <a:prstGeom prst="rect">
            <a:avLst/>
          </a:prstGeom>
          <a:noFill/>
        </p:spPr>
        <p:txBody>
          <a:bodyPr wrap="square" rtlCol="0">
            <a:spAutoFit/>
          </a:bodyPr>
          <a:lstStyle/>
          <a:p>
            <a:r>
              <a:rPr lang="en-IN" b="1" dirty="0">
                <a:solidFill>
                  <a:srgbClr val="00B050"/>
                </a:solidFill>
              </a:rPr>
              <a:t>F=-1, R=-1</a:t>
            </a:r>
            <a:endParaRPr lang="en-US" b="1" dirty="0">
              <a:solidFill>
                <a:srgbClr val="00B050"/>
              </a:solidFill>
            </a:endParaRPr>
          </a:p>
        </p:txBody>
      </p:sp>
      <p:cxnSp>
        <p:nvCxnSpPr>
          <p:cNvPr id="35" name="Straight Connector 34"/>
          <p:cNvCxnSpPr/>
          <p:nvPr/>
        </p:nvCxnSpPr>
        <p:spPr>
          <a:xfrm>
            <a:off x="6925233" y="4988856"/>
            <a:ext cx="4038600" cy="0"/>
          </a:xfrm>
          <a:prstGeom prst="line">
            <a:avLst/>
          </a:prstGeom>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6957819" y="5198656"/>
            <a:ext cx="1327078" cy="646331"/>
          </a:xfrm>
          <a:prstGeom prst="rect">
            <a:avLst/>
          </a:prstGeom>
          <a:noFill/>
        </p:spPr>
        <p:txBody>
          <a:bodyPr wrap="square" rtlCol="0">
            <a:spAutoFit/>
          </a:bodyPr>
          <a:lstStyle/>
          <a:p>
            <a:r>
              <a:rPr lang="en-IN" b="1" dirty="0"/>
              <a:t>Case No 3: </a:t>
            </a:r>
          </a:p>
          <a:p>
            <a:r>
              <a:rPr lang="en-IN" b="1" dirty="0">
                <a:solidFill>
                  <a:schemeClr val="accent3">
                    <a:lumMod val="75000"/>
                  </a:schemeClr>
                </a:solidFill>
              </a:rPr>
              <a:t>F=0, R=2</a:t>
            </a:r>
            <a:endParaRPr lang="en-US" b="1" dirty="0">
              <a:solidFill>
                <a:schemeClr val="accent3">
                  <a:lumMod val="75000"/>
                </a:schemeClr>
              </a:solidFill>
            </a:endParaRPr>
          </a:p>
        </p:txBody>
      </p:sp>
      <p:grpSp>
        <p:nvGrpSpPr>
          <p:cNvPr id="37" name="Group 36"/>
          <p:cNvGrpSpPr/>
          <p:nvPr/>
        </p:nvGrpSpPr>
        <p:grpSpPr>
          <a:xfrm>
            <a:off x="8525433" y="5193188"/>
            <a:ext cx="228600" cy="727999"/>
            <a:chOff x="802406" y="4606001"/>
            <a:chExt cx="228600" cy="727999"/>
          </a:xfrm>
        </p:grpSpPr>
        <p:sp>
          <p:nvSpPr>
            <p:cNvPr id="38" name="TextBox 37"/>
            <p:cNvSpPr txBox="1"/>
            <p:nvPr/>
          </p:nvSpPr>
          <p:spPr>
            <a:xfrm>
              <a:off x="802406" y="4606001"/>
              <a:ext cx="228600" cy="369332"/>
            </a:xfrm>
            <a:prstGeom prst="rect">
              <a:avLst/>
            </a:prstGeom>
            <a:noFill/>
          </p:spPr>
          <p:txBody>
            <a:bodyPr wrap="square" rtlCol="0">
              <a:spAutoFit/>
            </a:bodyPr>
            <a:lstStyle/>
            <a:p>
              <a:pPr algn="ctr"/>
              <a:r>
                <a:rPr lang="en-IN" b="1" dirty="0">
                  <a:solidFill>
                    <a:srgbClr val="C00000"/>
                  </a:solidFill>
                </a:rPr>
                <a:t>F</a:t>
              </a:r>
              <a:endParaRPr lang="en-US" b="1" dirty="0">
                <a:solidFill>
                  <a:srgbClr val="C00000"/>
                </a:solidFill>
              </a:endParaRPr>
            </a:p>
          </p:txBody>
        </p:sp>
        <p:cxnSp>
          <p:nvCxnSpPr>
            <p:cNvPr id="39" name="Straight Arrow Connector 38"/>
            <p:cNvCxnSpPr>
              <a:stCxn id="38" idx="2"/>
            </p:cNvCxnSpPr>
            <p:nvPr/>
          </p:nvCxnSpPr>
          <p:spPr>
            <a:xfrm>
              <a:off x="916706" y="4975333"/>
              <a:ext cx="0" cy="358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40" name="Group 39"/>
          <p:cNvGrpSpPr/>
          <p:nvPr/>
        </p:nvGrpSpPr>
        <p:grpSpPr>
          <a:xfrm>
            <a:off x="9592233" y="5193188"/>
            <a:ext cx="228600" cy="727999"/>
            <a:chOff x="695898" y="4606001"/>
            <a:chExt cx="228600" cy="727999"/>
          </a:xfrm>
        </p:grpSpPr>
        <p:sp>
          <p:nvSpPr>
            <p:cNvPr id="41" name="TextBox 40"/>
            <p:cNvSpPr txBox="1"/>
            <p:nvPr/>
          </p:nvSpPr>
          <p:spPr>
            <a:xfrm>
              <a:off x="695898" y="4606001"/>
              <a:ext cx="228600" cy="369332"/>
            </a:xfrm>
            <a:prstGeom prst="rect">
              <a:avLst/>
            </a:prstGeom>
            <a:noFill/>
          </p:spPr>
          <p:txBody>
            <a:bodyPr wrap="square" rtlCol="0">
              <a:spAutoFit/>
            </a:bodyPr>
            <a:lstStyle/>
            <a:p>
              <a:pPr algn="ctr"/>
              <a:r>
                <a:rPr lang="en-IN" b="1" dirty="0">
                  <a:solidFill>
                    <a:srgbClr val="C00000"/>
                  </a:solidFill>
                </a:rPr>
                <a:t>R</a:t>
              </a:r>
              <a:endParaRPr lang="en-US" b="1" dirty="0">
                <a:solidFill>
                  <a:srgbClr val="C00000"/>
                </a:solidFill>
              </a:endParaRPr>
            </a:p>
          </p:txBody>
        </p:sp>
        <p:cxnSp>
          <p:nvCxnSpPr>
            <p:cNvPr id="42" name="Straight Arrow Connector 41"/>
            <p:cNvCxnSpPr>
              <a:stCxn id="41" idx="2"/>
            </p:cNvCxnSpPr>
            <p:nvPr/>
          </p:nvCxnSpPr>
          <p:spPr>
            <a:xfrm>
              <a:off x="810198" y="4975333"/>
              <a:ext cx="0" cy="358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43" name="TextBox 42"/>
          <p:cNvSpPr txBox="1"/>
          <p:nvPr/>
        </p:nvSpPr>
        <p:spPr>
          <a:xfrm>
            <a:off x="9509520" y="4364919"/>
            <a:ext cx="418704" cy="369332"/>
          </a:xfrm>
          <a:prstGeom prst="rect">
            <a:avLst/>
          </a:prstGeom>
          <a:noFill/>
        </p:spPr>
        <p:txBody>
          <a:bodyPr wrap="none" rtlCol="0">
            <a:spAutoFit/>
          </a:bodyPr>
          <a:lstStyle/>
          <a:p>
            <a:r>
              <a:rPr lang="en-IN" b="1" dirty="0">
                <a:solidFill>
                  <a:schemeClr val="bg1"/>
                </a:solidFill>
              </a:rPr>
              <a:t>50</a:t>
            </a:r>
            <a:endParaRPr lang="en-US" b="1" dirty="0">
              <a:solidFill>
                <a:schemeClr val="bg1"/>
              </a:solidFill>
            </a:endParaRPr>
          </a:p>
        </p:txBody>
      </p:sp>
      <p:sp>
        <p:nvSpPr>
          <p:cNvPr id="44" name="TextBox 43"/>
          <p:cNvSpPr txBox="1"/>
          <p:nvPr/>
        </p:nvSpPr>
        <p:spPr>
          <a:xfrm>
            <a:off x="8493301" y="5976271"/>
            <a:ext cx="301686" cy="369332"/>
          </a:xfrm>
          <a:prstGeom prst="rect">
            <a:avLst/>
          </a:prstGeom>
          <a:noFill/>
        </p:spPr>
        <p:txBody>
          <a:bodyPr wrap="none" rtlCol="0">
            <a:spAutoFit/>
          </a:bodyPr>
          <a:lstStyle/>
          <a:p>
            <a:r>
              <a:rPr lang="en-IN" b="1" dirty="0">
                <a:solidFill>
                  <a:schemeClr val="bg1"/>
                </a:solidFill>
              </a:rPr>
              <a:t>5</a:t>
            </a:r>
            <a:endParaRPr lang="en-US" b="1" dirty="0">
              <a:solidFill>
                <a:schemeClr val="bg1"/>
              </a:solidFill>
            </a:endParaRPr>
          </a:p>
        </p:txBody>
      </p:sp>
      <p:sp>
        <p:nvSpPr>
          <p:cNvPr id="45" name="TextBox 44"/>
          <p:cNvSpPr txBox="1"/>
          <p:nvPr/>
        </p:nvSpPr>
        <p:spPr>
          <a:xfrm>
            <a:off x="6958284" y="6085254"/>
            <a:ext cx="1143000" cy="369332"/>
          </a:xfrm>
          <a:prstGeom prst="rect">
            <a:avLst/>
          </a:prstGeom>
          <a:noFill/>
        </p:spPr>
        <p:txBody>
          <a:bodyPr wrap="square" rtlCol="0">
            <a:spAutoFit/>
          </a:bodyPr>
          <a:lstStyle/>
          <a:p>
            <a:r>
              <a:rPr lang="en-IN" b="1" dirty="0">
                <a:solidFill>
                  <a:srgbClr val="00B050"/>
                </a:solidFill>
              </a:rPr>
              <a:t>F=1, R=2</a:t>
            </a:r>
            <a:endParaRPr lang="en-US" b="1" dirty="0">
              <a:solidFill>
                <a:srgbClr val="00B050"/>
              </a:solidFill>
            </a:endParaRPr>
          </a:p>
        </p:txBody>
      </p:sp>
    </p:spTree>
    <p:extLst>
      <p:ext uri="{BB962C8B-B14F-4D97-AF65-F5344CB8AC3E}">
        <p14:creationId xmlns:p14="http://schemas.microsoft.com/office/powerpoint/2010/main" val="1931373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30"/>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2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7"/>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nodeType="clickEffect">
                                  <p:stCondLst>
                                    <p:cond delay="0"/>
                                  </p:stCondLst>
                                  <p:childTnLst>
                                    <p:set>
                                      <p:cBhvr>
                                        <p:cTn id="106" dur="1" fill="hold">
                                          <p:stCondLst>
                                            <p:cond delay="0"/>
                                          </p:stCondLst>
                                        </p:cTn>
                                        <p:tgtEl>
                                          <p:spTgt spid="30"/>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43"/>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3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3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8"/>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44"/>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37"/>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40"/>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63" presetClass="path" presetSubtype="0" accel="50000" decel="50000" fill="hold" nodeType="clickEffect">
                                  <p:stCondLst>
                                    <p:cond delay="0"/>
                                  </p:stCondLst>
                                  <p:childTnLst>
                                    <p:animMotion origin="layout" path="M -3.54167E-6 4.81481E-6 L 0.04388 4.81481E-6 " pathEditMode="relative" rAng="0" ptsTypes="AA">
                                      <p:cBhvr>
                                        <p:cTn id="134" dur="2000" fill="hold"/>
                                        <p:tgtEl>
                                          <p:spTgt spid="37"/>
                                        </p:tgtEl>
                                        <p:attrNameLst>
                                          <p:attrName>ppt_x</p:attrName>
                                          <p:attrName>ppt_y</p:attrName>
                                        </p:attrNameLst>
                                      </p:cBhvr>
                                      <p:rCtr x="2201" y="0"/>
                                    </p:animMotion>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45"/>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xit" presetSubtype="0" fill="hold" grpId="1" nodeType="clickEffect">
                                  <p:stCondLst>
                                    <p:cond delay="0"/>
                                  </p:stCondLst>
                                  <p:childTnLst>
                                    <p:set>
                                      <p:cBhvr>
                                        <p:cTn id="142" dur="1" fill="hold">
                                          <p:stCondLst>
                                            <p:cond delay="0"/>
                                          </p:stCondLst>
                                        </p:cTn>
                                        <p:tgtEl>
                                          <p:spTgt spid="4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4" grpId="0"/>
      <p:bldP spid="25" grpId="0"/>
      <p:bldP spid="26" grpId="0"/>
      <p:bldP spid="34" grpId="0"/>
      <p:bldP spid="36" grpId="0"/>
      <p:bldP spid="43" grpId="0"/>
      <p:bldP spid="43" grpId="1"/>
      <p:bldP spid="44" grpId="0"/>
      <p:bldP spid="44" grpId="1"/>
      <p:bldP spid="4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of Queue Enqueue / Dequeue</a:t>
            </a:r>
            <a:endParaRPr lang="en-US" dirty="0"/>
          </a:p>
        </p:txBody>
      </p:sp>
      <p:grpSp>
        <p:nvGrpSpPr>
          <p:cNvPr id="9" name="Group 8"/>
          <p:cNvGrpSpPr/>
          <p:nvPr/>
        </p:nvGrpSpPr>
        <p:grpSpPr>
          <a:xfrm>
            <a:off x="1163771" y="2075330"/>
            <a:ext cx="1828800" cy="381000"/>
            <a:chOff x="381000" y="1219200"/>
            <a:chExt cx="1828800" cy="381000"/>
          </a:xfrm>
          <a:solidFill>
            <a:schemeClr val="bg2">
              <a:lumMod val="95000"/>
            </a:schemeClr>
          </a:solidFill>
        </p:grpSpPr>
        <p:sp>
          <p:nvSpPr>
            <p:cNvPr id="4" name="Rectangle 3"/>
            <p:cNvSpPr/>
            <p:nvPr/>
          </p:nvSpPr>
          <p:spPr>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7526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1163771" y="3598548"/>
            <a:ext cx="1828800" cy="381000"/>
            <a:chOff x="381000" y="1219200"/>
            <a:chExt cx="1828800" cy="381000"/>
          </a:xfrm>
          <a:solidFill>
            <a:schemeClr val="bg2">
              <a:lumMod val="95000"/>
            </a:schemeClr>
          </a:solidFill>
        </p:grpSpPr>
        <p:sp>
          <p:nvSpPr>
            <p:cNvPr id="11" name="Rectangle 10"/>
            <p:cNvSpPr/>
            <p:nvPr/>
          </p:nvSpPr>
          <p:spPr>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7526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p:cNvGrpSpPr/>
          <p:nvPr/>
        </p:nvGrpSpPr>
        <p:grpSpPr>
          <a:xfrm>
            <a:off x="1163771" y="5216641"/>
            <a:ext cx="1828800" cy="381000"/>
            <a:chOff x="381000" y="1219200"/>
            <a:chExt cx="1828800" cy="381000"/>
          </a:xfrm>
          <a:solidFill>
            <a:schemeClr val="bg2">
              <a:lumMod val="95000"/>
            </a:schemeClr>
          </a:solidFill>
        </p:grpSpPr>
        <p:sp>
          <p:nvSpPr>
            <p:cNvPr id="16" name="Rectangle 15"/>
            <p:cNvSpPr/>
            <p:nvPr/>
          </p:nvSpPr>
          <p:spPr>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7526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p:cNvGrpSpPr/>
          <p:nvPr/>
        </p:nvGrpSpPr>
        <p:grpSpPr>
          <a:xfrm>
            <a:off x="7412171" y="3642874"/>
            <a:ext cx="1828800" cy="381000"/>
            <a:chOff x="381000" y="1219200"/>
            <a:chExt cx="1828800" cy="381000"/>
          </a:xfrm>
          <a:solidFill>
            <a:schemeClr val="bg2">
              <a:lumMod val="95000"/>
            </a:schemeClr>
          </a:solidFill>
        </p:grpSpPr>
        <p:sp>
          <p:nvSpPr>
            <p:cNvPr id="21" name="Rectangle 20"/>
            <p:cNvSpPr/>
            <p:nvPr/>
          </p:nvSpPr>
          <p:spPr>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17526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p:cNvGrpSpPr/>
          <p:nvPr/>
        </p:nvGrpSpPr>
        <p:grpSpPr>
          <a:xfrm>
            <a:off x="476368" y="2549642"/>
            <a:ext cx="293670" cy="592488"/>
            <a:chOff x="774733" y="1681844"/>
            <a:chExt cx="293670" cy="592488"/>
          </a:xfrm>
        </p:grpSpPr>
        <p:sp>
          <p:nvSpPr>
            <p:cNvPr id="25" name="TextBox 24"/>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27" name="Straight Arrow Connector 26"/>
            <p:cNvCxnSpPr>
              <a:stCxn id="25"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29" name="Group 28"/>
          <p:cNvGrpSpPr/>
          <p:nvPr/>
        </p:nvGrpSpPr>
        <p:grpSpPr>
          <a:xfrm>
            <a:off x="673917" y="2549642"/>
            <a:ext cx="314510" cy="592488"/>
            <a:chOff x="764313" y="1681844"/>
            <a:chExt cx="314510" cy="592488"/>
          </a:xfrm>
        </p:grpSpPr>
        <p:sp>
          <p:nvSpPr>
            <p:cNvPr id="30" name="TextBox 29"/>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31" name="Straight Arrow Connector 30"/>
            <p:cNvCxnSpPr>
              <a:stCxn id="30"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32" name="TextBox 31"/>
          <p:cNvSpPr txBox="1"/>
          <p:nvPr/>
        </p:nvSpPr>
        <p:spPr>
          <a:xfrm>
            <a:off x="0" y="741830"/>
            <a:ext cx="12192000" cy="830997"/>
          </a:xfrm>
          <a:prstGeom prst="rect">
            <a:avLst/>
          </a:prstGeom>
          <a:solidFill>
            <a:srgbClr val="1D3064"/>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N" sz="2400" b="1" dirty="0">
                <a:solidFill>
                  <a:schemeClr val="bg1"/>
                </a:solidFill>
              </a:rPr>
              <a:t>Perform following operations on queue with size 4 &amp; draw queue after each operation</a:t>
            </a:r>
          </a:p>
          <a:p>
            <a:pPr algn="ctr"/>
            <a:r>
              <a:rPr lang="en-IN" sz="2400" b="1" dirty="0">
                <a:solidFill>
                  <a:schemeClr val="bg1"/>
                </a:solidFill>
              </a:rPr>
              <a:t>Enqueue ‘A’ | Enqueue ‘B’ | Enqueue ‘C’ | Dequeue | Dequeue | Enqueue ‘D’ | Enqueue ‘E’ </a:t>
            </a:r>
            <a:endParaRPr lang="en-US" sz="2400" b="1" dirty="0">
              <a:solidFill>
                <a:schemeClr val="bg1"/>
              </a:solidFill>
            </a:endParaRPr>
          </a:p>
        </p:txBody>
      </p:sp>
      <p:sp>
        <p:nvSpPr>
          <p:cNvPr id="33" name="TextBox 32"/>
          <p:cNvSpPr txBox="1"/>
          <p:nvPr/>
        </p:nvSpPr>
        <p:spPr>
          <a:xfrm>
            <a:off x="1163771" y="1618130"/>
            <a:ext cx="1828800" cy="369332"/>
          </a:xfrm>
          <a:prstGeom prst="rect">
            <a:avLst/>
          </a:prstGeom>
          <a:noFill/>
        </p:spPr>
        <p:txBody>
          <a:bodyPr wrap="square" rtlCol="0">
            <a:spAutoFit/>
          </a:bodyPr>
          <a:lstStyle/>
          <a:p>
            <a:pPr algn="ctr"/>
            <a:r>
              <a:rPr lang="en-IN" b="1" dirty="0"/>
              <a:t>Empty Queue</a:t>
            </a:r>
            <a:endParaRPr lang="en-US" b="1" dirty="0"/>
          </a:p>
        </p:txBody>
      </p:sp>
      <p:sp>
        <p:nvSpPr>
          <p:cNvPr id="34" name="TextBox 33"/>
          <p:cNvSpPr txBox="1"/>
          <p:nvPr/>
        </p:nvSpPr>
        <p:spPr>
          <a:xfrm>
            <a:off x="436294" y="2066009"/>
            <a:ext cx="385042" cy="369332"/>
          </a:xfrm>
          <a:prstGeom prst="rect">
            <a:avLst/>
          </a:prstGeom>
          <a:noFill/>
        </p:spPr>
        <p:txBody>
          <a:bodyPr wrap="none" rtlCol="0">
            <a:spAutoFit/>
          </a:bodyPr>
          <a:lstStyle/>
          <a:p>
            <a:pPr algn="ctr"/>
            <a:r>
              <a:rPr lang="en-US" b="1" dirty="0"/>
              <a:t>-1</a:t>
            </a:r>
          </a:p>
        </p:txBody>
      </p:sp>
      <p:sp>
        <p:nvSpPr>
          <p:cNvPr id="35" name="TextBox 34"/>
          <p:cNvSpPr txBox="1"/>
          <p:nvPr/>
        </p:nvSpPr>
        <p:spPr>
          <a:xfrm>
            <a:off x="643124" y="2075330"/>
            <a:ext cx="385042" cy="369332"/>
          </a:xfrm>
          <a:prstGeom prst="rect">
            <a:avLst/>
          </a:prstGeom>
          <a:noFill/>
        </p:spPr>
        <p:txBody>
          <a:bodyPr wrap="none" rtlCol="0">
            <a:spAutoFit/>
          </a:bodyPr>
          <a:lstStyle/>
          <a:p>
            <a:pPr algn="ctr"/>
            <a:r>
              <a:rPr lang="en-US" b="1" dirty="0"/>
              <a:t>-1</a:t>
            </a:r>
          </a:p>
        </p:txBody>
      </p:sp>
      <p:cxnSp>
        <p:nvCxnSpPr>
          <p:cNvPr id="37" name="Straight Connector 36"/>
          <p:cNvCxnSpPr/>
          <p:nvPr/>
        </p:nvCxnSpPr>
        <p:spPr>
          <a:xfrm>
            <a:off x="477971" y="3142130"/>
            <a:ext cx="2971800" cy="0"/>
          </a:xfrm>
          <a:prstGeom prst="line">
            <a:avLst/>
          </a:prstGeom>
        </p:spPr>
        <p:style>
          <a:lnRef idx="2">
            <a:schemeClr val="dk1"/>
          </a:lnRef>
          <a:fillRef idx="0">
            <a:schemeClr val="dk1"/>
          </a:fillRef>
          <a:effectRef idx="1">
            <a:schemeClr val="dk1"/>
          </a:effectRef>
          <a:fontRef idx="minor">
            <a:schemeClr val="tx1"/>
          </a:fontRef>
        </p:style>
      </p:cxnSp>
      <p:sp>
        <p:nvSpPr>
          <p:cNvPr id="38" name="TextBox 37"/>
          <p:cNvSpPr txBox="1"/>
          <p:nvPr/>
        </p:nvSpPr>
        <p:spPr>
          <a:xfrm>
            <a:off x="1163771" y="3229216"/>
            <a:ext cx="1828800" cy="369332"/>
          </a:xfrm>
          <a:prstGeom prst="rect">
            <a:avLst/>
          </a:prstGeom>
          <a:noFill/>
        </p:spPr>
        <p:txBody>
          <a:bodyPr wrap="square" rtlCol="0">
            <a:spAutoFit/>
          </a:bodyPr>
          <a:lstStyle/>
          <a:p>
            <a:pPr algn="ctr"/>
            <a:r>
              <a:rPr lang="en-IN" b="1" dirty="0"/>
              <a:t>Enqueue ‘A’</a:t>
            </a:r>
            <a:endParaRPr lang="en-US" b="1" dirty="0"/>
          </a:p>
        </p:txBody>
      </p:sp>
      <p:grpSp>
        <p:nvGrpSpPr>
          <p:cNvPr id="39" name="Group 38"/>
          <p:cNvGrpSpPr/>
          <p:nvPr/>
        </p:nvGrpSpPr>
        <p:grpSpPr>
          <a:xfrm>
            <a:off x="454598" y="3991217"/>
            <a:ext cx="293670" cy="592488"/>
            <a:chOff x="774733" y="1681844"/>
            <a:chExt cx="293670" cy="592488"/>
          </a:xfrm>
        </p:grpSpPr>
        <p:sp>
          <p:nvSpPr>
            <p:cNvPr id="40" name="TextBox 39"/>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41" name="Straight Arrow Connector 40"/>
            <p:cNvCxnSpPr>
              <a:stCxn id="40"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42" name="Group 41"/>
          <p:cNvGrpSpPr/>
          <p:nvPr/>
        </p:nvGrpSpPr>
        <p:grpSpPr>
          <a:xfrm>
            <a:off x="630371" y="3997442"/>
            <a:ext cx="314510" cy="592488"/>
            <a:chOff x="764313" y="1681844"/>
            <a:chExt cx="314510" cy="592488"/>
          </a:xfrm>
        </p:grpSpPr>
        <p:sp>
          <p:nvSpPr>
            <p:cNvPr id="43" name="TextBox 42"/>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44" name="Straight Arrow Connector 43"/>
            <p:cNvCxnSpPr>
              <a:stCxn id="43"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45" name="TextBox 44"/>
          <p:cNvSpPr txBox="1"/>
          <p:nvPr/>
        </p:nvSpPr>
        <p:spPr>
          <a:xfrm>
            <a:off x="477971" y="3271977"/>
            <a:ext cx="545342" cy="369332"/>
          </a:xfrm>
          <a:prstGeom prst="rect">
            <a:avLst/>
          </a:prstGeom>
          <a:noFill/>
        </p:spPr>
        <p:txBody>
          <a:bodyPr wrap="none" rtlCol="0">
            <a:spAutoFit/>
          </a:bodyPr>
          <a:lstStyle/>
          <a:p>
            <a:r>
              <a:rPr lang="en-IN" b="1" dirty="0">
                <a:solidFill>
                  <a:schemeClr val="accent3">
                    <a:lumMod val="75000"/>
                  </a:schemeClr>
                </a:solidFill>
              </a:rPr>
              <a:t>R=0</a:t>
            </a:r>
            <a:endParaRPr lang="en-US" b="1" dirty="0">
              <a:solidFill>
                <a:schemeClr val="accent3">
                  <a:lumMod val="75000"/>
                </a:schemeClr>
              </a:solidFill>
            </a:endParaRPr>
          </a:p>
        </p:txBody>
      </p:sp>
      <p:sp>
        <p:nvSpPr>
          <p:cNvPr id="46" name="TextBox 45"/>
          <p:cNvSpPr txBox="1"/>
          <p:nvPr/>
        </p:nvSpPr>
        <p:spPr>
          <a:xfrm>
            <a:off x="477971" y="3610216"/>
            <a:ext cx="527709" cy="369332"/>
          </a:xfrm>
          <a:prstGeom prst="rect">
            <a:avLst/>
          </a:prstGeom>
          <a:noFill/>
        </p:spPr>
        <p:txBody>
          <a:bodyPr wrap="none" rtlCol="0">
            <a:spAutoFit/>
          </a:bodyPr>
          <a:lstStyle/>
          <a:p>
            <a:r>
              <a:rPr lang="en-IN" b="1" dirty="0">
                <a:solidFill>
                  <a:schemeClr val="accent3">
                    <a:lumMod val="75000"/>
                  </a:schemeClr>
                </a:solidFill>
              </a:rPr>
              <a:t>F=0</a:t>
            </a:r>
            <a:endParaRPr lang="en-US" b="1" dirty="0">
              <a:solidFill>
                <a:schemeClr val="accent3">
                  <a:lumMod val="75000"/>
                </a:schemeClr>
              </a:solidFill>
            </a:endParaRPr>
          </a:p>
        </p:txBody>
      </p:sp>
      <p:sp>
        <p:nvSpPr>
          <p:cNvPr id="47" name="TextBox 46"/>
          <p:cNvSpPr txBox="1"/>
          <p:nvPr/>
        </p:nvSpPr>
        <p:spPr>
          <a:xfrm>
            <a:off x="1163771" y="3586879"/>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A</a:t>
            </a:r>
            <a:endParaRPr lang="en-US" sz="2000" dirty="0">
              <a:ln w="0"/>
              <a:effectLst>
                <a:outerShdw blurRad="38100" dist="19050" dir="2700000" algn="tl" rotWithShape="0">
                  <a:schemeClr val="dk1">
                    <a:alpha val="40000"/>
                  </a:schemeClr>
                </a:outerShdw>
              </a:effectLst>
            </a:endParaRPr>
          </a:p>
        </p:txBody>
      </p:sp>
      <p:cxnSp>
        <p:nvCxnSpPr>
          <p:cNvPr id="48" name="Straight Connector 47"/>
          <p:cNvCxnSpPr/>
          <p:nvPr/>
        </p:nvCxnSpPr>
        <p:spPr>
          <a:xfrm>
            <a:off x="477971" y="4666130"/>
            <a:ext cx="2971800" cy="0"/>
          </a:xfrm>
          <a:prstGeom prst="line">
            <a:avLst/>
          </a:prstGeom>
        </p:spPr>
        <p:style>
          <a:lnRef idx="2">
            <a:schemeClr val="dk1"/>
          </a:lnRef>
          <a:fillRef idx="0">
            <a:schemeClr val="dk1"/>
          </a:fillRef>
          <a:effectRef idx="1">
            <a:schemeClr val="dk1"/>
          </a:effectRef>
          <a:fontRef idx="minor">
            <a:schemeClr val="tx1"/>
          </a:fontRef>
        </p:style>
      </p:cxnSp>
      <p:sp>
        <p:nvSpPr>
          <p:cNvPr id="49" name="TextBox 48"/>
          <p:cNvSpPr txBox="1"/>
          <p:nvPr/>
        </p:nvSpPr>
        <p:spPr>
          <a:xfrm>
            <a:off x="1163771" y="4742330"/>
            <a:ext cx="1828800" cy="369332"/>
          </a:xfrm>
          <a:prstGeom prst="rect">
            <a:avLst/>
          </a:prstGeom>
          <a:noFill/>
        </p:spPr>
        <p:txBody>
          <a:bodyPr wrap="square" rtlCol="0">
            <a:spAutoFit/>
          </a:bodyPr>
          <a:lstStyle/>
          <a:p>
            <a:pPr algn="ctr"/>
            <a:r>
              <a:rPr lang="en-IN" b="1" dirty="0"/>
              <a:t>Enqueue ‘B’</a:t>
            </a:r>
            <a:endParaRPr lang="en-US" b="1" dirty="0"/>
          </a:p>
        </p:txBody>
      </p:sp>
      <p:grpSp>
        <p:nvGrpSpPr>
          <p:cNvPr id="50" name="Group 49"/>
          <p:cNvGrpSpPr/>
          <p:nvPr/>
        </p:nvGrpSpPr>
        <p:grpSpPr>
          <a:xfrm>
            <a:off x="4217336" y="2476554"/>
            <a:ext cx="293670" cy="592488"/>
            <a:chOff x="774733" y="1681844"/>
            <a:chExt cx="293670" cy="592488"/>
          </a:xfrm>
        </p:grpSpPr>
        <p:sp>
          <p:nvSpPr>
            <p:cNvPr id="51" name="TextBox 50"/>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52" name="Straight Arrow Connector 51"/>
            <p:cNvCxnSpPr>
              <a:stCxn id="51"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53" name="Group 52"/>
          <p:cNvGrpSpPr/>
          <p:nvPr/>
        </p:nvGrpSpPr>
        <p:grpSpPr>
          <a:xfrm>
            <a:off x="1304148" y="5635422"/>
            <a:ext cx="314510" cy="565594"/>
            <a:chOff x="764313" y="1708738"/>
            <a:chExt cx="314510" cy="565594"/>
          </a:xfrm>
        </p:grpSpPr>
        <p:sp>
          <p:nvSpPr>
            <p:cNvPr id="54" name="TextBox 53"/>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55" name="Straight Arrow Connector 54"/>
            <p:cNvCxnSpPr/>
            <p:nvPr/>
          </p:nvCxnSpPr>
          <p:spPr>
            <a:xfrm flipV="1">
              <a:off x="921568" y="1708738"/>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56" name="TextBox 55"/>
          <p:cNvSpPr txBox="1"/>
          <p:nvPr/>
        </p:nvSpPr>
        <p:spPr>
          <a:xfrm>
            <a:off x="1171207" y="5201528"/>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A</a:t>
            </a:r>
            <a:endParaRPr lang="en-US" sz="2000" dirty="0">
              <a:ln w="0"/>
              <a:effectLst>
                <a:outerShdw blurRad="38100" dist="19050" dir="2700000" algn="tl" rotWithShape="0">
                  <a:schemeClr val="dk1">
                    <a:alpha val="40000"/>
                  </a:schemeClr>
                </a:outerShdw>
              </a:effectLst>
            </a:endParaRPr>
          </a:p>
        </p:txBody>
      </p:sp>
      <p:sp>
        <p:nvSpPr>
          <p:cNvPr id="57" name="TextBox 56"/>
          <p:cNvSpPr txBox="1"/>
          <p:nvPr/>
        </p:nvSpPr>
        <p:spPr>
          <a:xfrm>
            <a:off x="532400" y="4999710"/>
            <a:ext cx="546945" cy="646331"/>
          </a:xfrm>
          <a:prstGeom prst="rect">
            <a:avLst/>
          </a:prstGeom>
          <a:noFill/>
        </p:spPr>
        <p:txBody>
          <a:bodyPr wrap="none" rtlCol="0">
            <a:spAutoFit/>
          </a:bodyPr>
          <a:lstStyle/>
          <a:p>
            <a:r>
              <a:rPr lang="en-IN" b="1" dirty="0">
                <a:solidFill>
                  <a:schemeClr val="accent3">
                    <a:lumMod val="75000"/>
                  </a:schemeClr>
                </a:solidFill>
              </a:rPr>
              <a:t>R=1</a:t>
            </a:r>
          </a:p>
          <a:p>
            <a:r>
              <a:rPr lang="en-IN" b="1" dirty="0">
                <a:solidFill>
                  <a:schemeClr val="accent3">
                    <a:lumMod val="75000"/>
                  </a:schemeClr>
                </a:solidFill>
              </a:rPr>
              <a:t>F=0</a:t>
            </a:r>
            <a:endParaRPr lang="en-US" b="1" dirty="0">
              <a:solidFill>
                <a:schemeClr val="accent3">
                  <a:lumMod val="75000"/>
                </a:schemeClr>
              </a:solidFill>
            </a:endParaRPr>
          </a:p>
        </p:txBody>
      </p:sp>
      <p:sp>
        <p:nvSpPr>
          <p:cNvPr id="58" name="TextBox 57"/>
          <p:cNvSpPr txBox="1"/>
          <p:nvPr/>
        </p:nvSpPr>
        <p:spPr>
          <a:xfrm>
            <a:off x="1620971" y="5216641"/>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B</a:t>
            </a:r>
            <a:endParaRPr lang="en-US" sz="2000" dirty="0">
              <a:ln w="0"/>
              <a:effectLst>
                <a:outerShdw blurRad="38100" dist="19050" dir="2700000" algn="tl" rotWithShape="0">
                  <a:schemeClr val="dk1">
                    <a:alpha val="40000"/>
                  </a:schemeClr>
                </a:outerShdw>
              </a:effectLst>
            </a:endParaRPr>
          </a:p>
        </p:txBody>
      </p:sp>
      <p:cxnSp>
        <p:nvCxnSpPr>
          <p:cNvPr id="60" name="Straight Connector 59"/>
          <p:cNvCxnSpPr/>
          <p:nvPr/>
        </p:nvCxnSpPr>
        <p:spPr>
          <a:xfrm>
            <a:off x="3449771" y="1618130"/>
            <a:ext cx="0" cy="4572000"/>
          </a:xfrm>
          <a:prstGeom prst="line">
            <a:avLst/>
          </a:prstGeom>
        </p:spPr>
        <p:style>
          <a:lnRef idx="2">
            <a:schemeClr val="dk1"/>
          </a:lnRef>
          <a:fillRef idx="0">
            <a:schemeClr val="dk1"/>
          </a:fillRef>
          <a:effectRef idx="1">
            <a:schemeClr val="dk1"/>
          </a:effectRef>
          <a:fontRef idx="minor">
            <a:schemeClr val="tx1"/>
          </a:fontRef>
        </p:style>
      </p:cxnSp>
      <p:sp>
        <p:nvSpPr>
          <p:cNvPr id="63" name="TextBox 62"/>
          <p:cNvSpPr txBox="1"/>
          <p:nvPr/>
        </p:nvSpPr>
        <p:spPr>
          <a:xfrm>
            <a:off x="4135571" y="1618130"/>
            <a:ext cx="1828800" cy="369332"/>
          </a:xfrm>
          <a:prstGeom prst="rect">
            <a:avLst/>
          </a:prstGeom>
          <a:noFill/>
        </p:spPr>
        <p:txBody>
          <a:bodyPr wrap="square" rtlCol="0">
            <a:spAutoFit/>
          </a:bodyPr>
          <a:lstStyle/>
          <a:p>
            <a:pPr algn="ctr"/>
            <a:r>
              <a:rPr lang="en-IN" b="1" dirty="0"/>
              <a:t>Enqueue ‘C’</a:t>
            </a:r>
            <a:endParaRPr lang="en-US" b="1" dirty="0"/>
          </a:p>
        </p:txBody>
      </p:sp>
      <p:cxnSp>
        <p:nvCxnSpPr>
          <p:cNvPr id="64" name="Straight Connector 63"/>
          <p:cNvCxnSpPr/>
          <p:nvPr/>
        </p:nvCxnSpPr>
        <p:spPr>
          <a:xfrm>
            <a:off x="3449771" y="3142130"/>
            <a:ext cx="2971800" cy="0"/>
          </a:xfrm>
          <a:prstGeom prst="line">
            <a:avLst/>
          </a:prstGeom>
        </p:spPr>
        <p:style>
          <a:lnRef idx="2">
            <a:schemeClr val="dk1"/>
          </a:lnRef>
          <a:fillRef idx="0">
            <a:schemeClr val="dk1"/>
          </a:fillRef>
          <a:effectRef idx="1">
            <a:schemeClr val="dk1"/>
          </a:effectRef>
          <a:fontRef idx="minor">
            <a:schemeClr val="tx1"/>
          </a:fontRef>
        </p:style>
      </p:cxnSp>
      <p:cxnSp>
        <p:nvCxnSpPr>
          <p:cNvPr id="65" name="Straight Connector 64"/>
          <p:cNvCxnSpPr/>
          <p:nvPr/>
        </p:nvCxnSpPr>
        <p:spPr>
          <a:xfrm>
            <a:off x="6421571" y="1618130"/>
            <a:ext cx="0" cy="4572000"/>
          </a:xfrm>
          <a:prstGeom prst="line">
            <a:avLst/>
          </a:prstGeom>
        </p:spPr>
        <p:style>
          <a:lnRef idx="2">
            <a:schemeClr val="dk1"/>
          </a:lnRef>
          <a:fillRef idx="0">
            <a:schemeClr val="dk1"/>
          </a:fillRef>
          <a:effectRef idx="1">
            <a:schemeClr val="dk1"/>
          </a:effectRef>
          <a:fontRef idx="minor">
            <a:schemeClr val="tx1"/>
          </a:fontRef>
        </p:style>
      </p:cxnSp>
      <p:cxnSp>
        <p:nvCxnSpPr>
          <p:cNvPr id="66" name="Straight Connector 65"/>
          <p:cNvCxnSpPr/>
          <p:nvPr/>
        </p:nvCxnSpPr>
        <p:spPr>
          <a:xfrm>
            <a:off x="6421571" y="3142130"/>
            <a:ext cx="2971800" cy="0"/>
          </a:xfrm>
          <a:prstGeom prst="line">
            <a:avLst/>
          </a:prstGeom>
        </p:spPr>
        <p:style>
          <a:lnRef idx="2">
            <a:schemeClr val="dk1"/>
          </a:lnRef>
          <a:fillRef idx="0">
            <a:schemeClr val="dk1"/>
          </a:fillRef>
          <a:effectRef idx="1">
            <a:schemeClr val="dk1"/>
          </a:effectRef>
          <a:fontRef idx="minor">
            <a:schemeClr val="tx1"/>
          </a:fontRef>
        </p:style>
      </p:cxnSp>
      <p:grpSp>
        <p:nvGrpSpPr>
          <p:cNvPr id="67" name="Group 66"/>
          <p:cNvGrpSpPr/>
          <p:nvPr/>
        </p:nvGrpSpPr>
        <p:grpSpPr>
          <a:xfrm>
            <a:off x="4135571" y="2075330"/>
            <a:ext cx="1828800" cy="381000"/>
            <a:chOff x="381000" y="1219200"/>
            <a:chExt cx="1828800" cy="381000"/>
          </a:xfrm>
          <a:solidFill>
            <a:schemeClr val="bg2">
              <a:lumMod val="95000"/>
            </a:schemeClr>
          </a:solidFill>
        </p:grpSpPr>
        <p:sp>
          <p:nvSpPr>
            <p:cNvPr id="68" name="Rectangle 67"/>
            <p:cNvSpPr/>
            <p:nvPr/>
          </p:nvSpPr>
          <p:spPr>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9" name="Rectangle 68"/>
            <p:cNvSpPr/>
            <p:nvPr/>
          </p:nvSpPr>
          <p:spPr>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0" name="Rectangle 69"/>
            <p:cNvSpPr/>
            <p:nvPr/>
          </p:nvSpPr>
          <p:spPr>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1" name="Rectangle 70"/>
            <p:cNvSpPr/>
            <p:nvPr/>
          </p:nvSpPr>
          <p:spPr>
            <a:xfrm>
              <a:off x="17526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72" name="TextBox 71"/>
          <p:cNvSpPr txBox="1"/>
          <p:nvPr/>
        </p:nvSpPr>
        <p:spPr>
          <a:xfrm>
            <a:off x="4135571" y="2075330"/>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A</a:t>
            </a:r>
            <a:endParaRPr lang="en-US" sz="2000" dirty="0">
              <a:ln w="0"/>
              <a:effectLst>
                <a:outerShdw blurRad="38100" dist="19050" dir="2700000" algn="tl" rotWithShape="0">
                  <a:schemeClr val="dk1">
                    <a:alpha val="40000"/>
                  </a:schemeClr>
                </a:outerShdw>
              </a:effectLst>
            </a:endParaRPr>
          </a:p>
        </p:txBody>
      </p:sp>
      <p:sp>
        <p:nvSpPr>
          <p:cNvPr id="73" name="TextBox 72"/>
          <p:cNvSpPr txBox="1"/>
          <p:nvPr/>
        </p:nvSpPr>
        <p:spPr>
          <a:xfrm>
            <a:off x="4592771" y="2075330"/>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B</a:t>
            </a:r>
            <a:endParaRPr lang="en-US" sz="2000" dirty="0">
              <a:ln w="0"/>
              <a:effectLst>
                <a:outerShdw blurRad="38100" dist="19050" dir="2700000" algn="tl" rotWithShape="0">
                  <a:schemeClr val="dk1">
                    <a:alpha val="40000"/>
                  </a:schemeClr>
                </a:outerShdw>
              </a:effectLst>
            </a:endParaRPr>
          </a:p>
        </p:txBody>
      </p:sp>
      <p:grpSp>
        <p:nvGrpSpPr>
          <p:cNvPr id="74" name="Group 73"/>
          <p:cNvGrpSpPr/>
          <p:nvPr/>
        </p:nvGrpSpPr>
        <p:grpSpPr>
          <a:xfrm>
            <a:off x="1140394" y="5629732"/>
            <a:ext cx="293670" cy="572201"/>
            <a:chOff x="774733" y="1681843"/>
            <a:chExt cx="293670" cy="629422"/>
          </a:xfrm>
        </p:grpSpPr>
        <p:sp>
          <p:nvSpPr>
            <p:cNvPr id="75" name="TextBox 74"/>
            <p:cNvSpPr txBox="1"/>
            <p:nvPr/>
          </p:nvSpPr>
          <p:spPr>
            <a:xfrm>
              <a:off x="774733" y="1905000"/>
              <a:ext cx="293670" cy="406265"/>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76" name="Straight Arrow Connector 75"/>
            <p:cNvCxnSpPr>
              <a:stCxn id="75" idx="0"/>
            </p:cNvCxnSpPr>
            <p:nvPr/>
          </p:nvCxnSpPr>
          <p:spPr>
            <a:xfrm flipV="1">
              <a:off x="921568" y="1681843"/>
              <a:ext cx="0" cy="22315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77" name="Group 76"/>
          <p:cNvGrpSpPr/>
          <p:nvPr/>
        </p:nvGrpSpPr>
        <p:grpSpPr>
          <a:xfrm>
            <a:off x="4682170" y="2478103"/>
            <a:ext cx="314510" cy="592488"/>
            <a:chOff x="764313" y="1681844"/>
            <a:chExt cx="314510" cy="592488"/>
          </a:xfrm>
        </p:grpSpPr>
        <p:sp>
          <p:nvSpPr>
            <p:cNvPr id="78" name="TextBox 77"/>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79" name="Straight Arrow Connector 78"/>
            <p:cNvCxnSpPr>
              <a:stCxn id="78"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80" name="TextBox 79"/>
          <p:cNvSpPr txBox="1"/>
          <p:nvPr/>
        </p:nvSpPr>
        <p:spPr>
          <a:xfrm>
            <a:off x="3493315" y="1661675"/>
            <a:ext cx="542136" cy="646331"/>
          </a:xfrm>
          <a:prstGeom prst="rect">
            <a:avLst/>
          </a:prstGeom>
          <a:noFill/>
        </p:spPr>
        <p:txBody>
          <a:bodyPr wrap="none" rtlCol="0">
            <a:spAutoFit/>
          </a:bodyPr>
          <a:lstStyle/>
          <a:p>
            <a:r>
              <a:rPr lang="en-IN" b="1" dirty="0">
                <a:solidFill>
                  <a:schemeClr val="accent3">
                    <a:lumMod val="75000"/>
                  </a:schemeClr>
                </a:solidFill>
              </a:rPr>
              <a:t>R=2</a:t>
            </a:r>
          </a:p>
          <a:p>
            <a:r>
              <a:rPr lang="en-IN" b="1" dirty="0">
                <a:solidFill>
                  <a:schemeClr val="accent3">
                    <a:lumMod val="75000"/>
                  </a:schemeClr>
                </a:solidFill>
              </a:rPr>
              <a:t>F=0</a:t>
            </a:r>
          </a:p>
        </p:txBody>
      </p:sp>
      <p:sp>
        <p:nvSpPr>
          <p:cNvPr id="82" name="TextBox 81"/>
          <p:cNvSpPr txBox="1"/>
          <p:nvPr/>
        </p:nvSpPr>
        <p:spPr>
          <a:xfrm>
            <a:off x="5049971" y="2075330"/>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C</a:t>
            </a:r>
            <a:endParaRPr lang="en-US" sz="2000" dirty="0">
              <a:ln w="0"/>
              <a:effectLst>
                <a:outerShdw blurRad="38100" dist="19050" dir="2700000" algn="tl" rotWithShape="0">
                  <a:schemeClr val="dk1">
                    <a:alpha val="40000"/>
                  </a:schemeClr>
                </a:outerShdw>
              </a:effectLst>
            </a:endParaRPr>
          </a:p>
        </p:txBody>
      </p:sp>
      <p:grpSp>
        <p:nvGrpSpPr>
          <p:cNvPr id="83" name="Group 82"/>
          <p:cNvGrpSpPr/>
          <p:nvPr/>
        </p:nvGrpSpPr>
        <p:grpSpPr>
          <a:xfrm>
            <a:off x="4135571" y="3641309"/>
            <a:ext cx="1828800" cy="381000"/>
            <a:chOff x="381000" y="1219200"/>
            <a:chExt cx="1828800" cy="381000"/>
          </a:xfrm>
          <a:solidFill>
            <a:schemeClr val="bg2">
              <a:lumMod val="95000"/>
            </a:schemeClr>
          </a:solidFill>
        </p:grpSpPr>
        <p:sp>
          <p:nvSpPr>
            <p:cNvPr id="84" name="Rectangle 83"/>
            <p:cNvSpPr/>
            <p:nvPr/>
          </p:nvSpPr>
          <p:spPr>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p:cNvSpPr/>
            <p:nvPr/>
          </p:nvSpPr>
          <p:spPr>
            <a:xfrm>
              <a:off x="17526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8" name="TextBox 87"/>
          <p:cNvSpPr txBox="1"/>
          <p:nvPr/>
        </p:nvSpPr>
        <p:spPr>
          <a:xfrm>
            <a:off x="4124685" y="3271977"/>
            <a:ext cx="1828800" cy="369332"/>
          </a:xfrm>
          <a:prstGeom prst="rect">
            <a:avLst/>
          </a:prstGeom>
          <a:noFill/>
        </p:spPr>
        <p:txBody>
          <a:bodyPr wrap="square" rtlCol="0">
            <a:spAutoFit/>
          </a:bodyPr>
          <a:lstStyle/>
          <a:p>
            <a:pPr algn="ctr"/>
            <a:r>
              <a:rPr lang="en-IN" b="1" dirty="0"/>
              <a:t>Dequeue </a:t>
            </a:r>
            <a:endParaRPr lang="en-US" b="1" dirty="0"/>
          </a:p>
        </p:txBody>
      </p:sp>
      <p:sp>
        <p:nvSpPr>
          <p:cNvPr id="89" name="TextBox 88"/>
          <p:cNvSpPr txBox="1"/>
          <p:nvPr/>
        </p:nvSpPr>
        <p:spPr>
          <a:xfrm>
            <a:off x="4124685" y="3631986"/>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A</a:t>
            </a:r>
            <a:endParaRPr lang="en-US" sz="2000" dirty="0">
              <a:ln w="0"/>
              <a:effectLst>
                <a:outerShdw blurRad="38100" dist="19050" dir="2700000" algn="tl" rotWithShape="0">
                  <a:schemeClr val="dk1">
                    <a:alpha val="40000"/>
                  </a:schemeClr>
                </a:outerShdw>
              </a:effectLst>
            </a:endParaRPr>
          </a:p>
        </p:txBody>
      </p:sp>
      <p:sp>
        <p:nvSpPr>
          <p:cNvPr id="90" name="TextBox 89"/>
          <p:cNvSpPr txBox="1"/>
          <p:nvPr/>
        </p:nvSpPr>
        <p:spPr>
          <a:xfrm>
            <a:off x="4592771" y="3631988"/>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B</a:t>
            </a:r>
            <a:endParaRPr lang="en-US" sz="2000" dirty="0">
              <a:ln w="0"/>
              <a:effectLst>
                <a:outerShdw blurRad="38100" dist="19050" dir="2700000" algn="tl" rotWithShape="0">
                  <a:schemeClr val="dk1">
                    <a:alpha val="40000"/>
                  </a:schemeClr>
                </a:outerShdw>
              </a:effectLst>
            </a:endParaRPr>
          </a:p>
        </p:txBody>
      </p:sp>
      <p:sp>
        <p:nvSpPr>
          <p:cNvPr id="91" name="TextBox 90"/>
          <p:cNvSpPr txBox="1"/>
          <p:nvPr/>
        </p:nvSpPr>
        <p:spPr>
          <a:xfrm>
            <a:off x="5049971" y="3631988"/>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C</a:t>
            </a:r>
            <a:endParaRPr lang="en-US" sz="2000" dirty="0">
              <a:ln w="0"/>
              <a:effectLst>
                <a:outerShdw blurRad="38100" dist="19050" dir="2700000" algn="tl" rotWithShape="0">
                  <a:schemeClr val="dk1">
                    <a:alpha val="40000"/>
                  </a:schemeClr>
                </a:outerShdw>
              </a:effectLst>
            </a:endParaRPr>
          </a:p>
        </p:txBody>
      </p:sp>
      <p:grpSp>
        <p:nvGrpSpPr>
          <p:cNvPr id="92" name="Group 91"/>
          <p:cNvGrpSpPr/>
          <p:nvPr/>
        </p:nvGrpSpPr>
        <p:grpSpPr>
          <a:xfrm>
            <a:off x="4210168" y="4040984"/>
            <a:ext cx="293670" cy="592488"/>
            <a:chOff x="774733" y="1681844"/>
            <a:chExt cx="293670" cy="592488"/>
          </a:xfrm>
        </p:grpSpPr>
        <p:sp>
          <p:nvSpPr>
            <p:cNvPr id="93" name="TextBox 92"/>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94" name="Straight Arrow Connector 93"/>
            <p:cNvCxnSpPr>
              <a:stCxn id="93"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95" name="Group 94"/>
          <p:cNvGrpSpPr/>
          <p:nvPr/>
        </p:nvGrpSpPr>
        <p:grpSpPr>
          <a:xfrm>
            <a:off x="5128484" y="4056531"/>
            <a:ext cx="314510" cy="592488"/>
            <a:chOff x="764313" y="1681844"/>
            <a:chExt cx="314510" cy="592488"/>
          </a:xfrm>
        </p:grpSpPr>
        <p:sp>
          <p:nvSpPr>
            <p:cNvPr id="96" name="TextBox 95"/>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97" name="Straight Arrow Connector 96"/>
            <p:cNvCxnSpPr>
              <a:stCxn id="96"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98" name="TextBox 97"/>
          <p:cNvSpPr txBox="1"/>
          <p:nvPr/>
        </p:nvSpPr>
        <p:spPr>
          <a:xfrm>
            <a:off x="3493315" y="3186495"/>
            <a:ext cx="542136" cy="646331"/>
          </a:xfrm>
          <a:prstGeom prst="rect">
            <a:avLst/>
          </a:prstGeom>
          <a:noFill/>
        </p:spPr>
        <p:txBody>
          <a:bodyPr wrap="none" rtlCol="0">
            <a:spAutoFit/>
          </a:bodyPr>
          <a:lstStyle/>
          <a:p>
            <a:r>
              <a:rPr lang="en-IN" b="1" dirty="0">
                <a:solidFill>
                  <a:schemeClr val="accent3">
                    <a:lumMod val="75000"/>
                  </a:schemeClr>
                </a:solidFill>
              </a:rPr>
              <a:t>R=2</a:t>
            </a:r>
          </a:p>
          <a:p>
            <a:r>
              <a:rPr lang="en-IN" b="1" dirty="0">
                <a:solidFill>
                  <a:schemeClr val="accent3">
                    <a:lumMod val="75000"/>
                  </a:schemeClr>
                </a:solidFill>
              </a:rPr>
              <a:t>F=1</a:t>
            </a:r>
          </a:p>
        </p:txBody>
      </p:sp>
      <p:cxnSp>
        <p:nvCxnSpPr>
          <p:cNvPr id="99" name="Straight Connector 98"/>
          <p:cNvCxnSpPr/>
          <p:nvPr/>
        </p:nvCxnSpPr>
        <p:spPr>
          <a:xfrm>
            <a:off x="3449771" y="4666130"/>
            <a:ext cx="2971800" cy="0"/>
          </a:xfrm>
          <a:prstGeom prst="line">
            <a:avLst/>
          </a:prstGeom>
        </p:spPr>
        <p:style>
          <a:lnRef idx="2">
            <a:schemeClr val="dk1"/>
          </a:lnRef>
          <a:fillRef idx="0">
            <a:schemeClr val="dk1"/>
          </a:fillRef>
          <a:effectRef idx="1">
            <a:schemeClr val="dk1"/>
          </a:effectRef>
          <a:fontRef idx="minor">
            <a:schemeClr val="tx1"/>
          </a:fontRef>
        </p:style>
      </p:cxnSp>
      <p:sp>
        <p:nvSpPr>
          <p:cNvPr id="100" name="TextBox 99"/>
          <p:cNvSpPr txBox="1"/>
          <p:nvPr/>
        </p:nvSpPr>
        <p:spPr>
          <a:xfrm>
            <a:off x="4218939" y="4742330"/>
            <a:ext cx="1828800" cy="369332"/>
          </a:xfrm>
          <a:prstGeom prst="rect">
            <a:avLst/>
          </a:prstGeom>
          <a:noFill/>
        </p:spPr>
        <p:txBody>
          <a:bodyPr wrap="square" rtlCol="0">
            <a:spAutoFit/>
          </a:bodyPr>
          <a:lstStyle/>
          <a:p>
            <a:pPr algn="ctr"/>
            <a:r>
              <a:rPr lang="en-IN" b="1" dirty="0"/>
              <a:t>Dequeue </a:t>
            </a:r>
            <a:endParaRPr lang="en-US" b="1" dirty="0"/>
          </a:p>
        </p:txBody>
      </p:sp>
      <p:grpSp>
        <p:nvGrpSpPr>
          <p:cNvPr id="101" name="Group 100"/>
          <p:cNvGrpSpPr/>
          <p:nvPr/>
        </p:nvGrpSpPr>
        <p:grpSpPr>
          <a:xfrm>
            <a:off x="4218939" y="5201528"/>
            <a:ext cx="1828800" cy="381000"/>
            <a:chOff x="381000" y="1219200"/>
            <a:chExt cx="1828800" cy="381000"/>
          </a:xfrm>
          <a:solidFill>
            <a:schemeClr val="bg2">
              <a:lumMod val="95000"/>
            </a:schemeClr>
          </a:solidFill>
        </p:grpSpPr>
        <p:sp>
          <p:nvSpPr>
            <p:cNvPr id="102" name="Rectangle 101"/>
            <p:cNvSpPr/>
            <p:nvPr/>
          </p:nvSpPr>
          <p:spPr>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p:cNvSpPr/>
            <p:nvPr/>
          </p:nvSpPr>
          <p:spPr>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p:cNvSpPr/>
            <p:nvPr/>
          </p:nvSpPr>
          <p:spPr>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17526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6" name="TextBox 105"/>
          <p:cNvSpPr txBox="1"/>
          <p:nvPr/>
        </p:nvSpPr>
        <p:spPr>
          <a:xfrm>
            <a:off x="4671285" y="5199532"/>
            <a:ext cx="451169"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B</a:t>
            </a:r>
            <a:endParaRPr lang="en-US" sz="2000" dirty="0">
              <a:ln w="0"/>
              <a:effectLst>
                <a:outerShdw blurRad="38100" dist="19050" dir="2700000" algn="tl" rotWithShape="0">
                  <a:schemeClr val="dk1">
                    <a:alpha val="40000"/>
                  </a:schemeClr>
                </a:outerShdw>
              </a:effectLst>
            </a:endParaRPr>
          </a:p>
        </p:txBody>
      </p:sp>
      <p:sp>
        <p:nvSpPr>
          <p:cNvPr id="107" name="TextBox 106"/>
          <p:cNvSpPr txBox="1"/>
          <p:nvPr/>
        </p:nvSpPr>
        <p:spPr>
          <a:xfrm>
            <a:off x="5128485" y="5189611"/>
            <a:ext cx="451169"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C</a:t>
            </a:r>
            <a:endParaRPr lang="en-US" sz="2000" dirty="0">
              <a:ln w="0"/>
              <a:effectLst>
                <a:outerShdw blurRad="38100" dist="19050" dir="2700000" algn="tl" rotWithShape="0">
                  <a:schemeClr val="dk1">
                    <a:alpha val="40000"/>
                  </a:schemeClr>
                </a:outerShdw>
              </a:effectLst>
            </a:endParaRPr>
          </a:p>
        </p:txBody>
      </p:sp>
      <p:grpSp>
        <p:nvGrpSpPr>
          <p:cNvPr id="108" name="Group 107"/>
          <p:cNvGrpSpPr/>
          <p:nvPr/>
        </p:nvGrpSpPr>
        <p:grpSpPr>
          <a:xfrm>
            <a:off x="5232485" y="5589721"/>
            <a:ext cx="314510" cy="592488"/>
            <a:chOff x="764313" y="1681844"/>
            <a:chExt cx="314510" cy="592488"/>
          </a:xfrm>
        </p:grpSpPr>
        <p:sp>
          <p:nvSpPr>
            <p:cNvPr id="109" name="TextBox 108"/>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110" name="Straight Arrow Connector 109"/>
            <p:cNvCxnSpPr>
              <a:stCxn id="109"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11" name="Group 110"/>
          <p:cNvGrpSpPr/>
          <p:nvPr/>
        </p:nvGrpSpPr>
        <p:grpSpPr>
          <a:xfrm>
            <a:off x="4755591" y="5591416"/>
            <a:ext cx="293670" cy="592488"/>
            <a:chOff x="774733" y="1681844"/>
            <a:chExt cx="293670" cy="592488"/>
          </a:xfrm>
        </p:grpSpPr>
        <p:sp>
          <p:nvSpPr>
            <p:cNvPr id="112" name="TextBox 111"/>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113" name="Straight Arrow Connector 112"/>
            <p:cNvCxnSpPr>
              <a:stCxn id="112"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14" name="TextBox 113"/>
          <p:cNvSpPr txBox="1"/>
          <p:nvPr/>
        </p:nvSpPr>
        <p:spPr>
          <a:xfrm>
            <a:off x="3525971" y="4705600"/>
            <a:ext cx="542136" cy="646331"/>
          </a:xfrm>
          <a:prstGeom prst="rect">
            <a:avLst/>
          </a:prstGeom>
          <a:noFill/>
        </p:spPr>
        <p:txBody>
          <a:bodyPr wrap="none" rtlCol="0">
            <a:spAutoFit/>
          </a:bodyPr>
          <a:lstStyle/>
          <a:p>
            <a:r>
              <a:rPr lang="en-IN" b="1" dirty="0">
                <a:solidFill>
                  <a:schemeClr val="accent3">
                    <a:lumMod val="75000"/>
                  </a:schemeClr>
                </a:solidFill>
              </a:rPr>
              <a:t>R=2</a:t>
            </a:r>
          </a:p>
          <a:p>
            <a:r>
              <a:rPr lang="en-IN" b="1" dirty="0">
                <a:solidFill>
                  <a:schemeClr val="accent3">
                    <a:lumMod val="75000"/>
                  </a:schemeClr>
                </a:solidFill>
              </a:rPr>
              <a:t>F=2</a:t>
            </a:r>
          </a:p>
        </p:txBody>
      </p:sp>
      <p:sp>
        <p:nvSpPr>
          <p:cNvPr id="115" name="TextBox 114"/>
          <p:cNvSpPr txBox="1"/>
          <p:nvPr/>
        </p:nvSpPr>
        <p:spPr>
          <a:xfrm>
            <a:off x="7259771" y="1618130"/>
            <a:ext cx="1828800" cy="369332"/>
          </a:xfrm>
          <a:prstGeom prst="rect">
            <a:avLst/>
          </a:prstGeom>
          <a:noFill/>
        </p:spPr>
        <p:txBody>
          <a:bodyPr wrap="square" rtlCol="0">
            <a:spAutoFit/>
          </a:bodyPr>
          <a:lstStyle/>
          <a:p>
            <a:pPr algn="ctr"/>
            <a:r>
              <a:rPr lang="en-IN" b="1" dirty="0"/>
              <a:t>Enqueue ‘D’</a:t>
            </a:r>
            <a:endParaRPr lang="en-US" b="1" dirty="0"/>
          </a:p>
        </p:txBody>
      </p:sp>
      <p:grpSp>
        <p:nvGrpSpPr>
          <p:cNvPr id="116" name="Group 115"/>
          <p:cNvGrpSpPr/>
          <p:nvPr/>
        </p:nvGrpSpPr>
        <p:grpSpPr>
          <a:xfrm>
            <a:off x="7335971" y="2054341"/>
            <a:ext cx="1828800" cy="381000"/>
            <a:chOff x="381000" y="1219200"/>
            <a:chExt cx="1828800" cy="381000"/>
          </a:xfrm>
          <a:solidFill>
            <a:schemeClr val="bg2">
              <a:lumMod val="95000"/>
            </a:schemeClr>
          </a:solidFill>
        </p:grpSpPr>
        <p:sp>
          <p:nvSpPr>
            <p:cNvPr id="117" name="Rectangle 116"/>
            <p:cNvSpPr/>
            <p:nvPr/>
          </p:nvSpPr>
          <p:spPr>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p:cNvSpPr/>
            <p:nvPr/>
          </p:nvSpPr>
          <p:spPr>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p:cNvSpPr/>
            <p:nvPr/>
          </p:nvSpPr>
          <p:spPr>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p:cNvSpPr/>
            <p:nvPr/>
          </p:nvSpPr>
          <p:spPr>
            <a:xfrm>
              <a:off x="17526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1" name="Group 120"/>
          <p:cNvGrpSpPr/>
          <p:nvPr/>
        </p:nvGrpSpPr>
        <p:grpSpPr>
          <a:xfrm>
            <a:off x="8226997" y="2451512"/>
            <a:ext cx="293670" cy="592488"/>
            <a:chOff x="774733" y="1681844"/>
            <a:chExt cx="293670" cy="592488"/>
          </a:xfrm>
        </p:grpSpPr>
        <p:sp>
          <p:nvSpPr>
            <p:cNvPr id="122" name="TextBox 121"/>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123" name="Straight Arrow Connector 122"/>
            <p:cNvCxnSpPr>
              <a:stCxn id="122"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24" name="Group 123"/>
          <p:cNvGrpSpPr/>
          <p:nvPr/>
        </p:nvGrpSpPr>
        <p:grpSpPr>
          <a:xfrm>
            <a:off x="8434292" y="2440784"/>
            <a:ext cx="314510" cy="592488"/>
            <a:chOff x="764313" y="1681844"/>
            <a:chExt cx="314510" cy="592488"/>
          </a:xfrm>
        </p:grpSpPr>
        <p:sp>
          <p:nvSpPr>
            <p:cNvPr id="125" name="TextBox 124"/>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126" name="Straight Arrow Connector 125"/>
            <p:cNvCxnSpPr>
              <a:stCxn id="125"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27" name="TextBox 126"/>
          <p:cNvSpPr txBox="1"/>
          <p:nvPr/>
        </p:nvSpPr>
        <p:spPr>
          <a:xfrm>
            <a:off x="8250371" y="2054341"/>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C</a:t>
            </a:r>
            <a:endParaRPr lang="en-US" sz="2000" dirty="0">
              <a:ln w="0"/>
              <a:effectLst>
                <a:outerShdw blurRad="38100" dist="19050" dir="2700000" algn="tl" rotWithShape="0">
                  <a:schemeClr val="dk1">
                    <a:alpha val="40000"/>
                  </a:schemeClr>
                </a:outerShdw>
              </a:effectLst>
            </a:endParaRPr>
          </a:p>
        </p:txBody>
      </p:sp>
      <p:sp>
        <p:nvSpPr>
          <p:cNvPr id="128" name="TextBox 127"/>
          <p:cNvSpPr txBox="1"/>
          <p:nvPr/>
        </p:nvSpPr>
        <p:spPr>
          <a:xfrm>
            <a:off x="6497771" y="1635437"/>
            <a:ext cx="542136" cy="646331"/>
          </a:xfrm>
          <a:prstGeom prst="rect">
            <a:avLst/>
          </a:prstGeom>
          <a:noFill/>
        </p:spPr>
        <p:txBody>
          <a:bodyPr wrap="none" rtlCol="0">
            <a:spAutoFit/>
          </a:bodyPr>
          <a:lstStyle/>
          <a:p>
            <a:r>
              <a:rPr lang="en-IN" b="1" dirty="0">
                <a:solidFill>
                  <a:schemeClr val="accent3">
                    <a:lumMod val="75000"/>
                  </a:schemeClr>
                </a:solidFill>
              </a:rPr>
              <a:t>R=3</a:t>
            </a:r>
          </a:p>
          <a:p>
            <a:r>
              <a:rPr lang="en-IN" b="1" dirty="0">
                <a:solidFill>
                  <a:schemeClr val="accent3">
                    <a:lumMod val="75000"/>
                  </a:schemeClr>
                </a:solidFill>
              </a:rPr>
              <a:t>F=2</a:t>
            </a:r>
          </a:p>
        </p:txBody>
      </p:sp>
      <p:sp>
        <p:nvSpPr>
          <p:cNvPr id="130" name="TextBox 129"/>
          <p:cNvSpPr txBox="1"/>
          <p:nvPr/>
        </p:nvSpPr>
        <p:spPr>
          <a:xfrm>
            <a:off x="8707571" y="2054341"/>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D</a:t>
            </a:r>
            <a:endParaRPr lang="en-US" sz="2000" dirty="0">
              <a:ln w="0"/>
              <a:effectLst>
                <a:outerShdw blurRad="38100" dist="19050" dir="2700000" algn="tl" rotWithShape="0">
                  <a:schemeClr val="dk1">
                    <a:alpha val="40000"/>
                  </a:schemeClr>
                </a:outerShdw>
              </a:effectLst>
            </a:endParaRPr>
          </a:p>
        </p:txBody>
      </p:sp>
      <p:sp>
        <p:nvSpPr>
          <p:cNvPr id="131" name="TextBox 130"/>
          <p:cNvSpPr txBox="1"/>
          <p:nvPr/>
        </p:nvSpPr>
        <p:spPr>
          <a:xfrm>
            <a:off x="7354293" y="3270954"/>
            <a:ext cx="1828800" cy="369332"/>
          </a:xfrm>
          <a:prstGeom prst="rect">
            <a:avLst/>
          </a:prstGeom>
          <a:noFill/>
        </p:spPr>
        <p:txBody>
          <a:bodyPr wrap="square" rtlCol="0">
            <a:spAutoFit/>
          </a:bodyPr>
          <a:lstStyle/>
          <a:p>
            <a:pPr algn="ctr"/>
            <a:r>
              <a:rPr lang="en-IN" b="1" dirty="0"/>
              <a:t>Enqueue ‘E’</a:t>
            </a:r>
            <a:endParaRPr lang="en-US" b="1" dirty="0"/>
          </a:p>
        </p:txBody>
      </p:sp>
      <p:grpSp>
        <p:nvGrpSpPr>
          <p:cNvPr id="132" name="Group 131"/>
          <p:cNvGrpSpPr/>
          <p:nvPr/>
        </p:nvGrpSpPr>
        <p:grpSpPr>
          <a:xfrm>
            <a:off x="8850261" y="4040984"/>
            <a:ext cx="314510" cy="592488"/>
            <a:chOff x="764313" y="1681844"/>
            <a:chExt cx="314510" cy="592488"/>
          </a:xfrm>
        </p:grpSpPr>
        <p:sp>
          <p:nvSpPr>
            <p:cNvPr id="133" name="TextBox 132"/>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134" name="Straight Arrow Connector 133"/>
            <p:cNvCxnSpPr>
              <a:stCxn id="133"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35" name="Group 134"/>
          <p:cNvGrpSpPr/>
          <p:nvPr/>
        </p:nvGrpSpPr>
        <p:grpSpPr>
          <a:xfrm>
            <a:off x="8403481" y="4045644"/>
            <a:ext cx="293670" cy="592488"/>
            <a:chOff x="774733" y="1681844"/>
            <a:chExt cx="293670" cy="592488"/>
          </a:xfrm>
        </p:grpSpPr>
        <p:sp>
          <p:nvSpPr>
            <p:cNvPr id="136" name="TextBox 135"/>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137" name="Straight Arrow Connector 136"/>
            <p:cNvCxnSpPr>
              <a:stCxn id="136"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38" name="TextBox 137"/>
          <p:cNvSpPr txBox="1"/>
          <p:nvPr/>
        </p:nvSpPr>
        <p:spPr>
          <a:xfrm>
            <a:off x="8337457" y="3642874"/>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C</a:t>
            </a:r>
            <a:endParaRPr lang="en-US" sz="2000" dirty="0">
              <a:ln w="0"/>
              <a:effectLst>
                <a:outerShdw blurRad="38100" dist="19050" dir="2700000" algn="tl" rotWithShape="0">
                  <a:schemeClr val="dk1">
                    <a:alpha val="40000"/>
                  </a:schemeClr>
                </a:outerShdw>
              </a:effectLst>
            </a:endParaRPr>
          </a:p>
        </p:txBody>
      </p:sp>
      <p:sp>
        <p:nvSpPr>
          <p:cNvPr id="139" name="TextBox 138"/>
          <p:cNvSpPr txBox="1"/>
          <p:nvPr/>
        </p:nvSpPr>
        <p:spPr>
          <a:xfrm>
            <a:off x="8783771" y="3642874"/>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D</a:t>
            </a:r>
            <a:endParaRPr lang="en-US" sz="2000" dirty="0">
              <a:ln w="0"/>
              <a:effectLst>
                <a:outerShdw blurRad="38100" dist="19050" dir="2700000" algn="tl" rotWithShape="0">
                  <a:schemeClr val="dk1">
                    <a:alpha val="40000"/>
                  </a:schemeClr>
                </a:outerShdw>
              </a:effectLst>
            </a:endParaRPr>
          </a:p>
        </p:txBody>
      </p:sp>
      <p:sp>
        <p:nvSpPr>
          <p:cNvPr id="140" name="TextBox 139"/>
          <p:cNvSpPr txBox="1"/>
          <p:nvPr/>
        </p:nvSpPr>
        <p:spPr>
          <a:xfrm>
            <a:off x="6497771" y="3257800"/>
            <a:ext cx="542136" cy="646331"/>
          </a:xfrm>
          <a:prstGeom prst="rect">
            <a:avLst/>
          </a:prstGeom>
          <a:noFill/>
        </p:spPr>
        <p:txBody>
          <a:bodyPr wrap="none" rtlCol="0">
            <a:spAutoFit/>
          </a:bodyPr>
          <a:lstStyle/>
          <a:p>
            <a:r>
              <a:rPr lang="en-IN" b="1" dirty="0">
                <a:solidFill>
                  <a:schemeClr val="accent3">
                    <a:lumMod val="75000"/>
                  </a:schemeClr>
                </a:solidFill>
              </a:rPr>
              <a:t>R=3</a:t>
            </a:r>
          </a:p>
          <a:p>
            <a:r>
              <a:rPr lang="en-IN" b="1" dirty="0">
                <a:solidFill>
                  <a:schemeClr val="accent3">
                    <a:lumMod val="75000"/>
                  </a:schemeClr>
                </a:solidFill>
              </a:rPr>
              <a:t>F=2</a:t>
            </a:r>
          </a:p>
        </p:txBody>
      </p:sp>
      <p:sp>
        <p:nvSpPr>
          <p:cNvPr id="141" name="TextBox 140"/>
          <p:cNvSpPr txBox="1"/>
          <p:nvPr/>
        </p:nvSpPr>
        <p:spPr>
          <a:xfrm>
            <a:off x="6497771" y="4742330"/>
            <a:ext cx="2895600" cy="369332"/>
          </a:xfrm>
          <a:prstGeom prst="rect">
            <a:avLst/>
          </a:prstGeom>
          <a:noFill/>
        </p:spPr>
        <p:txBody>
          <a:bodyPr wrap="square" rtlCol="0">
            <a:spAutoFit/>
          </a:bodyPr>
          <a:lstStyle/>
          <a:p>
            <a:pPr algn="ctr"/>
            <a:r>
              <a:rPr lang="en-IN" b="1" dirty="0">
                <a:solidFill>
                  <a:srgbClr val="C00000"/>
                </a:solidFill>
              </a:rPr>
              <a:t>(R=3) &gt;= (N-1)</a:t>
            </a:r>
            <a:endParaRPr lang="en-US" b="1" dirty="0">
              <a:solidFill>
                <a:srgbClr val="C00000"/>
              </a:solidFill>
            </a:endParaRPr>
          </a:p>
        </p:txBody>
      </p:sp>
      <p:sp>
        <p:nvSpPr>
          <p:cNvPr id="142" name="TextBox 141"/>
          <p:cNvSpPr txBox="1"/>
          <p:nvPr/>
        </p:nvSpPr>
        <p:spPr>
          <a:xfrm>
            <a:off x="6497771" y="5047910"/>
            <a:ext cx="2895600" cy="369332"/>
          </a:xfrm>
          <a:prstGeom prst="rect">
            <a:avLst/>
          </a:prstGeom>
          <a:noFill/>
        </p:spPr>
        <p:txBody>
          <a:bodyPr wrap="square" rtlCol="0">
            <a:spAutoFit/>
          </a:bodyPr>
          <a:lstStyle/>
          <a:p>
            <a:pPr algn="ctr"/>
            <a:r>
              <a:rPr lang="en-IN" b="1" dirty="0">
                <a:solidFill>
                  <a:schemeClr val="accent3">
                    <a:lumMod val="50000"/>
                  </a:schemeClr>
                </a:solidFill>
              </a:rPr>
              <a:t>Queue Overflow</a:t>
            </a:r>
            <a:endParaRPr lang="en-US" b="1" dirty="0">
              <a:solidFill>
                <a:schemeClr val="accent3">
                  <a:lumMod val="50000"/>
                </a:schemeClr>
              </a:solidFill>
            </a:endParaRPr>
          </a:p>
        </p:txBody>
      </p:sp>
      <p:cxnSp>
        <p:nvCxnSpPr>
          <p:cNvPr id="143" name="Straight Connector 142"/>
          <p:cNvCxnSpPr/>
          <p:nvPr/>
        </p:nvCxnSpPr>
        <p:spPr>
          <a:xfrm>
            <a:off x="6421571" y="4666130"/>
            <a:ext cx="2971800" cy="0"/>
          </a:xfrm>
          <a:prstGeom prst="line">
            <a:avLst/>
          </a:prstGeom>
        </p:spPr>
        <p:style>
          <a:lnRef idx="2">
            <a:schemeClr val="dk1"/>
          </a:lnRef>
          <a:fillRef idx="0">
            <a:schemeClr val="dk1"/>
          </a:fillRef>
          <a:effectRef idx="1">
            <a:schemeClr val="dk1"/>
          </a:effectRef>
          <a:fontRef idx="minor">
            <a:schemeClr val="tx1"/>
          </a:fontRef>
        </p:style>
      </p:cxnSp>
      <p:sp>
        <p:nvSpPr>
          <p:cNvPr id="144" name="TextBox 143"/>
          <p:cNvSpPr txBox="1"/>
          <p:nvPr/>
        </p:nvSpPr>
        <p:spPr>
          <a:xfrm>
            <a:off x="6497771" y="5439017"/>
            <a:ext cx="2895600" cy="830997"/>
          </a:xfrm>
          <a:prstGeom prst="rect">
            <a:avLst/>
          </a:prstGeom>
          <a:solidFill>
            <a:srgbClr val="1D3064"/>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N" sz="1600" b="1" dirty="0">
                <a:solidFill>
                  <a:schemeClr val="bg1"/>
                </a:solidFill>
              </a:rPr>
              <a:t>Queue Overflow, but space is there with Queue, this leads to the memory wastage</a:t>
            </a:r>
            <a:endParaRPr lang="en-US" sz="1600" b="1" dirty="0">
              <a:solidFill>
                <a:schemeClr val="bg1"/>
              </a:solidFill>
            </a:endParaRPr>
          </a:p>
        </p:txBody>
      </p:sp>
    </p:spTree>
    <p:extLst>
      <p:ext uri="{BB962C8B-B14F-4D97-AF65-F5344CB8AC3E}">
        <p14:creationId xmlns:p14="http://schemas.microsoft.com/office/powerpoint/2010/main" val="68667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63" presetClass="path" presetSubtype="0" accel="50000" decel="50000" fill="hold" nodeType="clickEffect">
                                  <p:stCondLst>
                                    <p:cond delay="0"/>
                                  </p:stCondLst>
                                  <p:childTnLst>
                                    <p:animMotion origin="layout" path="M -6.25E-7 4.07407E-6 L 0.05521 4.07407E-6 " pathEditMode="relative" rAng="0" ptsTypes="AA">
                                      <p:cBhvr>
                                        <p:cTn id="48" dur="2000" fill="hold"/>
                                        <p:tgtEl>
                                          <p:spTgt spid="42"/>
                                        </p:tgtEl>
                                        <p:attrNameLst>
                                          <p:attrName>ppt_x</p:attrName>
                                          <p:attrName>ppt_y</p:attrName>
                                        </p:attrNameLst>
                                      </p:cBhvr>
                                      <p:rCtr x="2760" y="0"/>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63" presetClass="path" presetSubtype="0" accel="50000" decel="50000" fill="hold" nodeType="clickEffect">
                                  <p:stCondLst>
                                    <p:cond delay="0"/>
                                  </p:stCondLst>
                                  <p:childTnLst>
                                    <p:animMotion origin="layout" path="M 3.95833E-6 1.11022E-16 L 0.05768 1.11022E-16 " pathEditMode="relative" rAng="0" ptsTypes="AA">
                                      <p:cBhvr>
                                        <p:cTn id="60" dur="2000" fill="hold"/>
                                        <p:tgtEl>
                                          <p:spTgt spid="39"/>
                                        </p:tgtEl>
                                        <p:attrNameLst>
                                          <p:attrName>ppt_x</p:attrName>
                                          <p:attrName>ppt_y</p:attrName>
                                        </p:attrNameLst>
                                      </p:cBhvr>
                                      <p:rCtr x="2878" y="0"/>
                                    </p:animMotion>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7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63" presetClass="path" presetSubtype="0" accel="50000" decel="50000" fill="hold" nodeType="clickEffect">
                                  <p:stCondLst>
                                    <p:cond delay="0"/>
                                  </p:stCondLst>
                                  <p:childTnLst>
                                    <p:animMotion origin="layout" path="M 1.04167E-6 -2.96296E-6 L 0.03216 -2.96296E-6 " pathEditMode="relative" rAng="0" ptsTypes="AA">
                                      <p:cBhvr>
                                        <p:cTn id="86" dur="2000" fill="hold"/>
                                        <p:tgtEl>
                                          <p:spTgt spid="53"/>
                                        </p:tgtEl>
                                        <p:attrNameLst>
                                          <p:attrName>ppt_x</p:attrName>
                                          <p:attrName>ppt_y</p:attrName>
                                        </p:attrNameLst>
                                      </p:cBhvr>
                                      <p:rCtr x="1602" y="0"/>
                                    </p:animMotion>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6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7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73"/>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67"/>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50"/>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77"/>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63" presetClass="path" presetSubtype="0" accel="50000" decel="50000" fill="hold" nodeType="clickEffect">
                                  <p:stCondLst>
                                    <p:cond delay="0"/>
                                  </p:stCondLst>
                                  <p:childTnLst>
                                    <p:animMotion origin="layout" path="M -2.29167E-6 1.85185E-6 L 0.04024 1.85185E-6 " pathEditMode="relative" rAng="0" ptsTypes="AA">
                                      <p:cBhvr>
                                        <p:cTn id="118" dur="2000" fill="hold"/>
                                        <p:tgtEl>
                                          <p:spTgt spid="77"/>
                                        </p:tgtEl>
                                        <p:attrNameLst>
                                          <p:attrName>ppt_x</p:attrName>
                                          <p:attrName>ppt_y</p:attrName>
                                        </p:attrNameLst>
                                      </p:cBhvr>
                                      <p:rCtr x="2005" y="0"/>
                                    </p:animMotion>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8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6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88"/>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89"/>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9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91"/>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83"/>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92"/>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95"/>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63" presetClass="path" presetSubtype="0" accel="50000" decel="50000" fill="hold" nodeType="clickEffect">
                                  <p:stCondLst>
                                    <p:cond delay="0"/>
                                  </p:stCondLst>
                                  <p:childTnLst>
                                    <p:animMotion origin="layout" path="M 1.04167E-6 2.59259E-6 L 0.03958 2.59259E-6 " pathEditMode="relative" rAng="0" ptsTypes="AA">
                                      <p:cBhvr>
                                        <p:cTn id="152" dur="2000" fill="hold"/>
                                        <p:tgtEl>
                                          <p:spTgt spid="92"/>
                                        </p:tgtEl>
                                        <p:attrNameLst>
                                          <p:attrName>ppt_x</p:attrName>
                                          <p:attrName>ppt_y</p:attrName>
                                        </p:attrNameLst>
                                      </p:cBhvr>
                                      <p:rCtr x="1979" y="0"/>
                                    </p:animMotion>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98"/>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xit" presetSubtype="0" fill="hold" grpId="1" nodeType="clickEffect">
                                  <p:stCondLst>
                                    <p:cond delay="0"/>
                                  </p:stCondLst>
                                  <p:childTnLst>
                                    <p:set>
                                      <p:cBhvr>
                                        <p:cTn id="160" dur="1" fill="hold">
                                          <p:stCondLst>
                                            <p:cond delay="0"/>
                                          </p:stCondLst>
                                        </p:cTn>
                                        <p:tgtEl>
                                          <p:spTgt spid="89"/>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99"/>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100"/>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101"/>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06"/>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07"/>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111"/>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108"/>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63" presetClass="path" presetSubtype="0" accel="50000" decel="50000" fill="hold" nodeType="clickEffect">
                                  <p:stCondLst>
                                    <p:cond delay="0"/>
                                  </p:stCondLst>
                                  <p:childTnLst>
                                    <p:animMotion origin="layout" path="M -1.04167E-6 -3.33333E-6 L 0.02734 -3.33333E-6 " pathEditMode="relative" rAng="0" ptsTypes="AA">
                                      <p:cBhvr>
                                        <p:cTn id="184" dur="2000" fill="hold"/>
                                        <p:tgtEl>
                                          <p:spTgt spid="111"/>
                                        </p:tgtEl>
                                        <p:attrNameLst>
                                          <p:attrName>ppt_x</p:attrName>
                                          <p:attrName>ppt_y</p:attrName>
                                        </p:attrNameLst>
                                      </p:cBhvr>
                                      <p:rCtr x="1354" y="0"/>
                                    </p:animMotion>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114"/>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xit" presetSubtype="0" fill="hold" grpId="1" nodeType="clickEffect">
                                  <p:stCondLst>
                                    <p:cond delay="0"/>
                                  </p:stCondLst>
                                  <p:childTnLst>
                                    <p:set>
                                      <p:cBhvr>
                                        <p:cTn id="192" dur="1" fill="hold">
                                          <p:stCondLst>
                                            <p:cond delay="0"/>
                                          </p:stCondLst>
                                        </p:cTn>
                                        <p:tgtEl>
                                          <p:spTgt spid="106"/>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nodeType="clickEffect">
                                  <p:stCondLst>
                                    <p:cond delay="0"/>
                                  </p:stCondLst>
                                  <p:childTnLst>
                                    <p:set>
                                      <p:cBhvr>
                                        <p:cTn id="196" dur="1" fill="hold">
                                          <p:stCondLst>
                                            <p:cond delay="0"/>
                                          </p:stCondLst>
                                        </p:cTn>
                                        <p:tgtEl>
                                          <p:spTgt spid="65"/>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115"/>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nodeType="clickEffect">
                                  <p:stCondLst>
                                    <p:cond delay="0"/>
                                  </p:stCondLst>
                                  <p:childTnLst>
                                    <p:set>
                                      <p:cBhvr>
                                        <p:cTn id="204" dur="1" fill="hold">
                                          <p:stCondLst>
                                            <p:cond delay="0"/>
                                          </p:stCondLst>
                                        </p:cTn>
                                        <p:tgtEl>
                                          <p:spTgt spid="116"/>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127"/>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121"/>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124"/>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63" presetClass="path" presetSubtype="0" accel="50000" decel="50000" fill="hold" nodeType="clickEffect">
                                  <p:stCondLst>
                                    <p:cond delay="0"/>
                                  </p:stCondLst>
                                  <p:childTnLst>
                                    <p:animMotion origin="layout" path="M 6.25E-7 -4.07407E-6 L 0.0293 -4.07407E-6 " pathEditMode="relative" rAng="0" ptsTypes="AA">
                                      <p:cBhvr>
                                        <p:cTn id="214" dur="2000" fill="hold"/>
                                        <p:tgtEl>
                                          <p:spTgt spid="124"/>
                                        </p:tgtEl>
                                        <p:attrNameLst>
                                          <p:attrName>ppt_x</p:attrName>
                                          <p:attrName>ppt_y</p:attrName>
                                        </p:attrNameLst>
                                      </p:cBhvr>
                                      <p:rCtr x="1628" y="0"/>
                                    </p:animMotion>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128"/>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130"/>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66"/>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131"/>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20"/>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138"/>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139"/>
                                        </p:tgtEl>
                                        <p:attrNameLst>
                                          <p:attrName>style.visibility</p:attrName>
                                        </p:attrNameLst>
                                      </p:cBhvr>
                                      <p:to>
                                        <p:strVal val="visible"/>
                                      </p:to>
                                    </p:set>
                                  </p:childTnLst>
                                </p:cTn>
                              </p:par>
                              <p:par>
                                <p:cTn id="239" presetID="1" presetClass="entr" presetSubtype="0" fill="hold" nodeType="withEffect">
                                  <p:stCondLst>
                                    <p:cond delay="0"/>
                                  </p:stCondLst>
                                  <p:childTnLst>
                                    <p:set>
                                      <p:cBhvr>
                                        <p:cTn id="240" dur="1" fill="hold">
                                          <p:stCondLst>
                                            <p:cond delay="0"/>
                                          </p:stCondLst>
                                        </p:cTn>
                                        <p:tgtEl>
                                          <p:spTgt spid="135"/>
                                        </p:tgtEl>
                                        <p:attrNameLst>
                                          <p:attrName>style.visibility</p:attrName>
                                        </p:attrNameLst>
                                      </p:cBhvr>
                                      <p:to>
                                        <p:strVal val="visible"/>
                                      </p:to>
                                    </p:set>
                                  </p:childTnLst>
                                </p:cTn>
                              </p:par>
                              <p:par>
                                <p:cTn id="241" presetID="1" presetClass="entr" presetSubtype="0" fill="hold" nodeType="withEffect">
                                  <p:stCondLst>
                                    <p:cond delay="0"/>
                                  </p:stCondLst>
                                  <p:childTnLst>
                                    <p:set>
                                      <p:cBhvr>
                                        <p:cTn id="242" dur="1" fill="hold">
                                          <p:stCondLst>
                                            <p:cond delay="0"/>
                                          </p:stCondLst>
                                        </p:cTn>
                                        <p:tgtEl>
                                          <p:spTgt spid="132"/>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grpId="0" nodeType="clickEffect">
                                  <p:stCondLst>
                                    <p:cond delay="0"/>
                                  </p:stCondLst>
                                  <p:childTnLst>
                                    <p:set>
                                      <p:cBhvr>
                                        <p:cTn id="246" dur="1" fill="hold">
                                          <p:stCondLst>
                                            <p:cond delay="0"/>
                                          </p:stCondLst>
                                        </p:cTn>
                                        <p:tgtEl>
                                          <p:spTgt spid="140"/>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143"/>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grpId="0" nodeType="clickEffect">
                                  <p:stCondLst>
                                    <p:cond delay="0"/>
                                  </p:stCondLst>
                                  <p:childTnLst>
                                    <p:set>
                                      <p:cBhvr>
                                        <p:cTn id="254" dur="1" fill="hold">
                                          <p:stCondLst>
                                            <p:cond delay="0"/>
                                          </p:stCondLst>
                                        </p:cTn>
                                        <p:tgtEl>
                                          <p:spTgt spid="141"/>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grpId="0" nodeType="clickEffect">
                                  <p:stCondLst>
                                    <p:cond delay="0"/>
                                  </p:stCondLst>
                                  <p:childTnLst>
                                    <p:set>
                                      <p:cBhvr>
                                        <p:cTn id="258" dur="1" fill="hold">
                                          <p:stCondLst>
                                            <p:cond delay="0"/>
                                          </p:stCondLst>
                                        </p:cTn>
                                        <p:tgtEl>
                                          <p:spTgt spid="142"/>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grpId="0" nodeType="clickEffect">
                                  <p:stCondLst>
                                    <p:cond delay="0"/>
                                  </p:stCondLst>
                                  <p:childTnLst>
                                    <p:set>
                                      <p:cBhvr>
                                        <p:cTn id="262"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P spid="35" grpId="0"/>
      <p:bldP spid="38" grpId="0"/>
      <p:bldP spid="45" grpId="0"/>
      <p:bldP spid="46" grpId="0"/>
      <p:bldP spid="47" grpId="0"/>
      <p:bldP spid="49" grpId="0"/>
      <p:bldP spid="56" grpId="0"/>
      <p:bldP spid="57" grpId="0"/>
      <p:bldP spid="58" grpId="0"/>
      <p:bldP spid="63" grpId="0"/>
      <p:bldP spid="72" grpId="0"/>
      <p:bldP spid="73" grpId="0"/>
      <p:bldP spid="80" grpId="0"/>
      <p:bldP spid="88" grpId="0"/>
      <p:bldP spid="89" grpId="0"/>
      <p:bldP spid="89" grpId="1"/>
      <p:bldP spid="90" grpId="0"/>
      <p:bldP spid="91" grpId="0"/>
      <p:bldP spid="98" grpId="0"/>
      <p:bldP spid="100" grpId="0"/>
      <p:bldP spid="106" grpId="0"/>
      <p:bldP spid="106" grpId="1"/>
      <p:bldP spid="107" grpId="0"/>
      <p:bldP spid="114" grpId="0"/>
      <p:bldP spid="115" grpId="0"/>
      <p:bldP spid="127" grpId="0"/>
      <p:bldP spid="128" grpId="0"/>
      <p:bldP spid="130" grpId="0"/>
      <p:bldP spid="131" grpId="0"/>
      <p:bldP spid="138" grpId="0"/>
      <p:bldP spid="139" grpId="0"/>
      <p:bldP spid="140" grpId="0"/>
      <p:bldP spid="141" grpId="0"/>
      <p:bldP spid="142" grpId="0"/>
      <p:bldP spid="14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6ED680-ECDA-2C59-AF2D-3A5BD1081CCA}"/>
              </a:ext>
            </a:extLst>
          </p:cNvPr>
          <p:cNvSpPr>
            <a:spLocks noGrp="1"/>
          </p:cNvSpPr>
          <p:nvPr>
            <p:ph type="title"/>
          </p:nvPr>
        </p:nvSpPr>
        <p:spPr/>
        <p:txBody>
          <a:bodyPr/>
          <a:lstStyle/>
          <a:p>
            <a:r>
              <a:rPr lang="en-US" dirty="0"/>
              <a:t>Circular Queue</a:t>
            </a:r>
          </a:p>
        </p:txBody>
      </p:sp>
      <p:sp>
        <p:nvSpPr>
          <p:cNvPr id="5" name="Text Placeholder 4">
            <a:extLst>
              <a:ext uri="{FF2B5EF4-FFF2-40B4-BE49-F238E27FC236}">
                <a16:creationId xmlns:a16="http://schemas.microsoft.com/office/drawing/2014/main" id="{FB5B7375-27ED-AEFF-9C20-9AC5FE68592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801022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3367A-ADBB-DC6D-7347-6870C59D59F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EC6CCDA-32A4-EE6B-06EB-A6BE6361A872}"/>
              </a:ext>
            </a:extLst>
          </p:cNvPr>
          <p:cNvSpPr>
            <a:spLocks noGrp="1"/>
          </p:cNvSpPr>
          <p:nvPr>
            <p:ph type="title"/>
          </p:nvPr>
        </p:nvSpPr>
        <p:spPr/>
        <p:txBody>
          <a:bodyPr/>
          <a:lstStyle/>
          <a:p>
            <a:r>
              <a:rPr lang="en-US" dirty="0"/>
              <a:t>Circular Queue - Introduction</a:t>
            </a:r>
            <a:endParaRPr lang="en-IN" dirty="0"/>
          </a:p>
        </p:txBody>
      </p:sp>
      <p:graphicFrame>
        <p:nvGraphicFramePr>
          <p:cNvPr id="9" name="Content Placeholder 4">
            <a:extLst>
              <a:ext uri="{FF2B5EF4-FFF2-40B4-BE49-F238E27FC236}">
                <a16:creationId xmlns:a16="http://schemas.microsoft.com/office/drawing/2014/main" id="{E1C7544B-7176-31AF-7C3A-33E63A04BFB0}"/>
              </a:ext>
            </a:extLst>
          </p:cNvPr>
          <p:cNvGraphicFramePr>
            <a:graphicFrameLocks/>
          </p:cNvGraphicFramePr>
          <p:nvPr>
            <p:extLst/>
          </p:nvPr>
        </p:nvGraphicFramePr>
        <p:xfrm>
          <a:off x="1114541" y="2912328"/>
          <a:ext cx="3745150" cy="1108954"/>
        </p:xfrm>
        <a:graphic>
          <a:graphicData uri="http://schemas.openxmlformats.org/drawingml/2006/table">
            <a:tbl>
              <a:tblPr firstRow="1" bandRow="1">
                <a:tableStyleId>{9D7B26C5-4107-4FEC-AEDC-1716B250A1EF}</a:tableStyleId>
              </a:tblPr>
              <a:tblGrid>
                <a:gridCol w="749030">
                  <a:extLst>
                    <a:ext uri="{9D8B030D-6E8A-4147-A177-3AD203B41FA5}">
                      <a16:colId xmlns:a16="http://schemas.microsoft.com/office/drawing/2014/main" val="2000511168"/>
                    </a:ext>
                  </a:extLst>
                </a:gridCol>
                <a:gridCol w="749030">
                  <a:extLst>
                    <a:ext uri="{9D8B030D-6E8A-4147-A177-3AD203B41FA5}">
                      <a16:colId xmlns:a16="http://schemas.microsoft.com/office/drawing/2014/main" val="3405553145"/>
                    </a:ext>
                  </a:extLst>
                </a:gridCol>
                <a:gridCol w="749030">
                  <a:extLst>
                    <a:ext uri="{9D8B030D-6E8A-4147-A177-3AD203B41FA5}">
                      <a16:colId xmlns:a16="http://schemas.microsoft.com/office/drawing/2014/main" val="2161352027"/>
                    </a:ext>
                  </a:extLst>
                </a:gridCol>
                <a:gridCol w="749030">
                  <a:extLst>
                    <a:ext uri="{9D8B030D-6E8A-4147-A177-3AD203B41FA5}">
                      <a16:colId xmlns:a16="http://schemas.microsoft.com/office/drawing/2014/main" val="991466511"/>
                    </a:ext>
                  </a:extLst>
                </a:gridCol>
                <a:gridCol w="749030">
                  <a:extLst>
                    <a:ext uri="{9D8B030D-6E8A-4147-A177-3AD203B41FA5}">
                      <a16:colId xmlns:a16="http://schemas.microsoft.com/office/drawing/2014/main" val="546526451"/>
                    </a:ext>
                  </a:extLst>
                </a:gridCol>
              </a:tblGrid>
              <a:tr h="554477">
                <a:tc>
                  <a:txBody>
                    <a:bodyPr/>
                    <a:lstStyle/>
                    <a:p>
                      <a:pPr algn="ctr"/>
                      <a:r>
                        <a:rPr lang="en-US" dirty="0"/>
                        <a:t>0</a:t>
                      </a:r>
                      <a:endParaRPr lang="en-IN" dirty="0"/>
                    </a:p>
                  </a:txBody>
                  <a:tcPr anchor="ctr"/>
                </a:tc>
                <a:tc>
                  <a:txBody>
                    <a:bodyPr/>
                    <a:lstStyle/>
                    <a:p>
                      <a:pPr algn="ctr"/>
                      <a:r>
                        <a:rPr lang="en-US" dirty="0"/>
                        <a:t>1</a:t>
                      </a:r>
                      <a:endParaRPr lang="en-IN" dirty="0"/>
                    </a:p>
                  </a:txBody>
                  <a:tcPr anchor="ctr"/>
                </a:tc>
                <a:tc>
                  <a:txBody>
                    <a:bodyPr/>
                    <a:lstStyle/>
                    <a:p>
                      <a:pPr algn="ctr"/>
                      <a:r>
                        <a:rPr lang="en-US" dirty="0"/>
                        <a:t>2</a:t>
                      </a:r>
                      <a:endParaRPr lang="en-IN" dirty="0"/>
                    </a:p>
                  </a:txBody>
                  <a:tcPr anchor="ctr"/>
                </a:tc>
                <a:tc>
                  <a:txBody>
                    <a:bodyPr/>
                    <a:lstStyle/>
                    <a:p>
                      <a:pPr algn="ctr"/>
                      <a:r>
                        <a:rPr lang="en-US" dirty="0"/>
                        <a:t>3</a:t>
                      </a:r>
                      <a:endParaRPr lang="en-IN" dirty="0"/>
                    </a:p>
                  </a:txBody>
                  <a:tcPr anchor="ctr"/>
                </a:tc>
                <a:tc>
                  <a:txBody>
                    <a:bodyPr/>
                    <a:lstStyle/>
                    <a:p>
                      <a:pPr algn="ctr"/>
                      <a:r>
                        <a:rPr lang="en-US" dirty="0"/>
                        <a:t>4</a:t>
                      </a:r>
                      <a:endParaRPr lang="en-IN" dirty="0"/>
                    </a:p>
                  </a:txBody>
                  <a:tcPr anchor="ctr"/>
                </a:tc>
                <a:extLst>
                  <a:ext uri="{0D108BD9-81ED-4DB2-BD59-A6C34878D82A}">
                    <a16:rowId xmlns:a16="http://schemas.microsoft.com/office/drawing/2014/main" val="2175527213"/>
                  </a:ext>
                </a:extLst>
              </a:tr>
              <a:tr h="554477">
                <a:tc>
                  <a:txBody>
                    <a:bodyPr/>
                    <a:lstStyle/>
                    <a:p>
                      <a:pPr algn="ctr"/>
                      <a:endParaRPr lang="en-IN" dirty="0"/>
                    </a:p>
                  </a:txBody>
                  <a:tcPr anchor="ctr"/>
                </a:tc>
                <a:tc>
                  <a:txBody>
                    <a:bodyPr/>
                    <a:lstStyle/>
                    <a:p>
                      <a:pPr algn="ctr"/>
                      <a:endParaRPr lang="en-IN" dirty="0"/>
                    </a:p>
                  </a:txBody>
                  <a:tcPr anchor="ctr"/>
                </a:tc>
                <a:tc>
                  <a:txBody>
                    <a:bodyPr/>
                    <a:lstStyle/>
                    <a:p>
                      <a:pPr algn="ctr"/>
                      <a:endParaRPr lang="en-IN" dirty="0"/>
                    </a:p>
                  </a:txBody>
                  <a:tcPr anchor="ctr"/>
                </a:tc>
                <a:tc>
                  <a:txBody>
                    <a:bodyPr/>
                    <a:lstStyle/>
                    <a:p>
                      <a:pPr algn="ctr"/>
                      <a:endParaRPr lang="en-IN" dirty="0"/>
                    </a:p>
                  </a:txBody>
                  <a:tcPr anchor="ctr"/>
                </a:tc>
                <a:tc>
                  <a:txBody>
                    <a:bodyPr/>
                    <a:lstStyle/>
                    <a:p>
                      <a:pPr algn="ctr"/>
                      <a:endParaRPr lang="en-IN" dirty="0"/>
                    </a:p>
                  </a:txBody>
                  <a:tcPr anchor="ctr"/>
                </a:tc>
                <a:extLst>
                  <a:ext uri="{0D108BD9-81ED-4DB2-BD59-A6C34878D82A}">
                    <a16:rowId xmlns:a16="http://schemas.microsoft.com/office/drawing/2014/main" val="744884186"/>
                  </a:ext>
                </a:extLst>
              </a:tr>
            </a:tbl>
          </a:graphicData>
        </a:graphic>
      </p:graphicFrame>
      <p:sp>
        <p:nvSpPr>
          <p:cNvPr id="10" name="TextBox 9">
            <a:extLst>
              <a:ext uri="{FF2B5EF4-FFF2-40B4-BE49-F238E27FC236}">
                <a16:creationId xmlns:a16="http://schemas.microsoft.com/office/drawing/2014/main" id="{FF2DC76E-8DAE-0677-C6FE-2817036BC0F9}"/>
              </a:ext>
            </a:extLst>
          </p:cNvPr>
          <p:cNvSpPr txBox="1"/>
          <p:nvPr/>
        </p:nvSpPr>
        <p:spPr>
          <a:xfrm>
            <a:off x="395662" y="3452655"/>
            <a:ext cx="689612" cy="461665"/>
          </a:xfrm>
          <a:prstGeom prst="rect">
            <a:avLst/>
          </a:prstGeom>
          <a:noFill/>
        </p:spPr>
        <p:txBody>
          <a:bodyPr wrap="none" rtlCol="0">
            <a:spAutoFit/>
          </a:bodyPr>
          <a:lstStyle/>
          <a:p>
            <a:r>
              <a:rPr lang="en-US" sz="2400" b="1" dirty="0">
                <a:solidFill>
                  <a:schemeClr val="accent6"/>
                </a:solidFill>
              </a:rPr>
              <a:t>Q[] :</a:t>
            </a:r>
            <a:endParaRPr lang="en-IN" sz="2400" b="1" dirty="0">
              <a:solidFill>
                <a:schemeClr val="accent6"/>
              </a:solidFill>
            </a:endParaRPr>
          </a:p>
        </p:txBody>
      </p:sp>
      <p:sp>
        <p:nvSpPr>
          <p:cNvPr id="60" name="TextBox 59">
            <a:extLst>
              <a:ext uri="{FF2B5EF4-FFF2-40B4-BE49-F238E27FC236}">
                <a16:creationId xmlns:a16="http://schemas.microsoft.com/office/drawing/2014/main" id="{3705B2B0-4928-5DC5-0FF9-79ABFBF5B3B0}"/>
              </a:ext>
            </a:extLst>
          </p:cNvPr>
          <p:cNvSpPr txBox="1"/>
          <p:nvPr/>
        </p:nvSpPr>
        <p:spPr>
          <a:xfrm>
            <a:off x="1311252" y="2411750"/>
            <a:ext cx="330540" cy="461665"/>
          </a:xfrm>
          <a:prstGeom prst="rect">
            <a:avLst/>
          </a:prstGeom>
          <a:noFill/>
        </p:spPr>
        <p:txBody>
          <a:bodyPr wrap="none" rtlCol="0">
            <a:spAutoFit/>
          </a:bodyPr>
          <a:lstStyle/>
          <a:p>
            <a:r>
              <a:rPr lang="en-US" sz="2400" b="1" dirty="0">
                <a:solidFill>
                  <a:schemeClr val="accent6"/>
                </a:solidFill>
              </a:rPr>
              <a:t>F</a:t>
            </a:r>
            <a:endParaRPr lang="en-IN" sz="2400" b="1" dirty="0">
              <a:solidFill>
                <a:schemeClr val="accent6"/>
              </a:solidFill>
            </a:endParaRPr>
          </a:p>
        </p:txBody>
      </p:sp>
      <p:sp>
        <p:nvSpPr>
          <p:cNvPr id="61" name="TextBox 60">
            <a:extLst>
              <a:ext uri="{FF2B5EF4-FFF2-40B4-BE49-F238E27FC236}">
                <a16:creationId xmlns:a16="http://schemas.microsoft.com/office/drawing/2014/main" id="{EEA98FA4-68BB-EB39-EC2B-9AFA27E22A97}"/>
              </a:ext>
            </a:extLst>
          </p:cNvPr>
          <p:cNvSpPr txBox="1"/>
          <p:nvPr/>
        </p:nvSpPr>
        <p:spPr>
          <a:xfrm>
            <a:off x="1299230" y="4088733"/>
            <a:ext cx="354584" cy="461665"/>
          </a:xfrm>
          <a:prstGeom prst="rect">
            <a:avLst/>
          </a:prstGeom>
          <a:noFill/>
        </p:spPr>
        <p:txBody>
          <a:bodyPr wrap="none" rtlCol="0">
            <a:spAutoFit/>
          </a:bodyPr>
          <a:lstStyle/>
          <a:p>
            <a:r>
              <a:rPr lang="en-US" sz="2400" b="1" dirty="0">
                <a:solidFill>
                  <a:schemeClr val="accent6"/>
                </a:solidFill>
              </a:rPr>
              <a:t>R</a:t>
            </a:r>
            <a:endParaRPr lang="en-IN" sz="2400" b="1" dirty="0">
              <a:solidFill>
                <a:schemeClr val="accent6"/>
              </a:solidFill>
            </a:endParaRPr>
          </a:p>
        </p:txBody>
      </p:sp>
      <p:sp>
        <p:nvSpPr>
          <p:cNvPr id="62" name="TextBox 61">
            <a:extLst>
              <a:ext uri="{FF2B5EF4-FFF2-40B4-BE49-F238E27FC236}">
                <a16:creationId xmlns:a16="http://schemas.microsoft.com/office/drawing/2014/main" id="{68F67628-FA86-70E4-E336-FCCD175281A3}"/>
              </a:ext>
            </a:extLst>
          </p:cNvPr>
          <p:cNvSpPr txBox="1"/>
          <p:nvPr/>
        </p:nvSpPr>
        <p:spPr>
          <a:xfrm>
            <a:off x="1213480" y="3523453"/>
            <a:ext cx="495649" cy="461665"/>
          </a:xfrm>
          <a:prstGeom prst="rect">
            <a:avLst/>
          </a:prstGeom>
          <a:noFill/>
        </p:spPr>
        <p:txBody>
          <a:bodyPr wrap="none" rtlCol="0">
            <a:spAutoFit/>
          </a:bodyPr>
          <a:lstStyle/>
          <a:p>
            <a:r>
              <a:rPr lang="en-US" sz="2400" b="1" dirty="0"/>
              <a:t>10</a:t>
            </a:r>
            <a:endParaRPr lang="en-IN" sz="2400" b="1" dirty="0"/>
          </a:p>
        </p:txBody>
      </p:sp>
      <p:sp>
        <p:nvSpPr>
          <p:cNvPr id="63" name="TextBox 62">
            <a:extLst>
              <a:ext uri="{FF2B5EF4-FFF2-40B4-BE49-F238E27FC236}">
                <a16:creationId xmlns:a16="http://schemas.microsoft.com/office/drawing/2014/main" id="{82980050-23F1-7DA3-CD26-75BB20A190FE}"/>
              </a:ext>
            </a:extLst>
          </p:cNvPr>
          <p:cNvSpPr txBox="1"/>
          <p:nvPr/>
        </p:nvSpPr>
        <p:spPr>
          <a:xfrm>
            <a:off x="-10137" y="729437"/>
            <a:ext cx="2447233" cy="553998"/>
          </a:xfrm>
          <a:prstGeom prst="rect">
            <a:avLst/>
          </a:prstGeom>
          <a:solidFill>
            <a:srgbClr val="002060"/>
          </a:solidFill>
        </p:spPr>
        <p:txBody>
          <a:bodyPr wrap="square" rtlCol="0">
            <a:spAutoFit/>
          </a:bodyPr>
          <a:lstStyle>
            <a:defPPr>
              <a:defRPr lang="en-US"/>
            </a:defPPr>
            <a:lvl1pPr>
              <a:defRPr sz="2800" b="1">
                <a:solidFill>
                  <a:schemeClr val="bg1"/>
                </a:solidFill>
                <a:latin typeface="+mj-lt"/>
              </a:defRPr>
            </a:lvl1pPr>
          </a:lstStyle>
          <a:p>
            <a:r>
              <a:rPr lang="en-IN" dirty="0"/>
              <a:t>Simple Queue</a:t>
            </a:r>
          </a:p>
        </p:txBody>
      </p:sp>
      <p:sp>
        <p:nvSpPr>
          <p:cNvPr id="67" name="TextBox 66">
            <a:extLst>
              <a:ext uri="{FF2B5EF4-FFF2-40B4-BE49-F238E27FC236}">
                <a16:creationId xmlns:a16="http://schemas.microsoft.com/office/drawing/2014/main" id="{0397388F-D24D-5C90-E874-68D65613BB99}"/>
              </a:ext>
            </a:extLst>
          </p:cNvPr>
          <p:cNvSpPr txBox="1"/>
          <p:nvPr/>
        </p:nvSpPr>
        <p:spPr>
          <a:xfrm>
            <a:off x="6228360" y="2537061"/>
            <a:ext cx="1732568" cy="492443"/>
          </a:xfrm>
          <a:prstGeom prst="rect">
            <a:avLst/>
          </a:prstGeom>
          <a:noFill/>
        </p:spPr>
        <p:txBody>
          <a:bodyPr wrap="square" rtlCol="0">
            <a:spAutoFit/>
          </a:bodyPr>
          <a:lstStyle/>
          <a:p>
            <a:r>
              <a:rPr lang="en-US" sz="2600" b="1" dirty="0">
                <a:solidFill>
                  <a:schemeClr val="accent6"/>
                </a:solidFill>
              </a:rPr>
              <a:t>F = R = -1</a:t>
            </a:r>
            <a:endParaRPr lang="en-IN" sz="2600" b="1" dirty="0">
              <a:solidFill>
                <a:schemeClr val="accent6"/>
              </a:solidFill>
            </a:endParaRPr>
          </a:p>
        </p:txBody>
      </p:sp>
      <p:sp>
        <p:nvSpPr>
          <p:cNvPr id="68" name="TextBox 67">
            <a:extLst>
              <a:ext uri="{FF2B5EF4-FFF2-40B4-BE49-F238E27FC236}">
                <a16:creationId xmlns:a16="http://schemas.microsoft.com/office/drawing/2014/main" id="{366B5851-DB06-E7A4-9E0F-AAEB9A729AF9}"/>
              </a:ext>
            </a:extLst>
          </p:cNvPr>
          <p:cNvSpPr txBox="1"/>
          <p:nvPr/>
        </p:nvSpPr>
        <p:spPr>
          <a:xfrm flipH="1">
            <a:off x="9689685" y="1660445"/>
            <a:ext cx="2354581" cy="430887"/>
          </a:xfrm>
          <a:prstGeom prst="rect">
            <a:avLst/>
          </a:prstGeom>
          <a:noFill/>
        </p:spPr>
        <p:txBody>
          <a:bodyPr wrap="square" rtlCol="0">
            <a:spAutoFit/>
          </a:bodyPr>
          <a:lstStyle/>
          <a:p>
            <a:pPr algn="r"/>
            <a:r>
              <a:rPr lang="en-IN" sz="2200" b="1" dirty="0"/>
              <a:t>Enqueue(10)</a:t>
            </a:r>
          </a:p>
        </p:txBody>
      </p:sp>
      <p:sp>
        <p:nvSpPr>
          <p:cNvPr id="69" name="TextBox 68">
            <a:extLst>
              <a:ext uri="{FF2B5EF4-FFF2-40B4-BE49-F238E27FC236}">
                <a16:creationId xmlns:a16="http://schemas.microsoft.com/office/drawing/2014/main" id="{A39022D9-CF35-6FCE-453B-4F39AFF6E462}"/>
              </a:ext>
            </a:extLst>
          </p:cNvPr>
          <p:cNvSpPr txBox="1"/>
          <p:nvPr/>
        </p:nvSpPr>
        <p:spPr>
          <a:xfrm flipH="1">
            <a:off x="9689684" y="2163928"/>
            <a:ext cx="2354581" cy="430887"/>
          </a:xfrm>
          <a:prstGeom prst="rect">
            <a:avLst/>
          </a:prstGeom>
          <a:noFill/>
        </p:spPr>
        <p:txBody>
          <a:bodyPr wrap="square" rtlCol="0">
            <a:spAutoFit/>
          </a:bodyPr>
          <a:lstStyle/>
          <a:p>
            <a:pPr algn="r"/>
            <a:r>
              <a:rPr lang="en-IN" sz="2200" b="1" dirty="0"/>
              <a:t>Enqueue(20)</a:t>
            </a:r>
          </a:p>
        </p:txBody>
      </p:sp>
      <p:sp>
        <p:nvSpPr>
          <p:cNvPr id="70" name="TextBox 69">
            <a:extLst>
              <a:ext uri="{FF2B5EF4-FFF2-40B4-BE49-F238E27FC236}">
                <a16:creationId xmlns:a16="http://schemas.microsoft.com/office/drawing/2014/main" id="{9DAAF0DC-5D47-00D3-AC43-470FDF17001C}"/>
              </a:ext>
            </a:extLst>
          </p:cNvPr>
          <p:cNvSpPr txBox="1"/>
          <p:nvPr/>
        </p:nvSpPr>
        <p:spPr>
          <a:xfrm>
            <a:off x="1980031" y="3523452"/>
            <a:ext cx="495649" cy="461665"/>
          </a:xfrm>
          <a:prstGeom prst="rect">
            <a:avLst/>
          </a:prstGeom>
          <a:noFill/>
        </p:spPr>
        <p:txBody>
          <a:bodyPr wrap="none" rtlCol="0">
            <a:spAutoFit/>
          </a:bodyPr>
          <a:lstStyle/>
          <a:p>
            <a:r>
              <a:rPr lang="en-US" sz="2400" b="1" dirty="0"/>
              <a:t>20</a:t>
            </a:r>
            <a:endParaRPr lang="en-IN" sz="2400" b="1" dirty="0"/>
          </a:p>
        </p:txBody>
      </p:sp>
      <p:sp>
        <p:nvSpPr>
          <p:cNvPr id="71" name="TextBox 70">
            <a:extLst>
              <a:ext uri="{FF2B5EF4-FFF2-40B4-BE49-F238E27FC236}">
                <a16:creationId xmlns:a16="http://schemas.microsoft.com/office/drawing/2014/main" id="{DAAA52B3-6EC9-1953-556F-E80AB689B61C}"/>
              </a:ext>
            </a:extLst>
          </p:cNvPr>
          <p:cNvSpPr txBox="1"/>
          <p:nvPr/>
        </p:nvSpPr>
        <p:spPr>
          <a:xfrm flipH="1">
            <a:off x="9689685" y="2614272"/>
            <a:ext cx="2354581" cy="430887"/>
          </a:xfrm>
          <a:prstGeom prst="rect">
            <a:avLst/>
          </a:prstGeom>
          <a:noFill/>
        </p:spPr>
        <p:txBody>
          <a:bodyPr wrap="square" rtlCol="0">
            <a:spAutoFit/>
          </a:bodyPr>
          <a:lstStyle/>
          <a:p>
            <a:pPr algn="r"/>
            <a:r>
              <a:rPr lang="en-IN" sz="2200" b="1" dirty="0"/>
              <a:t>Enqueue(30)</a:t>
            </a:r>
          </a:p>
        </p:txBody>
      </p:sp>
      <p:sp>
        <p:nvSpPr>
          <p:cNvPr id="72" name="TextBox 71">
            <a:extLst>
              <a:ext uri="{FF2B5EF4-FFF2-40B4-BE49-F238E27FC236}">
                <a16:creationId xmlns:a16="http://schemas.microsoft.com/office/drawing/2014/main" id="{8FA57717-6FB8-ADD3-F741-1179762F9DFF}"/>
              </a:ext>
            </a:extLst>
          </p:cNvPr>
          <p:cNvSpPr txBox="1"/>
          <p:nvPr/>
        </p:nvSpPr>
        <p:spPr>
          <a:xfrm>
            <a:off x="2721253" y="3518166"/>
            <a:ext cx="495649" cy="461665"/>
          </a:xfrm>
          <a:prstGeom prst="rect">
            <a:avLst/>
          </a:prstGeom>
          <a:noFill/>
        </p:spPr>
        <p:txBody>
          <a:bodyPr wrap="none" rtlCol="0">
            <a:spAutoFit/>
          </a:bodyPr>
          <a:lstStyle/>
          <a:p>
            <a:r>
              <a:rPr lang="en-US" sz="2400" b="1" dirty="0"/>
              <a:t>30</a:t>
            </a:r>
            <a:endParaRPr lang="en-IN" sz="2400" b="1" dirty="0"/>
          </a:p>
        </p:txBody>
      </p:sp>
      <p:sp>
        <p:nvSpPr>
          <p:cNvPr id="73" name="TextBox 72">
            <a:extLst>
              <a:ext uri="{FF2B5EF4-FFF2-40B4-BE49-F238E27FC236}">
                <a16:creationId xmlns:a16="http://schemas.microsoft.com/office/drawing/2014/main" id="{299BDB5C-4188-BABC-9ED9-891D23AA8E91}"/>
              </a:ext>
            </a:extLst>
          </p:cNvPr>
          <p:cNvSpPr txBox="1"/>
          <p:nvPr/>
        </p:nvSpPr>
        <p:spPr>
          <a:xfrm flipH="1">
            <a:off x="9689685" y="3087133"/>
            <a:ext cx="2354581" cy="430887"/>
          </a:xfrm>
          <a:prstGeom prst="rect">
            <a:avLst/>
          </a:prstGeom>
          <a:noFill/>
        </p:spPr>
        <p:txBody>
          <a:bodyPr wrap="square" rtlCol="0">
            <a:spAutoFit/>
          </a:bodyPr>
          <a:lstStyle/>
          <a:p>
            <a:pPr algn="r"/>
            <a:r>
              <a:rPr lang="en-IN" sz="2200" b="1" dirty="0"/>
              <a:t>Enqueue(40)</a:t>
            </a:r>
          </a:p>
        </p:txBody>
      </p:sp>
      <p:sp>
        <p:nvSpPr>
          <p:cNvPr id="74" name="TextBox 73">
            <a:extLst>
              <a:ext uri="{FF2B5EF4-FFF2-40B4-BE49-F238E27FC236}">
                <a16:creationId xmlns:a16="http://schemas.microsoft.com/office/drawing/2014/main" id="{D954B8EF-05DE-64B7-A22D-6C74C8C7BC41}"/>
              </a:ext>
            </a:extLst>
          </p:cNvPr>
          <p:cNvSpPr txBox="1"/>
          <p:nvPr/>
        </p:nvSpPr>
        <p:spPr>
          <a:xfrm>
            <a:off x="3462475" y="3523271"/>
            <a:ext cx="495649" cy="461665"/>
          </a:xfrm>
          <a:prstGeom prst="rect">
            <a:avLst/>
          </a:prstGeom>
          <a:noFill/>
        </p:spPr>
        <p:txBody>
          <a:bodyPr wrap="none" rtlCol="0">
            <a:spAutoFit/>
          </a:bodyPr>
          <a:lstStyle/>
          <a:p>
            <a:r>
              <a:rPr lang="en-US" sz="2400" b="1" dirty="0"/>
              <a:t>40</a:t>
            </a:r>
            <a:endParaRPr lang="en-IN" sz="2400" b="1" dirty="0"/>
          </a:p>
        </p:txBody>
      </p:sp>
      <p:sp>
        <p:nvSpPr>
          <p:cNvPr id="75" name="TextBox 74">
            <a:extLst>
              <a:ext uri="{FF2B5EF4-FFF2-40B4-BE49-F238E27FC236}">
                <a16:creationId xmlns:a16="http://schemas.microsoft.com/office/drawing/2014/main" id="{325E5963-F893-6E86-1F43-19C097BE13A9}"/>
              </a:ext>
            </a:extLst>
          </p:cNvPr>
          <p:cNvSpPr txBox="1"/>
          <p:nvPr/>
        </p:nvSpPr>
        <p:spPr>
          <a:xfrm flipH="1">
            <a:off x="9689685" y="3570385"/>
            <a:ext cx="2354581" cy="430887"/>
          </a:xfrm>
          <a:prstGeom prst="rect">
            <a:avLst/>
          </a:prstGeom>
          <a:noFill/>
        </p:spPr>
        <p:txBody>
          <a:bodyPr wrap="square" rtlCol="0">
            <a:spAutoFit/>
          </a:bodyPr>
          <a:lstStyle/>
          <a:p>
            <a:pPr algn="r"/>
            <a:r>
              <a:rPr lang="en-IN" sz="2200" b="1" dirty="0"/>
              <a:t>Enqueue(50)</a:t>
            </a:r>
          </a:p>
        </p:txBody>
      </p:sp>
      <p:sp>
        <p:nvSpPr>
          <p:cNvPr id="76" name="TextBox 75">
            <a:extLst>
              <a:ext uri="{FF2B5EF4-FFF2-40B4-BE49-F238E27FC236}">
                <a16:creationId xmlns:a16="http://schemas.microsoft.com/office/drawing/2014/main" id="{06E3A4E1-2C2F-9D9A-F32F-A18C8D9D3193}"/>
              </a:ext>
            </a:extLst>
          </p:cNvPr>
          <p:cNvSpPr txBox="1"/>
          <p:nvPr/>
        </p:nvSpPr>
        <p:spPr>
          <a:xfrm>
            <a:off x="4203697" y="3518166"/>
            <a:ext cx="495649" cy="461665"/>
          </a:xfrm>
          <a:prstGeom prst="rect">
            <a:avLst/>
          </a:prstGeom>
          <a:noFill/>
        </p:spPr>
        <p:txBody>
          <a:bodyPr wrap="none" rtlCol="0">
            <a:spAutoFit/>
          </a:bodyPr>
          <a:lstStyle/>
          <a:p>
            <a:r>
              <a:rPr lang="en-US" sz="2400" b="1" dirty="0"/>
              <a:t>50</a:t>
            </a:r>
            <a:endParaRPr lang="en-IN" sz="2400" b="1" dirty="0"/>
          </a:p>
        </p:txBody>
      </p:sp>
      <p:sp>
        <p:nvSpPr>
          <p:cNvPr id="77" name="TextBox 76">
            <a:extLst>
              <a:ext uri="{FF2B5EF4-FFF2-40B4-BE49-F238E27FC236}">
                <a16:creationId xmlns:a16="http://schemas.microsoft.com/office/drawing/2014/main" id="{204DA962-5FB4-1251-36EE-2BCEC3C8BC68}"/>
              </a:ext>
            </a:extLst>
          </p:cNvPr>
          <p:cNvSpPr txBox="1"/>
          <p:nvPr/>
        </p:nvSpPr>
        <p:spPr>
          <a:xfrm flipH="1">
            <a:off x="9689685" y="4043245"/>
            <a:ext cx="2354581" cy="430887"/>
          </a:xfrm>
          <a:prstGeom prst="rect">
            <a:avLst/>
          </a:prstGeom>
          <a:noFill/>
        </p:spPr>
        <p:txBody>
          <a:bodyPr wrap="square" rtlCol="0">
            <a:spAutoFit/>
          </a:bodyPr>
          <a:lstStyle/>
          <a:p>
            <a:pPr algn="r"/>
            <a:r>
              <a:rPr lang="en-IN" sz="2200" b="1" dirty="0"/>
              <a:t>Enqueue(60)</a:t>
            </a:r>
          </a:p>
        </p:txBody>
      </p:sp>
      <p:sp>
        <p:nvSpPr>
          <p:cNvPr id="79" name="TextBox 78">
            <a:extLst>
              <a:ext uri="{FF2B5EF4-FFF2-40B4-BE49-F238E27FC236}">
                <a16:creationId xmlns:a16="http://schemas.microsoft.com/office/drawing/2014/main" id="{8BF96911-892A-F1C9-B8F6-A47E2A2DC27E}"/>
              </a:ext>
            </a:extLst>
          </p:cNvPr>
          <p:cNvSpPr txBox="1"/>
          <p:nvPr/>
        </p:nvSpPr>
        <p:spPr>
          <a:xfrm flipH="1">
            <a:off x="10194138" y="4484933"/>
            <a:ext cx="1850128" cy="430887"/>
          </a:xfrm>
          <a:prstGeom prst="rect">
            <a:avLst/>
          </a:prstGeom>
          <a:noFill/>
        </p:spPr>
        <p:txBody>
          <a:bodyPr wrap="square" rtlCol="0">
            <a:spAutoFit/>
          </a:bodyPr>
          <a:lstStyle/>
          <a:p>
            <a:pPr algn="r"/>
            <a:r>
              <a:rPr lang="en-IN" sz="2200" b="1" dirty="0"/>
              <a:t>Dequeue()</a:t>
            </a:r>
          </a:p>
        </p:txBody>
      </p:sp>
      <p:sp>
        <p:nvSpPr>
          <p:cNvPr id="80" name="TextBox 79">
            <a:extLst>
              <a:ext uri="{FF2B5EF4-FFF2-40B4-BE49-F238E27FC236}">
                <a16:creationId xmlns:a16="http://schemas.microsoft.com/office/drawing/2014/main" id="{B87B045E-1053-1DDC-FE1C-31ED510ECC20}"/>
              </a:ext>
            </a:extLst>
          </p:cNvPr>
          <p:cNvSpPr txBox="1"/>
          <p:nvPr/>
        </p:nvSpPr>
        <p:spPr>
          <a:xfrm flipH="1">
            <a:off x="10384237" y="4954348"/>
            <a:ext cx="1660029" cy="430887"/>
          </a:xfrm>
          <a:prstGeom prst="rect">
            <a:avLst/>
          </a:prstGeom>
          <a:noFill/>
        </p:spPr>
        <p:txBody>
          <a:bodyPr wrap="square" rtlCol="0">
            <a:spAutoFit/>
          </a:bodyPr>
          <a:lstStyle/>
          <a:p>
            <a:pPr algn="r"/>
            <a:r>
              <a:rPr lang="en-IN" sz="2200" b="1" dirty="0"/>
              <a:t>Dequeue()</a:t>
            </a:r>
          </a:p>
        </p:txBody>
      </p:sp>
      <p:sp>
        <p:nvSpPr>
          <p:cNvPr id="81" name="TextBox 80">
            <a:extLst>
              <a:ext uri="{FF2B5EF4-FFF2-40B4-BE49-F238E27FC236}">
                <a16:creationId xmlns:a16="http://schemas.microsoft.com/office/drawing/2014/main" id="{28AEF385-23EB-DBFF-FD8A-F246E5B35E9A}"/>
              </a:ext>
            </a:extLst>
          </p:cNvPr>
          <p:cNvSpPr txBox="1"/>
          <p:nvPr/>
        </p:nvSpPr>
        <p:spPr>
          <a:xfrm flipH="1">
            <a:off x="10222393" y="5392597"/>
            <a:ext cx="1821873" cy="430887"/>
          </a:xfrm>
          <a:prstGeom prst="rect">
            <a:avLst/>
          </a:prstGeom>
          <a:noFill/>
        </p:spPr>
        <p:txBody>
          <a:bodyPr wrap="square" rtlCol="0">
            <a:spAutoFit/>
          </a:bodyPr>
          <a:lstStyle/>
          <a:p>
            <a:pPr algn="r"/>
            <a:r>
              <a:rPr lang="en-IN" sz="2200" b="1" dirty="0"/>
              <a:t>Enqueue(70)</a:t>
            </a:r>
          </a:p>
        </p:txBody>
      </p:sp>
      <p:sp>
        <p:nvSpPr>
          <p:cNvPr id="78" name="TextBox 77">
            <a:extLst>
              <a:ext uri="{FF2B5EF4-FFF2-40B4-BE49-F238E27FC236}">
                <a16:creationId xmlns:a16="http://schemas.microsoft.com/office/drawing/2014/main" id="{77124156-4D84-C7E6-E1EE-C6ED741D01D6}"/>
              </a:ext>
            </a:extLst>
          </p:cNvPr>
          <p:cNvSpPr txBox="1"/>
          <p:nvPr/>
        </p:nvSpPr>
        <p:spPr>
          <a:xfrm>
            <a:off x="5413665" y="4247307"/>
            <a:ext cx="2780493" cy="461665"/>
          </a:xfrm>
          <a:prstGeom prst="rect">
            <a:avLst/>
          </a:prstGeom>
          <a:solidFill>
            <a:srgbClr val="FFFFCC"/>
          </a:solidFill>
        </p:spPr>
        <p:txBody>
          <a:bodyPr wrap="square" rtlCol="0">
            <a:spAutoFit/>
          </a:bodyPr>
          <a:lstStyle>
            <a:defPPr>
              <a:defRPr lang="en-US"/>
            </a:defPPr>
            <a:lvl1pPr algn="ctr">
              <a:defRPr b="1">
                <a:solidFill>
                  <a:schemeClr val="accent6"/>
                </a:solidFill>
              </a:defRPr>
            </a:lvl1pPr>
          </a:lstStyle>
          <a:p>
            <a:r>
              <a:rPr lang="en-IN" sz="2400" dirty="0"/>
              <a:t>Queue Overflow</a:t>
            </a:r>
          </a:p>
        </p:txBody>
      </p:sp>
      <p:sp>
        <p:nvSpPr>
          <p:cNvPr id="2" name="TextBox 1">
            <a:extLst>
              <a:ext uri="{FF2B5EF4-FFF2-40B4-BE49-F238E27FC236}">
                <a16:creationId xmlns:a16="http://schemas.microsoft.com/office/drawing/2014/main" id="{1D2855F9-1075-8CAE-343C-8E94EE419765}"/>
              </a:ext>
            </a:extLst>
          </p:cNvPr>
          <p:cNvSpPr txBox="1"/>
          <p:nvPr/>
        </p:nvSpPr>
        <p:spPr>
          <a:xfrm flipH="1">
            <a:off x="5413665" y="2075092"/>
            <a:ext cx="3169226" cy="492443"/>
          </a:xfrm>
          <a:prstGeom prst="rect">
            <a:avLst/>
          </a:prstGeom>
          <a:noFill/>
        </p:spPr>
        <p:txBody>
          <a:bodyPr wrap="square" rtlCol="0">
            <a:spAutoFit/>
          </a:bodyPr>
          <a:lstStyle/>
          <a:p>
            <a:pPr algn="ctr"/>
            <a:r>
              <a:rPr lang="en-IN" sz="2600" b="1" dirty="0"/>
              <a:t>For an empty Queue</a:t>
            </a:r>
          </a:p>
        </p:txBody>
      </p:sp>
      <p:sp>
        <p:nvSpPr>
          <p:cNvPr id="8" name="TextBox 7">
            <a:extLst>
              <a:ext uri="{FF2B5EF4-FFF2-40B4-BE49-F238E27FC236}">
                <a16:creationId xmlns:a16="http://schemas.microsoft.com/office/drawing/2014/main" id="{66C29769-9C2F-BD9B-E114-BFC7607090CE}"/>
              </a:ext>
            </a:extLst>
          </p:cNvPr>
          <p:cNvSpPr txBox="1"/>
          <p:nvPr/>
        </p:nvSpPr>
        <p:spPr>
          <a:xfrm flipH="1">
            <a:off x="5413665" y="891630"/>
            <a:ext cx="3169226" cy="492443"/>
          </a:xfrm>
          <a:prstGeom prst="rect">
            <a:avLst/>
          </a:prstGeom>
          <a:noFill/>
        </p:spPr>
        <p:txBody>
          <a:bodyPr wrap="square" rtlCol="0">
            <a:spAutoFit/>
          </a:bodyPr>
          <a:lstStyle/>
          <a:p>
            <a:pPr algn="ctr"/>
            <a:r>
              <a:rPr lang="en-IN" sz="2600" b="1" dirty="0"/>
              <a:t>Size of Queue</a:t>
            </a:r>
          </a:p>
        </p:txBody>
      </p:sp>
      <p:sp>
        <p:nvSpPr>
          <p:cNvPr id="11" name="TextBox 10">
            <a:extLst>
              <a:ext uri="{FF2B5EF4-FFF2-40B4-BE49-F238E27FC236}">
                <a16:creationId xmlns:a16="http://schemas.microsoft.com/office/drawing/2014/main" id="{6EA40A16-5E5F-BCD4-CE3D-EEC26502E3B3}"/>
              </a:ext>
            </a:extLst>
          </p:cNvPr>
          <p:cNvSpPr txBox="1"/>
          <p:nvPr/>
        </p:nvSpPr>
        <p:spPr>
          <a:xfrm>
            <a:off x="6556421" y="1353599"/>
            <a:ext cx="1118012" cy="492443"/>
          </a:xfrm>
          <a:prstGeom prst="rect">
            <a:avLst/>
          </a:prstGeom>
          <a:noFill/>
        </p:spPr>
        <p:txBody>
          <a:bodyPr wrap="square" rtlCol="0">
            <a:spAutoFit/>
          </a:bodyPr>
          <a:lstStyle/>
          <a:p>
            <a:r>
              <a:rPr lang="en-US" sz="2600" b="1" dirty="0">
                <a:solidFill>
                  <a:schemeClr val="accent6"/>
                </a:solidFill>
              </a:rPr>
              <a:t>N = 5</a:t>
            </a:r>
            <a:endParaRPr lang="en-IN" sz="2600" b="1" dirty="0">
              <a:solidFill>
                <a:schemeClr val="accent6"/>
              </a:solidFill>
            </a:endParaRPr>
          </a:p>
        </p:txBody>
      </p:sp>
      <p:sp>
        <p:nvSpPr>
          <p:cNvPr id="12" name="TextBox 11">
            <a:extLst>
              <a:ext uri="{FF2B5EF4-FFF2-40B4-BE49-F238E27FC236}">
                <a16:creationId xmlns:a16="http://schemas.microsoft.com/office/drawing/2014/main" id="{91C2E6FF-267A-6340-F2A4-7AED7F8AAE7F}"/>
              </a:ext>
            </a:extLst>
          </p:cNvPr>
          <p:cNvSpPr txBox="1"/>
          <p:nvPr/>
        </p:nvSpPr>
        <p:spPr>
          <a:xfrm>
            <a:off x="10307592" y="1072725"/>
            <a:ext cx="1813317" cy="492443"/>
          </a:xfrm>
          <a:prstGeom prst="rect">
            <a:avLst/>
          </a:prstGeom>
          <a:noFill/>
        </p:spPr>
        <p:txBody>
          <a:bodyPr wrap="none" rtlCol="0">
            <a:spAutoFit/>
          </a:bodyPr>
          <a:lstStyle/>
          <a:p>
            <a:r>
              <a:rPr lang="en-US" sz="2600" b="1" dirty="0">
                <a:solidFill>
                  <a:srgbClr val="C00000"/>
                </a:solidFill>
              </a:rPr>
              <a:t>Operations :</a:t>
            </a:r>
            <a:endParaRPr lang="en-IN" sz="2600" b="1" dirty="0">
              <a:solidFill>
                <a:srgbClr val="C00000"/>
              </a:solidFill>
            </a:endParaRPr>
          </a:p>
        </p:txBody>
      </p:sp>
      <p:sp>
        <p:nvSpPr>
          <p:cNvPr id="13" name="TextBox 12">
            <a:extLst>
              <a:ext uri="{FF2B5EF4-FFF2-40B4-BE49-F238E27FC236}">
                <a16:creationId xmlns:a16="http://schemas.microsoft.com/office/drawing/2014/main" id="{C4917F7D-A1AC-AA7A-853D-7C2013DBA5A2}"/>
              </a:ext>
            </a:extLst>
          </p:cNvPr>
          <p:cNvSpPr txBox="1"/>
          <p:nvPr/>
        </p:nvSpPr>
        <p:spPr>
          <a:xfrm>
            <a:off x="3575719" y="5005699"/>
            <a:ext cx="6845117" cy="523220"/>
          </a:xfrm>
          <a:prstGeom prst="rect">
            <a:avLst/>
          </a:prstGeom>
          <a:noFill/>
        </p:spPr>
        <p:txBody>
          <a:bodyPr wrap="square" rtlCol="0">
            <a:spAutoFit/>
          </a:bodyPr>
          <a:lstStyle/>
          <a:p>
            <a:pPr algn="ctr"/>
            <a:r>
              <a:rPr lang="en-IN" sz="2800" b="1" dirty="0">
                <a:solidFill>
                  <a:srgbClr val="C00000"/>
                </a:solidFill>
              </a:rPr>
              <a:t>Though there is empty space, can’t be utilized.</a:t>
            </a:r>
          </a:p>
        </p:txBody>
      </p:sp>
      <p:sp>
        <p:nvSpPr>
          <p:cNvPr id="14" name="TextBox 13">
            <a:extLst>
              <a:ext uri="{FF2B5EF4-FFF2-40B4-BE49-F238E27FC236}">
                <a16:creationId xmlns:a16="http://schemas.microsoft.com/office/drawing/2014/main" id="{1744CC98-58A0-EFB8-B0F1-D3F7233B2820}"/>
              </a:ext>
            </a:extLst>
          </p:cNvPr>
          <p:cNvSpPr txBox="1"/>
          <p:nvPr/>
        </p:nvSpPr>
        <p:spPr>
          <a:xfrm>
            <a:off x="3575718" y="5647420"/>
            <a:ext cx="6845117" cy="523220"/>
          </a:xfrm>
          <a:prstGeom prst="rect">
            <a:avLst/>
          </a:prstGeom>
          <a:noFill/>
        </p:spPr>
        <p:txBody>
          <a:bodyPr wrap="square" rtlCol="0">
            <a:spAutoFit/>
          </a:bodyPr>
          <a:lstStyle/>
          <a:p>
            <a:pPr algn="ctr"/>
            <a:r>
              <a:rPr lang="en-IN" sz="2800" b="1" dirty="0"/>
              <a:t>Using </a:t>
            </a:r>
            <a:r>
              <a:rPr lang="en-IN" sz="2800" b="1" i="1" u="sng" dirty="0"/>
              <a:t>Circular Queue</a:t>
            </a:r>
            <a:r>
              <a:rPr lang="en-IN" sz="2800" b="1" dirty="0"/>
              <a:t>, we can overcome this.</a:t>
            </a:r>
          </a:p>
        </p:txBody>
      </p:sp>
    </p:spTree>
    <p:extLst>
      <p:ext uri="{BB962C8B-B14F-4D97-AF65-F5344CB8AC3E}">
        <p14:creationId xmlns:p14="http://schemas.microsoft.com/office/powerpoint/2010/main" val="3861022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7"/>
                                        </p:tgtEl>
                                        <p:attrNameLst>
                                          <p:attrName>style.visibility</p:attrName>
                                        </p:attrNameLst>
                                      </p:cBhvr>
                                      <p:to>
                                        <p:strVal val="visible"/>
                                      </p:to>
                                    </p:set>
                                    <p:animEffect transition="in" filter="fade">
                                      <p:cBhvr>
                                        <p:cTn id="15" dur="500"/>
                                        <p:tgtEl>
                                          <p:spTgt spid="6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8"/>
                                        </p:tgtEl>
                                        <p:attrNameLst>
                                          <p:attrName>style.visibility</p:attrName>
                                        </p:attrNameLst>
                                      </p:cBhvr>
                                      <p:to>
                                        <p:strVal val="visible"/>
                                      </p:to>
                                    </p:set>
                                    <p:animEffect transition="in" filter="fade">
                                      <p:cBhvr>
                                        <p:cTn id="26" dur="500"/>
                                        <p:tgtEl>
                                          <p:spTgt spid="6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fade">
                                      <p:cBhvr>
                                        <p:cTn id="31" dur="5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62"/>
                                        </p:tgtEl>
                                        <p:attrNameLst>
                                          <p:attrName>style.visibility</p:attrName>
                                        </p:attrNameLst>
                                      </p:cBhvr>
                                      <p:to>
                                        <p:strVal val="visible"/>
                                      </p:to>
                                    </p:set>
                                    <p:animEffect transition="in" filter="fade">
                                      <p:cBhvr>
                                        <p:cTn id="36" dur="500"/>
                                        <p:tgtEl>
                                          <p:spTgt spid="6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fade">
                                      <p:cBhvr>
                                        <p:cTn id="41" dur="500"/>
                                        <p:tgtEl>
                                          <p:spTgt spid="6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69"/>
                                        </p:tgtEl>
                                        <p:attrNameLst>
                                          <p:attrName>style.visibility</p:attrName>
                                        </p:attrNameLst>
                                      </p:cBhvr>
                                      <p:to>
                                        <p:strVal val="visible"/>
                                      </p:to>
                                    </p:set>
                                    <p:animEffect transition="in" filter="fade">
                                      <p:cBhvr>
                                        <p:cTn id="46" dur="500"/>
                                        <p:tgtEl>
                                          <p:spTgt spid="69"/>
                                        </p:tgtEl>
                                      </p:cBhvr>
                                    </p:animEffect>
                                  </p:childTnLst>
                                </p:cTn>
                              </p:par>
                            </p:childTnLst>
                          </p:cTn>
                        </p:par>
                      </p:childTnLst>
                    </p:cTn>
                  </p:par>
                  <p:par>
                    <p:cTn id="47" fill="hold">
                      <p:stCondLst>
                        <p:cond delay="indefinite"/>
                      </p:stCondLst>
                      <p:childTnLst>
                        <p:par>
                          <p:cTn id="48" fill="hold">
                            <p:stCondLst>
                              <p:cond delay="0"/>
                            </p:stCondLst>
                            <p:childTnLst>
                              <p:par>
                                <p:cTn id="49" presetID="63" presetClass="path" presetSubtype="0" accel="50000" decel="50000" fill="hold" grpId="1" nodeType="clickEffect">
                                  <p:stCondLst>
                                    <p:cond delay="0"/>
                                  </p:stCondLst>
                                  <p:childTnLst>
                                    <p:animMotion origin="layout" path="M -3.75E-6 -1.11111E-6 L 0.06511 -1.11111E-6 " pathEditMode="relative" rAng="0" ptsTypes="AA">
                                      <p:cBhvr>
                                        <p:cTn id="50" dur="2000" fill="hold"/>
                                        <p:tgtEl>
                                          <p:spTgt spid="61"/>
                                        </p:tgtEl>
                                        <p:attrNameLst>
                                          <p:attrName>ppt_x</p:attrName>
                                          <p:attrName>ppt_y</p:attrName>
                                        </p:attrNameLst>
                                      </p:cBhvr>
                                      <p:rCtr x="3255" y="0"/>
                                    </p:animMotion>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70"/>
                                        </p:tgtEl>
                                        <p:attrNameLst>
                                          <p:attrName>style.visibility</p:attrName>
                                        </p:attrNameLst>
                                      </p:cBhvr>
                                      <p:to>
                                        <p:strVal val="visible"/>
                                      </p:to>
                                    </p:set>
                                    <p:animEffect transition="in" filter="fade">
                                      <p:cBhvr>
                                        <p:cTn id="55" dur="500"/>
                                        <p:tgtEl>
                                          <p:spTgt spid="7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71"/>
                                        </p:tgtEl>
                                        <p:attrNameLst>
                                          <p:attrName>style.visibility</p:attrName>
                                        </p:attrNameLst>
                                      </p:cBhvr>
                                      <p:to>
                                        <p:strVal val="visible"/>
                                      </p:to>
                                    </p:set>
                                    <p:animEffect transition="in" filter="fade">
                                      <p:cBhvr>
                                        <p:cTn id="60" dur="500"/>
                                        <p:tgtEl>
                                          <p:spTgt spid="71"/>
                                        </p:tgtEl>
                                      </p:cBhvr>
                                    </p:animEffect>
                                  </p:childTnLst>
                                </p:cTn>
                              </p:par>
                            </p:childTnLst>
                          </p:cTn>
                        </p:par>
                      </p:childTnLst>
                    </p:cTn>
                  </p:par>
                  <p:par>
                    <p:cTn id="61" fill="hold">
                      <p:stCondLst>
                        <p:cond delay="indefinite"/>
                      </p:stCondLst>
                      <p:childTnLst>
                        <p:par>
                          <p:cTn id="62" fill="hold">
                            <p:stCondLst>
                              <p:cond delay="0"/>
                            </p:stCondLst>
                            <p:childTnLst>
                              <p:par>
                                <p:cTn id="63" presetID="63" presetClass="path" presetSubtype="0" accel="50000" decel="50000" fill="hold" grpId="2" nodeType="clickEffect">
                                  <p:stCondLst>
                                    <p:cond delay="0"/>
                                  </p:stCondLst>
                                  <p:childTnLst>
                                    <p:animMotion origin="layout" path="M 0.06511 -1.11111E-6 L 0.1211 -1.11111E-6 " pathEditMode="relative" rAng="0" ptsTypes="AA">
                                      <p:cBhvr>
                                        <p:cTn id="64" dur="2000" fill="hold"/>
                                        <p:tgtEl>
                                          <p:spTgt spid="61"/>
                                        </p:tgtEl>
                                        <p:attrNameLst>
                                          <p:attrName>ppt_x</p:attrName>
                                          <p:attrName>ppt_y</p:attrName>
                                        </p:attrNameLst>
                                      </p:cBhvr>
                                      <p:rCtr x="3112" y="0"/>
                                    </p:animMotion>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72"/>
                                        </p:tgtEl>
                                        <p:attrNameLst>
                                          <p:attrName>style.visibility</p:attrName>
                                        </p:attrNameLst>
                                      </p:cBhvr>
                                      <p:to>
                                        <p:strVal val="visible"/>
                                      </p:to>
                                    </p:set>
                                    <p:animEffect transition="in" filter="fade">
                                      <p:cBhvr>
                                        <p:cTn id="69" dur="500"/>
                                        <p:tgtEl>
                                          <p:spTgt spid="72"/>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73"/>
                                        </p:tgtEl>
                                        <p:attrNameLst>
                                          <p:attrName>style.visibility</p:attrName>
                                        </p:attrNameLst>
                                      </p:cBhvr>
                                      <p:to>
                                        <p:strVal val="visible"/>
                                      </p:to>
                                    </p:set>
                                    <p:animEffect transition="in" filter="fade">
                                      <p:cBhvr>
                                        <p:cTn id="74" dur="500"/>
                                        <p:tgtEl>
                                          <p:spTgt spid="73"/>
                                        </p:tgtEl>
                                      </p:cBhvr>
                                    </p:animEffect>
                                  </p:childTnLst>
                                </p:cTn>
                              </p:par>
                            </p:childTnLst>
                          </p:cTn>
                        </p:par>
                      </p:childTnLst>
                    </p:cTn>
                  </p:par>
                  <p:par>
                    <p:cTn id="75" fill="hold">
                      <p:stCondLst>
                        <p:cond delay="indefinite"/>
                      </p:stCondLst>
                      <p:childTnLst>
                        <p:par>
                          <p:cTn id="76" fill="hold">
                            <p:stCondLst>
                              <p:cond delay="0"/>
                            </p:stCondLst>
                            <p:childTnLst>
                              <p:par>
                                <p:cTn id="77" presetID="63" presetClass="path" presetSubtype="0" accel="50000" decel="50000" fill="hold" grpId="3" nodeType="clickEffect">
                                  <p:stCondLst>
                                    <p:cond delay="0"/>
                                  </p:stCondLst>
                                  <p:childTnLst>
                                    <p:animMotion origin="layout" path="M 0.1211 3.33333E-6 L 0.1849 -0.00139 " pathEditMode="relative" rAng="0" ptsTypes="AA">
                                      <p:cBhvr>
                                        <p:cTn id="78" dur="2000" fill="hold"/>
                                        <p:tgtEl>
                                          <p:spTgt spid="61"/>
                                        </p:tgtEl>
                                        <p:attrNameLst>
                                          <p:attrName>ppt_x</p:attrName>
                                          <p:attrName>ppt_y</p:attrName>
                                        </p:attrNameLst>
                                      </p:cBhvr>
                                      <p:rCtr x="3190" y="-46"/>
                                    </p:animMotion>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74"/>
                                        </p:tgtEl>
                                        <p:attrNameLst>
                                          <p:attrName>style.visibility</p:attrName>
                                        </p:attrNameLst>
                                      </p:cBhvr>
                                      <p:to>
                                        <p:strVal val="visible"/>
                                      </p:to>
                                    </p:set>
                                    <p:animEffect transition="in" filter="fade">
                                      <p:cBhvr>
                                        <p:cTn id="83" dur="500"/>
                                        <p:tgtEl>
                                          <p:spTgt spid="74"/>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75"/>
                                        </p:tgtEl>
                                        <p:attrNameLst>
                                          <p:attrName>style.visibility</p:attrName>
                                        </p:attrNameLst>
                                      </p:cBhvr>
                                      <p:to>
                                        <p:strVal val="visible"/>
                                      </p:to>
                                    </p:set>
                                    <p:animEffect transition="in" filter="fade">
                                      <p:cBhvr>
                                        <p:cTn id="88" dur="500"/>
                                        <p:tgtEl>
                                          <p:spTgt spid="75"/>
                                        </p:tgtEl>
                                      </p:cBhvr>
                                    </p:animEffect>
                                  </p:childTnLst>
                                </p:cTn>
                              </p:par>
                            </p:childTnLst>
                          </p:cTn>
                        </p:par>
                      </p:childTnLst>
                    </p:cTn>
                  </p:par>
                  <p:par>
                    <p:cTn id="89" fill="hold">
                      <p:stCondLst>
                        <p:cond delay="indefinite"/>
                      </p:stCondLst>
                      <p:childTnLst>
                        <p:par>
                          <p:cTn id="90" fill="hold">
                            <p:stCondLst>
                              <p:cond delay="0"/>
                            </p:stCondLst>
                            <p:childTnLst>
                              <p:par>
                                <p:cTn id="91" presetID="63" presetClass="path" presetSubtype="0" accel="50000" decel="50000" fill="hold" grpId="4" nodeType="clickEffect">
                                  <p:stCondLst>
                                    <p:cond delay="0"/>
                                  </p:stCondLst>
                                  <p:childTnLst>
                                    <p:animMotion origin="layout" path="M 0.1849 -0.00139 L 0.25 -1.11111E-6 " pathEditMode="relative" rAng="0" ptsTypes="AA">
                                      <p:cBhvr>
                                        <p:cTn id="92" dur="2000" fill="hold"/>
                                        <p:tgtEl>
                                          <p:spTgt spid="61"/>
                                        </p:tgtEl>
                                        <p:attrNameLst>
                                          <p:attrName>ppt_x</p:attrName>
                                          <p:attrName>ppt_y</p:attrName>
                                        </p:attrNameLst>
                                      </p:cBhvr>
                                      <p:rCtr x="3633" y="139"/>
                                    </p:animMotion>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76"/>
                                        </p:tgtEl>
                                        <p:attrNameLst>
                                          <p:attrName>style.visibility</p:attrName>
                                        </p:attrNameLst>
                                      </p:cBhvr>
                                      <p:to>
                                        <p:strVal val="visible"/>
                                      </p:to>
                                    </p:set>
                                    <p:animEffect transition="in" filter="fade">
                                      <p:cBhvr>
                                        <p:cTn id="97" dur="500"/>
                                        <p:tgtEl>
                                          <p:spTgt spid="76"/>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77"/>
                                        </p:tgtEl>
                                        <p:attrNameLst>
                                          <p:attrName>style.visibility</p:attrName>
                                        </p:attrNameLst>
                                      </p:cBhvr>
                                      <p:to>
                                        <p:strVal val="visible"/>
                                      </p:to>
                                    </p:set>
                                    <p:animEffect transition="in" filter="fade">
                                      <p:cBhvr>
                                        <p:cTn id="102" dur="500"/>
                                        <p:tgtEl>
                                          <p:spTgt spid="77"/>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78"/>
                                        </p:tgtEl>
                                        <p:attrNameLst>
                                          <p:attrName>style.visibility</p:attrName>
                                        </p:attrNameLst>
                                      </p:cBhvr>
                                      <p:to>
                                        <p:strVal val="visible"/>
                                      </p:to>
                                    </p:set>
                                    <p:animEffect transition="in" filter="wipe(left)">
                                      <p:cBhvr>
                                        <p:cTn id="107" dur="500"/>
                                        <p:tgtEl>
                                          <p:spTgt spid="78"/>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79"/>
                                        </p:tgtEl>
                                        <p:attrNameLst>
                                          <p:attrName>style.visibility</p:attrName>
                                        </p:attrNameLst>
                                      </p:cBhvr>
                                      <p:to>
                                        <p:strVal val="visible"/>
                                      </p:to>
                                    </p:set>
                                    <p:animEffect transition="in" filter="fade">
                                      <p:cBhvr>
                                        <p:cTn id="112" dur="500"/>
                                        <p:tgtEl>
                                          <p:spTgt spid="79"/>
                                        </p:tgtEl>
                                      </p:cBhvr>
                                    </p:animEffect>
                                  </p:childTnLst>
                                </p:cTn>
                              </p:par>
                              <p:par>
                                <p:cTn id="113" presetID="1" presetClass="exit" presetSubtype="0" fill="hold" grpId="1" nodeType="withEffect">
                                  <p:stCondLst>
                                    <p:cond delay="0"/>
                                  </p:stCondLst>
                                  <p:childTnLst>
                                    <p:set>
                                      <p:cBhvr>
                                        <p:cTn id="114" dur="1" fill="hold">
                                          <p:stCondLst>
                                            <p:cond delay="0"/>
                                          </p:stCondLst>
                                        </p:cTn>
                                        <p:tgtEl>
                                          <p:spTgt spid="78"/>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63" presetClass="path" presetSubtype="0" accel="50000" decel="50000" fill="hold" grpId="1" nodeType="clickEffect">
                                  <p:stCondLst>
                                    <p:cond delay="0"/>
                                  </p:stCondLst>
                                  <p:childTnLst>
                                    <p:animMotion origin="layout" path="M 4.375E-6 -4.81481E-6 L 0.06406 -0.00254 " pathEditMode="relative" rAng="0" ptsTypes="AA">
                                      <p:cBhvr>
                                        <p:cTn id="118" dur="2000" fill="hold"/>
                                        <p:tgtEl>
                                          <p:spTgt spid="60"/>
                                        </p:tgtEl>
                                        <p:attrNameLst>
                                          <p:attrName>ppt_x</p:attrName>
                                          <p:attrName>ppt_y</p:attrName>
                                        </p:attrNameLst>
                                      </p:cBhvr>
                                      <p:rCtr x="3203" y="-139"/>
                                    </p:animMotion>
                                  </p:childTnLst>
                                </p:cTn>
                              </p:par>
                            </p:childTnLst>
                          </p:cTn>
                        </p:par>
                      </p:childTnLst>
                    </p:cTn>
                  </p:par>
                  <p:par>
                    <p:cTn id="119" fill="hold">
                      <p:stCondLst>
                        <p:cond delay="indefinite"/>
                      </p:stCondLst>
                      <p:childTnLst>
                        <p:par>
                          <p:cTn id="120" fill="hold">
                            <p:stCondLst>
                              <p:cond delay="0"/>
                            </p:stCondLst>
                            <p:childTnLst>
                              <p:par>
                                <p:cTn id="121" presetID="1" presetClass="exit" presetSubtype="0" fill="hold" grpId="1" nodeType="clickEffect">
                                  <p:stCondLst>
                                    <p:cond delay="0"/>
                                  </p:stCondLst>
                                  <p:childTnLst>
                                    <p:set>
                                      <p:cBhvr>
                                        <p:cTn id="122" dur="1" fill="hold">
                                          <p:stCondLst>
                                            <p:cond delay="0"/>
                                          </p:stCondLst>
                                        </p:cTn>
                                        <p:tgtEl>
                                          <p:spTgt spid="62"/>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80"/>
                                        </p:tgtEl>
                                        <p:attrNameLst>
                                          <p:attrName>style.visibility</p:attrName>
                                        </p:attrNameLst>
                                      </p:cBhvr>
                                      <p:to>
                                        <p:strVal val="visible"/>
                                      </p:to>
                                    </p:set>
                                    <p:animEffect transition="in" filter="fade">
                                      <p:cBhvr>
                                        <p:cTn id="127" dur="500"/>
                                        <p:tgtEl>
                                          <p:spTgt spid="80"/>
                                        </p:tgtEl>
                                      </p:cBhvr>
                                    </p:animEffect>
                                  </p:childTnLst>
                                </p:cTn>
                              </p:par>
                            </p:childTnLst>
                          </p:cTn>
                        </p:par>
                      </p:childTnLst>
                    </p:cTn>
                  </p:par>
                  <p:par>
                    <p:cTn id="128" fill="hold">
                      <p:stCondLst>
                        <p:cond delay="indefinite"/>
                      </p:stCondLst>
                      <p:childTnLst>
                        <p:par>
                          <p:cTn id="129" fill="hold">
                            <p:stCondLst>
                              <p:cond delay="0"/>
                            </p:stCondLst>
                            <p:childTnLst>
                              <p:par>
                                <p:cTn id="130" presetID="63" presetClass="path" presetSubtype="0" accel="50000" decel="50000" fill="hold" grpId="2" nodeType="clickEffect">
                                  <p:stCondLst>
                                    <p:cond delay="0"/>
                                  </p:stCondLst>
                                  <p:childTnLst>
                                    <p:animMotion origin="layout" path="M 0.06406 -0.00255 L 0.12226 -0.00324 " pathEditMode="relative" rAng="0" ptsTypes="AA">
                                      <p:cBhvr>
                                        <p:cTn id="131" dur="2000" fill="hold"/>
                                        <p:tgtEl>
                                          <p:spTgt spid="60"/>
                                        </p:tgtEl>
                                        <p:attrNameLst>
                                          <p:attrName>ppt_x</p:attrName>
                                          <p:attrName>ppt_y</p:attrName>
                                        </p:attrNameLst>
                                      </p:cBhvr>
                                      <p:rCtr x="3229" y="162"/>
                                    </p:animMotion>
                                  </p:childTnLst>
                                </p:cTn>
                              </p:par>
                            </p:childTnLst>
                          </p:cTn>
                        </p:par>
                      </p:childTnLst>
                    </p:cTn>
                  </p:par>
                  <p:par>
                    <p:cTn id="132" fill="hold">
                      <p:stCondLst>
                        <p:cond delay="indefinite"/>
                      </p:stCondLst>
                      <p:childTnLst>
                        <p:par>
                          <p:cTn id="133" fill="hold">
                            <p:stCondLst>
                              <p:cond delay="0"/>
                            </p:stCondLst>
                            <p:childTnLst>
                              <p:par>
                                <p:cTn id="134" presetID="1" presetClass="exit" presetSubtype="0" fill="hold" grpId="1" nodeType="clickEffect">
                                  <p:stCondLst>
                                    <p:cond delay="0"/>
                                  </p:stCondLst>
                                  <p:childTnLst>
                                    <p:set>
                                      <p:cBhvr>
                                        <p:cTn id="135" dur="1" fill="hold">
                                          <p:stCondLst>
                                            <p:cond delay="0"/>
                                          </p:stCondLst>
                                        </p:cTn>
                                        <p:tgtEl>
                                          <p:spTgt spid="70"/>
                                        </p:tgtEl>
                                        <p:attrNameLst>
                                          <p:attrName>style.visibility</p:attrName>
                                        </p:attrNameLst>
                                      </p:cBhvr>
                                      <p:to>
                                        <p:strVal val="hidden"/>
                                      </p:to>
                                    </p:se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81"/>
                                        </p:tgtEl>
                                        <p:attrNameLst>
                                          <p:attrName>style.visibility</p:attrName>
                                        </p:attrNameLst>
                                      </p:cBhvr>
                                      <p:to>
                                        <p:strVal val="visible"/>
                                      </p:to>
                                    </p:set>
                                    <p:animEffect transition="in" filter="fade">
                                      <p:cBhvr>
                                        <p:cTn id="140" dur="500"/>
                                        <p:tgtEl>
                                          <p:spTgt spid="81"/>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2" nodeType="clickEffect">
                                  <p:stCondLst>
                                    <p:cond delay="0"/>
                                  </p:stCondLst>
                                  <p:childTnLst>
                                    <p:set>
                                      <p:cBhvr>
                                        <p:cTn id="144" dur="1" fill="hold">
                                          <p:stCondLst>
                                            <p:cond delay="0"/>
                                          </p:stCondLst>
                                        </p:cTn>
                                        <p:tgtEl>
                                          <p:spTgt spid="78"/>
                                        </p:tgtEl>
                                        <p:attrNameLst>
                                          <p:attrName>style.visibility</p:attrName>
                                        </p:attrNameLst>
                                      </p:cBhvr>
                                      <p:to>
                                        <p:strVal val="visible"/>
                                      </p:to>
                                    </p:set>
                                    <p:animEffect transition="in" filter="wipe(left)">
                                      <p:cBhvr>
                                        <p:cTn id="145" dur="500"/>
                                        <p:tgtEl>
                                          <p:spTgt spid="78"/>
                                        </p:tgtEl>
                                      </p:cBhvr>
                                    </p:animEffect>
                                  </p:childTnLst>
                                </p:cTn>
                              </p:par>
                            </p:childTnLst>
                          </p:cTn>
                        </p:par>
                      </p:childTnLst>
                    </p:cTn>
                  </p:par>
                  <p:par>
                    <p:cTn id="146" fill="hold">
                      <p:stCondLst>
                        <p:cond delay="indefinite"/>
                      </p:stCondLst>
                      <p:childTnLst>
                        <p:par>
                          <p:cTn id="147" fill="hold">
                            <p:stCondLst>
                              <p:cond delay="0"/>
                            </p:stCondLst>
                            <p:childTnLst>
                              <p:par>
                                <p:cTn id="148" presetID="16" presetClass="entr" presetSubtype="37" fill="hold" grpId="0" nodeType="clickEffect">
                                  <p:stCondLst>
                                    <p:cond delay="0"/>
                                  </p:stCondLst>
                                  <p:childTnLst>
                                    <p:set>
                                      <p:cBhvr>
                                        <p:cTn id="149" dur="1" fill="hold">
                                          <p:stCondLst>
                                            <p:cond delay="0"/>
                                          </p:stCondLst>
                                        </p:cTn>
                                        <p:tgtEl>
                                          <p:spTgt spid="13"/>
                                        </p:tgtEl>
                                        <p:attrNameLst>
                                          <p:attrName>style.visibility</p:attrName>
                                        </p:attrNameLst>
                                      </p:cBhvr>
                                      <p:to>
                                        <p:strVal val="visible"/>
                                      </p:to>
                                    </p:set>
                                    <p:animEffect transition="in" filter="barn(outVertical)">
                                      <p:cBhvr>
                                        <p:cTn id="150" dur="500"/>
                                        <p:tgtEl>
                                          <p:spTgt spid="13"/>
                                        </p:tgtEl>
                                      </p:cBhvr>
                                    </p:animEffect>
                                  </p:childTnLst>
                                </p:cTn>
                              </p:par>
                            </p:childTnLst>
                          </p:cTn>
                        </p:par>
                      </p:childTnLst>
                    </p:cTn>
                  </p:par>
                  <p:par>
                    <p:cTn id="151" fill="hold">
                      <p:stCondLst>
                        <p:cond delay="indefinite"/>
                      </p:stCondLst>
                      <p:childTnLst>
                        <p:par>
                          <p:cTn id="152" fill="hold">
                            <p:stCondLst>
                              <p:cond delay="0"/>
                            </p:stCondLst>
                            <p:childTnLst>
                              <p:par>
                                <p:cTn id="153" presetID="16" presetClass="entr" presetSubtype="37" fill="hold" grpId="0" nodeType="clickEffect">
                                  <p:stCondLst>
                                    <p:cond delay="0"/>
                                  </p:stCondLst>
                                  <p:childTnLst>
                                    <p:set>
                                      <p:cBhvr>
                                        <p:cTn id="154" dur="1" fill="hold">
                                          <p:stCondLst>
                                            <p:cond delay="0"/>
                                          </p:stCondLst>
                                        </p:cTn>
                                        <p:tgtEl>
                                          <p:spTgt spid="14"/>
                                        </p:tgtEl>
                                        <p:attrNameLst>
                                          <p:attrName>style.visibility</p:attrName>
                                        </p:attrNameLst>
                                      </p:cBhvr>
                                      <p:to>
                                        <p:strVal val="visible"/>
                                      </p:to>
                                    </p:set>
                                    <p:animEffect transition="in" filter="barn(outVertical)">
                                      <p:cBhvr>
                                        <p:cTn id="155" dur="500"/>
                                        <p:tgtEl>
                                          <p:spTgt spid="14"/>
                                        </p:tgtEl>
                                      </p:cBhvr>
                                    </p:animEffect>
                                  </p:childTnLst>
                                </p:cTn>
                              </p:par>
                            </p:childTnLst>
                          </p:cTn>
                        </p:par>
                      </p:childTnLst>
                    </p:cTn>
                  </p:par>
                  <p:par>
                    <p:cTn id="156" fill="hold">
                      <p:stCondLst>
                        <p:cond delay="indefinite"/>
                      </p:stCondLst>
                      <p:childTnLst>
                        <p:par>
                          <p:cTn id="157" fill="hold">
                            <p:stCondLst>
                              <p:cond delay="0"/>
                            </p:stCondLst>
                            <p:childTnLst>
                              <p:par>
                                <p:cTn id="158" presetID="16" presetClass="entr" presetSubtype="37" fill="hold" nodeType="clickEffect">
                                  <p:stCondLst>
                                    <p:cond delay="0"/>
                                  </p:stCondLst>
                                  <p:childTnLst>
                                    <p:set>
                                      <p:cBhvr>
                                        <p:cTn id="159" dur="1" fill="hold">
                                          <p:stCondLst>
                                            <p:cond delay="0"/>
                                          </p:stCondLst>
                                        </p:cTn>
                                        <p:tgtEl>
                                          <p:spTgt spid="14">
                                            <p:txEl>
                                              <p:pRg st="0" end="0"/>
                                            </p:txEl>
                                          </p:spTgt>
                                        </p:tgtEl>
                                        <p:attrNameLst>
                                          <p:attrName>style.visibility</p:attrName>
                                        </p:attrNameLst>
                                      </p:cBhvr>
                                      <p:to>
                                        <p:strVal val="visible"/>
                                      </p:to>
                                    </p:set>
                                    <p:animEffect transition="in" filter="barn(outVertical)">
                                      <p:cBhvr>
                                        <p:cTn id="160"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0" grpId="1"/>
      <p:bldP spid="60" grpId="2"/>
      <p:bldP spid="61" grpId="0"/>
      <p:bldP spid="61" grpId="1"/>
      <p:bldP spid="61" grpId="2"/>
      <p:bldP spid="61" grpId="3"/>
      <p:bldP spid="61" grpId="4"/>
      <p:bldP spid="62" grpId="0"/>
      <p:bldP spid="62" grpId="1"/>
      <p:bldP spid="67" grpId="0"/>
      <p:bldP spid="68" grpId="0"/>
      <p:bldP spid="69" grpId="0"/>
      <p:bldP spid="70" grpId="0"/>
      <p:bldP spid="70" grpId="1"/>
      <p:bldP spid="71" grpId="0"/>
      <p:bldP spid="72" grpId="0"/>
      <p:bldP spid="73" grpId="0"/>
      <p:bldP spid="74" grpId="0"/>
      <p:bldP spid="75" grpId="0"/>
      <p:bldP spid="76" grpId="0"/>
      <p:bldP spid="77" grpId="0"/>
      <p:bldP spid="79" grpId="0"/>
      <p:bldP spid="80" grpId="0"/>
      <p:bldP spid="81" grpId="0"/>
      <p:bldP spid="78" grpId="0" animBg="1"/>
      <p:bldP spid="78" grpId="1" animBg="1"/>
      <p:bldP spid="78" grpId="2" animBg="1"/>
      <p:bldP spid="2" grpId="0"/>
      <p:bldP spid="8" grpId="0"/>
      <p:bldP spid="11" grpId="0"/>
      <p:bldP spid="12" grpId="0"/>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C0B3715-EAD0-B00C-F1B0-87AD24C53CED}"/>
              </a:ext>
            </a:extLst>
          </p:cNvPr>
          <p:cNvSpPr>
            <a:spLocks noGrp="1"/>
          </p:cNvSpPr>
          <p:nvPr>
            <p:ph type="title"/>
          </p:nvPr>
        </p:nvSpPr>
        <p:spPr/>
        <p:txBody>
          <a:bodyPr/>
          <a:lstStyle/>
          <a:p>
            <a:r>
              <a:rPr lang="en-US" dirty="0"/>
              <a:t>Circular Queue - Introduction</a:t>
            </a:r>
            <a:endParaRPr lang="en-IN" dirty="0"/>
          </a:p>
        </p:txBody>
      </p:sp>
      <p:graphicFrame>
        <p:nvGraphicFramePr>
          <p:cNvPr id="9" name="Content Placeholder 4">
            <a:extLst>
              <a:ext uri="{FF2B5EF4-FFF2-40B4-BE49-F238E27FC236}">
                <a16:creationId xmlns:a16="http://schemas.microsoft.com/office/drawing/2014/main" id="{BB356D8A-9ECD-B450-ED87-B5237DE14DE8}"/>
              </a:ext>
            </a:extLst>
          </p:cNvPr>
          <p:cNvGraphicFramePr>
            <a:graphicFrameLocks/>
          </p:cNvGraphicFramePr>
          <p:nvPr>
            <p:extLst/>
          </p:nvPr>
        </p:nvGraphicFramePr>
        <p:xfrm>
          <a:off x="1114541" y="2912328"/>
          <a:ext cx="3745150" cy="1108954"/>
        </p:xfrm>
        <a:graphic>
          <a:graphicData uri="http://schemas.openxmlformats.org/drawingml/2006/table">
            <a:tbl>
              <a:tblPr firstRow="1" bandRow="1">
                <a:tableStyleId>{9D7B26C5-4107-4FEC-AEDC-1716B250A1EF}</a:tableStyleId>
              </a:tblPr>
              <a:tblGrid>
                <a:gridCol w="749030">
                  <a:extLst>
                    <a:ext uri="{9D8B030D-6E8A-4147-A177-3AD203B41FA5}">
                      <a16:colId xmlns:a16="http://schemas.microsoft.com/office/drawing/2014/main" val="2000511168"/>
                    </a:ext>
                  </a:extLst>
                </a:gridCol>
                <a:gridCol w="749030">
                  <a:extLst>
                    <a:ext uri="{9D8B030D-6E8A-4147-A177-3AD203B41FA5}">
                      <a16:colId xmlns:a16="http://schemas.microsoft.com/office/drawing/2014/main" val="3405553145"/>
                    </a:ext>
                  </a:extLst>
                </a:gridCol>
                <a:gridCol w="749030">
                  <a:extLst>
                    <a:ext uri="{9D8B030D-6E8A-4147-A177-3AD203B41FA5}">
                      <a16:colId xmlns:a16="http://schemas.microsoft.com/office/drawing/2014/main" val="2161352027"/>
                    </a:ext>
                  </a:extLst>
                </a:gridCol>
                <a:gridCol w="749030">
                  <a:extLst>
                    <a:ext uri="{9D8B030D-6E8A-4147-A177-3AD203B41FA5}">
                      <a16:colId xmlns:a16="http://schemas.microsoft.com/office/drawing/2014/main" val="991466511"/>
                    </a:ext>
                  </a:extLst>
                </a:gridCol>
                <a:gridCol w="749030">
                  <a:extLst>
                    <a:ext uri="{9D8B030D-6E8A-4147-A177-3AD203B41FA5}">
                      <a16:colId xmlns:a16="http://schemas.microsoft.com/office/drawing/2014/main" val="546526451"/>
                    </a:ext>
                  </a:extLst>
                </a:gridCol>
              </a:tblGrid>
              <a:tr h="554477">
                <a:tc>
                  <a:txBody>
                    <a:bodyPr/>
                    <a:lstStyle/>
                    <a:p>
                      <a:pPr algn="ctr"/>
                      <a:r>
                        <a:rPr lang="en-US" dirty="0"/>
                        <a:t>0</a:t>
                      </a:r>
                      <a:endParaRPr lang="en-IN" dirty="0"/>
                    </a:p>
                  </a:txBody>
                  <a:tcPr anchor="ctr"/>
                </a:tc>
                <a:tc>
                  <a:txBody>
                    <a:bodyPr/>
                    <a:lstStyle/>
                    <a:p>
                      <a:pPr algn="ctr"/>
                      <a:r>
                        <a:rPr lang="en-US" dirty="0"/>
                        <a:t>1</a:t>
                      </a:r>
                      <a:endParaRPr lang="en-IN" dirty="0"/>
                    </a:p>
                  </a:txBody>
                  <a:tcPr anchor="ctr"/>
                </a:tc>
                <a:tc>
                  <a:txBody>
                    <a:bodyPr/>
                    <a:lstStyle/>
                    <a:p>
                      <a:pPr algn="ctr"/>
                      <a:r>
                        <a:rPr lang="en-US" dirty="0"/>
                        <a:t>2</a:t>
                      </a:r>
                      <a:endParaRPr lang="en-IN" dirty="0"/>
                    </a:p>
                  </a:txBody>
                  <a:tcPr anchor="ctr"/>
                </a:tc>
                <a:tc>
                  <a:txBody>
                    <a:bodyPr/>
                    <a:lstStyle/>
                    <a:p>
                      <a:pPr algn="ctr"/>
                      <a:r>
                        <a:rPr lang="en-US" dirty="0"/>
                        <a:t>3</a:t>
                      </a:r>
                      <a:endParaRPr lang="en-IN" dirty="0"/>
                    </a:p>
                  </a:txBody>
                  <a:tcPr anchor="ctr"/>
                </a:tc>
                <a:tc>
                  <a:txBody>
                    <a:bodyPr/>
                    <a:lstStyle/>
                    <a:p>
                      <a:pPr algn="ctr"/>
                      <a:r>
                        <a:rPr lang="en-US" dirty="0"/>
                        <a:t>4</a:t>
                      </a:r>
                      <a:endParaRPr lang="en-IN" dirty="0"/>
                    </a:p>
                  </a:txBody>
                  <a:tcPr anchor="ctr"/>
                </a:tc>
                <a:extLst>
                  <a:ext uri="{0D108BD9-81ED-4DB2-BD59-A6C34878D82A}">
                    <a16:rowId xmlns:a16="http://schemas.microsoft.com/office/drawing/2014/main" val="2175527213"/>
                  </a:ext>
                </a:extLst>
              </a:tr>
              <a:tr h="554477">
                <a:tc>
                  <a:txBody>
                    <a:bodyPr/>
                    <a:lstStyle/>
                    <a:p>
                      <a:pPr algn="ctr"/>
                      <a:endParaRPr lang="en-IN" dirty="0"/>
                    </a:p>
                  </a:txBody>
                  <a:tcPr anchor="ctr"/>
                </a:tc>
                <a:tc>
                  <a:txBody>
                    <a:bodyPr/>
                    <a:lstStyle/>
                    <a:p>
                      <a:pPr algn="ctr"/>
                      <a:endParaRPr lang="en-IN" dirty="0"/>
                    </a:p>
                  </a:txBody>
                  <a:tcPr anchor="ctr"/>
                </a:tc>
                <a:tc>
                  <a:txBody>
                    <a:bodyPr/>
                    <a:lstStyle/>
                    <a:p>
                      <a:pPr algn="ctr"/>
                      <a:endParaRPr lang="en-IN" dirty="0"/>
                    </a:p>
                  </a:txBody>
                  <a:tcPr anchor="ctr"/>
                </a:tc>
                <a:tc>
                  <a:txBody>
                    <a:bodyPr/>
                    <a:lstStyle/>
                    <a:p>
                      <a:pPr algn="ctr"/>
                      <a:endParaRPr lang="en-IN" dirty="0"/>
                    </a:p>
                  </a:txBody>
                  <a:tcPr anchor="ctr"/>
                </a:tc>
                <a:tc>
                  <a:txBody>
                    <a:bodyPr/>
                    <a:lstStyle/>
                    <a:p>
                      <a:pPr algn="ctr"/>
                      <a:endParaRPr lang="en-IN" dirty="0"/>
                    </a:p>
                  </a:txBody>
                  <a:tcPr anchor="ctr"/>
                </a:tc>
                <a:extLst>
                  <a:ext uri="{0D108BD9-81ED-4DB2-BD59-A6C34878D82A}">
                    <a16:rowId xmlns:a16="http://schemas.microsoft.com/office/drawing/2014/main" val="744884186"/>
                  </a:ext>
                </a:extLst>
              </a:tr>
            </a:tbl>
          </a:graphicData>
        </a:graphic>
      </p:graphicFrame>
      <p:sp>
        <p:nvSpPr>
          <p:cNvPr id="10" name="TextBox 9">
            <a:extLst>
              <a:ext uri="{FF2B5EF4-FFF2-40B4-BE49-F238E27FC236}">
                <a16:creationId xmlns:a16="http://schemas.microsoft.com/office/drawing/2014/main" id="{BB588779-899B-F500-E96B-6201FB2ED6CA}"/>
              </a:ext>
            </a:extLst>
          </p:cNvPr>
          <p:cNvSpPr txBox="1"/>
          <p:nvPr/>
        </p:nvSpPr>
        <p:spPr>
          <a:xfrm>
            <a:off x="395662" y="3452655"/>
            <a:ext cx="689612" cy="461665"/>
          </a:xfrm>
          <a:prstGeom prst="rect">
            <a:avLst/>
          </a:prstGeom>
          <a:noFill/>
        </p:spPr>
        <p:txBody>
          <a:bodyPr wrap="none" rtlCol="0">
            <a:spAutoFit/>
          </a:bodyPr>
          <a:lstStyle/>
          <a:p>
            <a:r>
              <a:rPr lang="en-US" sz="2400" b="1" dirty="0">
                <a:solidFill>
                  <a:schemeClr val="accent6"/>
                </a:solidFill>
              </a:rPr>
              <a:t>Q[] :</a:t>
            </a:r>
            <a:endParaRPr lang="en-IN" sz="2400" b="1" dirty="0">
              <a:solidFill>
                <a:schemeClr val="accent6"/>
              </a:solidFill>
            </a:endParaRPr>
          </a:p>
        </p:txBody>
      </p:sp>
      <p:sp>
        <p:nvSpPr>
          <p:cNvPr id="6" name="Oval 5">
            <a:extLst>
              <a:ext uri="{FF2B5EF4-FFF2-40B4-BE49-F238E27FC236}">
                <a16:creationId xmlns:a16="http://schemas.microsoft.com/office/drawing/2014/main" id="{8E027BC2-B878-7332-11B7-A67235C0128F}"/>
              </a:ext>
            </a:extLst>
          </p:cNvPr>
          <p:cNvSpPr/>
          <p:nvPr/>
        </p:nvSpPr>
        <p:spPr>
          <a:xfrm>
            <a:off x="8372743" y="1356174"/>
            <a:ext cx="3588687" cy="3247202"/>
          </a:xfrm>
          <a:prstGeom prst="ellipse">
            <a:avLst/>
          </a:prstGeom>
          <a:solidFill>
            <a:schemeClr val="tx1">
              <a:lumMod val="25000"/>
              <a:lumOff val="75000"/>
            </a:schemeClr>
          </a:solidFill>
          <a:ln>
            <a:solidFill>
              <a:srgbClr val="1D30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8B39CBA5-5F79-2970-328B-5222384FFD67}"/>
              </a:ext>
            </a:extLst>
          </p:cNvPr>
          <p:cNvSpPr/>
          <p:nvPr/>
        </p:nvSpPr>
        <p:spPr>
          <a:xfrm>
            <a:off x="8980745" y="1913427"/>
            <a:ext cx="2372685" cy="2105177"/>
          </a:xfrm>
          <a:prstGeom prst="ellipse">
            <a:avLst/>
          </a:prstGeom>
          <a:solidFill>
            <a:schemeClr val="bg1"/>
          </a:solidFill>
          <a:ln>
            <a:solidFill>
              <a:srgbClr val="1D30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Connector 14">
            <a:extLst>
              <a:ext uri="{FF2B5EF4-FFF2-40B4-BE49-F238E27FC236}">
                <a16:creationId xmlns:a16="http://schemas.microsoft.com/office/drawing/2014/main" id="{A29CAB24-CC56-B1AE-7C06-440F470A4499}"/>
              </a:ext>
            </a:extLst>
          </p:cNvPr>
          <p:cNvCxnSpPr>
            <a:cxnSpLocks/>
          </p:cNvCxnSpPr>
          <p:nvPr/>
        </p:nvCxnSpPr>
        <p:spPr>
          <a:xfrm>
            <a:off x="10233819" y="1356174"/>
            <a:ext cx="0" cy="557253"/>
          </a:xfrm>
          <a:prstGeom prst="line">
            <a:avLst/>
          </a:prstGeom>
          <a:solidFill>
            <a:schemeClr val="tx1">
              <a:lumMod val="25000"/>
              <a:lumOff val="75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FB60C54-FDEE-D45A-D46F-300EDDE63FB8}"/>
              </a:ext>
            </a:extLst>
          </p:cNvPr>
          <p:cNvCxnSpPr>
            <a:cxnSpLocks/>
          </p:cNvCxnSpPr>
          <p:nvPr/>
        </p:nvCxnSpPr>
        <p:spPr>
          <a:xfrm flipH="1">
            <a:off x="8787437" y="3777816"/>
            <a:ext cx="593695" cy="267388"/>
          </a:xfrm>
          <a:prstGeom prst="line">
            <a:avLst/>
          </a:prstGeom>
          <a:solidFill>
            <a:schemeClr val="tx1">
              <a:lumMod val="25000"/>
              <a:lumOff val="75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B5A9772-69AA-D679-71B1-5F8858BDB18F}"/>
              </a:ext>
            </a:extLst>
          </p:cNvPr>
          <p:cNvCxnSpPr>
            <a:cxnSpLocks/>
          </p:cNvCxnSpPr>
          <p:nvPr/>
        </p:nvCxnSpPr>
        <p:spPr>
          <a:xfrm flipV="1">
            <a:off x="11302477" y="2670190"/>
            <a:ext cx="608942" cy="65297"/>
          </a:xfrm>
          <a:prstGeom prst="line">
            <a:avLst/>
          </a:prstGeom>
          <a:solidFill>
            <a:schemeClr val="tx1">
              <a:lumMod val="25000"/>
              <a:lumOff val="75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A8FD401-90F5-1372-5241-EEBB0BCB6B2E}"/>
              </a:ext>
            </a:extLst>
          </p:cNvPr>
          <p:cNvCxnSpPr>
            <a:cxnSpLocks/>
          </p:cNvCxnSpPr>
          <p:nvPr/>
        </p:nvCxnSpPr>
        <p:spPr>
          <a:xfrm>
            <a:off x="10779268" y="3844625"/>
            <a:ext cx="433280" cy="504204"/>
          </a:xfrm>
          <a:prstGeom prst="line">
            <a:avLst/>
          </a:prstGeom>
          <a:solidFill>
            <a:schemeClr val="tx1">
              <a:lumMod val="25000"/>
              <a:lumOff val="75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837C64-13B4-8B97-A753-BA0E242021AF}"/>
              </a:ext>
            </a:extLst>
          </p:cNvPr>
          <p:cNvCxnSpPr>
            <a:cxnSpLocks/>
          </p:cNvCxnSpPr>
          <p:nvPr/>
        </p:nvCxnSpPr>
        <p:spPr>
          <a:xfrm flipH="1" flipV="1">
            <a:off x="8422755" y="2333086"/>
            <a:ext cx="661529" cy="199986"/>
          </a:xfrm>
          <a:prstGeom prst="line">
            <a:avLst/>
          </a:prstGeom>
          <a:solidFill>
            <a:schemeClr val="tx1">
              <a:lumMod val="25000"/>
              <a:lumOff val="75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18C751B8-051F-4DBC-4C05-B5385620679E}"/>
              </a:ext>
            </a:extLst>
          </p:cNvPr>
          <p:cNvSpPr txBox="1"/>
          <p:nvPr/>
        </p:nvSpPr>
        <p:spPr>
          <a:xfrm>
            <a:off x="2821846" y="2379000"/>
            <a:ext cx="330540" cy="461665"/>
          </a:xfrm>
          <a:prstGeom prst="rect">
            <a:avLst/>
          </a:prstGeom>
          <a:noFill/>
        </p:spPr>
        <p:txBody>
          <a:bodyPr wrap="none" rtlCol="0">
            <a:spAutoFit/>
          </a:bodyPr>
          <a:lstStyle/>
          <a:p>
            <a:r>
              <a:rPr lang="en-US" sz="2400" b="1" dirty="0">
                <a:solidFill>
                  <a:schemeClr val="accent6"/>
                </a:solidFill>
              </a:rPr>
              <a:t>F</a:t>
            </a:r>
            <a:endParaRPr lang="en-IN" sz="2400" b="1" dirty="0">
              <a:solidFill>
                <a:schemeClr val="accent6"/>
              </a:solidFill>
            </a:endParaRPr>
          </a:p>
        </p:txBody>
      </p:sp>
      <p:sp>
        <p:nvSpPr>
          <p:cNvPr id="61" name="TextBox 60">
            <a:extLst>
              <a:ext uri="{FF2B5EF4-FFF2-40B4-BE49-F238E27FC236}">
                <a16:creationId xmlns:a16="http://schemas.microsoft.com/office/drawing/2014/main" id="{C92B2569-CA80-79CC-45EE-E5BF2887E96F}"/>
              </a:ext>
            </a:extLst>
          </p:cNvPr>
          <p:cNvSpPr txBox="1"/>
          <p:nvPr/>
        </p:nvSpPr>
        <p:spPr>
          <a:xfrm>
            <a:off x="4354670" y="4018604"/>
            <a:ext cx="354584" cy="461665"/>
          </a:xfrm>
          <a:prstGeom prst="rect">
            <a:avLst/>
          </a:prstGeom>
          <a:noFill/>
        </p:spPr>
        <p:txBody>
          <a:bodyPr wrap="none" rtlCol="0">
            <a:spAutoFit/>
          </a:bodyPr>
          <a:lstStyle/>
          <a:p>
            <a:r>
              <a:rPr lang="en-US" sz="2400" b="1" dirty="0">
                <a:solidFill>
                  <a:schemeClr val="accent6"/>
                </a:solidFill>
              </a:rPr>
              <a:t>R</a:t>
            </a:r>
            <a:endParaRPr lang="en-IN" sz="2400" b="1" dirty="0">
              <a:solidFill>
                <a:schemeClr val="accent6"/>
              </a:solidFill>
            </a:endParaRPr>
          </a:p>
        </p:txBody>
      </p:sp>
      <p:sp>
        <p:nvSpPr>
          <p:cNvPr id="63" name="TextBox 62">
            <a:extLst>
              <a:ext uri="{FF2B5EF4-FFF2-40B4-BE49-F238E27FC236}">
                <a16:creationId xmlns:a16="http://schemas.microsoft.com/office/drawing/2014/main" id="{4DEA7EC1-1539-830D-B52E-2115DD7D1ACC}"/>
              </a:ext>
            </a:extLst>
          </p:cNvPr>
          <p:cNvSpPr txBox="1"/>
          <p:nvPr/>
        </p:nvSpPr>
        <p:spPr>
          <a:xfrm>
            <a:off x="-10137" y="711681"/>
            <a:ext cx="2447233" cy="553998"/>
          </a:xfrm>
          <a:prstGeom prst="rect">
            <a:avLst/>
          </a:prstGeom>
          <a:solidFill>
            <a:srgbClr val="002060"/>
          </a:solidFill>
        </p:spPr>
        <p:txBody>
          <a:bodyPr wrap="square" rtlCol="0">
            <a:spAutoFit/>
          </a:bodyPr>
          <a:lstStyle>
            <a:defPPr>
              <a:defRPr lang="en-US"/>
            </a:defPPr>
            <a:lvl1pPr>
              <a:defRPr sz="2800" b="1">
                <a:solidFill>
                  <a:schemeClr val="bg1"/>
                </a:solidFill>
                <a:latin typeface="+mj-lt"/>
              </a:defRPr>
            </a:lvl1pPr>
          </a:lstStyle>
          <a:p>
            <a:r>
              <a:rPr lang="en-IN" dirty="0"/>
              <a:t>Simple Queue</a:t>
            </a:r>
          </a:p>
        </p:txBody>
      </p:sp>
      <p:sp>
        <p:nvSpPr>
          <p:cNvPr id="64" name="TextBox 63">
            <a:extLst>
              <a:ext uri="{FF2B5EF4-FFF2-40B4-BE49-F238E27FC236}">
                <a16:creationId xmlns:a16="http://schemas.microsoft.com/office/drawing/2014/main" id="{68BBBF6F-452E-0830-92D3-E43BDC9A4887}"/>
              </a:ext>
            </a:extLst>
          </p:cNvPr>
          <p:cNvSpPr txBox="1"/>
          <p:nvPr/>
        </p:nvSpPr>
        <p:spPr>
          <a:xfrm>
            <a:off x="6061866" y="711225"/>
            <a:ext cx="2447233" cy="553998"/>
          </a:xfrm>
          <a:prstGeom prst="rect">
            <a:avLst/>
          </a:prstGeom>
          <a:solidFill>
            <a:srgbClr val="002060"/>
          </a:solidFill>
        </p:spPr>
        <p:txBody>
          <a:bodyPr wrap="square" rtlCol="0">
            <a:spAutoFit/>
          </a:bodyPr>
          <a:lstStyle>
            <a:defPPr>
              <a:defRPr lang="en-US"/>
            </a:defPPr>
            <a:lvl1pPr>
              <a:defRPr sz="2800" b="1">
                <a:solidFill>
                  <a:schemeClr val="bg1"/>
                </a:solidFill>
                <a:latin typeface="+mj-lt"/>
              </a:defRPr>
            </a:lvl1pPr>
          </a:lstStyle>
          <a:p>
            <a:r>
              <a:rPr lang="en-IN" dirty="0"/>
              <a:t>Circular Queue</a:t>
            </a:r>
          </a:p>
        </p:txBody>
      </p:sp>
      <p:sp>
        <p:nvSpPr>
          <p:cNvPr id="72" name="TextBox 71">
            <a:extLst>
              <a:ext uri="{FF2B5EF4-FFF2-40B4-BE49-F238E27FC236}">
                <a16:creationId xmlns:a16="http://schemas.microsoft.com/office/drawing/2014/main" id="{F64E532E-4B19-4797-A5E8-86B11212A5C9}"/>
              </a:ext>
            </a:extLst>
          </p:cNvPr>
          <p:cNvSpPr txBox="1"/>
          <p:nvPr/>
        </p:nvSpPr>
        <p:spPr>
          <a:xfrm>
            <a:off x="2721253" y="3518166"/>
            <a:ext cx="495649" cy="461665"/>
          </a:xfrm>
          <a:prstGeom prst="rect">
            <a:avLst/>
          </a:prstGeom>
          <a:noFill/>
        </p:spPr>
        <p:txBody>
          <a:bodyPr wrap="none" rtlCol="0">
            <a:spAutoFit/>
          </a:bodyPr>
          <a:lstStyle/>
          <a:p>
            <a:r>
              <a:rPr lang="en-US" sz="2400" b="1" dirty="0"/>
              <a:t>30</a:t>
            </a:r>
            <a:endParaRPr lang="en-IN" sz="2400" b="1" dirty="0"/>
          </a:p>
        </p:txBody>
      </p:sp>
      <p:sp>
        <p:nvSpPr>
          <p:cNvPr id="74" name="TextBox 73">
            <a:extLst>
              <a:ext uri="{FF2B5EF4-FFF2-40B4-BE49-F238E27FC236}">
                <a16:creationId xmlns:a16="http://schemas.microsoft.com/office/drawing/2014/main" id="{6A1B65C5-042E-A1C4-9229-E05B2D7CDEF7}"/>
              </a:ext>
            </a:extLst>
          </p:cNvPr>
          <p:cNvSpPr txBox="1"/>
          <p:nvPr/>
        </p:nvSpPr>
        <p:spPr>
          <a:xfrm>
            <a:off x="3462475" y="3523271"/>
            <a:ext cx="495649" cy="461665"/>
          </a:xfrm>
          <a:prstGeom prst="rect">
            <a:avLst/>
          </a:prstGeom>
          <a:noFill/>
        </p:spPr>
        <p:txBody>
          <a:bodyPr wrap="none" rtlCol="0">
            <a:spAutoFit/>
          </a:bodyPr>
          <a:lstStyle/>
          <a:p>
            <a:r>
              <a:rPr lang="en-US" sz="2400" b="1" dirty="0"/>
              <a:t>40</a:t>
            </a:r>
            <a:endParaRPr lang="en-IN" sz="2400" b="1" dirty="0"/>
          </a:p>
        </p:txBody>
      </p:sp>
      <p:sp>
        <p:nvSpPr>
          <p:cNvPr id="76" name="TextBox 75">
            <a:extLst>
              <a:ext uri="{FF2B5EF4-FFF2-40B4-BE49-F238E27FC236}">
                <a16:creationId xmlns:a16="http://schemas.microsoft.com/office/drawing/2014/main" id="{EF678A7F-251B-4524-6AD8-9CA4990362C6}"/>
              </a:ext>
            </a:extLst>
          </p:cNvPr>
          <p:cNvSpPr txBox="1"/>
          <p:nvPr/>
        </p:nvSpPr>
        <p:spPr>
          <a:xfrm>
            <a:off x="4203697" y="3518166"/>
            <a:ext cx="495649" cy="461665"/>
          </a:xfrm>
          <a:prstGeom prst="rect">
            <a:avLst/>
          </a:prstGeom>
          <a:noFill/>
        </p:spPr>
        <p:txBody>
          <a:bodyPr wrap="none" rtlCol="0">
            <a:spAutoFit/>
          </a:bodyPr>
          <a:lstStyle/>
          <a:p>
            <a:r>
              <a:rPr lang="en-US" sz="2400" b="1" dirty="0"/>
              <a:t>50</a:t>
            </a:r>
            <a:endParaRPr lang="en-IN" sz="2400" b="1" dirty="0"/>
          </a:p>
        </p:txBody>
      </p:sp>
      <p:sp>
        <p:nvSpPr>
          <p:cNvPr id="78" name="TextBox 77">
            <a:extLst>
              <a:ext uri="{FF2B5EF4-FFF2-40B4-BE49-F238E27FC236}">
                <a16:creationId xmlns:a16="http://schemas.microsoft.com/office/drawing/2014/main" id="{C33C2278-5615-03CC-CC1E-BF7C02732115}"/>
              </a:ext>
            </a:extLst>
          </p:cNvPr>
          <p:cNvSpPr txBox="1"/>
          <p:nvPr/>
        </p:nvSpPr>
        <p:spPr>
          <a:xfrm>
            <a:off x="1177631" y="4947093"/>
            <a:ext cx="2780493" cy="369332"/>
          </a:xfrm>
          <a:prstGeom prst="rect">
            <a:avLst/>
          </a:prstGeom>
          <a:solidFill>
            <a:srgbClr val="FFFFCC"/>
          </a:solidFill>
        </p:spPr>
        <p:txBody>
          <a:bodyPr wrap="square" rtlCol="0">
            <a:spAutoFit/>
          </a:bodyPr>
          <a:lstStyle/>
          <a:p>
            <a:pPr algn="ctr"/>
            <a:r>
              <a:rPr lang="en-IN" b="1" dirty="0">
                <a:solidFill>
                  <a:schemeClr val="accent6"/>
                </a:solidFill>
              </a:rPr>
              <a:t>Queue Overflow</a:t>
            </a:r>
          </a:p>
        </p:txBody>
      </p:sp>
      <p:sp>
        <p:nvSpPr>
          <p:cNvPr id="79" name="TextBox 78">
            <a:extLst>
              <a:ext uri="{FF2B5EF4-FFF2-40B4-BE49-F238E27FC236}">
                <a16:creationId xmlns:a16="http://schemas.microsoft.com/office/drawing/2014/main" id="{3DE214CF-82C9-7996-B5F1-B3ABDD754FF9}"/>
              </a:ext>
            </a:extLst>
          </p:cNvPr>
          <p:cNvSpPr txBox="1"/>
          <p:nvPr/>
        </p:nvSpPr>
        <p:spPr>
          <a:xfrm flipH="1">
            <a:off x="4649049" y="4585509"/>
            <a:ext cx="1292684" cy="369332"/>
          </a:xfrm>
          <a:prstGeom prst="rect">
            <a:avLst/>
          </a:prstGeom>
          <a:noFill/>
        </p:spPr>
        <p:txBody>
          <a:bodyPr wrap="square" rtlCol="0">
            <a:spAutoFit/>
          </a:bodyPr>
          <a:lstStyle/>
          <a:p>
            <a:r>
              <a:rPr lang="en-IN" b="1" dirty="0"/>
              <a:t>Dequeue()</a:t>
            </a:r>
          </a:p>
        </p:txBody>
      </p:sp>
      <p:sp>
        <p:nvSpPr>
          <p:cNvPr id="80" name="TextBox 79">
            <a:extLst>
              <a:ext uri="{FF2B5EF4-FFF2-40B4-BE49-F238E27FC236}">
                <a16:creationId xmlns:a16="http://schemas.microsoft.com/office/drawing/2014/main" id="{8B53CD37-88EE-7CA3-B482-3FCF012690A8}"/>
              </a:ext>
            </a:extLst>
          </p:cNvPr>
          <p:cNvSpPr txBox="1"/>
          <p:nvPr/>
        </p:nvSpPr>
        <p:spPr>
          <a:xfrm flipH="1">
            <a:off x="4649049" y="4888280"/>
            <a:ext cx="1292684" cy="369332"/>
          </a:xfrm>
          <a:prstGeom prst="rect">
            <a:avLst/>
          </a:prstGeom>
          <a:noFill/>
        </p:spPr>
        <p:txBody>
          <a:bodyPr wrap="square" rtlCol="0">
            <a:spAutoFit/>
          </a:bodyPr>
          <a:lstStyle/>
          <a:p>
            <a:r>
              <a:rPr lang="en-IN" b="1" dirty="0"/>
              <a:t>Dequeue()</a:t>
            </a:r>
          </a:p>
        </p:txBody>
      </p:sp>
      <p:sp>
        <p:nvSpPr>
          <p:cNvPr id="81" name="TextBox 80">
            <a:extLst>
              <a:ext uri="{FF2B5EF4-FFF2-40B4-BE49-F238E27FC236}">
                <a16:creationId xmlns:a16="http://schemas.microsoft.com/office/drawing/2014/main" id="{01480412-0983-5ACF-4AD3-D434C44E9C9B}"/>
              </a:ext>
            </a:extLst>
          </p:cNvPr>
          <p:cNvSpPr txBox="1"/>
          <p:nvPr/>
        </p:nvSpPr>
        <p:spPr>
          <a:xfrm flipH="1">
            <a:off x="4637727" y="5158456"/>
            <a:ext cx="1470239" cy="369332"/>
          </a:xfrm>
          <a:prstGeom prst="rect">
            <a:avLst/>
          </a:prstGeom>
          <a:noFill/>
        </p:spPr>
        <p:txBody>
          <a:bodyPr wrap="square" rtlCol="0">
            <a:spAutoFit/>
          </a:bodyPr>
          <a:lstStyle/>
          <a:p>
            <a:r>
              <a:rPr lang="en-IN" b="1" dirty="0"/>
              <a:t>Enqueue(70)</a:t>
            </a:r>
          </a:p>
        </p:txBody>
      </p:sp>
      <p:sp>
        <p:nvSpPr>
          <p:cNvPr id="82" name="TextBox 81">
            <a:extLst>
              <a:ext uri="{FF2B5EF4-FFF2-40B4-BE49-F238E27FC236}">
                <a16:creationId xmlns:a16="http://schemas.microsoft.com/office/drawing/2014/main" id="{3D843296-F583-6486-AABF-8615E85F41A5}"/>
              </a:ext>
            </a:extLst>
          </p:cNvPr>
          <p:cNvSpPr txBox="1"/>
          <p:nvPr/>
        </p:nvSpPr>
        <p:spPr>
          <a:xfrm>
            <a:off x="11502028" y="1548268"/>
            <a:ext cx="327334" cy="430887"/>
          </a:xfrm>
          <a:prstGeom prst="rect">
            <a:avLst/>
          </a:prstGeom>
          <a:noFill/>
        </p:spPr>
        <p:txBody>
          <a:bodyPr wrap="none" rtlCol="0">
            <a:spAutoFit/>
          </a:bodyPr>
          <a:lstStyle/>
          <a:p>
            <a:r>
              <a:rPr lang="en-IN" sz="2200" b="1" dirty="0"/>
              <a:t>0</a:t>
            </a:r>
          </a:p>
        </p:txBody>
      </p:sp>
      <p:sp>
        <p:nvSpPr>
          <p:cNvPr id="83" name="TextBox 82">
            <a:extLst>
              <a:ext uri="{FF2B5EF4-FFF2-40B4-BE49-F238E27FC236}">
                <a16:creationId xmlns:a16="http://schemas.microsoft.com/office/drawing/2014/main" id="{2C3B00FC-DDB4-8270-5B30-28B57975F9D6}"/>
              </a:ext>
            </a:extLst>
          </p:cNvPr>
          <p:cNvSpPr txBox="1"/>
          <p:nvPr/>
        </p:nvSpPr>
        <p:spPr>
          <a:xfrm rot="10800000" flipH="1" flipV="1">
            <a:off x="11856772" y="3395693"/>
            <a:ext cx="407054" cy="430887"/>
          </a:xfrm>
          <a:prstGeom prst="rect">
            <a:avLst/>
          </a:prstGeom>
          <a:noFill/>
        </p:spPr>
        <p:txBody>
          <a:bodyPr wrap="square" rtlCol="0">
            <a:spAutoFit/>
          </a:bodyPr>
          <a:lstStyle/>
          <a:p>
            <a:r>
              <a:rPr lang="en-IN" sz="2200" b="1" dirty="0"/>
              <a:t>1</a:t>
            </a:r>
          </a:p>
        </p:txBody>
      </p:sp>
      <p:sp>
        <p:nvSpPr>
          <p:cNvPr id="84" name="TextBox 83">
            <a:extLst>
              <a:ext uri="{FF2B5EF4-FFF2-40B4-BE49-F238E27FC236}">
                <a16:creationId xmlns:a16="http://schemas.microsoft.com/office/drawing/2014/main" id="{D71E660B-71D9-82EE-D0D8-3DF4F6787CB6}"/>
              </a:ext>
            </a:extLst>
          </p:cNvPr>
          <p:cNvSpPr txBox="1"/>
          <p:nvPr/>
        </p:nvSpPr>
        <p:spPr>
          <a:xfrm rot="10800000" flipH="1" flipV="1">
            <a:off x="10077617" y="4557770"/>
            <a:ext cx="407054" cy="430887"/>
          </a:xfrm>
          <a:prstGeom prst="rect">
            <a:avLst/>
          </a:prstGeom>
          <a:noFill/>
        </p:spPr>
        <p:txBody>
          <a:bodyPr wrap="square" rtlCol="0">
            <a:spAutoFit/>
          </a:bodyPr>
          <a:lstStyle/>
          <a:p>
            <a:r>
              <a:rPr lang="en-IN" sz="2200" b="1" dirty="0"/>
              <a:t>2</a:t>
            </a:r>
          </a:p>
        </p:txBody>
      </p:sp>
      <p:sp>
        <p:nvSpPr>
          <p:cNvPr id="86" name="TextBox 85">
            <a:extLst>
              <a:ext uri="{FF2B5EF4-FFF2-40B4-BE49-F238E27FC236}">
                <a16:creationId xmlns:a16="http://schemas.microsoft.com/office/drawing/2014/main" id="{519AC00E-447F-CE9C-3FF8-95CD3B651572}"/>
              </a:ext>
            </a:extLst>
          </p:cNvPr>
          <p:cNvSpPr txBox="1"/>
          <p:nvPr/>
        </p:nvSpPr>
        <p:spPr>
          <a:xfrm rot="10800000" flipH="1" flipV="1">
            <a:off x="8118493" y="3063332"/>
            <a:ext cx="407054" cy="430887"/>
          </a:xfrm>
          <a:prstGeom prst="rect">
            <a:avLst/>
          </a:prstGeom>
          <a:noFill/>
        </p:spPr>
        <p:txBody>
          <a:bodyPr wrap="square" rtlCol="0">
            <a:spAutoFit/>
          </a:bodyPr>
          <a:lstStyle/>
          <a:p>
            <a:r>
              <a:rPr lang="en-IN" sz="2200" b="1" dirty="0"/>
              <a:t>3</a:t>
            </a:r>
          </a:p>
        </p:txBody>
      </p:sp>
      <p:sp>
        <p:nvSpPr>
          <p:cNvPr id="87" name="TextBox 86">
            <a:extLst>
              <a:ext uri="{FF2B5EF4-FFF2-40B4-BE49-F238E27FC236}">
                <a16:creationId xmlns:a16="http://schemas.microsoft.com/office/drawing/2014/main" id="{6E0C60BF-FAD7-8EFB-8DA1-408056926A74}"/>
              </a:ext>
            </a:extLst>
          </p:cNvPr>
          <p:cNvSpPr txBox="1"/>
          <p:nvPr/>
        </p:nvSpPr>
        <p:spPr>
          <a:xfrm rot="10800000" flipH="1" flipV="1">
            <a:off x="8829413" y="1304112"/>
            <a:ext cx="407054" cy="430887"/>
          </a:xfrm>
          <a:prstGeom prst="rect">
            <a:avLst/>
          </a:prstGeom>
          <a:noFill/>
        </p:spPr>
        <p:txBody>
          <a:bodyPr wrap="square" rtlCol="0">
            <a:spAutoFit/>
          </a:bodyPr>
          <a:lstStyle/>
          <a:p>
            <a:r>
              <a:rPr lang="en-IN" sz="2200" b="1" dirty="0"/>
              <a:t>4</a:t>
            </a:r>
          </a:p>
        </p:txBody>
      </p:sp>
      <p:sp>
        <p:nvSpPr>
          <p:cNvPr id="92" name="TextBox 91">
            <a:extLst>
              <a:ext uri="{FF2B5EF4-FFF2-40B4-BE49-F238E27FC236}">
                <a16:creationId xmlns:a16="http://schemas.microsoft.com/office/drawing/2014/main" id="{084D8619-8018-93EB-D986-8A19EDADBF7E}"/>
              </a:ext>
            </a:extLst>
          </p:cNvPr>
          <p:cNvSpPr txBox="1"/>
          <p:nvPr/>
        </p:nvSpPr>
        <p:spPr>
          <a:xfrm flipH="1">
            <a:off x="6123458" y="3175783"/>
            <a:ext cx="1900321" cy="369332"/>
          </a:xfrm>
          <a:prstGeom prst="rect">
            <a:avLst/>
          </a:prstGeom>
          <a:noFill/>
        </p:spPr>
        <p:txBody>
          <a:bodyPr wrap="square" rtlCol="0">
            <a:spAutoFit/>
          </a:bodyPr>
          <a:lstStyle/>
          <a:p>
            <a:r>
              <a:rPr lang="en-IN" b="1" dirty="0"/>
              <a:t>Enqueue(10)</a:t>
            </a:r>
          </a:p>
        </p:txBody>
      </p:sp>
      <p:sp>
        <p:nvSpPr>
          <p:cNvPr id="93" name="TextBox 92">
            <a:extLst>
              <a:ext uri="{FF2B5EF4-FFF2-40B4-BE49-F238E27FC236}">
                <a16:creationId xmlns:a16="http://schemas.microsoft.com/office/drawing/2014/main" id="{C765C43F-392F-3B0C-DFC2-7B00A7CC455C}"/>
              </a:ext>
            </a:extLst>
          </p:cNvPr>
          <p:cNvSpPr txBox="1"/>
          <p:nvPr/>
        </p:nvSpPr>
        <p:spPr>
          <a:xfrm>
            <a:off x="6156262" y="1339472"/>
            <a:ext cx="1732568" cy="892552"/>
          </a:xfrm>
          <a:prstGeom prst="rect">
            <a:avLst/>
          </a:prstGeom>
          <a:noFill/>
        </p:spPr>
        <p:txBody>
          <a:bodyPr wrap="square" rtlCol="0">
            <a:spAutoFit/>
          </a:bodyPr>
          <a:lstStyle/>
          <a:p>
            <a:r>
              <a:rPr lang="en-US" sz="2600" b="1" dirty="0">
                <a:solidFill>
                  <a:schemeClr val="accent6"/>
                </a:solidFill>
              </a:rPr>
              <a:t>N = 5</a:t>
            </a:r>
          </a:p>
          <a:p>
            <a:r>
              <a:rPr lang="en-US" sz="2600" b="1" dirty="0">
                <a:solidFill>
                  <a:schemeClr val="accent6"/>
                </a:solidFill>
              </a:rPr>
              <a:t>F = R = -1</a:t>
            </a:r>
            <a:endParaRPr lang="en-IN" sz="2600" b="1" dirty="0">
              <a:solidFill>
                <a:schemeClr val="accent6"/>
              </a:solidFill>
            </a:endParaRPr>
          </a:p>
        </p:txBody>
      </p:sp>
      <p:sp>
        <p:nvSpPr>
          <p:cNvPr id="94" name="TextBox 93">
            <a:extLst>
              <a:ext uri="{FF2B5EF4-FFF2-40B4-BE49-F238E27FC236}">
                <a16:creationId xmlns:a16="http://schemas.microsoft.com/office/drawing/2014/main" id="{7D4F9217-8C09-70DE-4816-CDD0229B9A54}"/>
              </a:ext>
            </a:extLst>
          </p:cNvPr>
          <p:cNvSpPr txBox="1"/>
          <p:nvPr/>
        </p:nvSpPr>
        <p:spPr>
          <a:xfrm>
            <a:off x="10899675" y="1763211"/>
            <a:ext cx="495649" cy="461665"/>
          </a:xfrm>
          <a:prstGeom prst="rect">
            <a:avLst/>
          </a:prstGeom>
          <a:noFill/>
        </p:spPr>
        <p:txBody>
          <a:bodyPr wrap="none" rtlCol="0">
            <a:spAutoFit/>
          </a:bodyPr>
          <a:lstStyle/>
          <a:p>
            <a:r>
              <a:rPr lang="en-US" sz="2400" b="1" dirty="0"/>
              <a:t>10</a:t>
            </a:r>
            <a:endParaRPr lang="en-IN" sz="2400" b="1" dirty="0"/>
          </a:p>
        </p:txBody>
      </p:sp>
      <p:sp>
        <p:nvSpPr>
          <p:cNvPr id="97" name="TextBox 96">
            <a:extLst>
              <a:ext uri="{FF2B5EF4-FFF2-40B4-BE49-F238E27FC236}">
                <a16:creationId xmlns:a16="http://schemas.microsoft.com/office/drawing/2014/main" id="{5F750A34-DE6A-2337-DA2C-138F66177F49}"/>
              </a:ext>
            </a:extLst>
          </p:cNvPr>
          <p:cNvSpPr txBox="1"/>
          <p:nvPr/>
        </p:nvSpPr>
        <p:spPr>
          <a:xfrm flipH="1">
            <a:off x="6123458" y="3442802"/>
            <a:ext cx="1900321" cy="369332"/>
          </a:xfrm>
          <a:prstGeom prst="rect">
            <a:avLst/>
          </a:prstGeom>
          <a:noFill/>
        </p:spPr>
        <p:txBody>
          <a:bodyPr wrap="square" rtlCol="0">
            <a:spAutoFit/>
          </a:bodyPr>
          <a:lstStyle/>
          <a:p>
            <a:r>
              <a:rPr lang="en-IN" b="1" dirty="0"/>
              <a:t>Enqueue(20)</a:t>
            </a:r>
          </a:p>
        </p:txBody>
      </p:sp>
      <p:sp>
        <p:nvSpPr>
          <p:cNvPr id="98" name="TextBox 97">
            <a:extLst>
              <a:ext uri="{FF2B5EF4-FFF2-40B4-BE49-F238E27FC236}">
                <a16:creationId xmlns:a16="http://schemas.microsoft.com/office/drawing/2014/main" id="{22A75978-1551-FA06-8FE5-1B8916F4A8EC}"/>
              </a:ext>
            </a:extLst>
          </p:cNvPr>
          <p:cNvSpPr txBox="1"/>
          <p:nvPr/>
        </p:nvSpPr>
        <p:spPr>
          <a:xfrm>
            <a:off x="11300531" y="3180801"/>
            <a:ext cx="495649" cy="461665"/>
          </a:xfrm>
          <a:prstGeom prst="rect">
            <a:avLst/>
          </a:prstGeom>
          <a:noFill/>
        </p:spPr>
        <p:txBody>
          <a:bodyPr wrap="none" rtlCol="0">
            <a:spAutoFit/>
          </a:bodyPr>
          <a:lstStyle/>
          <a:p>
            <a:r>
              <a:rPr lang="en-US" sz="2400" b="1" dirty="0"/>
              <a:t>20</a:t>
            </a:r>
            <a:endParaRPr lang="en-IN" sz="2400" b="1" dirty="0"/>
          </a:p>
        </p:txBody>
      </p:sp>
      <p:sp>
        <p:nvSpPr>
          <p:cNvPr id="100" name="TextBox 99">
            <a:extLst>
              <a:ext uri="{FF2B5EF4-FFF2-40B4-BE49-F238E27FC236}">
                <a16:creationId xmlns:a16="http://schemas.microsoft.com/office/drawing/2014/main" id="{07FB1EA9-D7EC-E9F9-834B-86DC039BCF10}"/>
              </a:ext>
            </a:extLst>
          </p:cNvPr>
          <p:cNvSpPr txBox="1"/>
          <p:nvPr/>
        </p:nvSpPr>
        <p:spPr>
          <a:xfrm flipH="1">
            <a:off x="6123458" y="3709821"/>
            <a:ext cx="1900321" cy="369332"/>
          </a:xfrm>
          <a:prstGeom prst="rect">
            <a:avLst/>
          </a:prstGeom>
          <a:noFill/>
        </p:spPr>
        <p:txBody>
          <a:bodyPr wrap="square" rtlCol="0">
            <a:spAutoFit/>
          </a:bodyPr>
          <a:lstStyle/>
          <a:p>
            <a:r>
              <a:rPr lang="en-IN" b="1" dirty="0"/>
              <a:t>Enqueue(30)</a:t>
            </a:r>
          </a:p>
        </p:txBody>
      </p:sp>
      <p:sp>
        <p:nvSpPr>
          <p:cNvPr id="101" name="TextBox 100">
            <a:extLst>
              <a:ext uri="{FF2B5EF4-FFF2-40B4-BE49-F238E27FC236}">
                <a16:creationId xmlns:a16="http://schemas.microsoft.com/office/drawing/2014/main" id="{B5CA9A03-D4CF-D7CB-5CC3-0D2FFE0B38C2}"/>
              </a:ext>
            </a:extLst>
          </p:cNvPr>
          <p:cNvSpPr txBox="1"/>
          <p:nvPr/>
        </p:nvSpPr>
        <p:spPr>
          <a:xfrm>
            <a:off x="9793838" y="4103520"/>
            <a:ext cx="495649" cy="461665"/>
          </a:xfrm>
          <a:prstGeom prst="rect">
            <a:avLst/>
          </a:prstGeom>
          <a:noFill/>
        </p:spPr>
        <p:txBody>
          <a:bodyPr wrap="none" rtlCol="0">
            <a:spAutoFit/>
          </a:bodyPr>
          <a:lstStyle/>
          <a:p>
            <a:r>
              <a:rPr lang="en-US" sz="2400" b="1" dirty="0">
                <a:ln w="0"/>
              </a:rPr>
              <a:t>30</a:t>
            </a:r>
            <a:endParaRPr lang="en-IN" sz="2400" b="1" dirty="0">
              <a:ln w="0"/>
            </a:endParaRPr>
          </a:p>
        </p:txBody>
      </p:sp>
      <p:sp>
        <p:nvSpPr>
          <p:cNvPr id="103" name="TextBox 102">
            <a:extLst>
              <a:ext uri="{FF2B5EF4-FFF2-40B4-BE49-F238E27FC236}">
                <a16:creationId xmlns:a16="http://schemas.microsoft.com/office/drawing/2014/main" id="{F703ECA6-C94F-BD84-C6EC-BB6ACB2A66EC}"/>
              </a:ext>
            </a:extLst>
          </p:cNvPr>
          <p:cNvSpPr txBox="1"/>
          <p:nvPr/>
        </p:nvSpPr>
        <p:spPr>
          <a:xfrm flipH="1">
            <a:off x="6123458" y="3976840"/>
            <a:ext cx="1900321" cy="369332"/>
          </a:xfrm>
          <a:prstGeom prst="rect">
            <a:avLst/>
          </a:prstGeom>
          <a:noFill/>
        </p:spPr>
        <p:txBody>
          <a:bodyPr wrap="square" rtlCol="0">
            <a:spAutoFit/>
          </a:bodyPr>
          <a:lstStyle/>
          <a:p>
            <a:r>
              <a:rPr lang="en-IN" b="1" dirty="0"/>
              <a:t>Enqueue(40)</a:t>
            </a:r>
          </a:p>
        </p:txBody>
      </p:sp>
      <p:sp>
        <p:nvSpPr>
          <p:cNvPr id="104" name="TextBox 103">
            <a:extLst>
              <a:ext uri="{FF2B5EF4-FFF2-40B4-BE49-F238E27FC236}">
                <a16:creationId xmlns:a16="http://schemas.microsoft.com/office/drawing/2014/main" id="{F09C5ACA-93FE-BCA3-4EA7-7B6EEC3A57E6}"/>
              </a:ext>
            </a:extLst>
          </p:cNvPr>
          <p:cNvSpPr txBox="1"/>
          <p:nvPr/>
        </p:nvSpPr>
        <p:spPr>
          <a:xfrm>
            <a:off x="8490964" y="2952731"/>
            <a:ext cx="495649" cy="461665"/>
          </a:xfrm>
          <a:prstGeom prst="rect">
            <a:avLst/>
          </a:prstGeom>
          <a:noFill/>
        </p:spPr>
        <p:txBody>
          <a:bodyPr wrap="none" rtlCol="0">
            <a:spAutoFit/>
          </a:bodyPr>
          <a:lstStyle/>
          <a:p>
            <a:r>
              <a:rPr lang="en-US" sz="2400" b="1" dirty="0">
                <a:ln w="0"/>
              </a:rPr>
              <a:t>40</a:t>
            </a:r>
            <a:endParaRPr lang="en-IN" sz="2400" b="1" dirty="0">
              <a:ln w="0"/>
            </a:endParaRPr>
          </a:p>
        </p:txBody>
      </p:sp>
      <p:sp>
        <p:nvSpPr>
          <p:cNvPr id="106" name="TextBox 105">
            <a:extLst>
              <a:ext uri="{FF2B5EF4-FFF2-40B4-BE49-F238E27FC236}">
                <a16:creationId xmlns:a16="http://schemas.microsoft.com/office/drawing/2014/main" id="{D82EF5A8-A7F1-7AF3-2A45-191F16C4E968}"/>
              </a:ext>
            </a:extLst>
          </p:cNvPr>
          <p:cNvSpPr txBox="1"/>
          <p:nvPr/>
        </p:nvSpPr>
        <p:spPr>
          <a:xfrm flipH="1">
            <a:off x="6123458" y="4243859"/>
            <a:ext cx="1900321" cy="369332"/>
          </a:xfrm>
          <a:prstGeom prst="rect">
            <a:avLst/>
          </a:prstGeom>
          <a:noFill/>
        </p:spPr>
        <p:txBody>
          <a:bodyPr wrap="square" rtlCol="0">
            <a:spAutoFit/>
          </a:bodyPr>
          <a:lstStyle/>
          <a:p>
            <a:r>
              <a:rPr lang="en-IN" b="1" dirty="0"/>
              <a:t>Enqueue(50)</a:t>
            </a:r>
          </a:p>
        </p:txBody>
      </p:sp>
      <p:sp>
        <p:nvSpPr>
          <p:cNvPr id="107" name="TextBox 106">
            <a:extLst>
              <a:ext uri="{FF2B5EF4-FFF2-40B4-BE49-F238E27FC236}">
                <a16:creationId xmlns:a16="http://schemas.microsoft.com/office/drawing/2014/main" id="{51168FF8-33FA-E6B1-C98E-8CF483F53813}"/>
              </a:ext>
            </a:extLst>
          </p:cNvPr>
          <p:cNvSpPr txBox="1"/>
          <p:nvPr/>
        </p:nvSpPr>
        <p:spPr>
          <a:xfrm>
            <a:off x="9091929" y="1652803"/>
            <a:ext cx="495649" cy="461665"/>
          </a:xfrm>
          <a:prstGeom prst="rect">
            <a:avLst/>
          </a:prstGeom>
          <a:noFill/>
        </p:spPr>
        <p:txBody>
          <a:bodyPr wrap="none" rtlCol="0">
            <a:spAutoFit/>
          </a:bodyPr>
          <a:lstStyle/>
          <a:p>
            <a:r>
              <a:rPr lang="en-US" sz="2400" b="1" dirty="0">
                <a:ln w="0"/>
              </a:rPr>
              <a:t>50</a:t>
            </a:r>
            <a:endParaRPr lang="en-IN" sz="2400" b="1" dirty="0">
              <a:ln w="0"/>
            </a:endParaRPr>
          </a:p>
        </p:txBody>
      </p:sp>
      <p:sp>
        <p:nvSpPr>
          <p:cNvPr id="109" name="TextBox 108">
            <a:extLst>
              <a:ext uri="{FF2B5EF4-FFF2-40B4-BE49-F238E27FC236}">
                <a16:creationId xmlns:a16="http://schemas.microsoft.com/office/drawing/2014/main" id="{7E228858-B87F-4253-314A-793C572AE12E}"/>
              </a:ext>
            </a:extLst>
          </p:cNvPr>
          <p:cNvSpPr txBox="1"/>
          <p:nvPr/>
        </p:nvSpPr>
        <p:spPr>
          <a:xfrm flipH="1">
            <a:off x="6123458" y="4510878"/>
            <a:ext cx="1900321" cy="369332"/>
          </a:xfrm>
          <a:prstGeom prst="rect">
            <a:avLst/>
          </a:prstGeom>
          <a:noFill/>
        </p:spPr>
        <p:txBody>
          <a:bodyPr wrap="square" rtlCol="0">
            <a:spAutoFit/>
          </a:bodyPr>
          <a:lstStyle/>
          <a:p>
            <a:r>
              <a:rPr lang="en-IN" b="1" dirty="0"/>
              <a:t>Enqueue(60)</a:t>
            </a:r>
          </a:p>
        </p:txBody>
      </p:sp>
      <p:sp>
        <p:nvSpPr>
          <p:cNvPr id="110" name="TextBox 109">
            <a:extLst>
              <a:ext uri="{FF2B5EF4-FFF2-40B4-BE49-F238E27FC236}">
                <a16:creationId xmlns:a16="http://schemas.microsoft.com/office/drawing/2014/main" id="{137C571E-56A6-140B-42DD-46F400179006}"/>
              </a:ext>
            </a:extLst>
          </p:cNvPr>
          <p:cNvSpPr txBox="1"/>
          <p:nvPr/>
        </p:nvSpPr>
        <p:spPr>
          <a:xfrm>
            <a:off x="8239991" y="5628952"/>
            <a:ext cx="3671428" cy="369332"/>
          </a:xfrm>
          <a:prstGeom prst="rect">
            <a:avLst/>
          </a:prstGeom>
          <a:solidFill>
            <a:srgbClr val="FFFFCC"/>
          </a:solidFill>
        </p:spPr>
        <p:txBody>
          <a:bodyPr wrap="square" rtlCol="0">
            <a:spAutoFit/>
          </a:bodyPr>
          <a:lstStyle>
            <a:defPPr>
              <a:defRPr lang="en-US"/>
            </a:defPPr>
            <a:lvl1pPr algn="ctr">
              <a:defRPr b="1">
                <a:solidFill>
                  <a:schemeClr val="accent6"/>
                </a:solidFill>
              </a:defRPr>
            </a:lvl1pPr>
          </a:lstStyle>
          <a:p>
            <a:r>
              <a:rPr lang="en-IN" dirty="0"/>
              <a:t>Circular Queue Overflow</a:t>
            </a:r>
          </a:p>
        </p:txBody>
      </p:sp>
      <p:sp>
        <p:nvSpPr>
          <p:cNvPr id="111" name="TextBox 110">
            <a:extLst>
              <a:ext uri="{FF2B5EF4-FFF2-40B4-BE49-F238E27FC236}">
                <a16:creationId xmlns:a16="http://schemas.microsoft.com/office/drawing/2014/main" id="{850552E0-C522-01B6-768D-34D5D807204F}"/>
              </a:ext>
            </a:extLst>
          </p:cNvPr>
          <p:cNvSpPr txBox="1"/>
          <p:nvPr/>
        </p:nvSpPr>
        <p:spPr>
          <a:xfrm flipH="1">
            <a:off x="5967593" y="5044916"/>
            <a:ext cx="1292684" cy="369332"/>
          </a:xfrm>
          <a:prstGeom prst="rect">
            <a:avLst/>
          </a:prstGeom>
          <a:noFill/>
        </p:spPr>
        <p:txBody>
          <a:bodyPr wrap="square" rtlCol="0">
            <a:spAutoFit/>
          </a:bodyPr>
          <a:lstStyle/>
          <a:p>
            <a:pPr algn="r"/>
            <a:r>
              <a:rPr lang="en-IN" b="1" dirty="0"/>
              <a:t>Dequeue()</a:t>
            </a:r>
          </a:p>
        </p:txBody>
      </p:sp>
      <p:sp>
        <p:nvSpPr>
          <p:cNvPr id="113" name="TextBox 112">
            <a:extLst>
              <a:ext uri="{FF2B5EF4-FFF2-40B4-BE49-F238E27FC236}">
                <a16:creationId xmlns:a16="http://schemas.microsoft.com/office/drawing/2014/main" id="{BD8F26BA-9D05-2C35-F491-72D0C032BF4C}"/>
              </a:ext>
            </a:extLst>
          </p:cNvPr>
          <p:cNvSpPr txBox="1"/>
          <p:nvPr/>
        </p:nvSpPr>
        <p:spPr>
          <a:xfrm flipH="1">
            <a:off x="5967593" y="4777897"/>
            <a:ext cx="1292684" cy="369332"/>
          </a:xfrm>
          <a:prstGeom prst="rect">
            <a:avLst/>
          </a:prstGeom>
          <a:noFill/>
        </p:spPr>
        <p:txBody>
          <a:bodyPr wrap="square" rtlCol="0">
            <a:spAutoFit/>
          </a:bodyPr>
          <a:lstStyle/>
          <a:p>
            <a:pPr algn="r"/>
            <a:r>
              <a:rPr lang="en-IN" b="1" dirty="0"/>
              <a:t>Dequeue()</a:t>
            </a:r>
          </a:p>
        </p:txBody>
      </p:sp>
      <p:sp>
        <p:nvSpPr>
          <p:cNvPr id="115" name="TextBox 114">
            <a:extLst>
              <a:ext uri="{FF2B5EF4-FFF2-40B4-BE49-F238E27FC236}">
                <a16:creationId xmlns:a16="http://schemas.microsoft.com/office/drawing/2014/main" id="{E31837FA-3712-367E-6923-B6584004571B}"/>
              </a:ext>
            </a:extLst>
          </p:cNvPr>
          <p:cNvSpPr txBox="1"/>
          <p:nvPr/>
        </p:nvSpPr>
        <p:spPr>
          <a:xfrm flipH="1">
            <a:off x="6123458" y="5311935"/>
            <a:ext cx="1900321" cy="369332"/>
          </a:xfrm>
          <a:prstGeom prst="rect">
            <a:avLst/>
          </a:prstGeom>
          <a:noFill/>
        </p:spPr>
        <p:txBody>
          <a:bodyPr wrap="square" rtlCol="0">
            <a:spAutoFit/>
          </a:bodyPr>
          <a:lstStyle/>
          <a:p>
            <a:r>
              <a:rPr lang="en-IN" b="1" dirty="0"/>
              <a:t>Enqueue(70)</a:t>
            </a:r>
          </a:p>
        </p:txBody>
      </p:sp>
      <p:sp>
        <p:nvSpPr>
          <p:cNvPr id="117" name="TextBox 116">
            <a:extLst>
              <a:ext uri="{FF2B5EF4-FFF2-40B4-BE49-F238E27FC236}">
                <a16:creationId xmlns:a16="http://schemas.microsoft.com/office/drawing/2014/main" id="{2A8F34F0-353D-AACA-0CD9-A4897D2CC6D2}"/>
              </a:ext>
            </a:extLst>
          </p:cNvPr>
          <p:cNvSpPr txBox="1"/>
          <p:nvPr/>
        </p:nvSpPr>
        <p:spPr>
          <a:xfrm>
            <a:off x="10899675" y="1769469"/>
            <a:ext cx="495649" cy="461665"/>
          </a:xfrm>
          <a:prstGeom prst="rect">
            <a:avLst/>
          </a:prstGeom>
          <a:noFill/>
        </p:spPr>
        <p:txBody>
          <a:bodyPr wrap="none" rtlCol="0">
            <a:spAutoFit/>
          </a:bodyPr>
          <a:lstStyle/>
          <a:p>
            <a:r>
              <a:rPr lang="en-US" sz="2400" b="1" dirty="0">
                <a:ln w="0"/>
              </a:rPr>
              <a:t>70</a:t>
            </a:r>
            <a:endParaRPr lang="en-IN" sz="2400" b="1" dirty="0">
              <a:ln w="0"/>
            </a:endParaRPr>
          </a:p>
        </p:txBody>
      </p:sp>
      <p:sp>
        <p:nvSpPr>
          <p:cNvPr id="118" name="TextBox 117">
            <a:extLst>
              <a:ext uri="{FF2B5EF4-FFF2-40B4-BE49-F238E27FC236}">
                <a16:creationId xmlns:a16="http://schemas.microsoft.com/office/drawing/2014/main" id="{B1A32EAE-B202-5FAD-A0BA-4ABE9AC023EE}"/>
              </a:ext>
            </a:extLst>
          </p:cNvPr>
          <p:cNvSpPr txBox="1"/>
          <p:nvPr/>
        </p:nvSpPr>
        <p:spPr>
          <a:xfrm flipH="1">
            <a:off x="6123458" y="5578954"/>
            <a:ext cx="1900321" cy="369332"/>
          </a:xfrm>
          <a:prstGeom prst="rect">
            <a:avLst/>
          </a:prstGeom>
          <a:noFill/>
        </p:spPr>
        <p:txBody>
          <a:bodyPr wrap="square" rtlCol="0">
            <a:spAutoFit/>
          </a:bodyPr>
          <a:lstStyle/>
          <a:p>
            <a:r>
              <a:rPr lang="en-IN" b="1" dirty="0"/>
              <a:t>Enqueue(80)</a:t>
            </a:r>
          </a:p>
        </p:txBody>
      </p:sp>
      <p:sp>
        <p:nvSpPr>
          <p:cNvPr id="120" name="TextBox 119">
            <a:extLst>
              <a:ext uri="{FF2B5EF4-FFF2-40B4-BE49-F238E27FC236}">
                <a16:creationId xmlns:a16="http://schemas.microsoft.com/office/drawing/2014/main" id="{833963F0-9034-49F6-D974-3203E2702B02}"/>
              </a:ext>
            </a:extLst>
          </p:cNvPr>
          <p:cNvSpPr txBox="1"/>
          <p:nvPr/>
        </p:nvSpPr>
        <p:spPr>
          <a:xfrm>
            <a:off x="11310214" y="3176765"/>
            <a:ext cx="495649" cy="461665"/>
          </a:xfrm>
          <a:prstGeom prst="rect">
            <a:avLst/>
          </a:prstGeom>
          <a:noFill/>
        </p:spPr>
        <p:txBody>
          <a:bodyPr wrap="none" rtlCol="0">
            <a:spAutoFit/>
          </a:bodyPr>
          <a:lstStyle/>
          <a:p>
            <a:r>
              <a:rPr lang="en-US" sz="2400" b="1" dirty="0">
                <a:ln w="0"/>
              </a:rPr>
              <a:t>80</a:t>
            </a:r>
            <a:endParaRPr lang="en-IN" sz="2400" b="1" dirty="0">
              <a:ln w="0"/>
            </a:endParaRPr>
          </a:p>
        </p:txBody>
      </p:sp>
      <p:sp>
        <p:nvSpPr>
          <p:cNvPr id="121" name="TextBox 120">
            <a:extLst>
              <a:ext uri="{FF2B5EF4-FFF2-40B4-BE49-F238E27FC236}">
                <a16:creationId xmlns:a16="http://schemas.microsoft.com/office/drawing/2014/main" id="{5D986FD9-30B9-D3C5-D919-DF9241A56F79}"/>
              </a:ext>
            </a:extLst>
          </p:cNvPr>
          <p:cNvSpPr txBox="1"/>
          <p:nvPr/>
        </p:nvSpPr>
        <p:spPr>
          <a:xfrm flipH="1">
            <a:off x="6123458" y="5845978"/>
            <a:ext cx="1900321" cy="369332"/>
          </a:xfrm>
          <a:prstGeom prst="rect">
            <a:avLst/>
          </a:prstGeom>
          <a:noFill/>
        </p:spPr>
        <p:txBody>
          <a:bodyPr wrap="square" rtlCol="0">
            <a:spAutoFit/>
          </a:bodyPr>
          <a:lstStyle/>
          <a:p>
            <a:r>
              <a:rPr lang="en-IN" b="1" dirty="0"/>
              <a:t>Enqueue(90)</a:t>
            </a:r>
          </a:p>
        </p:txBody>
      </p:sp>
      <p:sp>
        <p:nvSpPr>
          <p:cNvPr id="122" name="TextBox 121">
            <a:extLst>
              <a:ext uri="{FF2B5EF4-FFF2-40B4-BE49-F238E27FC236}">
                <a16:creationId xmlns:a16="http://schemas.microsoft.com/office/drawing/2014/main" id="{53719483-CED7-0D37-518A-EEBEEB18468C}"/>
              </a:ext>
            </a:extLst>
          </p:cNvPr>
          <p:cNvSpPr txBox="1"/>
          <p:nvPr/>
        </p:nvSpPr>
        <p:spPr>
          <a:xfrm>
            <a:off x="11034796" y="1042032"/>
            <a:ext cx="330540" cy="461665"/>
          </a:xfrm>
          <a:prstGeom prst="rect">
            <a:avLst/>
          </a:prstGeom>
          <a:noFill/>
        </p:spPr>
        <p:txBody>
          <a:bodyPr wrap="none" rtlCol="0">
            <a:spAutoFit/>
          </a:bodyPr>
          <a:lstStyle/>
          <a:p>
            <a:r>
              <a:rPr lang="en-US" sz="2400" b="1" dirty="0">
                <a:solidFill>
                  <a:schemeClr val="accent6"/>
                </a:solidFill>
              </a:rPr>
              <a:t>F</a:t>
            </a:r>
            <a:endParaRPr lang="en-IN" sz="2400" b="1" dirty="0">
              <a:solidFill>
                <a:schemeClr val="accent6"/>
              </a:solidFill>
            </a:endParaRPr>
          </a:p>
        </p:txBody>
      </p:sp>
      <p:sp>
        <p:nvSpPr>
          <p:cNvPr id="123" name="TextBox 122">
            <a:extLst>
              <a:ext uri="{FF2B5EF4-FFF2-40B4-BE49-F238E27FC236}">
                <a16:creationId xmlns:a16="http://schemas.microsoft.com/office/drawing/2014/main" id="{28B81228-8E47-DC5D-C32E-B5FD71474810}"/>
              </a:ext>
            </a:extLst>
          </p:cNvPr>
          <p:cNvSpPr txBox="1"/>
          <p:nvPr/>
        </p:nvSpPr>
        <p:spPr>
          <a:xfrm>
            <a:off x="11371063" y="1044871"/>
            <a:ext cx="354584" cy="461665"/>
          </a:xfrm>
          <a:prstGeom prst="rect">
            <a:avLst/>
          </a:prstGeom>
          <a:noFill/>
        </p:spPr>
        <p:txBody>
          <a:bodyPr wrap="none" rtlCol="0">
            <a:spAutoFit/>
          </a:bodyPr>
          <a:lstStyle/>
          <a:p>
            <a:r>
              <a:rPr lang="en-US" sz="2400" b="1" dirty="0">
                <a:solidFill>
                  <a:srgbClr val="FF0066"/>
                </a:solidFill>
              </a:rPr>
              <a:t>R</a:t>
            </a:r>
            <a:endParaRPr lang="en-IN" sz="2400" b="1" dirty="0">
              <a:solidFill>
                <a:srgbClr val="FF0066"/>
              </a:solidFill>
            </a:endParaRPr>
          </a:p>
        </p:txBody>
      </p:sp>
      <p:sp>
        <p:nvSpPr>
          <p:cNvPr id="124" name="TextBox 123">
            <a:extLst>
              <a:ext uri="{FF2B5EF4-FFF2-40B4-BE49-F238E27FC236}">
                <a16:creationId xmlns:a16="http://schemas.microsoft.com/office/drawing/2014/main" id="{27A8A506-AEEE-FF87-8268-6FF711DE7ED0}"/>
              </a:ext>
            </a:extLst>
          </p:cNvPr>
          <p:cNvSpPr txBox="1"/>
          <p:nvPr/>
        </p:nvSpPr>
        <p:spPr>
          <a:xfrm>
            <a:off x="11680549" y="3729362"/>
            <a:ext cx="354584" cy="461665"/>
          </a:xfrm>
          <a:prstGeom prst="rect">
            <a:avLst/>
          </a:prstGeom>
          <a:noFill/>
        </p:spPr>
        <p:txBody>
          <a:bodyPr wrap="none" rtlCol="0">
            <a:spAutoFit/>
          </a:bodyPr>
          <a:lstStyle/>
          <a:p>
            <a:r>
              <a:rPr lang="en-US" sz="2400" b="1" dirty="0">
                <a:solidFill>
                  <a:srgbClr val="FF0066"/>
                </a:solidFill>
              </a:rPr>
              <a:t>R</a:t>
            </a:r>
            <a:endParaRPr lang="en-IN" sz="2400" b="1" dirty="0">
              <a:solidFill>
                <a:srgbClr val="FF0066"/>
              </a:solidFill>
            </a:endParaRPr>
          </a:p>
        </p:txBody>
      </p:sp>
      <p:sp>
        <p:nvSpPr>
          <p:cNvPr id="125" name="TextBox 124">
            <a:extLst>
              <a:ext uri="{FF2B5EF4-FFF2-40B4-BE49-F238E27FC236}">
                <a16:creationId xmlns:a16="http://schemas.microsoft.com/office/drawing/2014/main" id="{1564F8A7-C720-4A64-B4FB-9DCC1E791328}"/>
              </a:ext>
            </a:extLst>
          </p:cNvPr>
          <p:cNvSpPr txBox="1"/>
          <p:nvPr/>
        </p:nvSpPr>
        <p:spPr>
          <a:xfrm>
            <a:off x="10068393" y="4853950"/>
            <a:ext cx="354584" cy="461665"/>
          </a:xfrm>
          <a:prstGeom prst="rect">
            <a:avLst/>
          </a:prstGeom>
          <a:noFill/>
        </p:spPr>
        <p:txBody>
          <a:bodyPr wrap="none" rtlCol="0">
            <a:spAutoFit/>
          </a:bodyPr>
          <a:lstStyle/>
          <a:p>
            <a:r>
              <a:rPr lang="en-US" sz="2400" b="1" dirty="0">
                <a:solidFill>
                  <a:schemeClr val="accent6"/>
                </a:solidFill>
              </a:rPr>
              <a:t>R</a:t>
            </a:r>
            <a:endParaRPr lang="en-IN" sz="2400" b="1" dirty="0">
              <a:solidFill>
                <a:schemeClr val="accent6"/>
              </a:solidFill>
            </a:endParaRPr>
          </a:p>
        </p:txBody>
      </p:sp>
      <p:sp>
        <p:nvSpPr>
          <p:cNvPr id="126" name="TextBox 125">
            <a:extLst>
              <a:ext uri="{FF2B5EF4-FFF2-40B4-BE49-F238E27FC236}">
                <a16:creationId xmlns:a16="http://schemas.microsoft.com/office/drawing/2014/main" id="{81F88B5F-E959-CE40-CB8F-386368470BF1}"/>
              </a:ext>
            </a:extLst>
          </p:cNvPr>
          <p:cNvSpPr txBox="1"/>
          <p:nvPr/>
        </p:nvSpPr>
        <p:spPr>
          <a:xfrm>
            <a:off x="7856179" y="3048909"/>
            <a:ext cx="354584" cy="461665"/>
          </a:xfrm>
          <a:prstGeom prst="rect">
            <a:avLst/>
          </a:prstGeom>
          <a:noFill/>
        </p:spPr>
        <p:txBody>
          <a:bodyPr wrap="none" rtlCol="0">
            <a:spAutoFit/>
          </a:bodyPr>
          <a:lstStyle/>
          <a:p>
            <a:r>
              <a:rPr lang="en-US" sz="2400" b="1" dirty="0">
                <a:solidFill>
                  <a:schemeClr val="accent6"/>
                </a:solidFill>
              </a:rPr>
              <a:t>R</a:t>
            </a:r>
            <a:endParaRPr lang="en-IN" sz="2400" b="1" dirty="0">
              <a:solidFill>
                <a:schemeClr val="accent6"/>
              </a:solidFill>
            </a:endParaRPr>
          </a:p>
        </p:txBody>
      </p:sp>
      <p:sp>
        <p:nvSpPr>
          <p:cNvPr id="128" name="TextBox 127">
            <a:extLst>
              <a:ext uri="{FF2B5EF4-FFF2-40B4-BE49-F238E27FC236}">
                <a16:creationId xmlns:a16="http://schemas.microsoft.com/office/drawing/2014/main" id="{4F18E62B-5B25-D392-618D-5CE1EF0497C4}"/>
              </a:ext>
            </a:extLst>
          </p:cNvPr>
          <p:cNvSpPr txBox="1"/>
          <p:nvPr/>
        </p:nvSpPr>
        <p:spPr>
          <a:xfrm>
            <a:off x="8638428" y="1024876"/>
            <a:ext cx="354584" cy="461665"/>
          </a:xfrm>
          <a:prstGeom prst="rect">
            <a:avLst/>
          </a:prstGeom>
          <a:noFill/>
        </p:spPr>
        <p:txBody>
          <a:bodyPr wrap="none" rtlCol="0">
            <a:spAutoFit/>
          </a:bodyPr>
          <a:lstStyle/>
          <a:p>
            <a:r>
              <a:rPr lang="en-US" sz="2400" b="1" dirty="0">
                <a:solidFill>
                  <a:schemeClr val="accent6"/>
                </a:solidFill>
              </a:rPr>
              <a:t>R</a:t>
            </a:r>
            <a:endParaRPr lang="en-IN" sz="2400" b="1" dirty="0">
              <a:solidFill>
                <a:schemeClr val="accent6"/>
              </a:solidFill>
            </a:endParaRPr>
          </a:p>
        </p:txBody>
      </p:sp>
      <p:sp>
        <p:nvSpPr>
          <p:cNvPr id="129" name="TextBox 128">
            <a:extLst>
              <a:ext uri="{FF2B5EF4-FFF2-40B4-BE49-F238E27FC236}">
                <a16:creationId xmlns:a16="http://schemas.microsoft.com/office/drawing/2014/main" id="{6C2EEE84-8A70-7E6A-235A-D7AB6808F90B}"/>
              </a:ext>
            </a:extLst>
          </p:cNvPr>
          <p:cNvSpPr txBox="1"/>
          <p:nvPr/>
        </p:nvSpPr>
        <p:spPr>
          <a:xfrm>
            <a:off x="11695230" y="4133536"/>
            <a:ext cx="330540" cy="461665"/>
          </a:xfrm>
          <a:prstGeom prst="rect">
            <a:avLst/>
          </a:prstGeom>
          <a:noFill/>
        </p:spPr>
        <p:txBody>
          <a:bodyPr wrap="none" rtlCol="0">
            <a:spAutoFit/>
          </a:bodyPr>
          <a:lstStyle/>
          <a:p>
            <a:r>
              <a:rPr lang="en-US" sz="2400" b="1" dirty="0">
                <a:solidFill>
                  <a:schemeClr val="accent6"/>
                </a:solidFill>
              </a:rPr>
              <a:t>F</a:t>
            </a:r>
            <a:endParaRPr lang="en-IN" sz="2400" b="1" dirty="0">
              <a:solidFill>
                <a:schemeClr val="accent6"/>
              </a:solidFill>
            </a:endParaRPr>
          </a:p>
        </p:txBody>
      </p:sp>
      <p:sp>
        <p:nvSpPr>
          <p:cNvPr id="130" name="TextBox 129">
            <a:extLst>
              <a:ext uri="{FF2B5EF4-FFF2-40B4-BE49-F238E27FC236}">
                <a16:creationId xmlns:a16="http://schemas.microsoft.com/office/drawing/2014/main" id="{921BB8CF-E3E8-8A23-AEA1-264485450A11}"/>
              </a:ext>
            </a:extLst>
          </p:cNvPr>
          <p:cNvSpPr txBox="1"/>
          <p:nvPr/>
        </p:nvSpPr>
        <p:spPr>
          <a:xfrm>
            <a:off x="9732887" y="4878522"/>
            <a:ext cx="330540" cy="461665"/>
          </a:xfrm>
          <a:prstGeom prst="rect">
            <a:avLst/>
          </a:prstGeom>
          <a:noFill/>
        </p:spPr>
        <p:txBody>
          <a:bodyPr wrap="none" rtlCol="0">
            <a:spAutoFit/>
          </a:bodyPr>
          <a:lstStyle/>
          <a:p>
            <a:r>
              <a:rPr lang="en-US" sz="2400" b="1" dirty="0">
                <a:solidFill>
                  <a:schemeClr val="accent6"/>
                </a:solidFill>
              </a:rPr>
              <a:t>F</a:t>
            </a:r>
            <a:endParaRPr lang="en-IN" sz="2400" b="1" dirty="0">
              <a:solidFill>
                <a:schemeClr val="accent6"/>
              </a:solidFill>
            </a:endParaRPr>
          </a:p>
        </p:txBody>
      </p:sp>
      <p:sp>
        <p:nvSpPr>
          <p:cNvPr id="131" name="TextBox 130">
            <a:extLst>
              <a:ext uri="{FF2B5EF4-FFF2-40B4-BE49-F238E27FC236}">
                <a16:creationId xmlns:a16="http://schemas.microsoft.com/office/drawing/2014/main" id="{35EC2E91-B44D-2313-DE49-9271EF6CC73E}"/>
              </a:ext>
            </a:extLst>
          </p:cNvPr>
          <p:cNvSpPr txBox="1"/>
          <p:nvPr/>
        </p:nvSpPr>
        <p:spPr>
          <a:xfrm>
            <a:off x="11384087" y="1057891"/>
            <a:ext cx="354584" cy="461665"/>
          </a:xfrm>
          <a:prstGeom prst="rect">
            <a:avLst/>
          </a:prstGeom>
          <a:noFill/>
        </p:spPr>
        <p:txBody>
          <a:bodyPr wrap="none" rtlCol="0">
            <a:spAutoFit/>
          </a:bodyPr>
          <a:lstStyle/>
          <a:p>
            <a:r>
              <a:rPr lang="en-US" sz="2400" b="1" dirty="0">
                <a:solidFill>
                  <a:schemeClr val="accent6"/>
                </a:solidFill>
              </a:rPr>
              <a:t>R</a:t>
            </a:r>
            <a:endParaRPr lang="en-IN" sz="2400" b="1" dirty="0">
              <a:solidFill>
                <a:schemeClr val="accent6"/>
              </a:solidFill>
            </a:endParaRPr>
          </a:p>
        </p:txBody>
      </p:sp>
      <p:sp>
        <p:nvSpPr>
          <p:cNvPr id="132" name="TextBox 131">
            <a:extLst>
              <a:ext uri="{FF2B5EF4-FFF2-40B4-BE49-F238E27FC236}">
                <a16:creationId xmlns:a16="http://schemas.microsoft.com/office/drawing/2014/main" id="{5DFCBCAD-9A06-DD05-F7E8-B5304ABC4F81}"/>
              </a:ext>
            </a:extLst>
          </p:cNvPr>
          <p:cNvSpPr txBox="1"/>
          <p:nvPr/>
        </p:nvSpPr>
        <p:spPr>
          <a:xfrm>
            <a:off x="11665133" y="3732087"/>
            <a:ext cx="354584" cy="461665"/>
          </a:xfrm>
          <a:prstGeom prst="rect">
            <a:avLst/>
          </a:prstGeom>
          <a:noFill/>
        </p:spPr>
        <p:txBody>
          <a:bodyPr wrap="none" rtlCol="0">
            <a:spAutoFit/>
          </a:bodyPr>
          <a:lstStyle/>
          <a:p>
            <a:r>
              <a:rPr lang="en-US" sz="2400" b="1" dirty="0">
                <a:solidFill>
                  <a:schemeClr val="accent6"/>
                </a:solidFill>
              </a:rPr>
              <a:t>R</a:t>
            </a:r>
            <a:endParaRPr lang="en-IN" sz="2400" b="1" dirty="0">
              <a:solidFill>
                <a:schemeClr val="accent6"/>
              </a:solidFill>
            </a:endParaRPr>
          </a:p>
        </p:txBody>
      </p:sp>
      <p:sp>
        <p:nvSpPr>
          <p:cNvPr id="2" name="TextBox 1">
            <a:extLst>
              <a:ext uri="{FF2B5EF4-FFF2-40B4-BE49-F238E27FC236}">
                <a16:creationId xmlns:a16="http://schemas.microsoft.com/office/drawing/2014/main" id="{F296A830-44DE-811A-30D6-49E633545A48}"/>
              </a:ext>
            </a:extLst>
          </p:cNvPr>
          <p:cNvSpPr txBox="1"/>
          <p:nvPr/>
        </p:nvSpPr>
        <p:spPr>
          <a:xfrm>
            <a:off x="6049142" y="2722851"/>
            <a:ext cx="1439818" cy="400110"/>
          </a:xfrm>
          <a:prstGeom prst="rect">
            <a:avLst/>
          </a:prstGeom>
          <a:noFill/>
        </p:spPr>
        <p:txBody>
          <a:bodyPr wrap="none" rtlCol="0">
            <a:spAutoFit/>
          </a:bodyPr>
          <a:lstStyle/>
          <a:p>
            <a:r>
              <a:rPr lang="en-US" sz="2000" b="1" dirty="0">
                <a:solidFill>
                  <a:srgbClr val="C00000"/>
                </a:solidFill>
              </a:rPr>
              <a:t>Operations :</a:t>
            </a:r>
            <a:endParaRPr lang="en-IN" sz="2000" b="1" dirty="0">
              <a:solidFill>
                <a:srgbClr val="C00000"/>
              </a:solidFill>
            </a:endParaRPr>
          </a:p>
        </p:txBody>
      </p:sp>
      <p:cxnSp>
        <p:nvCxnSpPr>
          <p:cNvPr id="5" name="Straight Connector 4"/>
          <p:cNvCxnSpPr/>
          <p:nvPr/>
        </p:nvCxnSpPr>
        <p:spPr>
          <a:xfrm>
            <a:off x="6058020" y="711201"/>
            <a:ext cx="0" cy="589378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4397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fade">
                                      <p:cBhvr>
                                        <p:cTn id="7" dur="500"/>
                                        <p:tgtEl>
                                          <p:spTgt spid="9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2"/>
                                        </p:tgtEl>
                                        <p:attrNameLst>
                                          <p:attrName>style.visibility</p:attrName>
                                        </p:attrNameLst>
                                      </p:cBhvr>
                                      <p:to>
                                        <p:strVal val="visible"/>
                                      </p:to>
                                    </p:set>
                                    <p:animEffect transition="in" filter="fade">
                                      <p:cBhvr>
                                        <p:cTn id="12" dur="500"/>
                                        <p:tgtEl>
                                          <p:spTgt spid="9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3"/>
                                        </p:tgtEl>
                                        <p:attrNameLst>
                                          <p:attrName>style.visibility</p:attrName>
                                        </p:attrNameLst>
                                      </p:cBhvr>
                                      <p:to>
                                        <p:strVal val="visible"/>
                                      </p:to>
                                    </p:set>
                                    <p:animEffect transition="in" filter="fade">
                                      <p:cBhvr>
                                        <p:cTn id="20" dur="500"/>
                                        <p:tgtEl>
                                          <p:spTgt spid="12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4"/>
                                        </p:tgtEl>
                                        <p:attrNameLst>
                                          <p:attrName>style.visibility</p:attrName>
                                        </p:attrNameLst>
                                      </p:cBhvr>
                                      <p:to>
                                        <p:strVal val="visible"/>
                                      </p:to>
                                    </p:set>
                                    <p:animEffect transition="in" filter="fade">
                                      <p:cBhvr>
                                        <p:cTn id="25" dur="500"/>
                                        <p:tgtEl>
                                          <p:spTgt spid="9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2"/>
                                        </p:tgtEl>
                                        <p:attrNameLst>
                                          <p:attrName>style.visibility</p:attrName>
                                        </p:attrNameLst>
                                      </p:cBhvr>
                                      <p:to>
                                        <p:strVal val="visible"/>
                                      </p:to>
                                    </p:set>
                                    <p:animEffect transition="in" filter="fade">
                                      <p:cBhvr>
                                        <p:cTn id="30" dur="500"/>
                                        <p:tgtEl>
                                          <p:spTgt spid="1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97"/>
                                        </p:tgtEl>
                                        <p:attrNameLst>
                                          <p:attrName>style.visibility</p:attrName>
                                        </p:attrNameLst>
                                      </p:cBhvr>
                                      <p:to>
                                        <p:strVal val="visible"/>
                                      </p:to>
                                    </p:set>
                                    <p:animEffect transition="in" filter="fade">
                                      <p:cBhvr>
                                        <p:cTn id="35" dur="500"/>
                                        <p:tgtEl>
                                          <p:spTgt spid="9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4"/>
                                        </p:tgtEl>
                                        <p:attrNameLst>
                                          <p:attrName>style.visibility</p:attrName>
                                        </p:attrNameLst>
                                      </p:cBhvr>
                                      <p:to>
                                        <p:strVal val="visible"/>
                                      </p:to>
                                    </p:set>
                                    <p:animEffect transition="in" filter="fade">
                                      <p:cBhvr>
                                        <p:cTn id="40" dur="500"/>
                                        <p:tgtEl>
                                          <p:spTgt spid="124"/>
                                        </p:tgtEl>
                                      </p:cBhvr>
                                    </p:animEffect>
                                  </p:childTnLst>
                                </p:cTn>
                              </p:par>
                              <p:par>
                                <p:cTn id="41" presetID="1" presetClass="exit" presetSubtype="0" fill="hold" grpId="1" nodeType="withEffect">
                                  <p:stCondLst>
                                    <p:cond delay="0"/>
                                  </p:stCondLst>
                                  <p:childTnLst>
                                    <p:set>
                                      <p:cBhvr>
                                        <p:cTn id="42" dur="1" fill="hold">
                                          <p:stCondLst>
                                            <p:cond delay="0"/>
                                          </p:stCondLst>
                                        </p:cTn>
                                        <p:tgtEl>
                                          <p:spTgt spid="12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98"/>
                                        </p:tgtEl>
                                        <p:attrNameLst>
                                          <p:attrName>style.visibility</p:attrName>
                                        </p:attrNameLst>
                                      </p:cBhvr>
                                      <p:to>
                                        <p:strVal val="visible"/>
                                      </p:to>
                                    </p:set>
                                    <p:animEffect transition="in" filter="fade">
                                      <p:cBhvr>
                                        <p:cTn id="47" dur="500"/>
                                        <p:tgtEl>
                                          <p:spTgt spid="9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00"/>
                                        </p:tgtEl>
                                        <p:attrNameLst>
                                          <p:attrName>style.visibility</p:attrName>
                                        </p:attrNameLst>
                                      </p:cBhvr>
                                      <p:to>
                                        <p:strVal val="visible"/>
                                      </p:to>
                                    </p:set>
                                    <p:animEffect transition="in" filter="fade">
                                      <p:cBhvr>
                                        <p:cTn id="52" dur="500"/>
                                        <p:tgtEl>
                                          <p:spTgt spid="10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25"/>
                                        </p:tgtEl>
                                        <p:attrNameLst>
                                          <p:attrName>style.visibility</p:attrName>
                                        </p:attrNameLst>
                                      </p:cBhvr>
                                      <p:to>
                                        <p:strVal val="visible"/>
                                      </p:to>
                                    </p:set>
                                    <p:animEffect transition="in" filter="fade">
                                      <p:cBhvr>
                                        <p:cTn id="57" dur="500"/>
                                        <p:tgtEl>
                                          <p:spTgt spid="125"/>
                                        </p:tgtEl>
                                      </p:cBhvr>
                                    </p:animEffect>
                                  </p:childTnLst>
                                </p:cTn>
                              </p:par>
                              <p:par>
                                <p:cTn id="58" presetID="1" presetClass="exit" presetSubtype="0" fill="hold" grpId="1" nodeType="withEffect">
                                  <p:stCondLst>
                                    <p:cond delay="0"/>
                                  </p:stCondLst>
                                  <p:childTnLst>
                                    <p:set>
                                      <p:cBhvr>
                                        <p:cTn id="59" dur="1" fill="hold">
                                          <p:stCondLst>
                                            <p:cond delay="0"/>
                                          </p:stCondLst>
                                        </p:cTn>
                                        <p:tgtEl>
                                          <p:spTgt spid="124"/>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01"/>
                                        </p:tgtEl>
                                        <p:attrNameLst>
                                          <p:attrName>style.visibility</p:attrName>
                                        </p:attrNameLst>
                                      </p:cBhvr>
                                      <p:to>
                                        <p:strVal val="visible"/>
                                      </p:to>
                                    </p:set>
                                    <p:animEffect transition="in" filter="fade">
                                      <p:cBhvr>
                                        <p:cTn id="64" dur="500"/>
                                        <p:tgtEl>
                                          <p:spTgt spid="101"/>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03"/>
                                        </p:tgtEl>
                                        <p:attrNameLst>
                                          <p:attrName>style.visibility</p:attrName>
                                        </p:attrNameLst>
                                      </p:cBhvr>
                                      <p:to>
                                        <p:strVal val="visible"/>
                                      </p:to>
                                    </p:set>
                                    <p:animEffect transition="in" filter="fade">
                                      <p:cBhvr>
                                        <p:cTn id="69" dur="500"/>
                                        <p:tgtEl>
                                          <p:spTgt spid="10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126"/>
                                        </p:tgtEl>
                                        <p:attrNameLst>
                                          <p:attrName>style.visibility</p:attrName>
                                        </p:attrNameLst>
                                      </p:cBhvr>
                                      <p:to>
                                        <p:strVal val="visible"/>
                                      </p:to>
                                    </p:set>
                                    <p:animEffect transition="in" filter="fade">
                                      <p:cBhvr>
                                        <p:cTn id="74" dur="500"/>
                                        <p:tgtEl>
                                          <p:spTgt spid="126"/>
                                        </p:tgtEl>
                                      </p:cBhvr>
                                    </p:animEffect>
                                  </p:childTnLst>
                                </p:cTn>
                              </p:par>
                              <p:par>
                                <p:cTn id="75" presetID="1" presetClass="exit" presetSubtype="0" fill="hold" grpId="1" nodeType="withEffect">
                                  <p:stCondLst>
                                    <p:cond delay="0"/>
                                  </p:stCondLst>
                                  <p:childTnLst>
                                    <p:set>
                                      <p:cBhvr>
                                        <p:cTn id="76" dur="1" fill="hold">
                                          <p:stCondLst>
                                            <p:cond delay="0"/>
                                          </p:stCondLst>
                                        </p:cTn>
                                        <p:tgtEl>
                                          <p:spTgt spid="125"/>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104"/>
                                        </p:tgtEl>
                                        <p:attrNameLst>
                                          <p:attrName>style.visibility</p:attrName>
                                        </p:attrNameLst>
                                      </p:cBhvr>
                                      <p:to>
                                        <p:strVal val="visible"/>
                                      </p:to>
                                    </p:set>
                                    <p:animEffect transition="in" filter="fade">
                                      <p:cBhvr>
                                        <p:cTn id="81" dur="500"/>
                                        <p:tgtEl>
                                          <p:spTgt spid="104"/>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106"/>
                                        </p:tgtEl>
                                        <p:attrNameLst>
                                          <p:attrName>style.visibility</p:attrName>
                                        </p:attrNameLst>
                                      </p:cBhvr>
                                      <p:to>
                                        <p:strVal val="visible"/>
                                      </p:to>
                                    </p:set>
                                    <p:animEffect transition="in" filter="fade">
                                      <p:cBhvr>
                                        <p:cTn id="86" dur="500"/>
                                        <p:tgtEl>
                                          <p:spTgt spid="106"/>
                                        </p:tgtEl>
                                      </p:cBhvr>
                                    </p:animEffect>
                                  </p:childTnLst>
                                </p:cTn>
                              </p:par>
                              <p:par>
                                <p:cTn id="87" presetID="1" presetClass="exit" presetSubtype="0" fill="hold" grpId="1" nodeType="withEffect">
                                  <p:stCondLst>
                                    <p:cond delay="0"/>
                                  </p:stCondLst>
                                  <p:childTnLst>
                                    <p:set>
                                      <p:cBhvr>
                                        <p:cTn id="88" dur="1" fill="hold">
                                          <p:stCondLst>
                                            <p:cond delay="0"/>
                                          </p:stCondLst>
                                        </p:cTn>
                                        <p:tgtEl>
                                          <p:spTgt spid="126"/>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128"/>
                                        </p:tgtEl>
                                        <p:attrNameLst>
                                          <p:attrName>style.visibility</p:attrName>
                                        </p:attrNameLst>
                                      </p:cBhvr>
                                      <p:to>
                                        <p:strVal val="visible"/>
                                      </p:to>
                                    </p:set>
                                    <p:animEffect transition="in" filter="fade">
                                      <p:cBhvr>
                                        <p:cTn id="93" dur="500"/>
                                        <p:tgtEl>
                                          <p:spTgt spid="128"/>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107"/>
                                        </p:tgtEl>
                                        <p:attrNameLst>
                                          <p:attrName>style.visibility</p:attrName>
                                        </p:attrNameLst>
                                      </p:cBhvr>
                                      <p:to>
                                        <p:strVal val="visible"/>
                                      </p:to>
                                    </p:set>
                                    <p:animEffect transition="in" filter="fade">
                                      <p:cBhvr>
                                        <p:cTn id="98" dur="500"/>
                                        <p:tgtEl>
                                          <p:spTgt spid="107"/>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109"/>
                                        </p:tgtEl>
                                        <p:attrNameLst>
                                          <p:attrName>style.visibility</p:attrName>
                                        </p:attrNameLst>
                                      </p:cBhvr>
                                      <p:to>
                                        <p:strVal val="visible"/>
                                      </p:to>
                                    </p:set>
                                    <p:animEffect transition="in" filter="fade">
                                      <p:cBhvr>
                                        <p:cTn id="103" dur="500"/>
                                        <p:tgtEl>
                                          <p:spTgt spid="109"/>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10"/>
                                        </p:tgtEl>
                                        <p:attrNameLst>
                                          <p:attrName>style.visibility</p:attrName>
                                        </p:attrNameLst>
                                      </p:cBhvr>
                                      <p:to>
                                        <p:strVal val="visible"/>
                                      </p:to>
                                    </p:set>
                                    <p:animEffect transition="in" filter="wipe(left)">
                                      <p:cBhvr>
                                        <p:cTn id="108" dur="500"/>
                                        <p:tgtEl>
                                          <p:spTgt spid="110"/>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113"/>
                                        </p:tgtEl>
                                        <p:attrNameLst>
                                          <p:attrName>style.visibility</p:attrName>
                                        </p:attrNameLst>
                                      </p:cBhvr>
                                      <p:to>
                                        <p:strVal val="visible"/>
                                      </p:to>
                                    </p:set>
                                    <p:animEffect transition="in" filter="fade">
                                      <p:cBhvr>
                                        <p:cTn id="113" dur="500"/>
                                        <p:tgtEl>
                                          <p:spTgt spid="113"/>
                                        </p:tgtEl>
                                      </p:cBhvr>
                                    </p:animEffect>
                                  </p:childTnLst>
                                </p:cTn>
                              </p:par>
                              <p:par>
                                <p:cTn id="114" presetID="1" presetClass="exit" presetSubtype="0" fill="hold" grpId="1" nodeType="withEffect">
                                  <p:stCondLst>
                                    <p:cond delay="0"/>
                                  </p:stCondLst>
                                  <p:childTnLst>
                                    <p:set>
                                      <p:cBhvr>
                                        <p:cTn id="115" dur="1" fill="hold">
                                          <p:stCondLst>
                                            <p:cond delay="0"/>
                                          </p:stCondLst>
                                        </p:cTn>
                                        <p:tgtEl>
                                          <p:spTgt spid="110"/>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129"/>
                                        </p:tgtEl>
                                        <p:attrNameLst>
                                          <p:attrName>style.visibility</p:attrName>
                                        </p:attrNameLst>
                                      </p:cBhvr>
                                      <p:to>
                                        <p:strVal val="visible"/>
                                      </p:to>
                                    </p:set>
                                    <p:animEffect transition="in" filter="fade">
                                      <p:cBhvr>
                                        <p:cTn id="120" dur="500"/>
                                        <p:tgtEl>
                                          <p:spTgt spid="129"/>
                                        </p:tgtEl>
                                      </p:cBhvr>
                                    </p:animEffect>
                                  </p:childTnLst>
                                </p:cTn>
                              </p:par>
                              <p:par>
                                <p:cTn id="121" presetID="1" presetClass="exit" presetSubtype="0" fill="hold" grpId="1" nodeType="withEffect">
                                  <p:stCondLst>
                                    <p:cond delay="0"/>
                                  </p:stCondLst>
                                  <p:childTnLst>
                                    <p:set>
                                      <p:cBhvr>
                                        <p:cTn id="122" dur="1" fill="hold">
                                          <p:stCondLst>
                                            <p:cond delay="0"/>
                                          </p:stCondLst>
                                        </p:cTn>
                                        <p:tgtEl>
                                          <p:spTgt spid="122"/>
                                        </p:tgtEl>
                                        <p:attrNameLst>
                                          <p:attrName>style.visibility</p:attrName>
                                        </p:attrNameLst>
                                      </p:cBhvr>
                                      <p:to>
                                        <p:strVal val="hidden"/>
                                      </p:to>
                                    </p:set>
                                  </p:childTnLst>
                                </p:cTn>
                              </p:par>
                              <p:par>
                                <p:cTn id="123" presetID="1" presetClass="exit" presetSubtype="0" fill="hold" grpId="1" nodeType="withEffect">
                                  <p:stCondLst>
                                    <p:cond delay="0"/>
                                  </p:stCondLst>
                                  <p:childTnLst>
                                    <p:set>
                                      <p:cBhvr>
                                        <p:cTn id="124" dur="1" fill="hold">
                                          <p:stCondLst>
                                            <p:cond delay="0"/>
                                          </p:stCondLst>
                                        </p:cTn>
                                        <p:tgtEl>
                                          <p:spTgt spid="94"/>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111"/>
                                        </p:tgtEl>
                                        <p:attrNameLst>
                                          <p:attrName>style.visibility</p:attrName>
                                        </p:attrNameLst>
                                      </p:cBhvr>
                                      <p:to>
                                        <p:strVal val="visible"/>
                                      </p:to>
                                    </p:set>
                                    <p:animEffect transition="in" filter="fade">
                                      <p:cBhvr>
                                        <p:cTn id="129" dur="500"/>
                                        <p:tgtEl>
                                          <p:spTgt spid="111"/>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grpId="0" nodeType="clickEffect">
                                  <p:stCondLst>
                                    <p:cond delay="0"/>
                                  </p:stCondLst>
                                  <p:childTnLst>
                                    <p:set>
                                      <p:cBhvr>
                                        <p:cTn id="133" dur="1" fill="hold">
                                          <p:stCondLst>
                                            <p:cond delay="0"/>
                                          </p:stCondLst>
                                        </p:cTn>
                                        <p:tgtEl>
                                          <p:spTgt spid="130"/>
                                        </p:tgtEl>
                                        <p:attrNameLst>
                                          <p:attrName>style.visibility</p:attrName>
                                        </p:attrNameLst>
                                      </p:cBhvr>
                                      <p:to>
                                        <p:strVal val="visible"/>
                                      </p:to>
                                    </p:set>
                                    <p:animEffect transition="in" filter="fade">
                                      <p:cBhvr>
                                        <p:cTn id="134" dur="500"/>
                                        <p:tgtEl>
                                          <p:spTgt spid="130"/>
                                        </p:tgtEl>
                                      </p:cBhvr>
                                    </p:animEffect>
                                  </p:childTnLst>
                                </p:cTn>
                              </p:par>
                              <p:par>
                                <p:cTn id="135" presetID="1" presetClass="exit" presetSubtype="0" fill="hold" grpId="1" nodeType="withEffect">
                                  <p:stCondLst>
                                    <p:cond delay="0"/>
                                  </p:stCondLst>
                                  <p:childTnLst>
                                    <p:set>
                                      <p:cBhvr>
                                        <p:cTn id="136" dur="1" fill="hold">
                                          <p:stCondLst>
                                            <p:cond delay="0"/>
                                          </p:stCondLst>
                                        </p:cTn>
                                        <p:tgtEl>
                                          <p:spTgt spid="129"/>
                                        </p:tgtEl>
                                        <p:attrNameLst>
                                          <p:attrName>style.visibility</p:attrName>
                                        </p:attrNameLst>
                                      </p:cBhvr>
                                      <p:to>
                                        <p:strVal val="hidden"/>
                                      </p:to>
                                    </p:set>
                                  </p:childTnLst>
                                </p:cTn>
                              </p:par>
                              <p:par>
                                <p:cTn id="137" presetID="1" presetClass="exit" presetSubtype="0" fill="hold" grpId="1" nodeType="withEffect">
                                  <p:stCondLst>
                                    <p:cond delay="0"/>
                                  </p:stCondLst>
                                  <p:childTnLst>
                                    <p:set>
                                      <p:cBhvr>
                                        <p:cTn id="138" dur="1" fill="hold">
                                          <p:stCondLst>
                                            <p:cond delay="0"/>
                                          </p:stCondLst>
                                        </p:cTn>
                                        <p:tgtEl>
                                          <p:spTgt spid="98"/>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grpId="0" nodeType="clickEffect">
                                  <p:stCondLst>
                                    <p:cond delay="0"/>
                                  </p:stCondLst>
                                  <p:childTnLst>
                                    <p:set>
                                      <p:cBhvr>
                                        <p:cTn id="142" dur="1" fill="hold">
                                          <p:stCondLst>
                                            <p:cond delay="0"/>
                                          </p:stCondLst>
                                        </p:cTn>
                                        <p:tgtEl>
                                          <p:spTgt spid="115"/>
                                        </p:tgtEl>
                                        <p:attrNameLst>
                                          <p:attrName>style.visibility</p:attrName>
                                        </p:attrNameLst>
                                      </p:cBhvr>
                                      <p:to>
                                        <p:strVal val="visible"/>
                                      </p:to>
                                    </p:set>
                                    <p:animEffect transition="in" filter="fade">
                                      <p:cBhvr>
                                        <p:cTn id="143" dur="500"/>
                                        <p:tgtEl>
                                          <p:spTgt spid="115"/>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131"/>
                                        </p:tgtEl>
                                        <p:attrNameLst>
                                          <p:attrName>style.visibility</p:attrName>
                                        </p:attrNameLst>
                                      </p:cBhvr>
                                      <p:to>
                                        <p:strVal val="visible"/>
                                      </p:to>
                                    </p:set>
                                    <p:animEffect transition="in" filter="fade">
                                      <p:cBhvr>
                                        <p:cTn id="148" dur="500"/>
                                        <p:tgtEl>
                                          <p:spTgt spid="131"/>
                                        </p:tgtEl>
                                      </p:cBhvr>
                                    </p:animEffect>
                                  </p:childTnLst>
                                </p:cTn>
                              </p:par>
                              <p:par>
                                <p:cTn id="149" presetID="1" presetClass="exit" presetSubtype="0" fill="hold" grpId="1" nodeType="withEffect">
                                  <p:stCondLst>
                                    <p:cond delay="0"/>
                                  </p:stCondLst>
                                  <p:childTnLst>
                                    <p:set>
                                      <p:cBhvr>
                                        <p:cTn id="150" dur="1" fill="hold">
                                          <p:stCondLst>
                                            <p:cond delay="0"/>
                                          </p:stCondLst>
                                        </p:cTn>
                                        <p:tgtEl>
                                          <p:spTgt spid="128"/>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grpId="0" nodeType="clickEffect">
                                  <p:stCondLst>
                                    <p:cond delay="0"/>
                                  </p:stCondLst>
                                  <p:childTnLst>
                                    <p:set>
                                      <p:cBhvr>
                                        <p:cTn id="154" dur="1" fill="hold">
                                          <p:stCondLst>
                                            <p:cond delay="0"/>
                                          </p:stCondLst>
                                        </p:cTn>
                                        <p:tgtEl>
                                          <p:spTgt spid="117"/>
                                        </p:tgtEl>
                                        <p:attrNameLst>
                                          <p:attrName>style.visibility</p:attrName>
                                        </p:attrNameLst>
                                      </p:cBhvr>
                                      <p:to>
                                        <p:strVal val="visible"/>
                                      </p:to>
                                    </p:set>
                                    <p:animEffect transition="in" filter="fade">
                                      <p:cBhvr>
                                        <p:cTn id="155" dur="500"/>
                                        <p:tgtEl>
                                          <p:spTgt spid="117"/>
                                        </p:tgtEl>
                                      </p:cBhvr>
                                    </p:animEffect>
                                  </p:childTnLst>
                                </p:cTn>
                              </p:par>
                            </p:childTnLst>
                          </p:cTn>
                        </p:par>
                      </p:childTnLst>
                    </p:cTn>
                  </p:par>
                  <p:par>
                    <p:cTn id="156" fill="hold">
                      <p:stCondLst>
                        <p:cond delay="indefinite"/>
                      </p:stCondLst>
                      <p:childTnLst>
                        <p:par>
                          <p:cTn id="157" fill="hold">
                            <p:stCondLst>
                              <p:cond delay="0"/>
                            </p:stCondLst>
                            <p:childTnLst>
                              <p:par>
                                <p:cTn id="158" presetID="10" presetClass="entr" presetSubtype="0" fill="hold" grpId="0" nodeType="clickEffect">
                                  <p:stCondLst>
                                    <p:cond delay="0"/>
                                  </p:stCondLst>
                                  <p:childTnLst>
                                    <p:set>
                                      <p:cBhvr>
                                        <p:cTn id="159" dur="1" fill="hold">
                                          <p:stCondLst>
                                            <p:cond delay="0"/>
                                          </p:stCondLst>
                                        </p:cTn>
                                        <p:tgtEl>
                                          <p:spTgt spid="118"/>
                                        </p:tgtEl>
                                        <p:attrNameLst>
                                          <p:attrName>style.visibility</p:attrName>
                                        </p:attrNameLst>
                                      </p:cBhvr>
                                      <p:to>
                                        <p:strVal val="visible"/>
                                      </p:to>
                                    </p:set>
                                    <p:animEffect transition="in" filter="fade">
                                      <p:cBhvr>
                                        <p:cTn id="160" dur="500"/>
                                        <p:tgtEl>
                                          <p:spTgt spid="118"/>
                                        </p:tgtEl>
                                      </p:cBhvr>
                                    </p:animEffect>
                                  </p:childTnLst>
                                </p:cTn>
                              </p:par>
                            </p:childTnLst>
                          </p:cTn>
                        </p:par>
                      </p:childTnLst>
                    </p:cTn>
                  </p:par>
                  <p:par>
                    <p:cTn id="161" fill="hold">
                      <p:stCondLst>
                        <p:cond delay="indefinite"/>
                      </p:stCondLst>
                      <p:childTnLst>
                        <p:par>
                          <p:cTn id="162" fill="hold">
                            <p:stCondLst>
                              <p:cond delay="0"/>
                            </p:stCondLst>
                            <p:childTnLst>
                              <p:par>
                                <p:cTn id="163" presetID="10" presetClass="entr" presetSubtype="0" fill="hold" grpId="0" nodeType="clickEffect">
                                  <p:stCondLst>
                                    <p:cond delay="0"/>
                                  </p:stCondLst>
                                  <p:childTnLst>
                                    <p:set>
                                      <p:cBhvr>
                                        <p:cTn id="164" dur="1" fill="hold">
                                          <p:stCondLst>
                                            <p:cond delay="0"/>
                                          </p:stCondLst>
                                        </p:cTn>
                                        <p:tgtEl>
                                          <p:spTgt spid="132"/>
                                        </p:tgtEl>
                                        <p:attrNameLst>
                                          <p:attrName>style.visibility</p:attrName>
                                        </p:attrNameLst>
                                      </p:cBhvr>
                                      <p:to>
                                        <p:strVal val="visible"/>
                                      </p:to>
                                    </p:set>
                                    <p:animEffect transition="in" filter="fade">
                                      <p:cBhvr>
                                        <p:cTn id="165" dur="500"/>
                                        <p:tgtEl>
                                          <p:spTgt spid="132"/>
                                        </p:tgtEl>
                                      </p:cBhvr>
                                    </p:animEffect>
                                  </p:childTnLst>
                                </p:cTn>
                              </p:par>
                              <p:par>
                                <p:cTn id="166" presetID="1" presetClass="exit" presetSubtype="0" fill="hold" grpId="1" nodeType="withEffect">
                                  <p:stCondLst>
                                    <p:cond delay="0"/>
                                  </p:stCondLst>
                                  <p:childTnLst>
                                    <p:set>
                                      <p:cBhvr>
                                        <p:cTn id="167" dur="1" fill="hold">
                                          <p:stCondLst>
                                            <p:cond delay="0"/>
                                          </p:stCondLst>
                                        </p:cTn>
                                        <p:tgtEl>
                                          <p:spTgt spid="131"/>
                                        </p:tgtEl>
                                        <p:attrNameLst>
                                          <p:attrName>style.visibility</p:attrName>
                                        </p:attrNameLst>
                                      </p:cBhvr>
                                      <p:to>
                                        <p:strVal val="hidden"/>
                                      </p:to>
                                    </p:set>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120"/>
                                        </p:tgtEl>
                                        <p:attrNameLst>
                                          <p:attrName>style.visibility</p:attrName>
                                        </p:attrNameLst>
                                      </p:cBhvr>
                                      <p:to>
                                        <p:strVal val="visible"/>
                                      </p:to>
                                    </p:set>
                                    <p:animEffect transition="in" filter="fade">
                                      <p:cBhvr>
                                        <p:cTn id="172" dur="500"/>
                                        <p:tgtEl>
                                          <p:spTgt spid="120"/>
                                        </p:tgtEl>
                                      </p:cBhvr>
                                    </p:animEffect>
                                  </p:childTnLst>
                                </p:cTn>
                              </p:par>
                            </p:childTnLst>
                          </p:cTn>
                        </p:par>
                      </p:childTnLst>
                    </p:cTn>
                  </p:par>
                  <p:par>
                    <p:cTn id="173" fill="hold">
                      <p:stCondLst>
                        <p:cond delay="indefinite"/>
                      </p:stCondLst>
                      <p:childTnLst>
                        <p:par>
                          <p:cTn id="174" fill="hold">
                            <p:stCondLst>
                              <p:cond delay="0"/>
                            </p:stCondLst>
                            <p:childTnLst>
                              <p:par>
                                <p:cTn id="175" presetID="10" presetClass="entr" presetSubtype="0" fill="hold" grpId="0" nodeType="clickEffect">
                                  <p:stCondLst>
                                    <p:cond delay="0"/>
                                  </p:stCondLst>
                                  <p:childTnLst>
                                    <p:set>
                                      <p:cBhvr>
                                        <p:cTn id="176" dur="1" fill="hold">
                                          <p:stCondLst>
                                            <p:cond delay="0"/>
                                          </p:stCondLst>
                                        </p:cTn>
                                        <p:tgtEl>
                                          <p:spTgt spid="121"/>
                                        </p:tgtEl>
                                        <p:attrNameLst>
                                          <p:attrName>style.visibility</p:attrName>
                                        </p:attrNameLst>
                                      </p:cBhvr>
                                      <p:to>
                                        <p:strVal val="visible"/>
                                      </p:to>
                                    </p:set>
                                    <p:animEffect transition="in" filter="fade">
                                      <p:cBhvr>
                                        <p:cTn id="177" dur="500"/>
                                        <p:tgtEl>
                                          <p:spTgt spid="121"/>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grpId="2" nodeType="clickEffect">
                                  <p:stCondLst>
                                    <p:cond delay="0"/>
                                  </p:stCondLst>
                                  <p:childTnLst>
                                    <p:set>
                                      <p:cBhvr>
                                        <p:cTn id="181" dur="1" fill="hold">
                                          <p:stCondLst>
                                            <p:cond delay="0"/>
                                          </p:stCondLst>
                                        </p:cTn>
                                        <p:tgtEl>
                                          <p:spTgt spid="110"/>
                                        </p:tgtEl>
                                        <p:attrNameLst>
                                          <p:attrName>style.visibility</p:attrName>
                                        </p:attrNameLst>
                                      </p:cBhvr>
                                      <p:to>
                                        <p:strVal val="visible"/>
                                      </p:to>
                                    </p:set>
                                    <p:animEffect transition="in" filter="wipe(left)">
                                      <p:cBhvr>
                                        <p:cTn id="182"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93" grpId="0"/>
      <p:bldP spid="94" grpId="0"/>
      <p:bldP spid="94" grpId="1"/>
      <p:bldP spid="97" grpId="0"/>
      <p:bldP spid="98" grpId="0"/>
      <p:bldP spid="98" grpId="1"/>
      <p:bldP spid="100" grpId="0"/>
      <p:bldP spid="101" grpId="0"/>
      <p:bldP spid="103" grpId="0"/>
      <p:bldP spid="104" grpId="0"/>
      <p:bldP spid="106" grpId="0"/>
      <p:bldP spid="107" grpId="0"/>
      <p:bldP spid="109" grpId="0"/>
      <p:bldP spid="110" grpId="0" animBg="1"/>
      <p:bldP spid="110" grpId="1" animBg="1"/>
      <p:bldP spid="110" grpId="2" animBg="1"/>
      <p:bldP spid="111" grpId="0"/>
      <p:bldP spid="113" grpId="0"/>
      <p:bldP spid="115" grpId="0"/>
      <p:bldP spid="117" grpId="0"/>
      <p:bldP spid="118" grpId="0"/>
      <p:bldP spid="120" grpId="0"/>
      <p:bldP spid="121" grpId="0"/>
      <p:bldP spid="122" grpId="0"/>
      <p:bldP spid="122" grpId="1"/>
      <p:bldP spid="123" grpId="0"/>
      <p:bldP spid="123" grpId="1"/>
      <p:bldP spid="124" grpId="0"/>
      <p:bldP spid="124" grpId="1"/>
      <p:bldP spid="125" grpId="0"/>
      <p:bldP spid="125" grpId="1"/>
      <p:bldP spid="126" grpId="0"/>
      <p:bldP spid="126" grpId="1"/>
      <p:bldP spid="128" grpId="0"/>
      <p:bldP spid="128" grpId="1"/>
      <p:bldP spid="129" grpId="0"/>
      <p:bldP spid="129" grpId="1"/>
      <p:bldP spid="130" grpId="0"/>
      <p:bldP spid="131" grpId="0"/>
      <p:bldP spid="131" grpId="1"/>
      <p:bldP spid="132"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Circular Queue </a:t>
            </a:r>
            <a:r>
              <a:rPr lang="en-US" dirty="0"/>
              <a:t>- Introduction</a:t>
            </a:r>
          </a:p>
        </p:txBody>
      </p:sp>
      <p:sp>
        <p:nvSpPr>
          <p:cNvPr id="3" name="Content Placeholder 2"/>
          <p:cNvSpPr>
            <a:spLocks noGrp="1"/>
          </p:cNvSpPr>
          <p:nvPr>
            <p:ph idx="1"/>
          </p:nvPr>
        </p:nvSpPr>
        <p:spPr>
          <a:xfrm>
            <a:off x="131181" y="876144"/>
            <a:ext cx="8171156" cy="5590565"/>
          </a:xfrm>
        </p:spPr>
        <p:txBody>
          <a:bodyPr>
            <a:normAutofit/>
          </a:bodyPr>
          <a:lstStyle/>
          <a:p>
            <a:r>
              <a:rPr lang="en-IN" dirty="0"/>
              <a:t>A </a:t>
            </a:r>
            <a:r>
              <a:rPr lang="en-IN" b="1" dirty="0">
                <a:solidFill>
                  <a:schemeClr val="accent6"/>
                </a:solidFill>
              </a:rPr>
              <a:t>Circular Queue</a:t>
            </a:r>
            <a:r>
              <a:rPr lang="en-IN" dirty="0"/>
              <a:t> is a linear data structure in which the last position is connected to the first position, forming a circular structure. It follows the </a:t>
            </a:r>
            <a:r>
              <a:rPr lang="en-IN" b="1" dirty="0">
                <a:solidFill>
                  <a:schemeClr val="accent6"/>
                </a:solidFill>
              </a:rPr>
              <a:t>FIFO (First In, First Out)</a:t>
            </a:r>
            <a:r>
              <a:rPr lang="en-IN" dirty="0"/>
              <a:t> principle.</a:t>
            </a:r>
          </a:p>
          <a:p>
            <a:r>
              <a:rPr lang="en-IN" b="1" dirty="0">
                <a:solidFill>
                  <a:schemeClr val="accent6"/>
                </a:solidFill>
              </a:rPr>
              <a:t>FRONT</a:t>
            </a:r>
            <a:r>
              <a:rPr lang="en-IN" dirty="0"/>
              <a:t> points to the first element. </a:t>
            </a:r>
          </a:p>
          <a:p>
            <a:r>
              <a:rPr lang="en-IN" b="1" dirty="0">
                <a:solidFill>
                  <a:schemeClr val="accent6"/>
                </a:solidFill>
              </a:rPr>
              <a:t>REAR</a:t>
            </a:r>
            <a:r>
              <a:rPr lang="en-IN" dirty="0"/>
              <a:t> points to the last inserted element. </a:t>
            </a:r>
          </a:p>
          <a:p>
            <a:r>
              <a:rPr lang="en-IN" dirty="0"/>
              <a:t>When REAR reaches the last position, it wraps around to the beginning (if space is available). </a:t>
            </a:r>
          </a:p>
          <a:p>
            <a:r>
              <a:rPr lang="en-IN" dirty="0"/>
              <a:t>Thus, the queue behaves like a circle, even though it is stored in a linear array. </a:t>
            </a:r>
          </a:p>
          <a:p>
            <a:r>
              <a:rPr lang="en-IN" dirty="0"/>
              <a:t>This allows vacant positions created after deletions to be reused, resulting in efficient memory utilization. </a:t>
            </a:r>
          </a:p>
          <a:p>
            <a:r>
              <a:rPr lang="en-IN" dirty="0"/>
              <a:t>It is also known as a </a:t>
            </a:r>
            <a:r>
              <a:rPr lang="en-IN" b="1" dirty="0">
                <a:solidFill>
                  <a:schemeClr val="accent6"/>
                </a:solidFill>
              </a:rPr>
              <a:t>Ring Buffer</a:t>
            </a:r>
            <a:r>
              <a:rPr lang="en-IN" dirty="0"/>
              <a:t>.</a:t>
            </a:r>
          </a:p>
        </p:txBody>
      </p:sp>
      <p:pic>
        <p:nvPicPr>
          <p:cNvPr id="1026" name="Picture 2" descr="E:\Clients\Darshan\Data Structure\images\circularqueu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2337" y="2290773"/>
            <a:ext cx="3889663" cy="3678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924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102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6ED680-ECDA-2C59-AF2D-3A5BD1081CCA}"/>
              </a:ext>
            </a:extLst>
          </p:cNvPr>
          <p:cNvSpPr>
            <a:spLocks noGrp="1"/>
          </p:cNvSpPr>
          <p:nvPr>
            <p:ph type="title"/>
          </p:nvPr>
        </p:nvSpPr>
        <p:spPr/>
        <p:txBody>
          <a:bodyPr/>
          <a:lstStyle/>
          <a:p>
            <a:r>
              <a:rPr lang="en-US" dirty="0"/>
              <a:t>Operations on Circular Queue</a:t>
            </a:r>
          </a:p>
        </p:txBody>
      </p:sp>
      <p:sp>
        <p:nvSpPr>
          <p:cNvPr id="5" name="Text Placeholder 4">
            <a:extLst>
              <a:ext uri="{FF2B5EF4-FFF2-40B4-BE49-F238E27FC236}">
                <a16:creationId xmlns:a16="http://schemas.microsoft.com/office/drawing/2014/main" id="{FB5B7375-27ED-AEFF-9C20-9AC5FE685928}"/>
              </a:ext>
            </a:extLst>
          </p:cNvPr>
          <p:cNvSpPr>
            <a:spLocks noGrp="1"/>
          </p:cNvSpPr>
          <p:nvPr>
            <p:ph type="body" idx="1"/>
          </p:nvPr>
        </p:nvSpPr>
        <p:spPr/>
        <p:txBody>
          <a:bodyPr/>
          <a:lstStyle/>
          <a:p>
            <a:r>
              <a:rPr lang="en-US" dirty="0">
                <a:solidFill>
                  <a:srgbClr val="0070C0"/>
                </a:solidFill>
              </a:rPr>
              <a:t>CQINSERT</a:t>
            </a:r>
          </a:p>
          <a:p>
            <a:r>
              <a:rPr lang="en-US" dirty="0">
                <a:solidFill>
                  <a:srgbClr val="0070C0"/>
                </a:solidFill>
              </a:rPr>
              <a:t>CQDELETE</a:t>
            </a:r>
          </a:p>
          <a:p>
            <a:endParaRPr lang="en-US" dirty="0"/>
          </a:p>
        </p:txBody>
      </p:sp>
    </p:spTree>
    <p:extLst>
      <p:ext uri="{BB962C8B-B14F-4D97-AF65-F5344CB8AC3E}">
        <p14:creationId xmlns:p14="http://schemas.microsoft.com/office/powerpoint/2010/main" val="13951506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Procedure: CQINSERT (F, R, Q, N, Y)</a:t>
            </a:r>
            <a:endParaRPr lang="en-US" dirty="0"/>
          </a:p>
        </p:txBody>
      </p:sp>
      <p:sp>
        <p:nvSpPr>
          <p:cNvPr id="3" name="Content Placeholder 2"/>
          <p:cNvSpPr>
            <a:spLocks noGrp="1"/>
          </p:cNvSpPr>
          <p:nvPr>
            <p:ph idx="1"/>
          </p:nvPr>
        </p:nvSpPr>
        <p:spPr/>
        <p:txBody>
          <a:bodyPr/>
          <a:lstStyle/>
          <a:p>
            <a:r>
              <a:rPr lang="en-IN" dirty="0"/>
              <a:t>This procedure inserts </a:t>
            </a:r>
            <a:r>
              <a:rPr lang="en-IN" b="1" dirty="0">
                <a:solidFill>
                  <a:srgbClr val="C00000"/>
                </a:solidFill>
              </a:rPr>
              <a:t>Y</a:t>
            </a:r>
            <a:r>
              <a:rPr lang="en-IN" dirty="0"/>
              <a:t> at rear end of the Circular Queue.</a:t>
            </a:r>
          </a:p>
          <a:p>
            <a:r>
              <a:rPr lang="en-IN" b="1" dirty="0">
                <a:solidFill>
                  <a:srgbClr val="C00000"/>
                </a:solidFill>
              </a:rPr>
              <a:t>Queue</a:t>
            </a:r>
            <a:r>
              <a:rPr lang="en-IN" dirty="0">
                <a:solidFill>
                  <a:srgbClr val="C00000"/>
                </a:solidFill>
              </a:rPr>
              <a:t> </a:t>
            </a:r>
            <a:r>
              <a:rPr lang="en-IN" dirty="0"/>
              <a:t>is represented by a vector </a:t>
            </a:r>
            <a:r>
              <a:rPr lang="en-IN" b="1" dirty="0">
                <a:solidFill>
                  <a:srgbClr val="C00000"/>
                </a:solidFill>
              </a:rPr>
              <a:t>Q</a:t>
            </a:r>
            <a:r>
              <a:rPr lang="en-IN" dirty="0">
                <a:solidFill>
                  <a:srgbClr val="C00000"/>
                </a:solidFill>
              </a:rPr>
              <a:t> </a:t>
            </a:r>
            <a:r>
              <a:rPr lang="en-IN" dirty="0"/>
              <a:t>containing </a:t>
            </a:r>
            <a:r>
              <a:rPr lang="en-IN" b="1" dirty="0">
                <a:solidFill>
                  <a:srgbClr val="C00000"/>
                </a:solidFill>
              </a:rPr>
              <a:t>N</a:t>
            </a:r>
            <a:r>
              <a:rPr lang="en-IN" dirty="0">
                <a:solidFill>
                  <a:srgbClr val="C00000"/>
                </a:solidFill>
              </a:rPr>
              <a:t> </a:t>
            </a:r>
            <a:r>
              <a:rPr lang="en-IN" dirty="0"/>
              <a:t>elements.</a:t>
            </a:r>
          </a:p>
          <a:p>
            <a:r>
              <a:rPr lang="en-IN" b="1" dirty="0">
                <a:solidFill>
                  <a:srgbClr val="C00000"/>
                </a:solidFill>
              </a:rPr>
              <a:t>F</a:t>
            </a:r>
            <a:r>
              <a:rPr lang="en-IN" dirty="0">
                <a:solidFill>
                  <a:srgbClr val="C00000"/>
                </a:solidFill>
              </a:rPr>
              <a:t> </a:t>
            </a:r>
            <a:r>
              <a:rPr lang="en-IN" dirty="0"/>
              <a:t>is pointer to the front element of a queue.</a:t>
            </a:r>
          </a:p>
          <a:p>
            <a:r>
              <a:rPr lang="en-IN" b="1" dirty="0">
                <a:solidFill>
                  <a:srgbClr val="C00000"/>
                </a:solidFill>
              </a:rPr>
              <a:t>R</a:t>
            </a:r>
            <a:r>
              <a:rPr lang="en-IN" dirty="0">
                <a:solidFill>
                  <a:srgbClr val="C00000"/>
                </a:solidFill>
              </a:rPr>
              <a:t> </a:t>
            </a:r>
            <a:r>
              <a:rPr lang="en-IN" dirty="0"/>
              <a:t>is pointer to the rear element of a queue.</a:t>
            </a:r>
          </a:p>
          <a:p>
            <a:endParaRPr lang="en-US" dirty="0"/>
          </a:p>
        </p:txBody>
      </p:sp>
      <p:sp>
        <p:nvSpPr>
          <p:cNvPr id="4" name="TextBox 3"/>
          <p:cNvSpPr txBox="1"/>
          <p:nvPr/>
        </p:nvSpPr>
        <p:spPr>
          <a:xfrm>
            <a:off x="426290" y="3066629"/>
            <a:ext cx="4497042" cy="2400657"/>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pPr lvl="0"/>
            <a:r>
              <a:rPr lang="en-IN" sz="2000" b="1" dirty="0">
                <a:solidFill>
                  <a:srgbClr val="1D6FA9"/>
                </a:solidFill>
                <a:latin typeface="Consolas" pitchFamily="49" charset="0"/>
                <a:cs typeface="Consolas" pitchFamily="49" charset="0"/>
              </a:rPr>
              <a:t>1. [Overflow]</a:t>
            </a:r>
          </a:p>
          <a:p>
            <a:pPr lvl="0"/>
            <a:r>
              <a:rPr lang="en-IN" b="1" dirty="0">
                <a:solidFill>
                  <a:srgbClr val="212121"/>
                </a:solidFill>
                <a:latin typeface="Consolas" pitchFamily="49" charset="0"/>
                <a:cs typeface="Consolas" pitchFamily="49" charset="0"/>
              </a:rPr>
              <a:t>       </a:t>
            </a:r>
            <a:r>
              <a:rPr lang="en-IN" b="1" dirty="0">
                <a:solidFill>
                  <a:srgbClr val="1D6FA9">
                    <a:lumMod val="75000"/>
                  </a:srgbClr>
                </a:solidFill>
                <a:latin typeface="Consolas" pitchFamily="49" charset="0"/>
                <a:cs typeface="Consolas" pitchFamily="49" charset="0"/>
              </a:rPr>
              <a:t>If</a:t>
            </a:r>
            <a:r>
              <a:rPr lang="en-IN" b="1" dirty="0">
                <a:solidFill>
                  <a:srgbClr val="212121"/>
                </a:solidFill>
                <a:latin typeface="Consolas" pitchFamily="49" charset="0"/>
                <a:cs typeface="Consolas" pitchFamily="49" charset="0"/>
              </a:rPr>
              <a:t>   (R+1) % N = F</a:t>
            </a:r>
          </a:p>
          <a:p>
            <a:pPr lvl="0"/>
            <a:r>
              <a:rPr lang="en-IN" b="1" dirty="0">
                <a:solidFill>
                  <a:srgbClr val="212121"/>
                </a:solidFill>
                <a:latin typeface="Consolas" pitchFamily="49" charset="0"/>
                <a:cs typeface="Consolas" pitchFamily="49" charset="0"/>
              </a:rPr>
              <a:t>       </a:t>
            </a:r>
            <a:r>
              <a:rPr lang="en-IN" b="1" dirty="0">
                <a:solidFill>
                  <a:srgbClr val="1D6FA9">
                    <a:lumMod val="75000"/>
                  </a:srgbClr>
                </a:solidFill>
                <a:latin typeface="Consolas" pitchFamily="49" charset="0"/>
                <a:cs typeface="Consolas" pitchFamily="49" charset="0"/>
              </a:rPr>
              <a:t>Then </a:t>
            </a:r>
            <a:r>
              <a:rPr lang="en-IN" b="1" dirty="0">
                <a:solidFill>
                  <a:srgbClr val="212121"/>
                </a:solidFill>
                <a:latin typeface="Consolas" pitchFamily="49" charset="0"/>
                <a:cs typeface="Consolas" pitchFamily="49" charset="0"/>
              </a:rPr>
              <a:t>Write(‘Overflow’)</a:t>
            </a:r>
          </a:p>
          <a:p>
            <a:pPr lvl="0"/>
            <a:r>
              <a:rPr lang="en-IN" b="1" dirty="0">
                <a:solidFill>
                  <a:srgbClr val="212121"/>
                </a:solidFill>
                <a:latin typeface="Consolas" pitchFamily="49" charset="0"/>
                <a:cs typeface="Consolas" pitchFamily="49" charset="0"/>
              </a:rPr>
              <a:t>	     Return</a:t>
            </a:r>
          </a:p>
          <a:p>
            <a:pPr lvl="0"/>
            <a:endParaRPr lang="en-IN" b="1" dirty="0">
              <a:solidFill>
                <a:schemeClr val="tx2"/>
              </a:solidFill>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2. [Reset Rear Pointer]</a:t>
            </a:r>
          </a:p>
          <a:p>
            <a:r>
              <a:rPr lang="en-IN" sz="2000" b="1" dirty="0">
                <a:latin typeface="Consolas" pitchFamily="49" charset="0"/>
                <a:cs typeface="Consolas" pitchFamily="49" charset="0"/>
              </a:rPr>
              <a:t>         R </a:t>
            </a:r>
            <a:r>
              <a:rPr lang="en-IN" sz="2000" b="1" dirty="0">
                <a:latin typeface="Consolas" pitchFamily="49" charset="0"/>
                <a:cs typeface="Consolas" pitchFamily="49" charset="0"/>
                <a:sym typeface="Wingdings" panose="05000000000000000000" pitchFamily="2" charset="2"/>
              </a:rPr>
              <a:t></a:t>
            </a:r>
            <a:r>
              <a:rPr lang="en-IN" sz="2000" b="1" dirty="0">
                <a:latin typeface="Consolas" pitchFamily="49" charset="0"/>
                <a:cs typeface="Consolas" pitchFamily="49" charset="0"/>
              </a:rPr>
              <a:t> (R + 1) % N</a:t>
            </a:r>
          </a:p>
          <a:p>
            <a:r>
              <a:rPr lang="en-IN" b="1" dirty="0">
                <a:latin typeface="Consolas" pitchFamily="49" charset="0"/>
                <a:cs typeface="Consolas" pitchFamily="49" charset="0"/>
              </a:rPr>
              <a:t>     </a:t>
            </a:r>
          </a:p>
        </p:txBody>
      </p:sp>
      <p:sp>
        <p:nvSpPr>
          <p:cNvPr id="5" name="TextBox 4"/>
          <p:cNvSpPr txBox="1"/>
          <p:nvPr/>
        </p:nvSpPr>
        <p:spPr>
          <a:xfrm>
            <a:off x="4946506" y="3072814"/>
            <a:ext cx="4140000" cy="2400657"/>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3. [Insert element]</a:t>
            </a:r>
          </a:p>
          <a:p>
            <a:r>
              <a:rPr lang="en-IN" b="1" dirty="0">
                <a:latin typeface="Consolas" pitchFamily="49" charset="0"/>
                <a:cs typeface="Consolas" pitchFamily="49" charset="0"/>
              </a:rPr>
              <a:t>	Q[R] </a:t>
            </a:r>
            <a:r>
              <a:rPr lang="en-IN" b="1" dirty="0">
                <a:latin typeface="Consolas" pitchFamily="49" charset="0"/>
                <a:cs typeface="Consolas" pitchFamily="49" charset="0"/>
                <a:sym typeface="Wingdings" pitchFamily="2" charset="2"/>
              </a:rPr>
              <a:t></a:t>
            </a:r>
            <a:r>
              <a:rPr lang="en-IN" b="1" dirty="0">
                <a:latin typeface="Consolas" pitchFamily="49" charset="0"/>
                <a:cs typeface="Consolas" pitchFamily="49" charset="0"/>
              </a:rPr>
              <a:t> Y</a:t>
            </a:r>
          </a:p>
          <a:p>
            <a:endParaRPr lang="en-IN" b="1" dirty="0">
              <a:latin typeface="Consolas" pitchFamily="49" charset="0"/>
              <a:cs typeface="Consolas" pitchFamily="49" charset="0"/>
            </a:endParaRPr>
          </a:p>
          <a:p>
            <a:pPr marL="444500" indent="-444500"/>
            <a:r>
              <a:rPr lang="en-IN" sz="2000" b="1" dirty="0">
                <a:solidFill>
                  <a:schemeClr val="tx2"/>
                </a:solidFill>
                <a:latin typeface="Consolas" pitchFamily="49" charset="0"/>
                <a:cs typeface="Consolas" pitchFamily="49" charset="0"/>
              </a:rPr>
              <a:t>4. [Is front pointer properly set?]</a:t>
            </a:r>
          </a:p>
          <a:p>
            <a:r>
              <a:rPr lang="en-IN" dirty="0">
                <a:latin typeface="Consolas" pitchFamily="49" charset="0"/>
                <a:cs typeface="Consolas" pitchFamily="49" charset="0"/>
              </a:rPr>
              <a:t>      </a:t>
            </a:r>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IF</a:t>
            </a:r>
            <a:r>
              <a:rPr lang="en-IN" b="1" dirty="0">
                <a:latin typeface="Consolas" pitchFamily="49" charset="0"/>
                <a:cs typeface="Consolas" pitchFamily="49" charset="0"/>
              </a:rPr>
              <a:t> 	F = -1</a:t>
            </a:r>
          </a:p>
          <a:p>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b="1" dirty="0">
                <a:latin typeface="Consolas" pitchFamily="49" charset="0"/>
                <a:cs typeface="Consolas" pitchFamily="49" charset="0"/>
              </a:rPr>
              <a:t>	F </a:t>
            </a:r>
            <a:r>
              <a:rPr lang="en-IN" b="1" dirty="0">
                <a:latin typeface="Consolas" pitchFamily="49" charset="0"/>
                <a:cs typeface="Consolas" pitchFamily="49" charset="0"/>
                <a:sym typeface="Wingdings" pitchFamily="2" charset="2"/>
              </a:rPr>
              <a:t></a:t>
            </a:r>
            <a:r>
              <a:rPr lang="en-IN" b="1" dirty="0">
                <a:latin typeface="Consolas" pitchFamily="49" charset="0"/>
                <a:cs typeface="Consolas" pitchFamily="49" charset="0"/>
              </a:rPr>
              <a:t> 0</a:t>
            </a:r>
          </a:p>
          <a:p>
            <a:r>
              <a:rPr lang="en-IN" b="1" dirty="0">
                <a:latin typeface="Consolas" pitchFamily="49" charset="0"/>
                <a:cs typeface="Consolas" pitchFamily="49" charset="0"/>
              </a:rPr>
              <a:t>               Return</a:t>
            </a:r>
          </a:p>
        </p:txBody>
      </p:sp>
      <p:grpSp>
        <p:nvGrpSpPr>
          <p:cNvPr id="74" name="Group 73">
            <a:extLst>
              <a:ext uri="{FF2B5EF4-FFF2-40B4-BE49-F238E27FC236}">
                <a16:creationId xmlns:a16="http://schemas.microsoft.com/office/drawing/2014/main" id="{5FF9BEC4-A73B-353A-FBB7-1F625FFF8B43}"/>
              </a:ext>
            </a:extLst>
          </p:cNvPr>
          <p:cNvGrpSpPr/>
          <p:nvPr/>
        </p:nvGrpSpPr>
        <p:grpSpPr>
          <a:xfrm>
            <a:off x="9563924" y="796398"/>
            <a:ext cx="2286000" cy="1346778"/>
            <a:chOff x="9563924" y="796398"/>
            <a:chExt cx="2286000" cy="1346778"/>
          </a:xfrm>
        </p:grpSpPr>
        <p:grpSp>
          <p:nvGrpSpPr>
            <p:cNvPr id="72" name="Group 71"/>
            <p:cNvGrpSpPr/>
            <p:nvPr/>
          </p:nvGrpSpPr>
          <p:grpSpPr>
            <a:xfrm>
              <a:off x="9563924" y="796398"/>
              <a:ext cx="2286000" cy="1306320"/>
              <a:chOff x="6324600" y="2472268"/>
              <a:chExt cx="2286000" cy="1306320"/>
            </a:xfrm>
          </p:grpSpPr>
          <p:grpSp>
            <p:nvGrpSpPr>
              <p:cNvPr id="56" name="Group 55"/>
              <p:cNvGrpSpPr/>
              <p:nvPr/>
            </p:nvGrpSpPr>
            <p:grpSpPr>
              <a:xfrm>
                <a:off x="6585858" y="3168988"/>
                <a:ext cx="1828800" cy="381000"/>
                <a:chOff x="381000" y="1219200"/>
                <a:chExt cx="1828800" cy="381000"/>
              </a:xfrm>
            </p:grpSpPr>
            <p:sp>
              <p:nvSpPr>
                <p:cNvPr id="68" name="Rectangle 67"/>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23</a:t>
                  </a:r>
                  <a:endParaRPr lang="en-US" b="1" dirty="0"/>
                </a:p>
              </p:txBody>
            </p:sp>
            <p:sp>
              <p:nvSpPr>
                <p:cNvPr id="69" name="Rectangle 68"/>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6</a:t>
                  </a:r>
                  <a:endParaRPr lang="en-US" b="1" dirty="0"/>
                </a:p>
              </p:txBody>
            </p:sp>
            <p:sp>
              <p:nvSpPr>
                <p:cNvPr id="70" name="Rectangle 69"/>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a:t>
                  </a:r>
                  <a:endParaRPr lang="en-US" b="1" dirty="0"/>
                </a:p>
              </p:txBody>
            </p:sp>
            <p:sp>
              <p:nvSpPr>
                <p:cNvPr id="71" name="Rectangle 70"/>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15</a:t>
                  </a:r>
                  <a:endParaRPr lang="en-US" b="1" dirty="0"/>
                </a:p>
              </p:txBody>
            </p:sp>
          </p:grpSp>
          <p:cxnSp>
            <p:nvCxnSpPr>
              <p:cNvPr id="57" name="Straight Connector 56"/>
              <p:cNvCxnSpPr>
                <a:stCxn id="71" idx="3"/>
              </p:cNvCxnSpPr>
              <p:nvPr/>
            </p:nvCxnSpPr>
            <p:spPr>
              <a:xfrm>
                <a:off x="8414658" y="3359488"/>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58" name="Straight Connector 57"/>
              <p:cNvCxnSpPr/>
              <p:nvPr/>
            </p:nvCxnSpPr>
            <p:spPr>
              <a:xfrm>
                <a:off x="8599716"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59" name="Straight Connector 58"/>
              <p:cNvCxnSpPr/>
              <p:nvPr/>
            </p:nvCxnSpPr>
            <p:spPr>
              <a:xfrm flipH="1">
                <a:off x="6324600" y="3778588"/>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60" name="Straight Connector 59"/>
              <p:cNvCxnSpPr/>
              <p:nvPr/>
            </p:nvCxnSpPr>
            <p:spPr>
              <a:xfrm flipV="1">
                <a:off x="6324600"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61" name="Straight Arrow Connector 60"/>
              <p:cNvCxnSpPr>
                <a:endCxn id="68" idx="1"/>
              </p:cNvCxnSpPr>
              <p:nvPr/>
            </p:nvCxnSpPr>
            <p:spPr>
              <a:xfrm>
                <a:off x="6324600" y="3359488"/>
                <a:ext cx="261258"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grpSp>
            <p:nvGrpSpPr>
              <p:cNvPr id="62" name="Group 61"/>
              <p:cNvGrpSpPr/>
              <p:nvPr/>
            </p:nvGrpSpPr>
            <p:grpSpPr>
              <a:xfrm>
                <a:off x="8022764" y="2472280"/>
                <a:ext cx="314510" cy="680083"/>
                <a:chOff x="1937650" y="5094504"/>
                <a:chExt cx="314510" cy="680083"/>
              </a:xfrm>
            </p:grpSpPr>
            <p:sp>
              <p:nvSpPr>
                <p:cNvPr id="66" name="TextBox 65"/>
                <p:cNvSpPr txBox="1"/>
                <p:nvPr/>
              </p:nvSpPr>
              <p:spPr>
                <a:xfrm>
                  <a:off x="1937650" y="5094504"/>
                  <a:ext cx="314510" cy="369332"/>
                </a:xfrm>
                <a:prstGeom prst="rect">
                  <a:avLst/>
                </a:prstGeom>
                <a:noFill/>
              </p:spPr>
              <p:txBody>
                <a:bodyPr wrap="none" rtlCol="0">
                  <a:spAutoFit/>
                </a:bodyPr>
                <a:lstStyle/>
                <a:p>
                  <a:r>
                    <a:rPr lang="en-IN" b="1" dirty="0">
                      <a:solidFill>
                        <a:srgbClr val="C00000"/>
                      </a:solidFill>
                    </a:rPr>
                    <a:t>R</a:t>
                  </a:r>
                  <a:endParaRPr lang="en-US" b="1" dirty="0">
                    <a:solidFill>
                      <a:srgbClr val="C00000"/>
                    </a:solidFill>
                  </a:endParaRPr>
                </a:p>
              </p:txBody>
            </p:sp>
            <p:cxnSp>
              <p:nvCxnSpPr>
                <p:cNvPr id="67" name="Straight Arrow Connector 66"/>
                <p:cNvCxnSpPr>
                  <a:stCxn id="66" idx="2"/>
                  <a:endCxn id="71" idx="0"/>
                </p:cNvCxnSpPr>
                <p:nvPr/>
              </p:nvCxnSpPr>
              <p:spPr>
                <a:xfrm>
                  <a:off x="2094905" y="5463836"/>
                  <a:ext cx="6039" cy="3107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63" name="Group 62"/>
              <p:cNvGrpSpPr/>
              <p:nvPr/>
            </p:nvGrpSpPr>
            <p:grpSpPr>
              <a:xfrm>
                <a:off x="6642133" y="2472268"/>
                <a:ext cx="293670" cy="696708"/>
                <a:chOff x="1936047" y="5094504"/>
                <a:chExt cx="293670" cy="696708"/>
              </a:xfrm>
            </p:grpSpPr>
            <p:sp>
              <p:nvSpPr>
                <p:cNvPr id="64" name="TextBox 63"/>
                <p:cNvSpPr txBox="1"/>
                <p:nvPr/>
              </p:nvSpPr>
              <p:spPr>
                <a:xfrm>
                  <a:off x="1936047" y="5094504"/>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65" name="Straight Arrow Connector 64"/>
                <p:cNvCxnSpPr>
                  <a:stCxn id="64" idx="2"/>
                </p:cNvCxnSpPr>
                <p:nvPr/>
              </p:nvCxnSpPr>
              <p:spPr>
                <a:xfrm>
                  <a:off x="2082882" y="5463836"/>
                  <a:ext cx="18062" cy="32737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grpSp>
          <p:nvGrpSpPr>
            <p:cNvPr id="18" name="Group 17">
              <a:extLst>
                <a:ext uri="{FF2B5EF4-FFF2-40B4-BE49-F238E27FC236}">
                  <a16:creationId xmlns:a16="http://schemas.microsoft.com/office/drawing/2014/main" id="{6F78018D-54A8-800F-FE3E-4DD5E4FB2D3A}"/>
                </a:ext>
              </a:extLst>
            </p:cNvPr>
            <p:cNvGrpSpPr/>
            <p:nvPr/>
          </p:nvGrpSpPr>
          <p:grpSpPr>
            <a:xfrm>
              <a:off x="9953169" y="1820753"/>
              <a:ext cx="1506640" cy="322423"/>
              <a:chOff x="9953169" y="1820753"/>
              <a:chExt cx="1506640" cy="322423"/>
            </a:xfrm>
          </p:grpSpPr>
          <p:sp>
            <p:nvSpPr>
              <p:cNvPr id="6" name="TextBox 5">
                <a:extLst>
                  <a:ext uri="{FF2B5EF4-FFF2-40B4-BE49-F238E27FC236}">
                    <a16:creationId xmlns:a16="http://schemas.microsoft.com/office/drawing/2014/main" id="{75BFF85C-129D-608D-C724-AC2705EEFD51}"/>
                  </a:ext>
                </a:extLst>
              </p:cNvPr>
              <p:cNvSpPr txBox="1"/>
              <p:nvPr/>
            </p:nvSpPr>
            <p:spPr>
              <a:xfrm>
                <a:off x="9953169" y="1834021"/>
                <a:ext cx="116205" cy="307777"/>
              </a:xfrm>
              <a:prstGeom prst="rect">
                <a:avLst/>
              </a:prstGeom>
              <a:noFill/>
            </p:spPr>
            <p:txBody>
              <a:bodyPr wrap="square" rtlCol="0">
                <a:spAutoFit/>
              </a:bodyPr>
              <a:lstStyle/>
              <a:p>
                <a:r>
                  <a:rPr lang="en-IN" sz="1400" dirty="0"/>
                  <a:t>0</a:t>
                </a:r>
              </a:p>
            </p:txBody>
          </p:sp>
          <p:sp>
            <p:nvSpPr>
              <p:cNvPr id="12" name="TextBox 11">
                <a:extLst>
                  <a:ext uri="{FF2B5EF4-FFF2-40B4-BE49-F238E27FC236}">
                    <a16:creationId xmlns:a16="http://schemas.microsoft.com/office/drawing/2014/main" id="{F6D8BDA5-1B00-E95C-AD7C-65B3F8FDF26E}"/>
                  </a:ext>
                </a:extLst>
              </p:cNvPr>
              <p:cNvSpPr txBox="1"/>
              <p:nvPr/>
            </p:nvSpPr>
            <p:spPr>
              <a:xfrm>
                <a:off x="10423654" y="1835399"/>
                <a:ext cx="116205" cy="307777"/>
              </a:xfrm>
              <a:prstGeom prst="rect">
                <a:avLst/>
              </a:prstGeom>
              <a:noFill/>
            </p:spPr>
            <p:txBody>
              <a:bodyPr wrap="square" rtlCol="0">
                <a:spAutoFit/>
              </a:bodyPr>
              <a:lstStyle/>
              <a:p>
                <a:r>
                  <a:rPr lang="en-IN" sz="1400" dirty="0"/>
                  <a:t>1</a:t>
                </a:r>
              </a:p>
            </p:txBody>
          </p:sp>
          <p:sp>
            <p:nvSpPr>
              <p:cNvPr id="14" name="TextBox 13">
                <a:extLst>
                  <a:ext uri="{FF2B5EF4-FFF2-40B4-BE49-F238E27FC236}">
                    <a16:creationId xmlns:a16="http://schemas.microsoft.com/office/drawing/2014/main" id="{B781908A-D6DF-F8C4-8C5D-288EFB825ECF}"/>
                  </a:ext>
                </a:extLst>
              </p:cNvPr>
              <p:cNvSpPr txBox="1"/>
              <p:nvPr/>
            </p:nvSpPr>
            <p:spPr>
              <a:xfrm>
                <a:off x="10883629" y="1820753"/>
                <a:ext cx="116205" cy="307777"/>
              </a:xfrm>
              <a:prstGeom prst="rect">
                <a:avLst/>
              </a:prstGeom>
              <a:noFill/>
            </p:spPr>
            <p:txBody>
              <a:bodyPr wrap="square" rtlCol="0">
                <a:spAutoFit/>
              </a:bodyPr>
              <a:lstStyle/>
              <a:p>
                <a:r>
                  <a:rPr lang="en-IN" sz="1400" dirty="0"/>
                  <a:t>2</a:t>
                </a:r>
              </a:p>
            </p:txBody>
          </p:sp>
          <p:sp>
            <p:nvSpPr>
              <p:cNvPr id="16" name="TextBox 15">
                <a:extLst>
                  <a:ext uri="{FF2B5EF4-FFF2-40B4-BE49-F238E27FC236}">
                    <a16:creationId xmlns:a16="http://schemas.microsoft.com/office/drawing/2014/main" id="{A3196044-B62E-68F4-3774-5C0D9A908180}"/>
                  </a:ext>
                </a:extLst>
              </p:cNvPr>
              <p:cNvSpPr txBox="1"/>
              <p:nvPr/>
            </p:nvSpPr>
            <p:spPr>
              <a:xfrm>
                <a:off x="11343604" y="1822132"/>
                <a:ext cx="116205" cy="307777"/>
              </a:xfrm>
              <a:prstGeom prst="rect">
                <a:avLst/>
              </a:prstGeom>
              <a:noFill/>
            </p:spPr>
            <p:txBody>
              <a:bodyPr wrap="square" rtlCol="0">
                <a:spAutoFit/>
              </a:bodyPr>
              <a:lstStyle/>
              <a:p>
                <a:r>
                  <a:rPr lang="en-IN" sz="1400" dirty="0"/>
                  <a:t>3</a:t>
                </a:r>
              </a:p>
            </p:txBody>
          </p:sp>
        </p:grpSp>
      </p:grpSp>
      <p:grpSp>
        <p:nvGrpSpPr>
          <p:cNvPr id="55" name="Group 54">
            <a:extLst>
              <a:ext uri="{FF2B5EF4-FFF2-40B4-BE49-F238E27FC236}">
                <a16:creationId xmlns:a16="http://schemas.microsoft.com/office/drawing/2014/main" id="{F6AF43BF-1C07-A65F-7DE9-DC8BF9B28633}"/>
              </a:ext>
            </a:extLst>
          </p:cNvPr>
          <p:cNvGrpSpPr/>
          <p:nvPr/>
        </p:nvGrpSpPr>
        <p:grpSpPr>
          <a:xfrm>
            <a:off x="9563924" y="2413469"/>
            <a:ext cx="2286000" cy="1364179"/>
            <a:chOff x="9563924" y="2413469"/>
            <a:chExt cx="2286000" cy="1364179"/>
          </a:xfrm>
        </p:grpSpPr>
        <p:grpSp>
          <p:nvGrpSpPr>
            <p:cNvPr id="36" name="Group 35"/>
            <p:cNvGrpSpPr/>
            <p:nvPr/>
          </p:nvGrpSpPr>
          <p:grpSpPr>
            <a:xfrm>
              <a:off x="9563924" y="2413469"/>
              <a:ext cx="2286000" cy="1306320"/>
              <a:chOff x="239486" y="2480130"/>
              <a:chExt cx="2286000" cy="1306320"/>
            </a:xfrm>
          </p:grpSpPr>
          <p:grpSp>
            <p:nvGrpSpPr>
              <p:cNvPr id="7" name="Group 6"/>
              <p:cNvGrpSpPr/>
              <p:nvPr/>
            </p:nvGrpSpPr>
            <p:grpSpPr>
              <a:xfrm>
                <a:off x="500744" y="3176850"/>
                <a:ext cx="1828800" cy="381000"/>
                <a:chOff x="381000" y="1219200"/>
                <a:chExt cx="1828800" cy="381000"/>
              </a:xfrm>
            </p:grpSpPr>
            <p:sp>
              <p:nvSpPr>
                <p:cNvPr id="8" name="Rectangle 7"/>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a:t>
                  </a:r>
                  <a:endParaRPr lang="en-US" b="1" dirty="0"/>
                </a:p>
              </p:txBody>
            </p:sp>
            <p:sp>
              <p:nvSpPr>
                <p:cNvPr id="11" name="Rectangle 10"/>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15</a:t>
                  </a:r>
                  <a:endParaRPr lang="en-US" b="1" dirty="0"/>
                </a:p>
              </p:txBody>
            </p:sp>
          </p:grpSp>
          <p:cxnSp>
            <p:nvCxnSpPr>
              <p:cNvPr id="13" name="Straight Connector 12"/>
              <p:cNvCxnSpPr>
                <a:stCxn id="11" idx="3"/>
              </p:cNvCxnSpPr>
              <p:nvPr/>
            </p:nvCxnSpPr>
            <p:spPr>
              <a:xfrm>
                <a:off x="2329544" y="3367350"/>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15" name="Straight Connector 14"/>
              <p:cNvCxnSpPr/>
              <p:nvPr/>
            </p:nvCxnSpPr>
            <p:spPr>
              <a:xfrm>
                <a:off x="2514602" y="3367350"/>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17" name="Straight Connector 16"/>
              <p:cNvCxnSpPr/>
              <p:nvPr/>
            </p:nvCxnSpPr>
            <p:spPr>
              <a:xfrm flipH="1">
                <a:off x="239486" y="3786450"/>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21" name="Straight Connector 20"/>
              <p:cNvCxnSpPr/>
              <p:nvPr/>
            </p:nvCxnSpPr>
            <p:spPr>
              <a:xfrm flipV="1">
                <a:off x="239486" y="3367350"/>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23" name="Straight Arrow Connector 22"/>
              <p:cNvCxnSpPr/>
              <p:nvPr/>
            </p:nvCxnSpPr>
            <p:spPr>
              <a:xfrm>
                <a:off x="239486" y="3367350"/>
                <a:ext cx="261258"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grpSp>
            <p:nvGrpSpPr>
              <p:cNvPr id="31" name="Group 30"/>
              <p:cNvGrpSpPr/>
              <p:nvPr/>
            </p:nvGrpSpPr>
            <p:grpSpPr>
              <a:xfrm>
                <a:off x="1937650" y="2480142"/>
                <a:ext cx="314510" cy="680083"/>
                <a:chOff x="1937650" y="5094504"/>
                <a:chExt cx="314510" cy="680083"/>
              </a:xfrm>
            </p:grpSpPr>
            <p:sp>
              <p:nvSpPr>
                <p:cNvPr id="24" name="TextBox 23"/>
                <p:cNvSpPr txBox="1"/>
                <p:nvPr/>
              </p:nvSpPr>
              <p:spPr>
                <a:xfrm>
                  <a:off x="1937650" y="5094504"/>
                  <a:ext cx="314510" cy="369332"/>
                </a:xfrm>
                <a:prstGeom prst="rect">
                  <a:avLst/>
                </a:prstGeom>
                <a:noFill/>
                <a:ln>
                  <a:noFill/>
                </a:ln>
              </p:spPr>
              <p:txBody>
                <a:bodyPr wrap="none" rtlCol="0">
                  <a:spAutoFit/>
                </a:bodyPr>
                <a:lstStyle/>
                <a:p>
                  <a:r>
                    <a:rPr lang="en-IN" b="1" dirty="0">
                      <a:solidFill>
                        <a:srgbClr val="C00000"/>
                      </a:solidFill>
                    </a:rPr>
                    <a:t>R</a:t>
                  </a:r>
                  <a:endParaRPr lang="en-US" b="1" dirty="0">
                    <a:solidFill>
                      <a:srgbClr val="C00000"/>
                    </a:solidFill>
                  </a:endParaRPr>
                </a:p>
              </p:txBody>
            </p:sp>
            <p:cxnSp>
              <p:nvCxnSpPr>
                <p:cNvPr id="28" name="Straight Arrow Connector 27"/>
                <p:cNvCxnSpPr>
                  <a:stCxn id="24" idx="2"/>
                  <a:endCxn id="11" idx="0"/>
                </p:cNvCxnSpPr>
                <p:nvPr/>
              </p:nvCxnSpPr>
              <p:spPr>
                <a:xfrm>
                  <a:off x="2094905" y="5463836"/>
                  <a:ext cx="6039" cy="3107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32" name="Group 31"/>
              <p:cNvGrpSpPr/>
              <p:nvPr/>
            </p:nvGrpSpPr>
            <p:grpSpPr>
              <a:xfrm>
                <a:off x="1490955" y="2480130"/>
                <a:ext cx="293670" cy="696708"/>
                <a:chOff x="1936047" y="5094504"/>
                <a:chExt cx="293670" cy="696708"/>
              </a:xfrm>
            </p:grpSpPr>
            <p:sp>
              <p:nvSpPr>
                <p:cNvPr id="33" name="TextBox 32"/>
                <p:cNvSpPr txBox="1"/>
                <p:nvPr/>
              </p:nvSpPr>
              <p:spPr>
                <a:xfrm>
                  <a:off x="1936047" y="5094504"/>
                  <a:ext cx="293670" cy="369332"/>
                </a:xfrm>
                <a:prstGeom prst="rect">
                  <a:avLst/>
                </a:prstGeom>
                <a:noFill/>
                <a:ln>
                  <a:noFill/>
                </a:ln>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34" name="Straight Arrow Connector 33"/>
                <p:cNvCxnSpPr>
                  <a:stCxn id="33" idx="2"/>
                </p:cNvCxnSpPr>
                <p:nvPr/>
              </p:nvCxnSpPr>
              <p:spPr>
                <a:xfrm>
                  <a:off x="2082882" y="5463836"/>
                  <a:ext cx="18062" cy="32737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grpSp>
          <p:nvGrpSpPr>
            <p:cNvPr id="19" name="Group 18">
              <a:extLst>
                <a:ext uri="{FF2B5EF4-FFF2-40B4-BE49-F238E27FC236}">
                  <a16:creationId xmlns:a16="http://schemas.microsoft.com/office/drawing/2014/main" id="{2C7280BF-A3AE-F97D-4211-71DD24FD7A6C}"/>
                </a:ext>
              </a:extLst>
            </p:cNvPr>
            <p:cNvGrpSpPr/>
            <p:nvPr/>
          </p:nvGrpSpPr>
          <p:grpSpPr>
            <a:xfrm>
              <a:off x="9931490" y="3455225"/>
              <a:ext cx="1506640" cy="322423"/>
              <a:chOff x="9953169" y="1820753"/>
              <a:chExt cx="1506640" cy="322423"/>
            </a:xfrm>
          </p:grpSpPr>
          <p:sp>
            <p:nvSpPr>
              <p:cNvPr id="20" name="TextBox 19">
                <a:extLst>
                  <a:ext uri="{FF2B5EF4-FFF2-40B4-BE49-F238E27FC236}">
                    <a16:creationId xmlns:a16="http://schemas.microsoft.com/office/drawing/2014/main" id="{027F710A-F154-C57A-4640-3A0C33E39A23}"/>
                  </a:ext>
                </a:extLst>
              </p:cNvPr>
              <p:cNvSpPr txBox="1"/>
              <p:nvPr/>
            </p:nvSpPr>
            <p:spPr>
              <a:xfrm>
                <a:off x="9953169" y="1834021"/>
                <a:ext cx="116205" cy="307777"/>
              </a:xfrm>
              <a:prstGeom prst="rect">
                <a:avLst/>
              </a:prstGeom>
              <a:noFill/>
            </p:spPr>
            <p:txBody>
              <a:bodyPr wrap="square" rtlCol="0">
                <a:spAutoFit/>
              </a:bodyPr>
              <a:lstStyle/>
              <a:p>
                <a:r>
                  <a:rPr lang="en-IN" sz="1400" dirty="0"/>
                  <a:t>0</a:t>
                </a:r>
              </a:p>
            </p:txBody>
          </p:sp>
          <p:sp>
            <p:nvSpPr>
              <p:cNvPr id="22" name="TextBox 21">
                <a:extLst>
                  <a:ext uri="{FF2B5EF4-FFF2-40B4-BE49-F238E27FC236}">
                    <a16:creationId xmlns:a16="http://schemas.microsoft.com/office/drawing/2014/main" id="{F0F2BCA0-EACA-5013-AD39-42DED0F1A7A3}"/>
                  </a:ext>
                </a:extLst>
              </p:cNvPr>
              <p:cNvSpPr txBox="1"/>
              <p:nvPr/>
            </p:nvSpPr>
            <p:spPr>
              <a:xfrm>
                <a:off x="10423654" y="1835399"/>
                <a:ext cx="116205" cy="307777"/>
              </a:xfrm>
              <a:prstGeom prst="rect">
                <a:avLst/>
              </a:prstGeom>
              <a:noFill/>
            </p:spPr>
            <p:txBody>
              <a:bodyPr wrap="square" rtlCol="0">
                <a:spAutoFit/>
              </a:bodyPr>
              <a:lstStyle/>
              <a:p>
                <a:r>
                  <a:rPr lang="en-IN" sz="1400" dirty="0"/>
                  <a:t>1</a:t>
                </a:r>
              </a:p>
            </p:txBody>
          </p:sp>
          <p:sp>
            <p:nvSpPr>
              <p:cNvPr id="25" name="TextBox 24">
                <a:extLst>
                  <a:ext uri="{FF2B5EF4-FFF2-40B4-BE49-F238E27FC236}">
                    <a16:creationId xmlns:a16="http://schemas.microsoft.com/office/drawing/2014/main" id="{AE315C64-F26E-53AE-BAC5-F1ED22BA529F}"/>
                  </a:ext>
                </a:extLst>
              </p:cNvPr>
              <p:cNvSpPr txBox="1"/>
              <p:nvPr/>
            </p:nvSpPr>
            <p:spPr>
              <a:xfrm>
                <a:off x="10883629" y="1820753"/>
                <a:ext cx="116205" cy="307777"/>
              </a:xfrm>
              <a:prstGeom prst="rect">
                <a:avLst/>
              </a:prstGeom>
              <a:noFill/>
            </p:spPr>
            <p:txBody>
              <a:bodyPr wrap="square" rtlCol="0">
                <a:spAutoFit/>
              </a:bodyPr>
              <a:lstStyle/>
              <a:p>
                <a:r>
                  <a:rPr lang="en-IN" sz="1400" dirty="0"/>
                  <a:t>2</a:t>
                </a:r>
              </a:p>
            </p:txBody>
          </p:sp>
          <p:sp>
            <p:nvSpPr>
              <p:cNvPr id="26" name="TextBox 25">
                <a:extLst>
                  <a:ext uri="{FF2B5EF4-FFF2-40B4-BE49-F238E27FC236}">
                    <a16:creationId xmlns:a16="http://schemas.microsoft.com/office/drawing/2014/main" id="{D8AECA99-FE43-3EA3-01B5-9ED838E0060D}"/>
                  </a:ext>
                </a:extLst>
              </p:cNvPr>
              <p:cNvSpPr txBox="1"/>
              <p:nvPr/>
            </p:nvSpPr>
            <p:spPr>
              <a:xfrm>
                <a:off x="11343604" y="1822132"/>
                <a:ext cx="116205" cy="307777"/>
              </a:xfrm>
              <a:prstGeom prst="rect">
                <a:avLst/>
              </a:prstGeom>
              <a:noFill/>
            </p:spPr>
            <p:txBody>
              <a:bodyPr wrap="square" rtlCol="0">
                <a:spAutoFit/>
              </a:bodyPr>
              <a:lstStyle/>
              <a:p>
                <a:r>
                  <a:rPr lang="en-IN" sz="1400" dirty="0"/>
                  <a:t>3</a:t>
                </a:r>
              </a:p>
            </p:txBody>
          </p:sp>
        </p:grpSp>
      </p:grpSp>
      <p:grpSp>
        <p:nvGrpSpPr>
          <p:cNvPr id="38" name="Group 37"/>
          <p:cNvGrpSpPr/>
          <p:nvPr/>
        </p:nvGrpSpPr>
        <p:grpSpPr>
          <a:xfrm>
            <a:off x="9792524" y="4989341"/>
            <a:ext cx="1828800" cy="381000"/>
            <a:chOff x="381000" y="1219200"/>
            <a:chExt cx="1828800" cy="381000"/>
          </a:xfrm>
        </p:grpSpPr>
        <p:sp>
          <p:nvSpPr>
            <p:cNvPr id="50" name="Rectangle 49"/>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51" name="Rectangle 50"/>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52" name="Rectangle 51"/>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8</a:t>
              </a:r>
            </a:p>
          </p:txBody>
        </p:sp>
        <p:sp>
          <p:nvSpPr>
            <p:cNvPr id="53" name="Rectangle 52"/>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15</a:t>
              </a:r>
            </a:p>
          </p:txBody>
        </p:sp>
      </p:grpSp>
      <p:grpSp>
        <p:nvGrpSpPr>
          <p:cNvPr id="44" name="Group 43"/>
          <p:cNvGrpSpPr/>
          <p:nvPr/>
        </p:nvGrpSpPr>
        <p:grpSpPr>
          <a:xfrm>
            <a:off x="11244451" y="4309002"/>
            <a:ext cx="314510" cy="680083"/>
            <a:chOff x="1937650" y="5094504"/>
            <a:chExt cx="314510" cy="680083"/>
          </a:xfrm>
        </p:grpSpPr>
        <p:sp>
          <p:nvSpPr>
            <p:cNvPr id="48" name="TextBox 47"/>
            <p:cNvSpPr txBox="1"/>
            <p:nvPr/>
          </p:nvSpPr>
          <p:spPr>
            <a:xfrm>
              <a:off x="1937650" y="5094504"/>
              <a:ext cx="314510" cy="369332"/>
            </a:xfrm>
            <a:prstGeom prst="rect">
              <a:avLst/>
            </a:prstGeom>
            <a:noFill/>
          </p:spPr>
          <p:txBody>
            <a:bodyPr wrap="none" rtlCol="0">
              <a:spAutoFit/>
            </a:bodyPr>
            <a:lstStyle/>
            <a:p>
              <a:r>
                <a:rPr lang="en-IN" b="1" dirty="0">
                  <a:solidFill>
                    <a:srgbClr val="C00000"/>
                  </a:solidFill>
                </a:rPr>
                <a:t>R</a:t>
              </a:r>
              <a:endParaRPr lang="en-US" b="1" dirty="0">
                <a:solidFill>
                  <a:srgbClr val="C00000"/>
                </a:solidFill>
              </a:endParaRPr>
            </a:p>
          </p:txBody>
        </p:sp>
        <p:cxnSp>
          <p:nvCxnSpPr>
            <p:cNvPr id="49" name="Straight Arrow Connector 48"/>
            <p:cNvCxnSpPr>
              <a:stCxn id="48" idx="2"/>
              <a:endCxn id="53" idx="0"/>
            </p:cNvCxnSpPr>
            <p:nvPr/>
          </p:nvCxnSpPr>
          <p:spPr>
            <a:xfrm>
              <a:off x="2094905" y="5463836"/>
              <a:ext cx="6039" cy="3107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80" name="Group 79">
            <a:extLst>
              <a:ext uri="{FF2B5EF4-FFF2-40B4-BE49-F238E27FC236}">
                <a16:creationId xmlns:a16="http://schemas.microsoft.com/office/drawing/2014/main" id="{C518D7A6-1ADD-2521-3D86-0AE7EC7B97EA}"/>
              </a:ext>
            </a:extLst>
          </p:cNvPr>
          <p:cNvGrpSpPr/>
          <p:nvPr/>
        </p:nvGrpSpPr>
        <p:grpSpPr>
          <a:xfrm>
            <a:off x="9531266" y="4292377"/>
            <a:ext cx="2286000" cy="1353476"/>
            <a:chOff x="9531266" y="4292377"/>
            <a:chExt cx="2286000" cy="1353476"/>
          </a:xfrm>
        </p:grpSpPr>
        <p:cxnSp>
          <p:nvCxnSpPr>
            <p:cNvPr id="39" name="Straight Connector 38"/>
            <p:cNvCxnSpPr>
              <a:stCxn id="53" idx="3"/>
            </p:cNvCxnSpPr>
            <p:nvPr/>
          </p:nvCxnSpPr>
          <p:spPr>
            <a:xfrm>
              <a:off x="11621324" y="5179841"/>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40" name="Straight Connector 39"/>
            <p:cNvCxnSpPr/>
            <p:nvPr/>
          </p:nvCxnSpPr>
          <p:spPr>
            <a:xfrm>
              <a:off x="11806382" y="5179841"/>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41" name="Straight Connector 40"/>
            <p:cNvCxnSpPr/>
            <p:nvPr/>
          </p:nvCxnSpPr>
          <p:spPr>
            <a:xfrm flipH="1">
              <a:off x="9531266" y="5598941"/>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42" name="Straight Connector 41"/>
            <p:cNvCxnSpPr/>
            <p:nvPr/>
          </p:nvCxnSpPr>
          <p:spPr>
            <a:xfrm flipV="1">
              <a:off x="9531266" y="5179841"/>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43" name="Straight Arrow Connector 42"/>
            <p:cNvCxnSpPr>
              <a:endCxn id="50" idx="1"/>
            </p:cNvCxnSpPr>
            <p:nvPr/>
          </p:nvCxnSpPr>
          <p:spPr>
            <a:xfrm>
              <a:off x="9531266" y="5179841"/>
              <a:ext cx="261258"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grpSp>
          <p:nvGrpSpPr>
            <p:cNvPr id="45" name="Group 44"/>
            <p:cNvGrpSpPr/>
            <p:nvPr/>
          </p:nvGrpSpPr>
          <p:grpSpPr>
            <a:xfrm>
              <a:off x="10772758" y="4292377"/>
              <a:ext cx="293670" cy="696708"/>
              <a:chOff x="1936047" y="5094504"/>
              <a:chExt cx="293670" cy="696708"/>
            </a:xfrm>
          </p:grpSpPr>
          <p:sp>
            <p:nvSpPr>
              <p:cNvPr id="46" name="TextBox 45"/>
              <p:cNvSpPr txBox="1"/>
              <p:nvPr/>
            </p:nvSpPr>
            <p:spPr>
              <a:xfrm>
                <a:off x="1936047" y="5094504"/>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47" name="Straight Arrow Connector 46"/>
              <p:cNvCxnSpPr>
                <a:stCxn id="46" idx="2"/>
              </p:cNvCxnSpPr>
              <p:nvPr/>
            </p:nvCxnSpPr>
            <p:spPr>
              <a:xfrm>
                <a:off x="2082882" y="5463836"/>
                <a:ext cx="18062" cy="32737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27" name="Group 26">
              <a:extLst>
                <a:ext uri="{FF2B5EF4-FFF2-40B4-BE49-F238E27FC236}">
                  <a16:creationId xmlns:a16="http://schemas.microsoft.com/office/drawing/2014/main" id="{C78D0C84-FDEB-60A5-C111-0FCC63878546}"/>
                </a:ext>
              </a:extLst>
            </p:cNvPr>
            <p:cNvGrpSpPr/>
            <p:nvPr/>
          </p:nvGrpSpPr>
          <p:grpSpPr>
            <a:xfrm>
              <a:off x="9931490" y="5323430"/>
              <a:ext cx="1506640" cy="322423"/>
              <a:chOff x="9953169" y="1820753"/>
              <a:chExt cx="1506640" cy="322423"/>
            </a:xfrm>
          </p:grpSpPr>
          <p:sp>
            <p:nvSpPr>
              <p:cNvPr id="29" name="TextBox 28">
                <a:extLst>
                  <a:ext uri="{FF2B5EF4-FFF2-40B4-BE49-F238E27FC236}">
                    <a16:creationId xmlns:a16="http://schemas.microsoft.com/office/drawing/2014/main" id="{28433936-5ECF-5483-A218-64DC51C9556F}"/>
                  </a:ext>
                </a:extLst>
              </p:cNvPr>
              <p:cNvSpPr txBox="1"/>
              <p:nvPr/>
            </p:nvSpPr>
            <p:spPr>
              <a:xfrm>
                <a:off x="9953169" y="1834021"/>
                <a:ext cx="116205" cy="307777"/>
              </a:xfrm>
              <a:prstGeom prst="rect">
                <a:avLst/>
              </a:prstGeom>
              <a:noFill/>
            </p:spPr>
            <p:txBody>
              <a:bodyPr wrap="square" rtlCol="0">
                <a:spAutoFit/>
              </a:bodyPr>
              <a:lstStyle/>
              <a:p>
                <a:r>
                  <a:rPr lang="en-IN" sz="1400" dirty="0"/>
                  <a:t>0</a:t>
                </a:r>
              </a:p>
            </p:txBody>
          </p:sp>
          <p:sp>
            <p:nvSpPr>
              <p:cNvPr id="30" name="TextBox 29">
                <a:extLst>
                  <a:ext uri="{FF2B5EF4-FFF2-40B4-BE49-F238E27FC236}">
                    <a16:creationId xmlns:a16="http://schemas.microsoft.com/office/drawing/2014/main" id="{F1EBF08B-6DC3-0829-DD50-1D30F38888B4}"/>
                  </a:ext>
                </a:extLst>
              </p:cNvPr>
              <p:cNvSpPr txBox="1"/>
              <p:nvPr/>
            </p:nvSpPr>
            <p:spPr>
              <a:xfrm>
                <a:off x="10423654" y="1835399"/>
                <a:ext cx="116205" cy="307777"/>
              </a:xfrm>
              <a:prstGeom prst="rect">
                <a:avLst/>
              </a:prstGeom>
              <a:noFill/>
            </p:spPr>
            <p:txBody>
              <a:bodyPr wrap="square" rtlCol="0">
                <a:spAutoFit/>
              </a:bodyPr>
              <a:lstStyle/>
              <a:p>
                <a:r>
                  <a:rPr lang="en-IN" sz="1400" dirty="0"/>
                  <a:t>1</a:t>
                </a:r>
              </a:p>
            </p:txBody>
          </p:sp>
          <p:sp>
            <p:nvSpPr>
              <p:cNvPr id="35" name="TextBox 34">
                <a:extLst>
                  <a:ext uri="{FF2B5EF4-FFF2-40B4-BE49-F238E27FC236}">
                    <a16:creationId xmlns:a16="http://schemas.microsoft.com/office/drawing/2014/main" id="{ABB09E12-EFBD-E594-0370-4B349CB86F26}"/>
                  </a:ext>
                </a:extLst>
              </p:cNvPr>
              <p:cNvSpPr txBox="1"/>
              <p:nvPr/>
            </p:nvSpPr>
            <p:spPr>
              <a:xfrm>
                <a:off x="10883629" y="1820753"/>
                <a:ext cx="116205" cy="307777"/>
              </a:xfrm>
              <a:prstGeom prst="rect">
                <a:avLst/>
              </a:prstGeom>
              <a:noFill/>
            </p:spPr>
            <p:txBody>
              <a:bodyPr wrap="square" rtlCol="0">
                <a:spAutoFit/>
              </a:bodyPr>
              <a:lstStyle/>
              <a:p>
                <a:r>
                  <a:rPr lang="en-IN" sz="1400" dirty="0"/>
                  <a:t>2</a:t>
                </a:r>
              </a:p>
            </p:txBody>
          </p:sp>
          <p:sp>
            <p:nvSpPr>
              <p:cNvPr id="37" name="TextBox 36">
                <a:extLst>
                  <a:ext uri="{FF2B5EF4-FFF2-40B4-BE49-F238E27FC236}">
                    <a16:creationId xmlns:a16="http://schemas.microsoft.com/office/drawing/2014/main" id="{025B4404-DB36-DB4F-D9F5-0579B9B460FA}"/>
                  </a:ext>
                </a:extLst>
              </p:cNvPr>
              <p:cNvSpPr txBox="1"/>
              <p:nvPr/>
            </p:nvSpPr>
            <p:spPr>
              <a:xfrm>
                <a:off x="11343604" y="1822132"/>
                <a:ext cx="116205" cy="307777"/>
              </a:xfrm>
              <a:prstGeom prst="rect">
                <a:avLst/>
              </a:prstGeom>
              <a:noFill/>
            </p:spPr>
            <p:txBody>
              <a:bodyPr wrap="square" rtlCol="0">
                <a:spAutoFit/>
              </a:bodyPr>
              <a:lstStyle/>
              <a:p>
                <a:r>
                  <a:rPr lang="en-IN" sz="1400" dirty="0"/>
                  <a:t>3</a:t>
                </a:r>
              </a:p>
            </p:txBody>
          </p:sp>
        </p:grpSp>
      </p:grpSp>
      <p:sp>
        <p:nvSpPr>
          <p:cNvPr id="75" name="TextBox 74">
            <a:extLst>
              <a:ext uri="{FF2B5EF4-FFF2-40B4-BE49-F238E27FC236}">
                <a16:creationId xmlns:a16="http://schemas.microsoft.com/office/drawing/2014/main" id="{9CF3CC3D-DB8F-2118-B185-E668A5081B27}"/>
              </a:ext>
            </a:extLst>
          </p:cNvPr>
          <p:cNvSpPr txBox="1"/>
          <p:nvPr/>
        </p:nvSpPr>
        <p:spPr>
          <a:xfrm>
            <a:off x="7479968" y="1627897"/>
            <a:ext cx="1766830" cy="492443"/>
          </a:xfrm>
          <a:prstGeom prst="rect">
            <a:avLst/>
          </a:prstGeom>
          <a:noFill/>
        </p:spPr>
        <p:txBody>
          <a:bodyPr wrap="none" rtlCol="0">
            <a:spAutoFit/>
          </a:bodyPr>
          <a:lstStyle/>
          <a:p>
            <a:r>
              <a:rPr lang="en-IN" sz="2600" b="1" dirty="0">
                <a:solidFill>
                  <a:srgbClr val="C00000"/>
                </a:solidFill>
                <a:highlight>
                  <a:srgbClr val="FFFF00"/>
                </a:highlight>
              </a:rPr>
              <a:t>(3+1)%4 = 0</a:t>
            </a:r>
          </a:p>
        </p:txBody>
      </p:sp>
      <p:sp>
        <p:nvSpPr>
          <p:cNvPr id="76" name="TextBox 75">
            <a:extLst>
              <a:ext uri="{FF2B5EF4-FFF2-40B4-BE49-F238E27FC236}">
                <a16:creationId xmlns:a16="http://schemas.microsoft.com/office/drawing/2014/main" id="{1F50DCEE-A2FA-EBC6-513C-23366E58799F}"/>
              </a:ext>
            </a:extLst>
          </p:cNvPr>
          <p:cNvSpPr txBox="1"/>
          <p:nvPr/>
        </p:nvSpPr>
        <p:spPr>
          <a:xfrm>
            <a:off x="9803497" y="1928009"/>
            <a:ext cx="1782860" cy="492443"/>
          </a:xfrm>
          <a:prstGeom prst="rect">
            <a:avLst/>
          </a:prstGeom>
          <a:noFill/>
        </p:spPr>
        <p:txBody>
          <a:bodyPr wrap="none" rtlCol="0">
            <a:spAutoFit/>
          </a:bodyPr>
          <a:lstStyle/>
          <a:p>
            <a:r>
              <a:rPr lang="en-IN" sz="2600" b="1" dirty="0">
                <a:solidFill>
                  <a:srgbClr val="C00000"/>
                </a:solidFill>
                <a:highlight>
                  <a:srgbClr val="FFFF00"/>
                </a:highlight>
              </a:rPr>
              <a:t>R = (3+1)%4</a:t>
            </a:r>
          </a:p>
        </p:txBody>
      </p:sp>
      <p:grpSp>
        <p:nvGrpSpPr>
          <p:cNvPr id="77" name="Group 76">
            <a:extLst>
              <a:ext uri="{FF2B5EF4-FFF2-40B4-BE49-F238E27FC236}">
                <a16:creationId xmlns:a16="http://schemas.microsoft.com/office/drawing/2014/main" id="{BDAE9A23-24E7-2647-851E-791AA1E9618A}"/>
              </a:ext>
            </a:extLst>
          </p:cNvPr>
          <p:cNvGrpSpPr/>
          <p:nvPr/>
        </p:nvGrpSpPr>
        <p:grpSpPr>
          <a:xfrm>
            <a:off x="9854016" y="4292377"/>
            <a:ext cx="314510" cy="680083"/>
            <a:chOff x="1937650" y="5094504"/>
            <a:chExt cx="314510" cy="680083"/>
          </a:xfrm>
        </p:grpSpPr>
        <p:sp>
          <p:nvSpPr>
            <p:cNvPr id="78" name="TextBox 77">
              <a:extLst>
                <a:ext uri="{FF2B5EF4-FFF2-40B4-BE49-F238E27FC236}">
                  <a16:creationId xmlns:a16="http://schemas.microsoft.com/office/drawing/2014/main" id="{CE32FE67-E00B-4A28-03A3-2C29BA4891D2}"/>
                </a:ext>
              </a:extLst>
            </p:cNvPr>
            <p:cNvSpPr txBox="1"/>
            <p:nvPr/>
          </p:nvSpPr>
          <p:spPr>
            <a:xfrm>
              <a:off x="1937650" y="5094504"/>
              <a:ext cx="314510" cy="369332"/>
            </a:xfrm>
            <a:prstGeom prst="rect">
              <a:avLst/>
            </a:prstGeom>
            <a:noFill/>
          </p:spPr>
          <p:txBody>
            <a:bodyPr wrap="none" rtlCol="0">
              <a:spAutoFit/>
            </a:bodyPr>
            <a:lstStyle/>
            <a:p>
              <a:r>
                <a:rPr lang="en-IN" b="1" dirty="0">
                  <a:solidFill>
                    <a:srgbClr val="C00000"/>
                  </a:solidFill>
                </a:rPr>
                <a:t>R</a:t>
              </a:r>
              <a:endParaRPr lang="en-US" b="1" dirty="0">
                <a:solidFill>
                  <a:srgbClr val="C00000"/>
                </a:solidFill>
              </a:endParaRPr>
            </a:p>
          </p:txBody>
        </p:sp>
        <p:cxnSp>
          <p:nvCxnSpPr>
            <p:cNvPr id="79" name="Straight Arrow Connector 78">
              <a:extLst>
                <a:ext uri="{FF2B5EF4-FFF2-40B4-BE49-F238E27FC236}">
                  <a16:creationId xmlns:a16="http://schemas.microsoft.com/office/drawing/2014/main" id="{5DAE479D-2AEF-F111-CC2A-E0B7B6D31B27}"/>
                </a:ext>
              </a:extLst>
            </p:cNvPr>
            <p:cNvCxnSpPr>
              <a:stCxn id="78" idx="2"/>
            </p:cNvCxnSpPr>
            <p:nvPr/>
          </p:nvCxnSpPr>
          <p:spPr>
            <a:xfrm>
              <a:off x="2094905" y="5463836"/>
              <a:ext cx="6039" cy="3107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81" name="TextBox 80">
            <a:extLst>
              <a:ext uri="{FF2B5EF4-FFF2-40B4-BE49-F238E27FC236}">
                <a16:creationId xmlns:a16="http://schemas.microsoft.com/office/drawing/2014/main" id="{AE76EA01-F324-586B-B79F-CB3457575197}"/>
              </a:ext>
            </a:extLst>
          </p:cNvPr>
          <p:cNvSpPr txBox="1"/>
          <p:nvPr/>
        </p:nvSpPr>
        <p:spPr>
          <a:xfrm>
            <a:off x="9838343" y="5005070"/>
            <a:ext cx="418704" cy="369332"/>
          </a:xfrm>
          <a:prstGeom prst="rect">
            <a:avLst/>
          </a:prstGeom>
          <a:noFill/>
        </p:spPr>
        <p:txBody>
          <a:bodyPr wrap="none" rtlCol="0">
            <a:spAutoFit/>
          </a:bodyPr>
          <a:lstStyle/>
          <a:p>
            <a:r>
              <a:rPr lang="en-IN" b="1" dirty="0">
                <a:solidFill>
                  <a:schemeClr val="lt1"/>
                </a:solidFill>
              </a:rPr>
              <a:t>10</a:t>
            </a:r>
          </a:p>
        </p:txBody>
      </p:sp>
      <p:sp>
        <p:nvSpPr>
          <p:cNvPr id="82" name="TextBox 81">
            <a:extLst>
              <a:ext uri="{FF2B5EF4-FFF2-40B4-BE49-F238E27FC236}">
                <a16:creationId xmlns:a16="http://schemas.microsoft.com/office/drawing/2014/main" id="{A63F6879-FF54-9889-91E5-CED942DD79F8}"/>
              </a:ext>
            </a:extLst>
          </p:cNvPr>
          <p:cNvSpPr txBox="1"/>
          <p:nvPr/>
        </p:nvSpPr>
        <p:spPr>
          <a:xfrm>
            <a:off x="7049214" y="2064618"/>
            <a:ext cx="2780493" cy="492443"/>
          </a:xfrm>
          <a:prstGeom prst="rect">
            <a:avLst/>
          </a:prstGeom>
          <a:noFill/>
        </p:spPr>
        <p:txBody>
          <a:bodyPr wrap="square" rtlCol="0">
            <a:spAutoFit/>
          </a:bodyPr>
          <a:lstStyle/>
          <a:p>
            <a:pPr algn="ctr"/>
            <a:r>
              <a:rPr lang="en-IN" sz="2600" b="1" dirty="0">
                <a:solidFill>
                  <a:srgbClr val="FF0000"/>
                </a:solidFill>
                <a:highlight>
                  <a:srgbClr val="FFFF00"/>
                </a:highlight>
              </a:rPr>
              <a:t>Overflow</a:t>
            </a:r>
          </a:p>
        </p:txBody>
      </p:sp>
    </p:spTree>
    <p:extLst>
      <p:ext uri="{BB962C8B-B14F-4D97-AF65-F5344CB8AC3E}">
        <p14:creationId xmlns:p14="http://schemas.microsoft.com/office/powerpoint/2010/main" val="585580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bg/>
                                          </p:spTgt>
                                        </p:tgtEl>
                                        <p:attrNameLst>
                                          <p:attrName>style.visibility</p:attrName>
                                        </p:attrNameLst>
                                      </p:cBhvr>
                                      <p:to>
                                        <p:strVal val="visible"/>
                                      </p:to>
                                    </p:set>
                                    <p:animEffect transition="in" filter="fade">
                                      <p:cBhvr>
                                        <p:cTn id="23" dur="500"/>
                                        <p:tgtEl>
                                          <p:spTgt spid="4">
                                            <p:bg/>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7" end="7"/>
                                            </p:txEl>
                                          </p:spTgt>
                                        </p:tgtEl>
                                        <p:attrNameLst>
                                          <p:attrName>style.visibility</p:attrName>
                                        </p:attrNameLst>
                                      </p:cBhvr>
                                      <p:to>
                                        <p:strVal val="visible"/>
                                      </p:to>
                                    </p:set>
                                    <p:animEffect transition="in" filter="fade">
                                      <p:cBhvr>
                                        <p:cTn id="26" dur="500"/>
                                        <p:tgtEl>
                                          <p:spTgt spid="4">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Effect transition="in" filter="fade">
                                      <p:cBhvr>
                                        <p:cTn id="31" dur="500"/>
                                        <p:tgtEl>
                                          <p:spTgt spid="4">
                                            <p:txEl>
                                              <p:pRg st="0" end="0"/>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
                                            <p:txEl>
                                              <p:pRg st="1" end="1"/>
                                            </p:txEl>
                                          </p:spTgt>
                                        </p:tgtEl>
                                        <p:attrNameLst>
                                          <p:attrName>style.visibility</p:attrName>
                                        </p:attrNameLst>
                                      </p:cBhvr>
                                      <p:to>
                                        <p:strVal val="visible"/>
                                      </p:to>
                                    </p:set>
                                    <p:animEffect transition="in" filter="fade">
                                      <p:cBhvr>
                                        <p:cTn id="34" dur="500"/>
                                        <p:tgtEl>
                                          <p:spTgt spid="4">
                                            <p:txEl>
                                              <p:pRg st="1" end="1"/>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animEffect transition="in" filter="fade">
                                      <p:cBhvr>
                                        <p:cTn id="37" dur="500"/>
                                        <p:tgtEl>
                                          <p:spTgt spid="4">
                                            <p:txEl>
                                              <p:pRg st="2" end="2"/>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3" end="3"/>
                                            </p:txEl>
                                          </p:spTgt>
                                        </p:tgtEl>
                                        <p:attrNameLst>
                                          <p:attrName>style.visibility</p:attrName>
                                        </p:attrNameLst>
                                      </p:cBhvr>
                                      <p:to>
                                        <p:strVal val="visible"/>
                                      </p:to>
                                    </p:set>
                                    <p:animEffect transition="in" filter="fade">
                                      <p:cBhvr>
                                        <p:cTn id="40" dur="500"/>
                                        <p:tgtEl>
                                          <p:spTgt spid="4">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74"/>
                                        </p:tgtEl>
                                        <p:attrNameLst>
                                          <p:attrName>style.visibility</p:attrName>
                                        </p:attrNameLst>
                                      </p:cBhvr>
                                      <p:to>
                                        <p:strVal val="visible"/>
                                      </p:to>
                                    </p:set>
                                    <p:animEffect transition="in" filter="fade">
                                      <p:cBhvr>
                                        <p:cTn id="45" dur="500"/>
                                        <p:tgtEl>
                                          <p:spTgt spid="7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75"/>
                                        </p:tgtEl>
                                        <p:attrNameLst>
                                          <p:attrName>style.visibility</p:attrName>
                                        </p:attrNameLst>
                                      </p:cBhvr>
                                      <p:to>
                                        <p:strVal val="visible"/>
                                      </p:to>
                                    </p:set>
                                    <p:animEffect transition="in" filter="fade">
                                      <p:cBhvr>
                                        <p:cTn id="50" dur="500"/>
                                        <p:tgtEl>
                                          <p:spTgt spid="7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82"/>
                                        </p:tgtEl>
                                        <p:attrNameLst>
                                          <p:attrName>style.visibility</p:attrName>
                                        </p:attrNameLst>
                                      </p:cBhvr>
                                      <p:to>
                                        <p:strVal val="visible"/>
                                      </p:to>
                                    </p:set>
                                    <p:animEffect transition="in" filter="fade">
                                      <p:cBhvr>
                                        <p:cTn id="55" dur="500"/>
                                        <p:tgtEl>
                                          <p:spTgt spid="8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55"/>
                                        </p:tgtEl>
                                        <p:attrNameLst>
                                          <p:attrName>style.visibility</p:attrName>
                                        </p:attrNameLst>
                                      </p:cBhvr>
                                      <p:to>
                                        <p:strVal val="visible"/>
                                      </p:to>
                                    </p:set>
                                    <p:animEffect transition="in" filter="fade">
                                      <p:cBhvr>
                                        <p:cTn id="60" dur="500"/>
                                        <p:tgtEl>
                                          <p:spTgt spid="55"/>
                                        </p:tgtEl>
                                      </p:cBhvr>
                                    </p:animEffect>
                                  </p:childTnLst>
                                </p:cTn>
                              </p:par>
                              <p:par>
                                <p:cTn id="61" presetID="1" presetClass="exit" presetSubtype="0" fill="hold" nodeType="withEffect">
                                  <p:stCondLst>
                                    <p:cond delay="0"/>
                                  </p:stCondLst>
                                  <p:childTnLst>
                                    <p:set>
                                      <p:cBhvr>
                                        <p:cTn id="62" dur="1" fill="hold">
                                          <p:stCondLst>
                                            <p:cond delay="0"/>
                                          </p:stCondLst>
                                        </p:cTn>
                                        <p:tgtEl>
                                          <p:spTgt spid="74"/>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75"/>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82"/>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4">
                                            <p:txEl>
                                              <p:pRg st="5" end="5"/>
                                            </p:txEl>
                                          </p:spTgt>
                                        </p:tgtEl>
                                        <p:attrNameLst>
                                          <p:attrName>style.visibility</p:attrName>
                                        </p:attrNameLst>
                                      </p:cBhvr>
                                      <p:to>
                                        <p:strVal val="visible"/>
                                      </p:to>
                                    </p:set>
                                    <p:animEffect transition="in" filter="fade">
                                      <p:cBhvr>
                                        <p:cTn id="71" dur="500"/>
                                        <p:tgtEl>
                                          <p:spTgt spid="4">
                                            <p:txEl>
                                              <p:pRg st="5" end="5"/>
                                            </p:txEl>
                                          </p:spTgt>
                                        </p:tgtEl>
                                      </p:cBhvr>
                                    </p:animEffect>
                                  </p:childTnLst>
                                </p:cTn>
                              </p:par>
                              <p:par>
                                <p:cTn id="72" presetID="10" presetClass="entr" presetSubtype="0" fill="hold" nodeType="withEffect">
                                  <p:stCondLst>
                                    <p:cond delay="0"/>
                                  </p:stCondLst>
                                  <p:childTnLst>
                                    <p:set>
                                      <p:cBhvr>
                                        <p:cTn id="73" dur="1" fill="hold">
                                          <p:stCondLst>
                                            <p:cond delay="0"/>
                                          </p:stCondLst>
                                        </p:cTn>
                                        <p:tgtEl>
                                          <p:spTgt spid="4">
                                            <p:txEl>
                                              <p:pRg st="6" end="6"/>
                                            </p:txEl>
                                          </p:spTgt>
                                        </p:tgtEl>
                                        <p:attrNameLst>
                                          <p:attrName>style.visibility</p:attrName>
                                        </p:attrNameLst>
                                      </p:cBhvr>
                                      <p:to>
                                        <p:strVal val="visible"/>
                                      </p:to>
                                    </p:set>
                                    <p:animEffect transition="in" filter="fade">
                                      <p:cBhvr>
                                        <p:cTn id="74" dur="500"/>
                                        <p:tgtEl>
                                          <p:spTgt spid="4">
                                            <p:txEl>
                                              <p:pRg st="6" end="6"/>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76"/>
                                        </p:tgtEl>
                                        <p:attrNameLst>
                                          <p:attrName>style.visibility</p:attrName>
                                        </p:attrNameLst>
                                      </p:cBhvr>
                                      <p:to>
                                        <p:strVal val="visible"/>
                                      </p:to>
                                    </p:set>
                                    <p:animEffect transition="in" filter="fade">
                                      <p:cBhvr>
                                        <p:cTn id="79" dur="500"/>
                                        <p:tgtEl>
                                          <p:spTgt spid="76"/>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38"/>
                                        </p:tgtEl>
                                        <p:attrNameLst>
                                          <p:attrName>style.visibility</p:attrName>
                                        </p:attrNameLst>
                                      </p:cBhvr>
                                      <p:to>
                                        <p:strVal val="visible"/>
                                      </p:to>
                                    </p:set>
                                    <p:animEffect transition="in" filter="fade">
                                      <p:cBhvr>
                                        <p:cTn id="84" dur="500"/>
                                        <p:tgtEl>
                                          <p:spTgt spid="38"/>
                                        </p:tgtEl>
                                      </p:cBhvr>
                                    </p:animEffect>
                                  </p:childTnLst>
                                </p:cTn>
                              </p:par>
                              <p:par>
                                <p:cTn id="85" presetID="10" presetClass="entr" presetSubtype="0" fill="hold" nodeType="withEffect">
                                  <p:stCondLst>
                                    <p:cond delay="0"/>
                                  </p:stCondLst>
                                  <p:childTnLst>
                                    <p:set>
                                      <p:cBhvr>
                                        <p:cTn id="86" dur="1" fill="hold">
                                          <p:stCondLst>
                                            <p:cond delay="0"/>
                                          </p:stCondLst>
                                        </p:cTn>
                                        <p:tgtEl>
                                          <p:spTgt spid="80"/>
                                        </p:tgtEl>
                                        <p:attrNameLst>
                                          <p:attrName>style.visibility</p:attrName>
                                        </p:attrNameLst>
                                      </p:cBhvr>
                                      <p:to>
                                        <p:strVal val="visible"/>
                                      </p:to>
                                    </p:set>
                                    <p:animEffect transition="in" filter="fade">
                                      <p:cBhvr>
                                        <p:cTn id="87" dur="500"/>
                                        <p:tgtEl>
                                          <p:spTgt spid="80"/>
                                        </p:tgtEl>
                                      </p:cBhvr>
                                    </p:animEffect>
                                  </p:childTnLst>
                                </p:cTn>
                              </p:par>
                              <p:par>
                                <p:cTn id="88" presetID="1" presetClass="entr" presetSubtype="0" fill="hold" nodeType="withEffect">
                                  <p:stCondLst>
                                    <p:cond delay="0"/>
                                  </p:stCondLst>
                                  <p:childTnLst>
                                    <p:set>
                                      <p:cBhvr>
                                        <p:cTn id="89" dur="1" fill="hold">
                                          <p:stCondLst>
                                            <p:cond delay="0"/>
                                          </p:stCondLst>
                                        </p:cTn>
                                        <p:tgtEl>
                                          <p:spTgt spid="44"/>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77"/>
                                        </p:tgtEl>
                                        <p:attrNameLst>
                                          <p:attrName>style.visibility</p:attrName>
                                        </p:attrNameLst>
                                      </p:cBhvr>
                                      <p:to>
                                        <p:strVal val="visible"/>
                                      </p:to>
                                    </p:set>
                                    <p:animEffect transition="in" filter="fade">
                                      <p:cBhvr>
                                        <p:cTn id="94" dur="500"/>
                                        <p:tgtEl>
                                          <p:spTgt spid="77"/>
                                        </p:tgtEl>
                                      </p:cBhvr>
                                    </p:animEffect>
                                  </p:childTnLst>
                                </p:cTn>
                              </p:par>
                              <p:par>
                                <p:cTn id="95" presetID="1" presetClass="exit" presetSubtype="0" fill="hold" nodeType="withEffect">
                                  <p:stCondLst>
                                    <p:cond delay="0"/>
                                  </p:stCondLst>
                                  <p:childTnLst>
                                    <p:set>
                                      <p:cBhvr>
                                        <p:cTn id="96" dur="1" fill="hold">
                                          <p:stCondLst>
                                            <p:cond delay="0"/>
                                          </p:stCondLst>
                                        </p:cTn>
                                        <p:tgtEl>
                                          <p:spTgt spid="44"/>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5">
                                            <p:bg/>
                                          </p:spTgt>
                                        </p:tgtEl>
                                        <p:attrNameLst>
                                          <p:attrName>style.visibility</p:attrName>
                                        </p:attrNameLst>
                                      </p:cBhvr>
                                      <p:to>
                                        <p:strVal val="visible"/>
                                      </p:to>
                                    </p:set>
                                    <p:animEffect transition="in" filter="fade">
                                      <p:cBhvr>
                                        <p:cTn id="101" dur="500"/>
                                        <p:tgtEl>
                                          <p:spTgt spid="5">
                                            <p:bg/>
                                          </p:spTgt>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
                                            <p:txEl>
                                              <p:pRg st="0" end="0"/>
                                            </p:txEl>
                                          </p:spTgt>
                                        </p:tgtEl>
                                        <p:attrNameLst>
                                          <p:attrName>style.visibility</p:attrName>
                                        </p:attrNameLst>
                                      </p:cBhvr>
                                      <p:to>
                                        <p:strVal val="visible"/>
                                      </p:to>
                                    </p:set>
                                    <p:animEffect transition="in" filter="fade">
                                      <p:cBhvr>
                                        <p:cTn id="104" dur="500"/>
                                        <p:tgtEl>
                                          <p:spTgt spid="5">
                                            <p:txEl>
                                              <p:pRg st="0" end="0"/>
                                            </p:txEl>
                                          </p:spTgt>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
                                            <p:txEl>
                                              <p:pRg st="1" end="1"/>
                                            </p:txEl>
                                          </p:spTgt>
                                        </p:tgtEl>
                                        <p:attrNameLst>
                                          <p:attrName>style.visibility</p:attrName>
                                        </p:attrNameLst>
                                      </p:cBhvr>
                                      <p:to>
                                        <p:strVal val="visible"/>
                                      </p:to>
                                    </p:set>
                                    <p:animEffect transition="in" filter="fade">
                                      <p:cBhvr>
                                        <p:cTn id="107" dur="500"/>
                                        <p:tgtEl>
                                          <p:spTgt spid="5">
                                            <p:txEl>
                                              <p:pRg st="1" end="1"/>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81"/>
                                        </p:tgtEl>
                                        <p:attrNameLst>
                                          <p:attrName>style.visibility</p:attrName>
                                        </p:attrNameLst>
                                      </p:cBhvr>
                                      <p:to>
                                        <p:strVal val="visible"/>
                                      </p:to>
                                    </p:set>
                                    <p:animEffect transition="in" filter="fade">
                                      <p:cBhvr>
                                        <p:cTn id="112" dur="500"/>
                                        <p:tgtEl>
                                          <p:spTgt spid="81"/>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5">
                                            <p:txEl>
                                              <p:pRg st="3" end="3"/>
                                            </p:txEl>
                                          </p:spTgt>
                                        </p:tgtEl>
                                        <p:attrNameLst>
                                          <p:attrName>style.visibility</p:attrName>
                                        </p:attrNameLst>
                                      </p:cBhvr>
                                      <p:to>
                                        <p:strVal val="visible"/>
                                      </p:to>
                                    </p:set>
                                    <p:animEffect transition="in" filter="fade">
                                      <p:cBhvr>
                                        <p:cTn id="117" dur="500"/>
                                        <p:tgtEl>
                                          <p:spTgt spid="5">
                                            <p:txEl>
                                              <p:pRg st="3" end="3"/>
                                            </p:txEl>
                                          </p:spTgt>
                                        </p:tgtEl>
                                      </p:cBhvr>
                                    </p:animEffect>
                                  </p:childTnLst>
                                </p:cTn>
                              </p:par>
                              <p:par>
                                <p:cTn id="118" presetID="10" presetClass="entr" presetSubtype="0" fill="hold" nodeType="withEffect">
                                  <p:stCondLst>
                                    <p:cond delay="0"/>
                                  </p:stCondLst>
                                  <p:childTnLst>
                                    <p:set>
                                      <p:cBhvr>
                                        <p:cTn id="119" dur="1" fill="hold">
                                          <p:stCondLst>
                                            <p:cond delay="0"/>
                                          </p:stCondLst>
                                        </p:cTn>
                                        <p:tgtEl>
                                          <p:spTgt spid="5">
                                            <p:txEl>
                                              <p:pRg st="4" end="4"/>
                                            </p:txEl>
                                          </p:spTgt>
                                        </p:tgtEl>
                                        <p:attrNameLst>
                                          <p:attrName>style.visibility</p:attrName>
                                        </p:attrNameLst>
                                      </p:cBhvr>
                                      <p:to>
                                        <p:strVal val="visible"/>
                                      </p:to>
                                    </p:set>
                                    <p:animEffect transition="in" filter="fade">
                                      <p:cBhvr>
                                        <p:cTn id="120" dur="500"/>
                                        <p:tgtEl>
                                          <p:spTgt spid="5">
                                            <p:txEl>
                                              <p:pRg st="4" end="4"/>
                                            </p:txEl>
                                          </p:spTgt>
                                        </p:tgtEl>
                                      </p:cBhvr>
                                    </p:animEffect>
                                  </p:childTnLst>
                                </p:cTn>
                              </p:par>
                              <p:par>
                                <p:cTn id="121" presetID="10" presetClass="entr" presetSubtype="0" fill="hold" nodeType="withEffect">
                                  <p:stCondLst>
                                    <p:cond delay="0"/>
                                  </p:stCondLst>
                                  <p:childTnLst>
                                    <p:set>
                                      <p:cBhvr>
                                        <p:cTn id="122" dur="1" fill="hold">
                                          <p:stCondLst>
                                            <p:cond delay="0"/>
                                          </p:stCondLst>
                                        </p:cTn>
                                        <p:tgtEl>
                                          <p:spTgt spid="5">
                                            <p:txEl>
                                              <p:pRg st="5" end="5"/>
                                            </p:txEl>
                                          </p:spTgt>
                                        </p:tgtEl>
                                        <p:attrNameLst>
                                          <p:attrName>style.visibility</p:attrName>
                                        </p:attrNameLst>
                                      </p:cBhvr>
                                      <p:to>
                                        <p:strVal val="visible"/>
                                      </p:to>
                                    </p:set>
                                    <p:animEffect transition="in" filter="fade">
                                      <p:cBhvr>
                                        <p:cTn id="123" dur="500"/>
                                        <p:tgtEl>
                                          <p:spTgt spid="5">
                                            <p:txEl>
                                              <p:pRg st="5" end="5"/>
                                            </p:txEl>
                                          </p:spTgt>
                                        </p:tgtEl>
                                      </p:cBhvr>
                                    </p:animEffect>
                                  </p:childTnLst>
                                </p:cTn>
                              </p:par>
                              <p:par>
                                <p:cTn id="124" presetID="10" presetClass="entr" presetSubtype="0" fill="hold" nodeType="withEffect">
                                  <p:stCondLst>
                                    <p:cond delay="0"/>
                                  </p:stCondLst>
                                  <p:childTnLst>
                                    <p:set>
                                      <p:cBhvr>
                                        <p:cTn id="125" dur="1" fill="hold">
                                          <p:stCondLst>
                                            <p:cond delay="0"/>
                                          </p:stCondLst>
                                        </p:cTn>
                                        <p:tgtEl>
                                          <p:spTgt spid="5">
                                            <p:txEl>
                                              <p:pRg st="6" end="6"/>
                                            </p:txEl>
                                          </p:spTgt>
                                        </p:tgtEl>
                                        <p:attrNameLst>
                                          <p:attrName>style.visibility</p:attrName>
                                        </p:attrNameLst>
                                      </p:cBhvr>
                                      <p:to>
                                        <p:strVal val="visible"/>
                                      </p:to>
                                    </p:set>
                                    <p:animEffect transition="in" filter="fade">
                                      <p:cBhvr>
                                        <p:cTn id="126"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5" grpId="0" build="allAtOnce" animBg="1"/>
      <p:bldP spid="75" grpId="0"/>
      <p:bldP spid="75" grpId="1"/>
      <p:bldP spid="76" grpId="0"/>
      <p:bldP spid="81" grpId="0"/>
      <p:bldP spid="82" grpId="0"/>
      <p:bldP spid="82"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Function: CQDELETE (F, R, Q, N)</a:t>
            </a:r>
            <a:endParaRPr lang="en-US" dirty="0"/>
          </a:p>
        </p:txBody>
      </p:sp>
      <p:sp>
        <p:nvSpPr>
          <p:cNvPr id="3" name="Content Placeholder 2"/>
          <p:cNvSpPr>
            <a:spLocks noGrp="1"/>
          </p:cNvSpPr>
          <p:nvPr>
            <p:ph idx="1"/>
          </p:nvPr>
        </p:nvSpPr>
        <p:spPr/>
        <p:txBody>
          <a:bodyPr/>
          <a:lstStyle/>
          <a:p>
            <a:r>
              <a:rPr lang="en-IN" dirty="0"/>
              <a:t>This function </a:t>
            </a:r>
            <a:r>
              <a:rPr lang="en-IN" b="1" dirty="0">
                <a:solidFill>
                  <a:srgbClr val="C00000"/>
                </a:solidFill>
              </a:rPr>
              <a:t>deletes &amp; returns</a:t>
            </a:r>
            <a:r>
              <a:rPr lang="en-IN" b="1" dirty="0">
                <a:solidFill>
                  <a:srgbClr val="FF0000"/>
                </a:solidFill>
              </a:rPr>
              <a:t> </a:t>
            </a:r>
            <a:r>
              <a:rPr lang="en-IN" dirty="0"/>
              <a:t>an element </a:t>
            </a:r>
            <a:r>
              <a:rPr lang="en-IN" b="1" dirty="0">
                <a:solidFill>
                  <a:srgbClr val="C00000"/>
                </a:solidFill>
              </a:rPr>
              <a:t>from front end</a:t>
            </a:r>
            <a:r>
              <a:rPr lang="en-IN" b="1" dirty="0">
                <a:solidFill>
                  <a:srgbClr val="FF0000"/>
                </a:solidFill>
              </a:rPr>
              <a:t> </a:t>
            </a:r>
            <a:r>
              <a:rPr lang="en-IN" dirty="0"/>
              <a:t>of the Circular Queue.</a:t>
            </a:r>
          </a:p>
          <a:p>
            <a:r>
              <a:rPr lang="en-IN" b="1" dirty="0">
                <a:solidFill>
                  <a:srgbClr val="C00000"/>
                </a:solidFill>
              </a:rPr>
              <a:t>Queue</a:t>
            </a:r>
            <a:r>
              <a:rPr lang="en-IN" dirty="0">
                <a:solidFill>
                  <a:srgbClr val="C00000"/>
                </a:solidFill>
              </a:rPr>
              <a:t> </a:t>
            </a:r>
            <a:r>
              <a:rPr lang="en-IN" dirty="0"/>
              <a:t>is represented by a vector </a:t>
            </a:r>
            <a:r>
              <a:rPr lang="en-IN" b="1" dirty="0">
                <a:solidFill>
                  <a:srgbClr val="C00000"/>
                </a:solidFill>
              </a:rPr>
              <a:t>Q</a:t>
            </a:r>
            <a:r>
              <a:rPr lang="en-IN" dirty="0">
                <a:solidFill>
                  <a:srgbClr val="C00000"/>
                </a:solidFill>
              </a:rPr>
              <a:t> </a:t>
            </a:r>
            <a:r>
              <a:rPr lang="en-IN" dirty="0"/>
              <a:t>containing </a:t>
            </a:r>
            <a:r>
              <a:rPr lang="en-IN" b="1" dirty="0">
                <a:solidFill>
                  <a:srgbClr val="C00000"/>
                </a:solidFill>
              </a:rPr>
              <a:t>N</a:t>
            </a:r>
            <a:r>
              <a:rPr lang="en-IN" dirty="0">
                <a:solidFill>
                  <a:srgbClr val="C00000"/>
                </a:solidFill>
              </a:rPr>
              <a:t> </a:t>
            </a:r>
            <a:r>
              <a:rPr lang="en-IN" dirty="0"/>
              <a:t>elements.</a:t>
            </a:r>
          </a:p>
          <a:p>
            <a:r>
              <a:rPr lang="en-IN" b="1" dirty="0">
                <a:solidFill>
                  <a:srgbClr val="C00000"/>
                </a:solidFill>
              </a:rPr>
              <a:t>F</a:t>
            </a:r>
            <a:r>
              <a:rPr lang="en-IN" dirty="0">
                <a:solidFill>
                  <a:srgbClr val="C00000"/>
                </a:solidFill>
              </a:rPr>
              <a:t> </a:t>
            </a:r>
            <a:r>
              <a:rPr lang="en-IN" dirty="0"/>
              <a:t>is pointer to the </a:t>
            </a:r>
            <a:r>
              <a:rPr lang="en-IN" b="1" dirty="0">
                <a:solidFill>
                  <a:srgbClr val="C00000"/>
                </a:solidFill>
              </a:rPr>
              <a:t>front</a:t>
            </a:r>
            <a:r>
              <a:rPr lang="en-IN" b="1" dirty="0">
                <a:solidFill>
                  <a:srgbClr val="FF0000"/>
                </a:solidFill>
              </a:rPr>
              <a:t> </a:t>
            </a:r>
            <a:r>
              <a:rPr lang="en-IN" dirty="0"/>
              <a:t>element of a queue.</a:t>
            </a:r>
          </a:p>
          <a:p>
            <a:r>
              <a:rPr lang="en-IN" b="1" dirty="0">
                <a:solidFill>
                  <a:srgbClr val="C00000"/>
                </a:solidFill>
              </a:rPr>
              <a:t>R</a:t>
            </a:r>
            <a:r>
              <a:rPr lang="en-IN" dirty="0">
                <a:solidFill>
                  <a:srgbClr val="C00000"/>
                </a:solidFill>
              </a:rPr>
              <a:t> </a:t>
            </a:r>
            <a:r>
              <a:rPr lang="en-IN" dirty="0"/>
              <a:t>is pointer to the </a:t>
            </a:r>
            <a:r>
              <a:rPr lang="en-IN" b="1" dirty="0">
                <a:solidFill>
                  <a:srgbClr val="C00000"/>
                </a:solidFill>
              </a:rPr>
              <a:t>rear</a:t>
            </a:r>
            <a:r>
              <a:rPr lang="en-IN" dirty="0">
                <a:solidFill>
                  <a:srgbClr val="C00000"/>
                </a:solidFill>
              </a:rPr>
              <a:t> </a:t>
            </a:r>
            <a:r>
              <a:rPr lang="en-IN" dirty="0"/>
              <a:t>element of a queue.</a:t>
            </a:r>
            <a:endParaRPr lang="en-US" dirty="0"/>
          </a:p>
          <a:p>
            <a:pPr marL="0" indent="0">
              <a:buNone/>
            </a:pPr>
            <a:endParaRPr lang="en-US" dirty="0"/>
          </a:p>
        </p:txBody>
      </p:sp>
      <p:sp>
        <p:nvSpPr>
          <p:cNvPr id="4" name="TextBox 3"/>
          <p:cNvSpPr txBox="1"/>
          <p:nvPr/>
        </p:nvSpPr>
        <p:spPr>
          <a:xfrm>
            <a:off x="415612" y="3531096"/>
            <a:ext cx="4191000" cy="2954655"/>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[Underflow?]</a:t>
            </a:r>
          </a:p>
          <a:p>
            <a:r>
              <a:rPr lang="en-IN"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If</a:t>
            </a:r>
            <a:r>
              <a:rPr lang="en-IN" dirty="0">
                <a:solidFill>
                  <a:schemeClr val="tx2">
                    <a:lumMod val="75000"/>
                  </a:schemeClr>
                </a:solidFill>
                <a:latin typeface="Consolas" pitchFamily="49" charset="0"/>
                <a:cs typeface="Consolas" pitchFamily="49" charset="0"/>
              </a:rPr>
              <a:t> </a:t>
            </a:r>
            <a:r>
              <a:rPr lang="en-IN" dirty="0">
                <a:latin typeface="Consolas" pitchFamily="49" charset="0"/>
                <a:cs typeface="Consolas" pitchFamily="49" charset="0"/>
              </a:rPr>
              <a:t>	  F = -1</a:t>
            </a:r>
          </a:p>
          <a:p>
            <a:r>
              <a:rPr lang="en-IN"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dirty="0">
                <a:latin typeface="Consolas" pitchFamily="49" charset="0"/>
                <a:cs typeface="Consolas" pitchFamily="49" charset="0"/>
              </a:rPr>
              <a:t>  Write(‘Underflow’)</a:t>
            </a:r>
          </a:p>
          <a:p>
            <a:r>
              <a:rPr lang="en-IN" dirty="0">
                <a:latin typeface="Consolas" pitchFamily="49" charset="0"/>
                <a:cs typeface="Consolas" pitchFamily="49" charset="0"/>
              </a:rPr>
              <a:t>         Return(-1)</a:t>
            </a:r>
          </a:p>
          <a:p>
            <a:r>
              <a:rPr lang="en-IN" sz="2000" b="1" dirty="0">
                <a:solidFill>
                  <a:schemeClr val="tx2"/>
                </a:solidFill>
                <a:latin typeface="Consolas" pitchFamily="49" charset="0"/>
                <a:cs typeface="Consolas" pitchFamily="49" charset="0"/>
              </a:rPr>
              <a:t>2. [Delete Element]</a:t>
            </a:r>
          </a:p>
          <a:p>
            <a:r>
              <a:rPr lang="en-IN" b="1" dirty="0">
                <a:latin typeface="Consolas" pitchFamily="49" charset="0"/>
                <a:cs typeface="Consolas" pitchFamily="49" charset="0"/>
              </a:rPr>
              <a:t>    </a:t>
            </a:r>
            <a:r>
              <a:rPr lang="en-IN" dirty="0">
                <a:latin typeface="Consolas" pitchFamily="49" charset="0"/>
                <a:cs typeface="Consolas" pitchFamily="49" charset="0"/>
              </a:rPr>
              <a:t>Y </a:t>
            </a:r>
            <a:r>
              <a:rPr lang="en-IN" dirty="0">
                <a:latin typeface="Consolas" pitchFamily="49" charset="0"/>
                <a:cs typeface="Consolas" pitchFamily="49" charset="0"/>
                <a:sym typeface="Wingdings" pitchFamily="2" charset="2"/>
              </a:rPr>
              <a:t> Q[F]</a:t>
            </a:r>
          </a:p>
          <a:p>
            <a:r>
              <a:rPr lang="en-IN" sz="2000" b="1" dirty="0">
                <a:solidFill>
                  <a:schemeClr val="tx2"/>
                </a:solidFill>
                <a:latin typeface="Consolas" pitchFamily="49" charset="0"/>
                <a:cs typeface="Consolas" pitchFamily="49" charset="0"/>
              </a:rPr>
              <a:t>3. [Queue Empty?]</a:t>
            </a:r>
          </a:p>
          <a:p>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If</a:t>
            </a:r>
            <a:r>
              <a:rPr lang="en-IN" dirty="0">
                <a:latin typeface="Consolas" pitchFamily="49" charset="0"/>
                <a:cs typeface="Consolas" pitchFamily="49" charset="0"/>
              </a:rPr>
              <a:t> 	  F = R</a:t>
            </a:r>
          </a:p>
          <a:p>
            <a:r>
              <a:rPr lang="en-IN"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dirty="0">
                <a:latin typeface="Consolas" pitchFamily="49" charset="0"/>
                <a:cs typeface="Consolas" pitchFamily="49" charset="0"/>
              </a:rPr>
              <a:t>  F </a:t>
            </a:r>
            <a:r>
              <a:rPr lang="en-IN" dirty="0">
                <a:latin typeface="Consolas" pitchFamily="49" charset="0"/>
                <a:cs typeface="Consolas" pitchFamily="49" charset="0"/>
                <a:sym typeface="Wingdings" pitchFamily="2" charset="2"/>
              </a:rPr>
              <a:t> R   -1</a:t>
            </a:r>
            <a:endParaRPr lang="en-IN" dirty="0">
              <a:latin typeface="Consolas" pitchFamily="49" charset="0"/>
              <a:cs typeface="Consolas" pitchFamily="49" charset="0"/>
            </a:endParaRPr>
          </a:p>
          <a:p>
            <a:r>
              <a:rPr lang="en-IN" dirty="0">
                <a:latin typeface="Consolas" pitchFamily="49" charset="0"/>
                <a:cs typeface="Consolas" pitchFamily="49" charset="0"/>
              </a:rPr>
              <a:t>         Return(Y)</a:t>
            </a:r>
          </a:p>
        </p:txBody>
      </p:sp>
      <p:sp>
        <p:nvSpPr>
          <p:cNvPr id="5" name="TextBox 4"/>
          <p:cNvSpPr txBox="1"/>
          <p:nvPr/>
        </p:nvSpPr>
        <p:spPr>
          <a:xfrm>
            <a:off x="4620059" y="3526785"/>
            <a:ext cx="4191000" cy="954107"/>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4. [Update Front Pointer]</a:t>
            </a:r>
          </a:p>
          <a:p>
            <a:r>
              <a:rPr lang="en-IN" dirty="0">
                <a:latin typeface="Consolas" pitchFamily="49" charset="0"/>
                <a:cs typeface="Consolas" pitchFamily="49" charset="0"/>
                <a:sym typeface="Wingdings" pitchFamily="2" charset="2"/>
              </a:rPr>
              <a:t>    F  (F + 1) % N</a:t>
            </a:r>
          </a:p>
          <a:p>
            <a:r>
              <a:rPr lang="en-IN" dirty="0">
                <a:latin typeface="Consolas" pitchFamily="49" charset="0"/>
                <a:cs typeface="Consolas" pitchFamily="49" charset="0"/>
                <a:sym typeface="Wingdings" pitchFamily="2" charset="2"/>
              </a:rPr>
              <a:t>    Return(Y)</a:t>
            </a:r>
            <a:endParaRPr lang="en-IN" dirty="0">
              <a:latin typeface="Consolas" pitchFamily="49" charset="0"/>
              <a:cs typeface="Consolas" pitchFamily="49" charset="0"/>
            </a:endParaRPr>
          </a:p>
        </p:txBody>
      </p:sp>
      <p:grpSp>
        <p:nvGrpSpPr>
          <p:cNvPr id="37" name="Group 36"/>
          <p:cNvGrpSpPr/>
          <p:nvPr/>
        </p:nvGrpSpPr>
        <p:grpSpPr>
          <a:xfrm>
            <a:off x="9668038" y="865429"/>
            <a:ext cx="2109964" cy="1471788"/>
            <a:chOff x="9226890" y="1588093"/>
            <a:chExt cx="2109964" cy="1471788"/>
          </a:xfrm>
        </p:grpSpPr>
        <p:grpSp>
          <p:nvGrpSpPr>
            <p:cNvPr id="57" name="Group 56"/>
            <p:cNvGrpSpPr/>
            <p:nvPr/>
          </p:nvGrpSpPr>
          <p:grpSpPr>
            <a:xfrm>
              <a:off x="9226890" y="1588093"/>
              <a:ext cx="2109964" cy="1471788"/>
              <a:chOff x="6324600" y="2457490"/>
              <a:chExt cx="2286000" cy="1321098"/>
            </a:xfrm>
          </p:grpSpPr>
          <p:grpSp>
            <p:nvGrpSpPr>
              <p:cNvPr id="58" name="Group 57"/>
              <p:cNvGrpSpPr/>
              <p:nvPr/>
            </p:nvGrpSpPr>
            <p:grpSpPr>
              <a:xfrm>
                <a:off x="6585858" y="3168988"/>
                <a:ext cx="1828800" cy="381000"/>
                <a:chOff x="381000" y="1219200"/>
                <a:chExt cx="1828800" cy="381000"/>
              </a:xfrm>
            </p:grpSpPr>
            <p:sp>
              <p:nvSpPr>
                <p:cNvPr id="70" name="Rectangle 69"/>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71" name="Rectangle 70"/>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6</a:t>
                  </a:r>
                  <a:endParaRPr lang="en-US" b="1" dirty="0"/>
                </a:p>
              </p:txBody>
            </p:sp>
            <p:sp>
              <p:nvSpPr>
                <p:cNvPr id="72" name="Rectangle 71"/>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73" name="Rectangle 72"/>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grpSp>
          <p:cxnSp>
            <p:nvCxnSpPr>
              <p:cNvPr id="59" name="Straight Connector 58"/>
              <p:cNvCxnSpPr>
                <a:stCxn id="73" idx="3"/>
              </p:cNvCxnSpPr>
              <p:nvPr/>
            </p:nvCxnSpPr>
            <p:spPr>
              <a:xfrm>
                <a:off x="8414658" y="3359488"/>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60" name="Straight Connector 59"/>
              <p:cNvCxnSpPr/>
              <p:nvPr/>
            </p:nvCxnSpPr>
            <p:spPr>
              <a:xfrm>
                <a:off x="8599716"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61" name="Straight Connector 60"/>
              <p:cNvCxnSpPr/>
              <p:nvPr/>
            </p:nvCxnSpPr>
            <p:spPr>
              <a:xfrm flipH="1">
                <a:off x="6324600" y="3778588"/>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62" name="Straight Connector 61"/>
              <p:cNvCxnSpPr/>
              <p:nvPr/>
            </p:nvCxnSpPr>
            <p:spPr>
              <a:xfrm flipV="1">
                <a:off x="6324600"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63" name="Straight Arrow Connector 62"/>
              <p:cNvCxnSpPr>
                <a:endCxn id="70" idx="1"/>
              </p:cNvCxnSpPr>
              <p:nvPr/>
            </p:nvCxnSpPr>
            <p:spPr>
              <a:xfrm>
                <a:off x="6324600" y="3359488"/>
                <a:ext cx="261258"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sp>
            <p:nvSpPr>
              <p:cNvPr id="68" name="TextBox 67"/>
              <p:cNvSpPr txBox="1"/>
              <p:nvPr/>
            </p:nvSpPr>
            <p:spPr>
              <a:xfrm>
                <a:off x="6981351" y="2457490"/>
                <a:ext cx="307460" cy="331517"/>
              </a:xfrm>
              <a:prstGeom prst="rect">
                <a:avLst/>
              </a:prstGeom>
              <a:noFill/>
            </p:spPr>
            <p:txBody>
              <a:bodyPr wrap="square" rtlCol="0">
                <a:spAutoFit/>
              </a:bodyPr>
              <a:lstStyle/>
              <a:p>
                <a:r>
                  <a:rPr lang="en-IN" b="1" dirty="0">
                    <a:solidFill>
                      <a:srgbClr val="FF0000"/>
                    </a:solidFill>
                  </a:rPr>
                  <a:t>F</a:t>
                </a:r>
                <a:endParaRPr lang="en-US" b="1" dirty="0">
                  <a:solidFill>
                    <a:srgbClr val="FF0000"/>
                  </a:solidFill>
                </a:endParaRPr>
              </a:p>
            </p:txBody>
          </p:sp>
          <p:sp>
            <p:nvSpPr>
              <p:cNvPr id="66" name="TextBox 65"/>
              <p:cNvSpPr txBox="1"/>
              <p:nvPr/>
            </p:nvSpPr>
            <p:spPr>
              <a:xfrm>
                <a:off x="7236808" y="2457490"/>
                <a:ext cx="309999" cy="331529"/>
              </a:xfrm>
              <a:prstGeom prst="rect">
                <a:avLst/>
              </a:prstGeom>
              <a:noFill/>
            </p:spPr>
            <p:txBody>
              <a:bodyPr wrap="square" rtlCol="0">
                <a:spAutoFit/>
              </a:bodyPr>
              <a:lstStyle/>
              <a:p>
                <a:pPr algn="ctr"/>
                <a:r>
                  <a:rPr lang="en-IN" b="1" dirty="0">
                    <a:solidFill>
                      <a:srgbClr val="FF0000"/>
                    </a:solidFill>
                  </a:rPr>
                  <a:t>R</a:t>
                </a:r>
                <a:endParaRPr lang="en-US" b="1" dirty="0">
                  <a:solidFill>
                    <a:srgbClr val="FF0000"/>
                  </a:solidFill>
                </a:endParaRPr>
              </a:p>
            </p:txBody>
          </p:sp>
        </p:grpSp>
        <p:cxnSp>
          <p:nvCxnSpPr>
            <p:cNvPr id="30" name="Straight Arrow Connector 29"/>
            <p:cNvCxnSpPr>
              <a:stCxn id="68" idx="2"/>
            </p:cNvCxnSpPr>
            <p:nvPr/>
          </p:nvCxnSpPr>
          <p:spPr>
            <a:xfrm>
              <a:off x="9974959" y="1957432"/>
              <a:ext cx="0" cy="430949"/>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66" idx="2"/>
            </p:cNvCxnSpPr>
            <p:nvPr/>
          </p:nvCxnSpPr>
          <p:spPr>
            <a:xfrm>
              <a:off x="10211916" y="1957445"/>
              <a:ext cx="0" cy="428616"/>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9668038" y="2511716"/>
            <a:ext cx="2109964" cy="1488676"/>
            <a:chOff x="9266248" y="3461060"/>
            <a:chExt cx="2109964" cy="1488676"/>
          </a:xfrm>
        </p:grpSpPr>
        <p:grpSp>
          <p:nvGrpSpPr>
            <p:cNvPr id="6" name="Group 5"/>
            <p:cNvGrpSpPr/>
            <p:nvPr/>
          </p:nvGrpSpPr>
          <p:grpSpPr>
            <a:xfrm>
              <a:off x="9266248" y="4270599"/>
              <a:ext cx="2109964" cy="679137"/>
              <a:chOff x="6324600" y="3168988"/>
              <a:chExt cx="2286000" cy="609601"/>
            </a:xfrm>
          </p:grpSpPr>
          <p:grpSp>
            <p:nvGrpSpPr>
              <p:cNvPr id="7" name="Group 6"/>
              <p:cNvGrpSpPr/>
              <p:nvPr/>
            </p:nvGrpSpPr>
            <p:grpSpPr>
              <a:xfrm>
                <a:off x="6585858" y="3168988"/>
                <a:ext cx="1828800" cy="381000"/>
                <a:chOff x="381000" y="1219200"/>
                <a:chExt cx="1828800" cy="381000"/>
              </a:xfrm>
            </p:grpSpPr>
            <p:sp>
              <p:nvSpPr>
                <p:cNvPr id="19" name="Rectangle 18"/>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2</a:t>
                  </a:r>
                  <a:endParaRPr lang="en-US" b="1" dirty="0"/>
                </a:p>
              </p:txBody>
            </p:sp>
            <p:sp>
              <p:nvSpPr>
                <p:cNvPr id="20" name="Rectangle 19"/>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6</a:t>
                  </a:r>
                  <a:endParaRPr lang="en-US" b="1" dirty="0"/>
                </a:p>
              </p:txBody>
            </p:sp>
            <p:sp>
              <p:nvSpPr>
                <p:cNvPr id="21" name="Rectangle 20"/>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22" name="Rectangle 21"/>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4</a:t>
                  </a:r>
                  <a:endParaRPr lang="en-US" b="1" dirty="0"/>
                </a:p>
              </p:txBody>
            </p:sp>
          </p:grpSp>
          <p:cxnSp>
            <p:nvCxnSpPr>
              <p:cNvPr id="8" name="Straight Connector 7"/>
              <p:cNvCxnSpPr>
                <a:stCxn id="22" idx="3"/>
              </p:cNvCxnSpPr>
              <p:nvPr/>
            </p:nvCxnSpPr>
            <p:spPr>
              <a:xfrm>
                <a:off x="8414658" y="3359488"/>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9" name="Straight Connector 8"/>
              <p:cNvCxnSpPr/>
              <p:nvPr/>
            </p:nvCxnSpPr>
            <p:spPr>
              <a:xfrm>
                <a:off x="8599716"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10" name="Straight Connector 9"/>
              <p:cNvCxnSpPr/>
              <p:nvPr/>
            </p:nvCxnSpPr>
            <p:spPr>
              <a:xfrm flipH="1">
                <a:off x="6324600" y="3778588"/>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11" name="Straight Connector 10"/>
              <p:cNvCxnSpPr/>
              <p:nvPr/>
            </p:nvCxnSpPr>
            <p:spPr>
              <a:xfrm flipV="1">
                <a:off x="6324600" y="3359489"/>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12" name="Straight Arrow Connector 11"/>
              <p:cNvCxnSpPr/>
              <p:nvPr/>
            </p:nvCxnSpPr>
            <p:spPr>
              <a:xfrm>
                <a:off x="6324600" y="3359489"/>
                <a:ext cx="261259"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grpSp>
        <p:grpSp>
          <p:nvGrpSpPr>
            <p:cNvPr id="39" name="Group 38"/>
            <p:cNvGrpSpPr/>
            <p:nvPr/>
          </p:nvGrpSpPr>
          <p:grpSpPr>
            <a:xfrm>
              <a:off x="10818097" y="3461060"/>
              <a:ext cx="283784" cy="800288"/>
              <a:chOff x="8932592" y="3377871"/>
              <a:chExt cx="283784" cy="800288"/>
            </a:xfrm>
          </p:grpSpPr>
          <p:sp>
            <p:nvSpPr>
              <p:cNvPr id="75" name="TextBox 74"/>
              <p:cNvSpPr txBox="1"/>
              <p:nvPr/>
            </p:nvSpPr>
            <p:spPr>
              <a:xfrm>
                <a:off x="8932592" y="3377871"/>
                <a:ext cx="283784" cy="369331"/>
              </a:xfrm>
              <a:prstGeom prst="rect">
                <a:avLst/>
              </a:prstGeom>
              <a:noFill/>
            </p:spPr>
            <p:txBody>
              <a:bodyPr wrap="square" rtlCol="0">
                <a:spAutoFit/>
              </a:bodyPr>
              <a:lstStyle/>
              <a:p>
                <a:r>
                  <a:rPr lang="en-IN" b="1" dirty="0">
                    <a:solidFill>
                      <a:srgbClr val="FF0000"/>
                    </a:solidFill>
                  </a:rPr>
                  <a:t>F</a:t>
                </a:r>
                <a:endParaRPr lang="en-US" b="1" dirty="0">
                  <a:solidFill>
                    <a:srgbClr val="FF0000"/>
                  </a:solidFill>
                </a:endParaRPr>
              </a:p>
            </p:txBody>
          </p:sp>
          <p:cxnSp>
            <p:nvCxnSpPr>
              <p:cNvPr id="77" name="Straight Arrow Connector 76"/>
              <p:cNvCxnSpPr>
                <a:stCxn id="75" idx="2"/>
              </p:cNvCxnSpPr>
              <p:nvPr/>
            </p:nvCxnSpPr>
            <p:spPr>
              <a:xfrm>
                <a:off x="9074484" y="3747210"/>
                <a:ext cx="0" cy="430949"/>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grpSp>
        <p:grpSp>
          <p:nvGrpSpPr>
            <p:cNvPr id="38" name="Group 37"/>
            <p:cNvGrpSpPr/>
            <p:nvPr/>
          </p:nvGrpSpPr>
          <p:grpSpPr>
            <a:xfrm>
              <a:off x="9997537" y="3461060"/>
              <a:ext cx="286127" cy="797968"/>
              <a:chOff x="9168377" y="3377871"/>
              <a:chExt cx="286127" cy="797968"/>
            </a:xfrm>
          </p:grpSpPr>
          <p:sp>
            <p:nvSpPr>
              <p:cNvPr id="76" name="TextBox 75"/>
              <p:cNvSpPr txBox="1"/>
              <p:nvPr/>
            </p:nvSpPr>
            <p:spPr>
              <a:xfrm>
                <a:off x="9168377" y="3377871"/>
                <a:ext cx="286127" cy="369345"/>
              </a:xfrm>
              <a:prstGeom prst="rect">
                <a:avLst/>
              </a:prstGeom>
              <a:noFill/>
            </p:spPr>
            <p:txBody>
              <a:bodyPr wrap="square" rtlCol="0">
                <a:spAutoFit/>
              </a:bodyPr>
              <a:lstStyle/>
              <a:p>
                <a:pPr algn="ctr"/>
                <a:r>
                  <a:rPr lang="en-IN" b="1" dirty="0">
                    <a:solidFill>
                      <a:srgbClr val="FF0000"/>
                    </a:solidFill>
                  </a:rPr>
                  <a:t>R</a:t>
                </a:r>
                <a:endParaRPr lang="en-US" b="1" dirty="0">
                  <a:solidFill>
                    <a:srgbClr val="FF0000"/>
                  </a:solidFill>
                </a:endParaRPr>
              </a:p>
            </p:txBody>
          </p:sp>
          <p:cxnSp>
            <p:nvCxnSpPr>
              <p:cNvPr id="78" name="Straight Arrow Connector 77"/>
              <p:cNvCxnSpPr>
                <a:stCxn id="76" idx="2"/>
              </p:cNvCxnSpPr>
              <p:nvPr/>
            </p:nvCxnSpPr>
            <p:spPr>
              <a:xfrm>
                <a:off x="9311441" y="3747223"/>
                <a:ext cx="0" cy="428616"/>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grpSp>
      </p:grpSp>
      <p:grpSp>
        <p:nvGrpSpPr>
          <p:cNvPr id="86" name="Group 85"/>
          <p:cNvGrpSpPr/>
          <p:nvPr/>
        </p:nvGrpSpPr>
        <p:grpSpPr>
          <a:xfrm>
            <a:off x="9668038" y="4174891"/>
            <a:ext cx="2109964" cy="1473687"/>
            <a:chOff x="9266248" y="4604386"/>
            <a:chExt cx="2109964" cy="1473687"/>
          </a:xfrm>
        </p:grpSpPr>
        <p:grpSp>
          <p:nvGrpSpPr>
            <p:cNvPr id="40" name="Group 39"/>
            <p:cNvGrpSpPr/>
            <p:nvPr/>
          </p:nvGrpSpPr>
          <p:grpSpPr>
            <a:xfrm>
              <a:off x="9266248" y="5398937"/>
              <a:ext cx="2109964" cy="679136"/>
              <a:chOff x="6324600" y="3168988"/>
              <a:chExt cx="2286000" cy="609600"/>
            </a:xfrm>
          </p:grpSpPr>
          <p:grpSp>
            <p:nvGrpSpPr>
              <p:cNvPr id="41" name="Group 40"/>
              <p:cNvGrpSpPr/>
              <p:nvPr/>
            </p:nvGrpSpPr>
            <p:grpSpPr>
              <a:xfrm>
                <a:off x="6585858" y="3168988"/>
                <a:ext cx="1828800" cy="381000"/>
                <a:chOff x="381000" y="1219200"/>
                <a:chExt cx="1828800" cy="381000"/>
              </a:xfrm>
            </p:grpSpPr>
            <p:sp>
              <p:nvSpPr>
                <p:cNvPr id="53" name="Rectangle 52"/>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54" name="Rectangle 53"/>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6</a:t>
                  </a:r>
                  <a:endParaRPr lang="en-US" b="1" dirty="0"/>
                </a:p>
              </p:txBody>
            </p:sp>
            <p:sp>
              <p:nvSpPr>
                <p:cNvPr id="55" name="Rectangle 54"/>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a:t>
                  </a:r>
                  <a:endParaRPr lang="en-US" b="1" dirty="0"/>
                </a:p>
              </p:txBody>
            </p:sp>
            <p:sp>
              <p:nvSpPr>
                <p:cNvPr id="56" name="Rectangle 55"/>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4</a:t>
                  </a:r>
                  <a:endParaRPr lang="en-US" b="1" dirty="0"/>
                </a:p>
              </p:txBody>
            </p:sp>
          </p:grpSp>
          <p:cxnSp>
            <p:nvCxnSpPr>
              <p:cNvPr id="42" name="Straight Connector 41"/>
              <p:cNvCxnSpPr>
                <a:stCxn id="56" idx="3"/>
              </p:cNvCxnSpPr>
              <p:nvPr/>
            </p:nvCxnSpPr>
            <p:spPr>
              <a:xfrm>
                <a:off x="8414658" y="3359488"/>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43" name="Straight Connector 42"/>
              <p:cNvCxnSpPr/>
              <p:nvPr/>
            </p:nvCxnSpPr>
            <p:spPr>
              <a:xfrm>
                <a:off x="8599716"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44" name="Straight Connector 43"/>
              <p:cNvCxnSpPr/>
              <p:nvPr/>
            </p:nvCxnSpPr>
            <p:spPr>
              <a:xfrm flipH="1">
                <a:off x="6324600" y="3778588"/>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45" name="Straight Connector 44"/>
              <p:cNvCxnSpPr/>
              <p:nvPr/>
            </p:nvCxnSpPr>
            <p:spPr>
              <a:xfrm flipV="1">
                <a:off x="6324600"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46" name="Straight Arrow Connector 45"/>
              <p:cNvCxnSpPr>
                <a:endCxn id="53" idx="1"/>
              </p:cNvCxnSpPr>
              <p:nvPr/>
            </p:nvCxnSpPr>
            <p:spPr>
              <a:xfrm>
                <a:off x="6324600" y="3359488"/>
                <a:ext cx="261258"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grpSp>
        <p:grpSp>
          <p:nvGrpSpPr>
            <p:cNvPr id="85" name="Group 84"/>
            <p:cNvGrpSpPr/>
            <p:nvPr/>
          </p:nvGrpSpPr>
          <p:grpSpPr>
            <a:xfrm>
              <a:off x="9985235" y="4606306"/>
              <a:ext cx="283784" cy="800288"/>
              <a:chOff x="9833067" y="4719218"/>
              <a:chExt cx="283784" cy="800288"/>
            </a:xfrm>
          </p:grpSpPr>
          <p:sp>
            <p:nvSpPr>
              <p:cNvPr id="80" name="TextBox 79"/>
              <p:cNvSpPr txBox="1"/>
              <p:nvPr/>
            </p:nvSpPr>
            <p:spPr>
              <a:xfrm>
                <a:off x="9833067" y="4719218"/>
                <a:ext cx="283784" cy="369331"/>
              </a:xfrm>
              <a:prstGeom prst="rect">
                <a:avLst/>
              </a:prstGeom>
              <a:noFill/>
            </p:spPr>
            <p:txBody>
              <a:bodyPr wrap="square" rtlCol="0">
                <a:spAutoFit/>
              </a:bodyPr>
              <a:lstStyle/>
              <a:p>
                <a:r>
                  <a:rPr lang="en-IN" b="1" dirty="0">
                    <a:solidFill>
                      <a:srgbClr val="FF0000"/>
                    </a:solidFill>
                  </a:rPr>
                  <a:t>F</a:t>
                </a:r>
                <a:endParaRPr lang="en-US" b="1" dirty="0">
                  <a:solidFill>
                    <a:srgbClr val="FF0000"/>
                  </a:solidFill>
                </a:endParaRPr>
              </a:p>
            </p:txBody>
          </p:sp>
          <p:cxnSp>
            <p:nvCxnSpPr>
              <p:cNvPr id="82" name="Straight Arrow Connector 81"/>
              <p:cNvCxnSpPr>
                <a:stCxn id="80" idx="2"/>
              </p:cNvCxnSpPr>
              <p:nvPr/>
            </p:nvCxnSpPr>
            <p:spPr>
              <a:xfrm>
                <a:off x="9974959" y="5088557"/>
                <a:ext cx="0" cy="430949"/>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grpSp>
        <p:grpSp>
          <p:nvGrpSpPr>
            <p:cNvPr id="84" name="Group 83"/>
            <p:cNvGrpSpPr/>
            <p:nvPr/>
          </p:nvGrpSpPr>
          <p:grpSpPr>
            <a:xfrm>
              <a:off x="10841299" y="4604386"/>
              <a:ext cx="286127" cy="797968"/>
              <a:chOff x="10068852" y="4719218"/>
              <a:chExt cx="286127" cy="797968"/>
            </a:xfrm>
          </p:grpSpPr>
          <p:sp>
            <p:nvSpPr>
              <p:cNvPr id="81" name="TextBox 80"/>
              <p:cNvSpPr txBox="1"/>
              <p:nvPr/>
            </p:nvSpPr>
            <p:spPr>
              <a:xfrm>
                <a:off x="10068852" y="4719218"/>
                <a:ext cx="286127" cy="369345"/>
              </a:xfrm>
              <a:prstGeom prst="rect">
                <a:avLst/>
              </a:prstGeom>
              <a:noFill/>
            </p:spPr>
            <p:txBody>
              <a:bodyPr wrap="square" rtlCol="0">
                <a:spAutoFit/>
              </a:bodyPr>
              <a:lstStyle/>
              <a:p>
                <a:pPr algn="ctr"/>
                <a:r>
                  <a:rPr lang="en-IN" b="1" dirty="0">
                    <a:solidFill>
                      <a:srgbClr val="FF0000"/>
                    </a:solidFill>
                  </a:rPr>
                  <a:t>R</a:t>
                </a:r>
                <a:endParaRPr lang="en-US" b="1" dirty="0">
                  <a:solidFill>
                    <a:srgbClr val="FF0000"/>
                  </a:solidFill>
                </a:endParaRPr>
              </a:p>
            </p:txBody>
          </p:sp>
          <p:cxnSp>
            <p:nvCxnSpPr>
              <p:cNvPr id="83" name="Straight Arrow Connector 82"/>
              <p:cNvCxnSpPr>
                <a:stCxn id="81" idx="2"/>
              </p:cNvCxnSpPr>
              <p:nvPr/>
            </p:nvCxnSpPr>
            <p:spPr>
              <a:xfrm>
                <a:off x="10211916" y="5088570"/>
                <a:ext cx="0" cy="428616"/>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grpSp>
      </p:grpSp>
      <p:grpSp>
        <p:nvGrpSpPr>
          <p:cNvPr id="88" name="Group 87">
            <a:extLst>
              <a:ext uri="{FF2B5EF4-FFF2-40B4-BE49-F238E27FC236}">
                <a16:creationId xmlns:a16="http://schemas.microsoft.com/office/drawing/2014/main" id="{B0CB2587-8C2A-4A04-40A6-B44A885E1FDE}"/>
              </a:ext>
            </a:extLst>
          </p:cNvPr>
          <p:cNvGrpSpPr/>
          <p:nvPr/>
        </p:nvGrpSpPr>
        <p:grpSpPr>
          <a:xfrm>
            <a:off x="9986640" y="2050726"/>
            <a:ext cx="1506640" cy="322423"/>
            <a:chOff x="9953169" y="1820753"/>
            <a:chExt cx="1506640" cy="322423"/>
          </a:xfrm>
        </p:grpSpPr>
        <p:sp>
          <p:nvSpPr>
            <p:cNvPr id="89" name="TextBox 88">
              <a:extLst>
                <a:ext uri="{FF2B5EF4-FFF2-40B4-BE49-F238E27FC236}">
                  <a16:creationId xmlns:a16="http://schemas.microsoft.com/office/drawing/2014/main" id="{BBB18515-D74F-045C-9D26-AAE4283691A9}"/>
                </a:ext>
              </a:extLst>
            </p:cNvPr>
            <p:cNvSpPr txBox="1"/>
            <p:nvPr/>
          </p:nvSpPr>
          <p:spPr>
            <a:xfrm>
              <a:off x="9953169" y="1834021"/>
              <a:ext cx="116205" cy="307777"/>
            </a:xfrm>
            <a:prstGeom prst="rect">
              <a:avLst/>
            </a:prstGeom>
            <a:noFill/>
          </p:spPr>
          <p:txBody>
            <a:bodyPr wrap="square" rtlCol="0">
              <a:spAutoFit/>
            </a:bodyPr>
            <a:lstStyle/>
            <a:p>
              <a:r>
                <a:rPr lang="en-IN" sz="1400" dirty="0"/>
                <a:t>0</a:t>
              </a:r>
            </a:p>
          </p:txBody>
        </p:sp>
        <p:sp>
          <p:nvSpPr>
            <p:cNvPr id="90" name="TextBox 89">
              <a:extLst>
                <a:ext uri="{FF2B5EF4-FFF2-40B4-BE49-F238E27FC236}">
                  <a16:creationId xmlns:a16="http://schemas.microsoft.com/office/drawing/2014/main" id="{898D5D07-CA74-3810-C5B2-6F48B3C967A5}"/>
                </a:ext>
              </a:extLst>
            </p:cNvPr>
            <p:cNvSpPr txBox="1"/>
            <p:nvPr/>
          </p:nvSpPr>
          <p:spPr>
            <a:xfrm>
              <a:off x="10423654" y="1835399"/>
              <a:ext cx="116205" cy="307777"/>
            </a:xfrm>
            <a:prstGeom prst="rect">
              <a:avLst/>
            </a:prstGeom>
            <a:noFill/>
          </p:spPr>
          <p:txBody>
            <a:bodyPr wrap="square" rtlCol="0">
              <a:spAutoFit/>
            </a:bodyPr>
            <a:lstStyle/>
            <a:p>
              <a:r>
                <a:rPr lang="en-IN" sz="1400" dirty="0"/>
                <a:t>1</a:t>
              </a:r>
            </a:p>
          </p:txBody>
        </p:sp>
        <p:sp>
          <p:nvSpPr>
            <p:cNvPr id="91" name="TextBox 90">
              <a:extLst>
                <a:ext uri="{FF2B5EF4-FFF2-40B4-BE49-F238E27FC236}">
                  <a16:creationId xmlns:a16="http://schemas.microsoft.com/office/drawing/2014/main" id="{71969E4A-3C00-BCD9-8723-E380B64A5962}"/>
                </a:ext>
              </a:extLst>
            </p:cNvPr>
            <p:cNvSpPr txBox="1"/>
            <p:nvPr/>
          </p:nvSpPr>
          <p:spPr>
            <a:xfrm>
              <a:off x="10883629" y="1820753"/>
              <a:ext cx="116205" cy="307777"/>
            </a:xfrm>
            <a:prstGeom prst="rect">
              <a:avLst/>
            </a:prstGeom>
            <a:noFill/>
          </p:spPr>
          <p:txBody>
            <a:bodyPr wrap="square" rtlCol="0">
              <a:spAutoFit/>
            </a:bodyPr>
            <a:lstStyle/>
            <a:p>
              <a:r>
                <a:rPr lang="en-IN" sz="1400" dirty="0"/>
                <a:t>2</a:t>
              </a:r>
            </a:p>
          </p:txBody>
        </p:sp>
        <p:sp>
          <p:nvSpPr>
            <p:cNvPr id="92" name="TextBox 91">
              <a:extLst>
                <a:ext uri="{FF2B5EF4-FFF2-40B4-BE49-F238E27FC236}">
                  <a16:creationId xmlns:a16="http://schemas.microsoft.com/office/drawing/2014/main" id="{D0D2147A-6B2D-3D39-A0E6-D95D106BBA7A}"/>
                </a:ext>
              </a:extLst>
            </p:cNvPr>
            <p:cNvSpPr txBox="1"/>
            <p:nvPr/>
          </p:nvSpPr>
          <p:spPr>
            <a:xfrm>
              <a:off x="11343604" y="1822132"/>
              <a:ext cx="116205" cy="307777"/>
            </a:xfrm>
            <a:prstGeom prst="rect">
              <a:avLst/>
            </a:prstGeom>
            <a:noFill/>
          </p:spPr>
          <p:txBody>
            <a:bodyPr wrap="square" rtlCol="0">
              <a:spAutoFit/>
            </a:bodyPr>
            <a:lstStyle/>
            <a:p>
              <a:r>
                <a:rPr lang="en-IN" sz="1400" dirty="0"/>
                <a:t>3</a:t>
              </a:r>
            </a:p>
          </p:txBody>
        </p:sp>
      </p:grpSp>
      <p:grpSp>
        <p:nvGrpSpPr>
          <p:cNvPr id="93" name="Group 92">
            <a:extLst>
              <a:ext uri="{FF2B5EF4-FFF2-40B4-BE49-F238E27FC236}">
                <a16:creationId xmlns:a16="http://schemas.microsoft.com/office/drawing/2014/main" id="{CCAF8E77-6862-3621-B251-FF735D2AEC79}"/>
              </a:ext>
            </a:extLst>
          </p:cNvPr>
          <p:cNvGrpSpPr/>
          <p:nvPr/>
        </p:nvGrpSpPr>
        <p:grpSpPr>
          <a:xfrm>
            <a:off x="9968452" y="3732976"/>
            <a:ext cx="1506640" cy="322423"/>
            <a:chOff x="9953169" y="1820753"/>
            <a:chExt cx="1506640" cy="322423"/>
          </a:xfrm>
        </p:grpSpPr>
        <p:sp>
          <p:nvSpPr>
            <p:cNvPr id="94" name="TextBox 93">
              <a:extLst>
                <a:ext uri="{FF2B5EF4-FFF2-40B4-BE49-F238E27FC236}">
                  <a16:creationId xmlns:a16="http://schemas.microsoft.com/office/drawing/2014/main" id="{E8BC1A04-8AE9-F454-B926-136E1AEA7522}"/>
                </a:ext>
              </a:extLst>
            </p:cNvPr>
            <p:cNvSpPr txBox="1"/>
            <p:nvPr/>
          </p:nvSpPr>
          <p:spPr>
            <a:xfrm>
              <a:off x="9953169" y="1834021"/>
              <a:ext cx="116205" cy="307777"/>
            </a:xfrm>
            <a:prstGeom prst="rect">
              <a:avLst/>
            </a:prstGeom>
            <a:noFill/>
          </p:spPr>
          <p:txBody>
            <a:bodyPr wrap="square" rtlCol="0">
              <a:spAutoFit/>
            </a:bodyPr>
            <a:lstStyle/>
            <a:p>
              <a:r>
                <a:rPr lang="en-IN" sz="1400" dirty="0"/>
                <a:t>0</a:t>
              </a:r>
            </a:p>
          </p:txBody>
        </p:sp>
        <p:sp>
          <p:nvSpPr>
            <p:cNvPr id="95" name="TextBox 94">
              <a:extLst>
                <a:ext uri="{FF2B5EF4-FFF2-40B4-BE49-F238E27FC236}">
                  <a16:creationId xmlns:a16="http://schemas.microsoft.com/office/drawing/2014/main" id="{1F496C94-A315-66C5-3FA8-BC3AD07A2AD7}"/>
                </a:ext>
              </a:extLst>
            </p:cNvPr>
            <p:cNvSpPr txBox="1"/>
            <p:nvPr/>
          </p:nvSpPr>
          <p:spPr>
            <a:xfrm>
              <a:off x="10423654" y="1835399"/>
              <a:ext cx="116205" cy="307777"/>
            </a:xfrm>
            <a:prstGeom prst="rect">
              <a:avLst/>
            </a:prstGeom>
            <a:noFill/>
          </p:spPr>
          <p:txBody>
            <a:bodyPr wrap="square" rtlCol="0">
              <a:spAutoFit/>
            </a:bodyPr>
            <a:lstStyle/>
            <a:p>
              <a:r>
                <a:rPr lang="en-IN" sz="1400" dirty="0"/>
                <a:t>1</a:t>
              </a:r>
            </a:p>
          </p:txBody>
        </p:sp>
        <p:sp>
          <p:nvSpPr>
            <p:cNvPr id="96" name="TextBox 95">
              <a:extLst>
                <a:ext uri="{FF2B5EF4-FFF2-40B4-BE49-F238E27FC236}">
                  <a16:creationId xmlns:a16="http://schemas.microsoft.com/office/drawing/2014/main" id="{4E776A21-9DD9-1BE0-1C1A-D7EC610DB100}"/>
                </a:ext>
              </a:extLst>
            </p:cNvPr>
            <p:cNvSpPr txBox="1"/>
            <p:nvPr/>
          </p:nvSpPr>
          <p:spPr>
            <a:xfrm>
              <a:off x="10883629" y="1820753"/>
              <a:ext cx="116205" cy="307777"/>
            </a:xfrm>
            <a:prstGeom prst="rect">
              <a:avLst/>
            </a:prstGeom>
            <a:noFill/>
          </p:spPr>
          <p:txBody>
            <a:bodyPr wrap="square" rtlCol="0">
              <a:spAutoFit/>
            </a:bodyPr>
            <a:lstStyle/>
            <a:p>
              <a:r>
                <a:rPr lang="en-IN" sz="1400" dirty="0"/>
                <a:t>2</a:t>
              </a:r>
            </a:p>
          </p:txBody>
        </p:sp>
        <p:sp>
          <p:nvSpPr>
            <p:cNvPr id="97" name="TextBox 96">
              <a:extLst>
                <a:ext uri="{FF2B5EF4-FFF2-40B4-BE49-F238E27FC236}">
                  <a16:creationId xmlns:a16="http://schemas.microsoft.com/office/drawing/2014/main" id="{C268813E-3D01-04A9-B97E-06627E834D94}"/>
                </a:ext>
              </a:extLst>
            </p:cNvPr>
            <p:cNvSpPr txBox="1"/>
            <p:nvPr/>
          </p:nvSpPr>
          <p:spPr>
            <a:xfrm>
              <a:off x="11343604" y="1822132"/>
              <a:ext cx="116205" cy="307777"/>
            </a:xfrm>
            <a:prstGeom prst="rect">
              <a:avLst/>
            </a:prstGeom>
            <a:noFill/>
          </p:spPr>
          <p:txBody>
            <a:bodyPr wrap="square" rtlCol="0">
              <a:spAutoFit/>
            </a:bodyPr>
            <a:lstStyle/>
            <a:p>
              <a:r>
                <a:rPr lang="en-IN" sz="1400" dirty="0"/>
                <a:t>3</a:t>
              </a:r>
            </a:p>
          </p:txBody>
        </p:sp>
      </p:grpSp>
      <p:grpSp>
        <p:nvGrpSpPr>
          <p:cNvPr id="98" name="Group 97">
            <a:extLst>
              <a:ext uri="{FF2B5EF4-FFF2-40B4-BE49-F238E27FC236}">
                <a16:creationId xmlns:a16="http://schemas.microsoft.com/office/drawing/2014/main" id="{2846B95B-D3DE-77B4-FC87-02D2754C829C}"/>
              </a:ext>
            </a:extLst>
          </p:cNvPr>
          <p:cNvGrpSpPr/>
          <p:nvPr/>
        </p:nvGrpSpPr>
        <p:grpSpPr>
          <a:xfrm>
            <a:off x="9968452" y="5361815"/>
            <a:ext cx="1506640" cy="322423"/>
            <a:chOff x="9953169" y="1820753"/>
            <a:chExt cx="1506640" cy="322423"/>
          </a:xfrm>
        </p:grpSpPr>
        <p:sp>
          <p:nvSpPr>
            <p:cNvPr id="99" name="TextBox 98">
              <a:extLst>
                <a:ext uri="{FF2B5EF4-FFF2-40B4-BE49-F238E27FC236}">
                  <a16:creationId xmlns:a16="http://schemas.microsoft.com/office/drawing/2014/main" id="{06C5486B-ED2A-D3D8-8A05-FBF7562CB9CA}"/>
                </a:ext>
              </a:extLst>
            </p:cNvPr>
            <p:cNvSpPr txBox="1"/>
            <p:nvPr/>
          </p:nvSpPr>
          <p:spPr>
            <a:xfrm>
              <a:off x="9953169" y="1834021"/>
              <a:ext cx="116205" cy="307777"/>
            </a:xfrm>
            <a:prstGeom prst="rect">
              <a:avLst/>
            </a:prstGeom>
            <a:noFill/>
          </p:spPr>
          <p:txBody>
            <a:bodyPr wrap="square" rtlCol="0">
              <a:spAutoFit/>
            </a:bodyPr>
            <a:lstStyle/>
            <a:p>
              <a:r>
                <a:rPr lang="en-IN" sz="1400" dirty="0"/>
                <a:t>0</a:t>
              </a:r>
            </a:p>
          </p:txBody>
        </p:sp>
        <p:sp>
          <p:nvSpPr>
            <p:cNvPr id="100" name="TextBox 99">
              <a:extLst>
                <a:ext uri="{FF2B5EF4-FFF2-40B4-BE49-F238E27FC236}">
                  <a16:creationId xmlns:a16="http://schemas.microsoft.com/office/drawing/2014/main" id="{CC64B41A-7F2D-31BC-22DB-001AF92142DA}"/>
                </a:ext>
              </a:extLst>
            </p:cNvPr>
            <p:cNvSpPr txBox="1"/>
            <p:nvPr/>
          </p:nvSpPr>
          <p:spPr>
            <a:xfrm>
              <a:off x="10423654" y="1835399"/>
              <a:ext cx="116205" cy="307777"/>
            </a:xfrm>
            <a:prstGeom prst="rect">
              <a:avLst/>
            </a:prstGeom>
            <a:noFill/>
          </p:spPr>
          <p:txBody>
            <a:bodyPr wrap="square" rtlCol="0">
              <a:spAutoFit/>
            </a:bodyPr>
            <a:lstStyle/>
            <a:p>
              <a:r>
                <a:rPr lang="en-IN" sz="1400" dirty="0"/>
                <a:t>1</a:t>
              </a:r>
            </a:p>
          </p:txBody>
        </p:sp>
        <p:sp>
          <p:nvSpPr>
            <p:cNvPr id="101" name="TextBox 100">
              <a:extLst>
                <a:ext uri="{FF2B5EF4-FFF2-40B4-BE49-F238E27FC236}">
                  <a16:creationId xmlns:a16="http://schemas.microsoft.com/office/drawing/2014/main" id="{82F9923F-5500-6040-185E-2C2D5CD5F79D}"/>
                </a:ext>
              </a:extLst>
            </p:cNvPr>
            <p:cNvSpPr txBox="1"/>
            <p:nvPr/>
          </p:nvSpPr>
          <p:spPr>
            <a:xfrm>
              <a:off x="10883629" y="1820753"/>
              <a:ext cx="116205" cy="307777"/>
            </a:xfrm>
            <a:prstGeom prst="rect">
              <a:avLst/>
            </a:prstGeom>
            <a:noFill/>
          </p:spPr>
          <p:txBody>
            <a:bodyPr wrap="square" rtlCol="0">
              <a:spAutoFit/>
            </a:bodyPr>
            <a:lstStyle/>
            <a:p>
              <a:r>
                <a:rPr lang="en-IN" sz="1400" dirty="0"/>
                <a:t>2</a:t>
              </a:r>
            </a:p>
          </p:txBody>
        </p:sp>
        <p:sp>
          <p:nvSpPr>
            <p:cNvPr id="102" name="TextBox 101">
              <a:extLst>
                <a:ext uri="{FF2B5EF4-FFF2-40B4-BE49-F238E27FC236}">
                  <a16:creationId xmlns:a16="http://schemas.microsoft.com/office/drawing/2014/main" id="{4F680314-84B2-A461-61F3-5A3E99B08AFA}"/>
                </a:ext>
              </a:extLst>
            </p:cNvPr>
            <p:cNvSpPr txBox="1"/>
            <p:nvPr/>
          </p:nvSpPr>
          <p:spPr>
            <a:xfrm>
              <a:off x="11343604" y="1822132"/>
              <a:ext cx="116205" cy="307777"/>
            </a:xfrm>
            <a:prstGeom prst="rect">
              <a:avLst/>
            </a:prstGeom>
            <a:noFill/>
          </p:spPr>
          <p:txBody>
            <a:bodyPr wrap="square" rtlCol="0">
              <a:spAutoFit/>
            </a:bodyPr>
            <a:lstStyle/>
            <a:p>
              <a:r>
                <a:rPr lang="en-IN" sz="1400" dirty="0"/>
                <a:t>3</a:t>
              </a:r>
            </a:p>
          </p:txBody>
        </p:sp>
      </p:grpSp>
    </p:spTree>
    <p:extLst>
      <p:ext uri="{BB962C8B-B14F-4D97-AF65-F5344CB8AC3E}">
        <p14:creationId xmlns:p14="http://schemas.microsoft.com/office/powerpoint/2010/main" val="2904038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
                                            <p:txEl>
                                              <p:pRg st="8" end="8"/>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9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8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itle 1"/>
          <p:cNvSpPr>
            <a:spLocks noGrp="1"/>
          </p:cNvSpPr>
          <p:nvPr>
            <p:ph type="title"/>
          </p:nvPr>
        </p:nvSpPr>
        <p:spPr/>
        <p:txBody>
          <a:bodyPr/>
          <a:lstStyle/>
          <a:p>
            <a:r>
              <a:rPr lang="en-IN" dirty="0"/>
              <a:t>Example of </a:t>
            </a:r>
            <a:r>
              <a:rPr lang="en-IN" dirty="0" err="1"/>
              <a:t>CQueue</a:t>
            </a:r>
            <a:r>
              <a:rPr lang="en-IN" dirty="0"/>
              <a:t> Enqueue / Dequeue</a:t>
            </a:r>
            <a:endParaRPr lang="en-US" dirty="0"/>
          </a:p>
        </p:txBody>
      </p:sp>
      <p:grpSp>
        <p:nvGrpSpPr>
          <p:cNvPr id="139" name="Group 138"/>
          <p:cNvGrpSpPr/>
          <p:nvPr/>
        </p:nvGrpSpPr>
        <p:grpSpPr>
          <a:xfrm>
            <a:off x="2286000" y="2209800"/>
            <a:ext cx="1828800" cy="381000"/>
            <a:chOff x="381000" y="1219200"/>
            <a:chExt cx="1828800" cy="381000"/>
          </a:xfrm>
          <a:solidFill>
            <a:schemeClr val="bg2">
              <a:lumMod val="95000"/>
            </a:schemeClr>
          </a:solidFill>
        </p:grpSpPr>
        <p:sp>
          <p:nvSpPr>
            <p:cNvPr id="140" name="Rectangle 139"/>
            <p:cNvSpPr/>
            <p:nvPr/>
          </p:nvSpPr>
          <p:spPr>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p:cNvSpPr/>
            <p:nvPr/>
          </p:nvSpPr>
          <p:spPr>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p:cNvSpPr/>
            <p:nvPr/>
          </p:nvSpPr>
          <p:spPr>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p:cNvSpPr/>
            <p:nvPr/>
          </p:nvSpPr>
          <p:spPr>
            <a:xfrm>
              <a:off x="17526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4" name="Group 143"/>
          <p:cNvGrpSpPr/>
          <p:nvPr/>
        </p:nvGrpSpPr>
        <p:grpSpPr>
          <a:xfrm>
            <a:off x="2286000" y="3733018"/>
            <a:ext cx="1828800" cy="381000"/>
            <a:chOff x="381000" y="1219200"/>
            <a:chExt cx="1828800" cy="381000"/>
          </a:xfrm>
          <a:solidFill>
            <a:schemeClr val="bg2">
              <a:lumMod val="95000"/>
            </a:schemeClr>
          </a:solidFill>
        </p:grpSpPr>
        <p:sp>
          <p:nvSpPr>
            <p:cNvPr id="145" name="Rectangle 144"/>
            <p:cNvSpPr/>
            <p:nvPr/>
          </p:nvSpPr>
          <p:spPr>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p:cNvSpPr/>
            <p:nvPr/>
          </p:nvSpPr>
          <p:spPr>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p:cNvSpPr/>
            <p:nvPr/>
          </p:nvSpPr>
          <p:spPr>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p:cNvSpPr/>
            <p:nvPr/>
          </p:nvSpPr>
          <p:spPr>
            <a:xfrm>
              <a:off x="17526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9" name="Group 148"/>
          <p:cNvGrpSpPr/>
          <p:nvPr/>
        </p:nvGrpSpPr>
        <p:grpSpPr>
          <a:xfrm>
            <a:off x="2286000" y="5351111"/>
            <a:ext cx="1828800" cy="381000"/>
            <a:chOff x="381000" y="1219200"/>
            <a:chExt cx="1828800" cy="381000"/>
          </a:xfrm>
          <a:solidFill>
            <a:schemeClr val="bg2">
              <a:lumMod val="95000"/>
            </a:schemeClr>
          </a:solidFill>
        </p:grpSpPr>
        <p:sp>
          <p:nvSpPr>
            <p:cNvPr id="150" name="Rectangle 149"/>
            <p:cNvSpPr/>
            <p:nvPr/>
          </p:nvSpPr>
          <p:spPr>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p:cNvSpPr/>
            <p:nvPr/>
          </p:nvSpPr>
          <p:spPr>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p:cNvSpPr/>
            <p:nvPr/>
          </p:nvSpPr>
          <p:spPr>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p:cNvSpPr/>
            <p:nvPr/>
          </p:nvSpPr>
          <p:spPr>
            <a:xfrm>
              <a:off x="17526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153"/>
          <p:cNvGrpSpPr/>
          <p:nvPr/>
        </p:nvGrpSpPr>
        <p:grpSpPr>
          <a:xfrm>
            <a:off x="8534400" y="3777344"/>
            <a:ext cx="1828800" cy="381000"/>
            <a:chOff x="381000" y="1219200"/>
            <a:chExt cx="1828800" cy="381000"/>
          </a:xfrm>
          <a:solidFill>
            <a:schemeClr val="bg2">
              <a:lumMod val="95000"/>
            </a:schemeClr>
          </a:solidFill>
        </p:grpSpPr>
        <p:sp>
          <p:nvSpPr>
            <p:cNvPr id="155" name="Rectangle 154"/>
            <p:cNvSpPr/>
            <p:nvPr/>
          </p:nvSpPr>
          <p:spPr>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Rectangle 155"/>
            <p:cNvSpPr/>
            <p:nvPr/>
          </p:nvSpPr>
          <p:spPr>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p:cNvSpPr/>
            <p:nvPr/>
          </p:nvSpPr>
          <p:spPr>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p:cNvSpPr/>
            <p:nvPr/>
          </p:nvSpPr>
          <p:spPr>
            <a:xfrm>
              <a:off x="17526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9" name="Group 158"/>
          <p:cNvGrpSpPr/>
          <p:nvPr/>
        </p:nvGrpSpPr>
        <p:grpSpPr>
          <a:xfrm>
            <a:off x="1598597" y="2684112"/>
            <a:ext cx="293670" cy="592488"/>
            <a:chOff x="774733" y="1681844"/>
            <a:chExt cx="293670" cy="592488"/>
          </a:xfrm>
        </p:grpSpPr>
        <p:sp>
          <p:nvSpPr>
            <p:cNvPr id="160" name="TextBox 159"/>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161" name="Straight Arrow Connector 160"/>
            <p:cNvCxnSpPr>
              <a:stCxn id="160"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62" name="Group 161"/>
          <p:cNvGrpSpPr/>
          <p:nvPr/>
        </p:nvGrpSpPr>
        <p:grpSpPr>
          <a:xfrm>
            <a:off x="1796146" y="2684112"/>
            <a:ext cx="314510" cy="592488"/>
            <a:chOff x="764313" y="1681844"/>
            <a:chExt cx="314510" cy="592488"/>
          </a:xfrm>
        </p:grpSpPr>
        <p:sp>
          <p:nvSpPr>
            <p:cNvPr id="163" name="TextBox 162"/>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164" name="Straight Arrow Connector 163"/>
            <p:cNvCxnSpPr>
              <a:stCxn id="163"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66" name="TextBox 165"/>
          <p:cNvSpPr txBox="1"/>
          <p:nvPr/>
        </p:nvSpPr>
        <p:spPr>
          <a:xfrm>
            <a:off x="2286000" y="1752600"/>
            <a:ext cx="1828800" cy="369332"/>
          </a:xfrm>
          <a:prstGeom prst="rect">
            <a:avLst/>
          </a:prstGeom>
          <a:noFill/>
        </p:spPr>
        <p:txBody>
          <a:bodyPr wrap="square" rtlCol="0">
            <a:spAutoFit/>
          </a:bodyPr>
          <a:lstStyle/>
          <a:p>
            <a:pPr algn="ctr"/>
            <a:r>
              <a:rPr lang="en-IN" b="1" dirty="0"/>
              <a:t>Empty Queue</a:t>
            </a:r>
            <a:endParaRPr lang="en-US" b="1" dirty="0"/>
          </a:p>
        </p:txBody>
      </p:sp>
      <p:sp>
        <p:nvSpPr>
          <p:cNvPr id="167" name="TextBox 166"/>
          <p:cNvSpPr txBox="1"/>
          <p:nvPr/>
        </p:nvSpPr>
        <p:spPr>
          <a:xfrm>
            <a:off x="1495463" y="2200479"/>
            <a:ext cx="385042" cy="369332"/>
          </a:xfrm>
          <a:prstGeom prst="rect">
            <a:avLst/>
          </a:prstGeom>
          <a:noFill/>
        </p:spPr>
        <p:txBody>
          <a:bodyPr wrap="none" rtlCol="0">
            <a:spAutoFit/>
          </a:bodyPr>
          <a:lstStyle/>
          <a:p>
            <a:pPr algn="ctr"/>
            <a:r>
              <a:rPr lang="en-US" b="1" dirty="0"/>
              <a:t>-1</a:t>
            </a:r>
          </a:p>
        </p:txBody>
      </p:sp>
      <p:sp>
        <p:nvSpPr>
          <p:cNvPr id="168" name="TextBox 167"/>
          <p:cNvSpPr txBox="1"/>
          <p:nvPr/>
        </p:nvSpPr>
        <p:spPr>
          <a:xfrm>
            <a:off x="1765353" y="2200479"/>
            <a:ext cx="385042" cy="369332"/>
          </a:xfrm>
          <a:prstGeom prst="rect">
            <a:avLst/>
          </a:prstGeom>
          <a:noFill/>
        </p:spPr>
        <p:txBody>
          <a:bodyPr wrap="none" rtlCol="0">
            <a:spAutoFit/>
          </a:bodyPr>
          <a:lstStyle/>
          <a:p>
            <a:pPr algn="ctr"/>
            <a:r>
              <a:rPr lang="en-IN" b="1" dirty="0"/>
              <a:t>-1</a:t>
            </a:r>
            <a:endParaRPr lang="en-US" b="1" dirty="0"/>
          </a:p>
        </p:txBody>
      </p:sp>
      <p:cxnSp>
        <p:nvCxnSpPr>
          <p:cNvPr id="169" name="Straight Connector 168"/>
          <p:cNvCxnSpPr/>
          <p:nvPr/>
        </p:nvCxnSpPr>
        <p:spPr>
          <a:xfrm>
            <a:off x="1600200" y="3276600"/>
            <a:ext cx="2971800" cy="0"/>
          </a:xfrm>
          <a:prstGeom prst="line">
            <a:avLst/>
          </a:prstGeom>
        </p:spPr>
        <p:style>
          <a:lnRef idx="2">
            <a:schemeClr val="dk1"/>
          </a:lnRef>
          <a:fillRef idx="0">
            <a:schemeClr val="dk1"/>
          </a:fillRef>
          <a:effectRef idx="1">
            <a:schemeClr val="dk1"/>
          </a:effectRef>
          <a:fontRef idx="minor">
            <a:schemeClr val="tx1"/>
          </a:fontRef>
        </p:style>
      </p:cxnSp>
      <p:sp>
        <p:nvSpPr>
          <p:cNvPr id="170" name="TextBox 169"/>
          <p:cNvSpPr txBox="1"/>
          <p:nvPr/>
        </p:nvSpPr>
        <p:spPr>
          <a:xfrm>
            <a:off x="2286000" y="3363686"/>
            <a:ext cx="1828800" cy="369332"/>
          </a:xfrm>
          <a:prstGeom prst="rect">
            <a:avLst/>
          </a:prstGeom>
          <a:noFill/>
        </p:spPr>
        <p:txBody>
          <a:bodyPr wrap="square" rtlCol="0">
            <a:spAutoFit/>
          </a:bodyPr>
          <a:lstStyle/>
          <a:p>
            <a:pPr algn="ctr"/>
            <a:r>
              <a:rPr lang="en-IN" b="1" dirty="0"/>
              <a:t>Enqueue ‘A’</a:t>
            </a:r>
            <a:endParaRPr lang="en-US" b="1" dirty="0"/>
          </a:p>
        </p:txBody>
      </p:sp>
      <p:grpSp>
        <p:nvGrpSpPr>
          <p:cNvPr id="171" name="Group 170"/>
          <p:cNvGrpSpPr/>
          <p:nvPr/>
        </p:nvGrpSpPr>
        <p:grpSpPr>
          <a:xfrm>
            <a:off x="1576827" y="4125687"/>
            <a:ext cx="293670" cy="592488"/>
            <a:chOff x="774733" y="1681844"/>
            <a:chExt cx="293670" cy="592488"/>
          </a:xfrm>
        </p:grpSpPr>
        <p:sp>
          <p:nvSpPr>
            <p:cNvPr id="172" name="TextBox 171"/>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173" name="Straight Arrow Connector 172"/>
            <p:cNvCxnSpPr>
              <a:stCxn id="172"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74" name="Group 173"/>
          <p:cNvGrpSpPr/>
          <p:nvPr/>
        </p:nvGrpSpPr>
        <p:grpSpPr>
          <a:xfrm>
            <a:off x="1752600" y="4131912"/>
            <a:ext cx="314510" cy="592488"/>
            <a:chOff x="764313" y="1681844"/>
            <a:chExt cx="314510" cy="592488"/>
          </a:xfrm>
        </p:grpSpPr>
        <p:sp>
          <p:nvSpPr>
            <p:cNvPr id="175" name="TextBox 174"/>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176" name="Straight Arrow Connector 175"/>
            <p:cNvCxnSpPr>
              <a:stCxn id="175"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77" name="TextBox 176"/>
          <p:cNvSpPr txBox="1"/>
          <p:nvPr/>
        </p:nvSpPr>
        <p:spPr>
          <a:xfrm>
            <a:off x="1600200" y="3406447"/>
            <a:ext cx="545342" cy="369332"/>
          </a:xfrm>
          <a:prstGeom prst="rect">
            <a:avLst/>
          </a:prstGeom>
          <a:noFill/>
        </p:spPr>
        <p:txBody>
          <a:bodyPr wrap="none" rtlCol="0">
            <a:spAutoFit/>
          </a:bodyPr>
          <a:lstStyle/>
          <a:p>
            <a:r>
              <a:rPr lang="en-IN" b="1" dirty="0">
                <a:solidFill>
                  <a:schemeClr val="accent3">
                    <a:lumMod val="75000"/>
                  </a:schemeClr>
                </a:solidFill>
              </a:rPr>
              <a:t>R=0</a:t>
            </a:r>
            <a:endParaRPr lang="en-US" b="1" dirty="0">
              <a:solidFill>
                <a:schemeClr val="accent3">
                  <a:lumMod val="75000"/>
                </a:schemeClr>
              </a:solidFill>
            </a:endParaRPr>
          </a:p>
        </p:txBody>
      </p:sp>
      <p:sp>
        <p:nvSpPr>
          <p:cNvPr id="178" name="TextBox 177"/>
          <p:cNvSpPr txBox="1"/>
          <p:nvPr/>
        </p:nvSpPr>
        <p:spPr>
          <a:xfrm>
            <a:off x="1600200" y="3744686"/>
            <a:ext cx="527709" cy="369332"/>
          </a:xfrm>
          <a:prstGeom prst="rect">
            <a:avLst/>
          </a:prstGeom>
          <a:noFill/>
        </p:spPr>
        <p:txBody>
          <a:bodyPr wrap="none" rtlCol="0">
            <a:spAutoFit/>
          </a:bodyPr>
          <a:lstStyle/>
          <a:p>
            <a:r>
              <a:rPr lang="en-IN" b="1" dirty="0">
                <a:solidFill>
                  <a:schemeClr val="accent3">
                    <a:lumMod val="75000"/>
                  </a:schemeClr>
                </a:solidFill>
              </a:rPr>
              <a:t>F=0</a:t>
            </a:r>
            <a:endParaRPr lang="en-US" b="1" dirty="0">
              <a:solidFill>
                <a:schemeClr val="accent3">
                  <a:lumMod val="75000"/>
                </a:schemeClr>
              </a:solidFill>
            </a:endParaRPr>
          </a:p>
        </p:txBody>
      </p:sp>
      <p:sp>
        <p:nvSpPr>
          <p:cNvPr id="179" name="TextBox 178"/>
          <p:cNvSpPr txBox="1"/>
          <p:nvPr/>
        </p:nvSpPr>
        <p:spPr>
          <a:xfrm>
            <a:off x="2286000" y="3721349"/>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A</a:t>
            </a:r>
            <a:endParaRPr lang="en-US" sz="2000" dirty="0">
              <a:ln w="0"/>
              <a:effectLst>
                <a:outerShdw blurRad="38100" dist="19050" dir="2700000" algn="tl" rotWithShape="0">
                  <a:schemeClr val="dk1">
                    <a:alpha val="40000"/>
                  </a:schemeClr>
                </a:outerShdw>
              </a:effectLst>
            </a:endParaRPr>
          </a:p>
        </p:txBody>
      </p:sp>
      <p:cxnSp>
        <p:nvCxnSpPr>
          <p:cNvPr id="180" name="Straight Connector 179"/>
          <p:cNvCxnSpPr/>
          <p:nvPr/>
        </p:nvCxnSpPr>
        <p:spPr>
          <a:xfrm>
            <a:off x="1600200" y="4800600"/>
            <a:ext cx="2971800" cy="0"/>
          </a:xfrm>
          <a:prstGeom prst="line">
            <a:avLst/>
          </a:prstGeom>
        </p:spPr>
        <p:style>
          <a:lnRef idx="2">
            <a:schemeClr val="dk1"/>
          </a:lnRef>
          <a:fillRef idx="0">
            <a:schemeClr val="dk1"/>
          </a:fillRef>
          <a:effectRef idx="1">
            <a:schemeClr val="dk1"/>
          </a:effectRef>
          <a:fontRef idx="minor">
            <a:schemeClr val="tx1"/>
          </a:fontRef>
        </p:style>
      </p:cxnSp>
      <p:sp>
        <p:nvSpPr>
          <p:cNvPr id="181" name="TextBox 180"/>
          <p:cNvSpPr txBox="1"/>
          <p:nvPr/>
        </p:nvSpPr>
        <p:spPr>
          <a:xfrm>
            <a:off x="2286000" y="4876800"/>
            <a:ext cx="1828800" cy="369332"/>
          </a:xfrm>
          <a:prstGeom prst="rect">
            <a:avLst/>
          </a:prstGeom>
          <a:noFill/>
        </p:spPr>
        <p:txBody>
          <a:bodyPr wrap="square" rtlCol="0">
            <a:spAutoFit/>
          </a:bodyPr>
          <a:lstStyle/>
          <a:p>
            <a:pPr algn="ctr"/>
            <a:r>
              <a:rPr lang="en-IN" b="1" dirty="0"/>
              <a:t>Enqueue ‘B’</a:t>
            </a:r>
            <a:endParaRPr lang="en-US" b="1" dirty="0"/>
          </a:p>
        </p:txBody>
      </p:sp>
      <p:grpSp>
        <p:nvGrpSpPr>
          <p:cNvPr id="182" name="Group 181"/>
          <p:cNvGrpSpPr/>
          <p:nvPr/>
        </p:nvGrpSpPr>
        <p:grpSpPr>
          <a:xfrm>
            <a:off x="5339565" y="2611024"/>
            <a:ext cx="293670" cy="592488"/>
            <a:chOff x="774733" y="1681844"/>
            <a:chExt cx="293670" cy="592488"/>
          </a:xfrm>
        </p:grpSpPr>
        <p:sp>
          <p:nvSpPr>
            <p:cNvPr id="183" name="TextBox 182"/>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184" name="Straight Arrow Connector 183"/>
            <p:cNvCxnSpPr>
              <a:stCxn id="183"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85" name="Group 184"/>
          <p:cNvGrpSpPr/>
          <p:nvPr/>
        </p:nvGrpSpPr>
        <p:grpSpPr>
          <a:xfrm>
            <a:off x="2426377" y="5742998"/>
            <a:ext cx="314510" cy="592488"/>
            <a:chOff x="764313" y="1681844"/>
            <a:chExt cx="314510" cy="592488"/>
          </a:xfrm>
        </p:grpSpPr>
        <p:sp>
          <p:nvSpPr>
            <p:cNvPr id="186" name="TextBox 185"/>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187" name="Straight Arrow Connector 186"/>
            <p:cNvCxnSpPr>
              <a:stCxn id="186"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88" name="TextBox 187"/>
          <p:cNvSpPr txBox="1"/>
          <p:nvPr/>
        </p:nvSpPr>
        <p:spPr>
          <a:xfrm>
            <a:off x="2293436" y="5335998"/>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A</a:t>
            </a:r>
            <a:endParaRPr lang="en-US" sz="2000" dirty="0">
              <a:ln w="0"/>
              <a:effectLst>
                <a:outerShdw blurRad="38100" dist="19050" dir="2700000" algn="tl" rotWithShape="0">
                  <a:schemeClr val="dk1">
                    <a:alpha val="40000"/>
                  </a:schemeClr>
                </a:outerShdw>
              </a:effectLst>
            </a:endParaRPr>
          </a:p>
        </p:txBody>
      </p:sp>
      <p:sp>
        <p:nvSpPr>
          <p:cNvPr id="189" name="TextBox 188"/>
          <p:cNvSpPr txBox="1"/>
          <p:nvPr/>
        </p:nvSpPr>
        <p:spPr>
          <a:xfrm>
            <a:off x="1654629" y="5134180"/>
            <a:ext cx="546945" cy="646331"/>
          </a:xfrm>
          <a:prstGeom prst="rect">
            <a:avLst/>
          </a:prstGeom>
          <a:noFill/>
        </p:spPr>
        <p:txBody>
          <a:bodyPr wrap="none" rtlCol="0">
            <a:spAutoFit/>
          </a:bodyPr>
          <a:lstStyle/>
          <a:p>
            <a:r>
              <a:rPr lang="en-IN" b="1" dirty="0">
                <a:solidFill>
                  <a:schemeClr val="accent3">
                    <a:lumMod val="75000"/>
                  </a:schemeClr>
                </a:solidFill>
              </a:rPr>
              <a:t>R=1</a:t>
            </a:r>
          </a:p>
          <a:p>
            <a:r>
              <a:rPr lang="en-IN" b="1" dirty="0">
                <a:solidFill>
                  <a:schemeClr val="accent3">
                    <a:lumMod val="75000"/>
                  </a:schemeClr>
                </a:solidFill>
              </a:rPr>
              <a:t>F=0</a:t>
            </a:r>
            <a:endParaRPr lang="en-US" b="1" dirty="0">
              <a:solidFill>
                <a:schemeClr val="accent3">
                  <a:lumMod val="75000"/>
                </a:schemeClr>
              </a:solidFill>
            </a:endParaRPr>
          </a:p>
        </p:txBody>
      </p:sp>
      <p:sp>
        <p:nvSpPr>
          <p:cNvPr id="190" name="TextBox 189"/>
          <p:cNvSpPr txBox="1"/>
          <p:nvPr/>
        </p:nvSpPr>
        <p:spPr>
          <a:xfrm>
            <a:off x="2743200" y="5351111"/>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B</a:t>
            </a:r>
            <a:endParaRPr lang="en-US" sz="2000" dirty="0">
              <a:ln w="0"/>
              <a:effectLst>
                <a:outerShdw blurRad="38100" dist="19050" dir="2700000" algn="tl" rotWithShape="0">
                  <a:schemeClr val="dk1">
                    <a:alpha val="40000"/>
                  </a:schemeClr>
                </a:outerShdw>
              </a:effectLst>
            </a:endParaRPr>
          </a:p>
        </p:txBody>
      </p:sp>
      <p:cxnSp>
        <p:nvCxnSpPr>
          <p:cNvPr id="191" name="Straight Connector 190"/>
          <p:cNvCxnSpPr/>
          <p:nvPr/>
        </p:nvCxnSpPr>
        <p:spPr>
          <a:xfrm>
            <a:off x="4572000" y="1752600"/>
            <a:ext cx="0" cy="4572000"/>
          </a:xfrm>
          <a:prstGeom prst="line">
            <a:avLst/>
          </a:prstGeom>
        </p:spPr>
        <p:style>
          <a:lnRef idx="2">
            <a:schemeClr val="dk1"/>
          </a:lnRef>
          <a:fillRef idx="0">
            <a:schemeClr val="dk1"/>
          </a:fillRef>
          <a:effectRef idx="1">
            <a:schemeClr val="dk1"/>
          </a:effectRef>
          <a:fontRef idx="minor">
            <a:schemeClr val="tx1"/>
          </a:fontRef>
        </p:style>
      </p:cxnSp>
      <p:sp>
        <p:nvSpPr>
          <p:cNvPr id="192" name="TextBox 191"/>
          <p:cNvSpPr txBox="1"/>
          <p:nvPr/>
        </p:nvSpPr>
        <p:spPr>
          <a:xfrm>
            <a:off x="5257800" y="1752600"/>
            <a:ext cx="1828800" cy="369332"/>
          </a:xfrm>
          <a:prstGeom prst="rect">
            <a:avLst/>
          </a:prstGeom>
          <a:noFill/>
        </p:spPr>
        <p:txBody>
          <a:bodyPr wrap="square" rtlCol="0">
            <a:spAutoFit/>
          </a:bodyPr>
          <a:lstStyle/>
          <a:p>
            <a:pPr algn="ctr"/>
            <a:r>
              <a:rPr lang="en-IN" b="1" dirty="0"/>
              <a:t>Enqueue ‘C’</a:t>
            </a:r>
            <a:endParaRPr lang="en-US" b="1" dirty="0"/>
          </a:p>
        </p:txBody>
      </p:sp>
      <p:cxnSp>
        <p:nvCxnSpPr>
          <p:cNvPr id="193" name="Straight Connector 192"/>
          <p:cNvCxnSpPr/>
          <p:nvPr/>
        </p:nvCxnSpPr>
        <p:spPr>
          <a:xfrm>
            <a:off x="4572000" y="3276600"/>
            <a:ext cx="2971800" cy="0"/>
          </a:xfrm>
          <a:prstGeom prst="line">
            <a:avLst/>
          </a:prstGeom>
        </p:spPr>
        <p:style>
          <a:lnRef idx="2">
            <a:schemeClr val="dk1"/>
          </a:lnRef>
          <a:fillRef idx="0">
            <a:schemeClr val="dk1"/>
          </a:fillRef>
          <a:effectRef idx="1">
            <a:schemeClr val="dk1"/>
          </a:effectRef>
          <a:fontRef idx="minor">
            <a:schemeClr val="tx1"/>
          </a:fontRef>
        </p:style>
      </p:cxnSp>
      <p:cxnSp>
        <p:nvCxnSpPr>
          <p:cNvPr id="194" name="Straight Connector 193"/>
          <p:cNvCxnSpPr/>
          <p:nvPr/>
        </p:nvCxnSpPr>
        <p:spPr>
          <a:xfrm>
            <a:off x="7543800" y="1752600"/>
            <a:ext cx="0" cy="4572000"/>
          </a:xfrm>
          <a:prstGeom prst="line">
            <a:avLst/>
          </a:prstGeom>
        </p:spPr>
        <p:style>
          <a:lnRef idx="2">
            <a:schemeClr val="dk1"/>
          </a:lnRef>
          <a:fillRef idx="0">
            <a:schemeClr val="dk1"/>
          </a:fillRef>
          <a:effectRef idx="1">
            <a:schemeClr val="dk1"/>
          </a:effectRef>
          <a:fontRef idx="minor">
            <a:schemeClr val="tx1"/>
          </a:fontRef>
        </p:style>
      </p:cxnSp>
      <p:cxnSp>
        <p:nvCxnSpPr>
          <p:cNvPr id="195" name="Straight Connector 194"/>
          <p:cNvCxnSpPr/>
          <p:nvPr/>
        </p:nvCxnSpPr>
        <p:spPr>
          <a:xfrm>
            <a:off x="7543800" y="3276600"/>
            <a:ext cx="2971800" cy="0"/>
          </a:xfrm>
          <a:prstGeom prst="line">
            <a:avLst/>
          </a:prstGeom>
        </p:spPr>
        <p:style>
          <a:lnRef idx="2">
            <a:schemeClr val="dk1"/>
          </a:lnRef>
          <a:fillRef idx="0">
            <a:schemeClr val="dk1"/>
          </a:fillRef>
          <a:effectRef idx="1">
            <a:schemeClr val="dk1"/>
          </a:effectRef>
          <a:fontRef idx="minor">
            <a:schemeClr val="tx1"/>
          </a:fontRef>
        </p:style>
      </p:cxnSp>
      <p:grpSp>
        <p:nvGrpSpPr>
          <p:cNvPr id="196" name="Group 195"/>
          <p:cNvGrpSpPr/>
          <p:nvPr/>
        </p:nvGrpSpPr>
        <p:grpSpPr>
          <a:xfrm>
            <a:off x="5257800" y="2209800"/>
            <a:ext cx="1828800" cy="381000"/>
            <a:chOff x="381000" y="1219200"/>
            <a:chExt cx="1828800" cy="381000"/>
          </a:xfrm>
          <a:solidFill>
            <a:schemeClr val="bg2">
              <a:lumMod val="95000"/>
            </a:schemeClr>
          </a:solidFill>
        </p:grpSpPr>
        <p:sp>
          <p:nvSpPr>
            <p:cNvPr id="197" name="Rectangle 196"/>
            <p:cNvSpPr/>
            <p:nvPr/>
          </p:nvSpPr>
          <p:spPr>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p:cNvSpPr/>
            <p:nvPr/>
          </p:nvSpPr>
          <p:spPr>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p:cNvSpPr/>
            <p:nvPr/>
          </p:nvSpPr>
          <p:spPr>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p:cNvSpPr/>
            <p:nvPr/>
          </p:nvSpPr>
          <p:spPr>
            <a:xfrm>
              <a:off x="17526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1" name="TextBox 200"/>
          <p:cNvSpPr txBox="1"/>
          <p:nvPr/>
        </p:nvSpPr>
        <p:spPr>
          <a:xfrm>
            <a:off x="5257800" y="2209800"/>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A</a:t>
            </a:r>
            <a:endParaRPr lang="en-US" sz="2000" dirty="0">
              <a:ln w="0"/>
              <a:effectLst>
                <a:outerShdw blurRad="38100" dist="19050" dir="2700000" algn="tl" rotWithShape="0">
                  <a:schemeClr val="dk1">
                    <a:alpha val="40000"/>
                  </a:schemeClr>
                </a:outerShdw>
              </a:effectLst>
            </a:endParaRPr>
          </a:p>
        </p:txBody>
      </p:sp>
      <p:sp>
        <p:nvSpPr>
          <p:cNvPr id="202" name="TextBox 201"/>
          <p:cNvSpPr txBox="1"/>
          <p:nvPr/>
        </p:nvSpPr>
        <p:spPr>
          <a:xfrm>
            <a:off x="5715000" y="2209800"/>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B</a:t>
            </a:r>
            <a:endParaRPr lang="en-US" sz="2000" dirty="0">
              <a:ln w="0"/>
              <a:effectLst>
                <a:outerShdw blurRad="38100" dist="19050" dir="2700000" algn="tl" rotWithShape="0">
                  <a:schemeClr val="dk1">
                    <a:alpha val="40000"/>
                  </a:schemeClr>
                </a:outerShdw>
              </a:effectLst>
            </a:endParaRPr>
          </a:p>
        </p:txBody>
      </p:sp>
      <p:grpSp>
        <p:nvGrpSpPr>
          <p:cNvPr id="203" name="Group 202"/>
          <p:cNvGrpSpPr/>
          <p:nvPr/>
        </p:nvGrpSpPr>
        <p:grpSpPr>
          <a:xfrm>
            <a:off x="2262623" y="5750755"/>
            <a:ext cx="293670" cy="572201"/>
            <a:chOff x="774733" y="1681843"/>
            <a:chExt cx="293670" cy="629422"/>
          </a:xfrm>
        </p:grpSpPr>
        <p:sp>
          <p:nvSpPr>
            <p:cNvPr id="204" name="TextBox 203"/>
            <p:cNvSpPr txBox="1"/>
            <p:nvPr/>
          </p:nvSpPr>
          <p:spPr>
            <a:xfrm>
              <a:off x="774733" y="1905000"/>
              <a:ext cx="293670" cy="406265"/>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205" name="Straight Arrow Connector 204"/>
            <p:cNvCxnSpPr>
              <a:stCxn id="204" idx="0"/>
            </p:cNvCxnSpPr>
            <p:nvPr/>
          </p:nvCxnSpPr>
          <p:spPr>
            <a:xfrm flipV="1">
              <a:off x="921568" y="1681843"/>
              <a:ext cx="0" cy="22315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206" name="Group 205"/>
          <p:cNvGrpSpPr/>
          <p:nvPr/>
        </p:nvGrpSpPr>
        <p:grpSpPr>
          <a:xfrm>
            <a:off x="5804399" y="2612573"/>
            <a:ext cx="314510" cy="592488"/>
            <a:chOff x="764313" y="1681844"/>
            <a:chExt cx="314510" cy="592488"/>
          </a:xfrm>
        </p:grpSpPr>
        <p:sp>
          <p:nvSpPr>
            <p:cNvPr id="207" name="TextBox 206"/>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208" name="Straight Arrow Connector 207"/>
            <p:cNvCxnSpPr>
              <a:stCxn id="207"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209" name="TextBox 208"/>
          <p:cNvSpPr txBox="1"/>
          <p:nvPr/>
        </p:nvSpPr>
        <p:spPr>
          <a:xfrm>
            <a:off x="4615544" y="1796145"/>
            <a:ext cx="542136" cy="646331"/>
          </a:xfrm>
          <a:prstGeom prst="rect">
            <a:avLst/>
          </a:prstGeom>
          <a:noFill/>
        </p:spPr>
        <p:txBody>
          <a:bodyPr wrap="none" rtlCol="0">
            <a:spAutoFit/>
          </a:bodyPr>
          <a:lstStyle/>
          <a:p>
            <a:r>
              <a:rPr lang="en-IN" b="1" dirty="0">
                <a:solidFill>
                  <a:schemeClr val="accent3">
                    <a:lumMod val="75000"/>
                  </a:schemeClr>
                </a:solidFill>
              </a:rPr>
              <a:t>R=2</a:t>
            </a:r>
          </a:p>
          <a:p>
            <a:r>
              <a:rPr lang="en-IN" b="1" dirty="0">
                <a:solidFill>
                  <a:schemeClr val="accent3">
                    <a:lumMod val="75000"/>
                  </a:schemeClr>
                </a:solidFill>
              </a:rPr>
              <a:t>F=0</a:t>
            </a:r>
          </a:p>
        </p:txBody>
      </p:sp>
      <p:sp>
        <p:nvSpPr>
          <p:cNvPr id="210" name="TextBox 209"/>
          <p:cNvSpPr txBox="1"/>
          <p:nvPr/>
        </p:nvSpPr>
        <p:spPr>
          <a:xfrm>
            <a:off x="6172200" y="2209800"/>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C</a:t>
            </a:r>
            <a:endParaRPr lang="en-US" sz="2000" dirty="0">
              <a:ln w="0"/>
              <a:effectLst>
                <a:outerShdw blurRad="38100" dist="19050" dir="2700000" algn="tl" rotWithShape="0">
                  <a:schemeClr val="dk1">
                    <a:alpha val="40000"/>
                  </a:schemeClr>
                </a:outerShdw>
              </a:effectLst>
            </a:endParaRPr>
          </a:p>
        </p:txBody>
      </p:sp>
      <p:grpSp>
        <p:nvGrpSpPr>
          <p:cNvPr id="211" name="Group 210"/>
          <p:cNvGrpSpPr/>
          <p:nvPr/>
        </p:nvGrpSpPr>
        <p:grpSpPr>
          <a:xfrm>
            <a:off x="5257800" y="3775779"/>
            <a:ext cx="1828800" cy="381000"/>
            <a:chOff x="381000" y="1219200"/>
            <a:chExt cx="1828800" cy="381000"/>
          </a:xfrm>
          <a:solidFill>
            <a:schemeClr val="bg2">
              <a:lumMod val="95000"/>
            </a:schemeClr>
          </a:solidFill>
        </p:grpSpPr>
        <p:sp>
          <p:nvSpPr>
            <p:cNvPr id="212" name="Rectangle 211"/>
            <p:cNvSpPr/>
            <p:nvPr/>
          </p:nvSpPr>
          <p:spPr>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p:cNvSpPr/>
            <p:nvPr/>
          </p:nvSpPr>
          <p:spPr>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p:cNvSpPr/>
            <p:nvPr/>
          </p:nvSpPr>
          <p:spPr>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p:cNvSpPr/>
            <p:nvPr/>
          </p:nvSpPr>
          <p:spPr>
            <a:xfrm>
              <a:off x="17526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6" name="TextBox 215"/>
          <p:cNvSpPr txBox="1"/>
          <p:nvPr/>
        </p:nvSpPr>
        <p:spPr>
          <a:xfrm>
            <a:off x="5246914" y="3406447"/>
            <a:ext cx="1828800" cy="369332"/>
          </a:xfrm>
          <a:prstGeom prst="rect">
            <a:avLst/>
          </a:prstGeom>
          <a:noFill/>
        </p:spPr>
        <p:txBody>
          <a:bodyPr wrap="square" rtlCol="0">
            <a:spAutoFit/>
          </a:bodyPr>
          <a:lstStyle/>
          <a:p>
            <a:pPr algn="ctr"/>
            <a:r>
              <a:rPr lang="en-IN" b="1" dirty="0"/>
              <a:t>Dequeue</a:t>
            </a:r>
            <a:endParaRPr lang="en-US" b="1" dirty="0"/>
          </a:p>
        </p:txBody>
      </p:sp>
      <p:sp>
        <p:nvSpPr>
          <p:cNvPr id="217" name="TextBox 216"/>
          <p:cNvSpPr txBox="1"/>
          <p:nvPr/>
        </p:nvSpPr>
        <p:spPr>
          <a:xfrm>
            <a:off x="5246914" y="3766456"/>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A</a:t>
            </a:r>
            <a:endParaRPr lang="en-US" sz="2000" dirty="0">
              <a:ln w="0"/>
              <a:effectLst>
                <a:outerShdw blurRad="38100" dist="19050" dir="2700000" algn="tl" rotWithShape="0">
                  <a:schemeClr val="dk1">
                    <a:alpha val="40000"/>
                  </a:schemeClr>
                </a:outerShdw>
              </a:effectLst>
            </a:endParaRPr>
          </a:p>
        </p:txBody>
      </p:sp>
      <p:sp>
        <p:nvSpPr>
          <p:cNvPr id="218" name="TextBox 217"/>
          <p:cNvSpPr txBox="1"/>
          <p:nvPr/>
        </p:nvSpPr>
        <p:spPr>
          <a:xfrm>
            <a:off x="5715000" y="3766458"/>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B</a:t>
            </a:r>
            <a:endParaRPr lang="en-US" sz="2000" dirty="0">
              <a:ln w="0"/>
              <a:effectLst>
                <a:outerShdw blurRad="38100" dist="19050" dir="2700000" algn="tl" rotWithShape="0">
                  <a:schemeClr val="dk1">
                    <a:alpha val="40000"/>
                  </a:schemeClr>
                </a:outerShdw>
              </a:effectLst>
            </a:endParaRPr>
          </a:p>
        </p:txBody>
      </p:sp>
      <p:sp>
        <p:nvSpPr>
          <p:cNvPr id="219" name="TextBox 218"/>
          <p:cNvSpPr txBox="1"/>
          <p:nvPr/>
        </p:nvSpPr>
        <p:spPr>
          <a:xfrm>
            <a:off x="6172200" y="3766458"/>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C</a:t>
            </a:r>
            <a:endParaRPr lang="en-US" sz="2000" dirty="0">
              <a:ln w="0"/>
              <a:effectLst>
                <a:outerShdw blurRad="38100" dist="19050" dir="2700000" algn="tl" rotWithShape="0">
                  <a:schemeClr val="dk1">
                    <a:alpha val="40000"/>
                  </a:schemeClr>
                </a:outerShdw>
              </a:effectLst>
            </a:endParaRPr>
          </a:p>
        </p:txBody>
      </p:sp>
      <p:grpSp>
        <p:nvGrpSpPr>
          <p:cNvPr id="220" name="Group 219"/>
          <p:cNvGrpSpPr/>
          <p:nvPr/>
        </p:nvGrpSpPr>
        <p:grpSpPr>
          <a:xfrm>
            <a:off x="5332397" y="4175454"/>
            <a:ext cx="293670" cy="592488"/>
            <a:chOff x="774733" y="1681844"/>
            <a:chExt cx="293670" cy="592488"/>
          </a:xfrm>
        </p:grpSpPr>
        <p:sp>
          <p:nvSpPr>
            <p:cNvPr id="221" name="TextBox 220"/>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222" name="Straight Arrow Connector 221"/>
            <p:cNvCxnSpPr>
              <a:stCxn id="221"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223" name="Group 222"/>
          <p:cNvGrpSpPr/>
          <p:nvPr/>
        </p:nvGrpSpPr>
        <p:grpSpPr>
          <a:xfrm>
            <a:off x="6250713" y="4191001"/>
            <a:ext cx="314510" cy="592488"/>
            <a:chOff x="764313" y="1681844"/>
            <a:chExt cx="314510" cy="592488"/>
          </a:xfrm>
        </p:grpSpPr>
        <p:sp>
          <p:nvSpPr>
            <p:cNvPr id="224" name="TextBox 223"/>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225" name="Straight Arrow Connector 224"/>
            <p:cNvCxnSpPr>
              <a:stCxn id="224"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226" name="TextBox 225"/>
          <p:cNvSpPr txBox="1"/>
          <p:nvPr/>
        </p:nvSpPr>
        <p:spPr>
          <a:xfrm>
            <a:off x="4615544" y="3320965"/>
            <a:ext cx="542136" cy="646331"/>
          </a:xfrm>
          <a:prstGeom prst="rect">
            <a:avLst/>
          </a:prstGeom>
          <a:noFill/>
        </p:spPr>
        <p:txBody>
          <a:bodyPr wrap="none" rtlCol="0">
            <a:spAutoFit/>
          </a:bodyPr>
          <a:lstStyle/>
          <a:p>
            <a:r>
              <a:rPr lang="en-IN" b="1" dirty="0">
                <a:solidFill>
                  <a:schemeClr val="accent3">
                    <a:lumMod val="75000"/>
                  </a:schemeClr>
                </a:solidFill>
              </a:rPr>
              <a:t>R=2</a:t>
            </a:r>
          </a:p>
          <a:p>
            <a:r>
              <a:rPr lang="en-IN" b="1" dirty="0">
                <a:solidFill>
                  <a:schemeClr val="accent3">
                    <a:lumMod val="75000"/>
                  </a:schemeClr>
                </a:solidFill>
              </a:rPr>
              <a:t>F=1</a:t>
            </a:r>
          </a:p>
        </p:txBody>
      </p:sp>
      <p:cxnSp>
        <p:nvCxnSpPr>
          <p:cNvPr id="227" name="Straight Connector 226"/>
          <p:cNvCxnSpPr/>
          <p:nvPr/>
        </p:nvCxnSpPr>
        <p:spPr>
          <a:xfrm>
            <a:off x="4572000" y="4800600"/>
            <a:ext cx="2971800" cy="0"/>
          </a:xfrm>
          <a:prstGeom prst="line">
            <a:avLst/>
          </a:prstGeom>
        </p:spPr>
        <p:style>
          <a:lnRef idx="2">
            <a:schemeClr val="dk1"/>
          </a:lnRef>
          <a:fillRef idx="0">
            <a:schemeClr val="dk1"/>
          </a:fillRef>
          <a:effectRef idx="1">
            <a:schemeClr val="dk1"/>
          </a:effectRef>
          <a:fontRef idx="minor">
            <a:schemeClr val="tx1"/>
          </a:fontRef>
        </p:style>
      </p:cxnSp>
      <p:sp>
        <p:nvSpPr>
          <p:cNvPr id="228" name="TextBox 227"/>
          <p:cNvSpPr txBox="1"/>
          <p:nvPr/>
        </p:nvSpPr>
        <p:spPr>
          <a:xfrm>
            <a:off x="5341168" y="4876800"/>
            <a:ext cx="1828800" cy="369332"/>
          </a:xfrm>
          <a:prstGeom prst="rect">
            <a:avLst/>
          </a:prstGeom>
          <a:noFill/>
        </p:spPr>
        <p:txBody>
          <a:bodyPr wrap="square" rtlCol="0">
            <a:spAutoFit/>
          </a:bodyPr>
          <a:lstStyle/>
          <a:p>
            <a:pPr algn="ctr"/>
            <a:r>
              <a:rPr lang="en-IN" b="1" dirty="0"/>
              <a:t>Dequeue </a:t>
            </a:r>
            <a:endParaRPr lang="en-US" b="1" dirty="0"/>
          </a:p>
        </p:txBody>
      </p:sp>
      <p:grpSp>
        <p:nvGrpSpPr>
          <p:cNvPr id="229" name="Group 228"/>
          <p:cNvGrpSpPr/>
          <p:nvPr/>
        </p:nvGrpSpPr>
        <p:grpSpPr>
          <a:xfrm>
            <a:off x="5341168" y="5335998"/>
            <a:ext cx="1828800" cy="381000"/>
            <a:chOff x="381000" y="1219200"/>
            <a:chExt cx="1828800" cy="381000"/>
          </a:xfrm>
          <a:solidFill>
            <a:schemeClr val="bg2">
              <a:lumMod val="95000"/>
            </a:schemeClr>
          </a:solidFill>
        </p:grpSpPr>
        <p:sp>
          <p:nvSpPr>
            <p:cNvPr id="230" name="Rectangle 229"/>
            <p:cNvSpPr/>
            <p:nvPr/>
          </p:nvSpPr>
          <p:spPr>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p:cNvSpPr/>
            <p:nvPr/>
          </p:nvSpPr>
          <p:spPr>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p:cNvSpPr/>
            <p:nvPr/>
          </p:nvSpPr>
          <p:spPr>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p:cNvSpPr/>
            <p:nvPr/>
          </p:nvSpPr>
          <p:spPr>
            <a:xfrm>
              <a:off x="17526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4" name="TextBox 233"/>
          <p:cNvSpPr txBox="1"/>
          <p:nvPr/>
        </p:nvSpPr>
        <p:spPr>
          <a:xfrm>
            <a:off x="5793514" y="5334002"/>
            <a:ext cx="451169"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B</a:t>
            </a:r>
            <a:endParaRPr lang="en-US" sz="2000" dirty="0">
              <a:ln w="0"/>
              <a:effectLst>
                <a:outerShdw blurRad="38100" dist="19050" dir="2700000" algn="tl" rotWithShape="0">
                  <a:schemeClr val="dk1">
                    <a:alpha val="40000"/>
                  </a:schemeClr>
                </a:outerShdw>
              </a:effectLst>
            </a:endParaRPr>
          </a:p>
        </p:txBody>
      </p:sp>
      <p:sp>
        <p:nvSpPr>
          <p:cNvPr id="235" name="TextBox 234"/>
          <p:cNvSpPr txBox="1"/>
          <p:nvPr/>
        </p:nvSpPr>
        <p:spPr>
          <a:xfrm>
            <a:off x="6250714" y="5324081"/>
            <a:ext cx="451169"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C</a:t>
            </a:r>
            <a:endParaRPr lang="en-US" sz="2000" dirty="0">
              <a:ln w="0"/>
              <a:effectLst>
                <a:outerShdw blurRad="38100" dist="19050" dir="2700000" algn="tl" rotWithShape="0">
                  <a:schemeClr val="dk1">
                    <a:alpha val="40000"/>
                  </a:schemeClr>
                </a:outerShdw>
              </a:effectLst>
            </a:endParaRPr>
          </a:p>
        </p:txBody>
      </p:sp>
      <p:grpSp>
        <p:nvGrpSpPr>
          <p:cNvPr id="236" name="Group 235"/>
          <p:cNvGrpSpPr/>
          <p:nvPr/>
        </p:nvGrpSpPr>
        <p:grpSpPr>
          <a:xfrm>
            <a:off x="6423294" y="5724191"/>
            <a:ext cx="314510" cy="592488"/>
            <a:chOff x="764313" y="1681844"/>
            <a:chExt cx="314510" cy="592488"/>
          </a:xfrm>
        </p:grpSpPr>
        <p:sp>
          <p:nvSpPr>
            <p:cNvPr id="237" name="TextBox 236"/>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238" name="Straight Arrow Connector 237"/>
            <p:cNvCxnSpPr>
              <a:stCxn id="237"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239" name="Group 238"/>
          <p:cNvGrpSpPr/>
          <p:nvPr/>
        </p:nvGrpSpPr>
        <p:grpSpPr>
          <a:xfrm>
            <a:off x="5877820" y="5725886"/>
            <a:ext cx="293670" cy="592488"/>
            <a:chOff x="774733" y="1681844"/>
            <a:chExt cx="293670" cy="592488"/>
          </a:xfrm>
        </p:grpSpPr>
        <p:sp>
          <p:nvSpPr>
            <p:cNvPr id="240" name="TextBox 239"/>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241" name="Straight Arrow Connector 240"/>
            <p:cNvCxnSpPr>
              <a:stCxn id="240"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242" name="TextBox 241"/>
          <p:cNvSpPr txBox="1"/>
          <p:nvPr/>
        </p:nvSpPr>
        <p:spPr>
          <a:xfrm>
            <a:off x="4648200" y="4840070"/>
            <a:ext cx="542136" cy="646331"/>
          </a:xfrm>
          <a:prstGeom prst="rect">
            <a:avLst/>
          </a:prstGeom>
          <a:noFill/>
        </p:spPr>
        <p:txBody>
          <a:bodyPr wrap="none" rtlCol="0">
            <a:spAutoFit/>
          </a:bodyPr>
          <a:lstStyle/>
          <a:p>
            <a:r>
              <a:rPr lang="en-IN" b="1" dirty="0">
                <a:solidFill>
                  <a:schemeClr val="accent3">
                    <a:lumMod val="75000"/>
                  </a:schemeClr>
                </a:solidFill>
              </a:rPr>
              <a:t>R=2</a:t>
            </a:r>
          </a:p>
          <a:p>
            <a:r>
              <a:rPr lang="en-IN" b="1" dirty="0">
                <a:solidFill>
                  <a:schemeClr val="accent3">
                    <a:lumMod val="75000"/>
                  </a:schemeClr>
                </a:solidFill>
              </a:rPr>
              <a:t>F=2</a:t>
            </a:r>
          </a:p>
        </p:txBody>
      </p:sp>
      <p:sp>
        <p:nvSpPr>
          <p:cNvPr id="243" name="TextBox 242"/>
          <p:cNvSpPr txBox="1"/>
          <p:nvPr/>
        </p:nvSpPr>
        <p:spPr>
          <a:xfrm>
            <a:off x="8382000" y="1752600"/>
            <a:ext cx="1828800" cy="369332"/>
          </a:xfrm>
          <a:prstGeom prst="rect">
            <a:avLst/>
          </a:prstGeom>
          <a:noFill/>
        </p:spPr>
        <p:txBody>
          <a:bodyPr wrap="square" rtlCol="0">
            <a:spAutoFit/>
          </a:bodyPr>
          <a:lstStyle/>
          <a:p>
            <a:pPr algn="ctr"/>
            <a:r>
              <a:rPr lang="en-IN" b="1" dirty="0"/>
              <a:t>Enqueue ‘D’</a:t>
            </a:r>
            <a:endParaRPr lang="en-US" b="1" dirty="0"/>
          </a:p>
        </p:txBody>
      </p:sp>
      <p:grpSp>
        <p:nvGrpSpPr>
          <p:cNvPr id="244" name="Group 243"/>
          <p:cNvGrpSpPr/>
          <p:nvPr/>
        </p:nvGrpSpPr>
        <p:grpSpPr>
          <a:xfrm>
            <a:off x="8458200" y="2188811"/>
            <a:ext cx="1828800" cy="381000"/>
            <a:chOff x="381000" y="1219200"/>
            <a:chExt cx="1828800" cy="381000"/>
          </a:xfrm>
          <a:solidFill>
            <a:schemeClr val="bg2">
              <a:lumMod val="95000"/>
            </a:schemeClr>
          </a:solidFill>
        </p:grpSpPr>
        <p:sp>
          <p:nvSpPr>
            <p:cNvPr id="245" name="Rectangle 244"/>
            <p:cNvSpPr/>
            <p:nvPr/>
          </p:nvSpPr>
          <p:spPr>
            <a:xfrm>
              <a:off x="3810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p:cNvSpPr/>
            <p:nvPr/>
          </p:nvSpPr>
          <p:spPr>
            <a:xfrm>
              <a:off x="8382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p:cNvSpPr/>
            <p:nvPr/>
          </p:nvSpPr>
          <p:spPr>
            <a:xfrm>
              <a:off x="12954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p:cNvSpPr/>
            <p:nvPr/>
          </p:nvSpPr>
          <p:spPr>
            <a:xfrm>
              <a:off x="1752600" y="1219200"/>
              <a:ext cx="457200" cy="381000"/>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9" name="Group 248"/>
          <p:cNvGrpSpPr/>
          <p:nvPr/>
        </p:nvGrpSpPr>
        <p:grpSpPr>
          <a:xfrm>
            <a:off x="9349226" y="2572535"/>
            <a:ext cx="293670" cy="592488"/>
            <a:chOff x="774733" y="1681844"/>
            <a:chExt cx="293670" cy="592488"/>
          </a:xfrm>
        </p:grpSpPr>
        <p:sp>
          <p:nvSpPr>
            <p:cNvPr id="250" name="TextBox 249"/>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251" name="Straight Arrow Connector 250"/>
            <p:cNvCxnSpPr>
              <a:stCxn id="250"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252" name="Group 251"/>
          <p:cNvGrpSpPr/>
          <p:nvPr/>
        </p:nvGrpSpPr>
        <p:grpSpPr>
          <a:xfrm>
            <a:off x="9556521" y="2575254"/>
            <a:ext cx="314510" cy="592488"/>
            <a:chOff x="764313" y="1681844"/>
            <a:chExt cx="314510" cy="592488"/>
          </a:xfrm>
        </p:grpSpPr>
        <p:sp>
          <p:nvSpPr>
            <p:cNvPr id="253" name="TextBox 252"/>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254" name="Straight Arrow Connector 253"/>
            <p:cNvCxnSpPr>
              <a:stCxn id="253"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255" name="TextBox 254"/>
          <p:cNvSpPr txBox="1"/>
          <p:nvPr/>
        </p:nvSpPr>
        <p:spPr>
          <a:xfrm>
            <a:off x="9372600" y="2188811"/>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C</a:t>
            </a:r>
            <a:endParaRPr lang="en-US" sz="2000" dirty="0">
              <a:ln w="0"/>
              <a:effectLst>
                <a:outerShdw blurRad="38100" dist="19050" dir="2700000" algn="tl" rotWithShape="0">
                  <a:schemeClr val="dk1">
                    <a:alpha val="40000"/>
                  </a:schemeClr>
                </a:outerShdw>
              </a:effectLst>
            </a:endParaRPr>
          </a:p>
        </p:txBody>
      </p:sp>
      <p:sp>
        <p:nvSpPr>
          <p:cNvPr id="256" name="TextBox 255"/>
          <p:cNvSpPr txBox="1"/>
          <p:nvPr/>
        </p:nvSpPr>
        <p:spPr>
          <a:xfrm>
            <a:off x="7620000" y="1769907"/>
            <a:ext cx="542136" cy="646331"/>
          </a:xfrm>
          <a:prstGeom prst="rect">
            <a:avLst/>
          </a:prstGeom>
          <a:noFill/>
        </p:spPr>
        <p:txBody>
          <a:bodyPr wrap="none" rtlCol="0">
            <a:spAutoFit/>
          </a:bodyPr>
          <a:lstStyle/>
          <a:p>
            <a:r>
              <a:rPr lang="en-IN" b="1" dirty="0">
                <a:solidFill>
                  <a:schemeClr val="accent3">
                    <a:lumMod val="75000"/>
                  </a:schemeClr>
                </a:solidFill>
              </a:rPr>
              <a:t>R=3</a:t>
            </a:r>
          </a:p>
          <a:p>
            <a:r>
              <a:rPr lang="en-IN" b="1" dirty="0">
                <a:solidFill>
                  <a:schemeClr val="accent3">
                    <a:lumMod val="75000"/>
                  </a:schemeClr>
                </a:solidFill>
              </a:rPr>
              <a:t>F=2</a:t>
            </a:r>
          </a:p>
        </p:txBody>
      </p:sp>
      <p:sp>
        <p:nvSpPr>
          <p:cNvPr id="257" name="TextBox 256"/>
          <p:cNvSpPr txBox="1"/>
          <p:nvPr/>
        </p:nvSpPr>
        <p:spPr>
          <a:xfrm>
            <a:off x="9829800" y="2188811"/>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D</a:t>
            </a:r>
            <a:endParaRPr lang="en-US" sz="2000" dirty="0">
              <a:ln w="0"/>
              <a:effectLst>
                <a:outerShdw blurRad="38100" dist="19050" dir="2700000" algn="tl" rotWithShape="0">
                  <a:schemeClr val="dk1">
                    <a:alpha val="40000"/>
                  </a:schemeClr>
                </a:outerShdw>
              </a:effectLst>
            </a:endParaRPr>
          </a:p>
        </p:txBody>
      </p:sp>
      <p:sp>
        <p:nvSpPr>
          <p:cNvPr id="258" name="TextBox 257"/>
          <p:cNvSpPr txBox="1"/>
          <p:nvPr/>
        </p:nvSpPr>
        <p:spPr>
          <a:xfrm>
            <a:off x="8476522" y="3405424"/>
            <a:ext cx="1828800" cy="369332"/>
          </a:xfrm>
          <a:prstGeom prst="rect">
            <a:avLst/>
          </a:prstGeom>
          <a:noFill/>
        </p:spPr>
        <p:txBody>
          <a:bodyPr wrap="square" rtlCol="0">
            <a:spAutoFit/>
          </a:bodyPr>
          <a:lstStyle/>
          <a:p>
            <a:pPr algn="ctr"/>
            <a:r>
              <a:rPr lang="en-IN" b="1" dirty="0"/>
              <a:t>Enqueue ‘E’</a:t>
            </a:r>
            <a:endParaRPr lang="en-US" b="1" dirty="0"/>
          </a:p>
        </p:txBody>
      </p:sp>
      <p:grpSp>
        <p:nvGrpSpPr>
          <p:cNvPr id="259" name="Group 258"/>
          <p:cNvGrpSpPr/>
          <p:nvPr/>
        </p:nvGrpSpPr>
        <p:grpSpPr>
          <a:xfrm>
            <a:off x="9972490" y="4175454"/>
            <a:ext cx="314510" cy="592488"/>
            <a:chOff x="764313" y="1681844"/>
            <a:chExt cx="314510" cy="592488"/>
          </a:xfrm>
        </p:grpSpPr>
        <p:sp>
          <p:nvSpPr>
            <p:cNvPr id="260" name="TextBox 259"/>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261" name="Straight Arrow Connector 260"/>
            <p:cNvCxnSpPr>
              <a:stCxn id="260"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262" name="Group 261"/>
          <p:cNvGrpSpPr/>
          <p:nvPr/>
        </p:nvGrpSpPr>
        <p:grpSpPr>
          <a:xfrm>
            <a:off x="9525710" y="4180114"/>
            <a:ext cx="293670" cy="592488"/>
            <a:chOff x="774733" y="1681844"/>
            <a:chExt cx="293670" cy="592488"/>
          </a:xfrm>
        </p:grpSpPr>
        <p:sp>
          <p:nvSpPr>
            <p:cNvPr id="263" name="TextBox 262"/>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264" name="Straight Arrow Connector 263"/>
            <p:cNvCxnSpPr>
              <a:stCxn id="263"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265" name="TextBox 264"/>
          <p:cNvSpPr txBox="1"/>
          <p:nvPr/>
        </p:nvSpPr>
        <p:spPr>
          <a:xfrm>
            <a:off x="9459686" y="3777344"/>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C</a:t>
            </a:r>
            <a:endParaRPr lang="en-US" sz="2000" dirty="0">
              <a:ln w="0"/>
              <a:effectLst>
                <a:outerShdw blurRad="38100" dist="19050" dir="2700000" algn="tl" rotWithShape="0">
                  <a:schemeClr val="dk1">
                    <a:alpha val="40000"/>
                  </a:schemeClr>
                </a:outerShdw>
              </a:effectLst>
            </a:endParaRPr>
          </a:p>
        </p:txBody>
      </p:sp>
      <p:sp>
        <p:nvSpPr>
          <p:cNvPr id="266" name="TextBox 265"/>
          <p:cNvSpPr txBox="1"/>
          <p:nvPr/>
        </p:nvSpPr>
        <p:spPr>
          <a:xfrm>
            <a:off x="9906000" y="3777344"/>
            <a:ext cx="457200"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D</a:t>
            </a:r>
            <a:endParaRPr lang="en-US" sz="2000" dirty="0">
              <a:ln w="0"/>
              <a:effectLst>
                <a:outerShdw blurRad="38100" dist="19050" dir="2700000" algn="tl" rotWithShape="0">
                  <a:schemeClr val="dk1">
                    <a:alpha val="40000"/>
                  </a:schemeClr>
                </a:outerShdw>
              </a:effectLst>
            </a:endParaRPr>
          </a:p>
        </p:txBody>
      </p:sp>
      <p:sp>
        <p:nvSpPr>
          <p:cNvPr id="267" name="TextBox 266"/>
          <p:cNvSpPr txBox="1"/>
          <p:nvPr/>
        </p:nvSpPr>
        <p:spPr>
          <a:xfrm>
            <a:off x="7620000" y="3392270"/>
            <a:ext cx="542136" cy="646331"/>
          </a:xfrm>
          <a:prstGeom prst="rect">
            <a:avLst/>
          </a:prstGeom>
          <a:noFill/>
        </p:spPr>
        <p:txBody>
          <a:bodyPr wrap="none" rtlCol="0">
            <a:spAutoFit/>
          </a:bodyPr>
          <a:lstStyle/>
          <a:p>
            <a:r>
              <a:rPr lang="en-IN" b="1" dirty="0">
                <a:solidFill>
                  <a:schemeClr val="accent3">
                    <a:lumMod val="75000"/>
                  </a:schemeClr>
                </a:solidFill>
              </a:rPr>
              <a:t>R=0</a:t>
            </a:r>
          </a:p>
          <a:p>
            <a:r>
              <a:rPr lang="en-IN" b="1" dirty="0">
                <a:solidFill>
                  <a:schemeClr val="accent3">
                    <a:lumMod val="75000"/>
                  </a:schemeClr>
                </a:solidFill>
              </a:rPr>
              <a:t>F=2</a:t>
            </a:r>
          </a:p>
        </p:txBody>
      </p:sp>
      <p:cxnSp>
        <p:nvCxnSpPr>
          <p:cNvPr id="270" name="Straight Connector 269"/>
          <p:cNvCxnSpPr/>
          <p:nvPr/>
        </p:nvCxnSpPr>
        <p:spPr>
          <a:xfrm>
            <a:off x="7543800" y="4800600"/>
            <a:ext cx="2971800" cy="0"/>
          </a:xfrm>
          <a:prstGeom prst="line">
            <a:avLst/>
          </a:prstGeom>
        </p:spPr>
        <p:style>
          <a:lnRef idx="2">
            <a:schemeClr val="dk1"/>
          </a:lnRef>
          <a:fillRef idx="0">
            <a:schemeClr val="dk1"/>
          </a:fillRef>
          <a:effectRef idx="1">
            <a:schemeClr val="dk1"/>
          </a:effectRef>
          <a:fontRef idx="minor">
            <a:schemeClr val="tx1"/>
          </a:fontRef>
        </p:style>
      </p:cxnSp>
      <p:sp>
        <p:nvSpPr>
          <p:cNvPr id="272" name="TextBox 271"/>
          <p:cNvSpPr txBox="1"/>
          <p:nvPr/>
        </p:nvSpPr>
        <p:spPr>
          <a:xfrm>
            <a:off x="8534400" y="3758234"/>
            <a:ext cx="475522" cy="400110"/>
          </a:xfrm>
          <a:prstGeom prst="rect">
            <a:avLst/>
          </a:prstGeom>
          <a:noFill/>
        </p:spPr>
        <p:txBody>
          <a:bodyPr wrap="square" rtlCol="0">
            <a:spAutoFit/>
          </a:bodyPr>
          <a:lstStyle/>
          <a:p>
            <a:pPr algn="ctr"/>
            <a:r>
              <a:rPr lang="en-IN" sz="2000" dirty="0">
                <a:ln w="0"/>
                <a:effectLst>
                  <a:outerShdw blurRad="38100" dist="19050" dir="2700000" algn="tl" rotWithShape="0">
                    <a:schemeClr val="dk1">
                      <a:alpha val="40000"/>
                    </a:schemeClr>
                  </a:outerShdw>
                </a:effectLst>
              </a:rPr>
              <a:t>E</a:t>
            </a:r>
            <a:endParaRPr lang="en-US" sz="2000" dirty="0">
              <a:ln w="0"/>
              <a:effectLst>
                <a:outerShdw blurRad="38100" dist="19050" dir="2700000" algn="tl" rotWithShape="0">
                  <a:schemeClr val="dk1">
                    <a:alpha val="40000"/>
                  </a:schemeClr>
                </a:outerShdw>
              </a:effectLst>
            </a:endParaRPr>
          </a:p>
        </p:txBody>
      </p:sp>
      <p:sp>
        <p:nvSpPr>
          <p:cNvPr id="135" name="TextBox 134"/>
          <p:cNvSpPr txBox="1"/>
          <p:nvPr/>
        </p:nvSpPr>
        <p:spPr>
          <a:xfrm>
            <a:off x="0" y="717355"/>
            <a:ext cx="12192000" cy="830997"/>
          </a:xfrm>
          <a:prstGeom prst="rect">
            <a:avLst/>
          </a:prstGeom>
          <a:solidFill>
            <a:srgbClr val="1D3064"/>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N" sz="2400" b="1" dirty="0">
                <a:solidFill>
                  <a:schemeClr val="bg1"/>
                </a:solidFill>
              </a:rPr>
              <a:t>Perform following operations on Circular queue with size 4 &amp; draw queue after each operation</a:t>
            </a:r>
          </a:p>
          <a:p>
            <a:pPr algn="ctr"/>
            <a:r>
              <a:rPr lang="en-IN" sz="2400" b="1" dirty="0">
                <a:solidFill>
                  <a:schemeClr val="bg1"/>
                </a:solidFill>
              </a:rPr>
              <a:t>Enqueue ‘A’ | Enqueue ‘B’ | Enqueue ‘C’ | Dequeue | Dequeue | Enqueue ‘D’ | Enqueue ‘E’ </a:t>
            </a:r>
            <a:endParaRPr lang="en-US" sz="2400" b="1" dirty="0">
              <a:solidFill>
                <a:schemeClr val="bg1"/>
              </a:solidFill>
            </a:endParaRPr>
          </a:p>
        </p:txBody>
      </p:sp>
    </p:spTree>
    <p:extLst>
      <p:ext uri="{BB962C8B-B14F-4D97-AF65-F5344CB8AC3E}">
        <p14:creationId xmlns:p14="http://schemas.microsoft.com/office/powerpoint/2010/main" val="3859490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7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7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63" presetClass="path" presetSubtype="0" accel="50000" decel="50000" fill="hold" nodeType="clickEffect">
                                  <p:stCondLst>
                                    <p:cond delay="0"/>
                                  </p:stCondLst>
                                  <p:childTnLst>
                                    <p:animMotion origin="layout" path="M 4.16667E-7 -1.85185E-6 L 0.05794 -1.85185E-6 " pathEditMode="relative" rAng="0" ptsTypes="AA">
                                      <p:cBhvr>
                                        <p:cTn id="48" dur="2000" fill="hold"/>
                                        <p:tgtEl>
                                          <p:spTgt spid="174"/>
                                        </p:tgtEl>
                                        <p:attrNameLst>
                                          <p:attrName>ppt_x</p:attrName>
                                          <p:attrName>ppt_y</p:attrName>
                                        </p:attrNameLst>
                                      </p:cBhvr>
                                      <p:rCtr x="2930" y="0"/>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7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63" presetClass="path" presetSubtype="0" accel="50000" decel="50000" fill="hold" nodeType="clickEffect">
                                  <p:stCondLst>
                                    <p:cond delay="0"/>
                                  </p:stCondLst>
                                  <p:childTnLst>
                                    <p:animMotion origin="layout" path="M 3.75E-6 4.07407E-6 L 0.05507 4.07407E-6 " pathEditMode="relative" rAng="0" ptsTypes="AA">
                                      <p:cBhvr>
                                        <p:cTn id="60" dur="2000" fill="hold"/>
                                        <p:tgtEl>
                                          <p:spTgt spid="171"/>
                                        </p:tgtEl>
                                        <p:attrNameLst>
                                          <p:attrName>ppt_x</p:attrName>
                                          <p:attrName>ppt_y</p:attrName>
                                        </p:attrNameLst>
                                      </p:cBhvr>
                                      <p:rCtr x="2747" y="0"/>
                                    </p:animMotion>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7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8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8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4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8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0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8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63" presetClass="path" presetSubtype="0" accel="50000" decel="50000" fill="hold" nodeType="clickEffect">
                                  <p:stCondLst>
                                    <p:cond delay="0"/>
                                  </p:stCondLst>
                                  <p:childTnLst>
                                    <p:animMotion origin="layout" path="M 1.04167E-6 4.44444E-6 L 0.03164 4.44444E-6 " pathEditMode="relative" rAng="0" ptsTypes="AA">
                                      <p:cBhvr>
                                        <p:cTn id="86" dur="2000" fill="hold"/>
                                        <p:tgtEl>
                                          <p:spTgt spid="185"/>
                                        </p:tgtEl>
                                        <p:attrNameLst>
                                          <p:attrName>ppt_x</p:attrName>
                                          <p:attrName>ppt_y</p:attrName>
                                        </p:attrNameLst>
                                      </p:cBhvr>
                                      <p:rCtr x="1576" y="0"/>
                                    </p:animMotion>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8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9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9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9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0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02"/>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196"/>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182"/>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20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63" presetClass="path" presetSubtype="0" accel="50000" decel="50000" fill="hold" nodeType="clickEffect">
                                  <p:stCondLst>
                                    <p:cond delay="0"/>
                                  </p:stCondLst>
                                  <p:childTnLst>
                                    <p:animMotion origin="layout" path="M -1.04167E-6 -4.07407E-6 L 0.03633 -4.07407E-6 " pathEditMode="relative" rAng="0" ptsTypes="AA">
                                      <p:cBhvr>
                                        <p:cTn id="118" dur="2000" fill="hold"/>
                                        <p:tgtEl>
                                          <p:spTgt spid="206"/>
                                        </p:tgtEl>
                                        <p:attrNameLst>
                                          <p:attrName>ppt_x</p:attrName>
                                          <p:attrName>ppt_y</p:attrName>
                                        </p:attrNameLst>
                                      </p:cBhvr>
                                      <p:rCtr x="1849" y="0"/>
                                    </p:animMotion>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20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210">
                                            <p:txEl>
                                              <p:pRg st="0" end="0"/>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93"/>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216"/>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217"/>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218"/>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219"/>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211"/>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220"/>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223"/>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63" presetClass="path" presetSubtype="0" accel="50000" decel="50000" fill="hold" nodeType="clickEffect">
                                  <p:stCondLst>
                                    <p:cond delay="0"/>
                                  </p:stCondLst>
                                  <p:childTnLst>
                                    <p:animMotion origin="layout" path="M 1.04167E-6 -1.85185E-6 L 0.03867 -1.85185E-6 " pathEditMode="relative" rAng="0" ptsTypes="AA">
                                      <p:cBhvr>
                                        <p:cTn id="152" dur="2000" fill="hold"/>
                                        <p:tgtEl>
                                          <p:spTgt spid="220"/>
                                        </p:tgtEl>
                                        <p:attrNameLst>
                                          <p:attrName>ppt_x</p:attrName>
                                          <p:attrName>ppt_y</p:attrName>
                                        </p:attrNameLst>
                                      </p:cBhvr>
                                      <p:rCtr x="1927" y="0"/>
                                    </p:animMotion>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226"/>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xit" presetSubtype="0" fill="hold" grpId="1" nodeType="clickEffect">
                                  <p:stCondLst>
                                    <p:cond delay="0"/>
                                  </p:stCondLst>
                                  <p:childTnLst>
                                    <p:set>
                                      <p:cBhvr>
                                        <p:cTn id="160" dur="1" fill="hold">
                                          <p:stCondLst>
                                            <p:cond delay="0"/>
                                          </p:stCondLst>
                                        </p:cTn>
                                        <p:tgtEl>
                                          <p:spTgt spid="217"/>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227"/>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228"/>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229"/>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234"/>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235"/>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239"/>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236"/>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63" presetClass="path" presetSubtype="0" accel="50000" decel="50000" fill="hold" nodeType="clickEffect">
                                  <p:stCondLst>
                                    <p:cond delay="0"/>
                                  </p:stCondLst>
                                  <p:childTnLst>
                                    <p:animMotion origin="layout" path="M -6.25E-7 7.40741E-7 L 0.03086 7.40741E-7 " pathEditMode="relative" rAng="0" ptsTypes="AA">
                                      <p:cBhvr>
                                        <p:cTn id="184" dur="2000" fill="hold"/>
                                        <p:tgtEl>
                                          <p:spTgt spid="239"/>
                                        </p:tgtEl>
                                        <p:attrNameLst>
                                          <p:attrName>ppt_x</p:attrName>
                                          <p:attrName>ppt_y</p:attrName>
                                        </p:attrNameLst>
                                      </p:cBhvr>
                                      <p:rCtr x="1536" y="0"/>
                                    </p:animMotion>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242"/>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xit" presetSubtype="0" fill="hold" grpId="1" nodeType="clickEffect">
                                  <p:stCondLst>
                                    <p:cond delay="0"/>
                                  </p:stCondLst>
                                  <p:childTnLst>
                                    <p:set>
                                      <p:cBhvr>
                                        <p:cTn id="192" dur="1" fill="hold">
                                          <p:stCondLst>
                                            <p:cond delay="0"/>
                                          </p:stCondLst>
                                        </p:cTn>
                                        <p:tgtEl>
                                          <p:spTgt spid="234"/>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nodeType="clickEffect">
                                  <p:stCondLst>
                                    <p:cond delay="0"/>
                                  </p:stCondLst>
                                  <p:childTnLst>
                                    <p:set>
                                      <p:cBhvr>
                                        <p:cTn id="196" dur="1" fill="hold">
                                          <p:stCondLst>
                                            <p:cond delay="0"/>
                                          </p:stCondLst>
                                        </p:cTn>
                                        <p:tgtEl>
                                          <p:spTgt spid="194"/>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243"/>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nodeType="clickEffect">
                                  <p:stCondLst>
                                    <p:cond delay="0"/>
                                  </p:stCondLst>
                                  <p:childTnLst>
                                    <p:set>
                                      <p:cBhvr>
                                        <p:cTn id="204" dur="1" fill="hold">
                                          <p:stCondLst>
                                            <p:cond delay="0"/>
                                          </p:stCondLst>
                                        </p:cTn>
                                        <p:tgtEl>
                                          <p:spTgt spid="244"/>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255"/>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249"/>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252"/>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63" presetClass="path" presetSubtype="0" accel="50000" decel="50000" fill="hold" nodeType="clickEffect">
                                  <p:stCondLst>
                                    <p:cond delay="0"/>
                                  </p:stCondLst>
                                  <p:childTnLst>
                                    <p:animMotion origin="layout" path="M -4.79167E-6 1.48148E-6 L 0.02865 1.48148E-6 " pathEditMode="relative" rAng="0" ptsTypes="AA">
                                      <p:cBhvr>
                                        <p:cTn id="214" dur="2000" fill="hold"/>
                                        <p:tgtEl>
                                          <p:spTgt spid="252"/>
                                        </p:tgtEl>
                                        <p:attrNameLst>
                                          <p:attrName>ppt_x</p:attrName>
                                          <p:attrName>ppt_y</p:attrName>
                                        </p:attrNameLst>
                                      </p:cBhvr>
                                      <p:rCtr x="1432" y="0"/>
                                    </p:animMotion>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256"/>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257"/>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195"/>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258"/>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54"/>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265"/>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266"/>
                                        </p:tgtEl>
                                        <p:attrNameLst>
                                          <p:attrName>style.visibility</p:attrName>
                                        </p:attrNameLst>
                                      </p:cBhvr>
                                      <p:to>
                                        <p:strVal val="visible"/>
                                      </p:to>
                                    </p:set>
                                  </p:childTnLst>
                                </p:cTn>
                              </p:par>
                              <p:par>
                                <p:cTn id="239" presetID="1" presetClass="entr" presetSubtype="0" fill="hold" nodeType="withEffect">
                                  <p:stCondLst>
                                    <p:cond delay="0"/>
                                  </p:stCondLst>
                                  <p:childTnLst>
                                    <p:set>
                                      <p:cBhvr>
                                        <p:cTn id="240" dur="1" fill="hold">
                                          <p:stCondLst>
                                            <p:cond delay="0"/>
                                          </p:stCondLst>
                                        </p:cTn>
                                        <p:tgtEl>
                                          <p:spTgt spid="262"/>
                                        </p:tgtEl>
                                        <p:attrNameLst>
                                          <p:attrName>style.visibility</p:attrName>
                                        </p:attrNameLst>
                                      </p:cBhvr>
                                      <p:to>
                                        <p:strVal val="visible"/>
                                      </p:to>
                                    </p:set>
                                  </p:childTnLst>
                                </p:cTn>
                              </p:par>
                              <p:par>
                                <p:cTn id="241" presetID="1" presetClass="entr" presetSubtype="0" fill="hold" nodeType="withEffect">
                                  <p:stCondLst>
                                    <p:cond delay="0"/>
                                  </p:stCondLst>
                                  <p:childTnLst>
                                    <p:set>
                                      <p:cBhvr>
                                        <p:cTn id="242" dur="1" fill="hold">
                                          <p:stCondLst>
                                            <p:cond delay="0"/>
                                          </p:stCondLst>
                                        </p:cTn>
                                        <p:tgtEl>
                                          <p:spTgt spid="259"/>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35" presetClass="path" presetSubtype="0" accel="50000" decel="50000" fill="hold" nodeType="clickEffect">
                                  <p:stCondLst>
                                    <p:cond delay="0"/>
                                  </p:stCondLst>
                                  <p:childTnLst>
                                    <p:animMotion origin="layout" path="M 6.25E-7 -1.85185E-6 L -0.11211 -1.85185E-6 " pathEditMode="relative" rAng="0" ptsTypes="AA">
                                      <p:cBhvr>
                                        <p:cTn id="246" dur="2000" fill="hold"/>
                                        <p:tgtEl>
                                          <p:spTgt spid="259"/>
                                        </p:tgtEl>
                                        <p:attrNameLst>
                                          <p:attrName>ppt_x</p:attrName>
                                          <p:attrName>ppt_y</p:attrName>
                                        </p:attrNameLst>
                                      </p:cBhvr>
                                      <p:rCtr x="-5612" y="0"/>
                                    </p:animMotion>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0" nodeType="clickEffect">
                                  <p:stCondLst>
                                    <p:cond delay="0"/>
                                  </p:stCondLst>
                                  <p:childTnLst>
                                    <p:set>
                                      <p:cBhvr>
                                        <p:cTn id="250" dur="1" fill="hold">
                                          <p:stCondLst>
                                            <p:cond delay="0"/>
                                          </p:stCondLst>
                                        </p:cTn>
                                        <p:tgtEl>
                                          <p:spTgt spid="267"/>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272">
                                            <p:txEl>
                                              <p:pRg st="0" end="0"/>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 grpId="0"/>
      <p:bldP spid="167" grpId="0"/>
      <p:bldP spid="168" grpId="0"/>
      <p:bldP spid="170" grpId="0"/>
      <p:bldP spid="177" grpId="0"/>
      <p:bldP spid="178" grpId="0"/>
      <p:bldP spid="179" grpId="0"/>
      <p:bldP spid="181" grpId="0"/>
      <p:bldP spid="188" grpId="0"/>
      <p:bldP spid="189" grpId="0"/>
      <p:bldP spid="190" grpId="0"/>
      <p:bldP spid="192" grpId="0"/>
      <p:bldP spid="201" grpId="0"/>
      <p:bldP spid="202" grpId="0"/>
      <p:bldP spid="209" grpId="0"/>
      <p:bldP spid="216" grpId="0"/>
      <p:bldP spid="217" grpId="0"/>
      <p:bldP spid="217" grpId="1"/>
      <p:bldP spid="218" grpId="0"/>
      <p:bldP spid="219" grpId="0"/>
      <p:bldP spid="226" grpId="0"/>
      <p:bldP spid="228" grpId="0"/>
      <p:bldP spid="234" grpId="0"/>
      <p:bldP spid="234" grpId="1"/>
      <p:bldP spid="235" grpId="0"/>
      <p:bldP spid="242" grpId="0"/>
      <p:bldP spid="243" grpId="0"/>
      <p:bldP spid="255" grpId="0"/>
      <p:bldP spid="256" grpId="0"/>
      <p:bldP spid="257" grpId="0"/>
      <p:bldP spid="258" grpId="0"/>
      <p:bldP spid="265" grpId="0"/>
      <p:bldP spid="266" grpId="0"/>
      <p:bldP spid="267" grpId="0"/>
      <p:bldP spid="13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6ED680-ECDA-2C59-AF2D-3A5BD1081CCA}"/>
              </a:ext>
            </a:extLst>
          </p:cNvPr>
          <p:cNvSpPr>
            <a:spLocks noGrp="1"/>
          </p:cNvSpPr>
          <p:nvPr>
            <p:ph type="title"/>
          </p:nvPr>
        </p:nvSpPr>
        <p:spPr/>
        <p:txBody>
          <a:bodyPr/>
          <a:lstStyle/>
          <a:p>
            <a:r>
              <a:rPr lang="en-US" dirty="0"/>
              <a:t>Double Ended Queue</a:t>
            </a:r>
          </a:p>
        </p:txBody>
      </p:sp>
      <p:sp>
        <p:nvSpPr>
          <p:cNvPr id="5" name="Text Placeholder 4">
            <a:extLst>
              <a:ext uri="{FF2B5EF4-FFF2-40B4-BE49-F238E27FC236}">
                <a16:creationId xmlns:a16="http://schemas.microsoft.com/office/drawing/2014/main" id="{FB5B7375-27ED-AEFF-9C20-9AC5FE68592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68329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32E54-59D5-3532-91D9-0B17B772793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D3AC769-3A4D-C8D1-5B3D-2297C0899280}"/>
              </a:ext>
            </a:extLst>
          </p:cNvPr>
          <p:cNvSpPr>
            <a:spLocks noGrp="1"/>
          </p:cNvSpPr>
          <p:nvPr>
            <p:ph type="title"/>
          </p:nvPr>
        </p:nvSpPr>
        <p:spPr/>
        <p:txBody>
          <a:bodyPr/>
          <a:lstStyle/>
          <a:p>
            <a:r>
              <a:rPr lang="en-US" dirty="0"/>
              <a:t>Double Ended Queue - Introduction</a:t>
            </a:r>
            <a:endParaRPr lang="en-IN" dirty="0"/>
          </a:p>
        </p:txBody>
      </p:sp>
      <p:graphicFrame>
        <p:nvGraphicFramePr>
          <p:cNvPr id="9" name="Content Placeholder 4">
            <a:extLst>
              <a:ext uri="{FF2B5EF4-FFF2-40B4-BE49-F238E27FC236}">
                <a16:creationId xmlns:a16="http://schemas.microsoft.com/office/drawing/2014/main" id="{D64BCDF5-A9AB-435C-4BFE-16F6F3B2878E}"/>
              </a:ext>
            </a:extLst>
          </p:cNvPr>
          <p:cNvGraphicFramePr>
            <a:graphicFrameLocks/>
          </p:cNvGraphicFramePr>
          <p:nvPr>
            <p:extLst/>
          </p:nvPr>
        </p:nvGraphicFramePr>
        <p:xfrm>
          <a:off x="4181354" y="3914719"/>
          <a:ext cx="3745150" cy="1108954"/>
        </p:xfrm>
        <a:graphic>
          <a:graphicData uri="http://schemas.openxmlformats.org/drawingml/2006/table">
            <a:tbl>
              <a:tblPr firstRow="1" bandRow="1">
                <a:tableStyleId>{9D7B26C5-4107-4FEC-AEDC-1716B250A1EF}</a:tableStyleId>
              </a:tblPr>
              <a:tblGrid>
                <a:gridCol w="749030">
                  <a:extLst>
                    <a:ext uri="{9D8B030D-6E8A-4147-A177-3AD203B41FA5}">
                      <a16:colId xmlns:a16="http://schemas.microsoft.com/office/drawing/2014/main" val="2000511168"/>
                    </a:ext>
                  </a:extLst>
                </a:gridCol>
                <a:gridCol w="749030">
                  <a:extLst>
                    <a:ext uri="{9D8B030D-6E8A-4147-A177-3AD203B41FA5}">
                      <a16:colId xmlns:a16="http://schemas.microsoft.com/office/drawing/2014/main" val="3405553145"/>
                    </a:ext>
                  </a:extLst>
                </a:gridCol>
                <a:gridCol w="749030">
                  <a:extLst>
                    <a:ext uri="{9D8B030D-6E8A-4147-A177-3AD203B41FA5}">
                      <a16:colId xmlns:a16="http://schemas.microsoft.com/office/drawing/2014/main" val="2161352027"/>
                    </a:ext>
                  </a:extLst>
                </a:gridCol>
                <a:gridCol w="749030">
                  <a:extLst>
                    <a:ext uri="{9D8B030D-6E8A-4147-A177-3AD203B41FA5}">
                      <a16:colId xmlns:a16="http://schemas.microsoft.com/office/drawing/2014/main" val="991466511"/>
                    </a:ext>
                  </a:extLst>
                </a:gridCol>
                <a:gridCol w="749030">
                  <a:extLst>
                    <a:ext uri="{9D8B030D-6E8A-4147-A177-3AD203B41FA5}">
                      <a16:colId xmlns:a16="http://schemas.microsoft.com/office/drawing/2014/main" val="546526451"/>
                    </a:ext>
                  </a:extLst>
                </a:gridCol>
              </a:tblGrid>
              <a:tr h="554477">
                <a:tc>
                  <a:txBody>
                    <a:bodyPr/>
                    <a:lstStyle/>
                    <a:p>
                      <a:pPr algn="ctr"/>
                      <a:r>
                        <a:rPr lang="en-US" dirty="0"/>
                        <a:t>0</a:t>
                      </a:r>
                      <a:endParaRPr lang="en-IN" dirty="0"/>
                    </a:p>
                  </a:txBody>
                  <a:tcPr anchor="ctr"/>
                </a:tc>
                <a:tc>
                  <a:txBody>
                    <a:bodyPr/>
                    <a:lstStyle/>
                    <a:p>
                      <a:pPr algn="ctr"/>
                      <a:r>
                        <a:rPr lang="en-US" dirty="0"/>
                        <a:t>1</a:t>
                      </a:r>
                      <a:endParaRPr lang="en-IN" dirty="0"/>
                    </a:p>
                  </a:txBody>
                  <a:tcPr anchor="ctr"/>
                </a:tc>
                <a:tc>
                  <a:txBody>
                    <a:bodyPr/>
                    <a:lstStyle/>
                    <a:p>
                      <a:pPr algn="ctr"/>
                      <a:r>
                        <a:rPr lang="en-US" dirty="0"/>
                        <a:t>2</a:t>
                      </a:r>
                      <a:endParaRPr lang="en-IN" dirty="0"/>
                    </a:p>
                  </a:txBody>
                  <a:tcPr anchor="ctr"/>
                </a:tc>
                <a:tc>
                  <a:txBody>
                    <a:bodyPr/>
                    <a:lstStyle/>
                    <a:p>
                      <a:pPr algn="ctr"/>
                      <a:r>
                        <a:rPr lang="en-US" dirty="0"/>
                        <a:t>3</a:t>
                      </a:r>
                      <a:endParaRPr lang="en-IN" dirty="0"/>
                    </a:p>
                  </a:txBody>
                  <a:tcPr anchor="ctr"/>
                </a:tc>
                <a:tc>
                  <a:txBody>
                    <a:bodyPr/>
                    <a:lstStyle/>
                    <a:p>
                      <a:pPr algn="ctr"/>
                      <a:r>
                        <a:rPr lang="en-US" dirty="0"/>
                        <a:t>4</a:t>
                      </a:r>
                      <a:endParaRPr lang="en-IN" dirty="0"/>
                    </a:p>
                  </a:txBody>
                  <a:tcPr anchor="ctr"/>
                </a:tc>
                <a:extLst>
                  <a:ext uri="{0D108BD9-81ED-4DB2-BD59-A6C34878D82A}">
                    <a16:rowId xmlns:a16="http://schemas.microsoft.com/office/drawing/2014/main" val="2175527213"/>
                  </a:ext>
                </a:extLst>
              </a:tr>
              <a:tr h="554477">
                <a:tc>
                  <a:txBody>
                    <a:bodyPr/>
                    <a:lstStyle/>
                    <a:p>
                      <a:pPr algn="ctr"/>
                      <a:endParaRPr lang="en-IN" dirty="0"/>
                    </a:p>
                  </a:txBody>
                  <a:tcPr anchor="ctr"/>
                </a:tc>
                <a:tc>
                  <a:txBody>
                    <a:bodyPr/>
                    <a:lstStyle/>
                    <a:p>
                      <a:pPr algn="ctr"/>
                      <a:endParaRPr lang="en-IN" dirty="0"/>
                    </a:p>
                  </a:txBody>
                  <a:tcPr anchor="ctr"/>
                </a:tc>
                <a:tc>
                  <a:txBody>
                    <a:bodyPr/>
                    <a:lstStyle/>
                    <a:p>
                      <a:pPr algn="ctr"/>
                      <a:endParaRPr lang="en-IN" dirty="0"/>
                    </a:p>
                  </a:txBody>
                  <a:tcPr anchor="ctr"/>
                </a:tc>
                <a:tc>
                  <a:txBody>
                    <a:bodyPr/>
                    <a:lstStyle/>
                    <a:p>
                      <a:pPr algn="ctr"/>
                      <a:endParaRPr lang="en-IN" dirty="0"/>
                    </a:p>
                  </a:txBody>
                  <a:tcPr anchor="ctr"/>
                </a:tc>
                <a:tc>
                  <a:txBody>
                    <a:bodyPr/>
                    <a:lstStyle/>
                    <a:p>
                      <a:pPr algn="ctr"/>
                      <a:endParaRPr lang="en-IN" dirty="0"/>
                    </a:p>
                  </a:txBody>
                  <a:tcPr anchor="ctr"/>
                </a:tc>
                <a:extLst>
                  <a:ext uri="{0D108BD9-81ED-4DB2-BD59-A6C34878D82A}">
                    <a16:rowId xmlns:a16="http://schemas.microsoft.com/office/drawing/2014/main" val="744884186"/>
                  </a:ext>
                </a:extLst>
              </a:tr>
            </a:tbl>
          </a:graphicData>
        </a:graphic>
      </p:graphicFrame>
      <p:sp>
        <p:nvSpPr>
          <p:cNvPr id="10" name="TextBox 9">
            <a:extLst>
              <a:ext uri="{FF2B5EF4-FFF2-40B4-BE49-F238E27FC236}">
                <a16:creationId xmlns:a16="http://schemas.microsoft.com/office/drawing/2014/main" id="{389CA2D5-4A49-007E-F5AF-473647240DC5}"/>
              </a:ext>
            </a:extLst>
          </p:cNvPr>
          <p:cNvSpPr txBox="1"/>
          <p:nvPr/>
        </p:nvSpPr>
        <p:spPr>
          <a:xfrm>
            <a:off x="3462475" y="4455046"/>
            <a:ext cx="689612" cy="461665"/>
          </a:xfrm>
          <a:prstGeom prst="rect">
            <a:avLst/>
          </a:prstGeom>
          <a:noFill/>
        </p:spPr>
        <p:txBody>
          <a:bodyPr wrap="none" rtlCol="0">
            <a:spAutoFit/>
          </a:bodyPr>
          <a:lstStyle/>
          <a:p>
            <a:r>
              <a:rPr lang="en-US" sz="2400" b="1" dirty="0">
                <a:solidFill>
                  <a:srgbClr val="FF0066"/>
                </a:solidFill>
              </a:rPr>
              <a:t>Q[] :</a:t>
            </a:r>
            <a:endParaRPr lang="en-IN" sz="2400" b="1" dirty="0">
              <a:solidFill>
                <a:srgbClr val="FF0066"/>
              </a:solidFill>
            </a:endParaRPr>
          </a:p>
        </p:txBody>
      </p:sp>
      <p:sp>
        <p:nvSpPr>
          <p:cNvPr id="60" name="TextBox 59">
            <a:extLst>
              <a:ext uri="{FF2B5EF4-FFF2-40B4-BE49-F238E27FC236}">
                <a16:creationId xmlns:a16="http://schemas.microsoft.com/office/drawing/2014/main" id="{2C112E2D-486F-A4A2-176F-2236857A16AB}"/>
              </a:ext>
            </a:extLst>
          </p:cNvPr>
          <p:cNvSpPr txBox="1"/>
          <p:nvPr/>
        </p:nvSpPr>
        <p:spPr>
          <a:xfrm>
            <a:off x="4378065" y="3414141"/>
            <a:ext cx="330540" cy="461665"/>
          </a:xfrm>
          <a:prstGeom prst="rect">
            <a:avLst/>
          </a:prstGeom>
          <a:noFill/>
        </p:spPr>
        <p:txBody>
          <a:bodyPr wrap="none" rtlCol="0">
            <a:spAutoFit/>
          </a:bodyPr>
          <a:lstStyle/>
          <a:p>
            <a:r>
              <a:rPr lang="en-US" sz="2400" b="1" dirty="0">
                <a:solidFill>
                  <a:srgbClr val="FF0066"/>
                </a:solidFill>
              </a:rPr>
              <a:t>F</a:t>
            </a:r>
            <a:endParaRPr lang="en-IN" sz="2400" b="1" dirty="0">
              <a:solidFill>
                <a:srgbClr val="FF0066"/>
              </a:solidFill>
            </a:endParaRPr>
          </a:p>
        </p:txBody>
      </p:sp>
      <p:sp>
        <p:nvSpPr>
          <p:cNvPr id="61" name="TextBox 60">
            <a:extLst>
              <a:ext uri="{FF2B5EF4-FFF2-40B4-BE49-F238E27FC236}">
                <a16:creationId xmlns:a16="http://schemas.microsoft.com/office/drawing/2014/main" id="{7DE978B9-1E8B-A25C-2684-AB6CA29E1148}"/>
              </a:ext>
            </a:extLst>
          </p:cNvPr>
          <p:cNvSpPr txBox="1"/>
          <p:nvPr/>
        </p:nvSpPr>
        <p:spPr>
          <a:xfrm>
            <a:off x="4366043" y="5091124"/>
            <a:ext cx="354584" cy="461665"/>
          </a:xfrm>
          <a:prstGeom prst="rect">
            <a:avLst/>
          </a:prstGeom>
          <a:noFill/>
        </p:spPr>
        <p:txBody>
          <a:bodyPr wrap="none" rtlCol="0">
            <a:spAutoFit/>
          </a:bodyPr>
          <a:lstStyle/>
          <a:p>
            <a:r>
              <a:rPr lang="en-US" sz="2400" b="1" dirty="0">
                <a:solidFill>
                  <a:srgbClr val="FF0066"/>
                </a:solidFill>
              </a:rPr>
              <a:t>R</a:t>
            </a:r>
            <a:endParaRPr lang="en-IN" sz="2400" b="1" dirty="0">
              <a:solidFill>
                <a:srgbClr val="FF0066"/>
              </a:solidFill>
            </a:endParaRPr>
          </a:p>
        </p:txBody>
      </p:sp>
      <p:sp>
        <p:nvSpPr>
          <p:cNvPr id="62" name="TextBox 61">
            <a:extLst>
              <a:ext uri="{FF2B5EF4-FFF2-40B4-BE49-F238E27FC236}">
                <a16:creationId xmlns:a16="http://schemas.microsoft.com/office/drawing/2014/main" id="{E8723B90-0015-FF1B-8DFA-97E07386E546}"/>
              </a:ext>
            </a:extLst>
          </p:cNvPr>
          <p:cNvSpPr txBox="1"/>
          <p:nvPr/>
        </p:nvSpPr>
        <p:spPr>
          <a:xfrm>
            <a:off x="4254322" y="4505774"/>
            <a:ext cx="495649" cy="461665"/>
          </a:xfrm>
          <a:prstGeom prst="rect">
            <a:avLst/>
          </a:prstGeom>
          <a:noFill/>
        </p:spPr>
        <p:txBody>
          <a:bodyPr wrap="none" rtlCol="0">
            <a:spAutoFit/>
          </a:bodyPr>
          <a:lstStyle/>
          <a:p>
            <a:r>
              <a:rPr lang="en-US" sz="2400" b="1" dirty="0"/>
              <a:t>10</a:t>
            </a:r>
            <a:endParaRPr lang="en-IN" sz="2400" b="1" dirty="0"/>
          </a:p>
        </p:txBody>
      </p:sp>
      <p:sp>
        <p:nvSpPr>
          <p:cNvPr id="63" name="TextBox 62">
            <a:extLst>
              <a:ext uri="{FF2B5EF4-FFF2-40B4-BE49-F238E27FC236}">
                <a16:creationId xmlns:a16="http://schemas.microsoft.com/office/drawing/2014/main" id="{9D6D5821-F9E8-62D7-D788-20024DFFE92C}"/>
              </a:ext>
            </a:extLst>
          </p:cNvPr>
          <p:cNvSpPr txBox="1"/>
          <p:nvPr/>
        </p:nvSpPr>
        <p:spPr>
          <a:xfrm>
            <a:off x="-10137" y="720559"/>
            <a:ext cx="3169226" cy="523220"/>
          </a:xfrm>
          <a:prstGeom prst="rect">
            <a:avLst/>
          </a:prstGeom>
          <a:solidFill>
            <a:srgbClr val="002060"/>
          </a:solidFill>
        </p:spPr>
        <p:txBody>
          <a:bodyPr wrap="square" rtlCol="0">
            <a:spAutoFit/>
          </a:bodyPr>
          <a:lstStyle>
            <a:defPPr>
              <a:defRPr lang="en-US"/>
            </a:defPPr>
            <a:lvl1pPr>
              <a:defRPr sz="2800" b="1">
                <a:solidFill>
                  <a:schemeClr val="bg1"/>
                </a:solidFill>
                <a:latin typeface="+mj-lt"/>
              </a:defRPr>
            </a:lvl1pPr>
          </a:lstStyle>
          <a:p>
            <a:r>
              <a:rPr lang="en-IN" dirty="0"/>
              <a:t>Double Ended Queue</a:t>
            </a:r>
          </a:p>
        </p:txBody>
      </p:sp>
      <p:sp>
        <p:nvSpPr>
          <p:cNvPr id="67" name="TextBox 66">
            <a:extLst>
              <a:ext uri="{FF2B5EF4-FFF2-40B4-BE49-F238E27FC236}">
                <a16:creationId xmlns:a16="http://schemas.microsoft.com/office/drawing/2014/main" id="{CC60E322-F007-27EC-D0E2-0E42CFBCFC6F}"/>
              </a:ext>
            </a:extLst>
          </p:cNvPr>
          <p:cNvSpPr txBox="1"/>
          <p:nvPr/>
        </p:nvSpPr>
        <p:spPr>
          <a:xfrm>
            <a:off x="8474806" y="2206970"/>
            <a:ext cx="1732568" cy="492443"/>
          </a:xfrm>
          <a:prstGeom prst="rect">
            <a:avLst/>
          </a:prstGeom>
          <a:noFill/>
        </p:spPr>
        <p:txBody>
          <a:bodyPr wrap="square" rtlCol="0">
            <a:spAutoFit/>
          </a:bodyPr>
          <a:lstStyle/>
          <a:p>
            <a:r>
              <a:rPr lang="en-US" sz="2600" b="1" dirty="0">
                <a:solidFill>
                  <a:srgbClr val="FF0066"/>
                </a:solidFill>
              </a:rPr>
              <a:t>F = R = -1</a:t>
            </a:r>
            <a:endParaRPr lang="en-IN" sz="2600" b="1" dirty="0">
              <a:solidFill>
                <a:srgbClr val="FF0066"/>
              </a:solidFill>
            </a:endParaRPr>
          </a:p>
        </p:txBody>
      </p:sp>
      <p:sp>
        <p:nvSpPr>
          <p:cNvPr id="70" name="TextBox 69">
            <a:extLst>
              <a:ext uri="{FF2B5EF4-FFF2-40B4-BE49-F238E27FC236}">
                <a16:creationId xmlns:a16="http://schemas.microsoft.com/office/drawing/2014/main" id="{8D4940B2-DFEE-367C-50BE-2FD3E4171C00}"/>
              </a:ext>
            </a:extLst>
          </p:cNvPr>
          <p:cNvSpPr txBox="1"/>
          <p:nvPr/>
        </p:nvSpPr>
        <p:spPr>
          <a:xfrm>
            <a:off x="4993019" y="4505773"/>
            <a:ext cx="495649" cy="461665"/>
          </a:xfrm>
          <a:prstGeom prst="rect">
            <a:avLst/>
          </a:prstGeom>
          <a:noFill/>
        </p:spPr>
        <p:txBody>
          <a:bodyPr wrap="none" rtlCol="0">
            <a:spAutoFit/>
          </a:bodyPr>
          <a:lstStyle/>
          <a:p>
            <a:r>
              <a:rPr lang="en-US" sz="2400" b="1" dirty="0"/>
              <a:t>20</a:t>
            </a:r>
            <a:endParaRPr lang="en-IN" sz="2400" b="1" dirty="0"/>
          </a:p>
        </p:txBody>
      </p:sp>
      <p:sp>
        <p:nvSpPr>
          <p:cNvPr id="72" name="TextBox 71">
            <a:extLst>
              <a:ext uri="{FF2B5EF4-FFF2-40B4-BE49-F238E27FC236}">
                <a16:creationId xmlns:a16="http://schemas.microsoft.com/office/drawing/2014/main" id="{15385E3B-4BEF-CCCA-B488-2FE0FB4441D9}"/>
              </a:ext>
            </a:extLst>
          </p:cNvPr>
          <p:cNvSpPr txBox="1"/>
          <p:nvPr/>
        </p:nvSpPr>
        <p:spPr>
          <a:xfrm>
            <a:off x="5752318" y="4493016"/>
            <a:ext cx="495649" cy="461665"/>
          </a:xfrm>
          <a:prstGeom prst="rect">
            <a:avLst/>
          </a:prstGeom>
          <a:noFill/>
        </p:spPr>
        <p:txBody>
          <a:bodyPr wrap="none" rtlCol="0">
            <a:spAutoFit/>
          </a:bodyPr>
          <a:lstStyle/>
          <a:p>
            <a:r>
              <a:rPr lang="en-US" sz="2400" b="1" dirty="0"/>
              <a:t>30</a:t>
            </a:r>
            <a:endParaRPr lang="en-IN" sz="2400" b="1" dirty="0"/>
          </a:p>
        </p:txBody>
      </p:sp>
      <p:sp>
        <p:nvSpPr>
          <p:cNvPr id="74" name="TextBox 73">
            <a:extLst>
              <a:ext uri="{FF2B5EF4-FFF2-40B4-BE49-F238E27FC236}">
                <a16:creationId xmlns:a16="http://schemas.microsoft.com/office/drawing/2014/main" id="{1DF3F57F-9C9C-438B-DA6A-922343070F53}"/>
              </a:ext>
            </a:extLst>
          </p:cNvPr>
          <p:cNvSpPr txBox="1"/>
          <p:nvPr/>
        </p:nvSpPr>
        <p:spPr>
          <a:xfrm>
            <a:off x="6511617" y="4493016"/>
            <a:ext cx="495649" cy="461665"/>
          </a:xfrm>
          <a:prstGeom prst="rect">
            <a:avLst/>
          </a:prstGeom>
          <a:noFill/>
        </p:spPr>
        <p:txBody>
          <a:bodyPr wrap="none" rtlCol="0">
            <a:spAutoFit/>
          </a:bodyPr>
          <a:lstStyle/>
          <a:p>
            <a:r>
              <a:rPr lang="en-US" sz="2400" b="1" dirty="0"/>
              <a:t>40</a:t>
            </a:r>
            <a:endParaRPr lang="en-IN" sz="2400" b="1" dirty="0"/>
          </a:p>
        </p:txBody>
      </p:sp>
      <p:sp>
        <p:nvSpPr>
          <p:cNvPr id="76" name="TextBox 75">
            <a:extLst>
              <a:ext uri="{FF2B5EF4-FFF2-40B4-BE49-F238E27FC236}">
                <a16:creationId xmlns:a16="http://schemas.microsoft.com/office/drawing/2014/main" id="{642B4849-51B7-11AC-63D9-22F65C216F58}"/>
              </a:ext>
            </a:extLst>
          </p:cNvPr>
          <p:cNvSpPr txBox="1"/>
          <p:nvPr/>
        </p:nvSpPr>
        <p:spPr>
          <a:xfrm>
            <a:off x="7255928" y="4516686"/>
            <a:ext cx="495649" cy="461665"/>
          </a:xfrm>
          <a:prstGeom prst="rect">
            <a:avLst/>
          </a:prstGeom>
          <a:noFill/>
        </p:spPr>
        <p:txBody>
          <a:bodyPr wrap="none" rtlCol="0">
            <a:spAutoFit/>
          </a:bodyPr>
          <a:lstStyle/>
          <a:p>
            <a:r>
              <a:rPr lang="en-US" sz="2400" b="1" dirty="0"/>
              <a:t>50</a:t>
            </a:r>
            <a:endParaRPr lang="en-IN" sz="2400" b="1" dirty="0"/>
          </a:p>
        </p:txBody>
      </p:sp>
      <p:sp>
        <p:nvSpPr>
          <p:cNvPr id="2" name="TextBox 1">
            <a:extLst>
              <a:ext uri="{FF2B5EF4-FFF2-40B4-BE49-F238E27FC236}">
                <a16:creationId xmlns:a16="http://schemas.microsoft.com/office/drawing/2014/main" id="{F4F08B09-D201-754F-40DC-3FDF6014D71D}"/>
              </a:ext>
            </a:extLst>
          </p:cNvPr>
          <p:cNvSpPr txBox="1"/>
          <p:nvPr/>
        </p:nvSpPr>
        <p:spPr>
          <a:xfrm flipH="1">
            <a:off x="5517115" y="2211419"/>
            <a:ext cx="3169226" cy="492443"/>
          </a:xfrm>
          <a:prstGeom prst="rect">
            <a:avLst/>
          </a:prstGeom>
          <a:noFill/>
        </p:spPr>
        <p:txBody>
          <a:bodyPr wrap="square" rtlCol="0">
            <a:spAutoFit/>
          </a:bodyPr>
          <a:lstStyle/>
          <a:p>
            <a:pPr algn="ctr"/>
            <a:r>
              <a:rPr lang="en-IN" sz="2600" b="1" dirty="0"/>
              <a:t>For an empty Queue : </a:t>
            </a:r>
          </a:p>
        </p:txBody>
      </p:sp>
      <p:sp>
        <p:nvSpPr>
          <p:cNvPr id="8" name="TextBox 7">
            <a:extLst>
              <a:ext uri="{FF2B5EF4-FFF2-40B4-BE49-F238E27FC236}">
                <a16:creationId xmlns:a16="http://schemas.microsoft.com/office/drawing/2014/main" id="{0900A9AE-E10D-3398-D318-C4A2484F760F}"/>
              </a:ext>
            </a:extLst>
          </p:cNvPr>
          <p:cNvSpPr txBox="1"/>
          <p:nvPr/>
        </p:nvSpPr>
        <p:spPr>
          <a:xfrm flipH="1">
            <a:off x="1623357" y="2183614"/>
            <a:ext cx="2814949" cy="492443"/>
          </a:xfrm>
          <a:prstGeom prst="rect">
            <a:avLst/>
          </a:prstGeom>
          <a:noFill/>
        </p:spPr>
        <p:txBody>
          <a:bodyPr wrap="square" rtlCol="0">
            <a:spAutoFit/>
          </a:bodyPr>
          <a:lstStyle/>
          <a:p>
            <a:pPr algn="ctr"/>
            <a:r>
              <a:rPr lang="en-IN" sz="2600" b="1" dirty="0"/>
              <a:t>Size of Queue :</a:t>
            </a:r>
          </a:p>
        </p:txBody>
      </p:sp>
      <p:sp>
        <p:nvSpPr>
          <p:cNvPr id="11" name="TextBox 10">
            <a:extLst>
              <a:ext uri="{FF2B5EF4-FFF2-40B4-BE49-F238E27FC236}">
                <a16:creationId xmlns:a16="http://schemas.microsoft.com/office/drawing/2014/main" id="{5FE43E2B-5503-4216-43FB-656D8E0A5C01}"/>
              </a:ext>
            </a:extLst>
          </p:cNvPr>
          <p:cNvSpPr txBox="1"/>
          <p:nvPr/>
        </p:nvSpPr>
        <p:spPr>
          <a:xfrm>
            <a:off x="4111539" y="2234323"/>
            <a:ext cx="1118012" cy="492443"/>
          </a:xfrm>
          <a:prstGeom prst="rect">
            <a:avLst/>
          </a:prstGeom>
          <a:noFill/>
        </p:spPr>
        <p:txBody>
          <a:bodyPr wrap="square" rtlCol="0">
            <a:spAutoFit/>
          </a:bodyPr>
          <a:lstStyle/>
          <a:p>
            <a:r>
              <a:rPr lang="en-US" sz="2600" b="1" dirty="0">
                <a:solidFill>
                  <a:srgbClr val="FF0066"/>
                </a:solidFill>
              </a:rPr>
              <a:t>N = 5</a:t>
            </a:r>
            <a:endParaRPr lang="en-IN" sz="2600" b="1" dirty="0">
              <a:solidFill>
                <a:srgbClr val="FF0066"/>
              </a:solidFill>
            </a:endParaRPr>
          </a:p>
        </p:txBody>
      </p:sp>
      <p:sp>
        <p:nvSpPr>
          <p:cNvPr id="12" name="TextBox 11">
            <a:extLst>
              <a:ext uri="{FF2B5EF4-FFF2-40B4-BE49-F238E27FC236}">
                <a16:creationId xmlns:a16="http://schemas.microsoft.com/office/drawing/2014/main" id="{48F369E7-EE88-87AF-8DEE-95DCE2B796CA}"/>
              </a:ext>
            </a:extLst>
          </p:cNvPr>
          <p:cNvSpPr txBox="1"/>
          <p:nvPr/>
        </p:nvSpPr>
        <p:spPr>
          <a:xfrm>
            <a:off x="167523" y="1424929"/>
            <a:ext cx="1813317" cy="492443"/>
          </a:xfrm>
          <a:prstGeom prst="rect">
            <a:avLst/>
          </a:prstGeom>
          <a:noFill/>
        </p:spPr>
        <p:txBody>
          <a:bodyPr wrap="none" rtlCol="0">
            <a:spAutoFit/>
          </a:bodyPr>
          <a:lstStyle/>
          <a:p>
            <a:r>
              <a:rPr lang="en-US" sz="2600" b="1" dirty="0">
                <a:solidFill>
                  <a:srgbClr val="002060"/>
                </a:solidFill>
              </a:rPr>
              <a:t>Operations :</a:t>
            </a:r>
            <a:endParaRPr lang="en-IN" sz="2600" b="1" dirty="0">
              <a:solidFill>
                <a:srgbClr val="002060"/>
              </a:solidFill>
            </a:endParaRPr>
          </a:p>
        </p:txBody>
      </p:sp>
      <p:sp>
        <p:nvSpPr>
          <p:cNvPr id="3" name="TextBox 2">
            <a:extLst>
              <a:ext uri="{FF2B5EF4-FFF2-40B4-BE49-F238E27FC236}">
                <a16:creationId xmlns:a16="http://schemas.microsoft.com/office/drawing/2014/main" id="{722B25E7-6000-1FA5-AF22-E7B1D8A38749}"/>
              </a:ext>
            </a:extLst>
          </p:cNvPr>
          <p:cNvSpPr txBox="1"/>
          <p:nvPr/>
        </p:nvSpPr>
        <p:spPr>
          <a:xfrm>
            <a:off x="744622" y="1461457"/>
            <a:ext cx="10618613" cy="461665"/>
          </a:xfrm>
          <a:prstGeom prst="rect">
            <a:avLst/>
          </a:prstGeom>
          <a:solidFill>
            <a:schemeClr val="bg2">
              <a:lumMod val="85000"/>
            </a:schemeClr>
          </a:solidFill>
        </p:spPr>
        <p:txBody>
          <a:bodyPr wrap="none" rtlCol="0">
            <a:spAutoFit/>
          </a:bodyPr>
          <a:lstStyle/>
          <a:p>
            <a:r>
              <a:rPr lang="en-IN" sz="2400" b="1" dirty="0">
                <a:solidFill>
                  <a:srgbClr val="1D3064"/>
                </a:solidFill>
              </a:rPr>
              <a:t>As this is Double Ended Queue, Insertion &amp; Deletion can be done from both the sides </a:t>
            </a:r>
          </a:p>
        </p:txBody>
      </p:sp>
      <p:sp>
        <p:nvSpPr>
          <p:cNvPr id="4" name="TextBox 3">
            <a:extLst>
              <a:ext uri="{FF2B5EF4-FFF2-40B4-BE49-F238E27FC236}">
                <a16:creationId xmlns:a16="http://schemas.microsoft.com/office/drawing/2014/main" id="{C8D42A17-4766-CC7C-B31F-A335D6CF2D1C}"/>
              </a:ext>
            </a:extLst>
          </p:cNvPr>
          <p:cNvSpPr txBox="1"/>
          <p:nvPr/>
        </p:nvSpPr>
        <p:spPr>
          <a:xfrm flipH="1">
            <a:off x="3141376" y="2004698"/>
            <a:ext cx="5825104" cy="461665"/>
          </a:xfrm>
          <a:prstGeom prst="rect">
            <a:avLst/>
          </a:prstGeom>
          <a:noFill/>
        </p:spPr>
        <p:txBody>
          <a:bodyPr wrap="square" rtlCol="0">
            <a:spAutoFit/>
          </a:bodyPr>
          <a:lstStyle/>
          <a:p>
            <a:r>
              <a:rPr lang="en-IN" sz="2400" b="1" dirty="0">
                <a:solidFill>
                  <a:schemeClr val="tx2"/>
                </a:solidFill>
              </a:rPr>
              <a:t>So, not only two, but four operations possible  </a:t>
            </a:r>
          </a:p>
        </p:txBody>
      </p:sp>
      <p:sp>
        <p:nvSpPr>
          <p:cNvPr id="5" name="TextBox 4">
            <a:extLst>
              <a:ext uri="{FF2B5EF4-FFF2-40B4-BE49-F238E27FC236}">
                <a16:creationId xmlns:a16="http://schemas.microsoft.com/office/drawing/2014/main" id="{BD0A7928-D636-BF35-4C26-EE5355876390}"/>
              </a:ext>
            </a:extLst>
          </p:cNvPr>
          <p:cNvSpPr txBox="1"/>
          <p:nvPr/>
        </p:nvSpPr>
        <p:spPr>
          <a:xfrm>
            <a:off x="918150" y="2485821"/>
            <a:ext cx="2488182" cy="461665"/>
          </a:xfrm>
          <a:prstGeom prst="rect">
            <a:avLst/>
          </a:prstGeom>
          <a:noFill/>
        </p:spPr>
        <p:txBody>
          <a:bodyPr wrap="none" rtlCol="0">
            <a:spAutoFit/>
          </a:bodyPr>
          <a:lstStyle/>
          <a:p>
            <a:r>
              <a:rPr lang="en-IN" sz="2400" b="1" dirty="0">
                <a:solidFill>
                  <a:srgbClr val="00B050"/>
                </a:solidFill>
              </a:rPr>
              <a:t>Insert from FRONT</a:t>
            </a:r>
          </a:p>
        </p:txBody>
      </p:sp>
      <p:sp>
        <p:nvSpPr>
          <p:cNvPr id="6" name="TextBox 5">
            <a:extLst>
              <a:ext uri="{FF2B5EF4-FFF2-40B4-BE49-F238E27FC236}">
                <a16:creationId xmlns:a16="http://schemas.microsoft.com/office/drawing/2014/main" id="{EC73DE44-51BC-20D7-285A-35E9F987366B}"/>
              </a:ext>
            </a:extLst>
          </p:cNvPr>
          <p:cNvSpPr txBox="1"/>
          <p:nvPr/>
        </p:nvSpPr>
        <p:spPr>
          <a:xfrm>
            <a:off x="6228096" y="2485822"/>
            <a:ext cx="2305439" cy="461665"/>
          </a:xfrm>
          <a:prstGeom prst="rect">
            <a:avLst/>
          </a:prstGeom>
          <a:noFill/>
        </p:spPr>
        <p:txBody>
          <a:bodyPr wrap="none" rtlCol="0">
            <a:spAutoFit/>
          </a:bodyPr>
          <a:lstStyle/>
          <a:p>
            <a:r>
              <a:rPr lang="en-IN" sz="2400" b="1" dirty="0">
                <a:solidFill>
                  <a:srgbClr val="00B050"/>
                </a:solidFill>
              </a:rPr>
              <a:t>Insert from REAR</a:t>
            </a:r>
          </a:p>
        </p:txBody>
      </p:sp>
      <p:sp>
        <p:nvSpPr>
          <p:cNvPr id="15" name="TextBox 14">
            <a:extLst>
              <a:ext uri="{FF2B5EF4-FFF2-40B4-BE49-F238E27FC236}">
                <a16:creationId xmlns:a16="http://schemas.microsoft.com/office/drawing/2014/main" id="{32148A63-F3D0-A1C9-BDB0-4C0C2B3137AE}"/>
              </a:ext>
            </a:extLst>
          </p:cNvPr>
          <p:cNvSpPr txBox="1"/>
          <p:nvPr/>
        </p:nvSpPr>
        <p:spPr>
          <a:xfrm>
            <a:off x="3539460" y="2490189"/>
            <a:ext cx="2555508" cy="461665"/>
          </a:xfrm>
          <a:prstGeom prst="rect">
            <a:avLst/>
          </a:prstGeom>
          <a:noFill/>
        </p:spPr>
        <p:txBody>
          <a:bodyPr wrap="none" rtlCol="0">
            <a:spAutoFit/>
          </a:bodyPr>
          <a:lstStyle/>
          <a:p>
            <a:r>
              <a:rPr lang="en-IN" sz="2400" b="1" dirty="0">
                <a:solidFill>
                  <a:srgbClr val="C00000"/>
                </a:solidFill>
              </a:rPr>
              <a:t>Delete from FRONT</a:t>
            </a:r>
          </a:p>
        </p:txBody>
      </p:sp>
      <p:sp>
        <p:nvSpPr>
          <p:cNvPr id="16" name="TextBox 15">
            <a:extLst>
              <a:ext uri="{FF2B5EF4-FFF2-40B4-BE49-F238E27FC236}">
                <a16:creationId xmlns:a16="http://schemas.microsoft.com/office/drawing/2014/main" id="{EB171D9E-9452-A561-4613-8E1400DB9260}"/>
              </a:ext>
            </a:extLst>
          </p:cNvPr>
          <p:cNvSpPr txBox="1"/>
          <p:nvPr/>
        </p:nvSpPr>
        <p:spPr>
          <a:xfrm>
            <a:off x="8722785" y="2485820"/>
            <a:ext cx="2372765" cy="461665"/>
          </a:xfrm>
          <a:prstGeom prst="rect">
            <a:avLst/>
          </a:prstGeom>
          <a:noFill/>
        </p:spPr>
        <p:txBody>
          <a:bodyPr wrap="none" rtlCol="0">
            <a:spAutoFit/>
          </a:bodyPr>
          <a:lstStyle/>
          <a:p>
            <a:r>
              <a:rPr lang="en-IN" sz="2400" b="1" dirty="0">
                <a:solidFill>
                  <a:srgbClr val="C00000"/>
                </a:solidFill>
              </a:rPr>
              <a:t>Delete from REAR</a:t>
            </a:r>
          </a:p>
        </p:txBody>
      </p:sp>
      <p:sp>
        <p:nvSpPr>
          <p:cNvPr id="17" name="TextBox 16">
            <a:extLst>
              <a:ext uri="{FF2B5EF4-FFF2-40B4-BE49-F238E27FC236}">
                <a16:creationId xmlns:a16="http://schemas.microsoft.com/office/drawing/2014/main" id="{8C674F7E-6F7A-E660-37A1-70C445D45B00}"/>
              </a:ext>
            </a:extLst>
          </p:cNvPr>
          <p:cNvSpPr txBox="1"/>
          <p:nvPr/>
        </p:nvSpPr>
        <p:spPr>
          <a:xfrm>
            <a:off x="2148363" y="1493768"/>
            <a:ext cx="2488182" cy="461665"/>
          </a:xfrm>
          <a:prstGeom prst="rect">
            <a:avLst/>
          </a:prstGeom>
          <a:noFill/>
        </p:spPr>
        <p:txBody>
          <a:bodyPr wrap="none" rtlCol="0">
            <a:spAutoFit/>
          </a:bodyPr>
          <a:lstStyle/>
          <a:p>
            <a:r>
              <a:rPr lang="en-IN" sz="2400" b="1" dirty="0">
                <a:solidFill>
                  <a:srgbClr val="00B050"/>
                </a:solidFill>
              </a:rPr>
              <a:t>Insert from FRONT</a:t>
            </a:r>
          </a:p>
        </p:txBody>
      </p:sp>
      <p:sp>
        <p:nvSpPr>
          <p:cNvPr id="18" name="TextBox 17">
            <a:extLst>
              <a:ext uri="{FF2B5EF4-FFF2-40B4-BE49-F238E27FC236}">
                <a16:creationId xmlns:a16="http://schemas.microsoft.com/office/drawing/2014/main" id="{EC92891C-0492-796E-96AF-D53F233B3E83}"/>
              </a:ext>
            </a:extLst>
          </p:cNvPr>
          <p:cNvSpPr txBox="1"/>
          <p:nvPr/>
        </p:nvSpPr>
        <p:spPr>
          <a:xfrm>
            <a:off x="7458309" y="1493769"/>
            <a:ext cx="2305439" cy="461665"/>
          </a:xfrm>
          <a:prstGeom prst="rect">
            <a:avLst/>
          </a:prstGeom>
          <a:noFill/>
        </p:spPr>
        <p:txBody>
          <a:bodyPr wrap="none" rtlCol="0">
            <a:spAutoFit/>
          </a:bodyPr>
          <a:lstStyle/>
          <a:p>
            <a:r>
              <a:rPr lang="en-IN" sz="2400" b="1" dirty="0">
                <a:solidFill>
                  <a:srgbClr val="00B050"/>
                </a:solidFill>
              </a:rPr>
              <a:t>Insert from REAR</a:t>
            </a:r>
          </a:p>
        </p:txBody>
      </p:sp>
      <p:sp>
        <p:nvSpPr>
          <p:cNvPr id="19" name="TextBox 18">
            <a:extLst>
              <a:ext uri="{FF2B5EF4-FFF2-40B4-BE49-F238E27FC236}">
                <a16:creationId xmlns:a16="http://schemas.microsoft.com/office/drawing/2014/main" id="{C7A84F7C-FAE0-11B0-A331-9C2C7407D55F}"/>
              </a:ext>
            </a:extLst>
          </p:cNvPr>
          <p:cNvSpPr txBox="1"/>
          <p:nvPr/>
        </p:nvSpPr>
        <p:spPr>
          <a:xfrm>
            <a:off x="4769673" y="1498136"/>
            <a:ext cx="2555508" cy="461665"/>
          </a:xfrm>
          <a:prstGeom prst="rect">
            <a:avLst/>
          </a:prstGeom>
          <a:noFill/>
        </p:spPr>
        <p:txBody>
          <a:bodyPr wrap="none" rtlCol="0">
            <a:spAutoFit/>
          </a:bodyPr>
          <a:lstStyle/>
          <a:p>
            <a:r>
              <a:rPr lang="en-IN" sz="2400" b="1" dirty="0">
                <a:solidFill>
                  <a:srgbClr val="C00000"/>
                </a:solidFill>
              </a:rPr>
              <a:t>Delete from FRONT</a:t>
            </a:r>
          </a:p>
        </p:txBody>
      </p:sp>
      <p:sp>
        <p:nvSpPr>
          <p:cNvPr id="20" name="TextBox 19">
            <a:extLst>
              <a:ext uri="{FF2B5EF4-FFF2-40B4-BE49-F238E27FC236}">
                <a16:creationId xmlns:a16="http://schemas.microsoft.com/office/drawing/2014/main" id="{0EE58042-B147-45F6-CFA1-D26AF900340A}"/>
              </a:ext>
            </a:extLst>
          </p:cNvPr>
          <p:cNvSpPr txBox="1"/>
          <p:nvPr/>
        </p:nvSpPr>
        <p:spPr>
          <a:xfrm>
            <a:off x="9859479" y="1493767"/>
            <a:ext cx="2372765" cy="461665"/>
          </a:xfrm>
          <a:prstGeom prst="rect">
            <a:avLst/>
          </a:prstGeom>
          <a:noFill/>
        </p:spPr>
        <p:txBody>
          <a:bodyPr wrap="none" rtlCol="0">
            <a:spAutoFit/>
          </a:bodyPr>
          <a:lstStyle/>
          <a:p>
            <a:r>
              <a:rPr lang="en-IN" sz="2400" b="1" dirty="0">
                <a:solidFill>
                  <a:srgbClr val="C00000"/>
                </a:solidFill>
              </a:rPr>
              <a:t>Delete from REAR</a:t>
            </a:r>
          </a:p>
        </p:txBody>
      </p:sp>
      <p:sp>
        <p:nvSpPr>
          <p:cNvPr id="21" name="Oval 20">
            <a:extLst>
              <a:ext uri="{FF2B5EF4-FFF2-40B4-BE49-F238E27FC236}">
                <a16:creationId xmlns:a16="http://schemas.microsoft.com/office/drawing/2014/main" id="{094CE5FF-343B-C763-B76F-215340F662F1}"/>
              </a:ext>
            </a:extLst>
          </p:cNvPr>
          <p:cNvSpPr/>
          <p:nvPr/>
        </p:nvSpPr>
        <p:spPr>
          <a:xfrm>
            <a:off x="3912912" y="1023245"/>
            <a:ext cx="419160" cy="461665"/>
          </a:xfrm>
          <a:prstGeom prst="ellipse">
            <a:avLst/>
          </a:prstGeom>
          <a:solidFill>
            <a:srgbClr val="1D30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1"/>
                </a:solidFill>
              </a:rPr>
              <a:t>1</a:t>
            </a:r>
          </a:p>
        </p:txBody>
      </p:sp>
      <p:sp>
        <p:nvSpPr>
          <p:cNvPr id="22" name="Oval 21">
            <a:extLst>
              <a:ext uri="{FF2B5EF4-FFF2-40B4-BE49-F238E27FC236}">
                <a16:creationId xmlns:a16="http://schemas.microsoft.com/office/drawing/2014/main" id="{1E425D60-2DFF-B97D-C71B-2772A6CFBFCC}"/>
              </a:ext>
            </a:extLst>
          </p:cNvPr>
          <p:cNvSpPr/>
          <p:nvPr/>
        </p:nvSpPr>
        <p:spPr>
          <a:xfrm>
            <a:off x="6511617" y="1023245"/>
            <a:ext cx="419160" cy="461665"/>
          </a:xfrm>
          <a:prstGeom prst="ellipse">
            <a:avLst/>
          </a:prstGeom>
          <a:solidFill>
            <a:srgbClr val="1D30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1"/>
                </a:solidFill>
              </a:rPr>
              <a:t>2</a:t>
            </a:r>
          </a:p>
        </p:txBody>
      </p:sp>
      <p:sp>
        <p:nvSpPr>
          <p:cNvPr id="23" name="Oval 22">
            <a:extLst>
              <a:ext uri="{FF2B5EF4-FFF2-40B4-BE49-F238E27FC236}">
                <a16:creationId xmlns:a16="http://schemas.microsoft.com/office/drawing/2014/main" id="{1609E15F-272C-85AB-29D2-EBD0272A1169}"/>
              </a:ext>
            </a:extLst>
          </p:cNvPr>
          <p:cNvSpPr/>
          <p:nvPr/>
        </p:nvSpPr>
        <p:spPr>
          <a:xfrm>
            <a:off x="9036611" y="1020924"/>
            <a:ext cx="419160" cy="461665"/>
          </a:xfrm>
          <a:prstGeom prst="ellipse">
            <a:avLst/>
          </a:prstGeom>
          <a:solidFill>
            <a:srgbClr val="1D30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1"/>
                </a:solidFill>
              </a:rPr>
              <a:t>3</a:t>
            </a:r>
          </a:p>
        </p:txBody>
      </p:sp>
      <p:sp>
        <p:nvSpPr>
          <p:cNvPr id="24" name="Oval 23">
            <a:extLst>
              <a:ext uri="{FF2B5EF4-FFF2-40B4-BE49-F238E27FC236}">
                <a16:creationId xmlns:a16="http://schemas.microsoft.com/office/drawing/2014/main" id="{6E906017-73C0-2A9D-85BE-C599376D9F79}"/>
              </a:ext>
            </a:extLst>
          </p:cNvPr>
          <p:cNvSpPr/>
          <p:nvPr/>
        </p:nvSpPr>
        <p:spPr>
          <a:xfrm>
            <a:off x="11653976" y="1006164"/>
            <a:ext cx="419160" cy="461665"/>
          </a:xfrm>
          <a:prstGeom prst="ellipse">
            <a:avLst/>
          </a:prstGeom>
          <a:solidFill>
            <a:srgbClr val="1D30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1"/>
                </a:solidFill>
              </a:rPr>
              <a:t>4</a:t>
            </a:r>
          </a:p>
        </p:txBody>
      </p:sp>
      <p:sp>
        <p:nvSpPr>
          <p:cNvPr id="25" name="TextBox 24">
            <a:extLst>
              <a:ext uri="{FF2B5EF4-FFF2-40B4-BE49-F238E27FC236}">
                <a16:creationId xmlns:a16="http://schemas.microsoft.com/office/drawing/2014/main" id="{6A45AAF0-776F-ECC2-9A02-34A26746AF85}"/>
              </a:ext>
            </a:extLst>
          </p:cNvPr>
          <p:cNvSpPr txBox="1"/>
          <p:nvPr/>
        </p:nvSpPr>
        <p:spPr>
          <a:xfrm>
            <a:off x="133763" y="3174303"/>
            <a:ext cx="2331087" cy="400110"/>
          </a:xfrm>
          <a:prstGeom prst="rect">
            <a:avLst/>
          </a:prstGeom>
          <a:noFill/>
        </p:spPr>
        <p:txBody>
          <a:bodyPr wrap="none" rtlCol="0">
            <a:spAutoFit/>
          </a:bodyPr>
          <a:lstStyle/>
          <a:p>
            <a:r>
              <a:rPr lang="en-IN" sz="2000" b="1" dirty="0" err="1"/>
              <a:t>Insert_at_FRONT</a:t>
            </a:r>
            <a:r>
              <a:rPr lang="en-IN" sz="2000" b="1" dirty="0"/>
              <a:t>(10)</a:t>
            </a:r>
          </a:p>
        </p:txBody>
      </p:sp>
      <p:sp>
        <p:nvSpPr>
          <p:cNvPr id="26" name="TextBox 25">
            <a:extLst>
              <a:ext uri="{FF2B5EF4-FFF2-40B4-BE49-F238E27FC236}">
                <a16:creationId xmlns:a16="http://schemas.microsoft.com/office/drawing/2014/main" id="{649A7DBA-2353-A752-FA9F-A06E4E67676E}"/>
              </a:ext>
            </a:extLst>
          </p:cNvPr>
          <p:cNvSpPr txBox="1"/>
          <p:nvPr/>
        </p:nvSpPr>
        <p:spPr>
          <a:xfrm>
            <a:off x="133762" y="3535827"/>
            <a:ext cx="2180405" cy="400110"/>
          </a:xfrm>
          <a:prstGeom prst="rect">
            <a:avLst/>
          </a:prstGeom>
          <a:noFill/>
        </p:spPr>
        <p:txBody>
          <a:bodyPr wrap="none" rtlCol="0">
            <a:spAutoFit/>
          </a:bodyPr>
          <a:lstStyle/>
          <a:p>
            <a:r>
              <a:rPr lang="en-IN" sz="2000" b="1" dirty="0" err="1"/>
              <a:t>Insert_at_REAR</a:t>
            </a:r>
            <a:r>
              <a:rPr lang="en-IN" sz="2000" b="1" dirty="0"/>
              <a:t>(20)</a:t>
            </a:r>
          </a:p>
        </p:txBody>
      </p:sp>
      <p:sp>
        <p:nvSpPr>
          <p:cNvPr id="27" name="TextBox 26">
            <a:extLst>
              <a:ext uri="{FF2B5EF4-FFF2-40B4-BE49-F238E27FC236}">
                <a16:creationId xmlns:a16="http://schemas.microsoft.com/office/drawing/2014/main" id="{25FB6263-7569-0225-4E67-502DD20220E7}"/>
              </a:ext>
            </a:extLst>
          </p:cNvPr>
          <p:cNvSpPr txBox="1"/>
          <p:nvPr/>
        </p:nvSpPr>
        <p:spPr>
          <a:xfrm>
            <a:off x="133761" y="3875488"/>
            <a:ext cx="2331087" cy="400110"/>
          </a:xfrm>
          <a:prstGeom prst="rect">
            <a:avLst/>
          </a:prstGeom>
          <a:noFill/>
        </p:spPr>
        <p:txBody>
          <a:bodyPr wrap="none" rtlCol="0">
            <a:spAutoFit/>
          </a:bodyPr>
          <a:lstStyle/>
          <a:p>
            <a:r>
              <a:rPr lang="en-IN" sz="2000" b="1" dirty="0" err="1"/>
              <a:t>Insert_at_FRONT</a:t>
            </a:r>
            <a:r>
              <a:rPr lang="en-IN" sz="2000" b="1" dirty="0"/>
              <a:t>(30)</a:t>
            </a:r>
          </a:p>
        </p:txBody>
      </p:sp>
      <p:sp>
        <p:nvSpPr>
          <p:cNvPr id="28" name="Rectangle 27">
            <a:extLst>
              <a:ext uri="{FF2B5EF4-FFF2-40B4-BE49-F238E27FC236}">
                <a16:creationId xmlns:a16="http://schemas.microsoft.com/office/drawing/2014/main" id="{680817AB-DEAA-ED68-1170-FA11AC4AA236}"/>
              </a:ext>
            </a:extLst>
          </p:cNvPr>
          <p:cNvSpPr/>
          <p:nvPr/>
        </p:nvSpPr>
        <p:spPr>
          <a:xfrm>
            <a:off x="4162223" y="3374358"/>
            <a:ext cx="830795" cy="22886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075C4689-26A5-FB7B-4DD5-68C3A7799271}"/>
              </a:ext>
            </a:extLst>
          </p:cNvPr>
          <p:cNvSpPr txBox="1"/>
          <p:nvPr/>
        </p:nvSpPr>
        <p:spPr>
          <a:xfrm>
            <a:off x="5423146" y="5394693"/>
            <a:ext cx="2560316" cy="461665"/>
          </a:xfrm>
          <a:prstGeom prst="rect">
            <a:avLst/>
          </a:prstGeom>
          <a:noFill/>
        </p:spPr>
        <p:txBody>
          <a:bodyPr wrap="none" rtlCol="0">
            <a:spAutoFit/>
          </a:bodyPr>
          <a:lstStyle/>
          <a:p>
            <a:r>
              <a:rPr lang="en-IN" sz="2400" b="1" dirty="0">
                <a:solidFill>
                  <a:srgbClr val="C00000"/>
                </a:solidFill>
              </a:rPr>
              <a:t>No space at FRONT</a:t>
            </a:r>
          </a:p>
        </p:txBody>
      </p:sp>
      <p:sp>
        <p:nvSpPr>
          <p:cNvPr id="30" name="TextBox 29">
            <a:extLst>
              <a:ext uri="{FF2B5EF4-FFF2-40B4-BE49-F238E27FC236}">
                <a16:creationId xmlns:a16="http://schemas.microsoft.com/office/drawing/2014/main" id="{3B3CE455-85FB-4618-1FA7-D5ADAAB298AB}"/>
              </a:ext>
            </a:extLst>
          </p:cNvPr>
          <p:cNvSpPr txBox="1"/>
          <p:nvPr/>
        </p:nvSpPr>
        <p:spPr>
          <a:xfrm>
            <a:off x="5313057" y="5813053"/>
            <a:ext cx="2780493" cy="492443"/>
          </a:xfrm>
          <a:prstGeom prst="rect">
            <a:avLst/>
          </a:prstGeom>
          <a:noFill/>
        </p:spPr>
        <p:txBody>
          <a:bodyPr wrap="square" rtlCol="0">
            <a:spAutoFit/>
          </a:bodyPr>
          <a:lstStyle/>
          <a:p>
            <a:pPr algn="ctr"/>
            <a:r>
              <a:rPr lang="en-IN" sz="2600" b="1" dirty="0">
                <a:solidFill>
                  <a:srgbClr val="FF0000"/>
                </a:solidFill>
                <a:highlight>
                  <a:srgbClr val="FFFF00"/>
                </a:highlight>
              </a:rPr>
              <a:t>Queue Overflow</a:t>
            </a:r>
          </a:p>
        </p:txBody>
      </p:sp>
      <p:sp>
        <p:nvSpPr>
          <p:cNvPr id="31" name="TextBox 30">
            <a:extLst>
              <a:ext uri="{FF2B5EF4-FFF2-40B4-BE49-F238E27FC236}">
                <a16:creationId xmlns:a16="http://schemas.microsoft.com/office/drawing/2014/main" id="{3D0084B2-70F8-0D83-3AFD-519E207006CC}"/>
              </a:ext>
            </a:extLst>
          </p:cNvPr>
          <p:cNvSpPr txBox="1"/>
          <p:nvPr/>
        </p:nvSpPr>
        <p:spPr>
          <a:xfrm>
            <a:off x="123625" y="4192954"/>
            <a:ext cx="2180405" cy="400110"/>
          </a:xfrm>
          <a:prstGeom prst="rect">
            <a:avLst/>
          </a:prstGeom>
          <a:noFill/>
        </p:spPr>
        <p:txBody>
          <a:bodyPr wrap="none" rtlCol="0">
            <a:spAutoFit/>
          </a:bodyPr>
          <a:lstStyle/>
          <a:p>
            <a:r>
              <a:rPr lang="en-IN" sz="2000" b="1" dirty="0" err="1"/>
              <a:t>Insert_at_REAR</a:t>
            </a:r>
            <a:r>
              <a:rPr lang="en-IN" sz="2000" b="1" dirty="0"/>
              <a:t>(30)</a:t>
            </a:r>
          </a:p>
        </p:txBody>
      </p:sp>
      <p:sp>
        <p:nvSpPr>
          <p:cNvPr id="32" name="TextBox 31">
            <a:extLst>
              <a:ext uri="{FF2B5EF4-FFF2-40B4-BE49-F238E27FC236}">
                <a16:creationId xmlns:a16="http://schemas.microsoft.com/office/drawing/2014/main" id="{7D0C0C2A-7240-24F4-9457-A1109ABB98AE}"/>
              </a:ext>
            </a:extLst>
          </p:cNvPr>
          <p:cNvSpPr txBox="1"/>
          <p:nvPr/>
        </p:nvSpPr>
        <p:spPr>
          <a:xfrm>
            <a:off x="130492" y="4510420"/>
            <a:ext cx="2180405" cy="400110"/>
          </a:xfrm>
          <a:prstGeom prst="rect">
            <a:avLst/>
          </a:prstGeom>
          <a:noFill/>
        </p:spPr>
        <p:txBody>
          <a:bodyPr wrap="none" rtlCol="0">
            <a:spAutoFit/>
          </a:bodyPr>
          <a:lstStyle/>
          <a:p>
            <a:r>
              <a:rPr lang="en-IN" sz="2000" b="1" dirty="0" err="1"/>
              <a:t>Insert_at_REAR</a:t>
            </a:r>
            <a:r>
              <a:rPr lang="en-IN" sz="2000" b="1" dirty="0"/>
              <a:t>(40)</a:t>
            </a:r>
          </a:p>
        </p:txBody>
      </p:sp>
      <p:sp>
        <p:nvSpPr>
          <p:cNvPr id="33" name="TextBox 32">
            <a:extLst>
              <a:ext uri="{FF2B5EF4-FFF2-40B4-BE49-F238E27FC236}">
                <a16:creationId xmlns:a16="http://schemas.microsoft.com/office/drawing/2014/main" id="{C3668105-C96E-399D-58BD-91C7A700AA55}"/>
              </a:ext>
            </a:extLst>
          </p:cNvPr>
          <p:cNvSpPr txBox="1"/>
          <p:nvPr/>
        </p:nvSpPr>
        <p:spPr>
          <a:xfrm>
            <a:off x="121131" y="4855136"/>
            <a:ext cx="2180405" cy="400110"/>
          </a:xfrm>
          <a:prstGeom prst="rect">
            <a:avLst/>
          </a:prstGeom>
          <a:noFill/>
        </p:spPr>
        <p:txBody>
          <a:bodyPr wrap="none" rtlCol="0">
            <a:spAutoFit/>
          </a:bodyPr>
          <a:lstStyle/>
          <a:p>
            <a:r>
              <a:rPr lang="en-IN" sz="2000" b="1" dirty="0" err="1"/>
              <a:t>Insert_at_REAR</a:t>
            </a:r>
            <a:r>
              <a:rPr lang="en-IN" sz="2000" b="1" dirty="0"/>
              <a:t>(50)</a:t>
            </a:r>
          </a:p>
        </p:txBody>
      </p:sp>
      <p:sp>
        <p:nvSpPr>
          <p:cNvPr id="34" name="TextBox 33">
            <a:extLst>
              <a:ext uri="{FF2B5EF4-FFF2-40B4-BE49-F238E27FC236}">
                <a16:creationId xmlns:a16="http://schemas.microsoft.com/office/drawing/2014/main" id="{21236A9E-CBA8-B4C6-6665-0854D5044308}"/>
              </a:ext>
            </a:extLst>
          </p:cNvPr>
          <p:cNvSpPr txBox="1"/>
          <p:nvPr/>
        </p:nvSpPr>
        <p:spPr>
          <a:xfrm>
            <a:off x="121130" y="5174650"/>
            <a:ext cx="2180405" cy="400110"/>
          </a:xfrm>
          <a:prstGeom prst="rect">
            <a:avLst/>
          </a:prstGeom>
          <a:noFill/>
        </p:spPr>
        <p:txBody>
          <a:bodyPr wrap="none" rtlCol="0">
            <a:spAutoFit/>
          </a:bodyPr>
          <a:lstStyle/>
          <a:p>
            <a:r>
              <a:rPr lang="en-IN" sz="2000" b="1" dirty="0" err="1"/>
              <a:t>Insert_at_REAR</a:t>
            </a:r>
            <a:r>
              <a:rPr lang="en-IN" sz="2000" b="1" dirty="0"/>
              <a:t>(60)</a:t>
            </a:r>
          </a:p>
        </p:txBody>
      </p:sp>
      <p:sp>
        <p:nvSpPr>
          <p:cNvPr id="35" name="Rectangle 34">
            <a:extLst>
              <a:ext uri="{FF2B5EF4-FFF2-40B4-BE49-F238E27FC236}">
                <a16:creationId xmlns:a16="http://schemas.microsoft.com/office/drawing/2014/main" id="{CDC1D593-1429-6DA4-1663-C3263B3F38D0}"/>
              </a:ext>
            </a:extLst>
          </p:cNvPr>
          <p:cNvSpPr/>
          <p:nvPr/>
        </p:nvSpPr>
        <p:spPr>
          <a:xfrm>
            <a:off x="7070098" y="3379156"/>
            <a:ext cx="830795" cy="22886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B17DBFC4-4B44-199C-91A7-C5819379330C}"/>
              </a:ext>
            </a:extLst>
          </p:cNvPr>
          <p:cNvSpPr txBox="1"/>
          <p:nvPr/>
        </p:nvSpPr>
        <p:spPr>
          <a:xfrm>
            <a:off x="8109580" y="5394693"/>
            <a:ext cx="2377574" cy="461665"/>
          </a:xfrm>
          <a:prstGeom prst="rect">
            <a:avLst/>
          </a:prstGeom>
          <a:noFill/>
        </p:spPr>
        <p:txBody>
          <a:bodyPr wrap="none" rtlCol="0">
            <a:spAutoFit/>
          </a:bodyPr>
          <a:lstStyle/>
          <a:p>
            <a:r>
              <a:rPr lang="en-IN" sz="2400" b="1" dirty="0">
                <a:solidFill>
                  <a:srgbClr val="C00000"/>
                </a:solidFill>
              </a:rPr>
              <a:t>No space at REAR</a:t>
            </a:r>
          </a:p>
        </p:txBody>
      </p:sp>
      <p:sp>
        <p:nvSpPr>
          <p:cNvPr id="37" name="TextBox 36">
            <a:extLst>
              <a:ext uri="{FF2B5EF4-FFF2-40B4-BE49-F238E27FC236}">
                <a16:creationId xmlns:a16="http://schemas.microsoft.com/office/drawing/2014/main" id="{47EC8031-47B6-699B-9A15-22451B174FC0}"/>
              </a:ext>
            </a:extLst>
          </p:cNvPr>
          <p:cNvSpPr txBox="1"/>
          <p:nvPr/>
        </p:nvSpPr>
        <p:spPr>
          <a:xfrm>
            <a:off x="7999491" y="5813053"/>
            <a:ext cx="2780493" cy="492443"/>
          </a:xfrm>
          <a:prstGeom prst="rect">
            <a:avLst/>
          </a:prstGeom>
          <a:noFill/>
        </p:spPr>
        <p:txBody>
          <a:bodyPr wrap="square" rtlCol="0">
            <a:spAutoFit/>
          </a:bodyPr>
          <a:lstStyle/>
          <a:p>
            <a:pPr algn="ctr"/>
            <a:r>
              <a:rPr lang="en-IN" sz="2600" b="1" dirty="0">
                <a:solidFill>
                  <a:srgbClr val="FF0000"/>
                </a:solidFill>
                <a:highlight>
                  <a:srgbClr val="FFFF00"/>
                </a:highlight>
              </a:rPr>
              <a:t>Queue Overflow</a:t>
            </a:r>
          </a:p>
        </p:txBody>
      </p:sp>
      <p:sp>
        <p:nvSpPr>
          <p:cNvPr id="38" name="TextBox 37">
            <a:extLst>
              <a:ext uri="{FF2B5EF4-FFF2-40B4-BE49-F238E27FC236}">
                <a16:creationId xmlns:a16="http://schemas.microsoft.com/office/drawing/2014/main" id="{544A7292-5B97-FB36-0B4A-8043A68C22E7}"/>
              </a:ext>
            </a:extLst>
          </p:cNvPr>
          <p:cNvSpPr txBox="1"/>
          <p:nvPr/>
        </p:nvSpPr>
        <p:spPr>
          <a:xfrm>
            <a:off x="9544056" y="3089031"/>
            <a:ext cx="2417650" cy="400110"/>
          </a:xfrm>
          <a:prstGeom prst="rect">
            <a:avLst/>
          </a:prstGeom>
          <a:noFill/>
        </p:spPr>
        <p:txBody>
          <a:bodyPr wrap="none" rtlCol="0">
            <a:spAutoFit/>
          </a:bodyPr>
          <a:lstStyle/>
          <a:p>
            <a:r>
              <a:rPr lang="en-IN" sz="2000" b="1" dirty="0" err="1"/>
              <a:t>Delete_from_FRONT</a:t>
            </a:r>
            <a:r>
              <a:rPr lang="en-IN" sz="2000" b="1" dirty="0"/>
              <a:t>()</a:t>
            </a:r>
          </a:p>
        </p:txBody>
      </p:sp>
      <p:sp>
        <p:nvSpPr>
          <p:cNvPr id="39" name="TextBox 38">
            <a:extLst>
              <a:ext uri="{FF2B5EF4-FFF2-40B4-BE49-F238E27FC236}">
                <a16:creationId xmlns:a16="http://schemas.microsoft.com/office/drawing/2014/main" id="{3DE45BCF-49BA-A621-D6E6-DCA2DB0D9314}"/>
              </a:ext>
            </a:extLst>
          </p:cNvPr>
          <p:cNvSpPr txBox="1"/>
          <p:nvPr/>
        </p:nvSpPr>
        <p:spPr>
          <a:xfrm>
            <a:off x="9544056" y="3439476"/>
            <a:ext cx="2266967" cy="400110"/>
          </a:xfrm>
          <a:prstGeom prst="rect">
            <a:avLst/>
          </a:prstGeom>
          <a:noFill/>
        </p:spPr>
        <p:txBody>
          <a:bodyPr wrap="none" rtlCol="0">
            <a:spAutoFit/>
          </a:bodyPr>
          <a:lstStyle/>
          <a:p>
            <a:r>
              <a:rPr lang="en-IN" sz="2000" b="1" dirty="0" err="1"/>
              <a:t>Delete_from_REAR</a:t>
            </a:r>
            <a:r>
              <a:rPr lang="en-IN" sz="2000" b="1" dirty="0"/>
              <a:t>()</a:t>
            </a:r>
          </a:p>
        </p:txBody>
      </p:sp>
      <p:cxnSp>
        <p:nvCxnSpPr>
          <p:cNvPr id="41" name="Straight Connector 40">
            <a:extLst>
              <a:ext uri="{FF2B5EF4-FFF2-40B4-BE49-F238E27FC236}">
                <a16:creationId xmlns:a16="http://schemas.microsoft.com/office/drawing/2014/main" id="{B1E2D848-B023-DD92-7648-A9E45A848767}"/>
              </a:ext>
            </a:extLst>
          </p:cNvPr>
          <p:cNvCxnSpPr/>
          <p:nvPr/>
        </p:nvCxnSpPr>
        <p:spPr>
          <a:xfrm>
            <a:off x="0" y="2004698"/>
            <a:ext cx="12192000" cy="0"/>
          </a:xfrm>
          <a:prstGeom prst="line">
            <a:avLst/>
          </a:prstGeom>
          <a:ln w="19050">
            <a:solidFill>
              <a:srgbClr val="1D3064"/>
            </a:solidFill>
            <a:prstDash val="sysDash"/>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4B72161-B529-C695-AEB6-17AEDFED06A4}"/>
              </a:ext>
            </a:extLst>
          </p:cNvPr>
          <p:cNvSpPr txBox="1"/>
          <p:nvPr/>
        </p:nvSpPr>
        <p:spPr>
          <a:xfrm>
            <a:off x="9542562" y="3769079"/>
            <a:ext cx="2266967" cy="400110"/>
          </a:xfrm>
          <a:prstGeom prst="rect">
            <a:avLst/>
          </a:prstGeom>
          <a:noFill/>
        </p:spPr>
        <p:txBody>
          <a:bodyPr wrap="none" rtlCol="0">
            <a:spAutoFit/>
          </a:bodyPr>
          <a:lstStyle/>
          <a:p>
            <a:r>
              <a:rPr lang="en-IN" sz="2000" b="1" dirty="0" err="1"/>
              <a:t>Delete_from_REAR</a:t>
            </a:r>
            <a:r>
              <a:rPr lang="en-IN" sz="2000" b="1" dirty="0"/>
              <a:t>()</a:t>
            </a:r>
          </a:p>
        </p:txBody>
      </p:sp>
      <p:sp>
        <p:nvSpPr>
          <p:cNvPr id="43" name="TextBox 42">
            <a:extLst>
              <a:ext uri="{FF2B5EF4-FFF2-40B4-BE49-F238E27FC236}">
                <a16:creationId xmlns:a16="http://schemas.microsoft.com/office/drawing/2014/main" id="{FD2ACB0E-6C30-5482-480E-68E49884F086}"/>
              </a:ext>
            </a:extLst>
          </p:cNvPr>
          <p:cNvSpPr txBox="1"/>
          <p:nvPr/>
        </p:nvSpPr>
        <p:spPr>
          <a:xfrm>
            <a:off x="9542562" y="4092906"/>
            <a:ext cx="2417650" cy="400110"/>
          </a:xfrm>
          <a:prstGeom prst="rect">
            <a:avLst/>
          </a:prstGeom>
          <a:noFill/>
        </p:spPr>
        <p:txBody>
          <a:bodyPr wrap="none" rtlCol="0">
            <a:spAutoFit/>
          </a:bodyPr>
          <a:lstStyle/>
          <a:p>
            <a:r>
              <a:rPr lang="en-IN" sz="2000" b="1" dirty="0" err="1"/>
              <a:t>Delete_from_FRONT</a:t>
            </a:r>
            <a:r>
              <a:rPr lang="en-IN" sz="2000" b="1" dirty="0"/>
              <a:t>()</a:t>
            </a:r>
          </a:p>
        </p:txBody>
      </p:sp>
      <p:sp>
        <p:nvSpPr>
          <p:cNvPr id="44" name="TextBox 43">
            <a:extLst>
              <a:ext uri="{FF2B5EF4-FFF2-40B4-BE49-F238E27FC236}">
                <a16:creationId xmlns:a16="http://schemas.microsoft.com/office/drawing/2014/main" id="{A07742F1-5950-44F0-17CA-968D77AA5CEB}"/>
              </a:ext>
            </a:extLst>
          </p:cNvPr>
          <p:cNvSpPr txBox="1"/>
          <p:nvPr/>
        </p:nvSpPr>
        <p:spPr>
          <a:xfrm>
            <a:off x="9552699" y="4370328"/>
            <a:ext cx="2417650" cy="400110"/>
          </a:xfrm>
          <a:prstGeom prst="rect">
            <a:avLst/>
          </a:prstGeom>
          <a:noFill/>
        </p:spPr>
        <p:txBody>
          <a:bodyPr wrap="none" rtlCol="0">
            <a:spAutoFit/>
          </a:bodyPr>
          <a:lstStyle/>
          <a:p>
            <a:r>
              <a:rPr lang="en-IN" sz="2000" b="1" dirty="0" err="1"/>
              <a:t>Delete_from_FRONT</a:t>
            </a:r>
            <a:r>
              <a:rPr lang="en-IN" sz="2000" b="1" dirty="0"/>
              <a:t>()</a:t>
            </a:r>
          </a:p>
        </p:txBody>
      </p:sp>
      <p:sp>
        <p:nvSpPr>
          <p:cNvPr id="45" name="TextBox 44">
            <a:extLst>
              <a:ext uri="{FF2B5EF4-FFF2-40B4-BE49-F238E27FC236}">
                <a16:creationId xmlns:a16="http://schemas.microsoft.com/office/drawing/2014/main" id="{36AB4C70-94C5-85FF-C1AD-665363A1923A}"/>
              </a:ext>
            </a:extLst>
          </p:cNvPr>
          <p:cNvSpPr txBox="1"/>
          <p:nvPr/>
        </p:nvSpPr>
        <p:spPr>
          <a:xfrm>
            <a:off x="8137273" y="4945555"/>
            <a:ext cx="1732568" cy="492443"/>
          </a:xfrm>
          <a:prstGeom prst="rect">
            <a:avLst/>
          </a:prstGeom>
          <a:noFill/>
        </p:spPr>
        <p:txBody>
          <a:bodyPr wrap="square" rtlCol="0">
            <a:spAutoFit/>
          </a:bodyPr>
          <a:lstStyle/>
          <a:p>
            <a:r>
              <a:rPr lang="en-US" sz="2600" b="1" dirty="0">
                <a:solidFill>
                  <a:srgbClr val="FF0066"/>
                </a:solidFill>
              </a:rPr>
              <a:t>F = R = -1</a:t>
            </a:r>
            <a:endParaRPr lang="en-IN" sz="2600" b="1" dirty="0">
              <a:solidFill>
                <a:srgbClr val="FF0066"/>
              </a:solidFill>
            </a:endParaRPr>
          </a:p>
        </p:txBody>
      </p:sp>
      <p:sp>
        <p:nvSpPr>
          <p:cNvPr id="46" name="TextBox 45">
            <a:extLst>
              <a:ext uri="{FF2B5EF4-FFF2-40B4-BE49-F238E27FC236}">
                <a16:creationId xmlns:a16="http://schemas.microsoft.com/office/drawing/2014/main" id="{7ABD8351-14F1-B67E-3892-4CDE1DDB5806}"/>
              </a:ext>
            </a:extLst>
          </p:cNvPr>
          <p:cNvSpPr txBox="1"/>
          <p:nvPr/>
        </p:nvSpPr>
        <p:spPr>
          <a:xfrm>
            <a:off x="9527088" y="4647750"/>
            <a:ext cx="2266967" cy="400110"/>
          </a:xfrm>
          <a:prstGeom prst="rect">
            <a:avLst/>
          </a:prstGeom>
          <a:noFill/>
        </p:spPr>
        <p:txBody>
          <a:bodyPr wrap="none" rtlCol="0">
            <a:spAutoFit/>
          </a:bodyPr>
          <a:lstStyle/>
          <a:p>
            <a:r>
              <a:rPr lang="en-IN" sz="2000" b="1" dirty="0" err="1"/>
              <a:t>Delete_from_REAR</a:t>
            </a:r>
            <a:r>
              <a:rPr lang="en-IN" sz="2000" b="1" dirty="0"/>
              <a:t>()</a:t>
            </a:r>
          </a:p>
        </p:txBody>
      </p:sp>
      <p:sp>
        <p:nvSpPr>
          <p:cNvPr id="47" name="TextBox 46">
            <a:extLst>
              <a:ext uri="{FF2B5EF4-FFF2-40B4-BE49-F238E27FC236}">
                <a16:creationId xmlns:a16="http://schemas.microsoft.com/office/drawing/2014/main" id="{B796797D-ABAE-1666-FA91-071F7FA36833}"/>
              </a:ext>
            </a:extLst>
          </p:cNvPr>
          <p:cNvSpPr txBox="1"/>
          <p:nvPr/>
        </p:nvSpPr>
        <p:spPr>
          <a:xfrm>
            <a:off x="7970894" y="5813052"/>
            <a:ext cx="2780493" cy="492443"/>
          </a:xfrm>
          <a:prstGeom prst="rect">
            <a:avLst/>
          </a:prstGeom>
          <a:noFill/>
        </p:spPr>
        <p:txBody>
          <a:bodyPr wrap="square" rtlCol="0">
            <a:spAutoFit/>
          </a:bodyPr>
          <a:lstStyle/>
          <a:p>
            <a:pPr algn="ctr"/>
            <a:r>
              <a:rPr lang="en-IN" sz="2600" b="1" dirty="0">
                <a:solidFill>
                  <a:srgbClr val="FF0000"/>
                </a:solidFill>
                <a:highlight>
                  <a:srgbClr val="FFFF00"/>
                </a:highlight>
              </a:rPr>
              <a:t>Queue Underflow</a:t>
            </a:r>
          </a:p>
        </p:txBody>
      </p:sp>
    </p:spTree>
    <p:extLst>
      <p:ext uri="{BB962C8B-B14F-4D97-AF65-F5344CB8AC3E}">
        <p14:creationId xmlns:p14="http://schemas.microsoft.com/office/powerpoint/2010/main" val="2046448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out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3"/>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4"/>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5"/>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5"/>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6"/>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16"/>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500"/>
                                        <p:tgtEl>
                                          <p:spTgt spid="1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500"/>
                                        <p:tgtEl>
                                          <p:spTgt spid="2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500"/>
                                        <p:tgtEl>
                                          <p:spTgt spid="2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41"/>
                                        </p:tgtEl>
                                        <p:attrNameLst>
                                          <p:attrName>style.visibility</p:attrName>
                                        </p:attrNameLst>
                                      </p:cBhvr>
                                      <p:to>
                                        <p:strVal val="visible"/>
                                      </p:to>
                                    </p:set>
                                    <p:animEffect transition="in" filter="wipe(left)">
                                      <p:cBhvr>
                                        <p:cTn id="82" dur="1000"/>
                                        <p:tgtEl>
                                          <p:spTgt spid="41"/>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8"/>
                                        </p:tgtEl>
                                        <p:attrNameLst>
                                          <p:attrName>style.visibility</p:attrName>
                                        </p:attrNameLst>
                                      </p:cBhvr>
                                      <p:to>
                                        <p:strVal val="visible"/>
                                      </p:to>
                                    </p:set>
                                    <p:animEffect transition="in" filter="fade">
                                      <p:cBhvr>
                                        <p:cTn id="87" dur="500"/>
                                        <p:tgtEl>
                                          <p:spTgt spid="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11"/>
                                        </p:tgtEl>
                                        <p:attrNameLst>
                                          <p:attrName>style.visibility</p:attrName>
                                        </p:attrNameLst>
                                      </p:cBhvr>
                                      <p:to>
                                        <p:strVal val="visible"/>
                                      </p:to>
                                    </p:set>
                                    <p:animEffect transition="in" filter="fade">
                                      <p:cBhvr>
                                        <p:cTn id="90" dur="500"/>
                                        <p:tgtEl>
                                          <p:spTgt spid="1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
                                        </p:tgtEl>
                                        <p:attrNameLst>
                                          <p:attrName>style.visibility</p:attrName>
                                        </p:attrNameLst>
                                      </p:cBhvr>
                                      <p:to>
                                        <p:strVal val="visible"/>
                                      </p:to>
                                    </p:set>
                                    <p:animEffect transition="in" filter="fade">
                                      <p:cBhvr>
                                        <p:cTn id="93" dur="500"/>
                                        <p:tgtEl>
                                          <p:spTgt spid="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67"/>
                                        </p:tgtEl>
                                        <p:attrNameLst>
                                          <p:attrName>style.visibility</p:attrName>
                                        </p:attrNameLst>
                                      </p:cBhvr>
                                      <p:to>
                                        <p:strVal val="visible"/>
                                      </p:to>
                                    </p:set>
                                    <p:animEffect transition="in" filter="fade">
                                      <p:cBhvr>
                                        <p:cTn id="96" dur="500"/>
                                        <p:tgtEl>
                                          <p:spTgt spid="67"/>
                                        </p:tgtEl>
                                      </p:cBhvr>
                                    </p:animEffect>
                                  </p:childTnLst>
                                </p:cTn>
                              </p:par>
                              <p:par>
                                <p:cTn id="97" presetID="10" presetClass="entr" presetSubtype="0" fill="hold" nodeType="withEffect">
                                  <p:stCondLst>
                                    <p:cond delay="0"/>
                                  </p:stCondLst>
                                  <p:childTnLst>
                                    <p:set>
                                      <p:cBhvr>
                                        <p:cTn id="98" dur="1" fill="hold">
                                          <p:stCondLst>
                                            <p:cond delay="0"/>
                                          </p:stCondLst>
                                        </p:cTn>
                                        <p:tgtEl>
                                          <p:spTgt spid="9"/>
                                        </p:tgtEl>
                                        <p:attrNameLst>
                                          <p:attrName>style.visibility</p:attrName>
                                        </p:attrNameLst>
                                      </p:cBhvr>
                                      <p:to>
                                        <p:strVal val="visible"/>
                                      </p:to>
                                    </p:set>
                                    <p:animEffect transition="in" filter="fade">
                                      <p:cBhvr>
                                        <p:cTn id="99" dur="500"/>
                                        <p:tgtEl>
                                          <p:spTgt spid="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10"/>
                                        </p:tgtEl>
                                        <p:attrNameLst>
                                          <p:attrName>style.visibility</p:attrName>
                                        </p:attrNameLst>
                                      </p:cBhvr>
                                      <p:to>
                                        <p:strVal val="visible"/>
                                      </p:to>
                                    </p:set>
                                    <p:animEffect transition="in" filter="fade">
                                      <p:cBhvr>
                                        <p:cTn id="102" dur="500"/>
                                        <p:tgtEl>
                                          <p:spTgt spid="10"/>
                                        </p:tgtEl>
                                      </p:cBhvr>
                                    </p:animEffec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5"/>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60"/>
                                        </p:tgtEl>
                                        <p:attrNameLst>
                                          <p:attrName>style.visibility</p:attrName>
                                        </p:attrNameLst>
                                      </p:cBhvr>
                                      <p:to>
                                        <p:strVal val="visible"/>
                                      </p:to>
                                    </p:set>
                                    <p:animEffect transition="in" filter="fade">
                                      <p:cBhvr>
                                        <p:cTn id="111" dur="500"/>
                                        <p:tgtEl>
                                          <p:spTgt spid="60"/>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62"/>
                                        </p:tgtEl>
                                        <p:attrNameLst>
                                          <p:attrName>style.visibility</p:attrName>
                                        </p:attrNameLst>
                                      </p:cBhvr>
                                      <p:to>
                                        <p:strVal val="visible"/>
                                      </p:to>
                                    </p:set>
                                    <p:animEffect transition="in" filter="fade">
                                      <p:cBhvr>
                                        <p:cTn id="116" dur="500"/>
                                        <p:tgtEl>
                                          <p:spTgt spid="62"/>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61"/>
                                        </p:tgtEl>
                                        <p:attrNameLst>
                                          <p:attrName>style.visibility</p:attrName>
                                        </p:attrNameLst>
                                      </p:cBhvr>
                                      <p:to>
                                        <p:strVal val="visible"/>
                                      </p:to>
                                    </p:set>
                                    <p:animEffect transition="in" filter="fade">
                                      <p:cBhvr>
                                        <p:cTn id="121" dur="500"/>
                                        <p:tgtEl>
                                          <p:spTgt spid="61"/>
                                        </p:tgtEl>
                                      </p:cBhvr>
                                    </p:animEffec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0" nodeType="clickEffect">
                                  <p:stCondLst>
                                    <p:cond delay="0"/>
                                  </p:stCondLst>
                                  <p:childTnLst>
                                    <p:set>
                                      <p:cBhvr>
                                        <p:cTn id="125" dur="1" fill="hold">
                                          <p:stCondLst>
                                            <p:cond delay="0"/>
                                          </p:stCondLst>
                                        </p:cTn>
                                        <p:tgtEl>
                                          <p:spTgt spid="26"/>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63" presetClass="path" presetSubtype="0" accel="50000" decel="50000" fill="hold" grpId="1" nodeType="clickEffect">
                                  <p:stCondLst>
                                    <p:cond delay="0"/>
                                  </p:stCondLst>
                                  <p:childTnLst>
                                    <p:animMotion origin="layout" path="M 3.75E-6 4.07407E-6 L 0.06028 0.00046 " pathEditMode="relative" rAng="0" ptsTypes="AA">
                                      <p:cBhvr>
                                        <p:cTn id="129" dur="2000" fill="hold"/>
                                        <p:tgtEl>
                                          <p:spTgt spid="61"/>
                                        </p:tgtEl>
                                        <p:attrNameLst>
                                          <p:attrName>ppt_x</p:attrName>
                                          <p:attrName>ppt_y</p:attrName>
                                        </p:attrNameLst>
                                      </p:cBhvr>
                                      <p:rCtr x="3008" y="23"/>
                                    </p:animMotion>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grpId="0" nodeType="clickEffect">
                                  <p:stCondLst>
                                    <p:cond delay="0"/>
                                  </p:stCondLst>
                                  <p:childTnLst>
                                    <p:set>
                                      <p:cBhvr>
                                        <p:cTn id="133" dur="1" fill="hold">
                                          <p:stCondLst>
                                            <p:cond delay="0"/>
                                          </p:stCondLst>
                                        </p:cTn>
                                        <p:tgtEl>
                                          <p:spTgt spid="70"/>
                                        </p:tgtEl>
                                        <p:attrNameLst>
                                          <p:attrName>style.visibility</p:attrName>
                                        </p:attrNameLst>
                                      </p:cBhvr>
                                      <p:to>
                                        <p:strVal val="visible"/>
                                      </p:to>
                                    </p:set>
                                    <p:animEffect transition="in" filter="fade">
                                      <p:cBhvr>
                                        <p:cTn id="134" dur="500"/>
                                        <p:tgtEl>
                                          <p:spTgt spid="70"/>
                                        </p:tgtEl>
                                      </p:cBhvr>
                                    </p:animEffec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27"/>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21" presetClass="entr" presetSubtype="1" fill="hold" grpId="0" nodeType="clickEffect">
                                  <p:stCondLst>
                                    <p:cond delay="0"/>
                                  </p:stCondLst>
                                  <p:childTnLst>
                                    <p:set>
                                      <p:cBhvr>
                                        <p:cTn id="142" dur="1" fill="hold">
                                          <p:stCondLst>
                                            <p:cond delay="0"/>
                                          </p:stCondLst>
                                        </p:cTn>
                                        <p:tgtEl>
                                          <p:spTgt spid="28"/>
                                        </p:tgtEl>
                                        <p:attrNameLst>
                                          <p:attrName>style.visibility</p:attrName>
                                        </p:attrNameLst>
                                      </p:cBhvr>
                                      <p:to>
                                        <p:strVal val="visible"/>
                                      </p:to>
                                    </p:set>
                                    <p:animEffect transition="in" filter="wheel(1)">
                                      <p:cBhvr>
                                        <p:cTn id="143" dur="1750"/>
                                        <p:tgtEl>
                                          <p:spTgt spid="28"/>
                                        </p:tgtEl>
                                      </p:cBhvr>
                                    </p:animEffect>
                                  </p:childTnLst>
                                </p:cTn>
                              </p:par>
                            </p:childTnLst>
                          </p:cTn>
                        </p:par>
                      </p:childTnLst>
                    </p:cTn>
                  </p:par>
                  <p:par>
                    <p:cTn id="144" fill="hold">
                      <p:stCondLst>
                        <p:cond delay="indefinite"/>
                      </p:stCondLst>
                      <p:childTnLst>
                        <p:par>
                          <p:cTn id="145" fill="hold">
                            <p:stCondLst>
                              <p:cond delay="0"/>
                            </p:stCondLst>
                            <p:childTnLst>
                              <p:par>
                                <p:cTn id="146" presetID="16" presetClass="entr" presetSubtype="37" fill="hold" grpId="0" nodeType="clickEffect">
                                  <p:stCondLst>
                                    <p:cond delay="0"/>
                                  </p:stCondLst>
                                  <p:childTnLst>
                                    <p:set>
                                      <p:cBhvr>
                                        <p:cTn id="147" dur="1" fill="hold">
                                          <p:stCondLst>
                                            <p:cond delay="0"/>
                                          </p:stCondLst>
                                        </p:cTn>
                                        <p:tgtEl>
                                          <p:spTgt spid="29"/>
                                        </p:tgtEl>
                                        <p:attrNameLst>
                                          <p:attrName>style.visibility</p:attrName>
                                        </p:attrNameLst>
                                      </p:cBhvr>
                                      <p:to>
                                        <p:strVal val="visible"/>
                                      </p:to>
                                    </p:set>
                                    <p:animEffect transition="in" filter="barn(outVertical)">
                                      <p:cBhvr>
                                        <p:cTn id="148" dur="500"/>
                                        <p:tgtEl>
                                          <p:spTgt spid="29"/>
                                        </p:tgtEl>
                                      </p:cBhvr>
                                    </p:animEffect>
                                  </p:childTnLst>
                                </p:cTn>
                              </p:par>
                            </p:childTnLst>
                          </p:cTn>
                        </p:par>
                      </p:childTnLst>
                    </p:cTn>
                  </p:par>
                  <p:par>
                    <p:cTn id="149" fill="hold">
                      <p:stCondLst>
                        <p:cond delay="indefinite"/>
                      </p:stCondLst>
                      <p:childTnLst>
                        <p:par>
                          <p:cTn id="150" fill="hold">
                            <p:stCondLst>
                              <p:cond delay="0"/>
                            </p:stCondLst>
                            <p:childTnLst>
                              <p:par>
                                <p:cTn id="151" presetID="16" presetClass="entr" presetSubtype="37" fill="hold" grpId="0" nodeType="clickEffect">
                                  <p:stCondLst>
                                    <p:cond delay="0"/>
                                  </p:stCondLst>
                                  <p:childTnLst>
                                    <p:set>
                                      <p:cBhvr>
                                        <p:cTn id="152" dur="1" fill="hold">
                                          <p:stCondLst>
                                            <p:cond delay="0"/>
                                          </p:stCondLst>
                                        </p:cTn>
                                        <p:tgtEl>
                                          <p:spTgt spid="30"/>
                                        </p:tgtEl>
                                        <p:attrNameLst>
                                          <p:attrName>style.visibility</p:attrName>
                                        </p:attrNameLst>
                                      </p:cBhvr>
                                      <p:to>
                                        <p:strVal val="visible"/>
                                      </p:to>
                                    </p:set>
                                    <p:animEffect transition="in" filter="barn(outVertical)">
                                      <p:cBhvr>
                                        <p:cTn id="153" dur="500"/>
                                        <p:tgtEl>
                                          <p:spTgt spid="30"/>
                                        </p:tgtEl>
                                      </p:cBhvr>
                                    </p:animEffec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grpId="0" nodeType="clickEffect">
                                  <p:stCondLst>
                                    <p:cond delay="0"/>
                                  </p:stCondLst>
                                  <p:childTnLst>
                                    <p:set>
                                      <p:cBhvr>
                                        <p:cTn id="157" dur="1" fill="hold">
                                          <p:stCondLst>
                                            <p:cond delay="0"/>
                                          </p:stCondLst>
                                        </p:cTn>
                                        <p:tgtEl>
                                          <p:spTgt spid="31"/>
                                        </p:tgtEl>
                                        <p:attrNameLst>
                                          <p:attrName>style.visibility</p:attrName>
                                        </p:attrNameLst>
                                      </p:cBhvr>
                                      <p:to>
                                        <p:strVal val="visible"/>
                                      </p:to>
                                    </p:set>
                                  </p:childTnLst>
                                </p:cTn>
                              </p:par>
                              <p:par>
                                <p:cTn id="158" presetID="1" presetClass="exit" presetSubtype="0" fill="hold" grpId="1" nodeType="withEffect">
                                  <p:stCondLst>
                                    <p:cond delay="0"/>
                                  </p:stCondLst>
                                  <p:childTnLst>
                                    <p:set>
                                      <p:cBhvr>
                                        <p:cTn id="159" dur="1" fill="hold">
                                          <p:stCondLst>
                                            <p:cond delay="0"/>
                                          </p:stCondLst>
                                        </p:cTn>
                                        <p:tgtEl>
                                          <p:spTgt spid="29"/>
                                        </p:tgtEl>
                                        <p:attrNameLst>
                                          <p:attrName>style.visibility</p:attrName>
                                        </p:attrNameLst>
                                      </p:cBhvr>
                                      <p:to>
                                        <p:strVal val="hidden"/>
                                      </p:to>
                                    </p:set>
                                  </p:childTnLst>
                                </p:cTn>
                              </p:par>
                              <p:par>
                                <p:cTn id="160" presetID="1" presetClass="exit" presetSubtype="0" fill="hold" grpId="1" nodeType="withEffect">
                                  <p:stCondLst>
                                    <p:cond delay="0"/>
                                  </p:stCondLst>
                                  <p:childTnLst>
                                    <p:set>
                                      <p:cBhvr>
                                        <p:cTn id="161" dur="1" fill="hold">
                                          <p:stCondLst>
                                            <p:cond delay="0"/>
                                          </p:stCondLst>
                                        </p:cTn>
                                        <p:tgtEl>
                                          <p:spTgt spid="30"/>
                                        </p:tgtEl>
                                        <p:attrNameLst>
                                          <p:attrName>style.visibility</p:attrName>
                                        </p:attrNameLst>
                                      </p:cBhvr>
                                      <p:to>
                                        <p:strVal val="hidden"/>
                                      </p:to>
                                    </p:set>
                                  </p:childTnLst>
                                </p:cTn>
                              </p:par>
                              <p:par>
                                <p:cTn id="162" presetID="1" presetClass="exit" presetSubtype="0" fill="hold" grpId="1" nodeType="withEffect">
                                  <p:stCondLst>
                                    <p:cond delay="0"/>
                                  </p:stCondLst>
                                  <p:childTnLst>
                                    <p:set>
                                      <p:cBhvr>
                                        <p:cTn id="163" dur="1" fill="hold">
                                          <p:stCondLst>
                                            <p:cond delay="0"/>
                                          </p:stCondLst>
                                        </p:cTn>
                                        <p:tgtEl>
                                          <p:spTgt spid="28"/>
                                        </p:tgtEl>
                                        <p:attrNameLst>
                                          <p:attrName>style.visibility</p:attrName>
                                        </p:attrNameLst>
                                      </p:cBhvr>
                                      <p:to>
                                        <p:strVal val="hidden"/>
                                      </p:to>
                                    </p:set>
                                  </p:childTnLst>
                                </p:cTn>
                              </p:par>
                            </p:childTnLst>
                          </p:cTn>
                        </p:par>
                      </p:childTnLst>
                    </p:cTn>
                  </p:par>
                  <p:par>
                    <p:cTn id="164" fill="hold">
                      <p:stCondLst>
                        <p:cond delay="indefinite"/>
                      </p:stCondLst>
                      <p:childTnLst>
                        <p:par>
                          <p:cTn id="165" fill="hold">
                            <p:stCondLst>
                              <p:cond delay="0"/>
                            </p:stCondLst>
                            <p:childTnLst>
                              <p:par>
                                <p:cTn id="166" presetID="63" presetClass="path" presetSubtype="0" accel="50000" decel="50000" fill="hold" grpId="2" nodeType="clickEffect">
                                  <p:stCondLst>
                                    <p:cond delay="0"/>
                                  </p:stCondLst>
                                  <p:childTnLst>
                                    <p:animMotion origin="layout" path="M 0.06028 0.00046 L 0.11823 0.00162 " pathEditMode="relative" rAng="0" ptsTypes="AA">
                                      <p:cBhvr>
                                        <p:cTn id="167" dur="2000" fill="hold"/>
                                        <p:tgtEl>
                                          <p:spTgt spid="61"/>
                                        </p:tgtEl>
                                        <p:attrNameLst>
                                          <p:attrName>ppt_x</p:attrName>
                                          <p:attrName>ppt_y</p:attrName>
                                        </p:attrNameLst>
                                      </p:cBhvr>
                                      <p:rCtr x="2891" y="46"/>
                                    </p:animMotion>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72"/>
                                        </p:tgtEl>
                                        <p:attrNameLst>
                                          <p:attrName>style.visibility</p:attrName>
                                        </p:attrNameLst>
                                      </p:cBhvr>
                                      <p:to>
                                        <p:strVal val="visible"/>
                                      </p:to>
                                    </p:set>
                                    <p:animEffect transition="in" filter="fade">
                                      <p:cBhvr>
                                        <p:cTn id="172" dur="500"/>
                                        <p:tgtEl>
                                          <p:spTgt spid="72"/>
                                        </p:tgtEl>
                                      </p:cBhvr>
                                    </p:animEffec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32"/>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63" presetClass="path" presetSubtype="0" accel="50000" decel="50000" fill="hold" grpId="3" nodeType="clickEffect">
                                  <p:stCondLst>
                                    <p:cond delay="0"/>
                                  </p:stCondLst>
                                  <p:childTnLst>
                                    <p:animMotion origin="layout" path="M 0.11823 0.00162 L 0.18216 0.00254 " pathEditMode="relative" rAng="0" ptsTypes="AA">
                                      <p:cBhvr>
                                        <p:cTn id="180" dur="2000" fill="hold"/>
                                        <p:tgtEl>
                                          <p:spTgt spid="61"/>
                                        </p:tgtEl>
                                        <p:attrNameLst>
                                          <p:attrName>ppt_x</p:attrName>
                                          <p:attrName>ppt_y</p:attrName>
                                        </p:attrNameLst>
                                      </p:cBhvr>
                                      <p:rCtr x="3398" y="-255"/>
                                    </p:animMotion>
                                  </p:childTnLst>
                                </p:cTn>
                              </p:par>
                            </p:childTnLst>
                          </p:cTn>
                        </p:par>
                      </p:childTnLst>
                    </p:cTn>
                  </p:par>
                  <p:par>
                    <p:cTn id="181" fill="hold">
                      <p:stCondLst>
                        <p:cond delay="indefinite"/>
                      </p:stCondLst>
                      <p:childTnLst>
                        <p:par>
                          <p:cTn id="182" fill="hold">
                            <p:stCondLst>
                              <p:cond delay="0"/>
                            </p:stCondLst>
                            <p:childTnLst>
                              <p:par>
                                <p:cTn id="183" presetID="10" presetClass="entr" presetSubtype="0" fill="hold" grpId="0" nodeType="clickEffect">
                                  <p:stCondLst>
                                    <p:cond delay="0"/>
                                  </p:stCondLst>
                                  <p:childTnLst>
                                    <p:set>
                                      <p:cBhvr>
                                        <p:cTn id="184" dur="1" fill="hold">
                                          <p:stCondLst>
                                            <p:cond delay="0"/>
                                          </p:stCondLst>
                                        </p:cTn>
                                        <p:tgtEl>
                                          <p:spTgt spid="74"/>
                                        </p:tgtEl>
                                        <p:attrNameLst>
                                          <p:attrName>style.visibility</p:attrName>
                                        </p:attrNameLst>
                                      </p:cBhvr>
                                      <p:to>
                                        <p:strVal val="visible"/>
                                      </p:to>
                                    </p:set>
                                    <p:animEffect transition="in" filter="fade">
                                      <p:cBhvr>
                                        <p:cTn id="185" dur="500"/>
                                        <p:tgtEl>
                                          <p:spTgt spid="74"/>
                                        </p:tgtEl>
                                      </p:cBhvr>
                                    </p:animEffect>
                                  </p:childTnLst>
                                </p:cTn>
                              </p:par>
                            </p:childTnLst>
                          </p:cTn>
                        </p:par>
                      </p:childTnLst>
                    </p:cTn>
                  </p:par>
                  <p:par>
                    <p:cTn id="186" fill="hold">
                      <p:stCondLst>
                        <p:cond delay="indefinite"/>
                      </p:stCondLst>
                      <p:childTnLst>
                        <p:par>
                          <p:cTn id="187" fill="hold">
                            <p:stCondLst>
                              <p:cond delay="0"/>
                            </p:stCondLst>
                            <p:childTnLst>
                              <p:par>
                                <p:cTn id="188" presetID="1" presetClass="entr" presetSubtype="0" fill="hold" grpId="0" nodeType="clickEffect">
                                  <p:stCondLst>
                                    <p:cond delay="0"/>
                                  </p:stCondLst>
                                  <p:childTnLst>
                                    <p:set>
                                      <p:cBhvr>
                                        <p:cTn id="189" dur="1" fill="hold">
                                          <p:stCondLst>
                                            <p:cond delay="0"/>
                                          </p:stCondLst>
                                        </p:cTn>
                                        <p:tgtEl>
                                          <p:spTgt spid="33"/>
                                        </p:tgtEl>
                                        <p:attrNameLst>
                                          <p:attrName>style.visibility</p:attrName>
                                        </p:attrNameLst>
                                      </p:cBhvr>
                                      <p:to>
                                        <p:strVal val="visible"/>
                                      </p:to>
                                    </p:set>
                                  </p:childTnLst>
                                </p:cTn>
                              </p:par>
                            </p:childTnLst>
                          </p:cTn>
                        </p:par>
                      </p:childTnLst>
                    </p:cTn>
                  </p:par>
                  <p:par>
                    <p:cTn id="190" fill="hold">
                      <p:stCondLst>
                        <p:cond delay="indefinite"/>
                      </p:stCondLst>
                      <p:childTnLst>
                        <p:par>
                          <p:cTn id="191" fill="hold">
                            <p:stCondLst>
                              <p:cond delay="0"/>
                            </p:stCondLst>
                            <p:childTnLst>
                              <p:par>
                                <p:cTn id="192" presetID="63" presetClass="path" presetSubtype="0" accel="50000" decel="50000" fill="hold" grpId="4" nodeType="clickEffect">
                                  <p:stCondLst>
                                    <p:cond delay="0"/>
                                  </p:stCondLst>
                                  <p:childTnLst>
                                    <p:animMotion origin="layout" path="M 0.18216 0.00255 L 0.25 4.07407E-6 " pathEditMode="relative" rAng="0" ptsTypes="AA">
                                      <p:cBhvr>
                                        <p:cTn id="193" dur="2000" fill="hold"/>
                                        <p:tgtEl>
                                          <p:spTgt spid="61"/>
                                        </p:tgtEl>
                                        <p:attrNameLst>
                                          <p:attrName>ppt_x</p:attrName>
                                          <p:attrName>ppt_y</p:attrName>
                                        </p:attrNameLst>
                                      </p:cBhvr>
                                      <p:rCtr x="3398" y="-46"/>
                                    </p:animMotion>
                                  </p:childTnLst>
                                </p:cTn>
                              </p:par>
                            </p:childTnLst>
                          </p:cTn>
                        </p:par>
                      </p:childTnLst>
                    </p:cTn>
                  </p:par>
                  <p:par>
                    <p:cTn id="194" fill="hold">
                      <p:stCondLst>
                        <p:cond delay="indefinite"/>
                      </p:stCondLst>
                      <p:childTnLst>
                        <p:par>
                          <p:cTn id="195" fill="hold">
                            <p:stCondLst>
                              <p:cond delay="0"/>
                            </p:stCondLst>
                            <p:childTnLst>
                              <p:par>
                                <p:cTn id="196" presetID="10" presetClass="entr" presetSubtype="0" fill="hold" grpId="0" nodeType="clickEffect">
                                  <p:stCondLst>
                                    <p:cond delay="0"/>
                                  </p:stCondLst>
                                  <p:childTnLst>
                                    <p:set>
                                      <p:cBhvr>
                                        <p:cTn id="197" dur="1" fill="hold">
                                          <p:stCondLst>
                                            <p:cond delay="0"/>
                                          </p:stCondLst>
                                        </p:cTn>
                                        <p:tgtEl>
                                          <p:spTgt spid="76"/>
                                        </p:tgtEl>
                                        <p:attrNameLst>
                                          <p:attrName>style.visibility</p:attrName>
                                        </p:attrNameLst>
                                      </p:cBhvr>
                                      <p:to>
                                        <p:strVal val="visible"/>
                                      </p:to>
                                    </p:set>
                                    <p:animEffect transition="in" filter="fade">
                                      <p:cBhvr>
                                        <p:cTn id="198" dur="500"/>
                                        <p:tgtEl>
                                          <p:spTgt spid="76"/>
                                        </p:tgtEl>
                                      </p:cBhvr>
                                    </p:animEffec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34"/>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21" presetClass="entr" presetSubtype="1" fill="hold" grpId="0" nodeType="clickEffect">
                                  <p:stCondLst>
                                    <p:cond delay="0"/>
                                  </p:stCondLst>
                                  <p:childTnLst>
                                    <p:set>
                                      <p:cBhvr>
                                        <p:cTn id="206" dur="1" fill="hold">
                                          <p:stCondLst>
                                            <p:cond delay="0"/>
                                          </p:stCondLst>
                                        </p:cTn>
                                        <p:tgtEl>
                                          <p:spTgt spid="35"/>
                                        </p:tgtEl>
                                        <p:attrNameLst>
                                          <p:attrName>style.visibility</p:attrName>
                                        </p:attrNameLst>
                                      </p:cBhvr>
                                      <p:to>
                                        <p:strVal val="visible"/>
                                      </p:to>
                                    </p:set>
                                    <p:animEffect transition="in" filter="wheel(1)">
                                      <p:cBhvr>
                                        <p:cTn id="207" dur="1750"/>
                                        <p:tgtEl>
                                          <p:spTgt spid="35"/>
                                        </p:tgtEl>
                                      </p:cBhvr>
                                    </p:animEffect>
                                  </p:childTnLst>
                                </p:cTn>
                              </p:par>
                            </p:childTnLst>
                          </p:cTn>
                        </p:par>
                      </p:childTnLst>
                    </p:cTn>
                  </p:par>
                  <p:par>
                    <p:cTn id="208" fill="hold">
                      <p:stCondLst>
                        <p:cond delay="indefinite"/>
                      </p:stCondLst>
                      <p:childTnLst>
                        <p:par>
                          <p:cTn id="209" fill="hold">
                            <p:stCondLst>
                              <p:cond delay="0"/>
                            </p:stCondLst>
                            <p:childTnLst>
                              <p:par>
                                <p:cTn id="210" presetID="16" presetClass="entr" presetSubtype="37" fill="hold" grpId="0" nodeType="clickEffect">
                                  <p:stCondLst>
                                    <p:cond delay="0"/>
                                  </p:stCondLst>
                                  <p:childTnLst>
                                    <p:set>
                                      <p:cBhvr>
                                        <p:cTn id="211" dur="1" fill="hold">
                                          <p:stCondLst>
                                            <p:cond delay="0"/>
                                          </p:stCondLst>
                                        </p:cTn>
                                        <p:tgtEl>
                                          <p:spTgt spid="36"/>
                                        </p:tgtEl>
                                        <p:attrNameLst>
                                          <p:attrName>style.visibility</p:attrName>
                                        </p:attrNameLst>
                                      </p:cBhvr>
                                      <p:to>
                                        <p:strVal val="visible"/>
                                      </p:to>
                                    </p:set>
                                    <p:animEffect transition="in" filter="barn(outVertical)">
                                      <p:cBhvr>
                                        <p:cTn id="212" dur="500"/>
                                        <p:tgtEl>
                                          <p:spTgt spid="36"/>
                                        </p:tgtEl>
                                      </p:cBhvr>
                                    </p:animEffect>
                                  </p:childTnLst>
                                </p:cTn>
                              </p:par>
                            </p:childTnLst>
                          </p:cTn>
                        </p:par>
                      </p:childTnLst>
                    </p:cTn>
                  </p:par>
                  <p:par>
                    <p:cTn id="213" fill="hold">
                      <p:stCondLst>
                        <p:cond delay="indefinite"/>
                      </p:stCondLst>
                      <p:childTnLst>
                        <p:par>
                          <p:cTn id="214" fill="hold">
                            <p:stCondLst>
                              <p:cond delay="0"/>
                            </p:stCondLst>
                            <p:childTnLst>
                              <p:par>
                                <p:cTn id="215" presetID="16" presetClass="entr" presetSubtype="37" fill="hold" grpId="0" nodeType="clickEffect">
                                  <p:stCondLst>
                                    <p:cond delay="0"/>
                                  </p:stCondLst>
                                  <p:childTnLst>
                                    <p:set>
                                      <p:cBhvr>
                                        <p:cTn id="216" dur="1" fill="hold">
                                          <p:stCondLst>
                                            <p:cond delay="0"/>
                                          </p:stCondLst>
                                        </p:cTn>
                                        <p:tgtEl>
                                          <p:spTgt spid="37"/>
                                        </p:tgtEl>
                                        <p:attrNameLst>
                                          <p:attrName>style.visibility</p:attrName>
                                        </p:attrNameLst>
                                      </p:cBhvr>
                                      <p:to>
                                        <p:strVal val="visible"/>
                                      </p:to>
                                    </p:set>
                                    <p:animEffect transition="in" filter="barn(outVertical)">
                                      <p:cBhvr>
                                        <p:cTn id="217" dur="500"/>
                                        <p:tgtEl>
                                          <p:spTgt spid="37"/>
                                        </p:tgtEl>
                                      </p:cBhvr>
                                    </p:animEffect>
                                  </p:childTnLst>
                                </p:cTn>
                              </p:par>
                            </p:childTnLst>
                          </p:cTn>
                        </p:par>
                      </p:childTnLst>
                    </p:cTn>
                  </p:par>
                  <p:par>
                    <p:cTn id="218" fill="hold">
                      <p:stCondLst>
                        <p:cond delay="indefinite"/>
                      </p:stCondLst>
                      <p:childTnLst>
                        <p:par>
                          <p:cTn id="219" fill="hold">
                            <p:stCondLst>
                              <p:cond delay="0"/>
                            </p:stCondLst>
                            <p:childTnLst>
                              <p:par>
                                <p:cTn id="220" presetID="1" presetClass="entr" presetSubtype="0" fill="hold" grpId="0" nodeType="clickEffect">
                                  <p:stCondLst>
                                    <p:cond delay="0"/>
                                  </p:stCondLst>
                                  <p:childTnLst>
                                    <p:set>
                                      <p:cBhvr>
                                        <p:cTn id="221" dur="1" fill="hold">
                                          <p:stCondLst>
                                            <p:cond delay="0"/>
                                          </p:stCondLst>
                                        </p:cTn>
                                        <p:tgtEl>
                                          <p:spTgt spid="38"/>
                                        </p:tgtEl>
                                        <p:attrNameLst>
                                          <p:attrName>style.visibility</p:attrName>
                                        </p:attrNameLst>
                                      </p:cBhvr>
                                      <p:to>
                                        <p:strVal val="visible"/>
                                      </p:to>
                                    </p:set>
                                  </p:childTnLst>
                                </p:cTn>
                              </p:par>
                              <p:par>
                                <p:cTn id="222" presetID="1" presetClass="exit" presetSubtype="0" fill="hold" grpId="1" nodeType="withEffect">
                                  <p:stCondLst>
                                    <p:cond delay="0"/>
                                  </p:stCondLst>
                                  <p:childTnLst>
                                    <p:set>
                                      <p:cBhvr>
                                        <p:cTn id="223" dur="1" fill="hold">
                                          <p:stCondLst>
                                            <p:cond delay="0"/>
                                          </p:stCondLst>
                                        </p:cTn>
                                        <p:tgtEl>
                                          <p:spTgt spid="35"/>
                                        </p:tgtEl>
                                        <p:attrNameLst>
                                          <p:attrName>style.visibility</p:attrName>
                                        </p:attrNameLst>
                                      </p:cBhvr>
                                      <p:to>
                                        <p:strVal val="hidden"/>
                                      </p:to>
                                    </p:set>
                                  </p:childTnLst>
                                </p:cTn>
                              </p:par>
                              <p:par>
                                <p:cTn id="224" presetID="1" presetClass="exit" presetSubtype="0" fill="hold" grpId="1" nodeType="withEffect">
                                  <p:stCondLst>
                                    <p:cond delay="0"/>
                                  </p:stCondLst>
                                  <p:childTnLst>
                                    <p:set>
                                      <p:cBhvr>
                                        <p:cTn id="225" dur="1" fill="hold">
                                          <p:stCondLst>
                                            <p:cond delay="0"/>
                                          </p:stCondLst>
                                        </p:cTn>
                                        <p:tgtEl>
                                          <p:spTgt spid="36"/>
                                        </p:tgtEl>
                                        <p:attrNameLst>
                                          <p:attrName>style.visibility</p:attrName>
                                        </p:attrNameLst>
                                      </p:cBhvr>
                                      <p:to>
                                        <p:strVal val="hidden"/>
                                      </p:to>
                                    </p:set>
                                  </p:childTnLst>
                                </p:cTn>
                              </p:par>
                              <p:par>
                                <p:cTn id="226" presetID="1" presetClass="exit" presetSubtype="0" fill="hold" grpId="1" nodeType="withEffect">
                                  <p:stCondLst>
                                    <p:cond delay="0"/>
                                  </p:stCondLst>
                                  <p:childTnLst>
                                    <p:set>
                                      <p:cBhvr>
                                        <p:cTn id="227" dur="1" fill="hold">
                                          <p:stCondLst>
                                            <p:cond delay="0"/>
                                          </p:stCondLst>
                                        </p:cTn>
                                        <p:tgtEl>
                                          <p:spTgt spid="37"/>
                                        </p:tgtEl>
                                        <p:attrNameLst>
                                          <p:attrName>style.visibility</p:attrName>
                                        </p:attrNameLst>
                                      </p:cBhvr>
                                      <p:to>
                                        <p:strVal val="hidden"/>
                                      </p:to>
                                    </p:set>
                                  </p:childTnLst>
                                </p:cTn>
                              </p:par>
                            </p:childTnLst>
                          </p:cTn>
                        </p:par>
                      </p:childTnLst>
                    </p:cTn>
                  </p:par>
                  <p:par>
                    <p:cTn id="228" fill="hold">
                      <p:stCondLst>
                        <p:cond delay="indefinite"/>
                      </p:stCondLst>
                      <p:childTnLst>
                        <p:par>
                          <p:cTn id="229" fill="hold">
                            <p:stCondLst>
                              <p:cond delay="0"/>
                            </p:stCondLst>
                            <p:childTnLst>
                              <p:par>
                                <p:cTn id="230" presetID="63" presetClass="path" presetSubtype="0" accel="50000" decel="50000" fill="hold" grpId="1" nodeType="clickEffect">
                                  <p:stCondLst>
                                    <p:cond delay="0"/>
                                  </p:stCondLst>
                                  <p:childTnLst>
                                    <p:animMotion origin="layout" path="M 3.75E-6 -1.48148E-6 L 0.06315 -0.00116 " pathEditMode="relative" rAng="0" ptsTypes="AA">
                                      <p:cBhvr>
                                        <p:cTn id="231" dur="2000" fill="hold"/>
                                        <p:tgtEl>
                                          <p:spTgt spid="60"/>
                                        </p:tgtEl>
                                        <p:attrNameLst>
                                          <p:attrName>ppt_x</p:attrName>
                                          <p:attrName>ppt_y</p:attrName>
                                        </p:attrNameLst>
                                      </p:cBhvr>
                                      <p:rCtr x="3151" y="-69"/>
                                    </p:animMotion>
                                  </p:childTnLst>
                                </p:cTn>
                              </p:par>
                            </p:childTnLst>
                          </p:cTn>
                        </p:par>
                      </p:childTnLst>
                    </p:cTn>
                  </p:par>
                  <p:par>
                    <p:cTn id="232" fill="hold">
                      <p:stCondLst>
                        <p:cond delay="indefinite"/>
                      </p:stCondLst>
                      <p:childTnLst>
                        <p:par>
                          <p:cTn id="233" fill="hold">
                            <p:stCondLst>
                              <p:cond delay="0"/>
                            </p:stCondLst>
                            <p:childTnLst>
                              <p:par>
                                <p:cTn id="234" presetID="1" presetClass="exit" presetSubtype="0" fill="hold" grpId="1" nodeType="clickEffect">
                                  <p:stCondLst>
                                    <p:cond delay="0"/>
                                  </p:stCondLst>
                                  <p:childTnLst>
                                    <p:set>
                                      <p:cBhvr>
                                        <p:cTn id="235" dur="1" fill="hold">
                                          <p:stCondLst>
                                            <p:cond delay="0"/>
                                          </p:stCondLst>
                                        </p:cTn>
                                        <p:tgtEl>
                                          <p:spTgt spid="62"/>
                                        </p:tgtEl>
                                        <p:attrNameLst>
                                          <p:attrName>style.visibility</p:attrName>
                                        </p:attrNameLst>
                                      </p:cBhvr>
                                      <p:to>
                                        <p:strVal val="hidden"/>
                                      </p:to>
                                    </p:set>
                                  </p:childTnLst>
                                </p:cTn>
                              </p:par>
                            </p:childTnLst>
                          </p:cTn>
                        </p:par>
                      </p:childTnLst>
                    </p:cTn>
                  </p:par>
                  <p:par>
                    <p:cTn id="236" fill="hold">
                      <p:stCondLst>
                        <p:cond delay="indefinite"/>
                      </p:stCondLst>
                      <p:childTnLst>
                        <p:par>
                          <p:cTn id="237" fill="hold">
                            <p:stCondLst>
                              <p:cond delay="0"/>
                            </p:stCondLst>
                            <p:childTnLst>
                              <p:par>
                                <p:cTn id="238" presetID="1" presetClass="entr" presetSubtype="0" fill="hold" grpId="0" nodeType="clickEffect">
                                  <p:stCondLst>
                                    <p:cond delay="0"/>
                                  </p:stCondLst>
                                  <p:childTnLst>
                                    <p:set>
                                      <p:cBhvr>
                                        <p:cTn id="239" dur="1" fill="hold">
                                          <p:stCondLst>
                                            <p:cond delay="0"/>
                                          </p:stCondLst>
                                        </p:cTn>
                                        <p:tgtEl>
                                          <p:spTgt spid="39"/>
                                        </p:tgtEl>
                                        <p:attrNameLst>
                                          <p:attrName>style.visibility</p:attrName>
                                        </p:attrNameLst>
                                      </p:cBhvr>
                                      <p:to>
                                        <p:strVal val="visible"/>
                                      </p:to>
                                    </p:set>
                                  </p:childTnLst>
                                </p:cTn>
                              </p:par>
                            </p:childTnLst>
                          </p:cTn>
                        </p:par>
                      </p:childTnLst>
                    </p:cTn>
                  </p:par>
                  <p:par>
                    <p:cTn id="240" fill="hold">
                      <p:stCondLst>
                        <p:cond delay="indefinite"/>
                      </p:stCondLst>
                      <p:childTnLst>
                        <p:par>
                          <p:cTn id="241" fill="hold">
                            <p:stCondLst>
                              <p:cond delay="0"/>
                            </p:stCondLst>
                            <p:childTnLst>
                              <p:par>
                                <p:cTn id="242" presetID="35" presetClass="path" presetSubtype="0" accel="50000" decel="50000" fill="hold" grpId="5" nodeType="clickEffect">
                                  <p:stCondLst>
                                    <p:cond delay="0"/>
                                  </p:stCondLst>
                                  <p:childTnLst>
                                    <p:animMotion origin="layout" path="M 0.25 -3.7037E-7 L 0.18216 0.00254 " pathEditMode="relative" rAng="0" ptsTypes="AA">
                                      <p:cBhvr>
                                        <p:cTn id="243" dur="2000" fill="hold"/>
                                        <p:tgtEl>
                                          <p:spTgt spid="61"/>
                                        </p:tgtEl>
                                        <p:attrNameLst>
                                          <p:attrName>ppt_x</p:attrName>
                                          <p:attrName>ppt_y</p:attrName>
                                        </p:attrNameLst>
                                      </p:cBhvr>
                                      <p:rCtr x="-3073" y="93"/>
                                    </p:animMotion>
                                  </p:childTnLst>
                                </p:cTn>
                              </p:par>
                            </p:childTnLst>
                          </p:cTn>
                        </p:par>
                      </p:childTnLst>
                    </p:cTn>
                  </p:par>
                  <p:par>
                    <p:cTn id="244" fill="hold">
                      <p:stCondLst>
                        <p:cond delay="indefinite"/>
                      </p:stCondLst>
                      <p:childTnLst>
                        <p:par>
                          <p:cTn id="245" fill="hold">
                            <p:stCondLst>
                              <p:cond delay="0"/>
                            </p:stCondLst>
                            <p:childTnLst>
                              <p:par>
                                <p:cTn id="246" presetID="1" presetClass="exit" presetSubtype="0" fill="hold" grpId="1" nodeType="clickEffect">
                                  <p:stCondLst>
                                    <p:cond delay="0"/>
                                  </p:stCondLst>
                                  <p:childTnLst>
                                    <p:set>
                                      <p:cBhvr>
                                        <p:cTn id="247" dur="1" fill="hold">
                                          <p:stCondLst>
                                            <p:cond delay="0"/>
                                          </p:stCondLst>
                                        </p:cTn>
                                        <p:tgtEl>
                                          <p:spTgt spid="76"/>
                                        </p:tgtEl>
                                        <p:attrNameLst>
                                          <p:attrName>style.visibility</p:attrName>
                                        </p:attrNameLst>
                                      </p:cBhvr>
                                      <p:to>
                                        <p:strVal val="hidden"/>
                                      </p:to>
                                    </p:set>
                                  </p:childTnLst>
                                </p:cTn>
                              </p:par>
                            </p:childTnLst>
                          </p:cTn>
                        </p:par>
                      </p:childTnLst>
                    </p:cTn>
                  </p:par>
                  <p:par>
                    <p:cTn id="248" fill="hold">
                      <p:stCondLst>
                        <p:cond delay="indefinite"/>
                      </p:stCondLst>
                      <p:childTnLst>
                        <p:par>
                          <p:cTn id="249" fill="hold">
                            <p:stCondLst>
                              <p:cond delay="0"/>
                            </p:stCondLst>
                            <p:childTnLst>
                              <p:par>
                                <p:cTn id="250" presetID="1" presetClass="entr" presetSubtype="0" fill="hold" grpId="0" nodeType="clickEffect">
                                  <p:stCondLst>
                                    <p:cond delay="0"/>
                                  </p:stCondLst>
                                  <p:childTnLst>
                                    <p:set>
                                      <p:cBhvr>
                                        <p:cTn id="251" dur="1" fill="hold">
                                          <p:stCondLst>
                                            <p:cond delay="0"/>
                                          </p:stCondLst>
                                        </p:cTn>
                                        <p:tgtEl>
                                          <p:spTgt spid="42"/>
                                        </p:tgtEl>
                                        <p:attrNameLst>
                                          <p:attrName>style.visibility</p:attrName>
                                        </p:attrNameLst>
                                      </p:cBhvr>
                                      <p:to>
                                        <p:strVal val="visible"/>
                                      </p:to>
                                    </p:set>
                                  </p:childTnLst>
                                </p:cTn>
                              </p:par>
                            </p:childTnLst>
                          </p:cTn>
                        </p:par>
                      </p:childTnLst>
                    </p:cTn>
                  </p:par>
                  <p:par>
                    <p:cTn id="252" fill="hold">
                      <p:stCondLst>
                        <p:cond delay="indefinite"/>
                      </p:stCondLst>
                      <p:childTnLst>
                        <p:par>
                          <p:cTn id="253" fill="hold">
                            <p:stCondLst>
                              <p:cond delay="0"/>
                            </p:stCondLst>
                            <p:childTnLst>
                              <p:par>
                                <p:cTn id="254" presetID="35" presetClass="path" presetSubtype="0" accel="50000" decel="50000" fill="hold" grpId="6" nodeType="clickEffect">
                                  <p:stCondLst>
                                    <p:cond delay="0"/>
                                  </p:stCondLst>
                                  <p:childTnLst>
                                    <p:animMotion origin="layout" path="M 0.18216 0.00255 L 0.11823 0.00162 " pathEditMode="relative" rAng="0" ptsTypes="AA">
                                      <p:cBhvr>
                                        <p:cTn id="255" dur="2000" fill="hold"/>
                                        <p:tgtEl>
                                          <p:spTgt spid="61"/>
                                        </p:tgtEl>
                                        <p:attrNameLst>
                                          <p:attrName>ppt_x</p:attrName>
                                          <p:attrName>ppt_y</p:attrName>
                                        </p:attrNameLst>
                                      </p:cBhvr>
                                      <p:rCtr x="-3333" y="46"/>
                                    </p:animMotion>
                                  </p:childTnLst>
                                </p:cTn>
                              </p:par>
                            </p:childTnLst>
                          </p:cTn>
                        </p:par>
                      </p:childTnLst>
                    </p:cTn>
                  </p:par>
                  <p:par>
                    <p:cTn id="256" fill="hold">
                      <p:stCondLst>
                        <p:cond delay="indefinite"/>
                      </p:stCondLst>
                      <p:childTnLst>
                        <p:par>
                          <p:cTn id="257" fill="hold">
                            <p:stCondLst>
                              <p:cond delay="0"/>
                            </p:stCondLst>
                            <p:childTnLst>
                              <p:par>
                                <p:cTn id="258" presetID="1" presetClass="exit" presetSubtype="0" fill="hold" grpId="1" nodeType="clickEffect">
                                  <p:stCondLst>
                                    <p:cond delay="0"/>
                                  </p:stCondLst>
                                  <p:childTnLst>
                                    <p:set>
                                      <p:cBhvr>
                                        <p:cTn id="259" dur="1" fill="hold">
                                          <p:stCondLst>
                                            <p:cond delay="0"/>
                                          </p:stCondLst>
                                        </p:cTn>
                                        <p:tgtEl>
                                          <p:spTgt spid="74"/>
                                        </p:tgtEl>
                                        <p:attrNameLst>
                                          <p:attrName>style.visibility</p:attrName>
                                        </p:attrNameLst>
                                      </p:cBhvr>
                                      <p:to>
                                        <p:strVal val="hidden"/>
                                      </p:to>
                                    </p:set>
                                  </p:childTnLst>
                                </p:cTn>
                              </p:par>
                            </p:childTnLst>
                          </p:cTn>
                        </p:par>
                      </p:childTnLst>
                    </p:cTn>
                  </p:par>
                  <p:par>
                    <p:cTn id="260" fill="hold">
                      <p:stCondLst>
                        <p:cond delay="indefinite"/>
                      </p:stCondLst>
                      <p:childTnLst>
                        <p:par>
                          <p:cTn id="261" fill="hold">
                            <p:stCondLst>
                              <p:cond delay="0"/>
                            </p:stCondLst>
                            <p:childTnLst>
                              <p:par>
                                <p:cTn id="262" presetID="1" presetClass="entr" presetSubtype="0" fill="hold" grpId="0" nodeType="clickEffect">
                                  <p:stCondLst>
                                    <p:cond delay="0"/>
                                  </p:stCondLst>
                                  <p:childTnLst>
                                    <p:set>
                                      <p:cBhvr>
                                        <p:cTn id="263" dur="1" fill="hold">
                                          <p:stCondLst>
                                            <p:cond delay="0"/>
                                          </p:stCondLst>
                                        </p:cTn>
                                        <p:tgtEl>
                                          <p:spTgt spid="43"/>
                                        </p:tgtEl>
                                        <p:attrNameLst>
                                          <p:attrName>style.visibility</p:attrName>
                                        </p:attrNameLst>
                                      </p:cBhvr>
                                      <p:to>
                                        <p:strVal val="visible"/>
                                      </p:to>
                                    </p:set>
                                  </p:childTnLst>
                                </p:cTn>
                              </p:par>
                            </p:childTnLst>
                          </p:cTn>
                        </p:par>
                      </p:childTnLst>
                    </p:cTn>
                  </p:par>
                  <p:par>
                    <p:cTn id="264" fill="hold">
                      <p:stCondLst>
                        <p:cond delay="indefinite"/>
                      </p:stCondLst>
                      <p:childTnLst>
                        <p:par>
                          <p:cTn id="265" fill="hold">
                            <p:stCondLst>
                              <p:cond delay="0"/>
                            </p:stCondLst>
                            <p:childTnLst>
                              <p:par>
                                <p:cTn id="266" presetID="63" presetClass="path" presetSubtype="0" accel="50000" decel="50000" fill="hold" grpId="2" nodeType="clickEffect">
                                  <p:stCondLst>
                                    <p:cond delay="0"/>
                                  </p:stCondLst>
                                  <p:childTnLst>
                                    <p:animMotion origin="layout" path="M 0.06315 -0.00116 L 0.11914 -0.00116 " pathEditMode="relative" rAng="0" ptsTypes="AA">
                                      <p:cBhvr>
                                        <p:cTn id="267" dur="2000" fill="hold"/>
                                        <p:tgtEl>
                                          <p:spTgt spid="60"/>
                                        </p:tgtEl>
                                        <p:attrNameLst>
                                          <p:attrName>ppt_x</p:attrName>
                                          <p:attrName>ppt_y</p:attrName>
                                        </p:attrNameLst>
                                      </p:cBhvr>
                                      <p:rCtr x="3138" y="0"/>
                                    </p:animMotion>
                                  </p:childTnLst>
                                </p:cTn>
                              </p:par>
                            </p:childTnLst>
                          </p:cTn>
                        </p:par>
                      </p:childTnLst>
                    </p:cTn>
                  </p:par>
                  <p:par>
                    <p:cTn id="268" fill="hold">
                      <p:stCondLst>
                        <p:cond delay="indefinite"/>
                      </p:stCondLst>
                      <p:childTnLst>
                        <p:par>
                          <p:cTn id="269" fill="hold">
                            <p:stCondLst>
                              <p:cond delay="0"/>
                            </p:stCondLst>
                            <p:childTnLst>
                              <p:par>
                                <p:cTn id="270" presetID="1" presetClass="exit" presetSubtype="0" fill="hold" grpId="1" nodeType="clickEffect">
                                  <p:stCondLst>
                                    <p:cond delay="0"/>
                                  </p:stCondLst>
                                  <p:childTnLst>
                                    <p:set>
                                      <p:cBhvr>
                                        <p:cTn id="271" dur="1" fill="hold">
                                          <p:stCondLst>
                                            <p:cond delay="0"/>
                                          </p:stCondLst>
                                        </p:cTn>
                                        <p:tgtEl>
                                          <p:spTgt spid="70"/>
                                        </p:tgtEl>
                                        <p:attrNameLst>
                                          <p:attrName>style.visibility</p:attrName>
                                        </p:attrNameLst>
                                      </p:cBhvr>
                                      <p:to>
                                        <p:strVal val="hidden"/>
                                      </p:to>
                                    </p:set>
                                  </p:childTnLst>
                                </p:cTn>
                              </p:par>
                            </p:childTnLst>
                          </p:cTn>
                        </p:par>
                      </p:childTnLst>
                    </p:cTn>
                  </p:par>
                  <p:par>
                    <p:cTn id="272" fill="hold">
                      <p:stCondLst>
                        <p:cond delay="indefinite"/>
                      </p:stCondLst>
                      <p:childTnLst>
                        <p:par>
                          <p:cTn id="273" fill="hold">
                            <p:stCondLst>
                              <p:cond delay="0"/>
                            </p:stCondLst>
                            <p:childTnLst>
                              <p:par>
                                <p:cTn id="274" presetID="1" presetClass="entr" presetSubtype="0" fill="hold" grpId="0" nodeType="clickEffect">
                                  <p:stCondLst>
                                    <p:cond delay="0"/>
                                  </p:stCondLst>
                                  <p:childTnLst>
                                    <p:set>
                                      <p:cBhvr>
                                        <p:cTn id="275" dur="1" fill="hold">
                                          <p:stCondLst>
                                            <p:cond delay="0"/>
                                          </p:stCondLst>
                                        </p:cTn>
                                        <p:tgtEl>
                                          <p:spTgt spid="44"/>
                                        </p:tgtEl>
                                        <p:attrNameLst>
                                          <p:attrName>style.visibility</p:attrName>
                                        </p:attrNameLst>
                                      </p:cBhvr>
                                      <p:to>
                                        <p:strVal val="visible"/>
                                      </p:to>
                                    </p:set>
                                  </p:childTnLst>
                                </p:cTn>
                              </p:par>
                            </p:childTnLst>
                          </p:cTn>
                        </p:par>
                      </p:childTnLst>
                    </p:cTn>
                  </p:par>
                  <p:par>
                    <p:cTn id="276" fill="hold">
                      <p:stCondLst>
                        <p:cond delay="indefinite"/>
                      </p:stCondLst>
                      <p:childTnLst>
                        <p:par>
                          <p:cTn id="277" fill="hold">
                            <p:stCondLst>
                              <p:cond delay="0"/>
                            </p:stCondLst>
                            <p:childTnLst>
                              <p:par>
                                <p:cTn id="278" presetID="22" presetClass="exit" presetSubtype="4" fill="hold" grpId="3" nodeType="clickEffect">
                                  <p:stCondLst>
                                    <p:cond delay="0"/>
                                  </p:stCondLst>
                                  <p:childTnLst>
                                    <p:animEffect transition="out" filter="wipe(down)">
                                      <p:cBhvr>
                                        <p:cTn id="279" dur="500"/>
                                        <p:tgtEl>
                                          <p:spTgt spid="60"/>
                                        </p:tgtEl>
                                      </p:cBhvr>
                                    </p:animEffect>
                                    <p:set>
                                      <p:cBhvr>
                                        <p:cTn id="280" dur="1" fill="hold">
                                          <p:stCondLst>
                                            <p:cond delay="499"/>
                                          </p:stCondLst>
                                        </p:cTn>
                                        <p:tgtEl>
                                          <p:spTgt spid="60"/>
                                        </p:tgtEl>
                                        <p:attrNameLst>
                                          <p:attrName>style.visibility</p:attrName>
                                        </p:attrNameLst>
                                      </p:cBhvr>
                                      <p:to>
                                        <p:strVal val="hidden"/>
                                      </p:to>
                                    </p:set>
                                  </p:childTnLst>
                                </p:cTn>
                              </p:par>
                              <p:par>
                                <p:cTn id="281" presetID="22" presetClass="exit" presetSubtype="4" fill="hold" grpId="7" nodeType="withEffect">
                                  <p:stCondLst>
                                    <p:cond delay="0"/>
                                  </p:stCondLst>
                                  <p:childTnLst>
                                    <p:animEffect transition="out" filter="wipe(down)">
                                      <p:cBhvr>
                                        <p:cTn id="282" dur="500"/>
                                        <p:tgtEl>
                                          <p:spTgt spid="61"/>
                                        </p:tgtEl>
                                      </p:cBhvr>
                                    </p:animEffect>
                                    <p:set>
                                      <p:cBhvr>
                                        <p:cTn id="283" dur="1" fill="hold">
                                          <p:stCondLst>
                                            <p:cond delay="499"/>
                                          </p:stCondLst>
                                        </p:cTn>
                                        <p:tgtEl>
                                          <p:spTgt spid="61"/>
                                        </p:tgtEl>
                                        <p:attrNameLst>
                                          <p:attrName>style.visibility</p:attrName>
                                        </p:attrNameLst>
                                      </p:cBhvr>
                                      <p:to>
                                        <p:strVal val="hidden"/>
                                      </p:to>
                                    </p:set>
                                  </p:childTnLst>
                                </p:cTn>
                              </p:par>
                            </p:childTnLst>
                          </p:cTn>
                        </p:par>
                      </p:childTnLst>
                    </p:cTn>
                  </p:par>
                  <p:par>
                    <p:cTn id="284" fill="hold">
                      <p:stCondLst>
                        <p:cond delay="indefinite"/>
                      </p:stCondLst>
                      <p:childTnLst>
                        <p:par>
                          <p:cTn id="285" fill="hold">
                            <p:stCondLst>
                              <p:cond delay="0"/>
                            </p:stCondLst>
                            <p:childTnLst>
                              <p:par>
                                <p:cTn id="286" presetID="1" presetClass="exit" presetSubtype="0" fill="hold" grpId="1" nodeType="clickEffect">
                                  <p:stCondLst>
                                    <p:cond delay="0"/>
                                  </p:stCondLst>
                                  <p:childTnLst>
                                    <p:set>
                                      <p:cBhvr>
                                        <p:cTn id="287" dur="1" fill="hold">
                                          <p:stCondLst>
                                            <p:cond delay="0"/>
                                          </p:stCondLst>
                                        </p:cTn>
                                        <p:tgtEl>
                                          <p:spTgt spid="72"/>
                                        </p:tgtEl>
                                        <p:attrNameLst>
                                          <p:attrName>style.visibility</p:attrName>
                                        </p:attrNameLst>
                                      </p:cBhvr>
                                      <p:to>
                                        <p:strVal val="hidden"/>
                                      </p:to>
                                    </p:set>
                                  </p:childTnLst>
                                </p:cTn>
                              </p:par>
                              <p:par>
                                <p:cTn id="288" presetID="10" presetClass="entr" presetSubtype="0" fill="hold" grpId="0" nodeType="withEffect">
                                  <p:stCondLst>
                                    <p:cond delay="0"/>
                                  </p:stCondLst>
                                  <p:childTnLst>
                                    <p:set>
                                      <p:cBhvr>
                                        <p:cTn id="289" dur="1" fill="hold">
                                          <p:stCondLst>
                                            <p:cond delay="0"/>
                                          </p:stCondLst>
                                        </p:cTn>
                                        <p:tgtEl>
                                          <p:spTgt spid="45"/>
                                        </p:tgtEl>
                                        <p:attrNameLst>
                                          <p:attrName>style.visibility</p:attrName>
                                        </p:attrNameLst>
                                      </p:cBhvr>
                                      <p:to>
                                        <p:strVal val="visible"/>
                                      </p:to>
                                    </p:set>
                                    <p:animEffect transition="in" filter="fade">
                                      <p:cBhvr>
                                        <p:cTn id="290" dur="500"/>
                                        <p:tgtEl>
                                          <p:spTgt spid="45"/>
                                        </p:tgtEl>
                                      </p:cBhvr>
                                    </p:animEffec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grpId="0" nodeType="clickEffect">
                                  <p:stCondLst>
                                    <p:cond delay="0"/>
                                  </p:stCondLst>
                                  <p:childTnLst>
                                    <p:set>
                                      <p:cBhvr>
                                        <p:cTn id="294" dur="1" fill="hold">
                                          <p:stCondLst>
                                            <p:cond delay="0"/>
                                          </p:stCondLst>
                                        </p:cTn>
                                        <p:tgtEl>
                                          <p:spTgt spid="46"/>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22" presetClass="entr" presetSubtype="8" fill="hold" grpId="0" nodeType="clickEffect">
                                  <p:stCondLst>
                                    <p:cond delay="0"/>
                                  </p:stCondLst>
                                  <p:childTnLst>
                                    <p:set>
                                      <p:cBhvr>
                                        <p:cTn id="298" dur="1" fill="hold">
                                          <p:stCondLst>
                                            <p:cond delay="0"/>
                                          </p:stCondLst>
                                        </p:cTn>
                                        <p:tgtEl>
                                          <p:spTgt spid="47"/>
                                        </p:tgtEl>
                                        <p:attrNameLst>
                                          <p:attrName>style.visibility</p:attrName>
                                        </p:attrNameLst>
                                      </p:cBhvr>
                                      <p:to>
                                        <p:strVal val="visible"/>
                                      </p:to>
                                    </p:set>
                                    <p:animEffect transition="in" filter="wipe(left)">
                                      <p:cBhvr>
                                        <p:cTn id="29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0" grpId="0"/>
      <p:bldP spid="60" grpId="1"/>
      <p:bldP spid="60" grpId="2"/>
      <p:bldP spid="60" grpId="3"/>
      <p:bldP spid="61" grpId="0"/>
      <p:bldP spid="61" grpId="1"/>
      <p:bldP spid="61" grpId="2"/>
      <p:bldP spid="61" grpId="3"/>
      <p:bldP spid="61" grpId="4"/>
      <p:bldP spid="61" grpId="5"/>
      <p:bldP spid="61" grpId="6"/>
      <p:bldP spid="61" grpId="7"/>
      <p:bldP spid="62" grpId="0"/>
      <p:bldP spid="62" grpId="1"/>
      <p:bldP spid="67" grpId="0"/>
      <p:bldP spid="70" grpId="0"/>
      <p:bldP spid="70" grpId="1"/>
      <p:bldP spid="72" grpId="0"/>
      <p:bldP spid="72" grpId="1"/>
      <p:bldP spid="74" grpId="0"/>
      <p:bldP spid="74" grpId="1"/>
      <p:bldP spid="76" grpId="0"/>
      <p:bldP spid="76" grpId="1"/>
      <p:bldP spid="2" grpId="0"/>
      <p:bldP spid="8" grpId="0"/>
      <p:bldP spid="11" grpId="0"/>
      <p:bldP spid="12" grpId="0"/>
      <p:bldP spid="3" grpId="0" animBg="1"/>
      <p:bldP spid="3" grpId="1" animBg="1"/>
      <p:bldP spid="4" grpId="0"/>
      <p:bldP spid="4" grpId="1"/>
      <p:bldP spid="5" grpId="0"/>
      <p:bldP spid="5" grpId="1"/>
      <p:bldP spid="6" grpId="0"/>
      <p:bldP spid="6" grpId="1"/>
      <p:bldP spid="15" grpId="0"/>
      <p:bldP spid="15" grpId="1"/>
      <p:bldP spid="16" grpId="0"/>
      <p:bldP spid="16" grpId="1"/>
      <p:bldP spid="17" grpId="0"/>
      <p:bldP spid="18" grpId="0"/>
      <p:bldP spid="19" grpId="0"/>
      <p:bldP spid="20" grpId="0"/>
      <p:bldP spid="21" grpId="0" animBg="1"/>
      <p:bldP spid="22" grpId="0" animBg="1"/>
      <p:bldP spid="23" grpId="0" animBg="1"/>
      <p:bldP spid="24" grpId="0" animBg="1"/>
      <p:bldP spid="25" grpId="0"/>
      <p:bldP spid="26" grpId="0"/>
      <p:bldP spid="27" grpId="0"/>
      <p:bldP spid="28" grpId="0" animBg="1"/>
      <p:bldP spid="28" grpId="1" animBg="1"/>
      <p:bldP spid="29" grpId="0"/>
      <p:bldP spid="29" grpId="1"/>
      <p:bldP spid="30" grpId="0"/>
      <p:bldP spid="30" grpId="1"/>
      <p:bldP spid="31" grpId="0"/>
      <p:bldP spid="32" grpId="0"/>
      <p:bldP spid="33" grpId="0"/>
      <p:bldP spid="34" grpId="0"/>
      <p:bldP spid="35" grpId="0" animBg="1"/>
      <p:bldP spid="35" grpId="1" animBg="1"/>
      <p:bldP spid="36" grpId="0"/>
      <p:bldP spid="36" grpId="1"/>
      <p:bldP spid="37" grpId="0"/>
      <p:bldP spid="37" grpId="1"/>
      <p:bldP spid="38" grpId="0"/>
      <p:bldP spid="39" grpId="0"/>
      <p:bldP spid="42" grpId="0"/>
      <p:bldP spid="43" grpId="0"/>
      <p:bldP spid="44" grpId="0"/>
      <p:bldP spid="45" grpId="0"/>
      <p:bldP spid="46" grpId="0"/>
      <p:bldP spid="4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DQueue</a:t>
            </a:r>
            <a:endParaRPr lang="en-US" dirty="0"/>
          </a:p>
        </p:txBody>
      </p:sp>
      <p:sp>
        <p:nvSpPr>
          <p:cNvPr id="3" name="Content Placeholder 2"/>
          <p:cNvSpPr>
            <a:spLocks noGrp="1"/>
          </p:cNvSpPr>
          <p:nvPr>
            <p:ph idx="1"/>
          </p:nvPr>
        </p:nvSpPr>
        <p:spPr/>
        <p:txBody>
          <a:bodyPr/>
          <a:lstStyle/>
          <a:p>
            <a:r>
              <a:rPr lang="en-IN" dirty="0"/>
              <a:t>A </a:t>
            </a:r>
            <a:r>
              <a:rPr lang="en-IN" b="1" dirty="0" err="1">
                <a:solidFill>
                  <a:srgbClr val="C00000"/>
                </a:solidFill>
              </a:rPr>
              <a:t>DQueue</a:t>
            </a:r>
            <a:r>
              <a:rPr lang="en-IN" b="1" dirty="0">
                <a:solidFill>
                  <a:srgbClr val="C00000"/>
                </a:solidFill>
              </a:rPr>
              <a:t> (double ended queue)</a:t>
            </a:r>
            <a:r>
              <a:rPr lang="en-IN" b="1" dirty="0">
                <a:solidFill>
                  <a:srgbClr val="FF0000"/>
                </a:solidFill>
              </a:rPr>
              <a:t> </a:t>
            </a:r>
            <a:r>
              <a:rPr lang="en-IN" dirty="0"/>
              <a:t>is a linear list in which insertion and deletion are performed </a:t>
            </a:r>
            <a:r>
              <a:rPr lang="en-IN" b="1" dirty="0">
                <a:solidFill>
                  <a:srgbClr val="C00000"/>
                </a:solidFill>
              </a:rPr>
              <a:t>from the either end of the structure</a:t>
            </a:r>
            <a:r>
              <a:rPr lang="en-IN" dirty="0"/>
              <a:t>.</a:t>
            </a:r>
          </a:p>
          <a:p>
            <a:r>
              <a:rPr lang="en-IN" dirty="0"/>
              <a:t>There are two variations of </a:t>
            </a:r>
            <a:r>
              <a:rPr lang="en-IN" dirty="0" err="1"/>
              <a:t>Dqueue</a:t>
            </a:r>
            <a:endParaRPr lang="en-IN" dirty="0"/>
          </a:p>
          <a:p>
            <a:pPr lvl="1">
              <a:buClr>
                <a:schemeClr val="tx1"/>
              </a:buClr>
            </a:pPr>
            <a:r>
              <a:rPr lang="en-IN" b="1" i="1" dirty="0">
                <a:solidFill>
                  <a:srgbClr val="C00000"/>
                </a:solidFill>
              </a:rPr>
              <a:t>Input restricted </a:t>
            </a:r>
            <a:r>
              <a:rPr lang="en-IN" b="1" i="1" dirty="0" err="1">
                <a:solidFill>
                  <a:srgbClr val="C00000"/>
                </a:solidFill>
              </a:rPr>
              <a:t>dqueue</a:t>
            </a:r>
            <a:r>
              <a:rPr lang="en-IN" b="1" i="1" dirty="0">
                <a:solidFill>
                  <a:srgbClr val="FF0000"/>
                </a:solidFill>
              </a:rPr>
              <a:t> </a:t>
            </a:r>
            <a:r>
              <a:rPr lang="en-IN" dirty="0"/>
              <a:t>– allows insertion at only one end</a:t>
            </a:r>
          </a:p>
          <a:p>
            <a:pPr lvl="1">
              <a:buClr>
                <a:schemeClr val="tx1"/>
              </a:buClr>
            </a:pPr>
            <a:r>
              <a:rPr lang="en-IN" b="1" i="1" dirty="0">
                <a:solidFill>
                  <a:srgbClr val="C00000"/>
                </a:solidFill>
              </a:rPr>
              <a:t>Output restricted </a:t>
            </a:r>
            <a:r>
              <a:rPr lang="en-IN" b="1" i="1" dirty="0" err="1">
                <a:solidFill>
                  <a:srgbClr val="C00000"/>
                </a:solidFill>
              </a:rPr>
              <a:t>dqueue</a:t>
            </a:r>
            <a:r>
              <a:rPr lang="en-IN" b="1" i="1" dirty="0">
                <a:solidFill>
                  <a:srgbClr val="FF0000"/>
                </a:solidFill>
              </a:rPr>
              <a:t> </a:t>
            </a:r>
            <a:r>
              <a:rPr lang="en-IN" dirty="0"/>
              <a:t>– allows deletion from only one end</a:t>
            </a:r>
          </a:p>
          <a:p>
            <a:endParaRPr lang="en-IN" dirty="0"/>
          </a:p>
          <a:p>
            <a:endParaRPr lang="en-IN" dirty="0"/>
          </a:p>
          <a:p>
            <a:r>
              <a:rPr lang="en-IN" dirty="0" err="1"/>
              <a:t>Dqueue</a:t>
            </a:r>
            <a:r>
              <a:rPr lang="en-IN" dirty="0"/>
              <a:t> Algorithms</a:t>
            </a:r>
          </a:p>
          <a:p>
            <a:pPr lvl="1"/>
            <a:r>
              <a:rPr lang="en-IN" dirty="0"/>
              <a:t>DQINSERT_REAR is same as QINSERT (</a:t>
            </a:r>
            <a:r>
              <a:rPr lang="en-IN" dirty="0" err="1"/>
              <a:t>Enqueue</a:t>
            </a:r>
            <a:r>
              <a:rPr lang="en-IN" dirty="0"/>
              <a:t>)</a:t>
            </a:r>
          </a:p>
          <a:p>
            <a:pPr lvl="1"/>
            <a:r>
              <a:rPr lang="en-IN" dirty="0"/>
              <a:t>DQDELETE_FRONT is same as QDELETE (</a:t>
            </a:r>
            <a:r>
              <a:rPr lang="en-IN" dirty="0" err="1"/>
              <a:t>Dequeue</a:t>
            </a:r>
            <a:r>
              <a:rPr lang="en-IN" dirty="0"/>
              <a:t>)</a:t>
            </a:r>
          </a:p>
          <a:p>
            <a:pPr lvl="1"/>
            <a:r>
              <a:rPr lang="en-IN" dirty="0"/>
              <a:t>DQINSERT_FRONT </a:t>
            </a:r>
          </a:p>
          <a:p>
            <a:pPr lvl="1"/>
            <a:r>
              <a:rPr lang="en-IN" dirty="0"/>
              <a:t>DQDELETE_REAR</a:t>
            </a:r>
          </a:p>
          <a:p>
            <a:pPr marL="0" indent="0">
              <a:buClr>
                <a:schemeClr val="tx1"/>
              </a:buClr>
              <a:buNone/>
            </a:pPr>
            <a:endParaRPr lang="en-IN" dirty="0"/>
          </a:p>
        </p:txBody>
      </p:sp>
      <p:grpSp>
        <p:nvGrpSpPr>
          <p:cNvPr id="4" name="Group 3"/>
          <p:cNvGrpSpPr/>
          <p:nvPr/>
        </p:nvGrpSpPr>
        <p:grpSpPr>
          <a:xfrm>
            <a:off x="6426200" y="3467100"/>
            <a:ext cx="4081670" cy="533400"/>
            <a:chOff x="2286000" y="5257800"/>
            <a:chExt cx="4081670" cy="533400"/>
          </a:xfrm>
        </p:grpSpPr>
        <p:grpSp>
          <p:nvGrpSpPr>
            <p:cNvPr id="5" name="Group 4"/>
            <p:cNvGrpSpPr/>
            <p:nvPr/>
          </p:nvGrpSpPr>
          <p:grpSpPr>
            <a:xfrm>
              <a:off x="2286000" y="5257800"/>
              <a:ext cx="4081670" cy="533400"/>
              <a:chOff x="2286000" y="5486400"/>
              <a:chExt cx="4081670" cy="533400"/>
            </a:xfrm>
          </p:grpSpPr>
          <p:cxnSp>
            <p:nvCxnSpPr>
              <p:cNvPr id="26" name="Straight Connector 25"/>
              <p:cNvCxnSpPr/>
              <p:nvPr/>
            </p:nvCxnSpPr>
            <p:spPr>
              <a:xfrm>
                <a:off x="2286000" y="5486400"/>
                <a:ext cx="408167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a:off x="2286000" y="6019800"/>
                <a:ext cx="4081670" cy="0"/>
              </a:xfrm>
              <a:prstGeom prst="line">
                <a:avLst/>
              </a:prstGeom>
              <a:ln w="28575"/>
            </p:spPr>
            <p:style>
              <a:lnRef idx="2">
                <a:schemeClr val="accent1"/>
              </a:lnRef>
              <a:fillRef idx="0">
                <a:schemeClr val="accent1"/>
              </a:fillRef>
              <a:effectRef idx="1">
                <a:schemeClr val="accent1"/>
              </a:effectRef>
              <a:fontRef idx="minor">
                <a:schemeClr val="tx1"/>
              </a:fontRef>
            </p:style>
          </p:cxnSp>
        </p:grpSp>
        <p:grpSp>
          <p:nvGrpSpPr>
            <p:cNvPr id="6" name="Group 5"/>
            <p:cNvGrpSpPr/>
            <p:nvPr/>
          </p:nvGrpSpPr>
          <p:grpSpPr>
            <a:xfrm>
              <a:off x="5153960" y="5257800"/>
              <a:ext cx="533400" cy="533400"/>
              <a:chOff x="1600200" y="5486400"/>
              <a:chExt cx="533400" cy="533400"/>
            </a:xfrm>
          </p:grpSpPr>
          <p:sp>
            <p:nvSpPr>
              <p:cNvPr id="23" name="Rectangle 22"/>
              <p:cNvSpPr/>
              <p:nvPr/>
            </p:nvSpPr>
            <p:spPr>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24" name="Straight Connector 23"/>
              <p:cNvCxnSpPr/>
              <p:nvPr/>
            </p:nvCxnSpPr>
            <p:spPr>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5" name="Straight Connector 24"/>
              <p:cNvCxnSpPr/>
              <p:nvPr/>
            </p:nvCxnSpPr>
            <p:spPr>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7" name="Group 6"/>
            <p:cNvGrpSpPr/>
            <p:nvPr/>
          </p:nvGrpSpPr>
          <p:grpSpPr>
            <a:xfrm>
              <a:off x="4614696" y="5257800"/>
              <a:ext cx="533400" cy="533400"/>
              <a:chOff x="1600200" y="5486400"/>
              <a:chExt cx="533400" cy="533400"/>
            </a:xfrm>
          </p:grpSpPr>
          <p:sp>
            <p:nvSpPr>
              <p:cNvPr id="20" name="Rectangle 19"/>
              <p:cNvSpPr/>
              <p:nvPr/>
            </p:nvSpPr>
            <p:spPr>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21" name="Straight Connector 20"/>
              <p:cNvCxnSpPr/>
              <p:nvPr/>
            </p:nvCxnSpPr>
            <p:spPr>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2" name="Straight Connector 21"/>
              <p:cNvCxnSpPr/>
              <p:nvPr/>
            </p:nvCxnSpPr>
            <p:spPr>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8" name="Group 7"/>
            <p:cNvGrpSpPr/>
            <p:nvPr/>
          </p:nvGrpSpPr>
          <p:grpSpPr>
            <a:xfrm>
              <a:off x="4071248" y="5257800"/>
              <a:ext cx="533400" cy="533400"/>
              <a:chOff x="1600200" y="5486400"/>
              <a:chExt cx="533400" cy="533400"/>
            </a:xfrm>
          </p:grpSpPr>
          <p:sp>
            <p:nvSpPr>
              <p:cNvPr id="17" name="Rectangle 16"/>
              <p:cNvSpPr/>
              <p:nvPr/>
            </p:nvSpPr>
            <p:spPr>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18" name="Straight Connector 17"/>
              <p:cNvCxnSpPr/>
              <p:nvPr/>
            </p:nvCxnSpPr>
            <p:spPr>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p:nvPr/>
            </p:nvCxnSpPr>
            <p:spPr>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9" name="Group 8"/>
            <p:cNvGrpSpPr/>
            <p:nvPr/>
          </p:nvGrpSpPr>
          <p:grpSpPr>
            <a:xfrm>
              <a:off x="3527800" y="5257800"/>
              <a:ext cx="533400" cy="533400"/>
              <a:chOff x="1600200" y="5486400"/>
              <a:chExt cx="533400" cy="533400"/>
            </a:xfrm>
          </p:grpSpPr>
          <p:sp>
            <p:nvSpPr>
              <p:cNvPr id="14" name="Rectangle 13"/>
              <p:cNvSpPr/>
              <p:nvPr/>
            </p:nvSpPr>
            <p:spPr>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15" name="Straight Connector 14"/>
              <p:cNvCxnSpPr/>
              <p:nvPr/>
            </p:nvCxnSpPr>
            <p:spPr>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6" name="Straight Connector 15"/>
              <p:cNvCxnSpPr/>
              <p:nvPr/>
            </p:nvCxnSpPr>
            <p:spPr>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10" name="Group 9"/>
            <p:cNvGrpSpPr/>
            <p:nvPr/>
          </p:nvGrpSpPr>
          <p:grpSpPr>
            <a:xfrm>
              <a:off x="2984352" y="5257800"/>
              <a:ext cx="533400" cy="533400"/>
              <a:chOff x="1600200" y="5486400"/>
              <a:chExt cx="533400" cy="533400"/>
            </a:xfrm>
          </p:grpSpPr>
          <p:sp>
            <p:nvSpPr>
              <p:cNvPr id="11" name="Rectangle 10"/>
              <p:cNvSpPr/>
              <p:nvPr/>
            </p:nvSpPr>
            <p:spPr>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12" name="Straight Connector 11"/>
              <p:cNvCxnSpPr/>
              <p:nvPr/>
            </p:nvCxnSpPr>
            <p:spPr>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3" name="Straight Connector 12"/>
              <p:cNvCxnSpPr/>
              <p:nvPr/>
            </p:nvCxnSpPr>
            <p:spPr>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cxnSp>
        <p:nvCxnSpPr>
          <p:cNvPr id="31" name="Straight Arrow Connector 30"/>
          <p:cNvCxnSpPr/>
          <p:nvPr/>
        </p:nvCxnSpPr>
        <p:spPr>
          <a:xfrm flipH="1">
            <a:off x="10160000" y="3881846"/>
            <a:ext cx="9906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2" name="TextBox 31"/>
          <p:cNvSpPr txBox="1"/>
          <p:nvPr/>
        </p:nvSpPr>
        <p:spPr>
          <a:xfrm>
            <a:off x="11158709" y="3709571"/>
            <a:ext cx="1080000" cy="369332"/>
          </a:xfrm>
          <a:prstGeom prst="rect">
            <a:avLst/>
          </a:prstGeom>
          <a:noFill/>
        </p:spPr>
        <p:txBody>
          <a:bodyPr wrap="square" rtlCol="0">
            <a:spAutoFit/>
          </a:bodyPr>
          <a:lstStyle/>
          <a:p>
            <a:r>
              <a:rPr lang="en-IN" b="1" dirty="0"/>
              <a:t>Insertion</a:t>
            </a:r>
            <a:endParaRPr lang="en-US" b="1" dirty="0"/>
          </a:p>
        </p:txBody>
      </p:sp>
      <p:cxnSp>
        <p:nvCxnSpPr>
          <p:cNvPr id="33" name="Straight Arrow Connector 32"/>
          <p:cNvCxnSpPr/>
          <p:nvPr/>
        </p:nvCxnSpPr>
        <p:spPr>
          <a:xfrm flipH="1">
            <a:off x="5845060" y="3892397"/>
            <a:ext cx="9906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4" name="TextBox 33"/>
          <p:cNvSpPr txBox="1"/>
          <p:nvPr/>
        </p:nvSpPr>
        <p:spPr>
          <a:xfrm>
            <a:off x="4693805" y="3717474"/>
            <a:ext cx="1080000" cy="369332"/>
          </a:xfrm>
          <a:prstGeom prst="rect">
            <a:avLst/>
          </a:prstGeom>
          <a:noFill/>
        </p:spPr>
        <p:txBody>
          <a:bodyPr wrap="square" rtlCol="0">
            <a:spAutoFit/>
          </a:bodyPr>
          <a:lstStyle/>
          <a:p>
            <a:r>
              <a:rPr lang="en-IN" b="1" dirty="0"/>
              <a:t>Deletion</a:t>
            </a:r>
            <a:endParaRPr lang="en-US" b="1" dirty="0"/>
          </a:p>
        </p:txBody>
      </p:sp>
      <p:grpSp>
        <p:nvGrpSpPr>
          <p:cNvPr id="35" name="Group 34"/>
          <p:cNvGrpSpPr/>
          <p:nvPr/>
        </p:nvGrpSpPr>
        <p:grpSpPr>
          <a:xfrm>
            <a:off x="9254403" y="4038600"/>
            <a:ext cx="612914" cy="640378"/>
            <a:chOff x="5119632" y="5829300"/>
            <a:chExt cx="612914" cy="640378"/>
          </a:xfrm>
        </p:grpSpPr>
        <p:sp>
          <p:nvSpPr>
            <p:cNvPr id="36" name="TextBox 35"/>
            <p:cNvSpPr txBox="1"/>
            <p:nvPr/>
          </p:nvSpPr>
          <p:spPr>
            <a:xfrm>
              <a:off x="5119632" y="6100346"/>
              <a:ext cx="612914" cy="369332"/>
            </a:xfrm>
            <a:prstGeom prst="rect">
              <a:avLst/>
            </a:prstGeom>
            <a:noFill/>
          </p:spPr>
          <p:txBody>
            <a:bodyPr wrap="square" rtlCol="0">
              <a:spAutoFit/>
            </a:bodyPr>
            <a:lstStyle/>
            <a:p>
              <a:pPr algn="ctr"/>
              <a:r>
                <a:rPr lang="en-IN" b="1" dirty="0"/>
                <a:t>Rear</a:t>
              </a:r>
              <a:endParaRPr lang="en-US" b="1" dirty="0"/>
            </a:p>
          </p:txBody>
        </p:sp>
        <p:cxnSp>
          <p:nvCxnSpPr>
            <p:cNvPr id="37" name="Straight Arrow Connector 36"/>
            <p:cNvCxnSpPr>
              <a:stCxn id="36" idx="0"/>
            </p:cNvCxnSpPr>
            <p:nvPr/>
          </p:nvCxnSpPr>
          <p:spPr>
            <a:xfrm flipH="1" flipV="1">
              <a:off x="5420661" y="5829300"/>
              <a:ext cx="5428" cy="27104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cxnSp>
        <p:nvCxnSpPr>
          <p:cNvPr id="39" name="Straight Arrow Connector 38"/>
          <p:cNvCxnSpPr/>
          <p:nvPr/>
        </p:nvCxnSpPr>
        <p:spPr>
          <a:xfrm>
            <a:off x="5833126" y="3619500"/>
            <a:ext cx="1002535" cy="0"/>
          </a:xfrm>
          <a:prstGeom prst="straightConnector1">
            <a:avLst/>
          </a:prstGeom>
          <a:ln w="28575">
            <a:solidFill>
              <a:schemeClr val="tx2">
                <a:lumMod val="75000"/>
              </a:schemeClr>
            </a:solidFill>
            <a:tailEnd type="arrow"/>
          </a:ln>
        </p:spPr>
        <p:style>
          <a:lnRef idx="2">
            <a:schemeClr val="accent6"/>
          </a:lnRef>
          <a:fillRef idx="0">
            <a:schemeClr val="accent6"/>
          </a:fillRef>
          <a:effectRef idx="1">
            <a:schemeClr val="accent6"/>
          </a:effectRef>
          <a:fontRef idx="minor">
            <a:schemeClr val="tx1"/>
          </a:fontRef>
        </p:style>
      </p:cxnSp>
      <p:sp>
        <p:nvSpPr>
          <p:cNvPr id="40" name="TextBox 39"/>
          <p:cNvSpPr txBox="1"/>
          <p:nvPr/>
        </p:nvSpPr>
        <p:spPr>
          <a:xfrm>
            <a:off x="4693805" y="3416300"/>
            <a:ext cx="1080000" cy="369332"/>
          </a:xfrm>
          <a:prstGeom prst="rect">
            <a:avLst/>
          </a:prstGeom>
          <a:noFill/>
        </p:spPr>
        <p:txBody>
          <a:bodyPr wrap="square" rtlCol="0">
            <a:spAutoFit/>
          </a:bodyPr>
          <a:lstStyle/>
          <a:p>
            <a:r>
              <a:rPr lang="en-IN" b="1" dirty="0">
                <a:solidFill>
                  <a:schemeClr val="accent5">
                    <a:lumMod val="75000"/>
                  </a:schemeClr>
                </a:solidFill>
              </a:rPr>
              <a:t>Insertion</a:t>
            </a:r>
            <a:endParaRPr lang="en-US" b="1" dirty="0">
              <a:solidFill>
                <a:schemeClr val="accent5">
                  <a:lumMod val="75000"/>
                </a:schemeClr>
              </a:solidFill>
            </a:endParaRPr>
          </a:p>
        </p:txBody>
      </p:sp>
      <p:cxnSp>
        <p:nvCxnSpPr>
          <p:cNvPr id="41" name="Straight Arrow Connector 40"/>
          <p:cNvCxnSpPr/>
          <p:nvPr/>
        </p:nvCxnSpPr>
        <p:spPr>
          <a:xfrm>
            <a:off x="10160001" y="3619500"/>
            <a:ext cx="1002535" cy="0"/>
          </a:xfrm>
          <a:prstGeom prst="straightConnector1">
            <a:avLst/>
          </a:prstGeom>
          <a:ln w="28575">
            <a:solidFill>
              <a:schemeClr val="tx2">
                <a:lumMod val="75000"/>
              </a:schemeClr>
            </a:solidFill>
            <a:tailEnd type="arrow"/>
          </a:ln>
        </p:spPr>
        <p:style>
          <a:lnRef idx="2">
            <a:schemeClr val="accent6"/>
          </a:lnRef>
          <a:fillRef idx="0">
            <a:schemeClr val="accent6"/>
          </a:fillRef>
          <a:effectRef idx="1">
            <a:schemeClr val="accent6"/>
          </a:effectRef>
          <a:fontRef idx="minor">
            <a:schemeClr val="tx1"/>
          </a:fontRef>
        </p:style>
      </p:cxnSp>
      <p:sp>
        <p:nvSpPr>
          <p:cNvPr id="42" name="TextBox 41"/>
          <p:cNvSpPr txBox="1"/>
          <p:nvPr/>
        </p:nvSpPr>
        <p:spPr>
          <a:xfrm>
            <a:off x="11158709" y="3467100"/>
            <a:ext cx="1080000" cy="369332"/>
          </a:xfrm>
          <a:prstGeom prst="rect">
            <a:avLst/>
          </a:prstGeom>
          <a:noFill/>
        </p:spPr>
        <p:txBody>
          <a:bodyPr wrap="square" rtlCol="0">
            <a:spAutoFit/>
          </a:bodyPr>
          <a:lstStyle/>
          <a:p>
            <a:r>
              <a:rPr lang="en-IN" b="1" dirty="0">
                <a:solidFill>
                  <a:schemeClr val="accent5">
                    <a:lumMod val="75000"/>
                  </a:schemeClr>
                </a:solidFill>
              </a:rPr>
              <a:t>Deletion</a:t>
            </a:r>
            <a:endParaRPr lang="en-US" b="1" dirty="0">
              <a:solidFill>
                <a:schemeClr val="accent5">
                  <a:lumMod val="75000"/>
                </a:schemeClr>
              </a:solidFill>
            </a:endParaRPr>
          </a:p>
        </p:txBody>
      </p:sp>
      <p:grpSp>
        <p:nvGrpSpPr>
          <p:cNvPr id="45" name="Group 44"/>
          <p:cNvGrpSpPr/>
          <p:nvPr/>
        </p:nvGrpSpPr>
        <p:grpSpPr>
          <a:xfrm>
            <a:off x="7046260" y="4000332"/>
            <a:ext cx="689984" cy="674300"/>
            <a:chOff x="7046260" y="4000332"/>
            <a:chExt cx="689984" cy="674300"/>
          </a:xfrm>
        </p:grpSpPr>
        <p:sp>
          <p:nvSpPr>
            <p:cNvPr id="29" name="TextBox 28"/>
            <p:cNvSpPr txBox="1"/>
            <p:nvPr/>
          </p:nvSpPr>
          <p:spPr>
            <a:xfrm>
              <a:off x="7046260" y="4305300"/>
              <a:ext cx="689984" cy="369332"/>
            </a:xfrm>
            <a:prstGeom prst="rect">
              <a:avLst/>
            </a:prstGeom>
            <a:noFill/>
          </p:spPr>
          <p:txBody>
            <a:bodyPr wrap="square" rtlCol="0">
              <a:spAutoFit/>
            </a:bodyPr>
            <a:lstStyle/>
            <a:p>
              <a:pPr algn="ctr"/>
              <a:r>
                <a:rPr lang="en-IN" b="1" dirty="0"/>
                <a:t>Front</a:t>
              </a:r>
              <a:endParaRPr lang="en-US" b="1" dirty="0"/>
            </a:p>
          </p:txBody>
        </p:sp>
        <p:cxnSp>
          <p:nvCxnSpPr>
            <p:cNvPr id="43" name="Straight Arrow Connector 42"/>
            <p:cNvCxnSpPr>
              <a:stCxn id="29" idx="0"/>
            </p:cNvCxnSpPr>
            <p:nvPr/>
          </p:nvCxnSpPr>
          <p:spPr>
            <a:xfrm flipV="1">
              <a:off x="7391252" y="4000332"/>
              <a:ext cx="0" cy="3049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Tree>
    <p:extLst>
      <p:ext uri="{BB962C8B-B14F-4D97-AF65-F5344CB8AC3E}">
        <p14:creationId xmlns:p14="http://schemas.microsoft.com/office/powerpoint/2010/main" val="3000152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p:bldP spid="40" grpId="0"/>
      <p:bldP spid="4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6ED680-ECDA-2C59-AF2D-3A5BD1081CCA}"/>
              </a:ext>
            </a:extLst>
          </p:cNvPr>
          <p:cNvSpPr>
            <a:spLocks noGrp="1"/>
          </p:cNvSpPr>
          <p:nvPr>
            <p:ph type="title"/>
          </p:nvPr>
        </p:nvSpPr>
        <p:spPr/>
        <p:txBody>
          <a:bodyPr/>
          <a:lstStyle/>
          <a:p>
            <a:r>
              <a:rPr lang="en-US" dirty="0"/>
              <a:t>Double Ended Queue - Operations</a:t>
            </a:r>
          </a:p>
        </p:txBody>
      </p:sp>
      <p:sp>
        <p:nvSpPr>
          <p:cNvPr id="5" name="Text Placeholder 4">
            <a:extLst>
              <a:ext uri="{FF2B5EF4-FFF2-40B4-BE49-F238E27FC236}">
                <a16:creationId xmlns:a16="http://schemas.microsoft.com/office/drawing/2014/main" id="{FB5B7375-27ED-AEFF-9C20-9AC5FE685928}"/>
              </a:ext>
            </a:extLst>
          </p:cNvPr>
          <p:cNvSpPr>
            <a:spLocks noGrp="1"/>
          </p:cNvSpPr>
          <p:nvPr>
            <p:ph type="body" idx="1"/>
          </p:nvPr>
        </p:nvSpPr>
        <p:spPr/>
        <p:txBody>
          <a:bodyPr>
            <a:normAutofit fontScale="92500" lnSpcReduction="20000"/>
          </a:bodyPr>
          <a:lstStyle/>
          <a:p>
            <a:r>
              <a:rPr lang="en-US" dirty="0">
                <a:solidFill>
                  <a:srgbClr val="0070C0"/>
                </a:solidFill>
              </a:rPr>
              <a:t>DQINSERT_REAR  (ENQUEUE)</a:t>
            </a:r>
          </a:p>
          <a:p>
            <a:r>
              <a:rPr lang="en-US" dirty="0">
                <a:solidFill>
                  <a:srgbClr val="0070C0"/>
                </a:solidFill>
              </a:rPr>
              <a:t>DQINSERT_FRONT </a:t>
            </a:r>
          </a:p>
          <a:p>
            <a:r>
              <a:rPr lang="en-US" dirty="0">
                <a:solidFill>
                  <a:srgbClr val="0070C0"/>
                </a:solidFill>
              </a:rPr>
              <a:t>DQDELETE_FRONT (DEQUEUE)</a:t>
            </a:r>
          </a:p>
          <a:p>
            <a:r>
              <a:rPr lang="en-US" dirty="0">
                <a:solidFill>
                  <a:srgbClr val="0070C0"/>
                </a:solidFill>
              </a:rPr>
              <a:t>DQDELETE_REAR</a:t>
            </a:r>
          </a:p>
          <a:p>
            <a:endParaRPr lang="en-US" dirty="0"/>
          </a:p>
        </p:txBody>
      </p:sp>
    </p:spTree>
    <p:extLst>
      <p:ext uri="{BB962C8B-B14F-4D97-AF65-F5344CB8AC3E}">
        <p14:creationId xmlns:p14="http://schemas.microsoft.com/office/powerpoint/2010/main" val="2327584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Procedure: DQINSERT_FRONT (Q,F,R,N,Y)</a:t>
            </a:r>
            <a:endParaRPr lang="en-US" dirty="0"/>
          </a:p>
        </p:txBody>
      </p:sp>
      <p:sp>
        <p:nvSpPr>
          <p:cNvPr id="3" name="Content Placeholder 2"/>
          <p:cNvSpPr>
            <a:spLocks noGrp="1"/>
          </p:cNvSpPr>
          <p:nvPr>
            <p:ph idx="1"/>
          </p:nvPr>
        </p:nvSpPr>
        <p:spPr/>
        <p:txBody>
          <a:bodyPr/>
          <a:lstStyle/>
          <a:p>
            <a:r>
              <a:rPr lang="en-IN" dirty="0"/>
              <a:t>This procedure </a:t>
            </a:r>
            <a:r>
              <a:rPr lang="en-IN" b="1" dirty="0">
                <a:solidFill>
                  <a:srgbClr val="C00000"/>
                </a:solidFill>
              </a:rPr>
              <a:t>inserts</a:t>
            </a:r>
            <a:r>
              <a:rPr lang="en-IN" dirty="0">
                <a:solidFill>
                  <a:srgbClr val="C00000"/>
                </a:solidFill>
              </a:rPr>
              <a:t> </a:t>
            </a:r>
            <a:r>
              <a:rPr lang="en-IN" b="1" dirty="0">
                <a:solidFill>
                  <a:srgbClr val="C00000"/>
                </a:solidFill>
              </a:rPr>
              <a:t>Y</a:t>
            </a:r>
            <a:r>
              <a:rPr lang="en-IN" dirty="0"/>
              <a:t> at </a:t>
            </a:r>
            <a:r>
              <a:rPr lang="en-IN" b="1" dirty="0">
                <a:solidFill>
                  <a:srgbClr val="C00000"/>
                </a:solidFill>
              </a:rPr>
              <a:t>front</a:t>
            </a:r>
            <a:r>
              <a:rPr lang="en-IN" dirty="0">
                <a:solidFill>
                  <a:srgbClr val="C00000"/>
                </a:solidFill>
              </a:rPr>
              <a:t> </a:t>
            </a:r>
            <a:r>
              <a:rPr lang="en-IN" dirty="0"/>
              <a:t>end of the Circular Queue.</a:t>
            </a:r>
          </a:p>
          <a:p>
            <a:r>
              <a:rPr lang="en-IN" dirty="0"/>
              <a:t>Queue is represented by a vector </a:t>
            </a:r>
            <a:r>
              <a:rPr lang="en-IN" b="1" dirty="0">
                <a:solidFill>
                  <a:srgbClr val="C00000"/>
                </a:solidFill>
              </a:rPr>
              <a:t>Q</a:t>
            </a:r>
            <a:r>
              <a:rPr lang="en-IN" dirty="0">
                <a:solidFill>
                  <a:srgbClr val="C00000"/>
                </a:solidFill>
              </a:rPr>
              <a:t> </a:t>
            </a:r>
            <a:r>
              <a:rPr lang="en-IN" dirty="0"/>
              <a:t>containing </a:t>
            </a:r>
            <a:r>
              <a:rPr lang="en-IN" b="1" dirty="0">
                <a:solidFill>
                  <a:srgbClr val="C00000"/>
                </a:solidFill>
              </a:rPr>
              <a:t>N</a:t>
            </a:r>
            <a:r>
              <a:rPr lang="en-IN" dirty="0">
                <a:solidFill>
                  <a:srgbClr val="C00000"/>
                </a:solidFill>
              </a:rPr>
              <a:t> </a:t>
            </a:r>
            <a:r>
              <a:rPr lang="en-IN" dirty="0"/>
              <a:t>elements.</a:t>
            </a:r>
          </a:p>
          <a:p>
            <a:r>
              <a:rPr lang="en-IN" b="1" dirty="0">
                <a:solidFill>
                  <a:srgbClr val="C00000"/>
                </a:solidFill>
              </a:rPr>
              <a:t>F</a:t>
            </a:r>
            <a:r>
              <a:rPr lang="en-IN" dirty="0">
                <a:solidFill>
                  <a:srgbClr val="C00000"/>
                </a:solidFill>
              </a:rPr>
              <a:t> </a:t>
            </a:r>
            <a:r>
              <a:rPr lang="en-IN" dirty="0"/>
              <a:t>is pointer to the </a:t>
            </a:r>
            <a:r>
              <a:rPr lang="en-IN" b="1" dirty="0">
                <a:solidFill>
                  <a:srgbClr val="C00000"/>
                </a:solidFill>
              </a:rPr>
              <a:t>front</a:t>
            </a:r>
            <a:r>
              <a:rPr lang="en-IN" dirty="0">
                <a:solidFill>
                  <a:srgbClr val="C00000"/>
                </a:solidFill>
              </a:rPr>
              <a:t> </a:t>
            </a:r>
            <a:r>
              <a:rPr lang="en-IN" dirty="0"/>
              <a:t>element of a queue.</a:t>
            </a:r>
          </a:p>
          <a:p>
            <a:r>
              <a:rPr lang="en-IN" b="1" dirty="0">
                <a:solidFill>
                  <a:srgbClr val="C00000"/>
                </a:solidFill>
              </a:rPr>
              <a:t>R</a:t>
            </a:r>
            <a:r>
              <a:rPr lang="en-IN" dirty="0">
                <a:solidFill>
                  <a:srgbClr val="C00000"/>
                </a:solidFill>
              </a:rPr>
              <a:t> </a:t>
            </a:r>
            <a:r>
              <a:rPr lang="en-IN" dirty="0"/>
              <a:t>is pointer to the </a:t>
            </a:r>
            <a:r>
              <a:rPr lang="en-IN" b="1" dirty="0">
                <a:solidFill>
                  <a:srgbClr val="C00000"/>
                </a:solidFill>
              </a:rPr>
              <a:t>rear</a:t>
            </a:r>
            <a:r>
              <a:rPr lang="en-IN" dirty="0">
                <a:solidFill>
                  <a:srgbClr val="C00000"/>
                </a:solidFill>
              </a:rPr>
              <a:t> </a:t>
            </a:r>
            <a:r>
              <a:rPr lang="en-IN" dirty="0"/>
              <a:t>element of a queue.</a:t>
            </a:r>
            <a:endParaRPr lang="en-US" dirty="0"/>
          </a:p>
        </p:txBody>
      </p:sp>
      <p:sp>
        <p:nvSpPr>
          <p:cNvPr id="4" name="TextBox 3"/>
          <p:cNvSpPr txBox="1"/>
          <p:nvPr/>
        </p:nvSpPr>
        <p:spPr>
          <a:xfrm>
            <a:off x="424441" y="3069608"/>
            <a:ext cx="4191000" cy="3231654"/>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[Overflow?]</a:t>
            </a:r>
          </a:p>
          <a:p>
            <a:r>
              <a:rPr lang="en-IN" b="1" dirty="0">
                <a:solidFill>
                  <a:schemeClr val="tx2">
                    <a:lumMod val="75000"/>
                  </a:schemeClr>
                </a:solidFill>
                <a:latin typeface="Consolas" pitchFamily="49" charset="0"/>
                <a:cs typeface="Consolas" pitchFamily="49" charset="0"/>
              </a:rPr>
              <a:t>   If</a:t>
            </a:r>
            <a:r>
              <a:rPr lang="en-IN" b="1" dirty="0">
                <a:latin typeface="Consolas" pitchFamily="49" charset="0"/>
                <a:cs typeface="Consolas" pitchFamily="49" charset="0"/>
              </a:rPr>
              <a:t> 	  </a:t>
            </a:r>
            <a:r>
              <a:rPr lang="en-IN" dirty="0">
                <a:latin typeface="Consolas" pitchFamily="49" charset="0"/>
                <a:cs typeface="Consolas" pitchFamily="49" charset="0"/>
              </a:rPr>
              <a:t>F = 0</a:t>
            </a:r>
          </a:p>
          <a:p>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b="1" dirty="0">
                <a:latin typeface="Consolas" pitchFamily="49" charset="0"/>
                <a:cs typeface="Consolas" pitchFamily="49" charset="0"/>
              </a:rPr>
              <a:t>  </a:t>
            </a:r>
            <a:r>
              <a:rPr lang="en-IN" dirty="0">
                <a:latin typeface="Consolas" pitchFamily="49" charset="0"/>
                <a:cs typeface="Consolas" pitchFamily="49" charset="0"/>
              </a:rPr>
              <a:t>Write(‘Overflow’)</a:t>
            </a:r>
          </a:p>
          <a:p>
            <a:r>
              <a:rPr lang="en-IN" b="1" dirty="0">
                <a:latin typeface="Consolas" pitchFamily="49" charset="0"/>
                <a:cs typeface="Consolas" pitchFamily="49" charset="0"/>
              </a:rPr>
              <a:t>         </a:t>
            </a:r>
            <a:r>
              <a:rPr lang="en-IN" dirty="0">
                <a:latin typeface="Consolas" pitchFamily="49" charset="0"/>
                <a:cs typeface="Consolas" pitchFamily="49" charset="0"/>
              </a:rPr>
              <a:t>Return</a:t>
            </a:r>
          </a:p>
          <a:p>
            <a:r>
              <a:rPr lang="en-IN" sz="2000" b="1" dirty="0">
                <a:solidFill>
                  <a:schemeClr val="tx2"/>
                </a:solidFill>
                <a:latin typeface="Consolas" pitchFamily="49" charset="0"/>
                <a:cs typeface="Consolas" pitchFamily="49" charset="0"/>
              </a:rPr>
              <a:t>2. [Update front Pointer]</a:t>
            </a:r>
          </a:p>
          <a:p>
            <a:r>
              <a:rPr lang="en-IN" b="1" dirty="0">
                <a:solidFill>
                  <a:schemeClr val="tx2">
                    <a:lumMod val="75000"/>
                  </a:schemeClr>
                </a:solidFill>
                <a:latin typeface="Consolas" pitchFamily="49" charset="0"/>
                <a:cs typeface="Consolas" pitchFamily="49" charset="0"/>
              </a:rPr>
              <a:t>   If</a:t>
            </a:r>
            <a:r>
              <a:rPr lang="en-IN" b="1" dirty="0">
                <a:latin typeface="Consolas" pitchFamily="49" charset="0"/>
                <a:cs typeface="Consolas" pitchFamily="49" charset="0"/>
              </a:rPr>
              <a:t> 	  </a:t>
            </a:r>
            <a:r>
              <a:rPr lang="en-IN" dirty="0">
                <a:latin typeface="Consolas" pitchFamily="49" charset="0"/>
                <a:cs typeface="Consolas" pitchFamily="49" charset="0"/>
              </a:rPr>
              <a:t>F = -1</a:t>
            </a:r>
          </a:p>
          <a:p>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b="1" dirty="0">
                <a:latin typeface="Consolas" pitchFamily="49" charset="0"/>
                <a:cs typeface="Consolas" pitchFamily="49" charset="0"/>
              </a:rPr>
              <a:t>  </a:t>
            </a:r>
            <a:r>
              <a:rPr lang="en-IN" dirty="0">
                <a:latin typeface="Consolas" pitchFamily="49" charset="0"/>
                <a:cs typeface="Consolas" pitchFamily="49" charset="0"/>
              </a:rPr>
              <a:t>F </a:t>
            </a:r>
            <a:r>
              <a:rPr lang="en-IN" dirty="0">
                <a:latin typeface="Consolas" pitchFamily="49" charset="0"/>
                <a:cs typeface="Consolas" pitchFamily="49" charset="0"/>
                <a:sym typeface="Wingdings" panose="05000000000000000000" pitchFamily="2" charset="2"/>
              </a:rPr>
              <a:t> R  0</a:t>
            </a:r>
            <a:endParaRPr lang="en-IN" dirty="0">
              <a:latin typeface="Consolas" pitchFamily="49" charset="0"/>
              <a:cs typeface="Consolas" pitchFamily="49" charset="0"/>
            </a:endParaRPr>
          </a:p>
          <a:p>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Else</a:t>
            </a:r>
            <a:r>
              <a:rPr lang="en-IN" b="1" dirty="0">
                <a:latin typeface="Consolas" pitchFamily="49" charset="0"/>
                <a:cs typeface="Consolas" pitchFamily="49" charset="0"/>
              </a:rPr>
              <a:t>  </a:t>
            </a:r>
            <a:r>
              <a:rPr lang="en-IN" dirty="0">
                <a:latin typeface="Consolas" pitchFamily="49" charset="0"/>
                <a:cs typeface="Consolas" pitchFamily="49" charset="0"/>
              </a:rPr>
              <a:t>F </a:t>
            </a:r>
            <a:r>
              <a:rPr lang="en-IN" dirty="0">
                <a:latin typeface="Consolas" pitchFamily="49" charset="0"/>
                <a:cs typeface="Consolas" pitchFamily="49" charset="0"/>
                <a:sym typeface="Wingdings" pitchFamily="2" charset="2"/>
              </a:rPr>
              <a:t> F - 1</a:t>
            </a:r>
          </a:p>
          <a:p>
            <a:r>
              <a:rPr lang="en-IN" sz="2000" b="1" dirty="0">
                <a:solidFill>
                  <a:schemeClr val="tx2"/>
                </a:solidFill>
                <a:latin typeface="Consolas" pitchFamily="49" charset="0"/>
                <a:cs typeface="Consolas" pitchFamily="49" charset="0"/>
              </a:rPr>
              <a:t>3. [Insert Element]</a:t>
            </a:r>
          </a:p>
          <a:p>
            <a:r>
              <a:rPr lang="en-IN" b="1" dirty="0">
                <a:latin typeface="Consolas" pitchFamily="49" charset="0"/>
                <a:cs typeface="Consolas" pitchFamily="49" charset="0"/>
              </a:rPr>
              <a:t>   </a:t>
            </a:r>
            <a:r>
              <a:rPr lang="en-IN" dirty="0">
                <a:latin typeface="Consolas" pitchFamily="49" charset="0"/>
                <a:cs typeface="Consolas" pitchFamily="49" charset="0"/>
              </a:rPr>
              <a:t>Q[F] </a:t>
            </a:r>
            <a:r>
              <a:rPr lang="en-IN" dirty="0">
                <a:latin typeface="Consolas" pitchFamily="49" charset="0"/>
                <a:cs typeface="Consolas" pitchFamily="49" charset="0"/>
                <a:sym typeface="Wingdings" pitchFamily="2" charset="2"/>
              </a:rPr>
              <a:t> Y</a:t>
            </a:r>
          </a:p>
          <a:p>
            <a:r>
              <a:rPr lang="en-IN" dirty="0">
                <a:latin typeface="Consolas" pitchFamily="49" charset="0"/>
                <a:cs typeface="Consolas" pitchFamily="49" charset="0"/>
                <a:sym typeface="Wingdings" pitchFamily="2" charset="2"/>
              </a:rPr>
              <a:t>   Return </a:t>
            </a:r>
            <a:endParaRPr lang="en-IN" dirty="0">
              <a:latin typeface="Consolas" pitchFamily="49" charset="0"/>
              <a:cs typeface="Consolas" pitchFamily="49" charset="0"/>
            </a:endParaRPr>
          </a:p>
        </p:txBody>
      </p:sp>
      <p:grpSp>
        <p:nvGrpSpPr>
          <p:cNvPr id="5" name="Group 4"/>
          <p:cNvGrpSpPr/>
          <p:nvPr/>
        </p:nvGrpSpPr>
        <p:grpSpPr>
          <a:xfrm>
            <a:off x="4811972" y="3612054"/>
            <a:ext cx="2655064" cy="457200"/>
            <a:chOff x="5486400" y="1219200"/>
            <a:chExt cx="2655064" cy="457200"/>
          </a:xfrm>
        </p:grpSpPr>
        <p:sp>
          <p:nvSpPr>
            <p:cNvPr id="6" name="Rectangle 5"/>
            <p:cNvSpPr/>
            <p:nvPr/>
          </p:nvSpPr>
          <p:spPr>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10</a:t>
              </a:r>
              <a:endParaRPr lang="en-US" b="1" dirty="0"/>
            </a:p>
          </p:txBody>
        </p:sp>
        <p:sp>
          <p:nvSpPr>
            <p:cNvPr id="7" name="Rectangle 6"/>
            <p:cNvSpPr/>
            <p:nvPr/>
          </p:nvSpPr>
          <p:spPr>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89</a:t>
              </a:r>
              <a:endParaRPr lang="en-US" b="1" dirty="0"/>
            </a:p>
          </p:txBody>
        </p:sp>
        <p:sp>
          <p:nvSpPr>
            <p:cNvPr id="8" name="Rectangle 7"/>
            <p:cNvSpPr/>
            <p:nvPr/>
          </p:nvSpPr>
          <p:spPr>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7</a:t>
              </a:r>
              <a:endParaRPr lang="en-US" b="1" dirty="0"/>
            </a:p>
          </p:txBody>
        </p:sp>
        <p:sp>
          <p:nvSpPr>
            <p:cNvPr id="9" name="Rectangle 8"/>
            <p:cNvSpPr/>
            <p:nvPr/>
          </p:nvSpPr>
          <p:spPr>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p:nvGrpSpPr>
        <p:grpSpPr>
          <a:xfrm>
            <a:off x="4811972" y="5503202"/>
            <a:ext cx="2655064" cy="457200"/>
            <a:chOff x="5486400" y="1219200"/>
            <a:chExt cx="2655064" cy="457200"/>
          </a:xfrm>
        </p:grpSpPr>
        <p:sp>
          <p:nvSpPr>
            <p:cNvPr id="12" name="Rectangle 11"/>
            <p:cNvSpPr/>
            <p:nvPr/>
          </p:nvSpPr>
          <p:spPr>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10</a:t>
              </a:r>
              <a:endParaRPr lang="en-US" b="1" dirty="0"/>
            </a:p>
          </p:txBody>
        </p:sp>
        <p:sp>
          <p:nvSpPr>
            <p:cNvPr id="15" name="Rectangle 14"/>
            <p:cNvSpPr/>
            <p:nvPr/>
          </p:nvSpPr>
          <p:spPr>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89</a:t>
              </a:r>
              <a:endParaRPr lang="en-US" b="1" dirty="0"/>
            </a:p>
          </p:txBody>
        </p:sp>
        <p:sp>
          <p:nvSpPr>
            <p:cNvPr id="16" name="Rectangle 15"/>
            <p:cNvSpPr/>
            <p:nvPr/>
          </p:nvSpPr>
          <p:spPr>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7</a:t>
              </a:r>
              <a:endParaRPr lang="en-US" b="1" dirty="0"/>
            </a:p>
          </p:txBody>
        </p:sp>
      </p:grpSp>
      <p:sp>
        <p:nvSpPr>
          <p:cNvPr id="17" name="TextBox 16"/>
          <p:cNvSpPr txBox="1"/>
          <p:nvPr/>
        </p:nvSpPr>
        <p:spPr>
          <a:xfrm>
            <a:off x="4811972" y="2859198"/>
            <a:ext cx="526978" cy="371856"/>
          </a:xfrm>
          <a:prstGeom prst="rect">
            <a:avLst/>
          </a:prstGeom>
          <a:noFill/>
        </p:spPr>
        <p:txBody>
          <a:bodyPr wrap="square" rtlCol="0">
            <a:spAutoFit/>
          </a:bodyPr>
          <a:lstStyle/>
          <a:p>
            <a:pPr algn="ctr"/>
            <a:r>
              <a:rPr lang="en-IN" b="1" dirty="0">
                <a:solidFill>
                  <a:srgbClr val="C00000"/>
                </a:solidFill>
              </a:rPr>
              <a:t>F</a:t>
            </a:r>
            <a:endParaRPr lang="en-US" b="1" dirty="0">
              <a:solidFill>
                <a:srgbClr val="C00000"/>
              </a:solidFill>
            </a:endParaRPr>
          </a:p>
        </p:txBody>
      </p:sp>
      <p:cxnSp>
        <p:nvCxnSpPr>
          <p:cNvPr id="25" name="Straight Arrow Connector 24"/>
          <p:cNvCxnSpPr>
            <a:cxnSpLocks/>
            <a:stCxn id="17" idx="2"/>
            <a:endCxn id="6" idx="0"/>
          </p:cNvCxnSpPr>
          <p:nvPr/>
        </p:nvCxnSpPr>
        <p:spPr>
          <a:xfrm>
            <a:off x="5075462" y="3231054"/>
            <a:ext cx="3211" cy="3810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6" name="TextBox 25"/>
          <p:cNvSpPr txBox="1"/>
          <p:nvPr/>
        </p:nvSpPr>
        <p:spPr>
          <a:xfrm>
            <a:off x="5867766" y="2850054"/>
            <a:ext cx="526978" cy="371856"/>
          </a:xfrm>
          <a:prstGeom prst="rect">
            <a:avLst/>
          </a:prstGeom>
          <a:noFill/>
        </p:spPr>
        <p:txBody>
          <a:bodyPr wrap="square" rtlCol="0">
            <a:spAutoFit/>
          </a:bodyPr>
          <a:lstStyle/>
          <a:p>
            <a:pPr algn="ctr"/>
            <a:r>
              <a:rPr lang="en-IN" b="1" dirty="0">
                <a:solidFill>
                  <a:srgbClr val="C00000"/>
                </a:solidFill>
              </a:rPr>
              <a:t>R</a:t>
            </a:r>
            <a:endParaRPr lang="en-US" b="1" dirty="0">
              <a:solidFill>
                <a:srgbClr val="C00000"/>
              </a:solidFill>
            </a:endParaRPr>
          </a:p>
        </p:txBody>
      </p:sp>
      <p:cxnSp>
        <p:nvCxnSpPr>
          <p:cNvPr id="28" name="Straight Arrow Connector 27"/>
          <p:cNvCxnSpPr>
            <a:cxnSpLocks/>
            <a:stCxn id="26" idx="2"/>
            <a:endCxn id="8" idx="0"/>
          </p:cNvCxnSpPr>
          <p:nvPr/>
        </p:nvCxnSpPr>
        <p:spPr>
          <a:xfrm>
            <a:off x="6131256" y="3221910"/>
            <a:ext cx="3211" cy="39014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34" name="Group 33"/>
          <p:cNvGrpSpPr/>
          <p:nvPr/>
        </p:nvGrpSpPr>
        <p:grpSpPr>
          <a:xfrm>
            <a:off x="5860674" y="4753122"/>
            <a:ext cx="526978" cy="752856"/>
            <a:chOff x="5974406" y="4300728"/>
            <a:chExt cx="526978" cy="752856"/>
          </a:xfrm>
        </p:grpSpPr>
        <p:sp>
          <p:nvSpPr>
            <p:cNvPr id="29" name="TextBox 28"/>
            <p:cNvSpPr txBox="1"/>
            <p:nvPr/>
          </p:nvSpPr>
          <p:spPr>
            <a:xfrm>
              <a:off x="5974406" y="4300728"/>
              <a:ext cx="526978" cy="371856"/>
            </a:xfrm>
            <a:prstGeom prst="rect">
              <a:avLst/>
            </a:prstGeom>
            <a:noFill/>
          </p:spPr>
          <p:txBody>
            <a:bodyPr wrap="square" rtlCol="0">
              <a:spAutoFit/>
            </a:bodyPr>
            <a:lstStyle/>
            <a:p>
              <a:pPr algn="ctr"/>
              <a:r>
                <a:rPr lang="en-IN" b="1" dirty="0">
                  <a:solidFill>
                    <a:srgbClr val="C00000"/>
                  </a:solidFill>
                </a:rPr>
                <a:t>F</a:t>
              </a:r>
              <a:endParaRPr lang="en-US" b="1" dirty="0">
                <a:solidFill>
                  <a:srgbClr val="C00000"/>
                </a:solidFill>
              </a:endParaRPr>
            </a:p>
          </p:txBody>
        </p:sp>
        <p:cxnSp>
          <p:nvCxnSpPr>
            <p:cNvPr id="30" name="Straight Arrow Connector 29"/>
            <p:cNvCxnSpPr>
              <a:stCxn id="29" idx="2"/>
            </p:cNvCxnSpPr>
            <p:nvPr/>
          </p:nvCxnSpPr>
          <p:spPr>
            <a:xfrm>
              <a:off x="6237895" y="4672584"/>
              <a:ext cx="3211" cy="3810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35" name="Group 34"/>
          <p:cNvGrpSpPr/>
          <p:nvPr/>
        </p:nvGrpSpPr>
        <p:grpSpPr>
          <a:xfrm>
            <a:off x="6903090" y="4719594"/>
            <a:ext cx="526978" cy="762000"/>
            <a:chOff x="7016822" y="4267200"/>
            <a:chExt cx="526978" cy="762000"/>
          </a:xfrm>
        </p:grpSpPr>
        <p:sp>
          <p:nvSpPr>
            <p:cNvPr id="31" name="TextBox 30"/>
            <p:cNvSpPr txBox="1"/>
            <p:nvPr/>
          </p:nvSpPr>
          <p:spPr>
            <a:xfrm>
              <a:off x="7016822" y="4267200"/>
              <a:ext cx="526978" cy="371856"/>
            </a:xfrm>
            <a:prstGeom prst="rect">
              <a:avLst/>
            </a:prstGeom>
            <a:noFill/>
          </p:spPr>
          <p:txBody>
            <a:bodyPr wrap="square" rtlCol="0">
              <a:spAutoFit/>
            </a:bodyPr>
            <a:lstStyle/>
            <a:p>
              <a:pPr algn="ctr"/>
              <a:r>
                <a:rPr lang="en-IN" b="1" dirty="0">
                  <a:solidFill>
                    <a:srgbClr val="C00000"/>
                  </a:solidFill>
                </a:rPr>
                <a:t>R</a:t>
              </a:r>
              <a:endParaRPr lang="en-US" b="1" dirty="0">
                <a:solidFill>
                  <a:srgbClr val="C00000"/>
                </a:solidFill>
              </a:endParaRPr>
            </a:p>
          </p:txBody>
        </p:sp>
        <p:cxnSp>
          <p:nvCxnSpPr>
            <p:cNvPr id="32" name="Straight Arrow Connector 31"/>
            <p:cNvCxnSpPr>
              <a:stCxn id="31" idx="2"/>
            </p:cNvCxnSpPr>
            <p:nvPr/>
          </p:nvCxnSpPr>
          <p:spPr>
            <a:xfrm>
              <a:off x="7280311" y="4639056"/>
              <a:ext cx="3211" cy="39014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33" name="TextBox 32"/>
          <p:cNvSpPr txBox="1"/>
          <p:nvPr/>
        </p:nvSpPr>
        <p:spPr>
          <a:xfrm>
            <a:off x="7675894" y="3651154"/>
            <a:ext cx="1098478" cy="369332"/>
          </a:xfrm>
          <a:prstGeom prst="rect">
            <a:avLst/>
          </a:prstGeom>
          <a:noFill/>
        </p:spPr>
        <p:txBody>
          <a:bodyPr wrap="square" rtlCol="0">
            <a:spAutoFit/>
          </a:bodyPr>
          <a:lstStyle/>
          <a:p>
            <a:r>
              <a:rPr lang="en-IN" b="1" dirty="0">
                <a:solidFill>
                  <a:srgbClr val="C00000"/>
                </a:solidFill>
              </a:rPr>
              <a:t>Overflow</a:t>
            </a:r>
            <a:endParaRPr lang="en-US" b="1" dirty="0">
              <a:solidFill>
                <a:srgbClr val="C00000"/>
              </a:solidFill>
            </a:endParaRPr>
          </a:p>
        </p:txBody>
      </p:sp>
      <p:sp>
        <p:nvSpPr>
          <p:cNvPr id="36" name="TextBox 35"/>
          <p:cNvSpPr txBox="1"/>
          <p:nvPr/>
        </p:nvSpPr>
        <p:spPr>
          <a:xfrm>
            <a:off x="5378764" y="5640655"/>
            <a:ext cx="457200" cy="369332"/>
          </a:xfrm>
          <a:prstGeom prst="rect">
            <a:avLst/>
          </a:prstGeom>
          <a:noFill/>
        </p:spPr>
        <p:txBody>
          <a:bodyPr wrap="square" rtlCol="0">
            <a:spAutoFit/>
          </a:bodyPr>
          <a:lstStyle/>
          <a:p>
            <a:pPr algn="ctr"/>
            <a:r>
              <a:rPr lang="en-IN" b="1" dirty="0">
                <a:solidFill>
                  <a:schemeClr val="bg1"/>
                </a:solidFill>
              </a:rPr>
              <a:t>50</a:t>
            </a:r>
            <a:endParaRPr lang="en-US" b="1" dirty="0">
              <a:solidFill>
                <a:schemeClr val="bg1"/>
              </a:solidFill>
            </a:endParaRPr>
          </a:p>
        </p:txBody>
      </p:sp>
      <p:graphicFrame>
        <p:nvGraphicFramePr>
          <p:cNvPr id="18" name="Table 17">
            <a:extLst>
              <a:ext uri="{FF2B5EF4-FFF2-40B4-BE49-F238E27FC236}">
                <a16:creationId xmlns:a16="http://schemas.microsoft.com/office/drawing/2014/main" id="{E1CD62F9-47B2-B8B9-13E5-BB179AC59B62}"/>
              </a:ext>
            </a:extLst>
          </p:cNvPr>
          <p:cNvGraphicFramePr>
            <a:graphicFrameLocks noGrp="1"/>
          </p:cNvGraphicFramePr>
          <p:nvPr>
            <p:extLst/>
          </p:nvPr>
        </p:nvGraphicFramePr>
        <p:xfrm>
          <a:off x="4726817" y="3963443"/>
          <a:ext cx="2808875" cy="457200"/>
        </p:xfrm>
        <a:graphic>
          <a:graphicData uri="http://schemas.openxmlformats.org/drawingml/2006/table">
            <a:tbl>
              <a:tblPr firstRow="1" bandRow="1">
                <a:tableStyleId>{2D5ABB26-0587-4C30-8999-92F81FD0307C}</a:tableStyleId>
              </a:tblPr>
              <a:tblGrid>
                <a:gridCol w="561775">
                  <a:extLst>
                    <a:ext uri="{9D8B030D-6E8A-4147-A177-3AD203B41FA5}">
                      <a16:colId xmlns:a16="http://schemas.microsoft.com/office/drawing/2014/main" val="3005917500"/>
                    </a:ext>
                  </a:extLst>
                </a:gridCol>
                <a:gridCol w="561775">
                  <a:extLst>
                    <a:ext uri="{9D8B030D-6E8A-4147-A177-3AD203B41FA5}">
                      <a16:colId xmlns:a16="http://schemas.microsoft.com/office/drawing/2014/main" val="2481260891"/>
                    </a:ext>
                  </a:extLst>
                </a:gridCol>
                <a:gridCol w="561775">
                  <a:extLst>
                    <a:ext uri="{9D8B030D-6E8A-4147-A177-3AD203B41FA5}">
                      <a16:colId xmlns:a16="http://schemas.microsoft.com/office/drawing/2014/main" val="1090167681"/>
                    </a:ext>
                  </a:extLst>
                </a:gridCol>
                <a:gridCol w="561775">
                  <a:extLst>
                    <a:ext uri="{9D8B030D-6E8A-4147-A177-3AD203B41FA5}">
                      <a16:colId xmlns:a16="http://schemas.microsoft.com/office/drawing/2014/main" val="2552463474"/>
                    </a:ext>
                  </a:extLst>
                </a:gridCol>
                <a:gridCol w="561775">
                  <a:extLst>
                    <a:ext uri="{9D8B030D-6E8A-4147-A177-3AD203B41FA5}">
                      <a16:colId xmlns:a16="http://schemas.microsoft.com/office/drawing/2014/main" val="136120702"/>
                    </a:ext>
                  </a:extLst>
                </a:gridCol>
              </a:tblGrid>
              <a:tr h="457200">
                <a:tc>
                  <a:txBody>
                    <a:bodyPr/>
                    <a:lstStyle/>
                    <a:p>
                      <a:pPr algn="ctr"/>
                      <a:r>
                        <a:rPr lang="en-IN" sz="1600" dirty="0"/>
                        <a:t>0</a:t>
                      </a:r>
                    </a:p>
                  </a:txBody>
                  <a:tcPr anchor="ctr"/>
                </a:tc>
                <a:tc>
                  <a:txBody>
                    <a:bodyPr/>
                    <a:lstStyle/>
                    <a:p>
                      <a:pPr algn="ctr"/>
                      <a:r>
                        <a:rPr lang="en-IN" sz="1600" dirty="0"/>
                        <a:t>1</a:t>
                      </a:r>
                    </a:p>
                  </a:txBody>
                  <a:tcPr anchor="ctr"/>
                </a:tc>
                <a:tc>
                  <a:txBody>
                    <a:bodyPr/>
                    <a:lstStyle/>
                    <a:p>
                      <a:pPr algn="ctr"/>
                      <a:r>
                        <a:rPr lang="en-IN" sz="1600" dirty="0"/>
                        <a:t>2</a:t>
                      </a:r>
                    </a:p>
                  </a:txBody>
                  <a:tcPr anchor="ctr"/>
                </a:tc>
                <a:tc>
                  <a:txBody>
                    <a:bodyPr/>
                    <a:lstStyle/>
                    <a:p>
                      <a:pPr algn="ctr"/>
                      <a:r>
                        <a:rPr lang="en-IN" sz="1600" dirty="0"/>
                        <a:t>3</a:t>
                      </a:r>
                    </a:p>
                  </a:txBody>
                  <a:tcPr anchor="ctr"/>
                </a:tc>
                <a:tc>
                  <a:txBody>
                    <a:bodyPr/>
                    <a:lstStyle/>
                    <a:p>
                      <a:pPr algn="ctr"/>
                      <a:r>
                        <a:rPr lang="en-IN" sz="1600" dirty="0"/>
                        <a:t>4</a:t>
                      </a:r>
                    </a:p>
                  </a:txBody>
                  <a:tcPr anchor="ctr"/>
                </a:tc>
                <a:extLst>
                  <a:ext uri="{0D108BD9-81ED-4DB2-BD59-A6C34878D82A}">
                    <a16:rowId xmlns:a16="http://schemas.microsoft.com/office/drawing/2014/main" val="224905694"/>
                  </a:ext>
                </a:extLst>
              </a:tr>
            </a:tbl>
          </a:graphicData>
        </a:graphic>
      </p:graphicFrame>
      <p:graphicFrame>
        <p:nvGraphicFramePr>
          <p:cNvPr id="19" name="Table 18">
            <a:extLst>
              <a:ext uri="{FF2B5EF4-FFF2-40B4-BE49-F238E27FC236}">
                <a16:creationId xmlns:a16="http://schemas.microsoft.com/office/drawing/2014/main" id="{A611B13B-CF4D-9B96-4F13-8371DCE05CF7}"/>
              </a:ext>
            </a:extLst>
          </p:cNvPr>
          <p:cNvGraphicFramePr>
            <a:graphicFrameLocks noGrp="1"/>
          </p:cNvGraphicFramePr>
          <p:nvPr>
            <p:extLst/>
          </p:nvPr>
        </p:nvGraphicFramePr>
        <p:xfrm>
          <a:off x="4767686" y="5874719"/>
          <a:ext cx="2808875" cy="457200"/>
        </p:xfrm>
        <a:graphic>
          <a:graphicData uri="http://schemas.openxmlformats.org/drawingml/2006/table">
            <a:tbl>
              <a:tblPr firstRow="1" bandRow="1">
                <a:tableStyleId>{2D5ABB26-0587-4C30-8999-92F81FD0307C}</a:tableStyleId>
              </a:tblPr>
              <a:tblGrid>
                <a:gridCol w="561775">
                  <a:extLst>
                    <a:ext uri="{9D8B030D-6E8A-4147-A177-3AD203B41FA5}">
                      <a16:colId xmlns:a16="http://schemas.microsoft.com/office/drawing/2014/main" val="3005917500"/>
                    </a:ext>
                  </a:extLst>
                </a:gridCol>
                <a:gridCol w="561775">
                  <a:extLst>
                    <a:ext uri="{9D8B030D-6E8A-4147-A177-3AD203B41FA5}">
                      <a16:colId xmlns:a16="http://schemas.microsoft.com/office/drawing/2014/main" val="2481260891"/>
                    </a:ext>
                  </a:extLst>
                </a:gridCol>
                <a:gridCol w="561775">
                  <a:extLst>
                    <a:ext uri="{9D8B030D-6E8A-4147-A177-3AD203B41FA5}">
                      <a16:colId xmlns:a16="http://schemas.microsoft.com/office/drawing/2014/main" val="1090167681"/>
                    </a:ext>
                  </a:extLst>
                </a:gridCol>
                <a:gridCol w="561775">
                  <a:extLst>
                    <a:ext uri="{9D8B030D-6E8A-4147-A177-3AD203B41FA5}">
                      <a16:colId xmlns:a16="http://schemas.microsoft.com/office/drawing/2014/main" val="2552463474"/>
                    </a:ext>
                  </a:extLst>
                </a:gridCol>
                <a:gridCol w="561775">
                  <a:extLst>
                    <a:ext uri="{9D8B030D-6E8A-4147-A177-3AD203B41FA5}">
                      <a16:colId xmlns:a16="http://schemas.microsoft.com/office/drawing/2014/main" val="136120702"/>
                    </a:ext>
                  </a:extLst>
                </a:gridCol>
              </a:tblGrid>
              <a:tr h="457200">
                <a:tc>
                  <a:txBody>
                    <a:bodyPr/>
                    <a:lstStyle/>
                    <a:p>
                      <a:pPr algn="ctr"/>
                      <a:r>
                        <a:rPr lang="en-IN" sz="1600" dirty="0"/>
                        <a:t>0</a:t>
                      </a:r>
                    </a:p>
                  </a:txBody>
                  <a:tcPr anchor="ctr"/>
                </a:tc>
                <a:tc>
                  <a:txBody>
                    <a:bodyPr/>
                    <a:lstStyle/>
                    <a:p>
                      <a:pPr algn="ctr"/>
                      <a:r>
                        <a:rPr lang="en-IN" sz="1600" dirty="0"/>
                        <a:t>1</a:t>
                      </a:r>
                    </a:p>
                  </a:txBody>
                  <a:tcPr anchor="ctr"/>
                </a:tc>
                <a:tc>
                  <a:txBody>
                    <a:bodyPr/>
                    <a:lstStyle/>
                    <a:p>
                      <a:pPr algn="ctr"/>
                      <a:r>
                        <a:rPr lang="en-IN" sz="1600" dirty="0"/>
                        <a:t>2</a:t>
                      </a:r>
                    </a:p>
                  </a:txBody>
                  <a:tcPr anchor="ctr"/>
                </a:tc>
                <a:tc>
                  <a:txBody>
                    <a:bodyPr/>
                    <a:lstStyle/>
                    <a:p>
                      <a:pPr algn="ctr"/>
                      <a:r>
                        <a:rPr lang="en-IN" sz="1600" dirty="0"/>
                        <a:t>3</a:t>
                      </a:r>
                    </a:p>
                  </a:txBody>
                  <a:tcPr anchor="ctr"/>
                </a:tc>
                <a:tc>
                  <a:txBody>
                    <a:bodyPr/>
                    <a:lstStyle/>
                    <a:p>
                      <a:pPr algn="ctr"/>
                      <a:r>
                        <a:rPr lang="en-IN" sz="1600" dirty="0"/>
                        <a:t>4</a:t>
                      </a:r>
                    </a:p>
                  </a:txBody>
                  <a:tcPr anchor="ctr"/>
                </a:tc>
                <a:extLst>
                  <a:ext uri="{0D108BD9-81ED-4DB2-BD59-A6C34878D82A}">
                    <a16:rowId xmlns:a16="http://schemas.microsoft.com/office/drawing/2014/main" val="224905694"/>
                  </a:ext>
                </a:extLst>
              </a:tr>
            </a:tbl>
          </a:graphicData>
        </a:graphic>
      </p:graphicFrame>
    </p:spTree>
    <p:extLst>
      <p:ext uri="{BB962C8B-B14F-4D97-AF65-F5344CB8AC3E}">
        <p14:creationId xmlns:p14="http://schemas.microsoft.com/office/powerpoint/2010/main" val="1513326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4" end="4"/>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
                                            <p:txEl>
                                              <p:pRg st="7" end="7"/>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
                                            <p:txEl>
                                              <p:pRg st="5" end="5"/>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35" presetClass="path" presetSubtype="0" accel="50000" decel="50000" fill="hold" nodeType="clickEffect">
                                  <p:stCondLst>
                                    <p:cond delay="0"/>
                                  </p:stCondLst>
                                  <p:childTnLst>
                                    <p:animMotion origin="layout" path="M -3.75E-6 3.33333E-6 L -0.04257 3.33333E-6 " pathEditMode="relative" rAng="0" ptsTypes="AA">
                                      <p:cBhvr>
                                        <p:cTn id="80" dur="2000" fill="hold"/>
                                        <p:tgtEl>
                                          <p:spTgt spid="34"/>
                                        </p:tgtEl>
                                        <p:attrNameLst>
                                          <p:attrName>ppt_x</p:attrName>
                                          <p:attrName>ppt_y</p:attrName>
                                        </p:attrNameLst>
                                      </p:cBhvr>
                                      <p:rCtr x="-2135" y="0"/>
                                    </p:animMotion>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4">
                                            <p:txEl>
                                              <p:pRg st="8" end="8"/>
                                            </p:txEl>
                                          </p:spTgt>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4">
                                            <p:txEl>
                                              <p:pRg st="9" end="9"/>
                                            </p:txEl>
                                          </p:spTgt>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p:bldP spid="26" grpId="0"/>
      <p:bldP spid="33" grpId="0"/>
      <p:bldP spid="3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Function: DQDELETE_REAR(Q,F,R)</a:t>
            </a:r>
            <a:endParaRPr lang="en-US" dirty="0"/>
          </a:p>
        </p:txBody>
      </p:sp>
      <p:sp>
        <p:nvSpPr>
          <p:cNvPr id="3" name="Content Placeholder 2"/>
          <p:cNvSpPr>
            <a:spLocks noGrp="1"/>
          </p:cNvSpPr>
          <p:nvPr>
            <p:ph idx="1"/>
          </p:nvPr>
        </p:nvSpPr>
        <p:spPr/>
        <p:txBody>
          <a:bodyPr/>
          <a:lstStyle/>
          <a:p>
            <a:r>
              <a:rPr lang="en-IN" dirty="0"/>
              <a:t>This function </a:t>
            </a:r>
            <a:r>
              <a:rPr lang="en-IN" b="1" dirty="0">
                <a:solidFill>
                  <a:srgbClr val="C00000"/>
                </a:solidFill>
              </a:rPr>
              <a:t>deletes &amp; returns</a:t>
            </a:r>
            <a:r>
              <a:rPr lang="en-IN" b="1" dirty="0">
                <a:solidFill>
                  <a:srgbClr val="FF0000"/>
                </a:solidFill>
              </a:rPr>
              <a:t> </a:t>
            </a:r>
            <a:r>
              <a:rPr lang="en-IN" dirty="0"/>
              <a:t>an element from </a:t>
            </a:r>
            <a:r>
              <a:rPr lang="en-IN" b="1" dirty="0">
                <a:solidFill>
                  <a:srgbClr val="C00000"/>
                </a:solidFill>
              </a:rPr>
              <a:t>rear end</a:t>
            </a:r>
            <a:r>
              <a:rPr lang="en-IN" dirty="0">
                <a:solidFill>
                  <a:srgbClr val="C00000"/>
                </a:solidFill>
              </a:rPr>
              <a:t> </a:t>
            </a:r>
            <a:r>
              <a:rPr lang="en-IN" dirty="0"/>
              <a:t>of the Queue.</a:t>
            </a:r>
          </a:p>
          <a:p>
            <a:r>
              <a:rPr lang="en-IN" b="1" dirty="0">
                <a:solidFill>
                  <a:srgbClr val="C00000"/>
                </a:solidFill>
              </a:rPr>
              <a:t>Queue</a:t>
            </a:r>
            <a:r>
              <a:rPr lang="en-IN" dirty="0">
                <a:solidFill>
                  <a:srgbClr val="C00000"/>
                </a:solidFill>
              </a:rPr>
              <a:t> </a:t>
            </a:r>
            <a:r>
              <a:rPr lang="en-IN" dirty="0"/>
              <a:t>is represented by a vector </a:t>
            </a:r>
            <a:r>
              <a:rPr lang="en-IN" b="1" dirty="0">
                <a:solidFill>
                  <a:srgbClr val="C00000"/>
                </a:solidFill>
              </a:rPr>
              <a:t>Q</a:t>
            </a:r>
            <a:r>
              <a:rPr lang="en-IN" b="1" dirty="0">
                <a:solidFill>
                  <a:srgbClr val="FF0000"/>
                </a:solidFill>
              </a:rPr>
              <a:t> </a:t>
            </a:r>
            <a:r>
              <a:rPr lang="en-IN" dirty="0"/>
              <a:t>containing </a:t>
            </a:r>
            <a:r>
              <a:rPr lang="en-IN" b="1" dirty="0">
                <a:solidFill>
                  <a:srgbClr val="C00000"/>
                </a:solidFill>
              </a:rPr>
              <a:t>N</a:t>
            </a:r>
            <a:r>
              <a:rPr lang="en-IN" dirty="0">
                <a:solidFill>
                  <a:srgbClr val="C00000"/>
                </a:solidFill>
              </a:rPr>
              <a:t> </a:t>
            </a:r>
            <a:r>
              <a:rPr lang="en-IN" dirty="0"/>
              <a:t>elements.</a:t>
            </a:r>
          </a:p>
          <a:p>
            <a:r>
              <a:rPr lang="en-IN" b="1" dirty="0">
                <a:solidFill>
                  <a:srgbClr val="C00000"/>
                </a:solidFill>
              </a:rPr>
              <a:t>F</a:t>
            </a:r>
            <a:r>
              <a:rPr lang="en-IN" b="1" dirty="0">
                <a:solidFill>
                  <a:srgbClr val="FF0000"/>
                </a:solidFill>
              </a:rPr>
              <a:t> </a:t>
            </a:r>
            <a:r>
              <a:rPr lang="en-IN" dirty="0"/>
              <a:t>is pointer to the </a:t>
            </a:r>
            <a:r>
              <a:rPr lang="en-IN" b="1" dirty="0">
                <a:solidFill>
                  <a:schemeClr val="accent6"/>
                </a:solidFill>
              </a:rPr>
              <a:t>front</a:t>
            </a:r>
            <a:r>
              <a:rPr lang="en-IN" dirty="0"/>
              <a:t> element of a queue.</a:t>
            </a:r>
          </a:p>
          <a:p>
            <a:r>
              <a:rPr lang="en-IN" b="1" dirty="0">
                <a:solidFill>
                  <a:srgbClr val="C00000"/>
                </a:solidFill>
              </a:rPr>
              <a:t>R</a:t>
            </a:r>
            <a:r>
              <a:rPr lang="en-IN" b="1" dirty="0">
                <a:solidFill>
                  <a:srgbClr val="FF0000"/>
                </a:solidFill>
              </a:rPr>
              <a:t> </a:t>
            </a:r>
            <a:r>
              <a:rPr lang="en-IN" dirty="0"/>
              <a:t>is pointer to the </a:t>
            </a:r>
            <a:r>
              <a:rPr lang="en-IN" b="1" dirty="0">
                <a:solidFill>
                  <a:srgbClr val="C00000"/>
                </a:solidFill>
              </a:rPr>
              <a:t>rear</a:t>
            </a:r>
            <a:r>
              <a:rPr lang="en-IN" dirty="0">
                <a:solidFill>
                  <a:srgbClr val="C00000"/>
                </a:solidFill>
              </a:rPr>
              <a:t> </a:t>
            </a:r>
            <a:r>
              <a:rPr lang="en-IN" dirty="0"/>
              <a:t>element of a queue.</a:t>
            </a:r>
            <a:endParaRPr lang="en-US" dirty="0"/>
          </a:p>
        </p:txBody>
      </p:sp>
      <p:sp>
        <p:nvSpPr>
          <p:cNvPr id="4" name="TextBox 3"/>
          <p:cNvSpPr txBox="1"/>
          <p:nvPr/>
        </p:nvSpPr>
        <p:spPr>
          <a:xfrm>
            <a:off x="504964" y="2947417"/>
            <a:ext cx="4191000" cy="3508653"/>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[Underflow?]</a:t>
            </a:r>
          </a:p>
          <a:p>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If</a:t>
            </a:r>
            <a:r>
              <a:rPr lang="en-IN" dirty="0">
                <a:latin typeface="Consolas" pitchFamily="49" charset="0"/>
                <a:cs typeface="Consolas" pitchFamily="49" charset="0"/>
              </a:rPr>
              <a:t> 	  R = -1</a:t>
            </a:r>
          </a:p>
          <a:p>
            <a:r>
              <a:rPr lang="en-IN"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dirty="0">
                <a:latin typeface="Consolas" pitchFamily="49" charset="0"/>
                <a:cs typeface="Consolas" pitchFamily="49" charset="0"/>
              </a:rPr>
              <a:t>  Write(‘Underflow’)</a:t>
            </a:r>
          </a:p>
          <a:p>
            <a:r>
              <a:rPr lang="en-IN" dirty="0">
                <a:latin typeface="Consolas" pitchFamily="49" charset="0"/>
                <a:cs typeface="Consolas" pitchFamily="49" charset="0"/>
              </a:rPr>
              <a:t>         Return(-1)</a:t>
            </a:r>
          </a:p>
          <a:p>
            <a:r>
              <a:rPr lang="en-IN" sz="2000" b="1" dirty="0">
                <a:solidFill>
                  <a:schemeClr val="tx2"/>
                </a:solidFill>
                <a:latin typeface="Consolas" pitchFamily="49" charset="0"/>
                <a:cs typeface="Consolas" pitchFamily="49" charset="0"/>
              </a:rPr>
              <a:t>2. [Delete Element]</a:t>
            </a:r>
          </a:p>
          <a:p>
            <a:r>
              <a:rPr lang="en-IN" dirty="0">
                <a:latin typeface="Consolas" pitchFamily="49" charset="0"/>
                <a:cs typeface="Consolas" pitchFamily="49" charset="0"/>
              </a:rPr>
              <a:t>    Y </a:t>
            </a:r>
            <a:r>
              <a:rPr lang="en-IN" dirty="0">
                <a:latin typeface="Consolas" pitchFamily="49" charset="0"/>
                <a:cs typeface="Consolas" pitchFamily="49" charset="0"/>
                <a:sym typeface="Wingdings" pitchFamily="2" charset="2"/>
              </a:rPr>
              <a:t> Q[R]</a:t>
            </a:r>
          </a:p>
          <a:p>
            <a:r>
              <a:rPr lang="en-IN" sz="2000" b="1" dirty="0">
                <a:solidFill>
                  <a:schemeClr val="tx2"/>
                </a:solidFill>
                <a:latin typeface="Consolas" pitchFamily="49" charset="0"/>
                <a:cs typeface="Consolas" pitchFamily="49" charset="0"/>
              </a:rPr>
              <a:t>3. [Update Rear Pointer]</a:t>
            </a:r>
          </a:p>
          <a:p>
            <a:r>
              <a:rPr lang="en-IN"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IF</a:t>
            </a:r>
            <a:r>
              <a:rPr lang="en-IN" dirty="0">
                <a:latin typeface="Consolas" pitchFamily="49" charset="0"/>
                <a:cs typeface="Consolas" pitchFamily="49" charset="0"/>
              </a:rPr>
              <a:t>   R = F</a:t>
            </a:r>
          </a:p>
          <a:p>
            <a:r>
              <a:rPr lang="en-IN" dirty="0">
                <a:latin typeface="Consolas" pitchFamily="49" charset="0"/>
                <a:cs typeface="Consolas" pitchFamily="49" charset="0"/>
                <a:sym typeface="Wingdings" pitchFamily="2" charset="2"/>
              </a:rPr>
              <a:t>   </a:t>
            </a:r>
            <a:r>
              <a:rPr lang="en-IN" b="1" dirty="0">
                <a:solidFill>
                  <a:schemeClr val="tx2">
                    <a:lumMod val="75000"/>
                  </a:schemeClr>
                </a:solidFill>
                <a:latin typeface="Consolas" pitchFamily="49" charset="0"/>
                <a:cs typeface="Consolas" pitchFamily="49" charset="0"/>
                <a:sym typeface="Wingdings" pitchFamily="2" charset="2"/>
              </a:rPr>
              <a:t>Then</a:t>
            </a:r>
            <a:r>
              <a:rPr lang="en-IN" dirty="0">
                <a:latin typeface="Consolas" pitchFamily="49" charset="0"/>
                <a:cs typeface="Consolas" pitchFamily="49" charset="0"/>
                <a:sym typeface="Wingdings" pitchFamily="2" charset="2"/>
              </a:rPr>
              <a:t> R  F  0</a:t>
            </a:r>
          </a:p>
          <a:p>
            <a:r>
              <a:rPr lang="en-IN" dirty="0">
                <a:latin typeface="Consolas" pitchFamily="49" charset="0"/>
                <a:cs typeface="Consolas" pitchFamily="49" charset="0"/>
                <a:sym typeface="Wingdings" pitchFamily="2" charset="2"/>
              </a:rPr>
              <a:t>   </a:t>
            </a:r>
            <a:r>
              <a:rPr lang="en-IN" b="1" dirty="0">
                <a:solidFill>
                  <a:schemeClr val="tx2">
                    <a:lumMod val="75000"/>
                  </a:schemeClr>
                </a:solidFill>
                <a:latin typeface="Consolas" pitchFamily="49" charset="0"/>
                <a:cs typeface="Consolas" pitchFamily="49" charset="0"/>
                <a:sym typeface="Wingdings" pitchFamily="2" charset="2"/>
              </a:rPr>
              <a:t>Else</a:t>
            </a:r>
            <a:r>
              <a:rPr lang="en-IN" dirty="0">
                <a:latin typeface="Consolas" pitchFamily="49" charset="0"/>
                <a:cs typeface="Consolas" pitchFamily="49" charset="0"/>
                <a:sym typeface="Wingdings" pitchFamily="2" charset="2"/>
              </a:rPr>
              <a:t> R  R – 1</a:t>
            </a:r>
          </a:p>
          <a:p>
            <a:r>
              <a:rPr lang="en-IN" b="1" dirty="0">
                <a:solidFill>
                  <a:schemeClr val="tx2"/>
                </a:solidFill>
                <a:latin typeface="Consolas" pitchFamily="49" charset="0"/>
                <a:cs typeface="Consolas" pitchFamily="49" charset="0"/>
              </a:rPr>
              <a:t>4. [Return Element]</a:t>
            </a:r>
          </a:p>
          <a:p>
            <a:r>
              <a:rPr lang="en-IN" dirty="0">
                <a:latin typeface="Consolas" pitchFamily="49" charset="0"/>
                <a:cs typeface="Consolas" pitchFamily="49" charset="0"/>
                <a:sym typeface="Wingdings" pitchFamily="2" charset="2"/>
              </a:rPr>
              <a:t>   Return(Y) </a:t>
            </a:r>
            <a:endParaRPr lang="en-IN" dirty="0">
              <a:latin typeface="Consolas" pitchFamily="49" charset="0"/>
              <a:cs typeface="Consolas" pitchFamily="49" charset="0"/>
            </a:endParaRPr>
          </a:p>
        </p:txBody>
      </p:sp>
      <p:grpSp>
        <p:nvGrpSpPr>
          <p:cNvPr id="5" name="Group 4"/>
          <p:cNvGrpSpPr/>
          <p:nvPr/>
        </p:nvGrpSpPr>
        <p:grpSpPr>
          <a:xfrm>
            <a:off x="5997800" y="3709417"/>
            <a:ext cx="2655064" cy="457200"/>
            <a:chOff x="5486400" y="1219200"/>
            <a:chExt cx="2655064" cy="457200"/>
          </a:xfrm>
        </p:grpSpPr>
        <p:sp>
          <p:nvSpPr>
            <p:cNvPr id="6" name="Rectangle 5"/>
            <p:cNvSpPr/>
            <p:nvPr/>
          </p:nvSpPr>
          <p:spPr>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 name="Rectangle 6"/>
            <p:cNvSpPr/>
            <p:nvPr/>
          </p:nvSpPr>
          <p:spPr>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 name="Rectangle 7"/>
            <p:cNvSpPr/>
            <p:nvPr/>
          </p:nvSpPr>
          <p:spPr>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9" name="Rectangle 8"/>
            <p:cNvSpPr/>
            <p:nvPr/>
          </p:nvSpPr>
          <p:spPr>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 name="Rectangle 9"/>
            <p:cNvSpPr/>
            <p:nvPr/>
          </p:nvSpPr>
          <p:spPr>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grpSp>
        <p:nvGrpSpPr>
          <p:cNvPr id="11" name="Group 10"/>
          <p:cNvGrpSpPr/>
          <p:nvPr/>
        </p:nvGrpSpPr>
        <p:grpSpPr>
          <a:xfrm>
            <a:off x="5997800" y="5309617"/>
            <a:ext cx="2655064" cy="457200"/>
            <a:chOff x="5486400" y="1219200"/>
            <a:chExt cx="2655064" cy="457200"/>
          </a:xfrm>
        </p:grpSpPr>
        <p:sp>
          <p:nvSpPr>
            <p:cNvPr id="12" name="Rectangle 11"/>
            <p:cNvSpPr/>
            <p:nvPr/>
          </p:nvSpPr>
          <p:spPr>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 name="Rectangle 12"/>
            <p:cNvSpPr/>
            <p:nvPr/>
          </p:nvSpPr>
          <p:spPr>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14" name="Rectangle 13"/>
            <p:cNvSpPr/>
            <p:nvPr/>
          </p:nvSpPr>
          <p:spPr>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10</a:t>
              </a:r>
              <a:endParaRPr lang="en-US" sz="2000" b="1" dirty="0"/>
            </a:p>
          </p:txBody>
        </p:sp>
        <p:sp>
          <p:nvSpPr>
            <p:cNvPr id="15" name="Rectangle 14"/>
            <p:cNvSpPr/>
            <p:nvPr/>
          </p:nvSpPr>
          <p:spPr>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89</a:t>
              </a:r>
              <a:endParaRPr lang="en-US" sz="2000" b="1" dirty="0"/>
            </a:p>
          </p:txBody>
        </p:sp>
        <p:sp>
          <p:nvSpPr>
            <p:cNvPr id="16" name="Rectangle 15"/>
            <p:cNvSpPr/>
            <p:nvPr/>
          </p:nvSpPr>
          <p:spPr>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32" name="Group 31"/>
          <p:cNvGrpSpPr/>
          <p:nvPr/>
        </p:nvGrpSpPr>
        <p:grpSpPr>
          <a:xfrm>
            <a:off x="6915574" y="2947417"/>
            <a:ext cx="773866" cy="762000"/>
            <a:chOff x="5870774" y="3200400"/>
            <a:chExt cx="773866" cy="762000"/>
          </a:xfrm>
        </p:grpSpPr>
        <p:grpSp>
          <p:nvGrpSpPr>
            <p:cNvPr id="31" name="Group 30"/>
            <p:cNvGrpSpPr/>
            <p:nvPr/>
          </p:nvGrpSpPr>
          <p:grpSpPr>
            <a:xfrm>
              <a:off x="5870774" y="3209544"/>
              <a:ext cx="526978" cy="752856"/>
              <a:chOff x="5870774" y="3209544"/>
              <a:chExt cx="526978" cy="752856"/>
            </a:xfrm>
          </p:grpSpPr>
          <p:sp>
            <p:nvSpPr>
              <p:cNvPr id="17" name="TextBox 16"/>
              <p:cNvSpPr txBox="1"/>
              <p:nvPr/>
            </p:nvSpPr>
            <p:spPr>
              <a:xfrm>
                <a:off x="5870774" y="3209544"/>
                <a:ext cx="526978" cy="400110"/>
              </a:xfrm>
              <a:prstGeom prst="rect">
                <a:avLst/>
              </a:prstGeom>
              <a:noFill/>
            </p:spPr>
            <p:txBody>
              <a:bodyPr wrap="square" rtlCol="0">
                <a:spAutoFit/>
              </a:bodyPr>
              <a:lstStyle/>
              <a:p>
                <a:pPr algn="ctr"/>
                <a:r>
                  <a:rPr lang="en-IN" sz="2000" b="1" dirty="0">
                    <a:solidFill>
                      <a:srgbClr val="C00000"/>
                    </a:solidFill>
                  </a:rPr>
                  <a:t>F</a:t>
                </a:r>
                <a:endParaRPr lang="en-US" sz="2000" b="1" dirty="0">
                  <a:solidFill>
                    <a:srgbClr val="C00000"/>
                  </a:solidFill>
                </a:endParaRPr>
              </a:p>
            </p:txBody>
          </p:sp>
          <p:cxnSp>
            <p:nvCxnSpPr>
              <p:cNvPr id="18" name="Straight Arrow Connector 17"/>
              <p:cNvCxnSpPr>
                <a:stCxn id="17" idx="2"/>
              </p:cNvCxnSpPr>
              <p:nvPr/>
            </p:nvCxnSpPr>
            <p:spPr>
              <a:xfrm>
                <a:off x="6134263" y="3609654"/>
                <a:ext cx="3211" cy="35274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30" name="Group 29"/>
            <p:cNvGrpSpPr/>
            <p:nvPr/>
          </p:nvGrpSpPr>
          <p:grpSpPr>
            <a:xfrm>
              <a:off x="6117662" y="3200400"/>
              <a:ext cx="526978" cy="762000"/>
              <a:chOff x="6117662" y="3200400"/>
              <a:chExt cx="526978" cy="762000"/>
            </a:xfrm>
          </p:grpSpPr>
          <p:sp>
            <p:nvSpPr>
              <p:cNvPr id="19" name="TextBox 18"/>
              <p:cNvSpPr txBox="1"/>
              <p:nvPr/>
            </p:nvSpPr>
            <p:spPr>
              <a:xfrm>
                <a:off x="6117662" y="3200400"/>
                <a:ext cx="526978" cy="400110"/>
              </a:xfrm>
              <a:prstGeom prst="rect">
                <a:avLst/>
              </a:prstGeom>
              <a:noFill/>
            </p:spPr>
            <p:txBody>
              <a:bodyPr wrap="square" rtlCol="0">
                <a:spAutoFit/>
              </a:bodyPr>
              <a:lstStyle/>
              <a:p>
                <a:pPr algn="ctr"/>
                <a:r>
                  <a:rPr lang="en-IN" sz="2000" b="1" dirty="0">
                    <a:solidFill>
                      <a:srgbClr val="C00000"/>
                    </a:solidFill>
                  </a:rPr>
                  <a:t>R</a:t>
                </a:r>
                <a:endParaRPr lang="en-US" sz="2000" b="1" dirty="0">
                  <a:solidFill>
                    <a:srgbClr val="C00000"/>
                  </a:solidFill>
                </a:endParaRPr>
              </a:p>
            </p:txBody>
          </p:sp>
          <p:cxnSp>
            <p:nvCxnSpPr>
              <p:cNvPr id="20" name="Straight Arrow Connector 19"/>
              <p:cNvCxnSpPr>
                <a:stCxn id="19" idx="2"/>
              </p:cNvCxnSpPr>
              <p:nvPr/>
            </p:nvCxnSpPr>
            <p:spPr>
              <a:xfrm>
                <a:off x="6381151" y="3600510"/>
                <a:ext cx="3211" cy="36189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grpSp>
        <p:nvGrpSpPr>
          <p:cNvPr id="21" name="Group 20"/>
          <p:cNvGrpSpPr/>
          <p:nvPr/>
        </p:nvGrpSpPr>
        <p:grpSpPr>
          <a:xfrm>
            <a:off x="7019206" y="4504945"/>
            <a:ext cx="526978" cy="752856"/>
            <a:chOff x="5974406" y="4300728"/>
            <a:chExt cx="526978" cy="752856"/>
          </a:xfrm>
        </p:grpSpPr>
        <p:sp>
          <p:nvSpPr>
            <p:cNvPr id="22" name="TextBox 21"/>
            <p:cNvSpPr txBox="1"/>
            <p:nvPr/>
          </p:nvSpPr>
          <p:spPr>
            <a:xfrm>
              <a:off x="5974406" y="4300728"/>
              <a:ext cx="526978" cy="400110"/>
            </a:xfrm>
            <a:prstGeom prst="rect">
              <a:avLst/>
            </a:prstGeom>
            <a:noFill/>
          </p:spPr>
          <p:txBody>
            <a:bodyPr wrap="square" rtlCol="0">
              <a:spAutoFit/>
            </a:bodyPr>
            <a:lstStyle/>
            <a:p>
              <a:pPr algn="ctr"/>
              <a:r>
                <a:rPr lang="en-IN" sz="2000" b="1" dirty="0">
                  <a:solidFill>
                    <a:srgbClr val="C00000"/>
                  </a:solidFill>
                </a:rPr>
                <a:t>F</a:t>
              </a:r>
              <a:endParaRPr lang="en-US" sz="2000" b="1" dirty="0">
                <a:solidFill>
                  <a:srgbClr val="C00000"/>
                </a:solidFill>
              </a:endParaRPr>
            </a:p>
          </p:txBody>
        </p:sp>
        <p:cxnSp>
          <p:nvCxnSpPr>
            <p:cNvPr id="23" name="Straight Arrow Connector 22"/>
            <p:cNvCxnSpPr>
              <a:stCxn id="22" idx="2"/>
            </p:cNvCxnSpPr>
            <p:nvPr/>
          </p:nvCxnSpPr>
          <p:spPr>
            <a:xfrm>
              <a:off x="6237895" y="4700838"/>
              <a:ext cx="3211" cy="35274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24" name="Group 23"/>
          <p:cNvGrpSpPr/>
          <p:nvPr/>
        </p:nvGrpSpPr>
        <p:grpSpPr>
          <a:xfrm>
            <a:off x="8061622" y="4498713"/>
            <a:ext cx="526978" cy="762000"/>
            <a:chOff x="7016822" y="4267200"/>
            <a:chExt cx="526978" cy="762000"/>
          </a:xfrm>
        </p:grpSpPr>
        <p:sp>
          <p:nvSpPr>
            <p:cNvPr id="25" name="TextBox 24"/>
            <p:cNvSpPr txBox="1"/>
            <p:nvPr/>
          </p:nvSpPr>
          <p:spPr>
            <a:xfrm>
              <a:off x="7016822" y="4267200"/>
              <a:ext cx="526978" cy="400110"/>
            </a:xfrm>
            <a:prstGeom prst="rect">
              <a:avLst/>
            </a:prstGeom>
            <a:noFill/>
          </p:spPr>
          <p:txBody>
            <a:bodyPr wrap="square" rtlCol="0">
              <a:spAutoFit/>
            </a:bodyPr>
            <a:lstStyle/>
            <a:p>
              <a:pPr algn="ctr"/>
              <a:r>
                <a:rPr lang="en-IN" sz="2000" b="1" dirty="0">
                  <a:solidFill>
                    <a:srgbClr val="C00000"/>
                  </a:solidFill>
                </a:rPr>
                <a:t>R</a:t>
              </a:r>
              <a:endParaRPr lang="en-US" sz="2000" b="1" dirty="0">
                <a:solidFill>
                  <a:srgbClr val="C00000"/>
                </a:solidFill>
              </a:endParaRPr>
            </a:p>
          </p:txBody>
        </p:sp>
        <p:cxnSp>
          <p:nvCxnSpPr>
            <p:cNvPr id="26" name="Straight Arrow Connector 25"/>
            <p:cNvCxnSpPr>
              <a:stCxn id="25" idx="2"/>
            </p:cNvCxnSpPr>
            <p:nvPr/>
          </p:nvCxnSpPr>
          <p:spPr>
            <a:xfrm>
              <a:off x="7280311" y="4667310"/>
              <a:ext cx="3211" cy="36189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29" name="TextBox 28"/>
          <p:cNvSpPr txBox="1"/>
          <p:nvPr/>
        </p:nvSpPr>
        <p:spPr>
          <a:xfrm>
            <a:off x="7175825" y="3753351"/>
            <a:ext cx="314510" cy="400110"/>
          </a:xfrm>
          <a:prstGeom prst="rect">
            <a:avLst/>
          </a:prstGeom>
          <a:noFill/>
        </p:spPr>
        <p:txBody>
          <a:bodyPr wrap="none" rtlCol="0">
            <a:spAutoFit/>
          </a:bodyPr>
          <a:lstStyle/>
          <a:p>
            <a:pPr algn="ctr"/>
            <a:r>
              <a:rPr lang="en-IN" sz="2000" b="1" dirty="0">
                <a:solidFill>
                  <a:schemeClr val="bg1"/>
                </a:solidFill>
              </a:rPr>
              <a:t>7</a:t>
            </a:r>
            <a:endParaRPr lang="en-US" sz="2000" b="1" dirty="0">
              <a:solidFill>
                <a:schemeClr val="bg1"/>
              </a:solidFill>
            </a:endParaRPr>
          </a:p>
        </p:txBody>
      </p:sp>
      <p:sp>
        <p:nvSpPr>
          <p:cNvPr id="33" name="TextBox 32"/>
          <p:cNvSpPr txBox="1"/>
          <p:nvPr/>
        </p:nvSpPr>
        <p:spPr>
          <a:xfrm>
            <a:off x="8204302" y="5360909"/>
            <a:ext cx="314510" cy="400110"/>
          </a:xfrm>
          <a:prstGeom prst="rect">
            <a:avLst/>
          </a:prstGeom>
          <a:noFill/>
        </p:spPr>
        <p:txBody>
          <a:bodyPr wrap="none" rtlCol="0">
            <a:spAutoFit/>
          </a:bodyPr>
          <a:lstStyle/>
          <a:p>
            <a:pPr algn="ctr"/>
            <a:r>
              <a:rPr lang="en-IN" sz="2000" b="1" dirty="0">
                <a:solidFill>
                  <a:schemeClr val="bg1"/>
                </a:solidFill>
              </a:rPr>
              <a:t>7</a:t>
            </a:r>
            <a:endParaRPr lang="en-US" sz="2000" b="1" dirty="0">
              <a:solidFill>
                <a:schemeClr val="bg1"/>
              </a:solidFill>
            </a:endParaRPr>
          </a:p>
        </p:txBody>
      </p:sp>
      <p:graphicFrame>
        <p:nvGraphicFramePr>
          <p:cNvPr id="27" name="Table 26">
            <a:extLst>
              <a:ext uri="{FF2B5EF4-FFF2-40B4-BE49-F238E27FC236}">
                <a16:creationId xmlns:a16="http://schemas.microsoft.com/office/drawing/2014/main" id="{637E1719-C84E-200C-6169-06A22DC95021}"/>
              </a:ext>
            </a:extLst>
          </p:cNvPr>
          <p:cNvGraphicFramePr>
            <a:graphicFrameLocks noGrp="1"/>
          </p:cNvGraphicFramePr>
          <p:nvPr>
            <p:extLst/>
          </p:nvPr>
        </p:nvGraphicFramePr>
        <p:xfrm>
          <a:off x="5928642" y="4089804"/>
          <a:ext cx="2808875" cy="457200"/>
        </p:xfrm>
        <a:graphic>
          <a:graphicData uri="http://schemas.openxmlformats.org/drawingml/2006/table">
            <a:tbl>
              <a:tblPr firstRow="1" bandRow="1">
                <a:tableStyleId>{2D5ABB26-0587-4C30-8999-92F81FD0307C}</a:tableStyleId>
              </a:tblPr>
              <a:tblGrid>
                <a:gridCol w="561775">
                  <a:extLst>
                    <a:ext uri="{9D8B030D-6E8A-4147-A177-3AD203B41FA5}">
                      <a16:colId xmlns:a16="http://schemas.microsoft.com/office/drawing/2014/main" val="3005917500"/>
                    </a:ext>
                  </a:extLst>
                </a:gridCol>
                <a:gridCol w="561775">
                  <a:extLst>
                    <a:ext uri="{9D8B030D-6E8A-4147-A177-3AD203B41FA5}">
                      <a16:colId xmlns:a16="http://schemas.microsoft.com/office/drawing/2014/main" val="2481260891"/>
                    </a:ext>
                  </a:extLst>
                </a:gridCol>
                <a:gridCol w="561775">
                  <a:extLst>
                    <a:ext uri="{9D8B030D-6E8A-4147-A177-3AD203B41FA5}">
                      <a16:colId xmlns:a16="http://schemas.microsoft.com/office/drawing/2014/main" val="1090167681"/>
                    </a:ext>
                  </a:extLst>
                </a:gridCol>
                <a:gridCol w="561775">
                  <a:extLst>
                    <a:ext uri="{9D8B030D-6E8A-4147-A177-3AD203B41FA5}">
                      <a16:colId xmlns:a16="http://schemas.microsoft.com/office/drawing/2014/main" val="2552463474"/>
                    </a:ext>
                  </a:extLst>
                </a:gridCol>
                <a:gridCol w="561775">
                  <a:extLst>
                    <a:ext uri="{9D8B030D-6E8A-4147-A177-3AD203B41FA5}">
                      <a16:colId xmlns:a16="http://schemas.microsoft.com/office/drawing/2014/main" val="136120702"/>
                    </a:ext>
                  </a:extLst>
                </a:gridCol>
              </a:tblGrid>
              <a:tr h="457200">
                <a:tc>
                  <a:txBody>
                    <a:bodyPr/>
                    <a:lstStyle/>
                    <a:p>
                      <a:pPr algn="ctr"/>
                      <a:r>
                        <a:rPr lang="en-IN" sz="1600" dirty="0"/>
                        <a:t>0</a:t>
                      </a:r>
                    </a:p>
                  </a:txBody>
                  <a:tcPr anchor="ctr"/>
                </a:tc>
                <a:tc>
                  <a:txBody>
                    <a:bodyPr/>
                    <a:lstStyle/>
                    <a:p>
                      <a:pPr algn="ctr"/>
                      <a:r>
                        <a:rPr lang="en-IN" sz="1600" dirty="0"/>
                        <a:t>1</a:t>
                      </a:r>
                    </a:p>
                  </a:txBody>
                  <a:tcPr anchor="ctr"/>
                </a:tc>
                <a:tc>
                  <a:txBody>
                    <a:bodyPr/>
                    <a:lstStyle/>
                    <a:p>
                      <a:pPr algn="ctr"/>
                      <a:r>
                        <a:rPr lang="en-IN" sz="1600" dirty="0"/>
                        <a:t>2</a:t>
                      </a:r>
                    </a:p>
                  </a:txBody>
                  <a:tcPr anchor="ctr"/>
                </a:tc>
                <a:tc>
                  <a:txBody>
                    <a:bodyPr/>
                    <a:lstStyle/>
                    <a:p>
                      <a:pPr algn="ctr"/>
                      <a:r>
                        <a:rPr lang="en-IN" sz="1600" dirty="0"/>
                        <a:t>3</a:t>
                      </a:r>
                    </a:p>
                  </a:txBody>
                  <a:tcPr anchor="ctr"/>
                </a:tc>
                <a:tc>
                  <a:txBody>
                    <a:bodyPr/>
                    <a:lstStyle/>
                    <a:p>
                      <a:pPr algn="ctr"/>
                      <a:r>
                        <a:rPr lang="en-IN" sz="1600" dirty="0"/>
                        <a:t>4</a:t>
                      </a:r>
                    </a:p>
                  </a:txBody>
                  <a:tcPr anchor="ctr"/>
                </a:tc>
                <a:extLst>
                  <a:ext uri="{0D108BD9-81ED-4DB2-BD59-A6C34878D82A}">
                    <a16:rowId xmlns:a16="http://schemas.microsoft.com/office/drawing/2014/main" val="224905694"/>
                  </a:ext>
                </a:extLst>
              </a:tr>
            </a:tbl>
          </a:graphicData>
        </a:graphic>
      </p:graphicFrame>
    </p:spTree>
    <p:extLst>
      <p:ext uri="{BB962C8B-B14F-4D97-AF65-F5344CB8AC3E}">
        <p14:creationId xmlns:p14="http://schemas.microsoft.com/office/powerpoint/2010/main" val="1309957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6" end="6"/>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
                                            <p:txEl>
                                              <p:pRg st="7" end="7"/>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
                                            <p:txEl>
                                              <p:pRg st="8" end="8"/>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35" presetClass="path" presetSubtype="0" accel="50000" decel="50000" fill="hold" nodeType="clickEffect">
                                  <p:stCondLst>
                                    <p:cond delay="0"/>
                                  </p:stCondLst>
                                  <p:childTnLst>
                                    <p:animMotion origin="layout" path="M 1.66667E-6 3.33333E-6 L -0.17018 3.33333E-6 " pathEditMode="relative" rAng="0" ptsTypes="AA">
                                      <p:cBhvr>
                                        <p:cTn id="72" dur="2000" fill="hold"/>
                                        <p:tgtEl>
                                          <p:spTgt spid="32"/>
                                        </p:tgtEl>
                                        <p:attrNameLst>
                                          <p:attrName>ppt_x</p:attrName>
                                          <p:attrName>ppt_y</p:attrName>
                                        </p:attrNameLst>
                                      </p:cBhvr>
                                      <p:rCtr x="-8516" y="0"/>
                                    </p:animMotion>
                                  </p:childTnLst>
                                </p:cTn>
                              </p:par>
                            </p:childTnLst>
                          </p:cTn>
                        </p:par>
                      </p:childTnLst>
                    </p:cTn>
                  </p:par>
                  <p:par>
                    <p:cTn id="73" fill="hold">
                      <p:stCondLst>
                        <p:cond delay="indefinite"/>
                      </p:stCondLst>
                      <p:childTnLst>
                        <p:par>
                          <p:cTn id="74" fill="hold">
                            <p:stCondLst>
                              <p:cond delay="0"/>
                            </p:stCondLst>
                            <p:childTnLst>
                              <p:par>
                                <p:cTn id="75" presetID="35" presetClass="path" presetSubtype="0" accel="50000" decel="50000" fill="hold" nodeType="clickEffect">
                                  <p:stCondLst>
                                    <p:cond delay="0"/>
                                  </p:stCondLst>
                                  <p:childTnLst>
                                    <p:animMotion origin="layout" path="M 2.70833E-6 -4.07407E-6 L -0.0388 -4.07407E-6 " pathEditMode="relative" rAng="0" ptsTypes="AA">
                                      <p:cBhvr>
                                        <p:cTn id="76" dur="2000" fill="hold"/>
                                        <p:tgtEl>
                                          <p:spTgt spid="24"/>
                                        </p:tgtEl>
                                        <p:attrNameLst>
                                          <p:attrName>ppt_x</p:attrName>
                                          <p:attrName>ppt_y</p:attrName>
                                        </p:attrNameLst>
                                      </p:cBhvr>
                                      <p:rCtr x="-2096" y="0"/>
                                    </p:animMotion>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
                                            <p:txEl>
                                              <p:pRg st="10" end="10"/>
                                            </p:txEl>
                                          </p:spTgt>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29"/>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9" grpId="0"/>
      <p:bldP spid="29" grpId="1"/>
      <p:bldP spid="33" grpId="0"/>
      <p:bldP spid="33"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Queue</a:t>
            </a:r>
          </a:p>
        </p:txBody>
      </p:sp>
      <p:sp>
        <p:nvSpPr>
          <p:cNvPr id="3" name="Content Placeholder 2"/>
          <p:cNvSpPr>
            <a:spLocks noGrp="1"/>
          </p:cNvSpPr>
          <p:nvPr>
            <p:ph idx="1"/>
          </p:nvPr>
        </p:nvSpPr>
        <p:spPr/>
        <p:txBody>
          <a:bodyPr/>
          <a:lstStyle/>
          <a:p>
            <a:r>
              <a:rPr lang="en-US" dirty="0"/>
              <a:t>A priority queue is a special type of queue data structure in which </a:t>
            </a:r>
            <a:r>
              <a:rPr lang="en-US" b="1" dirty="0">
                <a:solidFill>
                  <a:schemeClr val="accent6"/>
                </a:solidFill>
              </a:rPr>
              <a:t>each element is associated with a priority</a:t>
            </a:r>
            <a:r>
              <a:rPr lang="en-US" dirty="0"/>
              <a:t>, and elements are </a:t>
            </a:r>
            <a:r>
              <a:rPr lang="en-US" b="1" dirty="0">
                <a:solidFill>
                  <a:schemeClr val="accent6"/>
                </a:solidFill>
              </a:rPr>
              <a:t>served based on their priority </a:t>
            </a:r>
            <a:r>
              <a:rPr lang="en-US" b="1" dirty="0"/>
              <a:t>rather than just their order of arrival</a:t>
            </a:r>
            <a:r>
              <a:rPr lang="en-US" dirty="0"/>
              <a:t>.</a:t>
            </a:r>
          </a:p>
          <a:p>
            <a:r>
              <a:rPr lang="en-US" dirty="0"/>
              <a:t>In a </a:t>
            </a:r>
            <a:r>
              <a:rPr lang="en-US" b="1" dirty="0"/>
              <a:t>normal queue</a:t>
            </a:r>
            <a:r>
              <a:rPr lang="en-US" dirty="0"/>
              <a:t>, elements follow </a:t>
            </a:r>
            <a:r>
              <a:rPr lang="en-US" b="1" dirty="0"/>
              <a:t>FIFO (First In, First Out)</a:t>
            </a:r>
            <a:r>
              <a:rPr lang="en-US" dirty="0"/>
              <a:t>.</a:t>
            </a:r>
          </a:p>
          <a:p>
            <a:r>
              <a:rPr lang="en-US" dirty="0"/>
              <a:t>In a </a:t>
            </a:r>
            <a:r>
              <a:rPr lang="en-US" b="1" dirty="0"/>
              <a:t>priority queue</a:t>
            </a:r>
            <a:r>
              <a:rPr lang="en-US" dirty="0"/>
              <a:t>, the element with </a:t>
            </a:r>
            <a:r>
              <a:rPr lang="en-US" b="1" dirty="0"/>
              <a:t>higher priority</a:t>
            </a:r>
            <a:r>
              <a:rPr lang="en-US" dirty="0"/>
              <a:t> is dequeued first.</a:t>
            </a:r>
          </a:p>
          <a:p>
            <a:r>
              <a:rPr lang="en-US" dirty="0"/>
              <a:t>If two elements have the </a:t>
            </a:r>
            <a:r>
              <a:rPr lang="en-US" b="1" dirty="0"/>
              <a:t>same priority</a:t>
            </a:r>
            <a:r>
              <a:rPr lang="en-US" dirty="0"/>
              <a:t>, they are served according to their order of arrival (like a normal queue).</a:t>
            </a:r>
          </a:p>
          <a:p>
            <a:r>
              <a:rPr lang="en-US" dirty="0"/>
              <a:t>Example :</a:t>
            </a:r>
          </a:p>
          <a:p>
            <a:pPr lvl="1"/>
            <a:r>
              <a:rPr lang="en-US" dirty="0"/>
              <a:t>In hospitals, a patient with a </a:t>
            </a:r>
            <a:r>
              <a:rPr lang="en-US" b="1" dirty="0"/>
              <a:t>heart attack</a:t>
            </a:r>
            <a:r>
              <a:rPr lang="en-US" dirty="0"/>
              <a:t> is treated before a patient with a </a:t>
            </a:r>
            <a:r>
              <a:rPr lang="en-US" b="1" dirty="0"/>
              <a:t>minor cut</a:t>
            </a:r>
            <a:r>
              <a:rPr lang="en-US" dirty="0"/>
              <a:t>, even if the latter came earlier.</a:t>
            </a:r>
          </a:p>
          <a:p>
            <a:pPr lvl="1"/>
            <a:r>
              <a:rPr lang="en-US" dirty="0"/>
              <a:t>In airports, a flight needing an </a:t>
            </a:r>
            <a:r>
              <a:rPr lang="en-US" b="1" dirty="0"/>
              <a:t>emergency landing</a:t>
            </a:r>
            <a:r>
              <a:rPr lang="en-US" dirty="0"/>
              <a:t> gets runway clearance before a </a:t>
            </a:r>
            <a:r>
              <a:rPr lang="en-US" b="1" dirty="0"/>
              <a:t>scheduled passenger flight</a:t>
            </a:r>
            <a:r>
              <a:rPr lang="en-US" dirty="0"/>
              <a:t>.</a:t>
            </a:r>
          </a:p>
          <a:p>
            <a:pPr lvl="1"/>
            <a:endParaRPr lang="en-US" dirty="0"/>
          </a:p>
        </p:txBody>
      </p:sp>
    </p:spTree>
    <p:extLst>
      <p:ext uri="{BB962C8B-B14F-4D97-AF65-F5344CB8AC3E}">
        <p14:creationId xmlns:p14="http://schemas.microsoft.com/office/powerpoint/2010/main" val="110332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4A257-2070-391E-87FA-D6C93E7270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36D6F8-2417-95A3-6D00-9A2EC01908B2}"/>
              </a:ext>
            </a:extLst>
          </p:cNvPr>
          <p:cNvSpPr>
            <a:spLocks noGrp="1"/>
          </p:cNvSpPr>
          <p:nvPr>
            <p:ph type="title"/>
          </p:nvPr>
        </p:nvSpPr>
        <p:spPr/>
        <p:txBody>
          <a:bodyPr/>
          <a:lstStyle/>
          <a:p>
            <a:r>
              <a:rPr lang="en-IN" dirty="0"/>
              <a:t>Types of Priority Queue</a:t>
            </a:r>
            <a:endParaRPr lang="en-US" dirty="0"/>
          </a:p>
        </p:txBody>
      </p:sp>
      <p:sp>
        <p:nvSpPr>
          <p:cNvPr id="3" name="Content Placeholder 2">
            <a:extLst>
              <a:ext uri="{FF2B5EF4-FFF2-40B4-BE49-F238E27FC236}">
                <a16:creationId xmlns:a16="http://schemas.microsoft.com/office/drawing/2014/main" id="{0D5005AA-E115-8488-D587-4B8A9035C4F8}"/>
              </a:ext>
            </a:extLst>
          </p:cNvPr>
          <p:cNvSpPr>
            <a:spLocks noGrp="1"/>
          </p:cNvSpPr>
          <p:nvPr>
            <p:ph idx="1"/>
          </p:nvPr>
        </p:nvSpPr>
        <p:spPr/>
        <p:txBody>
          <a:bodyPr/>
          <a:lstStyle/>
          <a:p>
            <a:pPr marL="0" indent="0">
              <a:buNone/>
            </a:pPr>
            <a:r>
              <a:rPr lang="en-US" sz="2600" b="1" dirty="0">
                <a:solidFill>
                  <a:schemeClr val="accent6"/>
                </a:solidFill>
              </a:rPr>
              <a:t>Ascending Priority Queue:</a:t>
            </a:r>
          </a:p>
          <a:p>
            <a:r>
              <a:rPr lang="en-US" dirty="0"/>
              <a:t>Elements with </a:t>
            </a:r>
            <a:r>
              <a:rPr lang="en-US" b="1" dirty="0"/>
              <a:t>lower priority </a:t>
            </a:r>
            <a:r>
              <a:rPr lang="en-US" dirty="0"/>
              <a:t>number (or smaller key value) </a:t>
            </a:r>
            <a:r>
              <a:rPr lang="en-US" b="1" dirty="0"/>
              <a:t>are dequeued first</a:t>
            </a:r>
            <a:r>
              <a:rPr lang="en-US" dirty="0"/>
              <a:t>.</a:t>
            </a:r>
          </a:p>
          <a:p>
            <a:r>
              <a:rPr lang="en-US" dirty="0"/>
              <a:t>Example: {A, 1}, {B, 3}, {C, 5} → A removed first.</a:t>
            </a:r>
          </a:p>
          <a:p>
            <a:pPr marL="0" indent="0">
              <a:buNone/>
            </a:pPr>
            <a:endParaRPr lang="en-US" dirty="0"/>
          </a:p>
          <a:p>
            <a:pPr marL="0" indent="0">
              <a:buNone/>
            </a:pPr>
            <a:r>
              <a:rPr lang="en-US" sz="2600" b="1" dirty="0">
                <a:solidFill>
                  <a:schemeClr val="accent6"/>
                </a:solidFill>
              </a:rPr>
              <a:t>Descending Priority Queue:</a:t>
            </a:r>
          </a:p>
          <a:p>
            <a:r>
              <a:rPr lang="en-US" dirty="0"/>
              <a:t>Elements with </a:t>
            </a:r>
            <a:r>
              <a:rPr lang="en-US" b="1" dirty="0"/>
              <a:t>higher priority</a:t>
            </a:r>
            <a:r>
              <a:rPr lang="en-US" dirty="0"/>
              <a:t> number (or larger key value) </a:t>
            </a:r>
            <a:r>
              <a:rPr lang="en-US" b="1" dirty="0"/>
              <a:t>are dequeued first</a:t>
            </a:r>
            <a:r>
              <a:rPr lang="en-US" dirty="0"/>
              <a:t>.</a:t>
            </a:r>
          </a:p>
          <a:p>
            <a:r>
              <a:rPr lang="en-US" dirty="0"/>
              <a:t>Example: {X,10}, {Y, 7}, {Z,3} → X removed first.</a:t>
            </a:r>
          </a:p>
        </p:txBody>
      </p:sp>
    </p:spTree>
    <p:extLst>
      <p:ext uri="{BB962C8B-B14F-4D97-AF65-F5344CB8AC3E}">
        <p14:creationId xmlns:p14="http://schemas.microsoft.com/office/powerpoint/2010/main" val="85421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F904A-1628-5AFB-0EBF-9DAFBB69D7FC}"/>
            </a:ext>
          </a:extLst>
        </p:cNvPr>
        <p:cNvGrpSpPr/>
        <p:nvPr/>
      </p:nvGrpSpPr>
      <p:grpSpPr>
        <a:xfrm>
          <a:off x="0" y="0"/>
          <a:ext cx="0" cy="0"/>
          <a:chOff x="0" y="0"/>
          <a:chExt cx="0" cy="0"/>
        </a:xfrm>
      </p:grpSpPr>
      <p:sp>
        <p:nvSpPr>
          <p:cNvPr id="4" name="Rectangle 3"/>
          <p:cNvSpPr/>
          <p:nvPr/>
        </p:nvSpPr>
        <p:spPr>
          <a:xfrm>
            <a:off x="719091" y="2015231"/>
            <a:ext cx="3409026" cy="260115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3A62A4F3-5E3B-6B90-6A5B-359F24B47F18}"/>
              </a:ext>
            </a:extLst>
          </p:cNvPr>
          <p:cNvSpPr>
            <a:spLocks noGrp="1"/>
          </p:cNvSpPr>
          <p:nvPr>
            <p:ph type="title"/>
          </p:nvPr>
        </p:nvSpPr>
        <p:spPr/>
        <p:txBody>
          <a:bodyPr/>
          <a:lstStyle/>
          <a:p>
            <a:r>
              <a:rPr lang="en-US" dirty="0"/>
              <a:t>Priority Queue</a:t>
            </a:r>
          </a:p>
        </p:txBody>
      </p:sp>
      <p:sp>
        <p:nvSpPr>
          <p:cNvPr id="3" name="Content Placeholder 2">
            <a:extLst>
              <a:ext uri="{FF2B5EF4-FFF2-40B4-BE49-F238E27FC236}">
                <a16:creationId xmlns:a16="http://schemas.microsoft.com/office/drawing/2014/main" id="{1F1EBD28-4179-7016-53E7-F15253EA4E38}"/>
              </a:ext>
            </a:extLst>
          </p:cNvPr>
          <p:cNvSpPr>
            <a:spLocks noGrp="1"/>
          </p:cNvSpPr>
          <p:nvPr>
            <p:ph idx="1"/>
          </p:nvPr>
        </p:nvSpPr>
        <p:spPr>
          <a:xfrm>
            <a:off x="131180" y="876144"/>
            <a:ext cx="11929641" cy="1245619"/>
          </a:xfrm>
        </p:spPr>
        <p:txBody>
          <a:bodyPr/>
          <a:lstStyle/>
          <a:p>
            <a:r>
              <a:rPr lang="en-US" dirty="0"/>
              <a:t>To implement Priority Queue, we need to take a </a:t>
            </a:r>
            <a:r>
              <a:rPr lang="en-US" b="1" dirty="0"/>
              <a:t>c structure </a:t>
            </a:r>
            <a:r>
              <a:rPr lang="en-US" dirty="0"/>
              <a:t>because we have to store both : </a:t>
            </a:r>
            <a:r>
              <a:rPr lang="en-US" b="1" dirty="0"/>
              <a:t>data</a:t>
            </a:r>
            <a:r>
              <a:rPr lang="en-US" dirty="0"/>
              <a:t> &amp; </a:t>
            </a:r>
            <a:r>
              <a:rPr lang="en-US" b="1" dirty="0"/>
              <a:t>it’s priority</a:t>
            </a:r>
            <a:r>
              <a:rPr lang="en-US" dirty="0"/>
              <a:t>.</a:t>
            </a:r>
          </a:p>
          <a:p>
            <a:endParaRPr lang="en-US" dirty="0"/>
          </a:p>
          <a:p>
            <a:pPr marL="0" indent="893763">
              <a:buNone/>
            </a:pPr>
            <a:r>
              <a:rPr lang="en-US" dirty="0">
                <a:solidFill>
                  <a:srgbClr val="558ED5"/>
                </a:solidFill>
              </a:rPr>
              <a:t>struct</a:t>
            </a:r>
            <a:r>
              <a:rPr lang="en-US" dirty="0"/>
              <a:t> </a:t>
            </a:r>
            <a:r>
              <a:rPr lang="en-US" dirty="0" err="1"/>
              <a:t>PriorityQueue</a:t>
            </a:r>
            <a:r>
              <a:rPr lang="en-US" dirty="0"/>
              <a:t> </a:t>
            </a:r>
          </a:p>
          <a:p>
            <a:pPr marL="0" indent="893763">
              <a:buNone/>
            </a:pPr>
            <a:r>
              <a:rPr lang="en-US" dirty="0"/>
              <a:t>{</a:t>
            </a:r>
          </a:p>
          <a:p>
            <a:pPr marL="0" indent="893763">
              <a:buNone/>
            </a:pPr>
            <a:r>
              <a:rPr lang="en-US" dirty="0"/>
              <a:t>   </a:t>
            </a:r>
            <a:r>
              <a:rPr lang="en-US" dirty="0">
                <a:solidFill>
                  <a:srgbClr val="558ED5"/>
                </a:solidFill>
              </a:rPr>
              <a:t> int </a:t>
            </a:r>
            <a:r>
              <a:rPr lang="en-US" dirty="0"/>
              <a:t>data;</a:t>
            </a:r>
          </a:p>
          <a:p>
            <a:pPr marL="0" indent="893763">
              <a:buNone/>
            </a:pPr>
            <a:r>
              <a:rPr lang="en-US" dirty="0"/>
              <a:t>   </a:t>
            </a:r>
            <a:r>
              <a:rPr lang="en-US" dirty="0">
                <a:solidFill>
                  <a:srgbClr val="558ED5"/>
                </a:solidFill>
              </a:rPr>
              <a:t> int</a:t>
            </a:r>
            <a:r>
              <a:rPr lang="en-US" dirty="0"/>
              <a:t> priority</a:t>
            </a:r>
            <a:r>
              <a:rPr lang="en-US" dirty="0" smtClean="0"/>
              <a:t>;</a:t>
            </a:r>
            <a:r>
              <a:rPr lang="en-US" dirty="0">
                <a:solidFill>
                  <a:srgbClr val="558ED5"/>
                </a:solidFill>
              </a:rPr>
              <a:t> </a:t>
            </a:r>
            <a:endParaRPr lang="en-US" dirty="0"/>
          </a:p>
          <a:p>
            <a:pPr marL="0" indent="893763">
              <a:buNone/>
            </a:pPr>
            <a:r>
              <a:rPr lang="en-US" dirty="0" smtClean="0"/>
              <a:t>};</a:t>
            </a:r>
            <a:r>
              <a:rPr lang="en-US" dirty="0">
                <a:solidFill>
                  <a:srgbClr val="558ED5"/>
                </a:solidFill>
              </a:rPr>
              <a:t> </a:t>
            </a:r>
            <a:endParaRPr lang="en-US" dirty="0"/>
          </a:p>
          <a:p>
            <a:pPr marL="0" indent="0">
              <a:buNone/>
            </a:pPr>
            <a:endParaRPr lang="en-US" b="1" dirty="0"/>
          </a:p>
          <a:p>
            <a:pPr marL="0" indent="0">
              <a:buNone/>
            </a:pPr>
            <a:endParaRPr lang="en-US" dirty="0"/>
          </a:p>
        </p:txBody>
      </p:sp>
      <p:sp>
        <p:nvSpPr>
          <p:cNvPr id="7" name="Rectangle 6"/>
          <p:cNvSpPr/>
          <p:nvPr/>
        </p:nvSpPr>
        <p:spPr>
          <a:xfrm>
            <a:off x="227680" y="4780171"/>
            <a:ext cx="3764492" cy="369332"/>
          </a:xfrm>
          <a:prstGeom prst="rect">
            <a:avLst/>
          </a:prstGeom>
        </p:spPr>
        <p:txBody>
          <a:bodyPr wrap="none">
            <a:spAutoFit/>
          </a:bodyPr>
          <a:lstStyle/>
          <a:p>
            <a:pPr indent="893763"/>
            <a:r>
              <a:rPr lang="en-US" dirty="0" err="1">
                <a:solidFill>
                  <a:srgbClr val="558ED5"/>
                </a:solidFill>
              </a:rPr>
              <a:t>struct</a:t>
            </a:r>
            <a:r>
              <a:rPr lang="en-US" dirty="0"/>
              <a:t> </a:t>
            </a:r>
            <a:r>
              <a:rPr lang="en-US" dirty="0" err="1"/>
              <a:t>PriorityQueue</a:t>
            </a:r>
            <a:r>
              <a:rPr lang="en-US" dirty="0"/>
              <a:t> </a:t>
            </a:r>
            <a:r>
              <a:rPr lang="en-US" dirty="0" err="1"/>
              <a:t>pq</a:t>
            </a:r>
            <a:r>
              <a:rPr lang="en-US" dirty="0"/>
              <a:t>[SIZE];</a:t>
            </a:r>
          </a:p>
        </p:txBody>
      </p:sp>
    </p:spTree>
    <p:extLst>
      <p:ext uri="{BB962C8B-B14F-4D97-AF65-F5344CB8AC3E}">
        <p14:creationId xmlns:p14="http://schemas.microsoft.com/office/powerpoint/2010/main" val="638024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Queue </a:t>
            </a:r>
            <a:r>
              <a:rPr lang="en-US" dirty="0" err="1"/>
              <a:t>Cont</a:t>
            </a:r>
            <a:r>
              <a:rPr lang="en-US" dirty="0"/>
              <a:t>…</a:t>
            </a:r>
          </a:p>
        </p:txBody>
      </p:sp>
      <p:graphicFrame>
        <p:nvGraphicFramePr>
          <p:cNvPr id="4" name="Table 3"/>
          <p:cNvGraphicFramePr>
            <a:graphicFrameLocks noGrp="1"/>
          </p:cNvGraphicFramePr>
          <p:nvPr>
            <p:extLst>
              <p:ext uri="{D42A27DB-BD31-4B8C-83A1-F6EECF244321}">
                <p14:modId xmlns:p14="http://schemas.microsoft.com/office/powerpoint/2010/main" val="2493539932"/>
              </p:ext>
            </p:extLst>
          </p:nvPr>
        </p:nvGraphicFramePr>
        <p:xfrm>
          <a:off x="2514596" y="950793"/>
          <a:ext cx="7924804" cy="750332"/>
        </p:xfrm>
        <a:graphic>
          <a:graphicData uri="http://schemas.openxmlformats.org/drawingml/2006/table">
            <a:tbl>
              <a:tblPr firstRow="1" firstCol="1" bandRow="1">
                <a:tableStyleId>{3B4B98B0-60AC-42C2-AFA5-B58CD77FA1E5}</a:tableStyleId>
              </a:tblPr>
              <a:tblGrid>
                <a:gridCol w="573922">
                  <a:extLst>
                    <a:ext uri="{9D8B030D-6E8A-4147-A177-3AD203B41FA5}">
                      <a16:colId xmlns:a16="http://schemas.microsoft.com/office/drawing/2014/main" val="20000"/>
                    </a:ext>
                  </a:extLst>
                </a:gridCol>
                <a:gridCol w="573922">
                  <a:extLst>
                    <a:ext uri="{9D8B030D-6E8A-4147-A177-3AD203B41FA5}">
                      <a16:colId xmlns:a16="http://schemas.microsoft.com/office/drawing/2014/main" val="20001"/>
                    </a:ext>
                  </a:extLst>
                </a:gridCol>
                <a:gridCol w="531657">
                  <a:extLst>
                    <a:ext uri="{9D8B030D-6E8A-4147-A177-3AD203B41FA5}">
                      <a16:colId xmlns:a16="http://schemas.microsoft.com/office/drawing/2014/main" val="20002"/>
                    </a:ext>
                  </a:extLst>
                </a:gridCol>
                <a:gridCol w="657342">
                  <a:extLst>
                    <a:ext uri="{9D8B030D-6E8A-4147-A177-3AD203B41FA5}">
                      <a16:colId xmlns:a16="http://schemas.microsoft.com/office/drawing/2014/main" val="20003"/>
                    </a:ext>
                  </a:extLst>
                </a:gridCol>
                <a:gridCol w="603954">
                  <a:extLst>
                    <a:ext uri="{9D8B030D-6E8A-4147-A177-3AD203B41FA5}">
                      <a16:colId xmlns:a16="http://schemas.microsoft.com/office/drawing/2014/main" val="20004"/>
                    </a:ext>
                  </a:extLst>
                </a:gridCol>
                <a:gridCol w="603954">
                  <a:extLst>
                    <a:ext uri="{9D8B030D-6E8A-4147-A177-3AD203B41FA5}">
                      <a16:colId xmlns:a16="http://schemas.microsoft.com/office/drawing/2014/main" val="20005"/>
                    </a:ext>
                  </a:extLst>
                </a:gridCol>
                <a:gridCol w="531657">
                  <a:extLst>
                    <a:ext uri="{9D8B030D-6E8A-4147-A177-3AD203B41FA5}">
                      <a16:colId xmlns:a16="http://schemas.microsoft.com/office/drawing/2014/main" val="20006"/>
                    </a:ext>
                  </a:extLst>
                </a:gridCol>
                <a:gridCol w="688485">
                  <a:extLst>
                    <a:ext uri="{9D8B030D-6E8A-4147-A177-3AD203B41FA5}">
                      <a16:colId xmlns:a16="http://schemas.microsoft.com/office/drawing/2014/main" val="20007"/>
                    </a:ext>
                  </a:extLst>
                </a:gridCol>
                <a:gridCol w="828629">
                  <a:extLst>
                    <a:ext uri="{9D8B030D-6E8A-4147-A177-3AD203B41FA5}">
                      <a16:colId xmlns:a16="http://schemas.microsoft.com/office/drawing/2014/main" val="20008"/>
                    </a:ext>
                  </a:extLst>
                </a:gridCol>
                <a:gridCol w="575035">
                  <a:extLst>
                    <a:ext uri="{9D8B030D-6E8A-4147-A177-3AD203B41FA5}">
                      <a16:colId xmlns:a16="http://schemas.microsoft.com/office/drawing/2014/main" val="20009"/>
                    </a:ext>
                  </a:extLst>
                </a:gridCol>
                <a:gridCol w="531657">
                  <a:extLst>
                    <a:ext uri="{9D8B030D-6E8A-4147-A177-3AD203B41FA5}">
                      <a16:colId xmlns:a16="http://schemas.microsoft.com/office/drawing/2014/main" val="20010"/>
                    </a:ext>
                  </a:extLst>
                </a:gridCol>
                <a:gridCol w="692933">
                  <a:extLst>
                    <a:ext uri="{9D8B030D-6E8A-4147-A177-3AD203B41FA5}">
                      <a16:colId xmlns:a16="http://schemas.microsoft.com/office/drawing/2014/main" val="20011"/>
                    </a:ext>
                  </a:extLst>
                </a:gridCol>
                <a:gridCol w="531657">
                  <a:extLst>
                    <a:ext uri="{9D8B030D-6E8A-4147-A177-3AD203B41FA5}">
                      <a16:colId xmlns:a16="http://schemas.microsoft.com/office/drawing/2014/main" val="20012"/>
                    </a:ext>
                  </a:extLst>
                </a:gridCol>
              </a:tblGrid>
              <a:tr h="375166">
                <a:tc>
                  <a:txBody>
                    <a:bodyPr/>
                    <a:lstStyle/>
                    <a:p>
                      <a:pPr algn="ctr">
                        <a:lnSpc>
                          <a:spcPct val="115000"/>
                        </a:lnSpc>
                        <a:spcAft>
                          <a:spcPts val="0"/>
                        </a:spcAft>
                      </a:pPr>
                      <a:r>
                        <a:rPr lang="en-US" sz="1900" dirty="0">
                          <a:effectLst/>
                        </a:rPr>
                        <a:t>R</a:t>
                      </a:r>
                      <a:r>
                        <a:rPr lang="en-US" sz="1900" baseline="-25000" dirty="0">
                          <a:effectLst/>
                        </a:rPr>
                        <a:t>1</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R</a:t>
                      </a:r>
                      <a:r>
                        <a:rPr lang="en-US" sz="1900" baseline="-25000" dirty="0">
                          <a:effectLst/>
                        </a:rPr>
                        <a:t>2</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R</a:t>
                      </a:r>
                      <a:r>
                        <a:rPr lang="en-US" sz="1900" baseline="-25000" dirty="0">
                          <a:effectLst/>
                        </a:rPr>
                        <a:t>i-1</a:t>
                      </a:r>
                      <a:endParaRPr lang="en-US" sz="1900" dirty="0">
                        <a:effectLst/>
                        <a:latin typeface="Calibri"/>
                        <a:ea typeface="Calibri"/>
                        <a:cs typeface="Shruti"/>
                      </a:endParaRPr>
                    </a:p>
                  </a:txBody>
                  <a:tcPr marL="64906" marR="64906" marT="0" marB="0">
                    <a:lnR w="12700" cap="flat" cmpd="sng" algn="ctr">
                      <a:solidFill>
                        <a:schemeClr val="tx1"/>
                      </a:solidFill>
                      <a:prstDash val="solid"/>
                      <a:round/>
                      <a:headEnd type="none" w="med" len="med"/>
                      <a:tailEnd type="none" w="med" len="med"/>
                    </a:lnR>
                  </a:tcPr>
                </a:tc>
                <a:tc>
                  <a:txBody>
                    <a:bodyPr/>
                    <a:lstStyle/>
                    <a:p>
                      <a:pPr algn="ctr">
                        <a:lnSpc>
                          <a:spcPct val="115000"/>
                        </a:lnSpc>
                        <a:spcAft>
                          <a:spcPts val="0"/>
                        </a:spcAft>
                      </a:pPr>
                      <a:r>
                        <a:rPr lang="en-US" sz="1900" dirty="0">
                          <a:effectLst/>
                        </a:rPr>
                        <a:t>O</a:t>
                      </a:r>
                      <a:r>
                        <a:rPr lang="en-US" sz="1900" baseline="-25000" dirty="0">
                          <a:effectLst/>
                        </a:rPr>
                        <a:t>1</a:t>
                      </a:r>
                      <a:endParaRPr lang="en-US" sz="1900" dirty="0">
                        <a:effectLst/>
                        <a:latin typeface="Calibri"/>
                        <a:ea typeface="Calibri"/>
                        <a:cs typeface="Shruti"/>
                      </a:endParaRPr>
                    </a:p>
                  </a:txBody>
                  <a:tcPr marL="64906" marR="64906" marT="0" marB="0">
                    <a:lnL w="12700" cap="flat" cmpd="sng" algn="ctr">
                      <a:solidFill>
                        <a:schemeClr val="tx1"/>
                      </a:solidFill>
                      <a:prstDash val="solid"/>
                      <a:round/>
                      <a:headEnd type="none" w="med" len="med"/>
                      <a:tailEnd type="none" w="med" len="med"/>
                    </a:lnL>
                  </a:tcPr>
                </a:tc>
                <a:tc>
                  <a:txBody>
                    <a:bodyPr/>
                    <a:lstStyle/>
                    <a:p>
                      <a:pPr algn="ctr">
                        <a:lnSpc>
                          <a:spcPct val="115000"/>
                        </a:lnSpc>
                        <a:spcAft>
                          <a:spcPts val="0"/>
                        </a:spcAft>
                      </a:pPr>
                      <a:r>
                        <a:rPr lang="en-US" sz="1900" dirty="0">
                          <a:effectLst/>
                        </a:rPr>
                        <a:t>O</a:t>
                      </a:r>
                      <a:r>
                        <a:rPr lang="en-US" sz="1900" baseline="-25000" dirty="0">
                          <a:effectLst/>
                        </a:rPr>
                        <a:t>2</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O</a:t>
                      </a:r>
                      <a:r>
                        <a:rPr lang="en-US" sz="1900" baseline="-25000" dirty="0">
                          <a:effectLst/>
                        </a:rPr>
                        <a:t>j-1</a:t>
                      </a:r>
                      <a:endParaRPr lang="en-US" sz="1900" dirty="0">
                        <a:effectLst/>
                        <a:latin typeface="Calibri"/>
                        <a:ea typeface="Calibri"/>
                        <a:cs typeface="Shruti"/>
                      </a:endParaRPr>
                    </a:p>
                  </a:txBody>
                  <a:tcPr marL="64906" marR="64906" marT="0" marB="0">
                    <a:lnR w="12700" cap="flat" cmpd="sng" algn="ctr">
                      <a:solidFill>
                        <a:schemeClr val="tx1"/>
                      </a:solidFill>
                      <a:prstDash val="solid"/>
                      <a:round/>
                      <a:headEnd type="none" w="med" len="med"/>
                      <a:tailEnd type="none" w="med" len="med"/>
                    </a:lnR>
                  </a:tcPr>
                </a:tc>
                <a:tc>
                  <a:txBody>
                    <a:bodyPr/>
                    <a:lstStyle/>
                    <a:p>
                      <a:pPr algn="ctr">
                        <a:lnSpc>
                          <a:spcPct val="115000"/>
                        </a:lnSpc>
                        <a:spcAft>
                          <a:spcPts val="0"/>
                        </a:spcAft>
                      </a:pPr>
                      <a:r>
                        <a:rPr lang="en-US" sz="1900">
                          <a:effectLst/>
                        </a:rPr>
                        <a:t>B</a:t>
                      </a:r>
                      <a:r>
                        <a:rPr lang="en-US" sz="1900" baseline="-25000">
                          <a:effectLst/>
                        </a:rPr>
                        <a:t>1</a:t>
                      </a:r>
                      <a:endParaRPr lang="en-US" sz="1900">
                        <a:effectLst/>
                        <a:latin typeface="Calibri"/>
                        <a:ea typeface="Calibri"/>
                        <a:cs typeface="Shruti"/>
                      </a:endParaRPr>
                    </a:p>
                  </a:txBody>
                  <a:tcPr marL="64906" marR="64906" marT="0" marB="0">
                    <a:lnL w="12700" cap="flat" cmpd="sng" algn="ctr">
                      <a:solidFill>
                        <a:schemeClr val="tx1"/>
                      </a:solidFill>
                      <a:prstDash val="solid"/>
                      <a:round/>
                      <a:headEnd type="none" w="med" len="med"/>
                      <a:tailEnd type="none" w="med" len="med"/>
                    </a:lnL>
                  </a:tcPr>
                </a:tc>
                <a:tc>
                  <a:txBody>
                    <a:bodyPr/>
                    <a:lstStyle/>
                    <a:p>
                      <a:pPr algn="ctr">
                        <a:lnSpc>
                          <a:spcPct val="115000"/>
                        </a:lnSpc>
                        <a:spcAft>
                          <a:spcPts val="0"/>
                        </a:spcAft>
                      </a:pPr>
                      <a:r>
                        <a:rPr lang="en-US" sz="1900">
                          <a:effectLst/>
                        </a:rPr>
                        <a:t>B</a:t>
                      </a:r>
                      <a:r>
                        <a:rPr lang="en-US" sz="1900" baseline="-25000">
                          <a:effectLst/>
                        </a:rPr>
                        <a:t>2</a:t>
                      </a:r>
                      <a:endParaRPr lang="en-US" sz="1900">
                        <a:effectLst/>
                        <a:latin typeface="Calibri"/>
                        <a:ea typeface="Calibri"/>
                        <a:cs typeface="Shruti"/>
                      </a:endParaRPr>
                    </a:p>
                  </a:txBody>
                  <a:tcPr marL="64906" marR="64906" marT="0" marB="0"/>
                </a:tc>
                <a:tc>
                  <a:txBody>
                    <a:bodyPr/>
                    <a:lstStyle/>
                    <a:p>
                      <a:pPr algn="ctr">
                        <a:lnSpc>
                          <a:spcPct val="115000"/>
                        </a:lnSpc>
                        <a:spcAft>
                          <a:spcPts val="0"/>
                        </a:spcAft>
                      </a:pPr>
                      <a:r>
                        <a:rPr lang="en-US" sz="1900">
                          <a:effectLst/>
                        </a:rPr>
                        <a:t>…</a:t>
                      </a:r>
                      <a:endParaRPr lang="en-US" sz="190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B</a:t>
                      </a:r>
                      <a:r>
                        <a:rPr lang="en-US" sz="1900" baseline="-25000" dirty="0">
                          <a:effectLst/>
                        </a:rPr>
                        <a:t>k-1</a:t>
                      </a:r>
                      <a:endParaRPr lang="en-US" sz="1900" dirty="0">
                        <a:effectLst/>
                        <a:latin typeface="Calibri"/>
                        <a:ea typeface="Calibri"/>
                        <a:cs typeface="Shruti"/>
                      </a:endParaRPr>
                    </a:p>
                  </a:txBody>
                  <a:tcPr marL="64906" marR="64906" marT="0" marB="0">
                    <a:lnR w="12700" cap="flat" cmpd="sng" algn="ctr">
                      <a:solidFill>
                        <a:schemeClr val="tx1"/>
                      </a:solidFill>
                      <a:prstDash val="solid"/>
                      <a:round/>
                      <a:headEnd type="none" w="med" len="med"/>
                      <a:tailEnd type="none" w="med" len="med"/>
                    </a:lnR>
                  </a:tcPr>
                </a:tc>
                <a:tc>
                  <a:txBody>
                    <a:bodyPr/>
                    <a:lstStyle/>
                    <a:p>
                      <a:pPr algn="ctr">
                        <a:lnSpc>
                          <a:spcPct val="115000"/>
                        </a:lnSpc>
                        <a:spcAft>
                          <a:spcPts val="0"/>
                        </a:spcAft>
                      </a:pPr>
                      <a:r>
                        <a:rPr lang="en-US" sz="1900">
                          <a:effectLst/>
                        </a:rPr>
                        <a:t>…</a:t>
                      </a:r>
                      <a:endParaRPr lang="en-US" sz="1900">
                        <a:effectLst/>
                        <a:latin typeface="Calibri"/>
                        <a:ea typeface="Calibri"/>
                        <a:cs typeface="Shruti"/>
                      </a:endParaRPr>
                    </a:p>
                  </a:txBody>
                  <a:tcPr marL="64906" marR="64906"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75166">
                <a:tc>
                  <a:txBody>
                    <a:bodyPr/>
                    <a:lstStyle/>
                    <a:p>
                      <a:pPr algn="ctr">
                        <a:lnSpc>
                          <a:spcPct val="115000"/>
                        </a:lnSpc>
                        <a:spcAft>
                          <a:spcPts val="0"/>
                        </a:spcAft>
                      </a:pPr>
                      <a:r>
                        <a:rPr lang="en-US" sz="1900" dirty="0">
                          <a:effectLst/>
                        </a:rPr>
                        <a:t>1</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1</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1</a:t>
                      </a:r>
                      <a:endParaRPr lang="en-US" sz="1900" dirty="0">
                        <a:effectLst/>
                        <a:latin typeface="Calibri"/>
                        <a:ea typeface="Calibri"/>
                        <a:cs typeface="Shruti"/>
                      </a:endParaRPr>
                    </a:p>
                  </a:txBody>
                  <a:tcPr marL="64906" marR="64906" marT="0" marB="0">
                    <a:lnR w="12700" cap="flat" cmpd="sng" algn="ctr">
                      <a:solidFill>
                        <a:schemeClr val="tx1"/>
                      </a:solidFill>
                      <a:prstDash val="solid"/>
                      <a:round/>
                      <a:headEnd type="none" w="med" len="med"/>
                      <a:tailEnd type="none" w="med" len="med"/>
                    </a:lnR>
                  </a:tcPr>
                </a:tc>
                <a:tc>
                  <a:txBody>
                    <a:bodyPr/>
                    <a:lstStyle/>
                    <a:p>
                      <a:pPr algn="ctr">
                        <a:lnSpc>
                          <a:spcPct val="115000"/>
                        </a:lnSpc>
                        <a:spcAft>
                          <a:spcPts val="0"/>
                        </a:spcAft>
                      </a:pPr>
                      <a:r>
                        <a:rPr lang="en-US" sz="1900">
                          <a:effectLst/>
                        </a:rPr>
                        <a:t>2</a:t>
                      </a:r>
                      <a:endParaRPr lang="en-US" sz="1900">
                        <a:effectLst/>
                        <a:latin typeface="Calibri"/>
                        <a:ea typeface="Calibri"/>
                        <a:cs typeface="Shruti"/>
                      </a:endParaRPr>
                    </a:p>
                  </a:txBody>
                  <a:tcPr marL="64906" marR="64906" marT="0" marB="0">
                    <a:lnL w="12700" cap="flat" cmpd="sng" algn="ctr">
                      <a:solidFill>
                        <a:schemeClr val="tx1"/>
                      </a:solidFill>
                      <a:prstDash val="solid"/>
                      <a:round/>
                      <a:headEnd type="none" w="med" len="med"/>
                      <a:tailEnd type="none" w="med" len="med"/>
                    </a:lnL>
                  </a:tcPr>
                </a:tc>
                <a:tc>
                  <a:txBody>
                    <a:bodyPr/>
                    <a:lstStyle/>
                    <a:p>
                      <a:pPr algn="ctr">
                        <a:lnSpc>
                          <a:spcPct val="115000"/>
                        </a:lnSpc>
                        <a:spcAft>
                          <a:spcPts val="0"/>
                        </a:spcAft>
                      </a:pPr>
                      <a:r>
                        <a:rPr lang="en-US" sz="1900">
                          <a:effectLst/>
                        </a:rPr>
                        <a:t>2</a:t>
                      </a:r>
                      <a:endParaRPr lang="en-US" sz="190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2</a:t>
                      </a:r>
                      <a:endParaRPr lang="en-US" sz="1900" dirty="0">
                        <a:effectLst/>
                        <a:latin typeface="Calibri"/>
                        <a:ea typeface="Calibri"/>
                        <a:cs typeface="Shruti"/>
                      </a:endParaRPr>
                    </a:p>
                  </a:txBody>
                  <a:tcPr marL="64906" marR="64906" marT="0" marB="0">
                    <a:lnR w="12700" cap="flat" cmpd="sng" algn="ctr">
                      <a:solidFill>
                        <a:schemeClr val="tx1"/>
                      </a:solidFill>
                      <a:prstDash val="solid"/>
                      <a:round/>
                      <a:headEnd type="none" w="med" len="med"/>
                      <a:tailEnd type="none" w="med" len="med"/>
                    </a:lnR>
                  </a:tcPr>
                </a:tc>
                <a:tc>
                  <a:txBody>
                    <a:bodyPr/>
                    <a:lstStyle/>
                    <a:p>
                      <a:pPr algn="ctr">
                        <a:lnSpc>
                          <a:spcPct val="115000"/>
                        </a:lnSpc>
                        <a:spcAft>
                          <a:spcPts val="0"/>
                        </a:spcAft>
                      </a:pPr>
                      <a:r>
                        <a:rPr lang="en-US" sz="1900" dirty="0">
                          <a:effectLst/>
                        </a:rPr>
                        <a:t>3</a:t>
                      </a:r>
                      <a:endParaRPr lang="en-US" sz="1900" dirty="0">
                        <a:effectLst/>
                        <a:latin typeface="Calibri"/>
                        <a:ea typeface="Calibri"/>
                        <a:cs typeface="Shruti"/>
                      </a:endParaRPr>
                    </a:p>
                  </a:txBody>
                  <a:tcPr marL="64906" marR="64906" marT="0" marB="0">
                    <a:lnL w="12700" cap="flat" cmpd="sng" algn="ctr">
                      <a:solidFill>
                        <a:schemeClr val="tx1"/>
                      </a:solidFill>
                      <a:prstDash val="solid"/>
                      <a:round/>
                      <a:headEnd type="none" w="med" len="med"/>
                      <a:tailEnd type="none" w="med" len="med"/>
                    </a:lnL>
                  </a:tcPr>
                </a:tc>
                <a:tc>
                  <a:txBody>
                    <a:bodyPr/>
                    <a:lstStyle/>
                    <a:p>
                      <a:pPr algn="ctr">
                        <a:lnSpc>
                          <a:spcPct val="115000"/>
                        </a:lnSpc>
                        <a:spcAft>
                          <a:spcPts val="0"/>
                        </a:spcAft>
                      </a:pPr>
                      <a:r>
                        <a:rPr lang="en-US" sz="1900" dirty="0">
                          <a:effectLst/>
                        </a:rPr>
                        <a:t>3</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3</a:t>
                      </a:r>
                      <a:endParaRPr lang="en-US" sz="1900" dirty="0">
                        <a:effectLst/>
                        <a:latin typeface="Calibri"/>
                        <a:ea typeface="Calibri"/>
                        <a:cs typeface="Shruti"/>
                      </a:endParaRPr>
                    </a:p>
                  </a:txBody>
                  <a:tcPr marL="64906" marR="64906" marT="0" marB="0">
                    <a:lnR w="12700" cap="flat" cmpd="sng" algn="ctr">
                      <a:solidFill>
                        <a:schemeClr val="tx1"/>
                      </a:solidFill>
                      <a:prstDash val="solid"/>
                      <a:round/>
                      <a:headEnd type="none" w="med" len="med"/>
                      <a:tailEnd type="none" w="med" len="med"/>
                    </a:lnR>
                  </a:tcPr>
                </a:tc>
                <a:tc>
                  <a:txBody>
                    <a:bodyPr/>
                    <a:lstStyle/>
                    <a:p>
                      <a:pPr algn="ctr">
                        <a:lnSpc>
                          <a:spcPct val="115000"/>
                        </a:lnSpc>
                        <a:spcAft>
                          <a:spcPts val="0"/>
                        </a:spcAft>
                      </a:pPr>
                      <a:r>
                        <a:rPr lang="en-US" sz="1900" dirty="0">
                          <a:effectLst/>
                        </a:rPr>
                        <a:t>…</a:t>
                      </a:r>
                      <a:endParaRPr lang="en-US" sz="1900" dirty="0">
                        <a:effectLst/>
                        <a:latin typeface="Calibri"/>
                        <a:ea typeface="Calibri"/>
                        <a:cs typeface="Shruti"/>
                      </a:endParaRPr>
                    </a:p>
                  </a:txBody>
                  <a:tcPr marL="64906" marR="64906"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bl>
          </a:graphicData>
        </a:graphic>
      </p:graphicFrame>
      <p:sp>
        <p:nvSpPr>
          <p:cNvPr id="5" name="TextBox 4"/>
          <p:cNvSpPr txBox="1"/>
          <p:nvPr/>
        </p:nvSpPr>
        <p:spPr>
          <a:xfrm>
            <a:off x="1578578" y="1331793"/>
            <a:ext cx="896399" cy="369332"/>
          </a:xfrm>
          <a:prstGeom prst="rect">
            <a:avLst/>
          </a:prstGeom>
          <a:noFill/>
        </p:spPr>
        <p:txBody>
          <a:bodyPr wrap="none" rtlCol="0">
            <a:spAutoFit/>
          </a:bodyPr>
          <a:lstStyle/>
          <a:p>
            <a:r>
              <a:rPr lang="en-IN" b="1" dirty="0">
                <a:solidFill>
                  <a:srgbClr val="C00000"/>
                </a:solidFill>
              </a:rPr>
              <a:t>Priority</a:t>
            </a:r>
            <a:endParaRPr lang="en-US" b="1" dirty="0">
              <a:solidFill>
                <a:srgbClr val="C00000"/>
              </a:solidFill>
            </a:endParaRPr>
          </a:p>
        </p:txBody>
      </p:sp>
      <p:sp>
        <p:nvSpPr>
          <p:cNvPr id="6" name="TextBox 5"/>
          <p:cNvSpPr txBox="1"/>
          <p:nvPr/>
        </p:nvSpPr>
        <p:spPr>
          <a:xfrm>
            <a:off x="1600201" y="935553"/>
            <a:ext cx="633507" cy="369332"/>
          </a:xfrm>
          <a:prstGeom prst="rect">
            <a:avLst/>
          </a:prstGeom>
          <a:noFill/>
        </p:spPr>
        <p:txBody>
          <a:bodyPr wrap="none" rtlCol="0">
            <a:spAutoFit/>
          </a:bodyPr>
          <a:lstStyle/>
          <a:p>
            <a:r>
              <a:rPr lang="en-IN" b="1" dirty="0">
                <a:solidFill>
                  <a:srgbClr val="C00000"/>
                </a:solidFill>
              </a:rPr>
              <a:t>Task</a:t>
            </a:r>
            <a:endParaRPr lang="en-US" b="1" dirty="0">
              <a:solidFill>
                <a:srgbClr val="C00000"/>
              </a:solidFill>
            </a:endParaRPr>
          </a:p>
        </p:txBody>
      </p:sp>
      <p:sp>
        <p:nvSpPr>
          <p:cNvPr id="7" name="TextBox 6"/>
          <p:cNvSpPr txBox="1"/>
          <p:nvPr/>
        </p:nvSpPr>
        <p:spPr>
          <a:xfrm>
            <a:off x="4371418" y="2169993"/>
            <a:ext cx="352982" cy="369332"/>
          </a:xfrm>
          <a:prstGeom prst="rect">
            <a:avLst/>
          </a:prstGeom>
          <a:noFill/>
        </p:spPr>
        <p:txBody>
          <a:bodyPr wrap="none" rtlCol="0">
            <a:spAutoFit/>
          </a:bodyPr>
          <a:lstStyle/>
          <a:p>
            <a:r>
              <a:rPr lang="en-IN" b="1" dirty="0" err="1">
                <a:solidFill>
                  <a:srgbClr val="C00000"/>
                </a:solidFill>
              </a:rPr>
              <a:t>R</a:t>
            </a:r>
            <a:r>
              <a:rPr lang="en-IN" b="1" baseline="-25000" dirty="0" err="1">
                <a:solidFill>
                  <a:srgbClr val="C00000"/>
                </a:solidFill>
              </a:rPr>
              <a:t>i</a:t>
            </a:r>
            <a:endParaRPr lang="en-US" b="1" baseline="-25000" dirty="0">
              <a:solidFill>
                <a:srgbClr val="C00000"/>
              </a:solidFill>
            </a:endParaRPr>
          </a:p>
        </p:txBody>
      </p:sp>
      <p:cxnSp>
        <p:nvCxnSpPr>
          <p:cNvPr id="9" name="Straight Arrow Connector 8"/>
          <p:cNvCxnSpPr>
            <a:stCxn id="7" idx="0"/>
          </p:cNvCxnSpPr>
          <p:nvPr/>
        </p:nvCxnSpPr>
        <p:spPr>
          <a:xfrm flipV="1">
            <a:off x="4547909" y="1701125"/>
            <a:ext cx="0" cy="4688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0" name="TextBox 9"/>
          <p:cNvSpPr txBox="1"/>
          <p:nvPr/>
        </p:nvSpPr>
        <p:spPr>
          <a:xfrm>
            <a:off x="6809818" y="2181661"/>
            <a:ext cx="362600" cy="369332"/>
          </a:xfrm>
          <a:prstGeom prst="rect">
            <a:avLst/>
          </a:prstGeom>
          <a:noFill/>
        </p:spPr>
        <p:txBody>
          <a:bodyPr wrap="none" rtlCol="0">
            <a:spAutoFit/>
          </a:bodyPr>
          <a:lstStyle/>
          <a:p>
            <a:r>
              <a:rPr lang="en-IN" b="1" dirty="0" err="1">
                <a:solidFill>
                  <a:srgbClr val="C00000"/>
                </a:solidFill>
              </a:rPr>
              <a:t>O</a:t>
            </a:r>
            <a:r>
              <a:rPr lang="en-IN" b="1" baseline="-25000" dirty="0" err="1">
                <a:solidFill>
                  <a:srgbClr val="C00000"/>
                </a:solidFill>
              </a:rPr>
              <a:t>j</a:t>
            </a:r>
            <a:endParaRPr lang="en-US" b="1" baseline="-25000" dirty="0">
              <a:solidFill>
                <a:srgbClr val="C00000"/>
              </a:solidFill>
            </a:endParaRPr>
          </a:p>
        </p:txBody>
      </p:sp>
      <p:sp>
        <p:nvSpPr>
          <p:cNvPr id="12" name="TextBox 11"/>
          <p:cNvSpPr txBox="1"/>
          <p:nvPr/>
        </p:nvSpPr>
        <p:spPr>
          <a:xfrm>
            <a:off x="9449568" y="2181661"/>
            <a:ext cx="388248" cy="369332"/>
          </a:xfrm>
          <a:prstGeom prst="rect">
            <a:avLst/>
          </a:prstGeom>
          <a:noFill/>
        </p:spPr>
        <p:txBody>
          <a:bodyPr wrap="none" rtlCol="0">
            <a:spAutoFit/>
          </a:bodyPr>
          <a:lstStyle/>
          <a:p>
            <a:r>
              <a:rPr lang="en-IN" b="1" dirty="0" err="1">
                <a:solidFill>
                  <a:srgbClr val="C00000"/>
                </a:solidFill>
              </a:rPr>
              <a:t>B</a:t>
            </a:r>
            <a:r>
              <a:rPr lang="en-IN" b="1" baseline="-25000" dirty="0" err="1">
                <a:solidFill>
                  <a:srgbClr val="C00000"/>
                </a:solidFill>
              </a:rPr>
              <a:t>k</a:t>
            </a:r>
            <a:endParaRPr lang="en-US" b="1" baseline="-25000" dirty="0">
              <a:solidFill>
                <a:srgbClr val="C00000"/>
              </a:solidFill>
            </a:endParaRPr>
          </a:p>
        </p:txBody>
      </p:sp>
      <p:cxnSp>
        <p:nvCxnSpPr>
          <p:cNvPr id="15" name="Straight Arrow Connector 14"/>
          <p:cNvCxnSpPr>
            <a:stCxn id="10" idx="0"/>
          </p:cNvCxnSpPr>
          <p:nvPr/>
        </p:nvCxnSpPr>
        <p:spPr>
          <a:xfrm flipV="1">
            <a:off x="6991118" y="1701125"/>
            <a:ext cx="8816" cy="4805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 name="Straight Arrow Connector 16"/>
          <p:cNvCxnSpPr>
            <a:stCxn id="12" idx="0"/>
          </p:cNvCxnSpPr>
          <p:nvPr/>
        </p:nvCxnSpPr>
        <p:spPr>
          <a:xfrm flipV="1">
            <a:off x="9643692" y="1701125"/>
            <a:ext cx="0" cy="4805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8" name="TextBox 17"/>
          <p:cNvSpPr txBox="1"/>
          <p:nvPr/>
        </p:nvSpPr>
        <p:spPr>
          <a:xfrm>
            <a:off x="2416948" y="2627193"/>
            <a:ext cx="7358104" cy="369332"/>
          </a:xfrm>
          <a:prstGeom prst="rect">
            <a:avLst/>
          </a:prstGeom>
          <a:noFill/>
        </p:spPr>
        <p:txBody>
          <a:bodyPr wrap="none" rtlCol="0">
            <a:spAutoFit/>
          </a:bodyPr>
          <a:lstStyle/>
          <a:p>
            <a:pPr algn="ctr"/>
            <a:r>
              <a:rPr lang="en-IN" b="1" dirty="0"/>
              <a:t>Priority Queue viewed as a single queue with insertion allowed at any position</a:t>
            </a:r>
            <a:endParaRPr lang="en-US" b="1" dirty="0"/>
          </a:p>
        </p:txBody>
      </p:sp>
      <p:graphicFrame>
        <p:nvGraphicFramePr>
          <p:cNvPr id="19" name="Table 18"/>
          <p:cNvGraphicFramePr>
            <a:graphicFrameLocks noGrp="1"/>
          </p:cNvGraphicFramePr>
          <p:nvPr>
            <p:extLst>
              <p:ext uri="{D42A27DB-BD31-4B8C-83A1-F6EECF244321}">
                <p14:modId xmlns:p14="http://schemas.microsoft.com/office/powerpoint/2010/main" val="3860557681"/>
              </p:ext>
            </p:extLst>
          </p:nvPr>
        </p:nvGraphicFramePr>
        <p:xfrm>
          <a:off x="2971800" y="3514161"/>
          <a:ext cx="2336843" cy="375166"/>
        </p:xfrm>
        <a:graphic>
          <a:graphicData uri="http://schemas.openxmlformats.org/drawingml/2006/table">
            <a:tbl>
              <a:tblPr firstRow="1" firstCol="1" bandRow="1">
                <a:tableStyleId>{BC89EF96-8CEA-46FF-86C4-4CE0E7609802}</a:tableStyleId>
              </a:tblPr>
              <a:tblGrid>
                <a:gridCol w="573922">
                  <a:extLst>
                    <a:ext uri="{9D8B030D-6E8A-4147-A177-3AD203B41FA5}">
                      <a16:colId xmlns:a16="http://schemas.microsoft.com/office/drawing/2014/main" val="20000"/>
                    </a:ext>
                  </a:extLst>
                </a:gridCol>
                <a:gridCol w="573922">
                  <a:extLst>
                    <a:ext uri="{9D8B030D-6E8A-4147-A177-3AD203B41FA5}">
                      <a16:colId xmlns:a16="http://schemas.microsoft.com/office/drawing/2014/main" val="20001"/>
                    </a:ext>
                  </a:extLst>
                </a:gridCol>
                <a:gridCol w="531657">
                  <a:extLst>
                    <a:ext uri="{9D8B030D-6E8A-4147-A177-3AD203B41FA5}">
                      <a16:colId xmlns:a16="http://schemas.microsoft.com/office/drawing/2014/main" val="20002"/>
                    </a:ext>
                  </a:extLst>
                </a:gridCol>
                <a:gridCol w="657342">
                  <a:extLst>
                    <a:ext uri="{9D8B030D-6E8A-4147-A177-3AD203B41FA5}">
                      <a16:colId xmlns:a16="http://schemas.microsoft.com/office/drawing/2014/main" val="20003"/>
                    </a:ext>
                  </a:extLst>
                </a:gridCol>
              </a:tblGrid>
              <a:tr h="375166">
                <a:tc>
                  <a:txBody>
                    <a:bodyPr/>
                    <a:lstStyle/>
                    <a:p>
                      <a:pPr algn="ctr">
                        <a:lnSpc>
                          <a:spcPct val="115000"/>
                        </a:lnSpc>
                        <a:spcAft>
                          <a:spcPts val="0"/>
                        </a:spcAft>
                      </a:pPr>
                      <a:r>
                        <a:rPr lang="en-US" sz="2100" dirty="0">
                          <a:effectLst/>
                        </a:rPr>
                        <a:t>R</a:t>
                      </a:r>
                      <a:r>
                        <a:rPr lang="en-US" sz="2100" baseline="-25000" dirty="0">
                          <a:effectLst/>
                        </a:rPr>
                        <a:t>1</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R</a:t>
                      </a:r>
                      <a:r>
                        <a:rPr lang="en-US" sz="2100" baseline="-25000" dirty="0">
                          <a:effectLst/>
                        </a:rPr>
                        <a:t>2</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R</a:t>
                      </a:r>
                      <a:r>
                        <a:rPr lang="en-US" sz="2100" baseline="-25000" dirty="0">
                          <a:effectLst/>
                        </a:rPr>
                        <a:t>i-1</a:t>
                      </a:r>
                      <a:endParaRPr lang="en-US" sz="2100" dirty="0">
                        <a:effectLst/>
                        <a:latin typeface="Calibri"/>
                        <a:ea typeface="Calibri"/>
                        <a:cs typeface="Shruti"/>
                      </a:endParaRPr>
                    </a:p>
                  </a:txBody>
                  <a:tcPr marL="64906" marR="64906" marT="0" marB="0"/>
                </a:tc>
                <a:extLst>
                  <a:ext uri="{0D108BD9-81ED-4DB2-BD59-A6C34878D82A}">
                    <a16:rowId xmlns:a16="http://schemas.microsoft.com/office/drawing/2014/main" val="10000"/>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1526859453"/>
              </p:ext>
            </p:extLst>
          </p:nvPr>
        </p:nvGraphicFramePr>
        <p:xfrm>
          <a:off x="2971800" y="4074993"/>
          <a:ext cx="2350877" cy="375166"/>
        </p:xfrm>
        <a:graphic>
          <a:graphicData uri="http://schemas.openxmlformats.org/drawingml/2006/table">
            <a:tbl>
              <a:tblPr firstRow="1" firstCol="1" bandRow="1">
                <a:tableStyleId>{BC89EF96-8CEA-46FF-86C4-4CE0E7609802}</a:tableStyleId>
              </a:tblPr>
              <a:tblGrid>
                <a:gridCol w="584758">
                  <a:extLst>
                    <a:ext uri="{9D8B030D-6E8A-4147-A177-3AD203B41FA5}">
                      <a16:colId xmlns:a16="http://schemas.microsoft.com/office/drawing/2014/main" val="20000"/>
                    </a:ext>
                  </a:extLst>
                </a:gridCol>
                <a:gridCol w="584758">
                  <a:extLst>
                    <a:ext uri="{9D8B030D-6E8A-4147-A177-3AD203B41FA5}">
                      <a16:colId xmlns:a16="http://schemas.microsoft.com/office/drawing/2014/main" val="20001"/>
                    </a:ext>
                  </a:extLst>
                </a:gridCol>
                <a:gridCol w="514759">
                  <a:extLst>
                    <a:ext uri="{9D8B030D-6E8A-4147-A177-3AD203B41FA5}">
                      <a16:colId xmlns:a16="http://schemas.microsoft.com/office/drawing/2014/main" val="20002"/>
                    </a:ext>
                  </a:extLst>
                </a:gridCol>
                <a:gridCol w="666602">
                  <a:extLst>
                    <a:ext uri="{9D8B030D-6E8A-4147-A177-3AD203B41FA5}">
                      <a16:colId xmlns:a16="http://schemas.microsoft.com/office/drawing/2014/main" val="20003"/>
                    </a:ext>
                  </a:extLst>
                </a:gridCol>
              </a:tblGrid>
              <a:tr h="375166">
                <a:tc>
                  <a:txBody>
                    <a:bodyPr/>
                    <a:lstStyle/>
                    <a:p>
                      <a:pPr algn="ctr">
                        <a:lnSpc>
                          <a:spcPct val="115000"/>
                        </a:lnSpc>
                        <a:spcAft>
                          <a:spcPts val="0"/>
                        </a:spcAft>
                      </a:pPr>
                      <a:r>
                        <a:rPr lang="en-US" sz="2100" dirty="0">
                          <a:effectLst/>
                        </a:rPr>
                        <a:t>O</a:t>
                      </a:r>
                      <a:r>
                        <a:rPr lang="en-US" sz="2100" baseline="-25000" dirty="0">
                          <a:effectLst/>
                        </a:rPr>
                        <a:t>1</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O</a:t>
                      </a:r>
                      <a:r>
                        <a:rPr lang="en-US" sz="2100" baseline="-25000" dirty="0">
                          <a:effectLst/>
                        </a:rPr>
                        <a:t>2</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O</a:t>
                      </a:r>
                      <a:r>
                        <a:rPr lang="en-US" sz="2100" baseline="-25000" dirty="0">
                          <a:effectLst/>
                        </a:rPr>
                        <a:t>j-1</a:t>
                      </a:r>
                      <a:endParaRPr lang="en-US" sz="2100" dirty="0">
                        <a:effectLst/>
                        <a:latin typeface="Calibri"/>
                        <a:ea typeface="Calibri"/>
                        <a:cs typeface="Shruti"/>
                      </a:endParaRPr>
                    </a:p>
                  </a:txBody>
                  <a:tcPr marL="64906" marR="64906" marT="0" marB="0"/>
                </a:tc>
                <a:extLst>
                  <a:ext uri="{0D108BD9-81ED-4DB2-BD59-A6C34878D82A}">
                    <a16:rowId xmlns:a16="http://schemas.microsoft.com/office/drawing/2014/main" val="10000"/>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3661543834"/>
              </p:ext>
            </p:extLst>
          </p:nvPr>
        </p:nvGraphicFramePr>
        <p:xfrm>
          <a:off x="2971800" y="4678759"/>
          <a:ext cx="2358180" cy="375166"/>
        </p:xfrm>
        <a:graphic>
          <a:graphicData uri="http://schemas.openxmlformats.org/drawingml/2006/table">
            <a:tbl>
              <a:tblPr firstRow="1" firstCol="1" bandRow="1">
                <a:tableStyleId>{BC89EF96-8CEA-46FF-86C4-4CE0E7609802}</a:tableStyleId>
              </a:tblPr>
              <a:tblGrid>
                <a:gridCol w="546959">
                  <a:extLst>
                    <a:ext uri="{9D8B030D-6E8A-4147-A177-3AD203B41FA5}">
                      <a16:colId xmlns:a16="http://schemas.microsoft.com/office/drawing/2014/main" val="20000"/>
                    </a:ext>
                  </a:extLst>
                </a:gridCol>
                <a:gridCol w="546959">
                  <a:extLst>
                    <a:ext uri="{9D8B030D-6E8A-4147-A177-3AD203B41FA5}">
                      <a16:colId xmlns:a16="http://schemas.microsoft.com/office/drawing/2014/main" val="20001"/>
                    </a:ext>
                  </a:extLst>
                </a:gridCol>
                <a:gridCol w="478589">
                  <a:extLst>
                    <a:ext uri="{9D8B030D-6E8A-4147-A177-3AD203B41FA5}">
                      <a16:colId xmlns:a16="http://schemas.microsoft.com/office/drawing/2014/main" val="20002"/>
                    </a:ext>
                  </a:extLst>
                </a:gridCol>
                <a:gridCol w="785673">
                  <a:extLst>
                    <a:ext uri="{9D8B030D-6E8A-4147-A177-3AD203B41FA5}">
                      <a16:colId xmlns:a16="http://schemas.microsoft.com/office/drawing/2014/main" val="20003"/>
                    </a:ext>
                  </a:extLst>
                </a:gridCol>
              </a:tblGrid>
              <a:tr h="375166">
                <a:tc>
                  <a:txBody>
                    <a:bodyPr/>
                    <a:lstStyle/>
                    <a:p>
                      <a:pPr algn="ctr">
                        <a:lnSpc>
                          <a:spcPct val="115000"/>
                        </a:lnSpc>
                        <a:spcAft>
                          <a:spcPts val="0"/>
                        </a:spcAft>
                      </a:pPr>
                      <a:r>
                        <a:rPr lang="en-US" sz="2100" dirty="0">
                          <a:effectLst/>
                        </a:rPr>
                        <a:t>B</a:t>
                      </a:r>
                      <a:r>
                        <a:rPr lang="en-US" sz="2100" baseline="-25000" dirty="0">
                          <a:effectLst/>
                        </a:rPr>
                        <a:t>1</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B</a:t>
                      </a:r>
                      <a:r>
                        <a:rPr lang="en-US" sz="2100" baseline="-25000" dirty="0">
                          <a:effectLst/>
                        </a:rPr>
                        <a:t>2</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B</a:t>
                      </a:r>
                      <a:r>
                        <a:rPr lang="en-US" sz="2100" baseline="-25000" dirty="0">
                          <a:effectLst/>
                        </a:rPr>
                        <a:t>k-1</a:t>
                      </a:r>
                      <a:endParaRPr lang="en-US" sz="2100" dirty="0">
                        <a:effectLst/>
                        <a:latin typeface="Calibri"/>
                        <a:ea typeface="Calibri"/>
                        <a:cs typeface="Shruti"/>
                      </a:endParaRPr>
                    </a:p>
                  </a:txBody>
                  <a:tcPr marL="64906" marR="64906" marT="0" marB="0"/>
                </a:tc>
                <a:extLst>
                  <a:ext uri="{0D108BD9-81ED-4DB2-BD59-A6C34878D82A}">
                    <a16:rowId xmlns:a16="http://schemas.microsoft.com/office/drawing/2014/main" val="10000"/>
                  </a:ext>
                </a:extLst>
              </a:tr>
            </a:tbl>
          </a:graphicData>
        </a:graphic>
      </p:graphicFrame>
      <p:sp>
        <p:nvSpPr>
          <p:cNvPr id="22" name="TextBox 21"/>
          <p:cNvSpPr txBox="1"/>
          <p:nvPr/>
        </p:nvSpPr>
        <p:spPr>
          <a:xfrm>
            <a:off x="1743169" y="3513637"/>
            <a:ext cx="1242648" cy="369332"/>
          </a:xfrm>
          <a:prstGeom prst="rect">
            <a:avLst/>
          </a:prstGeom>
          <a:noFill/>
        </p:spPr>
        <p:txBody>
          <a:bodyPr wrap="none" rtlCol="0">
            <a:spAutoFit/>
          </a:bodyPr>
          <a:lstStyle/>
          <a:p>
            <a:r>
              <a:rPr lang="en-IN" b="1" dirty="0">
                <a:solidFill>
                  <a:srgbClr val="C00000"/>
                </a:solidFill>
              </a:rPr>
              <a:t>Priority  - 1</a:t>
            </a:r>
            <a:endParaRPr lang="en-US" b="1" dirty="0">
              <a:solidFill>
                <a:srgbClr val="C00000"/>
              </a:solidFill>
            </a:endParaRPr>
          </a:p>
        </p:txBody>
      </p:sp>
      <p:sp>
        <p:nvSpPr>
          <p:cNvPr id="23" name="TextBox 22"/>
          <p:cNvSpPr txBox="1"/>
          <p:nvPr/>
        </p:nvSpPr>
        <p:spPr>
          <a:xfrm>
            <a:off x="1743169" y="4074993"/>
            <a:ext cx="1189749" cy="369332"/>
          </a:xfrm>
          <a:prstGeom prst="rect">
            <a:avLst/>
          </a:prstGeom>
          <a:noFill/>
        </p:spPr>
        <p:txBody>
          <a:bodyPr wrap="none" rtlCol="0">
            <a:spAutoFit/>
          </a:bodyPr>
          <a:lstStyle/>
          <a:p>
            <a:r>
              <a:rPr lang="en-IN" b="1" dirty="0">
                <a:solidFill>
                  <a:srgbClr val="C00000"/>
                </a:solidFill>
              </a:rPr>
              <a:t>Priority - 2</a:t>
            </a:r>
            <a:endParaRPr lang="en-US" b="1" dirty="0">
              <a:solidFill>
                <a:srgbClr val="C00000"/>
              </a:solidFill>
            </a:endParaRPr>
          </a:p>
        </p:txBody>
      </p:sp>
      <p:sp>
        <p:nvSpPr>
          <p:cNvPr id="24" name="TextBox 23"/>
          <p:cNvSpPr txBox="1"/>
          <p:nvPr/>
        </p:nvSpPr>
        <p:spPr>
          <a:xfrm>
            <a:off x="1743169" y="4684069"/>
            <a:ext cx="1189749" cy="369332"/>
          </a:xfrm>
          <a:prstGeom prst="rect">
            <a:avLst/>
          </a:prstGeom>
          <a:noFill/>
        </p:spPr>
        <p:txBody>
          <a:bodyPr wrap="none" rtlCol="0">
            <a:spAutoFit/>
          </a:bodyPr>
          <a:lstStyle/>
          <a:p>
            <a:r>
              <a:rPr lang="en-IN" b="1" dirty="0">
                <a:solidFill>
                  <a:srgbClr val="C00000"/>
                </a:solidFill>
              </a:rPr>
              <a:t>Priority - 3</a:t>
            </a:r>
            <a:endParaRPr lang="en-US" b="1" dirty="0">
              <a:solidFill>
                <a:srgbClr val="C00000"/>
              </a:solidFill>
            </a:endParaRPr>
          </a:p>
        </p:txBody>
      </p:sp>
      <p:sp>
        <p:nvSpPr>
          <p:cNvPr id="25" name="TextBox 24"/>
          <p:cNvSpPr txBox="1"/>
          <p:nvPr/>
        </p:nvSpPr>
        <p:spPr>
          <a:xfrm>
            <a:off x="7366562" y="3513637"/>
            <a:ext cx="352982" cy="369332"/>
          </a:xfrm>
          <a:prstGeom prst="rect">
            <a:avLst/>
          </a:prstGeom>
          <a:noFill/>
        </p:spPr>
        <p:txBody>
          <a:bodyPr wrap="none" rtlCol="0">
            <a:spAutoFit/>
          </a:bodyPr>
          <a:lstStyle/>
          <a:p>
            <a:r>
              <a:rPr lang="en-IN" b="1" dirty="0" err="1">
                <a:solidFill>
                  <a:srgbClr val="C00000"/>
                </a:solidFill>
              </a:rPr>
              <a:t>R</a:t>
            </a:r>
            <a:r>
              <a:rPr lang="en-IN" b="1" baseline="-25000" dirty="0" err="1">
                <a:solidFill>
                  <a:srgbClr val="C00000"/>
                </a:solidFill>
              </a:rPr>
              <a:t>i</a:t>
            </a:r>
            <a:endParaRPr lang="en-US" b="1" baseline="-25000" dirty="0">
              <a:solidFill>
                <a:srgbClr val="C00000"/>
              </a:solidFill>
            </a:endParaRPr>
          </a:p>
        </p:txBody>
      </p:sp>
      <p:sp>
        <p:nvSpPr>
          <p:cNvPr id="26" name="TextBox 25"/>
          <p:cNvSpPr txBox="1"/>
          <p:nvPr/>
        </p:nvSpPr>
        <p:spPr>
          <a:xfrm>
            <a:off x="7361753" y="4056181"/>
            <a:ext cx="362600" cy="369332"/>
          </a:xfrm>
          <a:prstGeom prst="rect">
            <a:avLst/>
          </a:prstGeom>
          <a:noFill/>
        </p:spPr>
        <p:txBody>
          <a:bodyPr wrap="none" rtlCol="0">
            <a:spAutoFit/>
          </a:bodyPr>
          <a:lstStyle/>
          <a:p>
            <a:r>
              <a:rPr lang="en-IN" b="1" dirty="0" err="1">
                <a:solidFill>
                  <a:srgbClr val="C00000"/>
                </a:solidFill>
              </a:rPr>
              <a:t>O</a:t>
            </a:r>
            <a:r>
              <a:rPr lang="en-IN" b="1" baseline="-25000" dirty="0" err="1">
                <a:solidFill>
                  <a:srgbClr val="C00000"/>
                </a:solidFill>
              </a:rPr>
              <a:t>j</a:t>
            </a:r>
            <a:endParaRPr lang="en-US" b="1" baseline="-25000" dirty="0">
              <a:solidFill>
                <a:srgbClr val="C00000"/>
              </a:solidFill>
            </a:endParaRPr>
          </a:p>
        </p:txBody>
      </p:sp>
      <p:sp>
        <p:nvSpPr>
          <p:cNvPr id="27" name="TextBox 26"/>
          <p:cNvSpPr txBox="1"/>
          <p:nvPr/>
        </p:nvSpPr>
        <p:spPr>
          <a:xfrm>
            <a:off x="7348929" y="4671484"/>
            <a:ext cx="388248" cy="369332"/>
          </a:xfrm>
          <a:prstGeom prst="rect">
            <a:avLst/>
          </a:prstGeom>
          <a:noFill/>
        </p:spPr>
        <p:txBody>
          <a:bodyPr wrap="none" rtlCol="0">
            <a:spAutoFit/>
          </a:bodyPr>
          <a:lstStyle/>
          <a:p>
            <a:r>
              <a:rPr lang="en-IN" b="1" dirty="0" err="1">
                <a:solidFill>
                  <a:srgbClr val="C00000"/>
                </a:solidFill>
              </a:rPr>
              <a:t>B</a:t>
            </a:r>
            <a:r>
              <a:rPr lang="en-IN" b="1" baseline="-25000" dirty="0" err="1">
                <a:solidFill>
                  <a:srgbClr val="C00000"/>
                </a:solidFill>
              </a:rPr>
              <a:t>k</a:t>
            </a:r>
            <a:endParaRPr lang="en-US" b="1" baseline="-25000" dirty="0">
              <a:solidFill>
                <a:srgbClr val="C00000"/>
              </a:solidFill>
            </a:endParaRPr>
          </a:p>
        </p:txBody>
      </p:sp>
      <p:cxnSp>
        <p:nvCxnSpPr>
          <p:cNvPr id="30" name="Straight Arrow Connector 29"/>
          <p:cNvCxnSpPr/>
          <p:nvPr/>
        </p:nvCxnSpPr>
        <p:spPr>
          <a:xfrm flipH="1">
            <a:off x="5482380" y="4248337"/>
            <a:ext cx="1860071" cy="344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3" name="Straight Arrow Connector 32"/>
          <p:cNvCxnSpPr/>
          <p:nvPr/>
        </p:nvCxnSpPr>
        <p:spPr>
          <a:xfrm flipH="1">
            <a:off x="5482379" y="4856151"/>
            <a:ext cx="1860071" cy="344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5" name="Straight Arrow Connector 34"/>
          <p:cNvCxnSpPr/>
          <p:nvPr/>
        </p:nvCxnSpPr>
        <p:spPr>
          <a:xfrm flipH="1">
            <a:off x="5486401" y="3690553"/>
            <a:ext cx="1860071" cy="344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6" name="TextBox 35"/>
          <p:cNvSpPr txBox="1"/>
          <p:nvPr/>
        </p:nvSpPr>
        <p:spPr>
          <a:xfrm>
            <a:off x="3502726" y="5370393"/>
            <a:ext cx="5186548" cy="369332"/>
          </a:xfrm>
          <a:prstGeom prst="rect">
            <a:avLst/>
          </a:prstGeom>
          <a:noFill/>
        </p:spPr>
        <p:txBody>
          <a:bodyPr wrap="none" rtlCol="0">
            <a:spAutoFit/>
          </a:bodyPr>
          <a:lstStyle/>
          <a:p>
            <a:pPr algn="ctr"/>
            <a:r>
              <a:rPr lang="en-IN" b="1" dirty="0"/>
              <a:t>Priority Queue viewed as a Viewed as a set of queue</a:t>
            </a:r>
            <a:endParaRPr lang="en-US" b="1" dirty="0"/>
          </a:p>
        </p:txBody>
      </p:sp>
      <p:cxnSp>
        <p:nvCxnSpPr>
          <p:cNvPr id="38" name="Straight Connector 37"/>
          <p:cNvCxnSpPr/>
          <p:nvPr/>
        </p:nvCxnSpPr>
        <p:spPr>
          <a:xfrm>
            <a:off x="1709785" y="3160593"/>
            <a:ext cx="8772431"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0890923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0" grpId="0"/>
      <p:bldP spid="12" grpId="0"/>
      <p:bldP spid="18" grpId="0"/>
      <p:bldP spid="22" grpId="0"/>
      <p:bldP spid="23" grpId="0"/>
      <p:bldP spid="24" grpId="0"/>
      <p:bldP spid="25" grpId="0"/>
      <p:bldP spid="26" grpId="0"/>
      <p:bldP spid="27" grpId="0"/>
      <p:bldP spid="3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Frequently asked questions:</a:t>
            </a:r>
            <a:endParaRPr lang="en-US" dirty="0"/>
          </a:p>
        </p:txBody>
      </p:sp>
      <p:sp>
        <p:nvSpPr>
          <p:cNvPr id="3" name="Content Placeholder 2"/>
          <p:cNvSpPr>
            <a:spLocks noGrp="1"/>
          </p:cNvSpPr>
          <p:nvPr>
            <p:ph idx="1"/>
          </p:nvPr>
        </p:nvSpPr>
        <p:spPr>
          <a:xfrm>
            <a:off x="131179" y="944238"/>
            <a:ext cx="11929641" cy="5590565"/>
          </a:xfrm>
        </p:spPr>
        <p:txBody>
          <a:bodyPr/>
          <a:lstStyle/>
          <a:p>
            <a:r>
              <a:rPr lang="en-US" dirty="0"/>
              <a:t>Illustrate the working of priority queue with suitable example.</a:t>
            </a:r>
          </a:p>
          <a:p>
            <a:r>
              <a:rPr lang="en-US" dirty="0"/>
              <a:t>Write an algorithm for inserting and deleting an element in circular queue. </a:t>
            </a:r>
          </a:p>
          <a:p>
            <a:r>
              <a:rPr lang="en-US" dirty="0"/>
              <a:t>Consider an example where the size of the circular queue is four elements. Initially the queue is empty. It is required to insert symbols ‘A’,’B’ and ‘C’. Delete ‘A’ and ‘B’ and insert ‘D’ and ‘E’. Show the trace of the contents of the queue. </a:t>
            </a:r>
          </a:p>
          <a:p>
            <a:r>
              <a:rPr lang="en-US" dirty="0"/>
              <a:t>Discuss an algorithm to delete an element from the Simple Queue. </a:t>
            </a:r>
          </a:p>
          <a:p>
            <a:r>
              <a:rPr lang="en-US" dirty="0"/>
              <a:t>Define Queue. Also state applications of Queue. </a:t>
            </a:r>
            <a:endParaRPr lang="en-IN" dirty="0"/>
          </a:p>
        </p:txBody>
      </p:sp>
    </p:spTree>
    <p:extLst>
      <p:ext uri="{BB962C8B-B14F-4D97-AF65-F5344CB8AC3E}">
        <p14:creationId xmlns:p14="http://schemas.microsoft.com/office/powerpoint/2010/main" val="4068232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US" dirty="0"/>
              <a:t>pradyuman.jadeja@darshan.ac.in</a:t>
            </a:r>
          </a:p>
        </p:txBody>
      </p:sp>
      <p:sp>
        <p:nvSpPr>
          <p:cNvPr id="3" name="Text Placeholder 2"/>
          <p:cNvSpPr>
            <a:spLocks noGrp="1"/>
          </p:cNvSpPr>
          <p:nvPr>
            <p:ph type="body" sz="quarter" idx="12"/>
          </p:nvPr>
        </p:nvSpPr>
        <p:spPr/>
        <p:txBody>
          <a:bodyPr/>
          <a:lstStyle/>
          <a:p>
            <a:r>
              <a:rPr lang="en-US" dirty="0"/>
              <a:t>+91 9879461848</a:t>
            </a:r>
          </a:p>
        </p:txBody>
      </p:sp>
      <p:sp>
        <p:nvSpPr>
          <p:cNvPr id="4" name="Text Placeholder 3"/>
          <p:cNvSpPr>
            <a:spLocks noGrp="1"/>
          </p:cNvSpPr>
          <p:nvPr>
            <p:ph type="body" sz="quarter" idx="13"/>
          </p:nvPr>
        </p:nvSpPr>
        <p:spPr/>
        <p:txBody>
          <a:bodyPr/>
          <a:lstStyle/>
          <a:p>
            <a:r>
              <a:rPr lang="en-US" dirty="0"/>
              <a:t>Computer Engineering Department</a:t>
            </a:r>
          </a:p>
        </p:txBody>
      </p:sp>
      <p:sp>
        <p:nvSpPr>
          <p:cNvPr id="5" name="Text Placeholder 4"/>
          <p:cNvSpPr>
            <a:spLocks noGrp="1"/>
          </p:cNvSpPr>
          <p:nvPr>
            <p:ph type="body" sz="quarter" idx="14"/>
          </p:nvPr>
        </p:nvSpPr>
        <p:spPr/>
        <p:txBody>
          <a:bodyPr/>
          <a:lstStyle/>
          <a:p>
            <a:r>
              <a:rPr lang="en-IN" dirty="0" err="1"/>
              <a:t>Dr.</a:t>
            </a:r>
            <a:r>
              <a:rPr lang="en-IN" dirty="0"/>
              <a:t> </a:t>
            </a:r>
            <a:r>
              <a:rPr lang="en-IN" dirty="0" err="1"/>
              <a:t>Pradyumansinh</a:t>
            </a:r>
            <a:r>
              <a:rPr lang="en-IN" dirty="0"/>
              <a:t> </a:t>
            </a:r>
            <a:r>
              <a:rPr lang="en-IN" dirty="0" err="1"/>
              <a:t>Jadeja</a:t>
            </a:r>
            <a:endParaRPr lang="en-IN" dirty="0"/>
          </a:p>
        </p:txBody>
      </p:sp>
      <p:sp>
        <p:nvSpPr>
          <p:cNvPr id="9"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t>Data Structures </a:t>
            </a:r>
            <a:r>
              <a:rPr lang="en-US" dirty="0">
                <a:latin typeface="Roboto Condensed Light" panose="02000000000000000000" pitchFamily="2" charset="0"/>
                <a:ea typeface="Roboto Condensed Light" panose="02000000000000000000" pitchFamily="2" charset="0"/>
              </a:rPr>
              <a:t>(DS)</a:t>
            </a:r>
          </a:p>
          <a:p>
            <a:r>
              <a:rPr lang="en-US" dirty="0">
                <a:latin typeface="Roboto Condensed Light" panose="02000000000000000000" pitchFamily="2" charset="0"/>
                <a:ea typeface="Roboto Condensed Light" panose="02000000000000000000" pitchFamily="2" charset="0"/>
              </a:rPr>
              <a:t>DU #2301CS301</a:t>
            </a:r>
          </a:p>
        </p:txBody>
      </p:sp>
      <p:pic>
        <p:nvPicPr>
          <p:cNvPr id="7" name="Picture Placeholder 6"/>
          <p:cNvPicPr>
            <a:picLocks noGrp="1" noChangeAspect="1"/>
          </p:cNvPicPr>
          <p:nvPr>
            <p:ph type="pic" sz="quarter" idx="10"/>
          </p:nvPr>
        </p:nvPicPr>
        <p:blipFill>
          <a:blip r:embed="rId2" cstate="hq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3321485962"/>
      </p:ext>
    </p:extLst>
  </p:cSld>
  <p:clrMapOvr>
    <a:masterClrMapping/>
  </p:clrMapOvr>
</p:sld>
</file>

<file path=ppt/theme/theme1.xml><?xml version="1.0" encoding="utf-8"?>
<a:theme xmlns:a="http://schemas.openxmlformats.org/drawingml/2006/main" name="Office Theme">
  <a:themeElements>
    <a:clrScheme name="DeptPPT">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4735</TotalTime>
  <Words>2224</Words>
  <Application>Microsoft Office PowerPoint</Application>
  <PresentationFormat>Widescreen</PresentationFormat>
  <Paragraphs>665</Paragraphs>
  <Slides>30</Slides>
  <Notes>1</Notes>
  <HiddenSlides>2</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30</vt:i4>
      </vt:variant>
    </vt:vector>
  </HeadingPairs>
  <TitlesOfParts>
    <vt:vector size="44" baseType="lpstr">
      <vt:lpstr>Roboto Condensed Light</vt:lpstr>
      <vt:lpstr>Shruti</vt:lpstr>
      <vt:lpstr>Wingdings 3</vt:lpstr>
      <vt:lpstr>Segoe UI Black</vt:lpstr>
      <vt:lpstr>Wingdings 2</vt:lpstr>
      <vt:lpstr>Open Sans</vt:lpstr>
      <vt:lpstr>Open Sans Semibold</vt:lpstr>
      <vt:lpstr>Times New Roman</vt:lpstr>
      <vt:lpstr>Wingdings</vt:lpstr>
      <vt:lpstr>Calibri</vt:lpstr>
      <vt:lpstr>Consolas</vt:lpstr>
      <vt:lpstr>Roboto Condensed</vt:lpstr>
      <vt:lpstr>Arial</vt:lpstr>
      <vt:lpstr>Office Theme</vt:lpstr>
      <vt:lpstr>Unit-2 (Part 1) Queue : Linear Data Structure</vt:lpstr>
      <vt:lpstr>PowerPoint Presentation</vt:lpstr>
      <vt:lpstr>Queue</vt:lpstr>
      <vt:lpstr>Queue</vt:lpstr>
      <vt:lpstr>Queue - Applications</vt:lpstr>
      <vt:lpstr>Applications of Queue</vt:lpstr>
      <vt:lpstr>Queue - Operations</vt:lpstr>
      <vt:lpstr>Procedure: Enqueue (Q, F, R, N,Y)</vt:lpstr>
      <vt:lpstr>Function:  Dequeue (Q, F, R)</vt:lpstr>
      <vt:lpstr>Example of Queue Enqueue / Dequeue</vt:lpstr>
      <vt:lpstr>Circular Queue</vt:lpstr>
      <vt:lpstr>Circular Queue - Introduction</vt:lpstr>
      <vt:lpstr>Circular Queue - Introduction</vt:lpstr>
      <vt:lpstr>Circular Queue - Introduction</vt:lpstr>
      <vt:lpstr>Operations on Circular Queue</vt:lpstr>
      <vt:lpstr>Procedure: CQINSERT (F, R, Q, N, Y)</vt:lpstr>
      <vt:lpstr>Function: CQDELETE (F, R, Q, N)</vt:lpstr>
      <vt:lpstr>Example of CQueue Enqueue / Dequeue</vt:lpstr>
      <vt:lpstr>Double Ended Queue</vt:lpstr>
      <vt:lpstr>Double Ended Queue - Introduction</vt:lpstr>
      <vt:lpstr>DQueue</vt:lpstr>
      <vt:lpstr>Double Ended Queue - Operations</vt:lpstr>
      <vt:lpstr>Procedure: DQINSERT_FRONT (Q,F,R,N,Y)</vt:lpstr>
      <vt:lpstr>Function: DQDELETE_REAR(Q,F,R)</vt:lpstr>
      <vt:lpstr>Priority Queue</vt:lpstr>
      <vt:lpstr>Types of Priority Queue</vt:lpstr>
      <vt:lpstr>Priority Queue</vt:lpstr>
      <vt:lpstr>Priority Queue Cont…</vt:lpstr>
      <vt:lpstr>Frequently asked 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Queue - Linear Data Structure</dc:title>
  <dc:creator>ADMIN</dc:creator>
  <cp:keywords>Queue, Data Structure, Darshan Institute of Engineering &amp; Technology, DIET</cp:keywords>
  <cp:lastModifiedBy>DELL</cp:lastModifiedBy>
  <cp:revision>430</cp:revision>
  <dcterms:created xsi:type="dcterms:W3CDTF">2020-05-01T05:09:15Z</dcterms:created>
  <dcterms:modified xsi:type="dcterms:W3CDTF">2026-07-02T08:07:16Z</dcterms:modified>
</cp:coreProperties>
</file>