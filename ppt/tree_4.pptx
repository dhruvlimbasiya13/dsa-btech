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83" r:id="rId2"/>
    <p:sldId id="353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6" r:id="rId13"/>
    <p:sldId id="363" r:id="rId14"/>
    <p:sldId id="367" r:id="rId15"/>
    <p:sldId id="368" r:id="rId16"/>
    <p:sldId id="374" r:id="rId17"/>
    <p:sldId id="369" r:id="rId18"/>
    <p:sldId id="370" r:id="rId19"/>
    <p:sldId id="371" r:id="rId20"/>
    <p:sldId id="372" r:id="rId21"/>
    <p:sldId id="373" r:id="rId22"/>
    <p:sldId id="376" r:id="rId23"/>
    <p:sldId id="377" r:id="rId24"/>
    <p:sldId id="378" r:id="rId25"/>
    <p:sldId id="379" r:id="rId26"/>
    <p:sldId id="375" r:id="rId27"/>
    <p:sldId id="350" r:id="rId28"/>
  </p:sldIdLst>
  <p:sldSz cx="12192000" cy="6858000"/>
  <p:notesSz cx="6858000" cy="9144000"/>
  <p:embeddedFontLst>
    <p:embeddedFont>
      <p:font typeface="Roboto Condensed Light" panose="02000000000000000000" pitchFamily="2" charset="0"/>
      <p:regular r:id="rId31"/>
      <p:italic r:id="rId32"/>
    </p:embeddedFont>
    <p:embeddedFont>
      <p:font typeface="Wingdings 3" panose="05040102010807070707" pitchFamily="18" charset="2"/>
      <p:regular r:id="rId33"/>
    </p:embeddedFont>
    <p:embeddedFont>
      <p:font typeface="Roboto Condensed" panose="02000000000000000000" pitchFamily="2" charset="0"/>
      <p:regular r:id="rId34"/>
      <p:bold r:id="rId35"/>
      <p:italic r:id="rId36"/>
      <p:boldItalic r:id="rId37"/>
    </p:embeddedFont>
    <p:embeddedFont>
      <p:font typeface="Segoe UI Black" panose="020B0A02040204020203" pitchFamily="34" charset="0"/>
      <p:bold r:id="rId38"/>
      <p:boldItalic r:id="rId39"/>
    </p:embeddedFont>
    <p:embeddedFont>
      <p:font typeface="Open Sans" panose="020B0604020202020204" charset="0"/>
      <p:regular r:id="rId40"/>
      <p:bold r:id="rId41"/>
      <p:italic r:id="rId42"/>
      <p:boldItalic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Open Sans Semibold" panose="020B0604020202020204" charset="0"/>
      <p:bold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OVRSnPpbo5VMtc4iUUXYdw==" hashData="6+cTITu+CZcGmCIVzbUWzl93ZR+PP1wm6MsxlEnCRa5GA3h11djU4XczbUPv7OF7Fo9oXqhotCWTKuNnUP6kaw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742"/>
    <a:srgbClr val="9A0000"/>
    <a:srgbClr val="0000FF"/>
    <a:srgbClr val="00FF00"/>
    <a:srgbClr val="16745B"/>
    <a:srgbClr val="007D8E"/>
    <a:srgbClr val="0F5140"/>
    <a:srgbClr val="007635"/>
    <a:srgbClr val="2FA0AE"/>
    <a:srgbClr val="558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54" autoAdjust="0"/>
    <p:restoredTop sz="94660"/>
  </p:normalViewPr>
  <p:slideViewPr>
    <p:cSldViewPr snapToGrid="0">
      <p:cViewPr varScale="1">
        <p:scale>
          <a:sx n="83" d="100"/>
          <a:sy n="83" d="100"/>
        </p:scale>
        <p:origin x="26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8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font" Target="fonts/font1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</a:t>
            </a:r>
            <a:r>
              <a:rPr lang="en-US" sz="1600" dirty="0" smtClean="0"/>
              <a:t>University, </a:t>
            </a:r>
            <a:r>
              <a:rPr lang="en-US" sz="1600" dirty="0"/>
              <a:t>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 smtClean="0"/>
              <a:t># </a:t>
            </a:r>
            <a:r>
              <a:rPr lang="en-US" dirty="0"/>
              <a:t>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4" descr="http://btechsmartclass.com/DS/images/Tree.png"/>
          <p:cNvPicPr>
            <a:picLocks noChangeAspect="1" noChangeArrowheads="1"/>
          </p:cNvPicPr>
          <p:nvPr userDrawn="1"/>
        </p:nvPicPr>
        <p:blipFill rotWithShape="1"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57"/>
          <a:stretch/>
        </p:blipFill>
        <p:spPr bwMode="auto">
          <a:xfrm>
            <a:off x="8145345" y="1822751"/>
            <a:ext cx="3573396" cy="288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</a:t>
            </a:r>
            <a:r>
              <a:rPr lang="en-US" sz="1600" dirty="0" smtClean="0"/>
              <a:t>University, </a:t>
            </a:r>
            <a:r>
              <a:rPr lang="en-US" sz="1600" dirty="0"/>
              <a:t>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 smtClean="0"/>
              <a:t># </a:t>
            </a:r>
            <a:r>
              <a:rPr lang="en-US" dirty="0"/>
              <a:t>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 smtClean="0"/>
              <a:t>Thank</a:t>
            </a:r>
          </a:p>
          <a:p>
            <a:pPr algn="ctr"/>
            <a:r>
              <a:rPr lang="en-US" sz="6000" b="1" i="1" dirty="0" smtClean="0"/>
              <a:t>You</a:t>
            </a:r>
            <a:endParaRPr lang="en-US" sz="6000" b="1" i="1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(Part 4) – Tree -  Non-Linear Data Structure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(Part 4) – Tree -  Non-Linear Data Structure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(Part 4) – Tree -  Non-Linear Data Structure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02A992-B18A-47D4-8497-02E7586DF58D}"/>
              </a:ext>
            </a:extLst>
          </p:cNvPr>
          <p:cNvGrpSpPr/>
          <p:nvPr userDrawn="1"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024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(Part 4) – Tree -  Non-Linear Data Structure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(Part 4) – Tree -  Non-Linear Data Structure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(Part 4) – Tree -  Non-Linear Data Structure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 smtClean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 smtClean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 smtClean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 smtClean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 smtClean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8571448" cy="2563094"/>
          </a:xfrm>
        </p:spPr>
        <p:txBody>
          <a:bodyPr/>
          <a:lstStyle/>
          <a:p>
            <a:r>
              <a:rPr lang="en-US" sz="44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 (Part 4)</a:t>
            </a:r>
            <a:r>
              <a:rPr lang="en-US" sz="6000" dirty="0" smtClean="0"/>
              <a:t> 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/>
              <a:t>Tree</a:t>
            </a:r>
            <a:br>
              <a:rPr lang="en-US" sz="6000" dirty="0"/>
            </a:br>
            <a:r>
              <a:rPr lang="en-US" sz="4000" b="0" dirty="0" smtClean="0"/>
              <a:t>Non-Linear </a:t>
            </a:r>
            <a:r>
              <a:rPr lang="en-US" sz="4000" b="0" dirty="0"/>
              <a:t>Data Structure </a:t>
            </a:r>
            <a:r>
              <a:rPr lang="en-US" sz="6000" b="0" dirty="0"/>
              <a:t/>
            </a:r>
            <a:br>
              <a:rPr lang="en-US" sz="6000" b="0" dirty="0"/>
            </a:br>
            <a:endParaRPr lang="en-US" sz="5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smtClean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DS)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2301CS301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559489" y="3395398"/>
            <a:ext cx="7457420" cy="1323439"/>
            <a:chOff x="711890" y="3337431"/>
            <a:chExt cx="7457420" cy="1323439"/>
          </a:xfrm>
        </p:grpSpPr>
        <p:sp>
          <p:nvSpPr>
            <p:cNvPr id="13" name="Rectangle 12"/>
            <p:cNvSpPr/>
            <p:nvPr/>
          </p:nvSpPr>
          <p:spPr>
            <a:xfrm>
              <a:off x="711890" y="3337431"/>
              <a:ext cx="7457420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dirty="0">
                  <a:solidFill>
                    <a:srgbClr val="1D306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Roboto Condensed Light" panose="02000000000000000000" pitchFamily="2" charset="0"/>
                  <a:ea typeface="Roboto Condensed Light" panose="02000000000000000000" pitchFamily="2" charset="0"/>
                </a:rPr>
                <a:t>Part </a:t>
              </a:r>
              <a:r>
                <a:rPr lang="en-US" sz="3200" dirty="0" smtClean="0">
                  <a:solidFill>
                    <a:srgbClr val="1D306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Roboto Condensed Light" panose="02000000000000000000" pitchFamily="2" charset="0"/>
                  <a:ea typeface="Roboto Condensed Light" panose="02000000000000000000" pitchFamily="2" charset="0"/>
                </a:rPr>
                <a:t>4</a:t>
              </a:r>
              <a:endParaRPr lang="en-US" sz="3200" dirty="0">
                <a:solidFill>
                  <a:srgbClr val="1D306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endParaRPr>
            </a:p>
            <a:p>
              <a:pPr marL="342900" indent="-342900">
                <a:buFont typeface="Wingdings" panose="05000000000000000000" pitchFamily="2" charset="2"/>
                <a:buChar char="w"/>
              </a:pPr>
              <a:r>
                <a:rPr lang="en-US" sz="2400" dirty="0" smtClean="0">
                  <a:solidFill>
                    <a:schemeClr val="tx1">
                      <a:lumMod val="90000"/>
                      <a:lumOff val="1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Segoe UI Black" panose="020B0A02040204020203" pitchFamily="34" charset="0"/>
                </a:rPr>
                <a:t>Red-Black Tree</a:t>
              </a:r>
            </a:p>
            <a:p>
              <a:pPr marL="342900" indent="-342900">
                <a:buFont typeface="Wingdings" panose="05000000000000000000" pitchFamily="2" charset="2"/>
                <a:buChar char="w"/>
              </a:pPr>
              <a:r>
                <a:rPr lang="en-US" sz="2400" dirty="0" err="1" smtClean="0">
                  <a:solidFill>
                    <a:schemeClr val="tx1">
                      <a:lumMod val="90000"/>
                      <a:lumOff val="1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Segoe UI Black" panose="020B0A02040204020203" pitchFamily="34" charset="0"/>
                </a:rPr>
                <a:t>Trie</a:t>
              </a:r>
              <a:r>
                <a:rPr lang="en-US" sz="2400" dirty="0" smtClean="0">
                  <a:solidFill>
                    <a:schemeClr val="tx1">
                      <a:lumMod val="90000"/>
                      <a:lumOff val="1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Segoe UI Black" panose="020B0A02040204020203" pitchFamily="34" charset="0"/>
                </a:rPr>
                <a:t> Data Structure</a:t>
              </a:r>
              <a:endParaRPr lang="en-US" sz="24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1822292" y="3618440"/>
              <a:ext cx="6347018" cy="0"/>
            </a:xfrm>
            <a:prstGeom prst="line">
              <a:avLst/>
            </a:prstGeom>
            <a:ln w="19050">
              <a:solidFill>
                <a:srgbClr val="1D30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Red</a:t>
            </a:r>
            <a:r>
              <a:rPr lang="en-IN" dirty="0"/>
              <a:t>-Black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Red-Black Tree is a type of </a:t>
            </a:r>
            <a:r>
              <a:rPr lang="en-US" b="1" dirty="0">
                <a:solidFill>
                  <a:srgbClr val="C00000"/>
                </a:solidFill>
              </a:rPr>
              <a:t>self-balancing binary search tree (BST)</a:t>
            </a:r>
            <a:r>
              <a:rPr lang="en-US" dirty="0"/>
              <a:t> in which </a:t>
            </a:r>
            <a:r>
              <a:rPr lang="en-US" dirty="0">
                <a:solidFill>
                  <a:srgbClr val="C00000"/>
                </a:solidFill>
              </a:rPr>
              <a:t>each node</a:t>
            </a:r>
            <a:r>
              <a:rPr lang="en-US" dirty="0"/>
              <a:t> contains an </a:t>
            </a:r>
            <a:r>
              <a:rPr lang="en-US" dirty="0">
                <a:solidFill>
                  <a:srgbClr val="C00000"/>
                </a:solidFill>
              </a:rPr>
              <a:t>additional attribute</a:t>
            </a:r>
            <a:r>
              <a:rPr lang="en-US" dirty="0"/>
              <a:t>: a </a:t>
            </a:r>
            <a:r>
              <a:rPr lang="en-US" b="1" dirty="0" smtClean="0"/>
              <a:t>color</a:t>
            </a:r>
            <a:r>
              <a:rPr lang="en-US" dirty="0"/>
              <a:t> </a:t>
            </a:r>
            <a:r>
              <a:rPr lang="en-US" dirty="0" smtClean="0"/>
              <a:t>(either </a:t>
            </a:r>
            <a:r>
              <a:rPr lang="en-US" dirty="0" smtClean="0">
                <a:solidFill>
                  <a:srgbClr val="FF0000"/>
                </a:solidFill>
              </a:rPr>
              <a:t>red</a:t>
            </a:r>
            <a:r>
              <a:rPr lang="en-US" dirty="0" smtClean="0"/>
              <a:t> </a:t>
            </a:r>
            <a:r>
              <a:rPr lang="en-US" dirty="0"/>
              <a:t>or </a:t>
            </a:r>
            <a:r>
              <a:rPr lang="en-US" b="1" dirty="0" smtClean="0"/>
              <a:t>black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 </a:t>
            </a:r>
            <a:r>
              <a:rPr lang="en-US" dirty="0"/>
              <a:t>main </a:t>
            </a:r>
            <a:r>
              <a:rPr lang="en-US" b="1" dirty="0"/>
              <a:t>purpose</a:t>
            </a:r>
            <a:r>
              <a:rPr lang="en-US" dirty="0"/>
              <a:t> of a Red-Black Tree is to </a:t>
            </a:r>
            <a:r>
              <a:rPr lang="en-US" dirty="0">
                <a:solidFill>
                  <a:srgbClr val="C00000"/>
                </a:solidFill>
              </a:rPr>
              <a:t>maintain a balanced structure</a:t>
            </a:r>
            <a:r>
              <a:rPr lang="en-US" dirty="0"/>
              <a:t> during </a:t>
            </a:r>
            <a:r>
              <a:rPr lang="en-US" i="1" dirty="0"/>
              <a:t>insertions</a:t>
            </a:r>
            <a:r>
              <a:rPr lang="en-US" dirty="0"/>
              <a:t> and </a:t>
            </a:r>
            <a:r>
              <a:rPr lang="en-US" i="1" dirty="0"/>
              <a:t>deletions</a:t>
            </a:r>
            <a:r>
              <a:rPr lang="en-US" dirty="0"/>
              <a:t>, </a:t>
            </a:r>
            <a:r>
              <a:rPr lang="en-US" dirty="0" smtClean="0"/>
              <a:t>ensuring </a:t>
            </a:r>
            <a:r>
              <a:rPr lang="en-US" dirty="0"/>
              <a:t>that operations like search, insert, and delete remain efficient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Key Properties</a:t>
            </a:r>
            <a:r>
              <a:rPr lang="en-US" dirty="0"/>
              <a:t> of a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b="1" dirty="0"/>
              <a:t>-Black</a:t>
            </a:r>
            <a:r>
              <a:rPr lang="en-US" dirty="0"/>
              <a:t> </a:t>
            </a:r>
            <a:r>
              <a:rPr lang="en-US" i="1" dirty="0"/>
              <a:t>Tree</a:t>
            </a:r>
            <a:r>
              <a:rPr lang="en-US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Node Color:</a:t>
            </a:r>
            <a:r>
              <a:rPr lang="en-US" dirty="0"/>
              <a:t> Every </a:t>
            </a:r>
            <a:r>
              <a:rPr lang="en-US" dirty="0">
                <a:solidFill>
                  <a:srgbClr val="C00000"/>
                </a:solidFill>
              </a:rPr>
              <a:t>node</a:t>
            </a:r>
            <a:r>
              <a:rPr lang="en-US" dirty="0"/>
              <a:t> is either </a:t>
            </a:r>
            <a:r>
              <a:rPr lang="en-US" b="1" dirty="0"/>
              <a:t>red</a:t>
            </a:r>
            <a:r>
              <a:rPr lang="en-US" dirty="0"/>
              <a:t> or </a:t>
            </a:r>
            <a:r>
              <a:rPr lang="en-US" b="1" dirty="0"/>
              <a:t>black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Root </a:t>
            </a:r>
            <a:r>
              <a:rPr lang="en-US" b="1" dirty="0"/>
              <a:t>Property:</a:t>
            </a: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>
                <a:solidFill>
                  <a:srgbClr val="C00000"/>
                </a:solidFill>
              </a:rPr>
              <a:t>root</a:t>
            </a:r>
            <a:r>
              <a:rPr lang="en-US" dirty="0"/>
              <a:t> node is always </a:t>
            </a:r>
            <a:r>
              <a:rPr lang="en-US" b="1" dirty="0"/>
              <a:t>black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Red </a:t>
            </a:r>
            <a:r>
              <a:rPr lang="en-US" b="1" dirty="0"/>
              <a:t>Property:</a:t>
            </a:r>
            <a:r>
              <a:rPr lang="en-US" dirty="0"/>
              <a:t> No two red nodes can be adjacent; a </a:t>
            </a:r>
            <a:r>
              <a:rPr lang="en-US" dirty="0">
                <a:solidFill>
                  <a:srgbClr val="C00000"/>
                </a:solidFill>
              </a:rPr>
              <a:t>red node cannot have a red child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Black </a:t>
            </a:r>
            <a:r>
              <a:rPr lang="en-US" b="1" dirty="0"/>
              <a:t>Depth Property: </a:t>
            </a:r>
            <a:r>
              <a:rPr lang="en-US" dirty="0"/>
              <a:t>Every </a:t>
            </a:r>
            <a:r>
              <a:rPr lang="en-US" dirty="0">
                <a:solidFill>
                  <a:srgbClr val="C00000"/>
                </a:solidFill>
              </a:rPr>
              <a:t>path from a node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its descendant leaves</a:t>
            </a:r>
            <a:r>
              <a:rPr lang="en-US" dirty="0"/>
              <a:t> contains the </a:t>
            </a:r>
            <a:r>
              <a:rPr lang="en-US" dirty="0">
                <a:solidFill>
                  <a:srgbClr val="C00000"/>
                </a:solidFill>
              </a:rPr>
              <a:t>same number of black nodes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Leaf </a:t>
            </a:r>
            <a:r>
              <a:rPr lang="en-US" b="1" dirty="0"/>
              <a:t>Property</a:t>
            </a:r>
            <a:r>
              <a:rPr lang="en-US" dirty="0"/>
              <a:t>: All leaf nodes (also known as NIL or null nodes) are </a:t>
            </a:r>
            <a:r>
              <a:rPr lang="en-US" dirty="0">
                <a:solidFill>
                  <a:srgbClr val="C00000"/>
                </a:solidFill>
              </a:rPr>
              <a:t>black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do not contain any data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6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of </a:t>
            </a:r>
            <a:r>
              <a:rPr lang="en-IN" dirty="0">
                <a:solidFill>
                  <a:srgbClr val="FF0000"/>
                </a:solidFill>
              </a:rPr>
              <a:t>Red</a:t>
            </a:r>
            <a:r>
              <a:rPr lang="en-IN" dirty="0"/>
              <a:t>-Black Tree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97" name="Content Placeholder 2"/>
          <p:cNvSpPr>
            <a:spLocks noGrp="1"/>
          </p:cNvSpPr>
          <p:nvPr>
            <p:ph idx="1"/>
          </p:nvPr>
        </p:nvSpPr>
        <p:spPr>
          <a:xfrm>
            <a:off x="122792" y="729221"/>
            <a:ext cx="7294408" cy="3613228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Key </a:t>
            </a:r>
            <a:r>
              <a:rPr lang="en-US" b="1" dirty="0">
                <a:solidFill>
                  <a:srgbClr val="C00000"/>
                </a:solidFill>
              </a:rPr>
              <a:t>Properties</a:t>
            </a:r>
            <a:r>
              <a:rPr lang="en-US" dirty="0"/>
              <a:t> of a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b="1" dirty="0"/>
              <a:t>-Black</a:t>
            </a:r>
            <a:r>
              <a:rPr lang="en-US" dirty="0"/>
              <a:t> </a:t>
            </a:r>
            <a:r>
              <a:rPr lang="en-US" i="1" dirty="0"/>
              <a:t>Tree</a:t>
            </a:r>
            <a:r>
              <a:rPr lang="en-US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Node Color:</a:t>
            </a:r>
            <a:r>
              <a:rPr lang="en-US" dirty="0"/>
              <a:t> Every </a:t>
            </a:r>
            <a:r>
              <a:rPr lang="en-US" dirty="0">
                <a:solidFill>
                  <a:srgbClr val="C00000"/>
                </a:solidFill>
              </a:rPr>
              <a:t>node</a:t>
            </a:r>
            <a:r>
              <a:rPr lang="en-US" dirty="0"/>
              <a:t> is either </a:t>
            </a:r>
            <a:r>
              <a:rPr lang="en-US" b="1" dirty="0"/>
              <a:t>red</a:t>
            </a:r>
            <a:r>
              <a:rPr lang="en-US" dirty="0"/>
              <a:t> or </a:t>
            </a:r>
            <a:r>
              <a:rPr lang="en-US" b="1" dirty="0"/>
              <a:t>black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Root </a:t>
            </a:r>
            <a:r>
              <a:rPr lang="en-US" b="1" dirty="0"/>
              <a:t>Property:</a:t>
            </a: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>
                <a:solidFill>
                  <a:srgbClr val="C00000"/>
                </a:solidFill>
              </a:rPr>
              <a:t>root</a:t>
            </a:r>
            <a:r>
              <a:rPr lang="en-US" dirty="0"/>
              <a:t> node is always </a:t>
            </a:r>
            <a:r>
              <a:rPr lang="en-US" b="1" dirty="0"/>
              <a:t>black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Red </a:t>
            </a:r>
            <a:r>
              <a:rPr lang="en-US" b="1" dirty="0"/>
              <a:t>Property:</a:t>
            </a:r>
            <a:r>
              <a:rPr lang="en-US" dirty="0"/>
              <a:t> No two red nodes can be adjacent; a </a:t>
            </a:r>
            <a:r>
              <a:rPr lang="en-US" dirty="0">
                <a:solidFill>
                  <a:srgbClr val="C00000"/>
                </a:solidFill>
              </a:rPr>
              <a:t>red node cannot have a red child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Black </a:t>
            </a:r>
            <a:r>
              <a:rPr lang="en-US" b="1" dirty="0"/>
              <a:t>Depth Property: </a:t>
            </a:r>
            <a:r>
              <a:rPr lang="en-US" dirty="0"/>
              <a:t>Every </a:t>
            </a:r>
            <a:r>
              <a:rPr lang="en-US" dirty="0">
                <a:solidFill>
                  <a:srgbClr val="C00000"/>
                </a:solidFill>
              </a:rPr>
              <a:t>path from a node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its descendant leaves</a:t>
            </a:r>
            <a:r>
              <a:rPr lang="en-US" dirty="0"/>
              <a:t> contains the </a:t>
            </a:r>
            <a:r>
              <a:rPr lang="en-US" dirty="0">
                <a:solidFill>
                  <a:srgbClr val="C00000"/>
                </a:solidFill>
              </a:rPr>
              <a:t>same number of black nodes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Leaf Property</a:t>
            </a:r>
            <a:r>
              <a:rPr lang="en-US" dirty="0" smtClean="0"/>
              <a:t>: All leaf nodes (also known as NIL or null nodes) are </a:t>
            </a:r>
            <a:r>
              <a:rPr lang="en-US" dirty="0" smtClean="0">
                <a:solidFill>
                  <a:srgbClr val="C00000"/>
                </a:solidFill>
              </a:rPr>
              <a:t>black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do not contain any data</a:t>
            </a:r>
            <a:r>
              <a:rPr lang="en-US" dirty="0" smtClean="0"/>
              <a:t>.</a:t>
            </a:r>
            <a:endParaRPr lang="en-IN" dirty="0"/>
          </a:p>
        </p:txBody>
      </p:sp>
      <p:grpSp>
        <p:nvGrpSpPr>
          <p:cNvPr id="91" name="Group 90"/>
          <p:cNvGrpSpPr/>
          <p:nvPr/>
        </p:nvGrpSpPr>
        <p:grpSpPr>
          <a:xfrm>
            <a:off x="7777936" y="966193"/>
            <a:ext cx="3720515" cy="2694024"/>
            <a:chOff x="7843648" y="1019911"/>
            <a:chExt cx="3720515" cy="2694024"/>
          </a:xfrm>
        </p:grpSpPr>
        <p:grpSp>
          <p:nvGrpSpPr>
            <p:cNvPr id="6" name="Group 5"/>
            <p:cNvGrpSpPr/>
            <p:nvPr/>
          </p:nvGrpSpPr>
          <p:grpSpPr>
            <a:xfrm>
              <a:off x="9409942" y="1019911"/>
              <a:ext cx="671120" cy="637564"/>
              <a:chOff x="2097248" y="1157681"/>
              <a:chExt cx="671120" cy="637564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2107238" y="1245631"/>
                <a:ext cx="6511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101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8337200" y="1611771"/>
              <a:ext cx="671120" cy="637564"/>
              <a:chOff x="2097248" y="1157681"/>
              <a:chExt cx="671120" cy="637564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184983" y="1245630"/>
                <a:ext cx="4956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61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0375725" y="1608839"/>
              <a:ext cx="671120" cy="637564"/>
              <a:chOff x="2097248" y="1157681"/>
              <a:chExt cx="671120" cy="637564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107238" y="1245631"/>
                <a:ext cx="6511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145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7843648" y="2356857"/>
              <a:ext cx="671120" cy="637564"/>
              <a:chOff x="2097248" y="1157681"/>
              <a:chExt cx="671120" cy="637564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2184983" y="1245630"/>
                <a:ext cx="4956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10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8826558" y="2369169"/>
              <a:ext cx="671120" cy="637564"/>
              <a:chOff x="2097248" y="1157681"/>
              <a:chExt cx="671120" cy="637564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2184983" y="1245630"/>
                <a:ext cx="4956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75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9802826" y="2389870"/>
              <a:ext cx="671120" cy="637564"/>
              <a:chOff x="2097248" y="1157681"/>
              <a:chExt cx="671120" cy="637564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117228" y="1233318"/>
                <a:ext cx="6511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111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10893043" y="2356856"/>
              <a:ext cx="671120" cy="637564"/>
              <a:chOff x="2097248" y="1157681"/>
              <a:chExt cx="671120" cy="637564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097248" y="1245630"/>
                <a:ext cx="6511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160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337198" y="3076371"/>
              <a:ext cx="671120" cy="637564"/>
              <a:chOff x="2097248" y="1157681"/>
              <a:chExt cx="671120" cy="637564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2184983" y="1245630"/>
                <a:ext cx="4956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30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29" name="Straight Arrow Connector 28"/>
            <p:cNvCxnSpPr>
              <a:stCxn id="4" idx="3"/>
              <a:endCxn id="8" idx="7"/>
            </p:cNvCxnSpPr>
            <p:nvPr/>
          </p:nvCxnSpPr>
          <p:spPr>
            <a:xfrm flipH="1">
              <a:off x="8910037" y="1564106"/>
              <a:ext cx="598188" cy="1410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8" idx="3"/>
              <a:endCxn id="14" idx="0"/>
            </p:cNvCxnSpPr>
            <p:nvPr/>
          </p:nvCxnSpPr>
          <p:spPr>
            <a:xfrm flipH="1">
              <a:off x="8179208" y="2155966"/>
              <a:ext cx="256275" cy="20089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8" idx="5"/>
              <a:endCxn id="17" idx="0"/>
            </p:cNvCxnSpPr>
            <p:nvPr/>
          </p:nvCxnSpPr>
          <p:spPr>
            <a:xfrm>
              <a:off x="8910037" y="2155966"/>
              <a:ext cx="252081" cy="2132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4" idx="5"/>
              <a:endCxn id="11" idx="0"/>
            </p:cNvCxnSpPr>
            <p:nvPr/>
          </p:nvCxnSpPr>
          <p:spPr>
            <a:xfrm>
              <a:off x="9982779" y="1564106"/>
              <a:ext cx="728506" cy="4473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3"/>
              <a:endCxn id="20" idx="0"/>
            </p:cNvCxnSpPr>
            <p:nvPr/>
          </p:nvCxnSpPr>
          <p:spPr>
            <a:xfrm flipH="1">
              <a:off x="10138386" y="2153034"/>
              <a:ext cx="335622" cy="23683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11" idx="5"/>
              <a:endCxn id="23" idx="0"/>
            </p:cNvCxnSpPr>
            <p:nvPr/>
          </p:nvCxnSpPr>
          <p:spPr>
            <a:xfrm>
              <a:off x="10948562" y="2153034"/>
              <a:ext cx="280041" cy="20382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4" idx="4"/>
              <a:endCxn id="26" idx="1"/>
            </p:cNvCxnSpPr>
            <p:nvPr/>
          </p:nvCxnSpPr>
          <p:spPr>
            <a:xfrm>
              <a:off x="8179208" y="2994421"/>
              <a:ext cx="256273" cy="1753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6" name="Group 85"/>
          <p:cNvGrpSpPr/>
          <p:nvPr/>
        </p:nvGrpSpPr>
        <p:grpSpPr>
          <a:xfrm>
            <a:off x="8630814" y="3927423"/>
            <a:ext cx="3203197" cy="2225637"/>
            <a:chOff x="6186881" y="1435345"/>
            <a:chExt cx="3203197" cy="2225637"/>
          </a:xfrm>
        </p:grpSpPr>
        <p:grpSp>
          <p:nvGrpSpPr>
            <p:cNvPr id="52" name="Group 51"/>
            <p:cNvGrpSpPr/>
            <p:nvPr/>
          </p:nvGrpSpPr>
          <p:grpSpPr>
            <a:xfrm>
              <a:off x="7753175" y="1435345"/>
              <a:ext cx="671120" cy="637564"/>
              <a:chOff x="2097248" y="1543575"/>
              <a:chExt cx="671120" cy="637564"/>
            </a:xfrm>
          </p:grpSpPr>
          <p:sp>
            <p:nvSpPr>
              <p:cNvPr id="53" name="Oval 52"/>
              <p:cNvSpPr/>
              <p:nvPr/>
            </p:nvSpPr>
            <p:spPr>
              <a:xfrm>
                <a:off x="2097248" y="1543575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2097248" y="1623892"/>
                <a:ext cx="6511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101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6680433" y="2178207"/>
              <a:ext cx="671120" cy="637564"/>
              <a:chOff x="2097248" y="1350628"/>
              <a:chExt cx="671120" cy="637564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2097248" y="1350628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2197413" y="1430326"/>
                <a:ext cx="4956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61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8718958" y="2150108"/>
              <a:ext cx="671120" cy="637564"/>
              <a:chOff x="2097248" y="1350628"/>
              <a:chExt cx="671120" cy="637564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2097248" y="1350628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2107238" y="1438578"/>
                <a:ext cx="6511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145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186881" y="2990405"/>
              <a:ext cx="671120" cy="637564"/>
              <a:chOff x="2097248" y="1157681"/>
              <a:chExt cx="671120" cy="637564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2184983" y="1245630"/>
                <a:ext cx="4956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21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7169791" y="3002717"/>
              <a:ext cx="671120" cy="637564"/>
              <a:chOff x="2097248" y="1157681"/>
              <a:chExt cx="671120" cy="637564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2184983" y="1245630"/>
                <a:ext cx="4956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75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8146059" y="3023418"/>
              <a:ext cx="671120" cy="637564"/>
              <a:chOff x="2097248" y="1157681"/>
              <a:chExt cx="671120" cy="637564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2097248" y="1157681"/>
                <a:ext cx="671120" cy="637564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100" b="1" dirty="0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2117228" y="1233318"/>
                <a:ext cx="6511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>
                    <a:solidFill>
                      <a:schemeClr val="bg1"/>
                    </a:solidFill>
                  </a:rPr>
                  <a:t>111</a:t>
                </a:r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76" name="Straight Arrow Connector 75"/>
            <p:cNvCxnSpPr>
              <a:stCxn id="53" idx="3"/>
              <a:endCxn id="56" idx="7"/>
            </p:cNvCxnSpPr>
            <p:nvPr/>
          </p:nvCxnSpPr>
          <p:spPr>
            <a:xfrm flipH="1">
              <a:off x="7253270" y="1979540"/>
              <a:ext cx="598188" cy="29203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56" idx="3"/>
              <a:endCxn id="62" idx="0"/>
            </p:cNvCxnSpPr>
            <p:nvPr/>
          </p:nvCxnSpPr>
          <p:spPr>
            <a:xfrm flipH="1">
              <a:off x="6522441" y="2722402"/>
              <a:ext cx="256275" cy="2680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56" idx="5"/>
              <a:endCxn id="65" idx="0"/>
            </p:cNvCxnSpPr>
            <p:nvPr/>
          </p:nvCxnSpPr>
          <p:spPr>
            <a:xfrm>
              <a:off x="7253270" y="2722402"/>
              <a:ext cx="252081" cy="28031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53" idx="5"/>
              <a:endCxn id="59" idx="0"/>
            </p:cNvCxnSpPr>
            <p:nvPr/>
          </p:nvCxnSpPr>
          <p:spPr>
            <a:xfrm>
              <a:off x="8326012" y="1979540"/>
              <a:ext cx="728506" cy="1705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59" idx="3"/>
              <a:endCxn id="68" idx="0"/>
            </p:cNvCxnSpPr>
            <p:nvPr/>
          </p:nvCxnSpPr>
          <p:spPr>
            <a:xfrm flipH="1">
              <a:off x="8481619" y="2694303"/>
              <a:ext cx="335622" cy="32911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/>
          <p:cNvSpPr txBox="1"/>
          <p:nvPr/>
        </p:nvSpPr>
        <p:spPr>
          <a:xfrm>
            <a:off x="9790465" y="3397324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Correct Red-Black Tree</a:t>
            </a:r>
            <a:endParaRPr lang="en-IN" dirty="0"/>
          </a:p>
        </p:txBody>
      </p:sp>
      <p:sp>
        <p:nvSpPr>
          <p:cNvPr id="84" name="TextBox 83"/>
          <p:cNvSpPr txBox="1"/>
          <p:nvPr/>
        </p:nvSpPr>
        <p:spPr>
          <a:xfrm>
            <a:off x="9795486" y="6232763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Incorrect Red-Black Tree</a:t>
            </a:r>
            <a:endParaRPr lang="en-IN" dirty="0"/>
          </a:p>
        </p:txBody>
      </p:sp>
      <p:cxnSp>
        <p:nvCxnSpPr>
          <p:cNvPr id="93" name="Straight Connector 92"/>
          <p:cNvCxnSpPr/>
          <p:nvPr/>
        </p:nvCxnSpPr>
        <p:spPr>
          <a:xfrm>
            <a:off x="7575258" y="711201"/>
            <a:ext cx="0" cy="5919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7579386" y="3766657"/>
            <a:ext cx="4612614" cy="1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 rot="18430826">
            <a:off x="7172730" y="4999982"/>
            <a:ext cx="27574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Red Property is not satisfied</a:t>
            </a:r>
            <a:endParaRPr lang="en-IN" dirty="0"/>
          </a:p>
        </p:txBody>
      </p:sp>
      <p:grpSp>
        <p:nvGrpSpPr>
          <p:cNvPr id="120" name="Group 119"/>
          <p:cNvGrpSpPr/>
          <p:nvPr/>
        </p:nvGrpSpPr>
        <p:grpSpPr>
          <a:xfrm>
            <a:off x="1025018" y="4453041"/>
            <a:ext cx="1140112" cy="1335027"/>
            <a:chOff x="360143" y="4478026"/>
            <a:chExt cx="1140112" cy="1335027"/>
          </a:xfrm>
        </p:grpSpPr>
        <p:sp>
          <p:nvSpPr>
            <p:cNvPr id="101" name="Oval 100"/>
            <p:cNvSpPr/>
            <p:nvPr/>
          </p:nvSpPr>
          <p:spPr>
            <a:xfrm>
              <a:off x="1115737" y="4478026"/>
              <a:ext cx="384518" cy="38451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2" name="Oval 101"/>
            <p:cNvSpPr/>
            <p:nvPr/>
          </p:nvSpPr>
          <p:spPr>
            <a:xfrm>
              <a:off x="731219" y="4971747"/>
              <a:ext cx="384518" cy="38451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Oval 102"/>
            <p:cNvSpPr/>
            <p:nvPr/>
          </p:nvSpPr>
          <p:spPr>
            <a:xfrm>
              <a:off x="360143" y="5428535"/>
              <a:ext cx="384518" cy="38451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5" name="Straight Arrow Connector 104"/>
            <p:cNvCxnSpPr>
              <a:stCxn id="101" idx="3"/>
              <a:endCxn id="102" idx="7"/>
            </p:cNvCxnSpPr>
            <p:nvPr/>
          </p:nvCxnSpPr>
          <p:spPr>
            <a:xfrm flipH="1">
              <a:off x="1059426" y="4806233"/>
              <a:ext cx="112622" cy="22182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102" idx="3"/>
              <a:endCxn id="103" idx="7"/>
            </p:cNvCxnSpPr>
            <p:nvPr/>
          </p:nvCxnSpPr>
          <p:spPr>
            <a:xfrm flipH="1">
              <a:off x="688350" y="5299954"/>
              <a:ext cx="99180" cy="1848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1" name="Group 120"/>
          <p:cNvGrpSpPr/>
          <p:nvPr/>
        </p:nvGrpSpPr>
        <p:grpSpPr>
          <a:xfrm>
            <a:off x="2325692" y="4503180"/>
            <a:ext cx="1140112" cy="1335027"/>
            <a:chOff x="1747136" y="4537877"/>
            <a:chExt cx="1140112" cy="1335027"/>
          </a:xfrm>
        </p:grpSpPr>
        <p:sp>
          <p:nvSpPr>
            <p:cNvPr id="109" name="Oval 108"/>
            <p:cNvSpPr/>
            <p:nvPr/>
          </p:nvSpPr>
          <p:spPr>
            <a:xfrm>
              <a:off x="2502730" y="4537877"/>
              <a:ext cx="384518" cy="38451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Oval 109"/>
            <p:cNvSpPr/>
            <p:nvPr/>
          </p:nvSpPr>
          <p:spPr>
            <a:xfrm>
              <a:off x="2118212" y="5031598"/>
              <a:ext cx="384518" cy="384518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Oval 110"/>
            <p:cNvSpPr/>
            <p:nvPr/>
          </p:nvSpPr>
          <p:spPr>
            <a:xfrm>
              <a:off x="1747136" y="5488386"/>
              <a:ext cx="384518" cy="38451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2" name="Straight Arrow Connector 111"/>
            <p:cNvCxnSpPr>
              <a:stCxn id="109" idx="3"/>
              <a:endCxn id="110" idx="7"/>
            </p:cNvCxnSpPr>
            <p:nvPr/>
          </p:nvCxnSpPr>
          <p:spPr>
            <a:xfrm flipH="1">
              <a:off x="2446419" y="4866084"/>
              <a:ext cx="112622" cy="22182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>
              <a:stCxn id="110" idx="3"/>
              <a:endCxn id="111" idx="7"/>
            </p:cNvCxnSpPr>
            <p:nvPr/>
          </p:nvCxnSpPr>
          <p:spPr>
            <a:xfrm flipH="1">
              <a:off x="2075343" y="5359805"/>
              <a:ext cx="99180" cy="1848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Oval 113"/>
          <p:cNvSpPr/>
          <p:nvPr/>
        </p:nvSpPr>
        <p:spPr>
          <a:xfrm>
            <a:off x="5044203" y="4564987"/>
            <a:ext cx="384518" cy="38451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Oval 114"/>
          <p:cNvSpPr/>
          <p:nvPr/>
        </p:nvSpPr>
        <p:spPr>
          <a:xfrm>
            <a:off x="4659685" y="5058708"/>
            <a:ext cx="384518" cy="38451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Oval 115"/>
          <p:cNvSpPr/>
          <p:nvPr/>
        </p:nvSpPr>
        <p:spPr>
          <a:xfrm>
            <a:off x="4288609" y="5515496"/>
            <a:ext cx="384518" cy="38451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7" name="Straight Arrow Connector 116"/>
          <p:cNvCxnSpPr>
            <a:stCxn id="114" idx="3"/>
            <a:endCxn id="115" idx="7"/>
          </p:cNvCxnSpPr>
          <p:nvPr/>
        </p:nvCxnSpPr>
        <p:spPr>
          <a:xfrm flipH="1">
            <a:off x="4987892" y="4893194"/>
            <a:ext cx="112622" cy="221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115" idx="3"/>
            <a:endCxn id="116" idx="7"/>
          </p:cNvCxnSpPr>
          <p:nvPr/>
        </p:nvCxnSpPr>
        <p:spPr>
          <a:xfrm flipH="1">
            <a:off x="4616816" y="5386915"/>
            <a:ext cx="99180" cy="1848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1247077" y="5960339"/>
            <a:ext cx="21403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 smtClean="0"/>
              <a:t>Violates Property 4</a:t>
            </a:r>
            <a:br>
              <a:rPr lang="en-IN" dirty="0" smtClean="0"/>
            </a:br>
            <a:r>
              <a:rPr lang="en-US" b="1" dirty="0"/>
              <a:t>Black Depth Property</a:t>
            </a:r>
            <a:endParaRPr lang="en-IN" dirty="0"/>
          </a:p>
        </p:txBody>
      </p:sp>
      <p:sp>
        <p:nvSpPr>
          <p:cNvPr id="122" name="Rectangle 121"/>
          <p:cNvSpPr/>
          <p:nvPr/>
        </p:nvSpPr>
        <p:spPr>
          <a:xfrm>
            <a:off x="3882772" y="5987522"/>
            <a:ext cx="1919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 smtClean="0"/>
              <a:t>Violates Property 3</a:t>
            </a:r>
            <a:br>
              <a:rPr lang="en-IN" dirty="0" smtClean="0"/>
            </a:br>
            <a:r>
              <a:rPr lang="en-US" b="1" dirty="0" smtClean="0"/>
              <a:t>Red </a:t>
            </a:r>
            <a:r>
              <a:rPr lang="en-US" b="1" dirty="0"/>
              <a:t>Property</a:t>
            </a:r>
            <a:endParaRPr lang="en-IN" dirty="0"/>
          </a:p>
        </p:txBody>
      </p:sp>
      <p:cxnSp>
        <p:nvCxnSpPr>
          <p:cNvPr id="123" name="Straight Connector 122"/>
          <p:cNvCxnSpPr/>
          <p:nvPr/>
        </p:nvCxnSpPr>
        <p:spPr>
          <a:xfrm>
            <a:off x="3769996" y="4342449"/>
            <a:ext cx="0" cy="2259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921398" y="4342449"/>
            <a:ext cx="4997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>
            <a:off x="921398" y="5987522"/>
            <a:ext cx="4997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5918976" y="4342592"/>
            <a:ext cx="0" cy="2259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910756" y="4342449"/>
            <a:ext cx="0" cy="2259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72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Insertion in </a:t>
            </a:r>
            <a:r>
              <a:rPr lang="en-IN" dirty="0">
                <a:solidFill>
                  <a:srgbClr val="FF0000"/>
                </a:solidFill>
              </a:rPr>
              <a:t>Red</a:t>
            </a:r>
            <a:r>
              <a:rPr lang="en-IN" dirty="0"/>
              <a:t>-Black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7228" y="873128"/>
            <a:ext cx="3336170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2400" dirty="0"/>
              <a:t>Resolution of </a:t>
            </a:r>
            <a:r>
              <a:rPr lang="en-IN" sz="2400" b="1" dirty="0">
                <a:solidFill>
                  <a:schemeClr val="accent6"/>
                </a:solidFill>
              </a:rPr>
              <a:t>R-R</a:t>
            </a:r>
            <a:r>
              <a:rPr lang="en-IN" sz="2400" dirty="0"/>
              <a:t>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109" y="2209370"/>
            <a:ext cx="1575435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Uncle</a:t>
            </a:r>
            <a:r>
              <a:rPr lang="en-IN" dirty="0" smtClean="0"/>
              <a:t> is </a:t>
            </a:r>
            <a:r>
              <a:rPr lang="en-IN" b="1" dirty="0" smtClean="0"/>
              <a:t>Black</a:t>
            </a:r>
            <a:r>
              <a:rPr lang="en-IN" dirty="0" smtClean="0"/>
              <a:t> or Uncle is </a:t>
            </a:r>
            <a:r>
              <a:rPr lang="en-IN" b="1" dirty="0" smtClean="0"/>
              <a:t>Null</a:t>
            </a:r>
            <a:endParaRPr lang="en-IN" b="1" dirty="0"/>
          </a:p>
        </p:txBody>
      </p:sp>
      <p:cxnSp>
        <p:nvCxnSpPr>
          <p:cNvPr id="21" name="Straight Arrow Connector 20"/>
          <p:cNvCxnSpPr>
            <a:endCxn id="17" idx="0"/>
          </p:cNvCxnSpPr>
          <p:nvPr/>
        </p:nvCxnSpPr>
        <p:spPr>
          <a:xfrm>
            <a:off x="1091826" y="1769308"/>
            <a:ext cx="1" cy="440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24182" y="2194130"/>
            <a:ext cx="110559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Uncle</a:t>
            </a:r>
            <a:r>
              <a:rPr lang="en-IN" dirty="0" smtClean="0"/>
              <a:t> is </a:t>
            </a:r>
            <a:r>
              <a:rPr lang="en-IN" b="1" dirty="0" smtClean="0">
                <a:solidFill>
                  <a:srgbClr val="FF0000"/>
                </a:solidFill>
              </a:rPr>
              <a:t>Red</a:t>
            </a:r>
            <a:endParaRPr lang="en-IN" b="1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/>
          <p:cNvCxnSpPr>
            <a:endCxn id="23" idx="0"/>
          </p:cNvCxnSpPr>
          <p:nvPr/>
        </p:nvCxnSpPr>
        <p:spPr>
          <a:xfrm>
            <a:off x="2776978" y="1769308"/>
            <a:ext cx="0" cy="424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68444" y="182479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Case 2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5195" y="1812812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Case 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5195" y="2959250"/>
            <a:ext cx="1594349" cy="92333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Rotation </a:t>
            </a:r>
          </a:p>
          <a:p>
            <a:pPr algn="ctr"/>
            <a:r>
              <a:rPr lang="en-IN" dirty="0" smtClean="0"/>
              <a:t>&amp;</a:t>
            </a:r>
          </a:p>
          <a:p>
            <a:pPr algn="ctr"/>
            <a:r>
              <a:rPr lang="en-IN" dirty="0" err="1" smtClean="0"/>
              <a:t>Recolor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2224182" y="2968307"/>
            <a:ext cx="2658099" cy="92333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IN" dirty="0" smtClean="0"/>
              <a:t>Change Parent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Uncle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Grand Parent </a:t>
            </a:r>
            <a:r>
              <a:rPr lang="en-IN" dirty="0" err="1" smtClean="0"/>
              <a:t>Color</a:t>
            </a:r>
            <a:endParaRPr lang="en-IN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091826" y="1769308"/>
            <a:ext cx="16766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1927860" y="1352107"/>
            <a:ext cx="0" cy="406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02680" y="1424255"/>
            <a:ext cx="49343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Note:</a:t>
            </a:r>
          </a:p>
          <a:p>
            <a:r>
              <a:rPr lang="en-IN" sz="2400" dirty="0" smtClean="0"/>
              <a:t>While insertion </a:t>
            </a:r>
            <a:r>
              <a:rPr lang="en-IN" sz="2400" b="1" dirty="0" smtClean="0"/>
              <a:t>new node </a:t>
            </a:r>
            <a:r>
              <a:rPr lang="en-IN" sz="2400" dirty="0" smtClean="0"/>
              <a:t>is always </a:t>
            </a:r>
            <a:r>
              <a:rPr lang="en-IN" sz="2400" b="1" dirty="0" smtClean="0">
                <a:solidFill>
                  <a:srgbClr val="FF0000"/>
                </a:solidFill>
              </a:rPr>
              <a:t>Red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82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Construct </a:t>
            </a:r>
            <a:r>
              <a:rPr lang="en-IN" dirty="0">
                <a:solidFill>
                  <a:srgbClr val="FF0000"/>
                </a:solidFill>
              </a:rPr>
              <a:t>Red</a:t>
            </a:r>
            <a:r>
              <a:rPr lang="en-IN" dirty="0"/>
              <a:t>-Black Tree 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026316"/>
          </a:xfrm>
        </p:spPr>
        <p:txBody>
          <a:bodyPr/>
          <a:lstStyle/>
          <a:p>
            <a:r>
              <a:rPr lang="en-IN" dirty="0" smtClean="0"/>
              <a:t>Construct Red-Black Tree by inserting the following nodes in the order of their occurrence 10, 20, 30, 15, 25, 5, 12, 35, 40, 32, 50 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43840" y="2042005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 smtClean="0"/>
              <a:t>10</a:t>
            </a:r>
            <a:endParaRPr lang="en-IN" sz="24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505030" y="2655914"/>
            <a:ext cx="671120" cy="637564"/>
            <a:chOff x="505030" y="2655914"/>
            <a:chExt cx="671120" cy="637564"/>
          </a:xfrm>
        </p:grpSpPr>
        <p:sp>
          <p:nvSpPr>
            <p:cNvPr id="5" name="Oval 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1176149" y="279002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B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12420" y="3746303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/>
              <a:t>2</a:t>
            </a:r>
            <a:r>
              <a:rPr lang="en-IN" sz="2400" b="1" dirty="0" smtClean="0"/>
              <a:t>0</a:t>
            </a:r>
            <a:endParaRPr lang="en-IN" sz="2400" b="1" dirty="0"/>
          </a:p>
        </p:txBody>
      </p:sp>
      <p:grpSp>
        <p:nvGrpSpPr>
          <p:cNvPr id="10" name="Group 9"/>
          <p:cNvGrpSpPr/>
          <p:nvPr/>
        </p:nvGrpSpPr>
        <p:grpSpPr>
          <a:xfrm>
            <a:off x="139270" y="4360212"/>
            <a:ext cx="671120" cy="637564"/>
            <a:chOff x="505030" y="2655914"/>
            <a:chExt cx="671120" cy="637564"/>
          </a:xfrm>
        </p:grpSpPr>
        <p:sp>
          <p:nvSpPr>
            <p:cNvPr id="11" name="Oval 1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810389" y="4494327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B</a:t>
            </a:r>
            <a:endParaRPr lang="en-IN" dirty="0"/>
          </a:p>
        </p:txBody>
      </p:sp>
      <p:grpSp>
        <p:nvGrpSpPr>
          <p:cNvPr id="14" name="Group 13"/>
          <p:cNvGrpSpPr/>
          <p:nvPr/>
        </p:nvGrpSpPr>
        <p:grpSpPr>
          <a:xfrm>
            <a:off x="810389" y="5150018"/>
            <a:ext cx="671120" cy="637564"/>
            <a:chOff x="505030" y="2655914"/>
            <a:chExt cx="671120" cy="637564"/>
          </a:xfrm>
        </p:grpSpPr>
        <p:sp>
          <p:nvSpPr>
            <p:cNvPr id="15" name="Oval 1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1348469" y="560291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19" name="Straight Arrow Connector 18"/>
          <p:cNvCxnSpPr>
            <a:stCxn id="11" idx="5"/>
            <a:endCxn id="15" idx="1"/>
          </p:cNvCxnSpPr>
          <p:nvPr/>
        </p:nvCxnSpPr>
        <p:spPr>
          <a:xfrm>
            <a:off x="712107" y="4904407"/>
            <a:ext cx="196565" cy="338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76958" y="2042005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 smtClean="0"/>
              <a:t>30</a:t>
            </a:r>
            <a:endParaRPr lang="en-IN" sz="2400" b="1" dirty="0"/>
          </a:p>
        </p:txBody>
      </p:sp>
      <p:grpSp>
        <p:nvGrpSpPr>
          <p:cNvPr id="21" name="Group 20"/>
          <p:cNvGrpSpPr/>
          <p:nvPr/>
        </p:nvGrpSpPr>
        <p:grpSpPr>
          <a:xfrm>
            <a:off x="2338148" y="2655914"/>
            <a:ext cx="671120" cy="637564"/>
            <a:chOff x="505030" y="2655914"/>
            <a:chExt cx="671120" cy="637564"/>
          </a:xfrm>
        </p:grpSpPr>
        <p:sp>
          <p:nvSpPr>
            <p:cNvPr id="22" name="Oval 2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Rectangle 23"/>
          <p:cNvSpPr/>
          <p:nvPr/>
        </p:nvSpPr>
        <p:spPr>
          <a:xfrm>
            <a:off x="3009267" y="279002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B</a:t>
            </a:r>
            <a:endParaRPr lang="en-IN" dirty="0"/>
          </a:p>
        </p:txBody>
      </p:sp>
      <p:grpSp>
        <p:nvGrpSpPr>
          <p:cNvPr id="25" name="Group 24"/>
          <p:cNvGrpSpPr/>
          <p:nvPr/>
        </p:nvGrpSpPr>
        <p:grpSpPr>
          <a:xfrm>
            <a:off x="3009267" y="3445720"/>
            <a:ext cx="671120" cy="637564"/>
            <a:chOff x="505030" y="2655914"/>
            <a:chExt cx="671120" cy="637564"/>
          </a:xfrm>
        </p:grpSpPr>
        <p:sp>
          <p:nvSpPr>
            <p:cNvPr id="26" name="Oval 2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3606837" y="3614186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29" name="Straight Arrow Connector 28"/>
          <p:cNvCxnSpPr>
            <a:stCxn id="22" idx="5"/>
            <a:endCxn id="26" idx="1"/>
          </p:cNvCxnSpPr>
          <p:nvPr/>
        </p:nvCxnSpPr>
        <p:spPr>
          <a:xfrm>
            <a:off x="2910985" y="3200109"/>
            <a:ext cx="196565" cy="338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746308" y="4304685"/>
            <a:ext cx="671120" cy="637564"/>
            <a:chOff x="505030" y="2655914"/>
            <a:chExt cx="671120" cy="637564"/>
          </a:xfrm>
        </p:grpSpPr>
        <p:sp>
          <p:nvSpPr>
            <p:cNvPr id="31" name="Oval 3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4261775" y="420796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35" name="Straight Arrow Connector 34"/>
          <p:cNvCxnSpPr>
            <a:stCxn id="26" idx="5"/>
            <a:endCxn id="31" idx="1"/>
          </p:cNvCxnSpPr>
          <p:nvPr/>
        </p:nvCxnSpPr>
        <p:spPr>
          <a:xfrm>
            <a:off x="3582104" y="3989915"/>
            <a:ext cx="262487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 rot="19061837">
            <a:off x="3209796" y="3135004"/>
            <a:ext cx="1170487" cy="2117958"/>
          </a:xfrm>
          <a:prstGeom prst="ellipse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/>
          <p:cNvSpPr txBox="1"/>
          <p:nvPr/>
        </p:nvSpPr>
        <p:spPr>
          <a:xfrm>
            <a:off x="2463432" y="4503687"/>
            <a:ext cx="105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Red </a:t>
            </a:r>
            <a:r>
              <a:rPr lang="en-IN" dirty="0" err="1" smtClean="0"/>
              <a:t>Red</a:t>
            </a:r>
            <a:r>
              <a:rPr lang="en-IN" dirty="0" smtClean="0"/>
              <a:t> Violation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2498755" y="5695887"/>
            <a:ext cx="1575435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Uncle</a:t>
            </a:r>
            <a:r>
              <a:rPr lang="en-IN" dirty="0" smtClean="0"/>
              <a:t> is </a:t>
            </a:r>
            <a:r>
              <a:rPr lang="en-IN" b="1" dirty="0" smtClean="0"/>
              <a:t>Black</a:t>
            </a:r>
            <a:r>
              <a:rPr lang="en-IN" dirty="0" smtClean="0"/>
              <a:t> or Uncle is </a:t>
            </a:r>
            <a:r>
              <a:rPr lang="en-IN" b="1" dirty="0" smtClean="0"/>
              <a:t>Null</a:t>
            </a:r>
            <a:endParaRPr lang="en-IN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2459375" y="5328754"/>
            <a:ext cx="84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Case 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087258" y="5699632"/>
            <a:ext cx="1289606" cy="646331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Rotation </a:t>
            </a:r>
          </a:p>
          <a:p>
            <a:pPr algn="ctr"/>
            <a:r>
              <a:rPr lang="en-IN" dirty="0" smtClean="0"/>
              <a:t>&amp; </a:t>
            </a:r>
            <a:r>
              <a:rPr lang="en-IN" dirty="0" err="1" smtClean="0"/>
              <a:t>Recolor</a:t>
            </a:r>
            <a:endParaRPr lang="en-IN" dirty="0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4701540" y="3709235"/>
            <a:ext cx="13944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642079" y="3392963"/>
            <a:ext cx="1419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Left Rotation of </a:t>
            </a:r>
            <a:r>
              <a:rPr lang="en-IN" b="1" dirty="0" smtClean="0"/>
              <a:t>10</a:t>
            </a:r>
            <a:endParaRPr lang="en-IN" b="1" dirty="0"/>
          </a:p>
        </p:txBody>
      </p:sp>
      <p:grpSp>
        <p:nvGrpSpPr>
          <p:cNvPr id="53" name="Group 52"/>
          <p:cNvGrpSpPr/>
          <p:nvPr/>
        </p:nvGrpSpPr>
        <p:grpSpPr>
          <a:xfrm>
            <a:off x="6351879" y="3815073"/>
            <a:ext cx="671120" cy="637564"/>
            <a:chOff x="505030" y="2655914"/>
            <a:chExt cx="671120" cy="637564"/>
          </a:xfrm>
        </p:grpSpPr>
        <p:sp>
          <p:nvSpPr>
            <p:cNvPr id="54" name="Oval 5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Rectangle 55"/>
          <p:cNvSpPr/>
          <p:nvPr/>
        </p:nvSpPr>
        <p:spPr>
          <a:xfrm>
            <a:off x="6231271" y="353756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B</a:t>
            </a:r>
            <a:endParaRPr lang="en-IN" dirty="0"/>
          </a:p>
        </p:txBody>
      </p:sp>
      <p:grpSp>
        <p:nvGrpSpPr>
          <p:cNvPr id="57" name="Group 56"/>
          <p:cNvGrpSpPr/>
          <p:nvPr/>
        </p:nvGrpSpPr>
        <p:grpSpPr>
          <a:xfrm>
            <a:off x="6822533" y="2947734"/>
            <a:ext cx="671120" cy="637564"/>
            <a:chOff x="505030" y="2655914"/>
            <a:chExt cx="671120" cy="637564"/>
          </a:xfrm>
        </p:grpSpPr>
        <p:sp>
          <p:nvSpPr>
            <p:cNvPr id="58" name="Oval 5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Rectangle 59"/>
          <p:cNvSpPr/>
          <p:nvPr/>
        </p:nvSpPr>
        <p:spPr>
          <a:xfrm>
            <a:off x="7420103" y="3116200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61" name="Straight Arrow Connector 60"/>
          <p:cNvCxnSpPr>
            <a:stCxn id="58" idx="3"/>
            <a:endCxn id="54" idx="0"/>
          </p:cNvCxnSpPr>
          <p:nvPr/>
        </p:nvCxnSpPr>
        <p:spPr>
          <a:xfrm flipH="1">
            <a:off x="6687439" y="3491929"/>
            <a:ext cx="233377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7513854" y="3806699"/>
            <a:ext cx="671120" cy="637564"/>
            <a:chOff x="505030" y="2655914"/>
            <a:chExt cx="671120" cy="637564"/>
          </a:xfrm>
        </p:grpSpPr>
        <p:sp>
          <p:nvSpPr>
            <p:cNvPr id="63" name="Oval 6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5" name="Rectangle 64"/>
          <p:cNvSpPr/>
          <p:nvPr/>
        </p:nvSpPr>
        <p:spPr>
          <a:xfrm>
            <a:off x="8075041" y="3709982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66" name="Straight Arrow Connector 65"/>
          <p:cNvCxnSpPr>
            <a:stCxn id="58" idx="5"/>
            <a:endCxn id="63" idx="1"/>
          </p:cNvCxnSpPr>
          <p:nvPr/>
        </p:nvCxnSpPr>
        <p:spPr>
          <a:xfrm>
            <a:off x="7395370" y="3491929"/>
            <a:ext cx="216767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257151" y="3628798"/>
            <a:ext cx="13944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254880" y="3268578"/>
            <a:ext cx="141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Recolor</a:t>
            </a:r>
            <a:endParaRPr lang="en-IN" b="1" dirty="0"/>
          </a:p>
        </p:txBody>
      </p:sp>
      <p:grpSp>
        <p:nvGrpSpPr>
          <p:cNvPr id="88" name="Group 87"/>
          <p:cNvGrpSpPr/>
          <p:nvPr/>
        </p:nvGrpSpPr>
        <p:grpSpPr>
          <a:xfrm>
            <a:off x="9853841" y="3843961"/>
            <a:ext cx="671120" cy="637564"/>
            <a:chOff x="505030" y="2655914"/>
            <a:chExt cx="671120" cy="637564"/>
          </a:xfrm>
        </p:grpSpPr>
        <p:sp>
          <p:nvSpPr>
            <p:cNvPr id="89" name="Oval 8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91" name="Rectangle 90"/>
          <p:cNvSpPr/>
          <p:nvPr/>
        </p:nvSpPr>
        <p:spPr>
          <a:xfrm>
            <a:off x="9733233" y="3566457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grpSp>
        <p:nvGrpSpPr>
          <p:cNvPr id="92" name="Group 91"/>
          <p:cNvGrpSpPr/>
          <p:nvPr/>
        </p:nvGrpSpPr>
        <p:grpSpPr>
          <a:xfrm>
            <a:off x="10324495" y="2976622"/>
            <a:ext cx="671120" cy="637564"/>
            <a:chOff x="505030" y="2655914"/>
            <a:chExt cx="671120" cy="637564"/>
          </a:xfrm>
        </p:grpSpPr>
        <p:sp>
          <p:nvSpPr>
            <p:cNvPr id="93" name="Oval 9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95" name="Rectangle 94"/>
          <p:cNvSpPr/>
          <p:nvPr/>
        </p:nvSpPr>
        <p:spPr>
          <a:xfrm>
            <a:off x="10922065" y="314508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B</a:t>
            </a:r>
            <a:endParaRPr lang="en-IN" dirty="0"/>
          </a:p>
        </p:txBody>
      </p:sp>
      <p:cxnSp>
        <p:nvCxnSpPr>
          <p:cNvPr id="96" name="Straight Arrow Connector 95"/>
          <p:cNvCxnSpPr>
            <a:stCxn id="93" idx="3"/>
            <a:endCxn id="89" idx="0"/>
          </p:cNvCxnSpPr>
          <p:nvPr/>
        </p:nvCxnSpPr>
        <p:spPr>
          <a:xfrm flipH="1">
            <a:off x="10189401" y="3520817"/>
            <a:ext cx="233377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11015816" y="3835587"/>
            <a:ext cx="671120" cy="637564"/>
            <a:chOff x="505030" y="2655914"/>
            <a:chExt cx="671120" cy="637564"/>
          </a:xfrm>
        </p:grpSpPr>
        <p:sp>
          <p:nvSpPr>
            <p:cNvPr id="98" name="Oval 9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" name="Rectangle 99"/>
          <p:cNvSpPr/>
          <p:nvPr/>
        </p:nvSpPr>
        <p:spPr>
          <a:xfrm>
            <a:off x="11577003" y="3738870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101" name="Straight Arrow Connector 100"/>
          <p:cNvCxnSpPr>
            <a:stCxn id="93" idx="5"/>
            <a:endCxn id="98" idx="1"/>
          </p:cNvCxnSpPr>
          <p:nvPr/>
        </p:nvCxnSpPr>
        <p:spPr>
          <a:xfrm>
            <a:off x="10897332" y="3520817"/>
            <a:ext cx="216767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767840" y="2156460"/>
            <a:ext cx="0" cy="1505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H="1">
            <a:off x="243840" y="3653858"/>
            <a:ext cx="152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1767840" y="3653858"/>
            <a:ext cx="0" cy="23354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243840" y="5996940"/>
            <a:ext cx="152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66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7" grpId="0"/>
      <p:bldP spid="9" grpId="0"/>
      <p:bldP spid="13" grpId="0"/>
      <p:bldP spid="17" grpId="0"/>
      <p:bldP spid="20" grpId="0"/>
      <p:bldP spid="24" grpId="0"/>
      <p:bldP spid="28" grpId="0"/>
      <p:bldP spid="33" grpId="0"/>
      <p:bldP spid="37" grpId="0" animBg="1"/>
      <p:bldP spid="38" grpId="0"/>
      <p:bldP spid="40" grpId="0" animBg="1"/>
      <p:bldP spid="45" grpId="0"/>
      <p:bldP spid="46" grpId="0" animBg="1"/>
      <p:bldP spid="52" grpId="0"/>
      <p:bldP spid="56" grpId="0"/>
      <p:bldP spid="60" grpId="0"/>
      <p:bldP spid="65" grpId="0"/>
      <p:bldP spid="73" grpId="0"/>
      <p:bldP spid="91" grpId="0"/>
      <p:bldP spid="95" grpId="0"/>
      <p:bldP spid="1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Construct Red-Black </a:t>
            </a:r>
            <a:r>
              <a:rPr lang="en-IN" dirty="0" smtClean="0"/>
              <a:t>Tree </a:t>
            </a:r>
            <a:r>
              <a:rPr lang="en-IN" b="0" dirty="0"/>
              <a:t>10, 20, 30, 15, 25, 5, 12, 35, 40, 32, 50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47975" y="2277822"/>
            <a:ext cx="671120" cy="637564"/>
            <a:chOff x="505030" y="2655914"/>
            <a:chExt cx="671120" cy="637564"/>
          </a:xfrm>
        </p:grpSpPr>
        <p:sp>
          <p:nvSpPr>
            <p:cNvPr id="5" name="Oval 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327367" y="200031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18629" y="1410483"/>
            <a:ext cx="671120" cy="637564"/>
            <a:chOff x="505030" y="2655914"/>
            <a:chExt cx="671120" cy="637564"/>
          </a:xfrm>
        </p:grpSpPr>
        <p:sp>
          <p:nvSpPr>
            <p:cNvPr id="9" name="Oval 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1516199" y="157894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B</a:t>
            </a:r>
            <a:endParaRPr lang="en-IN" dirty="0"/>
          </a:p>
        </p:txBody>
      </p:sp>
      <p:cxnSp>
        <p:nvCxnSpPr>
          <p:cNvPr id="12" name="Straight Arrow Connector 11"/>
          <p:cNvCxnSpPr>
            <a:stCxn id="9" idx="3"/>
            <a:endCxn id="5" idx="0"/>
          </p:cNvCxnSpPr>
          <p:nvPr/>
        </p:nvCxnSpPr>
        <p:spPr>
          <a:xfrm flipH="1">
            <a:off x="783535" y="1954678"/>
            <a:ext cx="233377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1609950" y="2269448"/>
            <a:ext cx="671120" cy="637564"/>
            <a:chOff x="505030" y="2655914"/>
            <a:chExt cx="671120" cy="637564"/>
          </a:xfrm>
        </p:grpSpPr>
        <p:sp>
          <p:nvSpPr>
            <p:cNvPr id="14" name="Oval 1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2171137" y="2172731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17" name="Straight Arrow Connector 16"/>
          <p:cNvCxnSpPr>
            <a:stCxn id="9" idx="5"/>
            <a:endCxn id="14" idx="1"/>
          </p:cNvCxnSpPr>
          <p:nvPr/>
        </p:nvCxnSpPr>
        <p:spPr>
          <a:xfrm>
            <a:off x="1491466" y="1954678"/>
            <a:ext cx="216767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0082" y="813528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 smtClean="0"/>
              <a:t>15</a:t>
            </a:r>
            <a:endParaRPr lang="en-IN" sz="2400" b="1" dirty="0"/>
          </a:p>
        </p:txBody>
      </p:sp>
      <p:grpSp>
        <p:nvGrpSpPr>
          <p:cNvPr id="19" name="Group 18"/>
          <p:cNvGrpSpPr/>
          <p:nvPr/>
        </p:nvGrpSpPr>
        <p:grpSpPr>
          <a:xfrm>
            <a:off x="1006364" y="3221782"/>
            <a:ext cx="671120" cy="637564"/>
            <a:chOff x="505030" y="2655914"/>
            <a:chExt cx="671120" cy="637564"/>
          </a:xfrm>
        </p:grpSpPr>
        <p:sp>
          <p:nvSpPr>
            <p:cNvPr id="20" name="Oval 1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281103" y="381354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23" name="Straight Arrow Connector 22"/>
          <p:cNvCxnSpPr>
            <a:stCxn id="5" idx="4"/>
            <a:endCxn id="20" idx="1"/>
          </p:cNvCxnSpPr>
          <p:nvPr/>
        </p:nvCxnSpPr>
        <p:spPr>
          <a:xfrm>
            <a:off x="783535" y="2915386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 rot="19921584">
            <a:off x="503524" y="2103093"/>
            <a:ext cx="1170487" cy="2158597"/>
          </a:xfrm>
          <a:prstGeom prst="ellipse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/>
          <p:cNvSpPr txBox="1"/>
          <p:nvPr/>
        </p:nvSpPr>
        <p:spPr>
          <a:xfrm>
            <a:off x="6398" y="3340184"/>
            <a:ext cx="105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Red </a:t>
            </a:r>
            <a:r>
              <a:rPr lang="en-IN" dirty="0" err="1" smtClean="0"/>
              <a:t>Red</a:t>
            </a:r>
            <a:r>
              <a:rPr lang="en-IN" dirty="0" smtClean="0"/>
              <a:t> Violation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230738" y="4687872"/>
            <a:ext cx="110559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Uncle</a:t>
            </a:r>
            <a:r>
              <a:rPr lang="en-IN" dirty="0" smtClean="0"/>
              <a:t> is </a:t>
            </a:r>
            <a:r>
              <a:rPr lang="en-IN" b="1" dirty="0" smtClean="0">
                <a:solidFill>
                  <a:srgbClr val="FF0000"/>
                </a:solidFill>
              </a:rPr>
              <a:t>Red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36329" y="4687872"/>
            <a:ext cx="2658099" cy="92333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IN" dirty="0" smtClean="0"/>
              <a:t>Change Parent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Uncle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Grand Parent </a:t>
            </a:r>
            <a:r>
              <a:rPr lang="en-IN" dirty="0" err="1" smtClean="0"/>
              <a:t>Color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173806" y="432132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Case 2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193334" y="1933659"/>
            <a:ext cx="7615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3188214" y="2189041"/>
            <a:ext cx="671120" cy="637564"/>
            <a:chOff x="505030" y="2655914"/>
            <a:chExt cx="671120" cy="637564"/>
          </a:xfrm>
        </p:grpSpPr>
        <p:sp>
          <p:nvSpPr>
            <p:cNvPr id="34" name="Oval 3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658868" y="1321702"/>
            <a:ext cx="671120" cy="637564"/>
            <a:chOff x="505030" y="2655914"/>
            <a:chExt cx="671120" cy="637564"/>
          </a:xfrm>
        </p:grpSpPr>
        <p:sp>
          <p:nvSpPr>
            <p:cNvPr id="38" name="Oval 3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4256438" y="1490168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41" name="Straight Arrow Connector 40"/>
          <p:cNvCxnSpPr>
            <a:stCxn id="38" idx="3"/>
            <a:endCxn id="34" idx="0"/>
          </p:cNvCxnSpPr>
          <p:nvPr/>
        </p:nvCxnSpPr>
        <p:spPr>
          <a:xfrm flipH="1">
            <a:off x="3523774" y="1865897"/>
            <a:ext cx="233377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4350189" y="2180667"/>
            <a:ext cx="671120" cy="637564"/>
            <a:chOff x="505030" y="2655914"/>
            <a:chExt cx="671120" cy="637564"/>
          </a:xfrm>
        </p:grpSpPr>
        <p:sp>
          <p:nvSpPr>
            <p:cNvPr id="43" name="Oval 4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6" name="Straight Arrow Connector 45"/>
          <p:cNvCxnSpPr>
            <a:stCxn id="38" idx="5"/>
            <a:endCxn id="43" idx="1"/>
          </p:cNvCxnSpPr>
          <p:nvPr/>
        </p:nvCxnSpPr>
        <p:spPr>
          <a:xfrm>
            <a:off x="4231705" y="1865897"/>
            <a:ext cx="216767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3746603" y="3133001"/>
            <a:ext cx="671120" cy="637564"/>
            <a:chOff x="505030" y="2655914"/>
            <a:chExt cx="671120" cy="637564"/>
          </a:xfrm>
        </p:grpSpPr>
        <p:sp>
          <p:nvSpPr>
            <p:cNvPr id="48" name="Oval 4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Rectangle 49"/>
          <p:cNvSpPr/>
          <p:nvPr/>
        </p:nvSpPr>
        <p:spPr>
          <a:xfrm>
            <a:off x="3528678" y="341813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51" name="Straight Arrow Connector 50"/>
          <p:cNvCxnSpPr>
            <a:stCxn id="34" idx="4"/>
            <a:endCxn id="48" idx="1"/>
          </p:cNvCxnSpPr>
          <p:nvPr/>
        </p:nvCxnSpPr>
        <p:spPr>
          <a:xfrm>
            <a:off x="3523774" y="2826605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3190267" y="2187969"/>
            <a:ext cx="671120" cy="637564"/>
            <a:chOff x="505030" y="2655914"/>
            <a:chExt cx="671120" cy="637564"/>
          </a:xfrm>
        </p:grpSpPr>
        <p:sp>
          <p:nvSpPr>
            <p:cNvPr id="57" name="Oval 56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3074578" y="1983522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grpSp>
        <p:nvGrpSpPr>
          <p:cNvPr id="60" name="Group 59"/>
          <p:cNvGrpSpPr/>
          <p:nvPr/>
        </p:nvGrpSpPr>
        <p:grpSpPr>
          <a:xfrm>
            <a:off x="4357539" y="2189760"/>
            <a:ext cx="671120" cy="637564"/>
            <a:chOff x="505030" y="2655914"/>
            <a:chExt cx="671120" cy="637564"/>
          </a:xfrm>
        </p:grpSpPr>
        <p:sp>
          <p:nvSpPr>
            <p:cNvPr id="61" name="Oval 6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3" name="Rectangle 62"/>
          <p:cNvSpPr/>
          <p:nvPr/>
        </p:nvSpPr>
        <p:spPr>
          <a:xfrm>
            <a:off x="5016482" y="2184314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65" name="Straight Connector 64"/>
          <p:cNvCxnSpPr/>
          <p:nvPr/>
        </p:nvCxnSpPr>
        <p:spPr>
          <a:xfrm>
            <a:off x="5648325" y="946498"/>
            <a:ext cx="0" cy="5482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839862" y="970163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 smtClean="0"/>
              <a:t>25</a:t>
            </a:r>
            <a:endParaRPr lang="en-IN" sz="2400" b="1" dirty="0"/>
          </a:p>
        </p:txBody>
      </p:sp>
      <p:grpSp>
        <p:nvGrpSpPr>
          <p:cNvPr id="67" name="Group 66"/>
          <p:cNvGrpSpPr/>
          <p:nvPr/>
        </p:nvGrpSpPr>
        <p:grpSpPr>
          <a:xfrm>
            <a:off x="7928137" y="2361570"/>
            <a:ext cx="671120" cy="637564"/>
            <a:chOff x="505030" y="2655914"/>
            <a:chExt cx="671120" cy="637564"/>
          </a:xfrm>
        </p:grpSpPr>
        <p:sp>
          <p:nvSpPr>
            <p:cNvPr id="68" name="Oval 6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8617866" y="1494231"/>
            <a:ext cx="671120" cy="637564"/>
            <a:chOff x="505030" y="2655914"/>
            <a:chExt cx="671120" cy="637564"/>
          </a:xfrm>
        </p:grpSpPr>
        <p:sp>
          <p:nvSpPr>
            <p:cNvPr id="71" name="Oval 7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3" name="Rectangle 72"/>
          <p:cNvSpPr/>
          <p:nvPr/>
        </p:nvSpPr>
        <p:spPr>
          <a:xfrm>
            <a:off x="9288985" y="1574635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74" name="Straight Arrow Connector 73"/>
          <p:cNvCxnSpPr>
            <a:stCxn id="71" idx="3"/>
            <a:endCxn id="68" idx="0"/>
          </p:cNvCxnSpPr>
          <p:nvPr/>
        </p:nvCxnSpPr>
        <p:spPr>
          <a:xfrm flipH="1">
            <a:off x="8263697" y="2038426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5" name="Group 74"/>
          <p:cNvGrpSpPr/>
          <p:nvPr/>
        </p:nvGrpSpPr>
        <p:grpSpPr>
          <a:xfrm>
            <a:off x="9699712" y="2353196"/>
            <a:ext cx="671120" cy="637564"/>
            <a:chOff x="505030" y="2655914"/>
            <a:chExt cx="671120" cy="637564"/>
          </a:xfrm>
        </p:grpSpPr>
        <p:sp>
          <p:nvSpPr>
            <p:cNvPr id="76" name="Oval 7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8" name="Straight Arrow Connector 77"/>
          <p:cNvCxnSpPr>
            <a:stCxn id="71" idx="5"/>
            <a:endCxn id="76" idx="1"/>
          </p:cNvCxnSpPr>
          <p:nvPr/>
        </p:nvCxnSpPr>
        <p:spPr>
          <a:xfrm>
            <a:off x="9190703" y="2038426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9" name="Group 78"/>
          <p:cNvGrpSpPr/>
          <p:nvPr/>
        </p:nvGrpSpPr>
        <p:grpSpPr>
          <a:xfrm>
            <a:off x="8486526" y="3305530"/>
            <a:ext cx="671120" cy="637564"/>
            <a:chOff x="505030" y="2655914"/>
            <a:chExt cx="671120" cy="637564"/>
          </a:xfrm>
        </p:grpSpPr>
        <p:sp>
          <p:nvSpPr>
            <p:cNvPr id="80" name="Oval 7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82" name="Rectangle 81"/>
          <p:cNvSpPr/>
          <p:nvPr/>
        </p:nvSpPr>
        <p:spPr>
          <a:xfrm>
            <a:off x="8268601" y="359066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83" name="Straight Arrow Connector 82"/>
          <p:cNvCxnSpPr>
            <a:stCxn id="68" idx="4"/>
            <a:endCxn id="80" idx="1"/>
          </p:cNvCxnSpPr>
          <p:nvPr/>
        </p:nvCxnSpPr>
        <p:spPr>
          <a:xfrm>
            <a:off x="8263697" y="2999134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814501" y="2156051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91" name="Rectangle 90"/>
          <p:cNvSpPr/>
          <p:nvPr/>
        </p:nvSpPr>
        <p:spPr>
          <a:xfrm>
            <a:off x="9380375" y="2452718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grpSp>
        <p:nvGrpSpPr>
          <p:cNvPr id="92" name="Group 91"/>
          <p:cNvGrpSpPr/>
          <p:nvPr/>
        </p:nvGrpSpPr>
        <p:grpSpPr>
          <a:xfrm>
            <a:off x="9325968" y="3344712"/>
            <a:ext cx="671120" cy="637564"/>
            <a:chOff x="505030" y="2655914"/>
            <a:chExt cx="671120" cy="637564"/>
          </a:xfrm>
        </p:grpSpPr>
        <p:sp>
          <p:nvSpPr>
            <p:cNvPr id="93" name="Oval 9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6" name="Straight Arrow Connector 95"/>
          <p:cNvCxnSpPr>
            <a:stCxn id="76" idx="4"/>
            <a:endCxn id="93" idx="0"/>
          </p:cNvCxnSpPr>
          <p:nvPr/>
        </p:nvCxnSpPr>
        <p:spPr>
          <a:xfrm flipH="1">
            <a:off x="9661528" y="2990760"/>
            <a:ext cx="373744" cy="3539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9989534" y="352521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8999266" y="950021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,5</a:t>
            </a:r>
            <a:endParaRPr lang="en-IN" sz="24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7193574" y="3271886"/>
            <a:ext cx="671120" cy="637564"/>
            <a:chOff x="505030" y="2655914"/>
            <a:chExt cx="671120" cy="637564"/>
          </a:xfrm>
        </p:grpSpPr>
        <p:sp>
          <p:nvSpPr>
            <p:cNvPr id="100" name="Oval 9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3" name="Straight Arrow Connector 102"/>
          <p:cNvCxnSpPr>
            <a:stCxn id="68" idx="3"/>
            <a:endCxn id="100" idx="0"/>
          </p:cNvCxnSpPr>
          <p:nvPr/>
        </p:nvCxnSpPr>
        <p:spPr>
          <a:xfrm flipH="1">
            <a:off x="7529134" y="2905765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6923704" y="3461512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2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6" grpId="0"/>
      <p:bldP spid="18" grpId="0"/>
      <p:bldP spid="22" grpId="0"/>
      <p:bldP spid="26" grpId="0" animBg="1"/>
      <p:bldP spid="27" grpId="0"/>
      <p:bldP spid="28" grpId="0" animBg="1"/>
      <p:bldP spid="29" grpId="0" animBg="1"/>
      <p:bldP spid="30" grpId="0"/>
      <p:bldP spid="40" grpId="0"/>
      <p:bldP spid="50" grpId="0"/>
      <p:bldP spid="59" grpId="0"/>
      <p:bldP spid="63" grpId="0"/>
      <p:bldP spid="66" grpId="0"/>
      <p:bldP spid="73" grpId="0"/>
      <p:bldP spid="82" grpId="0"/>
      <p:bldP spid="87" grpId="0"/>
      <p:bldP spid="91" grpId="0"/>
      <p:bldP spid="97" grpId="0"/>
      <p:bldP spid="98" grpId="0"/>
      <p:bldP spid="10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 Red-Black Tree </a:t>
            </a:r>
            <a:r>
              <a:rPr lang="en-IN" b="0" dirty="0"/>
              <a:t>10, 20, 30, 15, 25, 5, 12, 35, 40, 32, 50 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067587" y="979688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 smtClean="0"/>
              <a:t>12</a:t>
            </a:r>
            <a:endParaRPr lang="en-IN" sz="24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155862" y="2371095"/>
            <a:ext cx="671120" cy="637564"/>
            <a:chOff x="505030" y="2655914"/>
            <a:chExt cx="671120" cy="637564"/>
          </a:xfrm>
        </p:grpSpPr>
        <p:sp>
          <p:nvSpPr>
            <p:cNvPr id="6" name="Oval 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845591" y="1503756"/>
            <a:ext cx="671120" cy="637564"/>
            <a:chOff x="505030" y="2655914"/>
            <a:chExt cx="671120" cy="637564"/>
          </a:xfrm>
        </p:grpSpPr>
        <p:sp>
          <p:nvSpPr>
            <p:cNvPr id="9" name="Oval 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2516710" y="1584160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12" name="Straight Arrow Connector 11"/>
          <p:cNvCxnSpPr>
            <a:stCxn id="9" idx="3"/>
            <a:endCxn id="6" idx="0"/>
          </p:cNvCxnSpPr>
          <p:nvPr/>
        </p:nvCxnSpPr>
        <p:spPr>
          <a:xfrm flipH="1">
            <a:off x="1491422" y="2047951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2927437" y="2362721"/>
            <a:ext cx="671120" cy="637564"/>
            <a:chOff x="505030" y="2655914"/>
            <a:chExt cx="671120" cy="637564"/>
          </a:xfrm>
        </p:grpSpPr>
        <p:sp>
          <p:nvSpPr>
            <p:cNvPr id="14" name="Oval 1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6" name="Straight Arrow Connector 15"/>
          <p:cNvCxnSpPr>
            <a:stCxn id="9" idx="5"/>
            <a:endCxn id="14" idx="1"/>
          </p:cNvCxnSpPr>
          <p:nvPr/>
        </p:nvCxnSpPr>
        <p:spPr>
          <a:xfrm>
            <a:off x="2418428" y="2047951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1714251" y="3315055"/>
            <a:ext cx="671120" cy="637564"/>
            <a:chOff x="505030" y="2655914"/>
            <a:chExt cx="671120" cy="637564"/>
          </a:xfrm>
        </p:grpSpPr>
        <p:sp>
          <p:nvSpPr>
            <p:cNvPr id="18" name="Oval 1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1496326" y="3600193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21" name="Straight Arrow Connector 20"/>
          <p:cNvCxnSpPr>
            <a:stCxn id="6" idx="4"/>
            <a:endCxn id="18" idx="1"/>
          </p:cNvCxnSpPr>
          <p:nvPr/>
        </p:nvCxnSpPr>
        <p:spPr>
          <a:xfrm>
            <a:off x="1491422" y="3008659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42226" y="2165576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23" name="Rectangle 22"/>
          <p:cNvSpPr/>
          <p:nvPr/>
        </p:nvSpPr>
        <p:spPr>
          <a:xfrm>
            <a:off x="2608100" y="2462243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grpSp>
        <p:nvGrpSpPr>
          <p:cNvPr id="24" name="Group 23"/>
          <p:cNvGrpSpPr/>
          <p:nvPr/>
        </p:nvGrpSpPr>
        <p:grpSpPr>
          <a:xfrm>
            <a:off x="2553693" y="3354237"/>
            <a:ext cx="671120" cy="637564"/>
            <a:chOff x="505030" y="2655914"/>
            <a:chExt cx="671120" cy="637564"/>
          </a:xfrm>
        </p:grpSpPr>
        <p:sp>
          <p:nvSpPr>
            <p:cNvPr id="25" name="Oval 2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7" name="Straight Arrow Connector 26"/>
          <p:cNvCxnSpPr>
            <a:stCxn id="14" idx="4"/>
            <a:endCxn id="25" idx="0"/>
          </p:cNvCxnSpPr>
          <p:nvPr/>
        </p:nvCxnSpPr>
        <p:spPr>
          <a:xfrm flipH="1">
            <a:off x="2889253" y="3000285"/>
            <a:ext cx="373744" cy="3539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217259" y="3534743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421299" y="3281411"/>
            <a:ext cx="671120" cy="637564"/>
            <a:chOff x="505030" y="2655914"/>
            <a:chExt cx="671120" cy="637564"/>
          </a:xfrm>
        </p:grpSpPr>
        <p:sp>
          <p:nvSpPr>
            <p:cNvPr id="31" name="Oval 3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3" name="Straight Arrow Connector 32"/>
          <p:cNvCxnSpPr>
            <a:stCxn id="6" idx="3"/>
            <a:endCxn id="31" idx="0"/>
          </p:cNvCxnSpPr>
          <p:nvPr/>
        </p:nvCxnSpPr>
        <p:spPr>
          <a:xfrm flipH="1">
            <a:off x="756859" y="2915290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51429" y="3471037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924199" y="4160664"/>
            <a:ext cx="671120" cy="637564"/>
            <a:chOff x="505030" y="2655914"/>
            <a:chExt cx="671120" cy="637564"/>
          </a:xfrm>
        </p:grpSpPr>
        <p:sp>
          <p:nvSpPr>
            <p:cNvPr id="36" name="Oval 3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" name="Rectangle 37"/>
          <p:cNvSpPr/>
          <p:nvPr/>
        </p:nvSpPr>
        <p:spPr>
          <a:xfrm>
            <a:off x="656763" y="4340946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40" name="Straight Arrow Connector 39"/>
          <p:cNvCxnSpPr>
            <a:stCxn id="18" idx="3"/>
            <a:endCxn id="36" idx="0"/>
          </p:cNvCxnSpPr>
          <p:nvPr/>
        </p:nvCxnSpPr>
        <p:spPr>
          <a:xfrm flipH="1">
            <a:off x="1259759" y="3859250"/>
            <a:ext cx="552775" cy="30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 rot="2790539">
            <a:off x="1000482" y="3043346"/>
            <a:ext cx="1220845" cy="2086347"/>
          </a:xfrm>
          <a:prstGeom prst="ellipse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/>
          <p:cNvSpPr txBox="1"/>
          <p:nvPr/>
        </p:nvSpPr>
        <p:spPr>
          <a:xfrm>
            <a:off x="1608002" y="4670603"/>
            <a:ext cx="105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Red </a:t>
            </a:r>
            <a:r>
              <a:rPr lang="en-IN" dirty="0" err="1" smtClean="0"/>
              <a:t>Red</a:t>
            </a:r>
            <a:r>
              <a:rPr lang="en-IN" dirty="0" smtClean="0"/>
              <a:t> Violation</a:t>
            </a:r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251145" y="5534071"/>
            <a:ext cx="110559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Uncle</a:t>
            </a:r>
            <a:r>
              <a:rPr lang="en-IN" dirty="0" smtClean="0"/>
              <a:t> is </a:t>
            </a:r>
            <a:r>
              <a:rPr lang="en-IN" b="1" dirty="0" smtClean="0">
                <a:solidFill>
                  <a:srgbClr val="FF0000"/>
                </a:solidFill>
              </a:rPr>
              <a:t>Red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56736" y="5534071"/>
            <a:ext cx="2658099" cy="92333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IN" dirty="0" smtClean="0"/>
              <a:t>Change Parent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Uncle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Grand Parent </a:t>
            </a:r>
            <a:r>
              <a:rPr lang="en-IN" dirty="0" err="1" smtClean="0"/>
              <a:t>Color</a:t>
            </a:r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194213" y="516752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Case 2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0" y="3057748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Uncle</a:t>
            </a:r>
            <a:endParaRPr lang="en-IN" dirty="0"/>
          </a:p>
        </p:txBody>
      </p:sp>
      <p:grpSp>
        <p:nvGrpSpPr>
          <p:cNvPr id="47" name="Group 46"/>
          <p:cNvGrpSpPr/>
          <p:nvPr/>
        </p:nvGrpSpPr>
        <p:grpSpPr>
          <a:xfrm>
            <a:off x="5118262" y="2056325"/>
            <a:ext cx="671120" cy="637564"/>
            <a:chOff x="505030" y="2655914"/>
            <a:chExt cx="671120" cy="637564"/>
          </a:xfrm>
        </p:grpSpPr>
        <p:sp>
          <p:nvSpPr>
            <p:cNvPr id="48" name="Oval 4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807991" y="1188986"/>
            <a:ext cx="671120" cy="637564"/>
            <a:chOff x="505030" y="2655914"/>
            <a:chExt cx="671120" cy="637564"/>
          </a:xfrm>
        </p:grpSpPr>
        <p:sp>
          <p:nvSpPr>
            <p:cNvPr id="51" name="Oval 5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3" name="Rectangle 52"/>
          <p:cNvSpPr/>
          <p:nvPr/>
        </p:nvSpPr>
        <p:spPr>
          <a:xfrm>
            <a:off x="6479110" y="1269390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54" name="Straight Arrow Connector 53"/>
          <p:cNvCxnSpPr>
            <a:stCxn id="51" idx="3"/>
            <a:endCxn id="48" idx="0"/>
          </p:cNvCxnSpPr>
          <p:nvPr/>
        </p:nvCxnSpPr>
        <p:spPr>
          <a:xfrm flipH="1">
            <a:off x="5453822" y="1733181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6889837" y="2047951"/>
            <a:ext cx="671120" cy="637564"/>
            <a:chOff x="505030" y="2655914"/>
            <a:chExt cx="671120" cy="637564"/>
          </a:xfrm>
        </p:grpSpPr>
        <p:sp>
          <p:nvSpPr>
            <p:cNvPr id="56" name="Oval 5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8" name="Straight Arrow Connector 57"/>
          <p:cNvCxnSpPr>
            <a:stCxn id="51" idx="5"/>
            <a:endCxn id="56" idx="1"/>
          </p:cNvCxnSpPr>
          <p:nvPr/>
        </p:nvCxnSpPr>
        <p:spPr>
          <a:xfrm>
            <a:off x="6380828" y="1733181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9" name="Group 58"/>
          <p:cNvGrpSpPr/>
          <p:nvPr/>
        </p:nvGrpSpPr>
        <p:grpSpPr>
          <a:xfrm>
            <a:off x="5676651" y="3000285"/>
            <a:ext cx="671120" cy="637564"/>
            <a:chOff x="505030" y="2655914"/>
            <a:chExt cx="671120" cy="637564"/>
          </a:xfrm>
        </p:grpSpPr>
        <p:sp>
          <p:nvSpPr>
            <p:cNvPr id="60" name="Oval 5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3" name="Straight Arrow Connector 62"/>
          <p:cNvCxnSpPr>
            <a:stCxn id="48" idx="4"/>
            <a:endCxn id="60" idx="1"/>
          </p:cNvCxnSpPr>
          <p:nvPr/>
        </p:nvCxnSpPr>
        <p:spPr>
          <a:xfrm>
            <a:off x="5453822" y="2693889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6570500" y="2147473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grpSp>
        <p:nvGrpSpPr>
          <p:cNvPr id="66" name="Group 65"/>
          <p:cNvGrpSpPr/>
          <p:nvPr/>
        </p:nvGrpSpPr>
        <p:grpSpPr>
          <a:xfrm>
            <a:off x="6516093" y="3039467"/>
            <a:ext cx="671120" cy="637564"/>
            <a:chOff x="505030" y="2655914"/>
            <a:chExt cx="671120" cy="637564"/>
          </a:xfrm>
        </p:grpSpPr>
        <p:sp>
          <p:nvSpPr>
            <p:cNvPr id="67" name="Oval 66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9" name="Straight Arrow Connector 68"/>
          <p:cNvCxnSpPr>
            <a:stCxn id="56" idx="4"/>
            <a:endCxn id="67" idx="0"/>
          </p:cNvCxnSpPr>
          <p:nvPr/>
        </p:nvCxnSpPr>
        <p:spPr>
          <a:xfrm flipH="1">
            <a:off x="6851653" y="2685515"/>
            <a:ext cx="373744" cy="3539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7179659" y="3219973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4383699" y="2966641"/>
            <a:ext cx="671120" cy="637564"/>
            <a:chOff x="505030" y="2655914"/>
            <a:chExt cx="671120" cy="637564"/>
          </a:xfrm>
        </p:grpSpPr>
        <p:sp>
          <p:nvSpPr>
            <p:cNvPr id="72" name="Oval 7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4" name="Straight Arrow Connector 73"/>
          <p:cNvCxnSpPr>
            <a:stCxn id="48" idx="3"/>
            <a:endCxn id="72" idx="0"/>
          </p:cNvCxnSpPr>
          <p:nvPr/>
        </p:nvCxnSpPr>
        <p:spPr>
          <a:xfrm flipH="1">
            <a:off x="4719259" y="2600520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6" name="Group 75"/>
          <p:cNvGrpSpPr/>
          <p:nvPr/>
        </p:nvGrpSpPr>
        <p:grpSpPr>
          <a:xfrm>
            <a:off x="4886599" y="3845894"/>
            <a:ext cx="671120" cy="637564"/>
            <a:chOff x="505030" y="2655914"/>
            <a:chExt cx="671120" cy="637564"/>
          </a:xfrm>
        </p:grpSpPr>
        <p:sp>
          <p:nvSpPr>
            <p:cNvPr id="77" name="Oval 76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9" name="Rectangle 78"/>
          <p:cNvSpPr/>
          <p:nvPr/>
        </p:nvSpPr>
        <p:spPr>
          <a:xfrm>
            <a:off x="4619163" y="4026176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80" name="Straight Arrow Connector 79"/>
          <p:cNvCxnSpPr>
            <a:stCxn id="60" idx="3"/>
            <a:endCxn id="77" idx="0"/>
          </p:cNvCxnSpPr>
          <p:nvPr/>
        </p:nvCxnSpPr>
        <p:spPr>
          <a:xfrm flipH="1">
            <a:off x="5222159" y="3544480"/>
            <a:ext cx="552775" cy="30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3867150" y="2056325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4" name="Group 83"/>
          <p:cNvGrpSpPr/>
          <p:nvPr/>
        </p:nvGrpSpPr>
        <p:grpSpPr>
          <a:xfrm>
            <a:off x="5676651" y="3000517"/>
            <a:ext cx="671120" cy="637564"/>
            <a:chOff x="505030" y="2655914"/>
            <a:chExt cx="671120" cy="637564"/>
          </a:xfrm>
        </p:grpSpPr>
        <p:sp>
          <p:nvSpPr>
            <p:cNvPr id="85" name="Oval 8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87" name="Rectangle 86"/>
          <p:cNvSpPr/>
          <p:nvPr/>
        </p:nvSpPr>
        <p:spPr>
          <a:xfrm>
            <a:off x="5415682" y="3127416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grpSp>
        <p:nvGrpSpPr>
          <p:cNvPr id="88" name="Group 87"/>
          <p:cNvGrpSpPr/>
          <p:nvPr/>
        </p:nvGrpSpPr>
        <p:grpSpPr>
          <a:xfrm>
            <a:off x="4391973" y="2965594"/>
            <a:ext cx="671120" cy="637564"/>
            <a:chOff x="505030" y="2655914"/>
            <a:chExt cx="671120" cy="637564"/>
          </a:xfrm>
        </p:grpSpPr>
        <p:sp>
          <p:nvSpPr>
            <p:cNvPr id="89" name="Oval 8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75283" y="2757349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91" name="Rectangle 90"/>
          <p:cNvSpPr/>
          <p:nvPr/>
        </p:nvSpPr>
        <p:spPr>
          <a:xfrm>
            <a:off x="4135898" y="3091880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grpSp>
        <p:nvGrpSpPr>
          <p:cNvPr id="92" name="Group 91"/>
          <p:cNvGrpSpPr/>
          <p:nvPr/>
        </p:nvGrpSpPr>
        <p:grpSpPr>
          <a:xfrm>
            <a:off x="5111038" y="2056597"/>
            <a:ext cx="671120" cy="637564"/>
            <a:chOff x="505030" y="2655914"/>
            <a:chExt cx="671120" cy="637564"/>
          </a:xfrm>
        </p:grpSpPr>
        <p:sp>
          <p:nvSpPr>
            <p:cNvPr id="93" name="Oval 9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95" name="Rectangle 94"/>
          <p:cNvSpPr/>
          <p:nvPr/>
        </p:nvSpPr>
        <p:spPr>
          <a:xfrm>
            <a:off x="4822671" y="2183866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</a:rPr>
              <a:t>R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873550" y="960290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 smtClean="0"/>
              <a:t>35</a:t>
            </a:r>
            <a:endParaRPr lang="en-IN" sz="2400" b="1" dirty="0"/>
          </a:p>
        </p:txBody>
      </p:sp>
      <p:grpSp>
        <p:nvGrpSpPr>
          <p:cNvPr id="98" name="Group 97"/>
          <p:cNvGrpSpPr/>
          <p:nvPr/>
        </p:nvGrpSpPr>
        <p:grpSpPr>
          <a:xfrm>
            <a:off x="8826362" y="2459044"/>
            <a:ext cx="671120" cy="637564"/>
            <a:chOff x="505030" y="2655914"/>
            <a:chExt cx="671120" cy="637564"/>
          </a:xfrm>
        </p:grpSpPr>
        <p:sp>
          <p:nvSpPr>
            <p:cNvPr id="99" name="Oval 9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9516091" y="1591705"/>
            <a:ext cx="671120" cy="637564"/>
            <a:chOff x="505030" y="2655914"/>
            <a:chExt cx="671120" cy="637564"/>
          </a:xfrm>
        </p:grpSpPr>
        <p:sp>
          <p:nvSpPr>
            <p:cNvPr id="102" name="Oval 10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4" name="Rectangle 103"/>
          <p:cNvSpPr/>
          <p:nvPr/>
        </p:nvSpPr>
        <p:spPr>
          <a:xfrm>
            <a:off x="10187210" y="1672109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105" name="Straight Arrow Connector 104"/>
          <p:cNvCxnSpPr>
            <a:stCxn id="102" idx="3"/>
            <a:endCxn id="99" idx="0"/>
          </p:cNvCxnSpPr>
          <p:nvPr/>
        </p:nvCxnSpPr>
        <p:spPr>
          <a:xfrm flipH="1">
            <a:off x="9161922" y="2135900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6" name="Group 105"/>
          <p:cNvGrpSpPr/>
          <p:nvPr/>
        </p:nvGrpSpPr>
        <p:grpSpPr>
          <a:xfrm>
            <a:off x="10597937" y="2450670"/>
            <a:ext cx="671120" cy="637564"/>
            <a:chOff x="505030" y="2655914"/>
            <a:chExt cx="671120" cy="637564"/>
          </a:xfrm>
        </p:grpSpPr>
        <p:sp>
          <p:nvSpPr>
            <p:cNvPr id="107" name="Oval 106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9" name="Straight Arrow Connector 108"/>
          <p:cNvCxnSpPr>
            <a:stCxn id="102" idx="5"/>
            <a:endCxn id="107" idx="1"/>
          </p:cNvCxnSpPr>
          <p:nvPr/>
        </p:nvCxnSpPr>
        <p:spPr>
          <a:xfrm>
            <a:off x="10088928" y="2135900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0" name="Group 109"/>
          <p:cNvGrpSpPr/>
          <p:nvPr/>
        </p:nvGrpSpPr>
        <p:grpSpPr>
          <a:xfrm>
            <a:off x="9384751" y="3403004"/>
            <a:ext cx="671120" cy="637564"/>
            <a:chOff x="505030" y="2655914"/>
            <a:chExt cx="671120" cy="637564"/>
          </a:xfrm>
        </p:grpSpPr>
        <p:sp>
          <p:nvSpPr>
            <p:cNvPr id="111" name="Oval 11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3" name="Straight Arrow Connector 112"/>
          <p:cNvCxnSpPr>
            <a:stCxn id="99" idx="4"/>
            <a:endCxn id="111" idx="1"/>
          </p:cNvCxnSpPr>
          <p:nvPr/>
        </p:nvCxnSpPr>
        <p:spPr>
          <a:xfrm>
            <a:off x="9161922" y="3096608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10278600" y="2550192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grpSp>
        <p:nvGrpSpPr>
          <p:cNvPr id="115" name="Group 114"/>
          <p:cNvGrpSpPr/>
          <p:nvPr/>
        </p:nvGrpSpPr>
        <p:grpSpPr>
          <a:xfrm>
            <a:off x="10224193" y="3442186"/>
            <a:ext cx="671120" cy="637564"/>
            <a:chOff x="505030" y="2655914"/>
            <a:chExt cx="671120" cy="637564"/>
          </a:xfrm>
        </p:grpSpPr>
        <p:sp>
          <p:nvSpPr>
            <p:cNvPr id="116" name="Oval 11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8" name="Straight Arrow Connector 117"/>
          <p:cNvCxnSpPr>
            <a:stCxn id="107" idx="3"/>
            <a:endCxn id="116" idx="0"/>
          </p:cNvCxnSpPr>
          <p:nvPr/>
        </p:nvCxnSpPr>
        <p:spPr>
          <a:xfrm flipH="1">
            <a:off x="10559753" y="2994865"/>
            <a:ext cx="136467" cy="447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10055870" y="3824297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grpSp>
        <p:nvGrpSpPr>
          <p:cNvPr id="120" name="Group 119"/>
          <p:cNvGrpSpPr/>
          <p:nvPr/>
        </p:nvGrpSpPr>
        <p:grpSpPr>
          <a:xfrm>
            <a:off x="8091799" y="3369360"/>
            <a:ext cx="671120" cy="637564"/>
            <a:chOff x="505030" y="2655914"/>
            <a:chExt cx="671120" cy="637564"/>
          </a:xfrm>
        </p:grpSpPr>
        <p:sp>
          <p:nvSpPr>
            <p:cNvPr id="121" name="Oval 12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3" name="Straight Arrow Connector 122"/>
          <p:cNvCxnSpPr>
            <a:stCxn id="99" idx="3"/>
            <a:endCxn id="121" idx="0"/>
          </p:cNvCxnSpPr>
          <p:nvPr/>
        </p:nvCxnSpPr>
        <p:spPr>
          <a:xfrm flipH="1">
            <a:off x="8427359" y="3003239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4" name="Group 123"/>
          <p:cNvGrpSpPr/>
          <p:nvPr/>
        </p:nvGrpSpPr>
        <p:grpSpPr>
          <a:xfrm>
            <a:off x="8594699" y="4248613"/>
            <a:ext cx="671120" cy="637564"/>
            <a:chOff x="505030" y="2655914"/>
            <a:chExt cx="671120" cy="637564"/>
          </a:xfrm>
        </p:grpSpPr>
        <p:sp>
          <p:nvSpPr>
            <p:cNvPr id="125" name="Oval 12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 126"/>
          <p:cNvSpPr/>
          <p:nvPr/>
        </p:nvSpPr>
        <p:spPr>
          <a:xfrm>
            <a:off x="8327263" y="442889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128" name="Straight Arrow Connector 127"/>
          <p:cNvCxnSpPr>
            <a:stCxn id="111" idx="3"/>
            <a:endCxn id="125" idx="0"/>
          </p:cNvCxnSpPr>
          <p:nvPr/>
        </p:nvCxnSpPr>
        <p:spPr>
          <a:xfrm flipH="1">
            <a:off x="8930259" y="3947199"/>
            <a:ext cx="552775" cy="30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9123782" y="3530135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137" name="Rectangle 136"/>
          <p:cNvSpPr/>
          <p:nvPr/>
        </p:nvSpPr>
        <p:spPr>
          <a:xfrm>
            <a:off x="7843998" y="3494599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141" name="Rectangle 140"/>
          <p:cNvSpPr/>
          <p:nvPr/>
        </p:nvSpPr>
        <p:spPr>
          <a:xfrm>
            <a:off x="8530771" y="258658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</a:rPr>
              <a:t>R</a:t>
            </a:r>
            <a:endParaRPr lang="en-IN" b="1" dirty="0">
              <a:solidFill>
                <a:schemeClr val="accent6"/>
              </a:solidFill>
            </a:endParaRPr>
          </a:p>
        </p:txBody>
      </p:sp>
      <p:grpSp>
        <p:nvGrpSpPr>
          <p:cNvPr id="142" name="Group 141"/>
          <p:cNvGrpSpPr/>
          <p:nvPr/>
        </p:nvGrpSpPr>
        <p:grpSpPr>
          <a:xfrm>
            <a:off x="11285601" y="3461212"/>
            <a:ext cx="671120" cy="637564"/>
            <a:chOff x="505030" y="2655914"/>
            <a:chExt cx="671120" cy="637564"/>
          </a:xfrm>
        </p:grpSpPr>
        <p:sp>
          <p:nvSpPr>
            <p:cNvPr id="143" name="Oval 14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3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46" name="Straight Arrow Connector 145"/>
          <p:cNvCxnSpPr>
            <a:stCxn id="107" idx="5"/>
            <a:endCxn id="143" idx="1"/>
          </p:cNvCxnSpPr>
          <p:nvPr/>
        </p:nvCxnSpPr>
        <p:spPr>
          <a:xfrm>
            <a:off x="11170774" y="2994865"/>
            <a:ext cx="213110" cy="5597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11394534" y="404056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45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 animBg="1"/>
      <p:bldP spid="42" grpId="0"/>
      <p:bldP spid="43" grpId="0" animBg="1"/>
      <p:bldP spid="44" grpId="0" animBg="1"/>
      <p:bldP spid="45" grpId="0"/>
      <p:bldP spid="46" grpId="0"/>
      <p:bldP spid="53" grpId="0"/>
      <p:bldP spid="65" grpId="0"/>
      <p:bldP spid="70" grpId="0"/>
      <p:bldP spid="79" grpId="0"/>
      <p:bldP spid="87" grpId="0"/>
      <p:bldP spid="91" grpId="0"/>
      <p:bldP spid="95" grpId="0"/>
      <p:bldP spid="97" grpId="0"/>
      <p:bldP spid="104" grpId="0"/>
      <p:bldP spid="114" grpId="0"/>
      <p:bldP spid="119" grpId="0"/>
      <p:bldP spid="127" grpId="0"/>
      <p:bldP spid="133" grpId="0"/>
      <p:bldP spid="137" grpId="0"/>
      <p:bldP spid="141" grpId="0"/>
      <p:bldP spid="1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 Red-Black Tree </a:t>
            </a:r>
            <a:r>
              <a:rPr lang="en-IN" b="0" dirty="0"/>
              <a:t>10, 20, 30, 15, 25, 5, 12, 35, 40, 32, 50 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215450" y="836465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 smtClean="0"/>
              <a:t>40</a:t>
            </a:r>
            <a:endParaRPr lang="en-IN" sz="24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168262" y="2335219"/>
            <a:ext cx="671120" cy="637564"/>
            <a:chOff x="505030" y="2655914"/>
            <a:chExt cx="671120" cy="637564"/>
          </a:xfrm>
        </p:grpSpPr>
        <p:sp>
          <p:nvSpPr>
            <p:cNvPr id="6" name="Oval 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857991" y="1467880"/>
            <a:ext cx="671120" cy="637564"/>
            <a:chOff x="505030" y="2655914"/>
            <a:chExt cx="671120" cy="637564"/>
          </a:xfrm>
        </p:grpSpPr>
        <p:sp>
          <p:nvSpPr>
            <p:cNvPr id="9" name="Oval 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2529110" y="1548284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12" name="Straight Arrow Connector 11"/>
          <p:cNvCxnSpPr>
            <a:stCxn id="9" idx="3"/>
            <a:endCxn id="6" idx="0"/>
          </p:cNvCxnSpPr>
          <p:nvPr/>
        </p:nvCxnSpPr>
        <p:spPr>
          <a:xfrm flipH="1">
            <a:off x="1503822" y="2012075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2939837" y="2326845"/>
            <a:ext cx="671120" cy="637564"/>
            <a:chOff x="505030" y="2655914"/>
            <a:chExt cx="671120" cy="637564"/>
          </a:xfrm>
        </p:grpSpPr>
        <p:sp>
          <p:nvSpPr>
            <p:cNvPr id="14" name="Oval 1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6" name="Straight Arrow Connector 15"/>
          <p:cNvCxnSpPr>
            <a:stCxn id="9" idx="5"/>
            <a:endCxn id="14" idx="1"/>
          </p:cNvCxnSpPr>
          <p:nvPr/>
        </p:nvCxnSpPr>
        <p:spPr>
          <a:xfrm>
            <a:off x="2430828" y="2012075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1726651" y="3279179"/>
            <a:ext cx="671120" cy="637564"/>
            <a:chOff x="505030" y="2655914"/>
            <a:chExt cx="671120" cy="637564"/>
          </a:xfrm>
        </p:grpSpPr>
        <p:sp>
          <p:nvSpPr>
            <p:cNvPr id="18" name="Oval 1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Straight Arrow Connector 19"/>
          <p:cNvCxnSpPr>
            <a:stCxn id="6" idx="4"/>
            <a:endCxn id="18" idx="1"/>
          </p:cNvCxnSpPr>
          <p:nvPr/>
        </p:nvCxnSpPr>
        <p:spPr>
          <a:xfrm>
            <a:off x="1503822" y="2972783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2566093" y="3318361"/>
            <a:ext cx="671120" cy="637564"/>
            <a:chOff x="505030" y="2655914"/>
            <a:chExt cx="671120" cy="637564"/>
          </a:xfrm>
        </p:grpSpPr>
        <p:sp>
          <p:nvSpPr>
            <p:cNvPr id="23" name="Oval 2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Straight Arrow Connector 24"/>
          <p:cNvCxnSpPr>
            <a:stCxn id="14" idx="3"/>
            <a:endCxn id="23" idx="0"/>
          </p:cNvCxnSpPr>
          <p:nvPr/>
        </p:nvCxnSpPr>
        <p:spPr>
          <a:xfrm flipH="1">
            <a:off x="2901653" y="2871040"/>
            <a:ext cx="136467" cy="447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433699" y="3245535"/>
            <a:ext cx="671120" cy="637564"/>
            <a:chOff x="505030" y="2655914"/>
            <a:chExt cx="671120" cy="637564"/>
          </a:xfrm>
        </p:grpSpPr>
        <p:sp>
          <p:nvSpPr>
            <p:cNvPr id="28" name="Oval 2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0" name="Straight Arrow Connector 29"/>
          <p:cNvCxnSpPr>
            <a:stCxn id="6" idx="3"/>
            <a:endCxn id="28" idx="0"/>
          </p:cNvCxnSpPr>
          <p:nvPr/>
        </p:nvCxnSpPr>
        <p:spPr>
          <a:xfrm flipH="1">
            <a:off x="769259" y="2879414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936599" y="4124788"/>
            <a:ext cx="671120" cy="637564"/>
            <a:chOff x="505030" y="2655914"/>
            <a:chExt cx="671120" cy="637564"/>
          </a:xfrm>
        </p:grpSpPr>
        <p:sp>
          <p:nvSpPr>
            <p:cNvPr id="32" name="Oval 3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669163" y="4305070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35" name="Straight Arrow Connector 34"/>
          <p:cNvCxnSpPr>
            <a:stCxn id="18" idx="3"/>
            <a:endCxn id="32" idx="0"/>
          </p:cNvCxnSpPr>
          <p:nvPr/>
        </p:nvCxnSpPr>
        <p:spPr>
          <a:xfrm flipH="1">
            <a:off x="1272159" y="3823374"/>
            <a:ext cx="552775" cy="30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465682" y="3406310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37" name="Rectangle 36"/>
          <p:cNvSpPr/>
          <p:nvPr/>
        </p:nvSpPr>
        <p:spPr>
          <a:xfrm>
            <a:off x="185898" y="3370774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38" name="Rectangle 37"/>
          <p:cNvSpPr/>
          <p:nvPr/>
        </p:nvSpPr>
        <p:spPr>
          <a:xfrm>
            <a:off x="872671" y="2462760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</a:rPr>
              <a:t>R</a:t>
            </a:r>
            <a:endParaRPr lang="en-IN" b="1" dirty="0">
              <a:solidFill>
                <a:schemeClr val="accent6"/>
              </a:solidFill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3627501" y="3337387"/>
            <a:ext cx="671120" cy="637564"/>
            <a:chOff x="505030" y="2655914"/>
            <a:chExt cx="671120" cy="637564"/>
          </a:xfrm>
        </p:grpSpPr>
        <p:sp>
          <p:nvSpPr>
            <p:cNvPr id="40" name="Oval 3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3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2" name="Straight Arrow Connector 41"/>
          <p:cNvCxnSpPr>
            <a:stCxn id="14" idx="5"/>
            <a:endCxn id="40" idx="1"/>
          </p:cNvCxnSpPr>
          <p:nvPr/>
        </p:nvCxnSpPr>
        <p:spPr>
          <a:xfrm>
            <a:off x="3512674" y="2871040"/>
            <a:ext cx="213110" cy="5597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4298621" y="4127475"/>
            <a:ext cx="671120" cy="637564"/>
            <a:chOff x="505030" y="2655914"/>
            <a:chExt cx="671120" cy="637564"/>
          </a:xfrm>
        </p:grpSpPr>
        <p:sp>
          <p:nvSpPr>
            <p:cNvPr id="45" name="Oval 4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40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7" name="Straight Arrow Connector 46"/>
          <p:cNvCxnSpPr>
            <a:stCxn id="40" idx="5"/>
            <a:endCxn id="45" idx="1"/>
          </p:cNvCxnSpPr>
          <p:nvPr/>
        </p:nvCxnSpPr>
        <p:spPr>
          <a:xfrm>
            <a:off x="4200338" y="3881582"/>
            <a:ext cx="196566" cy="339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 rot="19280185">
            <a:off x="3690826" y="3000118"/>
            <a:ext cx="1170487" cy="2158597"/>
          </a:xfrm>
          <a:prstGeom prst="ellipse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3725784" y="2519396"/>
            <a:ext cx="105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Red </a:t>
            </a:r>
            <a:r>
              <a:rPr lang="en-IN" dirty="0" err="1" smtClean="0"/>
              <a:t>Red</a:t>
            </a:r>
            <a:r>
              <a:rPr lang="en-IN" dirty="0" smtClean="0"/>
              <a:t> Violation</a:t>
            </a:r>
            <a:endParaRPr lang="en-IN" dirty="0"/>
          </a:p>
        </p:txBody>
      </p:sp>
      <p:sp>
        <p:nvSpPr>
          <p:cNvPr id="52" name="TextBox 51"/>
          <p:cNvSpPr txBox="1"/>
          <p:nvPr/>
        </p:nvSpPr>
        <p:spPr>
          <a:xfrm>
            <a:off x="251145" y="5534071"/>
            <a:ext cx="110559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Uncle</a:t>
            </a:r>
            <a:r>
              <a:rPr lang="en-IN" dirty="0" smtClean="0"/>
              <a:t> is </a:t>
            </a:r>
            <a:r>
              <a:rPr lang="en-IN" b="1" dirty="0" smtClean="0">
                <a:solidFill>
                  <a:srgbClr val="FF0000"/>
                </a:solidFill>
              </a:rPr>
              <a:t>Red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56736" y="5534071"/>
            <a:ext cx="2658099" cy="92333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IN" dirty="0" smtClean="0"/>
              <a:t>Change Parent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Uncle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Grand Parent </a:t>
            </a:r>
            <a:r>
              <a:rPr lang="en-IN" dirty="0" err="1" smtClean="0"/>
              <a:t>Color</a:t>
            </a:r>
            <a:endParaRPr lang="en-IN" dirty="0"/>
          </a:p>
        </p:txBody>
      </p:sp>
      <p:sp>
        <p:nvSpPr>
          <p:cNvPr id="54" name="TextBox 53"/>
          <p:cNvSpPr txBox="1"/>
          <p:nvPr/>
        </p:nvSpPr>
        <p:spPr>
          <a:xfrm>
            <a:off x="194213" y="516752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Case 2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275465" y="3010556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Uncle</a:t>
            </a:r>
            <a:endParaRPr lang="en-IN" dirty="0"/>
          </a:p>
        </p:txBody>
      </p:sp>
      <p:grpSp>
        <p:nvGrpSpPr>
          <p:cNvPr id="56" name="Group 55"/>
          <p:cNvGrpSpPr/>
          <p:nvPr/>
        </p:nvGrpSpPr>
        <p:grpSpPr>
          <a:xfrm>
            <a:off x="3627501" y="3337344"/>
            <a:ext cx="671120" cy="637564"/>
            <a:chOff x="505030" y="2655914"/>
            <a:chExt cx="671120" cy="637564"/>
          </a:xfrm>
        </p:grpSpPr>
        <p:sp>
          <p:nvSpPr>
            <p:cNvPr id="57" name="Oval 56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3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2572692" y="3320344"/>
            <a:ext cx="671120" cy="637564"/>
            <a:chOff x="505030" y="2655914"/>
            <a:chExt cx="671120" cy="637564"/>
          </a:xfrm>
        </p:grpSpPr>
        <p:sp>
          <p:nvSpPr>
            <p:cNvPr id="60" name="Oval 5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938629" y="2322539"/>
            <a:ext cx="671120" cy="637564"/>
            <a:chOff x="505030" y="2655914"/>
            <a:chExt cx="671120" cy="637564"/>
          </a:xfrm>
        </p:grpSpPr>
        <p:sp>
          <p:nvSpPr>
            <p:cNvPr id="63" name="Oval 6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5" name="Straight Connector 64"/>
          <p:cNvCxnSpPr/>
          <p:nvPr/>
        </p:nvCxnSpPr>
        <p:spPr>
          <a:xfrm>
            <a:off x="5448300" y="946498"/>
            <a:ext cx="0" cy="5482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914830" y="1027236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 smtClean="0"/>
              <a:t>32</a:t>
            </a:r>
            <a:endParaRPr lang="en-IN" sz="2400" b="1" dirty="0"/>
          </a:p>
        </p:txBody>
      </p:sp>
      <p:grpSp>
        <p:nvGrpSpPr>
          <p:cNvPr id="67" name="Group 66"/>
          <p:cNvGrpSpPr/>
          <p:nvPr/>
        </p:nvGrpSpPr>
        <p:grpSpPr>
          <a:xfrm>
            <a:off x="6867642" y="2525990"/>
            <a:ext cx="671120" cy="637564"/>
            <a:chOff x="505030" y="2655914"/>
            <a:chExt cx="671120" cy="637564"/>
          </a:xfrm>
        </p:grpSpPr>
        <p:sp>
          <p:nvSpPr>
            <p:cNvPr id="68" name="Oval 6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7557371" y="1658651"/>
            <a:ext cx="671120" cy="637564"/>
            <a:chOff x="505030" y="2655914"/>
            <a:chExt cx="671120" cy="637564"/>
          </a:xfrm>
        </p:grpSpPr>
        <p:sp>
          <p:nvSpPr>
            <p:cNvPr id="71" name="Oval 7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3" name="Rectangle 72"/>
          <p:cNvSpPr/>
          <p:nvPr/>
        </p:nvSpPr>
        <p:spPr>
          <a:xfrm>
            <a:off x="8228490" y="1739055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74" name="Straight Arrow Connector 73"/>
          <p:cNvCxnSpPr>
            <a:stCxn id="71" idx="3"/>
            <a:endCxn id="68" idx="0"/>
          </p:cNvCxnSpPr>
          <p:nvPr/>
        </p:nvCxnSpPr>
        <p:spPr>
          <a:xfrm flipH="1">
            <a:off x="7203202" y="2202846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5" name="Group 74"/>
          <p:cNvGrpSpPr/>
          <p:nvPr/>
        </p:nvGrpSpPr>
        <p:grpSpPr>
          <a:xfrm>
            <a:off x="8639217" y="2517616"/>
            <a:ext cx="671120" cy="637564"/>
            <a:chOff x="505030" y="2655914"/>
            <a:chExt cx="671120" cy="637564"/>
          </a:xfrm>
        </p:grpSpPr>
        <p:sp>
          <p:nvSpPr>
            <p:cNvPr id="76" name="Oval 7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8" name="Straight Arrow Connector 77"/>
          <p:cNvCxnSpPr>
            <a:stCxn id="71" idx="5"/>
            <a:endCxn id="76" idx="1"/>
          </p:cNvCxnSpPr>
          <p:nvPr/>
        </p:nvCxnSpPr>
        <p:spPr>
          <a:xfrm>
            <a:off x="8130208" y="2202846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9" name="Group 78"/>
          <p:cNvGrpSpPr/>
          <p:nvPr/>
        </p:nvGrpSpPr>
        <p:grpSpPr>
          <a:xfrm>
            <a:off x="7426031" y="3469950"/>
            <a:ext cx="671120" cy="637564"/>
            <a:chOff x="505030" y="2655914"/>
            <a:chExt cx="671120" cy="637564"/>
          </a:xfrm>
        </p:grpSpPr>
        <p:sp>
          <p:nvSpPr>
            <p:cNvPr id="80" name="Oval 7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2" name="Straight Arrow Connector 81"/>
          <p:cNvCxnSpPr>
            <a:stCxn id="68" idx="4"/>
            <a:endCxn id="80" idx="1"/>
          </p:cNvCxnSpPr>
          <p:nvPr/>
        </p:nvCxnSpPr>
        <p:spPr>
          <a:xfrm>
            <a:off x="7203202" y="3163554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3" name="Group 82"/>
          <p:cNvGrpSpPr/>
          <p:nvPr/>
        </p:nvGrpSpPr>
        <p:grpSpPr>
          <a:xfrm>
            <a:off x="8265473" y="3509132"/>
            <a:ext cx="671120" cy="637564"/>
            <a:chOff x="505030" y="2655914"/>
            <a:chExt cx="671120" cy="637564"/>
          </a:xfrm>
        </p:grpSpPr>
        <p:sp>
          <p:nvSpPr>
            <p:cNvPr id="84" name="Oval 8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6" name="Straight Arrow Connector 85"/>
          <p:cNvCxnSpPr>
            <a:stCxn id="76" idx="3"/>
            <a:endCxn id="84" idx="0"/>
          </p:cNvCxnSpPr>
          <p:nvPr/>
        </p:nvCxnSpPr>
        <p:spPr>
          <a:xfrm flipH="1">
            <a:off x="8601033" y="3061811"/>
            <a:ext cx="136467" cy="447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7" name="Group 86"/>
          <p:cNvGrpSpPr/>
          <p:nvPr/>
        </p:nvGrpSpPr>
        <p:grpSpPr>
          <a:xfrm>
            <a:off x="6133079" y="3436306"/>
            <a:ext cx="671120" cy="637564"/>
            <a:chOff x="505030" y="2655914"/>
            <a:chExt cx="671120" cy="637564"/>
          </a:xfrm>
        </p:grpSpPr>
        <p:sp>
          <p:nvSpPr>
            <p:cNvPr id="88" name="Oval 8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0" name="Straight Arrow Connector 89"/>
          <p:cNvCxnSpPr>
            <a:stCxn id="68" idx="3"/>
            <a:endCxn id="88" idx="0"/>
          </p:cNvCxnSpPr>
          <p:nvPr/>
        </p:nvCxnSpPr>
        <p:spPr>
          <a:xfrm flipH="1">
            <a:off x="6468639" y="3070185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1" name="Group 90"/>
          <p:cNvGrpSpPr/>
          <p:nvPr/>
        </p:nvGrpSpPr>
        <p:grpSpPr>
          <a:xfrm>
            <a:off x="6635979" y="4315559"/>
            <a:ext cx="671120" cy="637564"/>
            <a:chOff x="505030" y="2655914"/>
            <a:chExt cx="671120" cy="637564"/>
          </a:xfrm>
        </p:grpSpPr>
        <p:sp>
          <p:nvSpPr>
            <p:cNvPr id="92" name="Oval 9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94" name="Rectangle 93"/>
          <p:cNvSpPr/>
          <p:nvPr/>
        </p:nvSpPr>
        <p:spPr>
          <a:xfrm>
            <a:off x="6368543" y="4495841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95" name="Straight Arrow Connector 94"/>
          <p:cNvCxnSpPr>
            <a:stCxn id="80" idx="3"/>
            <a:endCxn id="92" idx="0"/>
          </p:cNvCxnSpPr>
          <p:nvPr/>
        </p:nvCxnSpPr>
        <p:spPr>
          <a:xfrm flipH="1">
            <a:off x="6971539" y="4014145"/>
            <a:ext cx="552775" cy="30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7165062" y="3597081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97" name="Rectangle 96"/>
          <p:cNvSpPr/>
          <p:nvPr/>
        </p:nvSpPr>
        <p:spPr>
          <a:xfrm>
            <a:off x="5885278" y="3561545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98" name="Rectangle 97"/>
          <p:cNvSpPr/>
          <p:nvPr/>
        </p:nvSpPr>
        <p:spPr>
          <a:xfrm>
            <a:off x="6572051" y="2653531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</a:rPr>
              <a:t>R</a:t>
            </a:r>
            <a:endParaRPr lang="en-IN" b="1" dirty="0">
              <a:solidFill>
                <a:schemeClr val="accent6"/>
              </a:solidFill>
            </a:endParaRPr>
          </a:p>
        </p:txBody>
      </p:sp>
      <p:grpSp>
        <p:nvGrpSpPr>
          <p:cNvPr id="99" name="Group 98"/>
          <p:cNvGrpSpPr/>
          <p:nvPr/>
        </p:nvGrpSpPr>
        <p:grpSpPr>
          <a:xfrm>
            <a:off x="9326881" y="3528158"/>
            <a:ext cx="671120" cy="637564"/>
            <a:chOff x="505030" y="2655914"/>
            <a:chExt cx="671120" cy="637564"/>
          </a:xfrm>
        </p:grpSpPr>
        <p:sp>
          <p:nvSpPr>
            <p:cNvPr id="100" name="Oval 9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3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2" name="Straight Arrow Connector 101"/>
          <p:cNvCxnSpPr>
            <a:stCxn id="76" idx="5"/>
            <a:endCxn id="100" idx="1"/>
          </p:cNvCxnSpPr>
          <p:nvPr/>
        </p:nvCxnSpPr>
        <p:spPr>
          <a:xfrm>
            <a:off x="9212054" y="3061811"/>
            <a:ext cx="213110" cy="5597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9998001" y="4318246"/>
            <a:ext cx="671120" cy="637564"/>
            <a:chOff x="505030" y="2655914"/>
            <a:chExt cx="671120" cy="637564"/>
          </a:xfrm>
        </p:grpSpPr>
        <p:sp>
          <p:nvSpPr>
            <p:cNvPr id="104" name="Oval 10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40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6" name="Straight Arrow Connector 105"/>
          <p:cNvCxnSpPr>
            <a:stCxn id="100" idx="5"/>
            <a:endCxn id="104" idx="1"/>
          </p:cNvCxnSpPr>
          <p:nvPr/>
        </p:nvCxnSpPr>
        <p:spPr>
          <a:xfrm>
            <a:off x="9899718" y="4072353"/>
            <a:ext cx="196566" cy="339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9" name="Group 118"/>
          <p:cNvGrpSpPr/>
          <p:nvPr/>
        </p:nvGrpSpPr>
        <p:grpSpPr>
          <a:xfrm>
            <a:off x="8763660" y="4324031"/>
            <a:ext cx="671120" cy="637564"/>
            <a:chOff x="505030" y="2655914"/>
            <a:chExt cx="671120" cy="637564"/>
          </a:xfrm>
        </p:grpSpPr>
        <p:sp>
          <p:nvSpPr>
            <p:cNvPr id="120" name="Oval 11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2" name="Straight Arrow Connector 121"/>
          <p:cNvCxnSpPr>
            <a:stCxn id="100" idx="3"/>
            <a:endCxn id="120" idx="7"/>
          </p:cNvCxnSpPr>
          <p:nvPr/>
        </p:nvCxnSpPr>
        <p:spPr>
          <a:xfrm flipH="1">
            <a:off x="9336497" y="4072353"/>
            <a:ext cx="88667" cy="3450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85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34" grpId="0"/>
      <p:bldP spid="36" grpId="0"/>
      <p:bldP spid="37" grpId="0"/>
      <p:bldP spid="38" grpId="0"/>
      <p:bldP spid="50" grpId="0" animBg="1"/>
      <p:bldP spid="51" grpId="0"/>
      <p:bldP spid="52" grpId="0" animBg="1"/>
      <p:bldP spid="53" grpId="0" animBg="1"/>
      <p:bldP spid="54" grpId="0"/>
      <p:bldP spid="55" grpId="0"/>
      <p:bldP spid="66" grpId="0"/>
      <p:bldP spid="73" grpId="0"/>
      <p:bldP spid="94" grpId="0"/>
      <p:bldP spid="96" grpId="0"/>
      <p:bldP spid="97" grpId="0"/>
      <p:bldP spid="9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 Red-Black Tree </a:t>
            </a:r>
            <a:r>
              <a:rPr lang="en-IN" b="0" dirty="0"/>
              <a:t>10, 20, 30, 15, 25, 5, 12, 35, 40, 32, 50 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302596" y="851067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Insert </a:t>
            </a:r>
            <a:r>
              <a:rPr lang="en-IN" sz="2400" b="1" dirty="0" smtClean="0"/>
              <a:t>50</a:t>
            </a:r>
            <a:endParaRPr lang="en-IN" sz="24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255408" y="2349821"/>
            <a:ext cx="671120" cy="637564"/>
            <a:chOff x="505030" y="2655914"/>
            <a:chExt cx="671120" cy="637564"/>
          </a:xfrm>
        </p:grpSpPr>
        <p:sp>
          <p:nvSpPr>
            <p:cNvPr id="6" name="Oval 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945137" y="1482482"/>
            <a:ext cx="671120" cy="637564"/>
            <a:chOff x="505030" y="2655914"/>
            <a:chExt cx="671120" cy="637564"/>
          </a:xfrm>
        </p:grpSpPr>
        <p:sp>
          <p:nvSpPr>
            <p:cNvPr id="9" name="Oval 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2616256" y="1562886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12" name="Straight Arrow Connector 11"/>
          <p:cNvCxnSpPr>
            <a:stCxn id="9" idx="3"/>
            <a:endCxn id="6" idx="0"/>
          </p:cNvCxnSpPr>
          <p:nvPr/>
        </p:nvCxnSpPr>
        <p:spPr>
          <a:xfrm flipH="1">
            <a:off x="1590968" y="2026677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3026983" y="2341447"/>
            <a:ext cx="671120" cy="637564"/>
            <a:chOff x="505030" y="2655914"/>
            <a:chExt cx="671120" cy="637564"/>
          </a:xfrm>
        </p:grpSpPr>
        <p:sp>
          <p:nvSpPr>
            <p:cNvPr id="14" name="Oval 1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6" name="Straight Arrow Connector 15"/>
          <p:cNvCxnSpPr>
            <a:stCxn id="9" idx="5"/>
            <a:endCxn id="14" idx="1"/>
          </p:cNvCxnSpPr>
          <p:nvPr/>
        </p:nvCxnSpPr>
        <p:spPr>
          <a:xfrm>
            <a:off x="2517974" y="2026677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1813797" y="3293781"/>
            <a:ext cx="671120" cy="637564"/>
            <a:chOff x="505030" y="2655914"/>
            <a:chExt cx="671120" cy="637564"/>
          </a:xfrm>
        </p:grpSpPr>
        <p:sp>
          <p:nvSpPr>
            <p:cNvPr id="18" name="Oval 1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" name="Straight Arrow Connector 19"/>
          <p:cNvCxnSpPr>
            <a:stCxn id="6" idx="4"/>
            <a:endCxn id="18" idx="1"/>
          </p:cNvCxnSpPr>
          <p:nvPr/>
        </p:nvCxnSpPr>
        <p:spPr>
          <a:xfrm>
            <a:off x="1590968" y="2987385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2653239" y="3332963"/>
            <a:ext cx="671120" cy="637564"/>
            <a:chOff x="505030" y="2655914"/>
            <a:chExt cx="671120" cy="637564"/>
          </a:xfrm>
        </p:grpSpPr>
        <p:sp>
          <p:nvSpPr>
            <p:cNvPr id="22" name="Oval 2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4" name="Straight Arrow Connector 23"/>
          <p:cNvCxnSpPr>
            <a:stCxn id="14" idx="3"/>
            <a:endCxn id="22" idx="0"/>
          </p:cNvCxnSpPr>
          <p:nvPr/>
        </p:nvCxnSpPr>
        <p:spPr>
          <a:xfrm flipH="1">
            <a:off x="2988799" y="2885642"/>
            <a:ext cx="136467" cy="447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520845" y="3260137"/>
            <a:ext cx="671120" cy="637564"/>
            <a:chOff x="505030" y="2655914"/>
            <a:chExt cx="671120" cy="637564"/>
          </a:xfrm>
        </p:grpSpPr>
        <p:sp>
          <p:nvSpPr>
            <p:cNvPr id="26" name="Oval 2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8" name="Straight Arrow Connector 27"/>
          <p:cNvCxnSpPr>
            <a:stCxn id="6" idx="3"/>
            <a:endCxn id="26" idx="0"/>
          </p:cNvCxnSpPr>
          <p:nvPr/>
        </p:nvCxnSpPr>
        <p:spPr>
          <a:xfrm flipH="1">
            <a:off x="856405" y="2894016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1023745" y="4139390"/>
            <a:ext cx="671120" cy="637564"/>
            <a:chOff x="505030" y="2655914"/>
            <a:chExt cx="671120" cy="637564"/>
          </a:xfrm>
        </p:grpSpPr>
        <p:sp>
          <p:nvSpPr>
            <p:cNvPr id="30" name="Oval 2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756309" y="4319672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R</a:t>
            </a:r>
            <a:endParaRPr lang="en-IN" dirty="0">
              <a:solidFill>
                <a:schemeClr val="accent6"/>
              </a:solidFill>
            </a:endParaRPr>
          </a:p>
        </p:txBody>
      </p:sp>
      <p:cxnSp>
        <p:nvCxnSpPr>
          <p:cNvPr id="33" name="Straight Arrow Connector 32"/>
          <p:cNvCxnSpPr>
            <a:stCxn id="18" idx="3"/>
            <a:endCxn id="30" idx="0"/>
          </p:cNvCxnSpPr>
          <p:nvPr/>
        </p:nvCxnSpPr>
        <p:spPr>
          <a:xfrm flipH="1">
            <a:off x="1359305" y="3837976"/>
            <a:ext cx="552775" cy="30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552828" y="3420912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35" name="Rectangle 34"/>
          <p:cNvSpPr/>
          <p:nvPr/>
        </p:nvSpPr>
        <p:spPr>
          <a:xfrm>
            <a:off x="273044" y="3385376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36" name="Rectangle 35"/>
          <p:cNvSpPr/>
          <p:nvPr/>
        </p:nvSpPr>
        <p:spPr>
          <a:xfrm>
            <a:off x="959817" y="2477362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</a:rPr>
              <a:t>R</a:t>
            </a:r>
            <a:endParaRPr lang="en-IN" b="1" dirty="0">
              <a:solidFill>
                <a:schemeClr val="accent6"/>
              </a:solidFill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714647" y="3351989"/>
            <a:ext cx="671120" cy="637564"/>
            <a:chOff x="505030" y="2655914"/>
            <a:chExt cx="671120" cy="637564"/>
          </a:xfrm>
        </p:grpSpPr>
        <p:sp>
          <p:nvSpPr>
            <p:cNvPr id="38" name="Oval 3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3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0" name="Straight Arrow Connector 39"/>
          <p:cNvCxnSpPr>
            <a:stCxn id="14" idx="5"/>
            <a:endCxn id="38" idx="1"/>
          </p:cNvCxnSpPr>
          <p:nvPr/>
        </p:nvCxnSpPr>
        <p:spPr>
          <a:xfrm>
            <a:off x="3599820" y="2885642"/>
            <a:ext cx="213110" cy="5597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4385767" y="4142077"/>
            <a:ext cx="671120" cy="637564"/>
            <a:chOff x="505030" y="2655914"/>
            <a:chExt cx="671120" cy="637564"/>
          </a:xfrm>
        </p:grpSpPr>
        <p:sp>
          <p:nvSpPr>
            <p:cNvPr id="42" name="Oval 4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40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4" name="Straight Arrow Connector 43"/>
          <p:cNvCxnSpPr>
            <a:stCxn id="38" idx="5"/>
            <a:endCxn id="42" idx="1"/>
          </p:cNvCxnSpPr>
          <p:nvPr/>
        </p:nvCxnSpPr>
        <p:spPr>
          <a:xfrm>
            <a:off x="4287484" y="3896184"/>
            <a:ext cx="196566" cy="339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3151426" y="4147862"/>
            <a:ext cx="671120" cy="637564"/>
            <a:chOff x="505030" y="2655914"/>
            <a:chExt cx="671120" cy="637564"/>
          </a:xfrm>
        </p:grpSpPr>
        <p:sp>
          <p:nvSpPr>
            <p:cNvPr id="46" name="Oval 4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8" name="Straight Arrow Connector 47"/>
          <p:cNvCxnSpPr>
            <a:stCxn id="38" idx="3"/>
            <a:endCxn id="46" idx="7"/>
          </p:cNvCxnSpPr>
          <p:nvPr/>
        </p:nvCxnSpPr>
        <p:spPr>
          <a:xfrm flipH="1">
            <a:off x="3724263" y="3896184"/>
            <a:ext cx="88667" cy="3450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4860333" y="5166148"/>
            <a:ext cx="671120" cy="637564"/>
            <a:chOff x="505030" y="2655914"/>
            <a:chExt cx="671120" cy="637564"/>
          </a:xfrm>
        </p:grpSpPr>
        <p:sp>
          <p:nvSpPr>
            <p:cNvPr id="50" name="Oval 4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5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2" name="Straight Arrow Connector 51"/>
          <p:cNvCxnSpPr>
            <a:stCxn id="42" idx="5"/>
            <a:endCxn id="50" idx="0"/>
          </p:cNvCxnSpPr>
          <p:nvPr/>
        </p:nvCxnSpPr>
        <p:spPr>
          <a:xfrm>
            <a:off x="4958604" y="4686272"/>
            <a:ext cx="237289" cy="479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 rot="20151714">
            <a:off x="4362824" y="3899665"/>
            <a:ext cx="1170487" cy="2158597"/>
          </a:xfrm>
          <a:prstGeom prst="ellipse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/>
          <p:cNvSpPr txBox="1"/>
          <p:nvPr/>
        </p:nvSpPr>
        <p:spPr>
          <a:xfrm>
            <a:off x="3307620" y="4786910"/>
            <a:ext cx="105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Red </a:t>
            </a:r>
            <a:r>
              <a:rPr lang="en-IN" dirty="0" err="1" smtClean="0"/>
              <a:t>Red</a:t>
            </a:r>
            <a:r>
              <a:rPr lang="en-IN" dirty="0" smtClean="0"/>
              <a:t> Violation</a:t>
            </a:r>
            <a:endParaRPr lang="en-IN" dirty="0"/>
          </a:p>
        </p:txBody>
      </p:sp>
      <p:sp>
        <p:nvSpPr>
          <p:cNvPr id="58" name="TextBox 57"/>
          <p:cNvSpPr txBox="1"/>
          <p:nvPr/>
        </p:nvSpPr>
        <p:spPr>
          <a:xfrm>
            <a:off x="251145" y="5619531"/>
            <a:ext cx="110559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Uncle</a:t>
            </a:r>
            <a:r>
              <a:rPr lang="en-IN" dirty="0" smtClean="0"/>
              <a:t> is </a:t>
            </a:r>
            <a:r>
              <a:rPr lang="en-IN" b="1" dirty="0" smtClean="0">
                <a:solidFill>
                  <a:srgbClr val="FF0000"/>
                </a:solidFill>
              </a:rPr>
              <a:t>Red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56736" y="5619531"/>
            <a:ext cx="2658099" cy="92333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IN" dirty="0" smtClean="0"/>
              <a:t>Change Parent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Uncle </a:t>
            </a:r>
            <a:r>
              <a:rPr lang="en-IN" dirty="0" err="1" smtClean="0"/>
              <a:t>Color</a:t>
            </a:r>
            <a:endParaRPr lang="en-IN" dirty="0" smtClean="0"/>
          </a:p>
          <a:p>
            <a:pPr algn="ctr"/>
            <a:r>
              <a:rPr lang="en-IN" dirty="0" smtClean="0"/>
              <a:t>Change Grand Parent </a:t>
            </a:r>
            <a:r>
              <a:rPr lang="en-IN" dirty="0" err="1" smtClean="0"/>
              <a:t>Color</a:t>
            </a:r>
            <a:endParaRPr lang="en-IN" dirty="0"/>
          </a:p>
        </p:txBody>
      </p:sp>
      <p:sp>
        <p:nvSpPr>
          <p:cNvPr id="60" name="TextBox 59"/>
          <p:cNvSpPr txBox="1"/>
          <p:nvPr/>
        </p:nvSpPr>
        <p:spPr>
          <a:xfrm>
            <a:off x="194213" y="525298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Case 2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644074" y="4556878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Uncle</a:t>
            </a:r>
            <a:endParaRPr lang="en-IN" dirty="0"/>
          </a:p>
        </p:txBody>
      </p:sp>
      <p:grpSp>
        <p:nvGrpSpPr>
          <p:cNvPr id="62" name="Group 61"/>
          <p:cNvGrpSpPr/>
          <p:nvPr/>
        </p:nvGrpSpPr>
        <p:grpSpPr>
          <a:xfrm>
            <a:off x="7415501" y="2236615"/>
            <a:ext cx="671120" cy="637564"/>
            <a:chOff x="505030" y="2655914"/>
            <a:chExt cx="671120" cy="637564"/>
          </a:xfrm>
        </p:grpSpPr>
        <p:sp>
          <p:nvSpPr>
            <p:cNvPr id="63" name="Oval 6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8105230" y="1369276"/>
            <a:ext cx="671120" cy="637564"/>
            <a:chOff x="505030" y="2655914"/>
            <a:chExt cx="671120" cy="637564"/>
          </a:xfrm>
        </p:grpSpPr>
        <p:sp>
          <p:nvSpPr>
            <p:cNvPr id="66" name="Oval 6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8" name="Rectangle 67"/>
          <p:cNvSpPr/>
          <p:nvPr/>
        </p:nvSpPr>
        <p:spPr>
          <a:xfrm>
            <a:off x="8776349" y="1449680"/>
            <a:ext cx="339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cxnSp>
        <p:nvCxnSpPr>
          <p:cNvPr id="69" name="Straight Arrow Connector 68"/>
          <p:cNvCxnSpPr>
            <a:stCxn id="66" idx="3"/>
            <a:endCxn id="63" idx="0"/>
          </p:cNvCxnSpPr>
          <p:nvPr/>
        </p:nvCxnSpPr>
        <p:spPr>
          <a:xfrm flipH="1">
            <a:off x="7751061" y="1913471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9187076" y="2228241"/>
            <a:ext cx="671120" cy="637564"/>
            <a:chOff x="505030" y="2655914"/>
            <a:chExt cx="671120" cy="637564"/>
          </a:xfrm>
        </p:grpSpPr>
        <p:sp>
          <p:nvSpPr>
            <p:cNvPr id="71" name="Oval 7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3" name="Straight Arrow Connector 72"/>
          <p:cNvCxnSpPr>
            <a:stCxn id="66" idx="5"/>
            <a:endCxn id="71" idx="1"/>
          </p:cNvCxnSpPr>
          <p:nvPr/>
        </p:nvCxnSpPr>
        <p:spPr>
          <a:xfrm>
            <a:off x="8678067" y="1913471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4" name="Group 73"/>
          <p:cNvGrpSpPr/>
          <p:nvPr/>
        </p:nvGrpSpPr>
        <p:grpSpPr>
          <a:xfrm>
            <a:off x="7973890" y="3180575"/>
            <a:ext cx="671120" cy="637564"/>
            <a:chOff x="505030" y="2655914"/>
            <a:chExt cx="671120" cy="637564"/>
          </a:xfrm>
        </p:grpSpPr>
        <p:sp>
          <p:nvSpPr>
            <p:cNvPr id="75" name="Oval 7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7" name="Straight Arrow Connector 76"/>
          <p:cNvCxnSpPr>
            <a:stCxn id="63" idx="4"/>
            <a:endCxn id="75" idx="1"/>
          </p:cNvCxnSpPr>
          <p:nvPr/>
        </p:nvCxnSpPr>
        <p:spPr>
          <a:xfrm>
            <a:off x="7751061" y="2874179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8" name="Group 77"/>
          <p:cNvGrpSpPr/>
          <p:nvPr/>
        </p:nvGrpSpPr>
        <p:grpSpPr>
          <a:xfrm>
            <a:off x="8813332" y="3219757"/>
            <a:ext cx="671120" cy="637564"/>
            <a:chOff x="505030" y="2655914"/>
            <a:chExt cx="671120" cy="637564"/>
          </a:xfrm>
        </p:grpSpPr>
        <p:sp>
          <p:nvSpPr>
            <p:cNvPr id="79" name="Oval 7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1" name="Straight Arrow Connector 80"/>
          <p:cNvCxnSpPr>
            <a:stCxn id="71" idx="3"/>
            <a:endCxn id="79" idx="0"/>
          </p:cNvCxnSpPr>
          <p:nvPr/>
        </p:nvCxnSpPr>
        <p:spPr>
          <a:xfrm flipH="1">
            <a:off x="9148892" y="2772436"/>
            <a:ext cx="136467" cy="447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2" name="Group 81"/>
          <p:cNvGrpSpPr/>
          <p:nvPr/>
        </p:nvGrpSpPr>
        <p:grpSpPr>
          <a:xfrm>
            <a:off x="6680938" y="3146931"/>
            <a:ext cx="671120" cy="637564"/>
            <a:chOff x="505030" y="2655914"/>
            <a:chExt cx="671120" cy="637564"/>
          </a:xfrm>
        </p:grpSpPr>
        <p:sp>
          <p:nvSpPr>
            <p:cNvPr id="83" name="Oval 8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5" name="Straight Arrow Connector 84"/>
          <p:cNvCxnSpPr>
            <a:stCxn id="63" idx="3"/>
            <a:endCxn id="83" idx="0"/>
          </p:cNvCxnSpPr>
          <p:nvPr/>
        </p:nvCxnSpPr>
        <p:spPr>
          <a:xfrm flipH="1">
            <a:off x="7016498" y="2780810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6" name="Group 85"/>
          <p:cNvGrpSpPr/>
          <p:nvPr/>
        </p:nvGrpSpPr>
        <p:grpSpPr>
          <a:xfrm>
            <a:off x="7183838" y="4026184"/>
            <a:ext cx="671120" cy="637564"/>
            <a:chOff x="505030" y="2655914"/>
            <a:chExt cx="671120" cy="637564"/>
          </a:xfrm>
        </p:grpSpPr>
        <p:sp>
          <p:nvSpPr>
            <p:cNvPr id="87" name="Oval 86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0" name="Straight Arrow Connector 89"/>
          <p:cNvCxnSpPr>
            <a:stCxn id="75" idx="3"/>
            <a:endCxn id="87" idx="0"/>
          </p:cNvCxnSpPr>
          <p:nvPr/>
        </p:nvCxnSpPr>
        <p:spPr>
          <a:xfrm flipH="1">
            <a:off x="7519398" y="3724770"/>
            <a:ext cx="552775" cy="30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4" name="Group 93"/>
          <p:cNvGrpSpPr/>
          <p:nvPr/>
        </p:nvGrpSpPr>
        <p:grpSpPr>
          <a:xfrm>
            <a:off x="9874740" y="3238783"/>
            <a:ext cx="671120" cy="637564"/>
            <a:chOff x="505030" y="2655914"/>
            <a:chExt cx="671120" cy="637564"/>
          </a:xfrm>
        </p:grpSpPr>
        <p:sp>
          <p:nvSpPr>
            <p:cNvPr id="95" name="Oval 9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3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7" name="Straight Arrow Connector 96"/>
          <p:cNvCxnSpPr>
            <a:stCxn id="71" idx="5"/>
            <a:endCxn id="95" idx="1"/>
          </p:cNvCxnSpPr>
          <p:nvPr/>
        </p:nvCxnSpPr>
        <p:spPr>
          <a:xfrm>
            <a:off x="9759913" y="2772436"/>
            <a:ext cx="213110" cy="5597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10545860" y="4028871"/>
            <a:ext cx="671120" cy="637564"/>
            <a:chOff x="505030" y="2655914"/>
            <a:chExt cx="671120" cy="637564"/>
          </a:xfrm>
        </p:grpSpPr>
        <p:sp>
          <p:nvSpPr>
            <p:cNvPr id="99" name="Oval 9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40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1" name="Straight Arrow Connector 100"/>
          <p:cNvCxnSpPr>
            <a:stCxn id="95" idx="5"/>
            <a:endCxn id="99" idx="1"/>
          </p:cNvCxnSpPr>
          <p:nvPr/>
        </p:nvCxnSpPr>
        <p:spPr>
          <a:xfrm>
            <a:off x="10447577" y="3782978"/>
            <a:ext cx="196566" cy="339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2" name="Group 101"/>
          <p:cNvGrpSpPr/>
          <p:nvPr/>
        </p:nvGrpSpPr>
        <p:grpSpPr>
          <a:xfrm>
            <a:off x="9311519" y="4034656"/>
            <a:ext cx="671120" cy="637564"/>
            <a:chOff x="505030" y="2655914"/>
            <a:chExt cx="671120" cy="637564"/>
          </a:xfrm>
        </p:grpSpPr>
        <p:sp>
          <p:nvSpPr>
            <p:cNvPr id="103" name="Oval 10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5" name="Straight Arrow Connector 104"/>
          <p:cNvCxnSpPr>
            <a:stCxn id="95" idx="3"/>
            <a:endCxn id="103" idx="7"/>
          </p:cNvCxnSpPr>
          <p:nvPr/>
        </p:nvCxnSpPr>
        <p:spPr>
          <a:xfrm flipH="1">
            <a:off x="9884356" y="3782978"/>
            <a:ext cx="88667" cy="3450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6" name="Group 105"/>
          <p:cNvGrpSpPr/>
          <p:nvPr/>
        </p:nvGrpSpPr>
        <p:grpSpPr>
          <a:xfrm>
            <a:off x="11020426" y="5052942"/>
            <a:ext cx="671120" cy="637564"/>
            <a:chOff x="505030" y="2655914"/>
            <a:chExt cx="671120" cy="637564"/>
          </a:xfrm>
        </p:grpSpPr>
        <p:sp>
          <p:nvSpPr>
            <p:cNvPr id="107" name="Oval 106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5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9" name="Straight Arrow Connector 108"/>
          <p:cNvCxnSpPr>
            <a:stCxn id="99" idx="5"/>
            <a:endCxn id="107" idx="0"/>
          </p:cNvCxnSpPr>
          <p:nvPr/>
        </p:nvCxnSpPr>
        <p:spPr>
          <a:xfrm>
            <a:off x="11118697" y="4573066"/>
            <a:ext cx="237289" cy="479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>
            <a:off x="4473502" y="2321610"/>
            <a:ext cx="187602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4" name="Group 113"/>
          <p:cNvGrpSpPr/>
          <p:nvPr/>
        </p:nvGrpSpPr>
        <p:grpSpPr>
          <a:xfrm>
            <a:off x="10545860" y="4026110"/>
            <a:ext cx="671120" cy="637564"/>
            <a:chOff x="505030" y="2655914"/>
            <a:chExt cx="671120" cy="637564"/>
          </a:xfrm>
        </p:grpSpPr>
        <p:sp>
          <p:nvSpPr>
            <p:cNvPr id="115" name="Oval 11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40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9321203" y="4040162"/>
            <a:ext cx="671120" cy="637564"/>
            <a:chOff x="505030" y="2655914"/>
            <a:chExt cx="671120" cy="637564"/>
          </a:xfrm>
        </p:grpSpPr>
        <p:sp>
          <p:nvSpPr>
            <p:cNvPr id="118" name="Oval 11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9877811" y="3236848"/>
            <a:ext cx="671120" cy="637564"/>
            <a:chOff x="505030" y="2655914"/>
            <a:chExt cx="671120" cy="637564"/>
          </a:xfrm>
        </p:grpSpPr>
        <p:sp>
          <p:nvSpPr>
            <p:cNvPr id="121" name="Oval 12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3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6" name="Oval 125"/>
          <p:cNvSpPr/>
          <p:nvPr/>
        </p:nvSpPr>
        <p:spPr>
          <a:xfrm rot="19544304">
            <a:off x="9292958" y="1994763"/>
            <a:ext cx="1170487" cy="2158597"/>
          </a:xfrm>
          <a:prstGeom prst="ellipse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TextBox 126"/>
          <p:cNvSpPr txBox="1"/>
          <p:nvPr/>
        </p:nvSpPr>
        <p:spPr>
          <a:xfrm>
            <a:off x="10118829" y="1948479"/>
            <a:ext cx="105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Red </a:t>
            </a:r>
            <a:r>
              <a:rPr lang="en-IN" dirty="0" err="1" smtClean="0"/>
              <a:t>Red</a:t>
            </a:r>
            <a:r>
              <a:rPr lang="en-IN" dirty="0" smtClean="0"/>
              <a:t> Violation</a:t>
            </a:r>
            <a:endParaRPr lang="en-IN" dirty="0"/>
          </a:p>
        </p:txBody>
      </p:sp>
      <p:sp>
        <p:nvSpPr>
          <p:cNvPr id="128" name="TextBox 127"/>
          <p:cNvSpPr txBox="1"/>
          <p:nvPr/>
        </p:nvSpPr>
        <p:spPr>
          <a:xfrm>
            <a:off x="7009184" y="1914085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Uncle</a:t>
            </a:r>
            <a:endParaRPr lang="en-IN" dirty="0"/>
          </a:p>
        </p:txBody>
      </p:sp>
      <p:grpSp>
        <p:nvGrpSpPr>
          <p:cNvPr id="129" name="Group 128"/>
          <p:cNvGrpSpPr/>
          <p:nvPr/>
        </p:nvGrpSpPr>
        <p:grpSpPr>
          <a:xfrm>
            <a:off x="9195348" y="2226299"/>
            <a:ext cx="671120" cy="637564"/>
            <a:chOff x="505030" y="2655914"/>
            <a:chExt cx="671120" cy="637564"/>
          </a:xfrm>
        </p:grpSpPr>
        <p:sp>
          <p:nvSpPr>
            <p:cNvPr id="130" name="Oval 12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7414775" y="2236719"/>
            <a:ext cx="671120" cy="637564"/>
            <a:chOff x="505030" y="2655914"/>
            <a:chExt cx="671120" cy="637564"/>
          </a:xfrm>
        </p:grpSpPr>
        <p:sp>
          <p:nvSpPr>
            <p:cNvPr id="133" name="Oval 13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531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9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32" grpId="0"/>
      <p:bldP spid="34" grpId="0"/>
      <p:bldP spid="35" grpId="0"/>
      <p:bldP spid="36" grpId="0"/>
      <p:bldP spid="56" grpId="0" animBg="1"/>
      <p:bldP spid="57" grpId="0"/>
      <p:bldP spid="58" grpId="0" animBg="1"/>
      <p:bldP spid="59" grpId="0" animBg="1"/>
      <p:bldP spid="60" grpId="0"/>
      <p:bldP spid="61" grpId="0"/>
      <p:bldP spid="68" grpId="0"/>
      <p:bldP spid="126" grpId="0" animBg="1"/>
      <p:bldP spid="127" grpId="0"/>
      <p:bldP spid="1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 Red-Black Tree </a:t>
            </a:r>
            <a:r>
              <a:rPr lang="en-IN" b="0" dirty="0"/>
              <a:t>10, 20, 30, 15, 25, 5, 12, 35, 40, 32, 50 </a:t>
            </a: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1330895" y="2219524"/>
            <a:ext cx="671120" cy="637564"/>
            <a:chOff x="505030" y="2655914"/>
            <a:chExt cx="671120" cy="637564"/>
          </a:xfrm>
        </p:grpSpPr>
        <p:sp>
          <p:nvSpPr>
            <p:cNvPr id="5" name="Oval 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020624" y="1352185"/>
            <a:ext cx="671120" cy="637564"/>
            <a:chOff x="505030" y="2655914"/>
            <a:chExt cx="671120" cy="637564"/>
          </a:xfrm>
        </p:grpSpPr>
        <p:sp>
          <p:nvSpPr>
            <p:cNvPr id="8" name="Oval 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" name="Straight Arrow Connector 10"/>
          <p:cNvCxnSpPr>
            <a:stCxn id="8" idx="3"/>
            <a:endCxn id="5" idx="0"/>
          </p:cNvCxnSpPr>
          <p:nvPr/>
        </p:nvCxnSpPr>
        <p:spPr>
          <a:xfrm flipH="1">
            <a:off x="1666455" y="1896380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3102470" y="2211150"/>
            <a:ext cx="671120" cy="637564"/>
            <a:chOff x="505030" y="2655914"/>
            <a:chExt cx="671120" cy="637564"/>
          </a:xfrm>
        </p:grpSpPr>
        <p:sp>
          <p:nvSpPr>
            <p:cNvPr id="13" name="Oval 1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5" name="Straight Arrow Connector 14"/>
          <p:cNvCxnSpPr>
            <a:stCxn id="8" idx="5"/>
            <a:endCxn id="13" idx="1"/>
          </p:cNvCxnSpPr>
          <p:nvPr/>
        </p:nvCxnSpPr>
        <p:spPr>
          <a:xfrm>
            <a:off x="2593461" y="1896380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1889284" y="3163484"/>
            <a:ext cx="671120" cy="637564"/>
            <a:chOff x="505030" y="2655914"/>
            <a:chExt cx="671120" cy="637564"/>
          </a:xfrm>
        </p:grpSpPr>
        <p:sp>
          <p:nvSpPr>
            <p:cNvPr id="17" name="Oval 16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9" name="Straight Arrow Connector 18"/>
          <p:cNvCxnSpPr>
            <a:stCxn id="5" idx="4"/>
            <a:endCxn id="17" idx="1"/>
          </p:cNvCxnSpPr>
          <p:nvPr/>
        </p:nvCxnSpPr>
        <p:spPr>
          <a:xfrm>
            <a:off x="1666455" y="2857088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2728726" y="3202666"/>
            <a:ext cx="671120" cy="637564"/>
            <a:chOff x="505030" y="2655914"/>
            <a:chExt cx="671120" cy="637564"/>
          </a:xfrm>
        </p:grpSpPr>
        <p:sp>
          <p:nvSpPr>
            <p:cNvPr id="21" name="Oval 2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3" name="Straight Arrow Connector 22"/>
          <p:cNvCxnSpPr>
            <a:stCxn id="13" idx="3"/>
            <a:endCxn id="21" idx="0"/>
          </p:cNvCxnSpPr>
          <p:nvPr/>
        </p:nvCxnSpPr>
        <p:spPr>
          <a:xfrm flipH="1">
            <a:off x="3064286" y="2755345"/>
            <a:ext cx="136467" cy="447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596332" y="3129840"/>
            <a:ext cx="671120" cy="637564"/>
            <a:chOff x="505030" y="2655914"/>
            <a:chExt cx="671120" cy="637564"/>
          </a:xfrm>
        </p:grpSpPr>
        <p:sp>
          <p:nvSpPr>
            <p:cNvPr id="25" name="Oval 2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7" name="Straight Arrow Connector 26"/>
          <p:cNvCxnSpPr>
            <a:stCxn id="5" idx="3"/>
            <a:endCxn id="25" idx="0"/>
          </p:cNvCxnSpPr>
          <p:nvPr/>
        </p:nvCxnSpPr>
        <p:spPr>
          <a:xfrm flipH="1">
            <a:off x="931892" y="2763719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>
            <a:off x="1349504" y="4064945"/>
            <a:ext cx="671120" cy="637564"/>
            <a:chOff x="505030" y="2655914"/>
            <a:chExt cx="671120" cy="637564"/>
          </a:xfrm>
        </p:grpSpPr>
        <p:sp>
          <p:nvSpPr>
            <p:cNvPr id="29" name="Oval 2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1" name="Straight Arrow Connector 30"/>
          <p:cNvCxnSpPr>
            <a:stCxn id="17" idx="3"/>
            <a:endCxn id="29" idx="0"/>
          </p:cNvCxnSpPr>
          <p:nvPr/>
        </p:nvCxnSpPr>
        <p:spPr>
          <a:xfrm flipH="1">
            <a:off x="1685064" y="3707679"/>
            <a:ext cx="302503" cy="3572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3790134" y="3221692"/>
            <a:ext cx="671120" cy="637564"/>
            <a:chOff x="505030" y="2655914"/>
            <a:chExt cx="671120" cy="637564"/>
          </a:xfrm>
        </p:grpSpPr>
        <p:sp>
          <p:nvSpPr>
            <p:cNvPr id="33" name="Oval 32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3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5" name="Straight Arrow Connector 34"/>
          <p:cNvCxnSpPr>
            <a:stCxn id="13" idx="5"/>
            <a:endCxn id="33" idx="1"/>
          </p:cNvCxnSpPr>
          <p:nvPr/>
        </p:nvCxnSpPr>
        <p:spPr>
          <a:xfrm>
            <a:off x="3675307" y="2755345"/>
            <a:ext cx="213110" cy="5597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4461254" y="4011780"/>
            <a:ext cx="671120" cy="637564"/>
            <a:chOff x="505030" y="2655914"/>
            <a:chExt cx="671120" cy="637564"/>
          </a:xfrm>
        </p:grpSpPr>
        <p:sp>
          <p:nvSpPr>
            <p:cNvPr id="37" name="Oval 36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40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9" name="Straight Arrow Connector 38"/>
          <p:cNvCxnSpPr>
            <a:stCxn id="33" idx="5"/>
            <a:endCxn id="37" idx="1"/>
          </p:cNvCxnSpPr>
          <p:nvPr/>
        </p:nvCxnSpPr>
        <p:spPr>
          <a:xfrm>
            <a:off x="4362971" y="3765887"/>
            <a:ext cx="196566" cy="339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3226913" y="4017565"/>
            <a:ext cx="671120" cy="637564"/>
            <a:chOff x="505030" y="2655914"/>
            <a:chExt cx="671120" cy="637564"/>
          </a:xfrm>
        </p:grpSpPr>
        <p:sp>
          <p:nvSpPr>
            <p:cNvPr id="41" name="Oval 4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3" name="Straight Arrow Connector 42"/>
          <p:cNvCxnSpPr>
            <a:stCxn id="33" idx="3"/>
            <a:endCxn id="41" idx="7"/>
          </p:cNvCxnSpPr>
          <p:nvPr/>
        </p:nvCxnSpPr>
        <p:spPr>
          <a:xfrm flipH="1">
            <a:off x="3799750" y="3765887"/>
            <a:ext cx="88667" cy="3450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4935820" y="5035851"/>
            <a:ext cx="671120" cy="637564"/>
            <a:chOff x="505030" y="2655914"/>
            <a:chExt cx="671120" cy="637564"/>
          </a:xfrm>
        </p:grpSpPr>
        <p:sp>
          <p:nvSpPr>
            <p:cNvPr id="45" name="Oval 44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5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7" name="Straight Arrow Connector 46"/>
          <p:cNvCxnSpPr>
            <a:stCxn id="37" idx="5"/>
            <a:endCxn id="45" idx="0"/>
          </p:cNvCxnSpPr>
          <p:nvPr/>
        </p:nvCxnSpPr>
        <p:spPr>
          <a:xfrm>
            <a:off x="5034091" y="4555975"/>
            <a:ext cx="237289" cy="479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13707" y="717952"/>
            <a:ext cx="2959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Special Case: Insert </a:t>
            </a:r>
            <a:r>
              <a:rPr lang="en-US" sz="2400" b="1" dirty="0" smtClean="0"/>
              <a:t>11</a:t>
            </a:r>
            <a:endParaRPr lang="en-IN" sz="2400" b="1" dirty="0"/>
          </a:p>
        </p:txBody>
      </p:sp>
      <p:grpSp>
        <p:nvGrpSpPr>
          <p:cNvPr id="67" name="Group 66"/>
          <p:cNvGrpSpPr/>
          <p:nvPr/>
        </p:nvGrpSpPr>
        <p:grpSpPr>
          <a:xfrm>
            <a:off x="629058" y="4805061"/>
            <a:ext cx="671120" cy="637564"/>
            <a:chOff x="505030" y="2655914"/>
            <a:chExt cx="671120" cy="637564"/>
          </a:xfrm>
        </p:grpSpPr>
        <p:sp>
          <p:nvSpPr>
            <p:cNvPr id="68" name="Oval 6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11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70" name="Straight Arrow Connector 69"/>
          <p:cNvCxnSpPr>
            <a:stCxn id="29" idx="3"/>
            <a:endCxn id="68" idx="7"/>
          </p:cNvCxnSpPr>
          <p:nvPr/>
        </p:nvCxnSpPr>
        <p:spPr>
          <a:xfrm flipH="1">
            <a:off x="1201895" y="4609140"/>
            <a:ext cx="245892" cy="2892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 rot="2790539">
            <a:off x="717190" y="3731698"/>
            <a:ext cx="1220845" cy="2086347"/>
          </a:xfrm>
          <a:prstGeom prst="ellipse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/>
          <p:cNvSpPr txBox="1"/>
          <p:nvPr/>
        </p:nvSpPr>
        <p:spPr>
          <a:xfrm>
            <a:off x="31959" y="3744907"/>
            <a:ext cx="105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Red </a:t>
            </a:r>
            <a:r>
              <a:rPr lang="en-IN" dirty="0" err="1" smtClean="0"/>
              <a:t>Red</a:t>
            </a:r>
            <a:r>
              <a:rPr lang="en-IN" dirty="0" smtClean="0"/>
              <a:t> Violation</a:t>
            </a:r>
            <a:endParaRPr lang="en-IN" dirty="0"/>
          </a:p>
        </p:txBody>
      </p:sp>
      <p:sp>
        <p:nvSpPr>
          <p:cNvPr id="75" name="TextBox 74"/>
          <p:cNvSpPr txBox="1"/>
          <p:nvPr/>
        </p:nvSpPr>
        <p:spPr>
          <a:xfrm>
            <a:off x="1427293" y="5749418"/>
            <a:ext cx="1575435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Uncle</a:t>
            </a:r>
            <a:r>
              <a:rPr lang="en-IN" dirty="0" smtClean="0"/>
              <a:t> is </a:t>
            </a:r>
            <a:r>
              <a:rPr lang="en-IN" b="1" dirty="0" smtClean="0"/>
              <a:t>Black</a:t>
            </a:r>
            <a:r>
              <a:rPr lang="en-IN" dirty="0" smtClean="0"/>
              <a:t> or </a:t>
            </a:r>
            <a:r>
              <a:rPr lang="en-IN" dirty="0" smtClean="0">
                <a:solidFill>
                  <a:schemeClr val="accent6"/>
                </a:solidFill>
              </a:rPr>
              <a:t>Uncle is </a:t>
            </a:r>
            <a:r>
              <a:rPr lang="en-IN" b="1" dirty="0" smtClean="0">
                <a:solidFill>
                  <a:schemeClr val="accent6"/>
                </a:solidFill>
              </a:rPr>
              <a:t>Null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387913" y="5382285"/>
            <a:ext cx="84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accent6"/>
                </a:solidFill>
              </a:rPr>
              <a:t>Case 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015796" y="5753163"/>
            <a:ext cx="1289606" cy="646331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Rotation </a:t>
            </a:r>
          </a:p>
          <a:p>
            <a:pPr algn="ctr"/>
            <a:r>
              <a:rPr lang="en-IN" dirty="0" smtClean="0"/>
              <a:t>&amp; </a:t>
            </a:r>
            <a:r>
              <a:rPr lang="en-IN" dirty="0" err="1" smtClean="0"/>
              <a:t>Recolor</a:t>
            </a:r>
            <a:endParaRPr lang="en-IN" dirty="0"/>
          </a:p>
        </p:txBody>
      </p:sp>
      <p:sp>
        <p:nvSpPr>
          <p:cNvPr id="78" name="TextBox 77"/>
          <p:cNvSpPr txBox="1"/>
          <p:nvPr/>
        </p:nvSpPr>
        <p:spPr>
          <a:xfrm>
            <a:off x="400018" y="493154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</a:t>
            </a:r>
            <a:endParaRPr lang="en-IN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1107183" y="420657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</a:t>
            </a:r>
            <a:endParaRPr lang="en-IN" b="1" dirty="0"/>
          </a:p>
        </p:txBody>
      </p:sp>
      <p:sp>
        <p:nvSpPr>
          <p:cNvPr id="83" name="TextBox 82"/>
          <p:cNvSpPr txBox="1"/>
          <p:nvPr/>
        </p:nvSpPr>
        <p:spPr>
          <a:xfrm>
            <a:off x="1929227" y="2816177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Critical</a:t>
            </a:r>
            <a:endParaRPr lang="en-IN" b="1" dirty="0"/>
          </a:p>
        </p:txBody>
      </p:sp>
      <p:cxnSp>
        <p:nvCxnSpPr>
          <p:cNvPr id="85" name="Straight Arrow Connector 84"/>
          <p:cNvCxnSpPr/>
          <p:nvPr/>
        </p:nvCxnSpPr>
        <p:spPr>
          <a:xfrm>
            <a:off x="4356435" y="2380558"/>
            <a:ext cx="20489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79793" y="2060096"/>
            <a:ext cx="2138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Case 1 </a:t>
            </a:r>
            <a:r>
              <a:rPr lang="en-US" dirty="0" smtClean="0"/>
              <a:t>of Insertion</a:t>
            </a:r>
          </a:p>
          <a:p>
            <a:r>
              <a:rPr lang="en-US" dirty="0" smtClean="0"/>
              <a:t>Single Right Rotation </a:t>
            </a:r>
          </a:p>
          <a:p>
            <a:r>
              <a:rPr lang="en-US" dirty="0" smtClean="0"/>
              <a:t>of node 15</a:t>
            </a:r>
            <a:endParaRPr lang="en-IN" dirty="0"/>
          </a:p>
        </p:txBody>
      </p:sp>
      <p:grpSp>
        <p:nvGrpSpPr>
          <p:cNvPr id="88" name="Group 87"/>
          <p:cNvGrpSpPr/>
          <p:nvPr/>
        </p:nvGrpSpPr>
        <p:grpSpPr>
          <a:xfrm>
            <a:off x="7588151" y="2033265"/>
            <a:ext cx="671120" cy="637564"/>
            <a:chOff x="505030" y="2655914"/>
            <a:chExt cx="671120" cy="637564"/>
          </a:xfrm>
        </p:grpSpPr>
        <p:sp>
          <p:nvSpPr>
            <p:cNvPr id="89" name="Oval 88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8277880" y="1165926"/>
            <a:ext cx="671120" cy="637564"/>
            <a:chOff x="505030" y="2655914"/>
            <a:chExt cx="671120" cy="637564"/>
          </a:xfrm>
        </p:grpSpPr>
        <p:sp>
          <p:nvSpPr>
            <p:cNvPr id="92" name="Oval 9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2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4" name="Straight Arrow Connector 93"/>
          <p:cNvCxnSpPr>
            <a:stCxn id="92" idx="3"/>
            <a:endCxn id="89" idx="0"/>
          </p:cNvCxnSpPr>
          <p:nvPr/>
        </p:nvCxnSpPr>
        <p:spPr>
          <a:xfrm flipH="1">
            <a:off x="7923711" y="1710121"/>
            <a:ext cx="452452" cy="3231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5" name="Group 94"/>
          <p:cNvGrpSpPr/>
          <p:nvPr/>
        </p:nvGrpSpPr>
        <p:grpSpPr>
          <a:xfrm>
            <a:off x="9359726" y="2024891"/>
            <a:ext cx="671120" cy="637564"/>
            <a:chOff x="505030" y="2655914"/>
            <a:chExt cx="671120" cy="637564"/>
          </a:xfrm>
        </p:grpSpPr>
        <p:sp>
          <p:nvSpPr>
            <p:cNvPr id="96" name="Oval 9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590352" y="275105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98" name="Straight Arrow Connector 97"/>
          <p:cNvCxnSpPr>
            <a:stCxn id="92" idx="5"/>
            <a:endCxn id="96" idx="1"/>
          </p:cNvCxnSpPr>
          <p:nvPr/>
        </p:nvCxnSpPr>
        <p:spPr>
          <a:xfrm>
            <a:off x="8850717" y="1710121"/>
            <a:ext cx="607292" cy="4081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8146540" y="2977225"/>
            <a:ext cx="671120" cy="637564"/>
            <a:chOff x="505030" y="2655914"/>
            <a:chExt cx="671120" cy="637564"/>
          </a:xfrm>
        </p:grpSpPr>
        <p:sp>
          <p:nvSpPr>
            <p:cNvPr id="100" name="Oval 9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2" name="Straight Arrow Connector 101"/>
          <p:cNvCxnSpPr>
            <a:stCxn id="89" idx="4"/>
            <a:endCxn id="100" idx="1"/>
          </p:cNvCxnSpPr>
          <p:nvPr/>
        </p:nvCxnSpPr>
        <p:spPr>
          <a:xfrm>
            <a:off x="7923711" y="2670829"/>
            <a:ext cx="321112" cy="399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8985982" y="3016407"/>
            <a:ext cx="671120" cy="637564"/>
            <a:chOff x="505030" y="2655914"/>
            <a:chExt cx="671120" cy="637564"/>
          </a:xfrm>
        </p:grpSpPr>
        <p:sp>
          <p:nvSpPr>
            <p:cNvPr id="104" name="Oval 10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25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6" name="Straight Arrow Connector 105"/>
          <p:cNvCxnSpPr>
            <a:stCxn id="96" idx="3"/>
            <a:endCxn id="104" idx="0"/>
          </p:cNvCxnSpPr>
          <p:nvPr/>
        </p:nvCxnSpPr>
        <p:spPr>
          <a:xfrm flipH="1">
            <a:off x="9321542" y="2569086"/>
            <a:ext cx="136467" cy="447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7" name="Group 106"/>
          <p:cNvGrpSpPr/>
          <p:nvPr/>
        </p:nvGrpSpPr>
        <p:grpSpPr>
          <a:xfrm>
            <a:off x="6853588" y="2943581"/>
            <a:ext cx="671120" cy="637564"/>
            <a:chOff x="505030" y="2655914"/>
            <a:chExt cx="671120" cy="637564"/>
          </a:xfrm>
        </p:grpSpPr>
        <p:sp>
          <p:nvSpPr>
            <p:cNvPr id="108" name="Oval 10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657254" y="2753207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0" name="Straight Arrow Connector 109"/>
          <p:cNvCxnSpPr>
            <a:stCxn id="89" idx="3"/>
            <a:endCxn id="108" idx="0"/>
          </p:cNvCxnSpPr>
          <p:nvPr/>
        </p:nvCxnSpPr>
        <p:spPr>
          <a:xfrm flipH="1">
            <a:off x="7189148" y="2577460"/>
            <a:ext cx="497286" cy="3661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1" name="Group 110"/>
          <p:cNvGrpSpPr/>
          <p:nvPr/>
        </p:nvGrpSpPr>
        <p:grpSpPr>
          <a:xfrm>
            <a:off x="7606760" y="3878686"/>
            <a:ext cx="671120" cy="637564"/>
            <a:chOff x="505030" y="2655914"/>
            <a:chExt cx="671120" cy="637564"/>
          </a:xfrm>
        </p:grpSpPr>
        <p:sp>
          <p:nvSpPr>
            <p:cNvPr id="112" name="Oval 11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11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4" name="Straight Arrow Connector 113"/>
          <p:cNvCxnSpPr>
            <a:stCxn id="100" idx="3"/>
            <a:endCxn id="112" idx="0"/>
          </p:cNvCxnSpPr>
          <p:nvPr/>
        </p:nvCxnSpPr>
        <p:spPr>
          <a:xfrm flipH="1">
            <a:off x="7942320" y="3521420"/>
            <a:ext cx="302503" cy="3572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5" name="Group 114"/>
          <p:cNvGrpSpPr/>
          <p:nvPr/>
        </p:nvGrpSpPr>
        <p:grpSpPr>
          <a:xfrm>
            <a:off x="10047390" y="3035433"/>
            <a:ext cx="671120" cy="637564"/>
            <a:chOff x="505030" y="2655914"/>
            <a:chExt cx="671120" cy="637564"/>
          </a:xfrm>
        </p:grpSpPr>
        <p:sp>
          <p:nvSpPr>
            <p:cNvPr id="116" name="Oval 115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3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8" name="Straight Arrow Connector 117"/>
          <p:cNvCxnSpPr>
            <a:stCxn id="96" idx="5"/>
            <a:endCxn id="116" idx="1"/>
          </p:cNvCxnSpPr>
          <p:nvPr/>
        </p:nvCxnSpPr>
        <p:spPr>
          <a:xfrm>
            <a:off x="9932563" y="2569086"/>
            <a:ext cx="213110" cy="5597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9" name="Group 118"/>
          <p:cNvGrpSpPr/>
          <p:nvPr/>
        </p:nvGrpSpPr>
        <p:grpSpPr>
          <a:xfrm>
            <a:off x="10718510" y="3825521"/>
            <a:ext cx="671120" cy="637564"/>
            <a:chOff x="505030" y="2655914"/>
            <a:chExt cx="671120" cy="637564"/>
          </a:xfrm>
        </p:grpSpPr>
        <p:sp>
          <p:nvSpPr>
            <p:cNvPr id="120" name="Oval 119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40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2" name="Straight Arrow Connector 121"/>
          <p:cNvCxnSpPr>
            <a:stCxn id="116" idx="5"/>
            <a:endCxn id="120" idx="1"/>
          </p:cNvCxnSpPr>
          <p:nvPr/>
        </p:nvCxnSpPr>
        <p:spPr>
          <a:xfrm>
            <a:off x="10620227" y="3579628"/>
            <a:ext cx="196566" cy="339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3" name="Group 122"/>
          <p:cNvGrpSpPr/>
          <p:nvPr/>
        </p:nvGrpSpPr>
        <p:grpSpPr>
          <a:xfrm>
            <a:off x="9484169" y="3831306"/>
            <a:ext cx="671120" cy="637564"/>
            <a:chOff x="505030" y="2655914"/>
            <a:chExt cx="671120" cy="637564"/>
          </a:xfrm>
        </p:grpSpPr>
        <p:sp>
          <p:nvSpPr>
            <p:cNvPr id="124" name="Oval 123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32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6" name="Straight Arrow Connector 125"/>
          <p:cNvCxnSpPr>
            <a:stCxn id="116" idx="3"/>
            <a:endCxn id="124" idx="7"/>
          </p:cNvCxnSpPr>
          <p:nvPr/>
        </p:nvCxnSpPr>
        <p:spPr>
          <a:xfrm flipH="1">
            <a:off x="10057006" y="3579628"/>
            <a:ext cx="88667" cy="3450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7" name="Group 126"/>
          <p:cNvGrpSpPr/>
          <p:nvPr/>
        </p:nvGrpSpPr>
        <p:grpSpPr>
          <a:xfrm>
            <a:off x="11193076" y="4849592"/>
            <a:ext cx="671120" cy="637564"/>
            <a:chOff x="505030" y="2655914"/>
            <a:chExt cx="671120" cy="637564"/>
          </a:xfrm>
        </p:grpSpPr>
        <p:sp>
          <p:nvSpPr>
            <p:cNvPr id="128" name="Oval 12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5</a:t>
              </a:r>
              <a:r>
                <a:rPr lang="en-IN" sz="2400" b="1" dirty="0" smtClean="0">
                  <a:solidFill>
                    <a:schemeClr val="bg1"/>
                  </a:solidFill>
                </a:rPr>
                <a:t>0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30" name="Straight Arrow Connector 129"/>
          <p:cNvCxnSpPr>
            <a:stCxn id="120" idx="5"/>
            <a:endCxn id="128" idx="0"/>
          </p:cNvCxnSpPr>
          <p:nvPr/>
        </p:nvCxnSpPr>
        <p:spPr>
          <a:xfrm>
            <a:off x="11291347" y="4369716"/>
            <a:ext cx="237289" cy="479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1" name="Group 130"/>
          <p:cNvGrpSpPr/>
          <p:nvPr/>
        </p:nvGrpSpPr>
        <p:grpSpPr>
          <a:xfrm>
            <a:off x="8613439" y="3907249"/>
            <a:ext cx="671120" cy="637564"/>
            <a:chOff x="505030" y="2655914"/>
            <a:chExt cx="671120" cy="637564"/>
          </a:xfrm>
        </p:grpSpPr>
        <p:sp>
          <p:nvSpPr>
            <p:cNvPr id="132" name="Oval 131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34" name="Straight Arrow Connector 133"/>
          <p:cNvCxnSpPr>
            <a:stCxn id="100" idx="5"/>
            <a:endCxn id="132" idx="0"/>
          </p:cNvCxnSpPr>
          <p:nvPr/>
        </p:nvCxnSpPr>
        <p:spPr>
          <a:xfrm>
            <a:off x="8719377" y="3521420"/>
            <a:ext cx="229622" cy="3858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8550251" y="4872465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Recolor Process</a:t>
            </a:r>
            <a:endParaRPr lang="en-IN" dirty="0"/>
          </a:p>
        </p:txBody>
      </p:sp>
      <p:grpSp>
        <p:nvGrpSpPr>
          <p:cNvPr id="147" name="Group 146"/>
          <p:cNvGrpSpPr/>
          <p:nvPr/>
        </p:nvGrpSpPr>
        <p:grpSpPr>
          <a:xfrm>
            <a:off x="8610154" y="3921185"/>
            <a:ext cx="671120" cy="637564"/>
            <a:chOff x="505030" y="2655914"/>
            <a:chExt cx="671120" cy="637564"/>
          </a:xfrm>
        </p:grpSpPr>
        <p:sp>
          <p:nvSpPr>
            <p:cNvPr id="148" name="Oval 147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15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8146540" y="2977224"/>
            <a:ext cx="671120" cy="637564"/>
            <a:chOff x="505030" y="2655914"/>
            <a:chExt cx="671120" cy="637564"/>
          </a:xfrm>
        </p:grpSpPr>
        <p:sp>
          <p:nvSpPr>
            <p:cNvPr id="151" name="Oval 150"/>
            <p:cNvSpPr/>
            <p:nvPr/>
          </p:nvSpPr>
          <p:spPr>
            <a:xfrm>
              <a:off x="505030" y="2655914"/>
              <a:ext cx="671120" cy="63756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00" b="1" dirty="0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592765" y="2743863"/>
              <a:ext cx="495649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IN" sz="2400" b="1" dirty="0" smtClean="0">
                  <a:solidFill>
                    <a:schemeClr val="bg1"/>
                  </a:solidFill>
                </a:rPr>
                <a:t>12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62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73" grpId="0" animBg="1"/>
      <p:bldP spid="74" grpId="0"/>
      <p:bldP spid="75" grpId="0" animBg="1"/>
      <p:bldP spid="76" grpId="0"/>
      <p:bldP spid="77" grpId="0" animBg="1"/>
      <p:bldP spid="78" grpId="0"/>
      <p:bldP spid="79" grpId="0"/>
      <p:bldP spid="83" grpId="0"/>
      <p:bldP spid="86" grpId="0"/>
      <p:bldP spid="1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AVL Trees vs Red Black Trees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752545"/>
              </p:ext>
            </p:extLst>
          </p:nvPr>
        </p:nvGraphicFramePr>
        <p:xfrm>
          <a:off x="348478" y="899128"/>
          <a:ext cx="11436171" cy="3992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333">
                  <a:extLst>
                    <a:ext uri="{9D8B030D-6E8A-4147-A177-3AD203B41FA5}">
                      <a16:colId xmlns:a16="http://schemas.microsoft.com/office/drawing/2014/main" val="2374243995"/>
                    </a:ext>
                  </a:extLst>
                </a:gridCol>
                <a:gridCol w="4819828">
                  <a:extLst>
                    <a:ext uri="{9D8B030D-6E8A-4147-A177-3AD203B41FA5}">
                      <a16:colId xmlns:a16="http://schemas.microsoft.com/office/drawing/2014/main" val="3544412980"/>
                    </a:ext>
                  </a:extLst>
                </a:gridCol>
                <a:gridCol w="4854010">
                  <a:extLst>
                    <a:ext uri="{9D8B030D-6E8A-4147-A177-3AD203B41FA5}">
                      <a16:colId xmlns:a16="http://schemas.microsoft.com/office/drawing/2014/main" val="307245320"/>
                    </a:ext>
                  </a:extLst>
                </a:gridCol>
              </a:tblGrid>
              <a:tr h="39608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AVL Trees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Red Black Trees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05291"/>
                  </a:ext>
                </a:extLst>
              </a:tr>
              <a:tr h="396084">
                <a:tc>
                  <a:txBody>
                    <a:bodyPr/>
                    <a:lstStyle/>
                    <a:p>
                      <a:r>
                        <a:rPr lang="en-IN" b="1" dirty="0" smtClean="0"/>
                        <a:t>🔍 </a:t>
                      </a:r>
                      <a:r>
                        <a:rPr lang="en-IN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Lookups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Offer faster lookups because they maintain </a:t>
                      </a:r>
                      <a:r>
                        <a:rPr lang="en-US" b="1" dirty="0" smtClean="0"/>
                        <a:t>strict balance</a:t>
                      </a:r>
                      <a:r>
                        <a:rPr lang="en-US" dirty="0" smtClean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Lookups may be slightly slower since they are </a:t>
                      </a:r>
                      <a:r>
                        <a:rPr lang="en-US" b="1" dirty="0" smtClean="0"/>
                        <a:t>less strictly balanced</a:t>
                      </a:r>
                      <a:r>
                        <a:rPr lang="en-US" dirty="0" smtClean="0"/>
                        <a:t>.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239110"/>
                  </a:ext>
                </a:extLst>
              </a:tr>
              <a:tr h="396084">
                <a:tc>
                  <a:txBody>
                    <a:bodyPr/>
                    <a:lstStyle/>
                    <a:p>
                      <a:r>
                        <a:rPr lang="en-IN" b="1" dirty="0" smtClean="0"/>
                        <a:t>🔄 </a:t>
                      </a:r>
                      <a:r>
                        <a:rPr lang="en-IN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Insertion &amp; Deletion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 and deletion are </a:t>
                      </a:r>
                      <a:r>
                        <a:rPr lang="en-US" b="1" dirty="0" smtClean="0"/>
                        <a:t>more complex</a:t>
                      </a:r>
                      <a:r>
                        <a:rPr lang="en-US" dirty="0" smtClean="0"/>
                        <a:t> due to the need for </a:t>
                      </a:r>
                      <a:r>
                        <a:rPr lang="en-US" b="1" dirty="0" smtClean="0"/>
                        <a:t>more rotations</a:t>
                      </a:r>
                      <a:r>
                        <a:rPr lang="en-US" dirty="0" smtClean="0"/>
                        <a:t> to maintain strict balance.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 and deletion are </a:t>
                      </a:r>
                      <a:r>
                        <a:rPr lang="en-US" b="1" dirty="0" smtClean="0"/>
                        <a:t>faster and simpler</a:t>
                      </a:r>
                      <a:r>
                        <a:rPr lang="en-US" dirty="0" smtClean="0"/>
                        <a:t> due to </a:t>
                      </a:r>
                      <a:r>
                        <a:rPr lang="en-US" b="1" dirty="0" smtClean="0"/>
                        <a:t>fewer rotations</a:t>
                      </a:r>
                      <a:r>
                        <a:rPr lang="en-US" dirty="0" smtClean="0"/>
                        <a:t>, thanks to </a:t>
                      </a:r>
                      <a:r>
                        <a:rPr lang="en-US" b="1" dirty="0" smtClean="0"/>
                        <a:t>looser balancing rules</a:t>
                      </a:r>
                      <a:r>
                        <a:rPr lang="en-US" dirty="0" smtClean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723785"/>
                  </a:ext>
                </a:extLst>
              </a:tr>
              <a:tr h="396084">
                <a:tc>
                  <a:txBody>
                    <a:bodyPr/>
                    <a:lstStyle/>
                    <a:p>
                      <a:r>
                        <a:rPr lang="en-IN" b="1" dirty="0" smtClean="0"/>
                        <a:t>💾 </a:t>
                      </a:r>
                      <a:r>
                        <a:rPr lang="en-IN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Storage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Require storing </a:t>
                      </a:r>
                      <a:r>
                        <a:rPr lang="en-US" b="1" dirty="0" smtClean="0"/>
                        <a:t>balance factors or heights</a:t>
                      </a:r>
                      <a:r>
                        <a:rPr lang="en-US" dirty="0" smtClean="0"/>
                        <a:t> for each node, needing </a:t>
                      </a:r>
                      <a:r>
                        <a:rPr lang="en-US" b="1" dirty="0" smtClean="0"/>
                        <a:t>extra memory (typically an integer)</a:t>
                      </a:r>
                      <a:r>
                        <a:rPr lang="en-US" dirty="0" smtClean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Only need </a:t>
                      </a:r>
                      <a:r>
                        <a:rPr lang="en-US" b="1" dirty="0" smtClean="0"/>
                        <a:t>1 bit per node</a:t>
                      </a:r>
                      <a:r>
                        <a:rPr lang="en-US" dirty="0" smtClean="0"/>
                        <a:t> to indicate color (Red = 1, Black = 0).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07249"/>
                  </a:ext>
                </a:extLst>
              </a:tr>
              <a:tr h="396084">
                <a:tc>
                  <a:txBody>
                    <a:bodyPr/>
                    <a:lstStyle/>
                    <a:p>
                      <a:r>
                        <a:rPr lang="en-IN" b="1" dirty="0" smtClean="0"/>
                        <a:t>⚙ </a:t>
                      </a:r>
                      <a:r>
                        <a:rPr lang="en-US" b="1" dirty="0" smtClean="0"/>
                        <a:t>Applicability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Best when </a:t>
                      </a:r>
                      <a:r>
                        <a:rPr lang="en-US" b="1" dirty="0" smtClean="0"/>
                        <a:t>search operations dominate</a:t>
                      </a:r>
                      <a:r>
                        <a:rPr lang="en-US" dirty="0" smtClean="0"/>
                        <a:t> over insertions/deletions.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Preferable when </a:t>
                      </a:r>
                      <a:r>
                        <a:rPr lang="en-US" b="1" dirty="0" smtClean="0"/>
                        <a:t>insertions/deletions are more frequent</a:t>
                      </a:r>
                      <a:r>
                        <a:rPr lang="en-US" dirty="0" smtClean="0"/>
                        <a:t> than searches.</a:t>
                      </a:r>
                      <a:endParaRPr lang="en-I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459782"/>
                  </a:ext>
                </a:extLst>
              </a:tr>
              <a:tr h="396084">
                <a:tc>
                  <a:txBody>
                    <a:bodyPr/>
                    <a:lstStyle/>
                    <a:p>
                      <a:r>
                        <a:rPr lang="en-IN" b="1" dirty="0" smtClean="0"/>
                        <a:t>⚖ Complexity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More </a:t>
                      </a:r>
                      <a:r>
                        <a:rPr lang="en-IN" b="1" dirty="0" smtClean="0"/>
                        <a:t>complex to implement</a:t>
                      </a:r>
                      <a:r>
                        <a:rPr lang="en-IN" dirty="0" smtClean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Easier to implement</a:t>
                      </a:r>
                      <a:r>
                        <a:rPr lang="en-US" dirty="0" smtClean="0"/>
                        <a:t> in practice.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818586"/>
                  </a:ext>
                </a:extLst>
              </a:tr>
              <a:tr h="396084">
                <a:tc>
                  <a:txBody>
                    <a:bodyPr/>
                    <a:lstStyle/>
                    <a:p>
                      <a:r>
                        <a:rPr lang="en-IN" b="1" dirty="0" smtClean="0"/>
                        <a:t>📚 Use Cases</a:t>
                      </a:r>
                      <a:endParaRPr lang="en-IN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Commonly used in </a:t>
                      </a:r>
                      <a:r>
                        <a:rPr lang="en-US" b="1" dirty="0" smtClean="0"/>
                        <a:t>databases</a:t>
                      </a:r>
                      <a:r>
                        <a:rPr lang="en-US" dirty="0" smtClean="0"/>
                        <a:t> for efficient searching.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Widely used in </a:t>
                      </a:r>
                      <a:r>
                        <a:rPr lang="en-US" b="1" dirty="0" smtClean="0"/>
                        <a:t>language libraries</a:t>
                      </a:r>
                      <a:r>
                        <a:rPr lang="en-US" dirty="0" smtClean="0"/>
                        <a:t> like Java’s </a:t>
                      </a:r>
                      <a:r>
                        <a:rPr lang="en-US" dirty="0" err="1" smtClean="0"/>
                        <a:t>TreeMap</a:t>
                      </a:r>
                      <a:r>
                        <a:rPr lang="en-US" dirty="0" smtClean="0"/>
                        <a:t> or C++ STL.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572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98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3143250" y="1248383"/>
            <a:ext cx="8953499" cy="53048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Databases (Read-Heavy Indexing):</a:t>
            </a:r>
            <a:endParaRPr lang="en-US" sz="2000" dirty="0"/>
          </a:p>
          <a:p>
            <a:pPr lvl="1"/>
            <a:r>
              <a:rPr lang="en-US" sz="1600" dirty="0"/>
              <a:t>AVL trees are used where </a:t>
            </a:r>
            <a:r>
              <a:rPr lang="en-US" sz="1600" b="1" dirty="0"/>
              <a:t>faster lookups</a:t>
            </a:r>
            <a:r>
              <a:rPr lang="en-US" sz="1600" dirty="0"/>
              <a:t> are needed with </a:t>
            </a:r>
            <a:r>
              <a:rPr lang="en-US" sz="1600" b="1" dirty="0"/>
              <a:t>rare updates</a:t>
            </a:r>
            <a:r>
              <a:rPr lang="en-US" sz="1600" dirty="0"/>
              <a:t> (e.g., read-mostly applications</a:t>
            </a:r>
            <a:r>
              <a:rPr lang="en-US" sz="1600" dirty="0" smtClean="0"/>
              <a:t>). Example</a:t>
            </a:r>
            <a:r>
              <a:rPr lang="en-US" sz="1600" dirty="0"/>
              <a:t>: In-memory index structures for </a:t>
            </a:r>
            <a:r>
              <a:rPr lang="en-US" sz="1600" b="1" dirty="0"/>
              <a:t>static or semi-static data</a:t>
            </a:r>
            <a:r>
              <a:rPr lang="en-US" sz="1600" dirty="0" smtClean="0"/>
              <a:t>.</a:t>
            </a:r>
          </a:p>
          <a:p>
            <a:r>
              <a:rPr lang="en-US" sz="2000" b="1" dirty="0"/>
              <a:t>Memory-Intensive Systems:</a:t>
            </a:r>
            <a:endParaRPr lang="en-US" sz="2000" dirty="0"/>
          </a:p>
          <a:p>
            <a:pPr lvl="1"/>
            <a:r>
              <a:rPr lang="en-US" sz="1600" dirty="0"/>
              <a:t>AVL trees help with </a:t>
            </a:r>
            <a:r>
              <a:rPr lang="en-US" sz="1600" b="1" dirty="0"/>
              <a:t>minimal tree height</a:t>
            </a:r>
            <a:r>
              <a:rPr lang="en-US" sz="1600" dirty="0"/>
              <a:t>, which means </a:t>
            </a:r>
            <a:r>
              <a:rPr lang="en-US" sz="1600" b="1" dirty="0"/>
              <a:t>fewer cache misses</a:t>
            </a:r>
            <a:r>
              <a:rPr lang="en-US" sz="1600" dirty="0"/>
              <a:t> and better CPU cache utilization</a:t>
            </a:r>
            <a:r>
              <a:rPr lang="en-US" sz="1600" dirty="0" smtClean="0"/>
              <a:t>. Example</a:t>
            </a:r>
            <a:r>
              <a:rPr lang="en-US" sz="1600" dirty="0"/>
              <a:t>: Real-time systems, embedded software</a:t>
            </a:r>
            <a:r>
              <a:rPr lang="en-US" sz="1600" dirty="0" smtClean="0"/>
              <a:t>.</a:t>
            </a:r>
          </a:p>
          <a:p>
            <a:r>
              <a:rPr lang="en-US" sz="2000" b="1" dirty="0"/>
              <a:t>Routing Tables in Networks:</a:t>
            </a:r>
            <a:endParaRPr lang="en-US" sz="2000" dirty="0"/>
          </a:p>
          <a:p>
            <a:pPr lvl="1"/>
            <a:r>
              <a:rPr lang="en-US" sz="1600" dirty="0"/>
              <a:t>For storing IP routing rules where speed of lookups is crucial, and updates are rare</a:t>
            </a:r>
            <a:r>
              <a:rPr lang="en-US" sz="1600" dirty="0" smtClean="0"/>
              <a:t>.</a:t>
            </a:r>
          </a:p>
          <a:p>
            <a:r>
              <a:rPr lang="en-US" sz="2000" b="1" dirty="0"/>
              <a:t>Multimedia or CAD systems</a:t>
            </a:r>
            <a:r>
              <a:rPr lang="en-US" sz="2000" b="1" dirty="0" smtClean="0"/>
              <a:t>: </a:t>
            </a:r>
          </a:p>
          <a:p>
            <a:pPr lvl="1"/>
            <a:r>
              <a:rPr lang="en-US" sz="1600" dirty="0" smtClean="0"/>
              <a:t>Used </a:t>
            </a:r>
            <a:r>
              <a:rPr lang="en-US" sz="1600" dirty="0"/>
              <a:t>in applications where data structures are rarely modified but frequently accessed</a:t>
            </a:r>
            <a:r>
              <a:rPr lang="en-US" sz="1600" dirty="0" smtClean="0"/>
              <a:t>.</a:t>
            </a:r>
          </a:p>
          <a:p>
            <a:r>
              <a:rPr lang="en-US" sz="2000" b="1" dirty="0"/>
              <a:t>Compilers:</a:t>
            </a:r>
            <a:endParaRPr lang="en-US" sz="2000" dirty="0"/>
          </a:p>
          <a:p>
            <a:pPr lvl="1"/>
            <a:r>
              <a:rPr lang="en-US" sz="1600" dirty="0"/>
              <a:t>Symbol table implementations where lookup performance is important.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AVL– </a:t>
            </a:r>
            <a:r>
              <a:rPr lang="en-US" dirty="0"/>
              <a:t>Applications &amp; When to Use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58863" y="1244292"/>
            <a:ext cx="2984387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/>
              <a:t>Read-heavy systems</a:t>
            </a:r>
            <a:r>
              <a:rPr lang="en-US" sz="2100" dirty="0"/>
              <a:t> – i.e., where </a:t>
            </a:r>
            <a:r>
              <a:rPr lang="en-US" sz="2100" b="1" dirty="0"/>
              <a:t>search operations</a:t>
            </a:r>
            <a:r>
              <a:rPr lang="en-US" sz="2100" dirty="0"/>
              <a:t> (lookup, min, max, floor, ceil, etc.) are </a:t>
            </a:r>
            <a:r>
              <a:rPr lang="en-US" sz="2100" b="1" dirty="0"/>
              <a:t>more frequent</a:t>
            </a:r>
            <a:r>
              <a:rPr lang="en-US" sz="2100" dirty="0"/>
              <a:t> than insert/delete.</a:t>
            </a:r>
            <a:endParaRPr lang="en-IN" sz="2100" dirty="0"/>
          </a:p>
        </p:txBody>
      </p:sp>
      <p:sp>
        <p:nvSpPr>
          <p:cNvPr id="11" name="Rectangle 10"/>
          <p:cNvSpPr/>
          <p:nvPr/>
        </p:nvSpPr>
        <p:spPr>
          <a:xfrm>
            <a:off x="158861" y="3275617"/>
            <a:ext cx="2984387" cy="1708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You need </a:t>
            </a:r>
            <a:r>
              <a:rPr lang="en-US" sz="2100" b="1" dirty="0"/>
              <a:t>tightly balanced</a:t>
            </a:r>
            <a:r>
              <a:rPr lang="en-US" sz="2100" dirty="0"/>
              <a:t> trees to guarantee </a:t>
            </a:r>
            <a:r>
              <a:rPr lang="en-US" sz="2100" b="1" dirty="0"/>
              <a:t>O(log n)</a:t>
            </a:r>
            <a:r>
              <a:rPr lang="en-US" sz="2100" dirty="0"/>
              <a:t> lookup performance even in worst-case scenarios.</a:t>
            </a:r>
            <a:endParaRPr lang="en-IN" sz="2100" dirty="0"/>
          </a:p>
        </p:txBody>
      </p:sp>
      <p:sp>
        <p:nvSpPr>
          <p:cNvPr id="13" name="Rectangle 12"/>
          <p:cNvSpPr/>
          <p:nvPr/>
        </p:nvSpPr>
        <p:spPr>
          <a:xfrm>
            <a:off x="3143250" y="786293"/>
            <a:ext cx="895349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Typical Applications of AVL Trees: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861" y="785869"/>
            <a:ext cx="2984387" cy="457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21816" y="843877"/>
            <a:ext cx="247215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Use </a:t>
            </a:r>
            <a:r>
              <a:rPr lang="en-IN" sz="2100" b="1" dirty="0" smtClean="0"/>
              <a:t>AVL</a:t>
            </a:r>
            <a:r>
              <a:rPr lang="en-US" sz="2100" b="1" dirty="0" smtClean="0"/>
              <a:t> </a:t>
            </a:r>
            <a:r>
              <a:rPr lang="en-US" sz="2100" b="1" dirty="0"/>
              <a:t>Trees when:</a:t>
            </a:r>
          </a:p>
        </p:txBody>
      </p:sp>
    </p:spTree>
    <p:extLst>
      <p:ext uri="{BB962C8B-B14F-4D97-AF65-F5344CB8AC3E}">
        <p14:creationId xmlns:p14="http://schemas.microsoft.com/office/powerpoint/2010/main" val="354870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3143250" y="1248383"/>
            <a:ext cx="8953499" cy="53048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b="1" dirty="0"/>
              <a:t>Language Libraries (e.g., STL/Java Collections</a:t>
            </a:r>
            <a:r>
              <a:rPr lang="en-US" sz="1900" b="1" dirty="0" smtClean="0"/>
              <a:t>):</a:t>
            </a:r>
          </a:p>
          <a:p>
            <a:pPr lvl="1"/>
            <a:r>
              <a:rPr lang="en-US" sz="1900" dirty="0" smtClean="0"/>
              <a:t>Widely used to implement data structures like: </a:t>
            </a:r>
            <a:r>
              <a:rPr lang="en-US" sz="1900" dirty="0" err="1" smtClean="0"/>
              <a:t>TreeMap</a:t>
            </a:r>
            <a:r>
              <a:rPr lang="en-US" sz="1900" dirty="0" smtClean="0"/>
              <a:t>, </a:t>
            </a:r>
            <a:r>
              <a:rPr lang="en-US" sz="1900" dirty="0" err="1" smtClean="0"/>
              <a:t>TreeSet</a:t>
            </a:r>
            <a:r>
              <a:rPr lang="en-US" sz="1900" dirty="0" smtClean="0"/>
              <a:t> in Java, </a:t>
            </a:r>
            <a:r>
              <a:rPr lang="en-US" sz="1900" dirty="0" err="1" smtClean="0"/>
              <a:t>std</a:t>
            </a:r>
            <a:r>
              <a:rPr lang="en-US" sz="1900" dirty="0" smtClean="0"/>
              <a:t>::map, </a:t>
            </a:r>
            <a:r>
              <a:rPr lang="en-US" sz="1900" dirty="0" err="1" smtClean="0"/>
              <a:t>std</a:t>
            </a:r>
            <a:r>
              <a:rPr lang="en-US" sz="1900" dirty="0" smtClean="0"/>
              <a:t>::set in C++ STL</a:t>
            </a:r>
          </a:p>
          <a:p>
            <a:r>
              <a:rPr lang="en-US" sz="1900" b="1" dirty="0" smtClean="0"/>
              <a:t>Operating </a:t>
            </a:r>
            <a:r>
              <a:rPr lang="en-US" sz="1900" b="1" dirty="0"/>
              <a:t>Systems (e.g., Linux Kernel):</a:t>
            </a:r>
            <a:endParaRPr lang="en-US" sz="1900" dirty="0"/>
          </a:p>
          <a:p>
            <a:pPr lvl="1"/>
            <a:r>
              <a:rPr lang="en-US" sz="1800" b="1" dirty="0"/>
              <a:t>Red-Black Trees are used in the Linux kernel</a:t>
            </a:r>
            <a:r>
              <a:rPr lang="en-US" sz="1800" dirty="0"/>
              <a:t> for scheduling, memory management (e.g., virtual memory areas), etc</a:t>
            </a:r>
            <a:r>
              <a:rPr lang="en-US" sz="1800" dirty="0" smtClean="0"/>
              <a:t>. Frequent </a:t>
            </a:r>
            <a:r>
              <a:rPr lang="en-US" sz="1800" dirty="0"/>
              <a:t>insertions/removals make AVL too heavy</a:t>
            </a:r>
            <a:r>
              <a:rPr lang="en-US" sz="1800" dirty="0" smtClean="0"/>
              <a:t>.</a:t>
            </a:r>
          </a:p>
          <a:p>
            <a:r>
              <a:rPr lang="en-US" sz="1900" b="1" dirty="0"/>
              <a:t>Multithreaded / Concurrent Systems:</a:t>
            </a:r>
            <a:endParaRPr lang="en-US" sz="1900" dirty="0"/>
          </a:p>
          <a:p>
            <a:pPr lvl="1"/>
            <a:r>
              <a:rPr lang="en-US" sz="1900" dirty="0"/>
              <a:t>Due to fewer rotations, Red-Black trees offer better performance under </a:t>
            </a:r>
            <a:r>
              <a:rPr lang="en-US" sz="1900" b="1" dirty="0"/>
              <a:t>concurrent modifications</a:t>
            </a:r>
            <a:r>
              <a:rPr lang="en-US" sz="1900" dirty="0" smtClean="0"/>
              <a:t>.</a:t>
            </a:r>
          </a:p>
          <a:p>
            <a:r>
              <a:rPr lang="en-US" sz="1900" b="1" dirty="0"/>
              <a:t>Database Transaction Logs</a:t>
            </a:r>
            <a:r>
              <a:rPr lang="en-US" sz="1900" b="1" dirty="0" smtClean="0"/>
              <a:t>: </a:t>
            </a:r>
            <a:r>
              <a:rPr lang="en-US" sz="1900" dirty="0" smtClean="0"/>
              <a:t>for </a:t>
            </a:r>
            <a:r>
              <a:rPr lang="en-US" sz="1900" b="1" dirty="0"/>
              <a:t>frequently updating datasets</a:t>
            </a:r>
            <a:r>
              <a:rPr lang="en-US" sz="1900" dirty="0"/>
              <a:t> (e.g., tracking recently accessed rows</a:t>
            </a:r>
            <a:r>
              <a:rPr lang="en-US" sz="1900" dirty="0" smtClean="0"/>
              <a:t>).</a:t>
            </a:r>
          </a:p>
          <a:p>
            <a:r>
              <a:rPr lang="en-US" sz="1900" b="1" dirty="0"/>
              <a:t>Event-Driven Simulators</a:t>
            </a:r>
            <a:r>
              <a:rPr lang="en-US" sz="1900" b="1" dirty="0" smtClean="0"/>
              <a:t>: </a:t>
            </a:r>
            <a:r>
              <a:rPr lang="en-US" sz="1900" dirty="0" smtClean="0"/>
              <a:t>Where </a:t>
            </a:r>
            <a:r>
              <a:rPr lang="en-US" sz="1900" dirty="0"/>
              <a:t>time-ordered events must be added/removed quickly from a timeline.</a:t>
            </a:r>
          </a:p>
          <a:p>
            <a:endParaRPr lang="en-US" sz="2000" dirty="0"/>
          </a:p>
          <a:p>
            <a:pPr lvl="1"/>
            <a:endParaRPr lang="en-US" dirty="0"/>
          </a:p>
          <a:p>
            <a:endParaRPr lang="en-US" sz="20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 Black– </a:t>
            </a:r>
            <a:r>
              <a:rPr lang="en-US" dirty="0"/>
              <a:t>Applications &amp; When to Use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58863" y="1244292"/>
            <a:ext cx="2984387" cy="10618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dirty="0"/>
              <a:t>You have </a:t>
            </a:r>
            <a:r>
              <a:rPr lang="en-US" sz="2100" b="1" dirty="0"/>
              <a:t>frequent insertions and deletions</a:t>
            </a:r>
            <a:r>
              <a:rPr lang="en-US" sz="2100" dirty="0"/>
              <a:t>, along with lookups.</a:t>
            </a:r>
            <a:endParaRPr lang="en-IN" sz="2100" dirty="0"/>
          </a:p>
        </p:txBody>
      </p:sp>
      <p:sp>
        <p:nvSpPr>
          <p:cNvPr id="11" name="Rectangle 10"/>
          <p:cNvSpPr/>
          <p:nvPr/>
        </p:nvSpPr>
        <p:spPr>
          <a:xfrm>
            <a:off x="158862" y="2306121"/>
            <a:ext cx="2984387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You want </a:t>
            </a:r>
            <a:r>
              <a:rPr lang="en-US" sz="2100" b="1" dirty="0"/>
              <a:t>overall balanced performance</a:t>
            </a:r>
            <a:r>
              <a:rPr lang="en-US" sz="2100" dirty="0"/>
              <a:t> with </a:t>
            </a:r>
            <a:r>
              <a:rPr lang="en-US" sz="2100" b="1" dirty="0"/>
              <a:t>less strict balancing</a:t>
            </a:r>
            <a:r>
              <a:rPr lang="en-US" sz="2100" dirty="0"/>
              <a:t> and </a:t>
            </a:r>
            <a:r>
              <a:rPr lang="en-US" sz="2100" b="1" dirty="0"/>
              <a:t>simpler rotations</a:t>
            </a:r>
            <a:r>
              <a:rPr lang="en-US" sz="2100" dirty="0"/>
              <a:t>.</a:t>
            </a:r>
            <a:endParaRPr lang="en-IN" sz="2100" dirty="0"/>
          </a:p>
        </p:txBody>
      </p:sp>
      <p:sp>
        <p:nvSpPr>
          <p:cNvPr id="13" name="Rectangle 12"/>
          <p:cNvSpPr/>
          <p:nvPr/>
        </p:nvSpPr>
        <p:spPr>
          <a:xfrm>
            <a:off x="3143250" y="786293"/>
            <a:ext cx="895349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Typical Applications of </a:t>
            </a:r>
            <a:r>
              <a:rPr lang="en-US" sz="2400" b="1" dirty="0" smtClean="0">
                <a:solidFill>
                  <a:schemeClr val="tx1"/>
                </a:solidFill>
              </a:rPr>
              <a:t>Red Black </a:t>
            </a:r>
            <a:r>
              <a:rPr lang="en-US" sz="2400" b="1" dirty="0">
                <a:solidFill>
                  <a:schemeClr val="tx1"/>
                </a:solidFill>
              </a:rPr>
              <a:t>Trees: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861" y="3691116"/>
            <a:ext cx="2984387" cy="10618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Insert/delete time must be consistent and not too expensive.</a:t>
            </a:r>
            <a:endParaRPr lang="en-IN" sz="2100" dirty="0"/>
          </a:p>
        </p:txBody>
      </p:sp>
      <p:sp>
        <p:nvSpPr>
          <p:cNvPr id="21" name="Rectangle 20"/>
          <p:cNvSpPr/>
          <p:nvPr/>
        </p:nvSpPr>
        <p:spPr>
          <a:xfrm>
            <a:off x="158861" y="785869"/>
            <a:ext cx="2984387" cy="457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21816" y="843877"/>
            <a:ext cx="2858475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00" b="1" dirty="0"/>
              <a:t>Use </a:t>
            </a:r>
            <a:r>
              <a:rPr lang="en-IN" sz="1900" b="1" dirty="0"/>
              <a:t>Red-Black</a:t>
            </a:r>
            <a:r>
              <a:rPr lang="en-US" sz="1900" b="1" dirty="0"/>
              <a:t> Trees when:</a:t>
            </a:r>
          </a:p>
        </p:txBody>
      </p:sp>
    </p:spTree>
    <p:extLst>
      <p:ext uri="{BB962C8B-B14F-4D97-AF65-F5344CB8AC3E}">
        <p14:creationId xmlns:p14="http://schemas.microsoft.com/office/powerpoint/2010/main" val="326263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Trie</a:t>
            </a:r>
            <a:r>
              <a:rPr lang="en-IN" dirty="0" smtClean="0"/>
              <a:t> </a:t>
            </a:r>
            <a:r>
              <a:rPr lang="en-IN" dirty="0"/>
              <a:t>Data Structure </a:t>
            </a:r>
            <a:r>
              <a:rPr lang="en-IN" dirty="0" smtClean="0"/>
              <a:t>(Prefix Tree)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185730" cy="559056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 err="1"/>
              <a:t>Trie</a:t>
            </a:r>
            <a:r>
              <a:rPr lang="en-US" dirty="0"/>
              <a:t> is a </a:t>
            </a:r>
            <a:r>
              <a:rPr lang="en-US" b="1" dirty="0"/>
              <a:t>tree-like data structure</a:t>
            </a:r>
            <a:r>
              <a:rPr lang="en-US" dirty="0"/>
              <a:t> used to efficiently store and retrieve strings, especially useful for words from a dictionary or prefixes</a:t>
            </a:r>
            <a:r>
              <a:rPr lang="en-US" dirty="0" smtClean="0"/>
              <a:t>.</a:t>
            </a:r>
          </a:p>
          <a:p>
            <a:r>
              <a:rPr lang="en-US" dirty="0"/>
              <a:t>It is sometimes called a </a:t>
            </a:r>
            <a:r>
              <a:rPr lang="en-US" b="1" dirty="0"/>
              <a:t>prefix tree</a:t>
            </a:r>
            <a:r>
              <a:rPr lang="en-US" dirty="0"/>
              <a:t> because it organizes words by their </a:t>
            </a:r>
            <a:r>
              <a:rPr lang="en-US" b="1" dirty="0"/>
              <a:t>common prefixes</a:t>
            </a:r>
            <a:r>
              <a:rPr lang="en-US" dirty="0"/>
              <a:t>.</a:t>
            </a:r>
          </a:p>
          <a:p>
            <a:r>
              <a:rPr lang="en-US" dirty="0"/>
              <a:t>Structure of a </a:t>
            </a:r>
            <a:r>
              <a:rPr lang="en-US" dirty="0" err="1" smtClean="0"/>
              <a:t>Trie</a:t>
            </a:r>
            <a:endParaRPr lang="en-US" dirty="0" smtClean="0"/>
          </a:p>
          <a:p>
            <a:pPr lvl="1"/>
            <a:r>
              <a:rPr lang="en-US" dirty="0" smtClean="0"/>
              <a:t>Root </a:t>
            </a:r>
            <a:r>
              <a:rPr lang="en-US" dirty="0"/>
              <a:t>Node: </a:t>
            </a:r>
            <a:r>
              <a:rPr lang="en-US" dirty="0" smtClean="0"/>
              <a:t>Represents </a:t>
            </a:r>
            <a:r>
              <a:rPr lang="en-US" dirty="0"/>
              <a:t>an empty string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Edges</a:t>
            </a:r>
            <a:r>
              <a:rPr lang="en-US" dirty="0"/>
              <a:t>: Represent a single character from the alphabet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Path</a:t>
            </a:r>
            <a:r>
              <a:rPr lang="en-US" dirty="0"/>
              <a:t>: Characters from root to a node represent a prefix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End-of-Word </a:t>
            </a:r>
            <a:r>
              <a:rPr lang="en-US" dirty="0"/>
              <a:t>Marker (* or </a:t>
            </a:r>
            <a:r>
              <a:rPr lang="en-US" dirty="0" err="1"/>
              <a:t>boolean</a:t>
            </a:r>
            <a:r>
              <a:rPr lang="en-US" dirty="0"/>
              <a:t> flag): Shows that the path forms a complete word.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8565159" y="2491530"/>
            <a:ext cx="1216404" cy="1686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00459"/>
              </p:ext>
            </p:extLst>
          </p:nvPr>
        </p:nvGraphicFramePr>
        <p:xfrm>
          <a:off x="8650910" y="2583809"/>
          <a:ext cx="1029985" cy="1506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5745">
                  <a:extLst>
                    <a:ext uri="{9D8B030D-6E8A-4147-A177-3AD203B41FA5}">
                      <a16:colId xmlns:a16="http://schemas.microsoft.com/office/drawing/2014/main" val="3068176388"/>
                    </a:ext>
                  </a:extLst>
                </a:gridCol>
                <a:gridCol w="384240">
                  <a:extLst>
                    <a:ext uri="{9D8B030D-6E8A-4147-A177-3AD203B41FA5}">
                      <a16:colId xmlns:a16="http://schemas.microsoft.com/office/drawing/2014/main" val="1100015774"/>
                    </a:ext>
                  </a:extLst>
                </a:gridCol>
              </a:tblGrid>
              <a:tr h="37668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 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54924"/>
                  </a:ext>
                </a:extLst>
              </a:tr>
              <a:tr h="37668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ym typeface="Wingdings" panose="05000000000000000000" pitchFamily="2" charset="2"/>
                        </a:rPr>
                        <a:t>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088069"/>
                  </a:ext>
                </a:extLst>
              </a:tr>
              <a:tr h="37668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…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864700"/>
                  </a:ext>
                </a:extLst>
              </a:tr>
              <a:tr h="376685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25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ym typeface="Wingdings" panose="05000000000000000000" pitchFamily="2" charset="2"/>
                        </a:rPr>
                        <a:t>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38093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565159" y="4177717"/>
            <a:ext cx="1216404" cy="9040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/>
              <a:t>True </a:t>
            </a:r>
          </a:p>
          <a:p>
            <a:pPr algn="ctr"/>
            <a:r>
              <a:rPr lang="en-IN" sz="2000" b="1" dirty="0" smtClean="0"/>
              <a:t>or </a:t>
            </a:r>
          </a:p>
          <a:p>
            <a:pPr algn="ctr"/>
            <a:r>
              <a:rPr lang="en-IN" sz="2000" b="1" dirty="0" smtClean="0"/>
              <a:t>False</a:t>
            </a:r>
            <a:endParaRPr lang="en-IN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59749" y="5382589"/>
            <a:ext cx="395332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b="1" dirty="0" smtClean="0"/>
              <a:t>Typical Node to represent alphabetic </a:t>
            </a:r>
            <a:r>
              <a:rPr lang="en-IN" b="1" dirty="0" err="1" smtClean="0"/>
              <a:t>trie</a:t>
            </a:r>
            <a:endParaRPr lang="en-IN" b="1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8967831" y="1631037"/>
            <a:ext cx="0" cy="1061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9560456" y="2695631"/>
            <a:ext cx="101806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1" idx="1"/>
            <a:endCxn id="6" idx="3"/>
          </p:cNvCxnSpPr>
          <p:nvPr/>
        </p:nvCxnSpPr>
        <p:spPr>
          <a:xfrm flipH="1" flipV="1">
            <a:off x="9781563" y="4629728"/>
            <a:ext cx="637564" cy="4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30664" y="984705"/>
            <a:ext cx="1074333" cy="6463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 smtClean="0"/>
              <a:t>Character</a:t>
            </a:r>
          </a:p>
          <a:p>
            <a:pPr algn="ctr"/>
            <a:r>
              <a:rPr lang="en-IN" dirty="0" smtClean="0"/>
              <a:t>value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0578517" y="2369700"/>
            <a:ext cx="1149292" cy="6463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Pointer to node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0419127" y="4172338"/>
            <a:ext cx="1555631" cy="9233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End-of-Word Marker</a:t>
            </a:r>
            <a:endParaRPr lang="en-US" dirty="0" smtClean="0"/>
          </a:p>
          <a:p>
            <a:pPr algn="ctr"/>
            <a:r>
              <a:rPr lang="en-US" dirty="0" err="1" smtClean="0"/>
              <a:t>boolean</a:t>
            </a:r>
            <a:r>
              <a:rPr lang="en-US" dirty="0" smtClean="0"/>
              <a:t> </a:t>
            </a:r>
            <a:r>
              <a:rPr lang="en-US" dirty="0"/>
              <a:t>flag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8161981" y="5833947"/>
            <a:ext cx="3951094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b="1" dirty="0" smtClean="0"/>
              <a:t>Initially tree is empty and one node is there with flag false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4938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17" grpId="0" animBg="1"/>
      <p:bldP spid="20" grpId="0" animBg="1"/>
      <p:bldP spid="21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</a:t>
            </a:r>
            <a:r>
              <a:rPr lang="en-IN" dirty="0" err="1"/>
              <a:t>Trie</a:t>
            </a:r>
            <a:r>
              <a:rPr lang="en-IN" dirty="0"/>
              <a:t> Data Structure (Prefix 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7098295" cy="5590565"/>
          </a:xfrm>
        </p:spPr>
        <p:txBody>
          <a:bodyPr/>
          <a:lstStyle/>
          <a:p>
            <a:r>
              <a:rPr lang="en-US" b="1" dirty="0"/>
              <a:t>Insertion</a:t>
            </a:r>
          </a:p>
          <a:p>
            <a:pPr lvl="1"/>
            <a:r>
              <a:rPr lang="en-US" dirty="0"/>
              <a:t>Start at the root.</a:t>
            </a:r>
          </a:p>
          <a:p>
            <a:pPr lvl="1"/>
            <a:r>
              <a:rPr lang="en-US" dirty="0"/>
              <a:t>For each letter in the word:</a:t>
            </a:r>
          </a:p>
          <a:p>
            <a:pPr lvl="2"/>
            <a:r>
              <a:rPr lang="en-US" dirty="0"/>
              <a:t>If the letter doesn’t exist as a child, create a new node.</a:t>
            </a:r>
          </a:p>
          <a:p>
            <a:pPr lvl="2"/>
            <a:r>
              <a:rPr lang="en-US" dirty="0"/>
              <a:t>Move to that node.</a:t>
            </a:r>
          </a:p>
          <a:p>
            <a:pPr lvl="1"/>
            <a:r>
              <a:rPr lang="en-US" dirty="0"/>
              <a:t>Mark the final node as “end of word</a:t>
            </a:r>
            <a:r>
              <a:rPr lang="en-US" dirty="0" smtClean="0"/>
              <a:t>.”</a:t>
            </a:r>
          </a:p>
          <a:p>
            <a:r>
              <a:rPr lang="en-US" b="1" dirty="0"/>
              <a:t>Search</a:t>
            </a:r>
          </a:p>
          <a:p>
            <a:pPr lvl="1"/>
            <a:r>
              <a:rPr lang="en-US" dirty="0"/>
              <a:t>Start at the root.</a:t>
            </a:r>
          </a:p>
          <a:p>
            <a:pPr lvl="1"/>
            <a:r>
              <a:rPr lang="en-US" dirty="0"/>
              <a:t>For each letter in the word:</a:t>
            </a:r>
          </a:p>
          <a:p>
            <a:pPr lvl="2"/>
            <a:r>
              <a:rPr lang="en-US" dirty="0"/>
              <a:t>If the letter is not found, return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Move to that node.</a:t>
            </a:r>
          </a:p>
          <a:p>
            <a:pPr lvl="1"/>
            <a:r>
              <a:rPr lang="en-US" dirty="0"/>
              <a:t>After the last letter, check if it's marked as an </a:t>
            </a:r>
            <a:r>
              <a:rPr lang="en-US" b="1" dirty="0"/>
              <a:t>end of word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718058" y="909583"/>
            <a:ext cx="5410200" cy="48720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Prefix Search (</a:t>
            </a:r>
            <a:r>
              <a:rPr lang="en-US" b="1" dirty="0" err="1" smtClean="0"/>
              <a:t>startsWith</a:t>
            </a:r>
            <a:r>
              <a:rPr lang="en-US" b="1" dirty="0" smtClean="0"/>
              <a:t>)</a:t>
            </a:r>
          </a:p>
          <a:p>
            <a:pPr lvl="1"/>
            <a:r>
              <a:rPr lang="en-US" dirty="0" smtClean="0"/>
              <a:t>Similar to search, but you don’t need to check the end-of-word flag — just see if the prefix exists.</a:t>
            </a:r>
          </a:p>
        </p:txBody>
      </p:sp>
    </p:spTree>
    <p:extLst>
      <p:ext uri="{BB962C8B-B14F-4D97-AF65-F5344CB8AC3E}">
        <p14:creationId xmlns:p14="http://schemas.microsoft.com/office/powerpoint/2010/main" val="887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Advantages, </a:t>
            </a:r>
            <a:r>
              <a:rPr lang="en-US" dirty="0" smtClean="0"/>
              <a:t>Disadvantages &amp; Applications of </a:t>
            </a:r>
            <a:r>
              <a:rPr lang="en-IN" dirty="0" err="1"/>
              <a:t>Trie</a:t>
            </a:r>
            <a:r>
              <a:rPr lang="en-US" dirty="0" smtClean="0"/>
              <a:t> 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6888745" cy="5590565"/>
          </a:xfrm>
        </p:spPr>
        <p:txBody>
          <a:bodyPr/>
          <a:lstStyle/>
          <a:p>
            <a:r>
              <a:rPr lang="en-US" b="1" dirty="0"/>
              <a:t>Advantages</a:t>
            </a:r>
          </a:p>
          <a:p>
            <a:pPr lvl="1"/>
            <a:r>
              <a:rPr lang="en-US" b="1" dirty="0"/>
              <a:t>Fast search</a:t>
            </a:r>
            <a:r>
              <a:rPr lang="en-US" dirty="0"/>
              <a:t>: O(L) time, where L = length of the word (independent of number of words stored).</a:t>
            </a:r>
          </a:p>
          <a:p>
            <a:pPr lvl="1"/>
            <a:r>
              <a:rPr lang="en-US" b="1" dirty="0"/>
              <a:t>Efficient for prefix queries</a:t>
            </a:r>
            <a:r>
              <a:rPr lang="en-US" dirty="0"/>
              <a:t>: Perfect for autocomplete, spell-checking, and word suggestions.</a:t>
            </a:r>
          </a:p>
          <a:p>
            <a:pPr lvl="1"/>
            <a:r>
              <a:rPr lang="en-US" b="1" dirty="0"/>
              <a:t>Avoids redundant storage</a:t>
            </a:r>
            <a:r>
              <a:rPr lang="en-US" dirty="0"/>
              <a:t>: Common prefixes are stored only once.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b="1" dirty="0"/>
              <a:t>Memory usage</a:t>
            </a:r>
            <a:r>
              <a:rPr lang="en-US" dirty="0"/>
              <a:t>: Can be high if the stored words have few shared prefixes.</a:t>
            </a:r>
          </a:p>
          <a:p>
            <a:pPr lvl="1"/>
            <a:r>
              <a:rPr lang="en-US" b="1" dirty="0"/>
              <a:t>Implementation complexity</a:t>
            </a:r>
            <a:r>
              <a:rPr lang="en-US" dirty="0"/>
              <a:t>: More complex than simple hash-based lookups</a:t>
            </a:r>
            <a:r>
              <a:rPr lang="en-US" dirty="0" smtClean="0"/>
              <a:t>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255881" y="863443"/>
            <a:ext cx="4726569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Real-World Applications</a:t>
            </a:r>
          </a:p>
          <a:p>
            <a:pPr lvl="1"/>
            <a:r>
              <a:rPr lang="en-US" b="1" dirty="0" smtClean="0"/>
              <a:t>Autocomplete systems</a:t>
            </a:r>
            <a:r>
              <a:rPr lang="en-US" dirty="0" smtClean="0"/>
              <a:t> (Google search bar, messaging apps)</a:t>
            </a:r>
          </a:p>
          <a:p>
            <a:pPr lvl="1"/>
            <a:r>
              <a:rPr lang="en-US" b="1" dirty="0" smtClean="0"/>
              <a:t>Spell checkers</a:t>
            </a:r>
            <a:endParaRPr lang="en-US" dirty="0" smtClean="0"/>
          </a:p>
          <a:p>
            <a:pPr lvl="1"/>
            <a:r>
              <a:rPr lang="en-US" b="1" dirty="0" smtClean="0"/>
              <a:t>Word games</a:t>
            </a:r>
            <a:r>
              <a:rPr lang="en-US" dirty="0" smtClean="0"/>
              <a:t> (Scrabble, Boggle)</a:t>
            </a:r>
          </a:p>
          <a:p>
            <a:pPr lvl="1"/>
            <a:r>
              <a:rPr lang="en-US" b="1" dirty="0" smtClean="0"/>
              <a:t>IP routing (longest prefix matching)</a:t>
            </a:r>
            <a:endParaRPr lang="en-US" dirty="0" smtClean="0"/>
          </a:p>
          <a:p>
            <a:pPr lvl="1"/>
            <a:r>
              <a:rPr lang="en-US" b="1" dirty="0" smtClean="0"/>
              <a:t>Dictionary implementations</a:t>
            </a:r>
          </a:p>
          <a:p>
            <a:pPr lvl="1"/>
            <a:r>
              <a:rPr lang="en-US" dirty="0"/>
              <a:t>Browser History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71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189" y="2288257"/>
            <a:ext cx="152958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/>
              <a:t>(</a:t>
            </a:r>
            <a:r>
              <a:rPr lang="en-IN" sz="2100" i="1" dirty="0" smtClean="0"/>
              <a:t>1.1) Insert </a:t>
            </a:r>
            <a:r>
              <a:rPr lang="en-IN" sz="2100" b="1" i="1" dirty="0" smtClean="0"/>
              <a:t>a</a:t>
            </a:r>
            <a:endParaRPr lang="en-IN" sz="2100" b="1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Inserting a node into the </a:t>
            </a:r>
            <a:r>
              <a:rPr lang="en-IN" dirty="0" err="1"/>
              <a:t>Trie</a:t>
            </a:r>
            <a:r>
              <a:rPr lang="en-IN" dirty="0"/>
              <a:t>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9507769" cy="948578"/>
          </a:xfrm>
        </p:spPr>
        <p:txBody>
          <a:bodyPr/>
          <a:lstStyle/>
          <a:p>
            <a:r>
              <a:rPr lang="en-IN" dirty="0" smtClean="0"/>
              <a:t>Construct a </a:t>
            </a:r>
            <a:r>
              <a:rPr lang="en-IN" dirty="0" err="1" smtClean="0"/>
              <a:t>Trie</a:t>
            </a:r>
            <a:r>
              <a:rPr lang="en-IN" dirty="0" smtClean="0"/>
              <a:t> data structure by inserting the following strings in the order of their occurrence (1) </a:t>
            </a:r>
            <a:r>
              <a:rPr lang="en-IN" dirty="0" err="1" smtClean="0"/>
              <a:t>abc</a:t>
            </a:r>
            <a:r>
              <a:rPr lang="en-IN" dirty="0" smtClean="0"/>
              <a:t>, (2) </a:t>
            </a:r>
            <a:r>
              <a:rPr lang="en-IN" dirty="0" err="1" smtClean="0"/>
              <a:t>abgl</a:t>
            </a:r>
            <a:r>
              <a:rPr lang="en-IN" dirty="0" smtClean="0"/>
              <a:t>, (3) </a:t>
            </a:r>
            <a:r>
              <a:rPr lang="en-IN" dirty="0" err="1" smtClean="0"/>
              <a:t>cdf</a:t>
            </a:r>
            <a:r>
              <a:rPr lang="en-IN" dirty="0" smtClean="0"/>
              <a:t>, (4) </a:t>
            </a:r>
            <a:r>
              <a:rPr lang="en-IN" dirty="0" err="1" smtClean="0"/>
              <a:t>abcd</a:t>
            </a:r>
            <a:r>
              <a:rPr lang="en-IN" dirty="0" smtClean="0"/>
              <a:t>, (5) </a:t>
            </a:r>
            <a:r>
              <a:rPr lang="en-IN" dirty="0" err="1" smtClean="0"/>
              <a:t>lmn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95063" y="1742434"/>
            <a:ext cx="10470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(1) </a:t>
            </a:r>
            <a:r>
              <a:rPr lang="en-IN" sz="2400" b="1" dirty="0" err="1"/>
              <a:t>abc</a:t>
            </a:r>
            <a:endParaRPr lang="en-IN" sz="2400" b="1" dirty="0"/>
          </a:p>
        </p:txBody>
      </p:sp>
      <p:grpSp>
        <p:nvGrpSpPr>
          <p:cNvPr id="21" name="Group 20"/>
          <p:cNvGrpSpPr/>
          <p:nvPr/>
        </p:nvGrpSpPr>
        <p:grpSpPr>
          <a:xfrm>
            <a:off x="1400960" y="3053593"/>
            <a:ext cx="528508" cy="923330"/>
            <a:chOff x="1400960" y="3053593"/>
            <a:chExt cx="528508" cy="923330"/>
          </a:xfrm>
        </p:grpSpPr>
        <p:sp>
          <p:nvSpPr>
            <p:cNvPr id="6" name="Rectangle 5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1020119" y="855055"/>
            <a:ext cx="528507" cy="923330"/>
            <a:chOff x="11276199" y="863445"/>
            <a:chExt cx="528507" cy="923330"/>
          </a:xfrm>
        </p:grpSpPr>
        <p:sp>
          <p:nvSpPr>
            <p:cNvPr id="11" name="Rectangle 10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64856" y="3624821"/>
            <a:ext cx="528507" cy="923330"/>
            <a:chOff x="11276199" y="863445"/>
            <a:chExt cx="528507" cy="923330"/>
          </a:xfrm>
        </p:grpSpPr>
        <p:sp>
          <p:nvSpPr>
            <p:cNvPr id="17" name="Rectangle 1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0" name="Straight Arrow Connector 19"/>
          <p:cNvCxnSpPr>
            <a:stCxn id="7" idx="1"/>
            <a:endCxn id="18" idx="0"/>
          </p:cNvCxnSpPr>
          <p:nvPr/>
        </p:nvCxnSpPr>
        <p:spPr>
          <a:xfrm flipH="1">
            <a:off x="829110" y="3284426"/>
            <a:ext cx="571851" cy="3403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140238" y="2291013"/>
            <a:ext cx="153439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/>
              <a:t>(</a:t>
            </a:r>
            <a:r>
              <a:rPr lang="en-IN" sz="2100" i="1" dirty="0" smtClean="0"/>
              <a:t>1.2) Insert </a:t>
            </a:r>
            <a:r>
              <a:rPr lang="en-IN" sz="2100" b="1" i="1" dirty="0"/>
              <a:t>b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5375105" y="2993674"/>
            <a:ext cx="528509" cy="923330"/>
            <a:chOff x="1400959" y="3053593"/>
            <a:chExt cx="528509" cy="923330"/>
          </a:xfrm>
        </p:grpSpPr>
        <p:sp>
          <p:nvSpPr>
            <p:cNvPr id="24" name="Rectangle 23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00959" y="3053593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539002" y="3564902"/>
            <a:ext cx="528507" cy="923330"/>
            <a:chOff x="11276199" y="863445"/>
            <a:chExt cx="528507" cy="923330"/>
          </a:xfrm>
        </p:grpSpPr>
        <p:sp>
          <p:nvSpPr>
            <p:cNvPr id="28" name="Rectangle 2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0" name="Straight Arrow Connector 29"/>
          <p:cNvCxnSpPr>
            <a:stCxn id="25" idx="1"/>
            <a:endCxn id="29" idx="0"/>
          </p:cNvCxnSpPr>
          <p:nvPr/>
        </p:nvCxnSpPr>
        <p:spPr>
          <a:xfrm flipH="1">
            <a:off x="4803256" y="3224507"/>
            <a:ext cx="571849" cy="3403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3840713" y="4690223"/>
            <a:ext cx="528507" cy="923330"/>
            <a:chOff x="11276199" y="863445"/>
            <a:chExt cx="528507" cy="923330"/>
          </a:xfrm>
        </p:grpSpPr>
        <p:sp>
          <p:nvSpPr>
            <p:cNvPr id="32" name="Rectangle 3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4542084" y="356591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38" name="Straight Arrow Connector 37"/>
          <p:cNvCxnSpPr>
            <a:stCxn id="37" idx="1"/>
            <a:endCxn id="33" idx="0"/>
          </p:cNvCxnSpPr>
          <p:nvPr/>
        </p:nvCxnSpPr>
        <p:spPr>
          <a:xfrm flipH="1">
            <a:off x="4104967" y="3796744"/>
            <a:ext cx="437117" cy="8934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828644" y="2267885"/>
            <a:ext cx="155363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/>
              <a:t>(</a:t>
            </a:r>
            <a:r>
              <a:rPr lang="en-IN" sz="2100" i="1" dirty="0" smtClean="0"/>
              <a:t>1.3) Insert </a:t>
            </a:r>
            <a:r>
              <a:rPr lang="en-IN" sz="2100" b="1" i="1" dirty="0" smtClean="0"/>
              <a:t>C</a:t>
            </a:r>
            <a:endParaRPr lang="en-IN" sz="2100" b="1" i="1" dirty="0"/>
          </a:p>
        </p:txBody>
      </p:sp>
      <p:grpSp>
        <p:nvGrpSpPr>
          <p:cNvPr id="42" name="Group 41"/>
          <p:cNvGrpSpPr/>
          <p:nvPr/>
        </p:nvGrpSpPr>
        <p:grpSpPr>
          <a:xfrm>
            <a:off x="9524073" y="3003577"/>
            <a:ext cx="528509" cy="923330"/>
            <a:chOff x="1400959" y="3053593"/>
            <a:chExt cx="528509" cy="923330"/>
          </a:xfrm>
        </p:grpSpPr>
        <p:sp>
          <p:nvSpPr>
            <p:cNvPr id="43" name="Rectangle 42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00959" y="3053593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8687970" y="3574805"/>
            <a:ext cx="528507" cy="923330"/>
            <a:chOff x="11276199" y="863445"/>
            <a:chExt cx="528507" cy="923330"/>
          </a:xfrm>
        </p:grpSpPr>
        <p:sp>
          <p:nvSpPr>
            <p:cNvPr id="47" name="Rectangle 4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9" name="Straight Arrow Connector 48"/>
          <p:cNvCxnSpPr>
            <a:stCxn id="44" idx="1"/>
            <a:endCxn id="48" idx="0"/>
          </p:cNvCxnSpPr>
          <p:nvPr/>
        </p:nvCxnSpPr>
        <p:spPr>
          <a:xfrm flipH="1">
            <a:off x="8952224" y="3234410"/>
            <a:ext cx="571849" cy="3403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7989681" y="4700126"/>
            <a:ext cx="528507" cy="923330"/>
            <a:chOff x="11276199" y="863445"/>
            <a:chExt cx="528507" cy="923330"/>
          </a:xfrm>
        </p:grpSpPr>
        <p:sp>
          <p:nvSpPr>
            <p:cNvPr id="51" name="Rectangle 50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8687968" y="357480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54" name="Straight Arrow Connector 53"/>
          <p:cNvCxnSpPr>
            <a:stCxn id="53" idx="1"/>
            <a:endCxn id="52" idx="0"/>
          </p:cNvCxnSpPr>
          <p:nvPr/>
        </p:nvCxnSpPr>
        <p:spPr>
          <a:xfrm flipH="1">
            <a:off x="8253935" y="3805638"/>
            <a:ext cx="434033" cy="894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7164588" y="5490583"/>
            <a:ext cx="528507" cy="923330"/>
            <a:chOff x="11276199" y="863445"/>
            <a:chExt cx="528507" cy="923330"/>
          </a:xfrm>
        </p:grpSpPr>
        <p:sp>
          <p:nvSpPr>
            <p:cNvPr id="56" name="Rectangle 55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989679" y="4690222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59" name="Straight Arrow Connector 58"/>
          <p:cNvCxnSpPr>
            <a:stCxn id="58" idx="1"/>
            <a:endCxn id="57" idx="0"/>
          </p:cNvCxnSpPr>
          <p:nvPr/>
        </p:nvCxnSpPr>
        <p:spPr>
          <a:xfrm flipH="1">
            <a:off x="7428842" y="4921055"/>
            <a:ext cx="560837" cy="5695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31180" y="2246829"/>
            <a:ext cx="119484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2910980" y="2246829"/>
            <a:ext cx="0" cy="4167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6754536" y="2246829"/>
            <a:ext cx="0" cy="4167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10634959" y="1801743"/>
            <a:ext cx="144462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Empty Node</a:t>
            </a:r>
            <a:endParaRPr lang="en-IN" sz="2100" b="1" i="1" dirty="0"/>
          </a:p>
        </p:txBody>
      </p:sp>
    </p:spTree>
    <p:extLst>
      <p:ext uri="{BB962C8B-B14F-4D97-AF65-F5344CB8AC3E}">
        <p14:creationId xmlns:p14="http://schemas.microsoft.com/office/powerpoint/2010/main" val="270255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/>
      <p:bldP spid="4" grpId="0"/>
      <p:bldP spid="22" grpId="0"/>
      <p:bldP spid="37" grpId="0"/>
      <p:bldP spid="41" grpId="0"/>
      <p:bldP spid="53" grpId="0"/>
      <p:bldP spid="58" grpId="0"/>
      <p:bldP spid="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959167" y="3633614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Construct a </a:t>
            </a:r>
            <a:r>
              <a:rPr lang="en-IN" dirty="0" err="1"/>
              <a:t>Trie</a:t>
            </a:r>
            <a:r>
              <a:rPr lang="en-IN" dirty="0"/>
              <a:t> data structure (1) </a:t>
            </a:r>
            <a:r>
              <a:rPr lang="en-IN" dirty="0" err="1"/>
              <a:t>abc</a:t>
            </a:r>
            <a:r>
              <a:rPr lang="en-IN" dirty="0"/>
              <a:t>, (2) </a:t>
            </a:r>
            <a:r>
              <a:rPr lang="en-IN" dirty="0" err="1"/>
              <a:t>abgl</a:t>
            </a:r>
            <a:r>
              <a:rPr lang="en-IN" dirty="0"/>
              <a:t>, (3) </a:t>
            </a:r>
            <a:r>
              <a:rPr lang="en-IN" dirty="0" err="1"/>
              <a:t>cdf</a:t>
            </a:r>
            <a:r>
              <a:rPr lang="en-IN" dirty="0"/>
              <a:t>, (4) </a:t>
            </a:r>
            <a:r>
              <a:rPr lang="en-IN" dirty="0" err="1"/>
              <a:t>abcd</a:t>
            </a:r>
            <a:r>
              <a:rPr lang="en-IN" dirty="0"/>
              <a:t>, (5) </a:t>
            </a:r>
            <a:r>
              <a:rPr lang="en-IN" dirty="0" err="1"/>
              <a:t>lmn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95063" y="794917"/>
            <a:ext cx="1138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(2) </a:t>
            </a:r>
            <a:r>
              <a:rPr lang="en-IN" sz="2400" b="1" dirty="0" err="1" smtClean="0"/>
              <a:t>abgl</a:t>
            </a:r>
            <a:endParaRPr lang="en-IN" sz="2400" b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31180" y="1299312"/>
            <a:ext cx="11165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2425194" y="2244893"/>
            <a:ext cx="528509" cy="923330"/>
            <a:chOff x="1400959" y="3053593"/>
            <a:chExt cx="528509" cy="923330"/>
          </a:xfrm>
        </p:grpSpPr>
        <p:sp>
          <p:nvSpPr>
            <p:cNvPr id="12" name="Rectangle 11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00959" y="3053593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589091" y="2593929"/>
            <a:ext cx="528507" cy="923330"/>
            <a:chOff x="11276199" y="863445"/>
            <a:chExt cx="528507" cy="923330"/>
          </a:xfrm>
        </p:grpSpPr>
        <p:sp>
          <p:nvSpPr>
            <p:cNvPr id="16" name="Rectangle 15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8" name="Straight Arrow Connector 17"/>
          <p:cNvCxnSpPr>
            <a:stCxn id="13" idx="1"/>
            <a:endCxn id="17" idx="0"/>
          </p:cNvCxnSpPr>
          <p:nvPr/>
        </p:nvCxnSpPr>
        <p:spPr>
          <a:xfrm flipH="1">
            <a:off x="1853345" y="2475726"/>
            <a:ext cx="571849" cy="1182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89089" y="2593929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23" name="Straight Arrow Connector 22"/>
          <p:cNvCxnSpPr>
            <a:stCxn id="22" idx="1"/>
            <a:endCxn id="27" idx="0"/>
          </p:cNvCxnSpPr>
          <p:nvPr/>
        </p:nvCxnSpPr>
        <p:spPr>
          <a:xfrm flipH="1">
            <a:off x="1223419" y="2824762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195063" y="4962635"/>
            <a:ext cx="528507" cy="923330"/>
            <a:chOff x="11276199" y="863445"/>
            <a:chExt cx="528507" cy="923330"/>
          </a:xfrm>
        </p:grpSpPr>
        <p:sp>
          <p:nvSpPr>
            <p:cNvPr id="25" name="Rectangle 24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59169" y="4095279"/>
            <a:ext cx="528507" cy="923330"/>
            <a:chOff x="11276199" y="1521484"/>
            <a:chExt cx="528507" cy="923330"/>
          </a:xfrm>
        </p:grpSpPr>
        <p:sp>
          <p:nvSpPr>
            <p:cNvPr id="20" name="Rectangle 19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59165" y="3633613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28" name="Straight Arrow Connector 27"/>
          <p:cNvCxnSpPr>
            <a:stCxn id="27" idx="1"/>
            <a:endCxn id="26" idx="0"/>
          </p:cNvCxnSpPr>
          <p:nvPr/>
        </p:nvCxnSpPr>
        <p:spPr>
          <a:xfrm flipH="1">
            <a:off x="459317" y="3864446"/>
            <a:ext cx="499848" cy="1098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58057" y="1393589"/>
            <a:ext cx="152798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(</a:t>
            </a:r>
            <a:r>
              <a:rPr lang="en-IN" sz="2100" i="1" dirty="0"/>
              <a:t>2</a:t>
            </a:r>
            <a:r>
              <a:rPr lang="en-IN" sz="2100" i="1" dirty="0" smtClean="0"/>
              <a:t>.1) Insert </a:t>
            </a:r>
            <a:r>
              <a:rPr lang="en-IN" sz="2100" b="1" i="1" dirty="0" smtClean="0"/>
              <a:t>a</a:t>
            </a:r>
            <a:endParaRPr lang="en-IN" sz="2100" b="1" i="1" dirty="0"/>
          </a:p>
        </p:txBody>
      </p:sp>
      <p:sp>
        <p:nvSpPr>
          <p:cNvPr id="33" name="Rectangle 32"/>
          <p:cNvSpPr/>
          <p:nvPr/>
        </p:nvSpPr>
        <p:spPr>
          <a:xfrm>
            <a:off x="2953701" y="2274258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/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13788" y="2631460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1D35"/>
                </a:solidFill>
              </a:rPr>
              <a:t>✓</a:t>
            </a:r>
            <a:endParaRPr lang="en-IN" dirty="0"/>
          </a:p>
        </p:txBody>
      </p:sp>
      <p:sp>
        <p:nvSpPr>
          <p:cNvPr id="36" name="Rectangle 35"/>
          <p:cNvSpPr/>
          <p:nvPr/>
        </p:nvSpPr>
        <p:spPr>
          <a:xfrm>
            <a:off x="1503003" y="1403657"/>
            <a:ext cx="42992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, </a:t>
            </a:r>
            <a:r>
              <a:rPr lang="en-IN" sz="2100" b="1" i="1" dirty="0" smtClean="0"/>
              <a:t>b</a:t>
            </a:r>
            <a:endParaRPr lang="en-IN" sz="2100" b="1" i="1" dirty="0"/>
          </a:p>
        </p:txBody>
      </p:sp>
      <p:sp>
        <p:nvSpPr>
          <p:cNvPr id="37" name="Rectangle 36"/>
          <p:cNvSpPr/>
          <p:nvPr/>
        </p:nvSpPr>
        <p:spPr>
          <a:xfrm>
            <a:off x="1769802" y="1393589"/>
            <a:ext cx="42992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, </a:t>
            </a:r>
            <a:r>
              <a:rPr lang="en-IN" sz="2100" b="1" i="1" dirty="0" smtClean="0"/>
              <a:t>g</a:t>
            </a:r>
            <a:endParaRPr lang="en-IN" sz="2100" b="1" i="1" dirty="0"/>
          </a:p>
        </p:txBody>
      </p:sp>
      <p:sp>
        <p:nvSpPr>
          <p:cNvPr id="41" name="TextBox 40"/>
          <p:cNvSpPr txBox="1"/>
          <p:nvPr/>
        </p:nvSpPr>
        <p:spPr>
          <a:xfrm>
            <a:off x="966562" y="4101476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g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874734" y="4962635"/>
            <a:ext cx="528507" cy="923330"/>
            <a:chOff x="11276199" y="863445"/>
            <a:chExt cx="528507" cy="923330"/>
          </a:xfrm>
        </p:grpSpPr>
        <p:sp>
          <p:nvSpPr>
            <p:cNvPr id="43" name="Rectangle 42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5" name="Straight Arrow Connector 44"/>
          <p:cNvCxnSpPr>
            <a:stCxn id="41" idx="3"/>
            <a:endCxn id="44" idx="0"/>
          </p:cNvCxnSpPr>
          <p:nvPr/>
        </p:nvCxnSpPr>
        <p:spPr>
          <a:xfrm>
            <a:off x="1495069" y="4332309"/>
            <a:ext cx="643919" cy="6303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3398090" y="1308539"/>
            <a:ext cx="0" cy="473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548349" y="1358102"/>
            <a:ext cx="152798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(2.2) Insert </a:t>
            </a:r>
            <a:r>
              <a:rPr lang="en-IN" sz="2100" b="1" i="1" dirty="0" smtClean="0"/>
              <a:t>l</a:t>
            </a:r>
            <a:endParaRPr lang="en-IN" sz="2100" b="1" i="1" dirty="0"/>
          </a:p>
        </p:txBody>
      </p:sp>
      <p:sp>
        <p:nvSpPr>
          <p:cNvPr id="51" name="Rectangle 50"/>
          <p:cNvSpPr/>
          <p:nvPr/>
        </p:nvSpPr>
        <p:spPr>
          <a:xfrm>
            <a:off x="4343717" y="292431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2" name="Group 51"/>
          <p:cNvGrpSpPr/>
          <p:nvPr/>
        </p:nvGrpSpPr>
        <p:grpSpPr>
          <a:xfrm>
            <a:off x="5809744" y="1535594"/>
            <a:ext cx="528509" cy="923330"/>
            <a:chOff x="1400959" y="3053593"/>
            <a:chExt cx="528509" cy="923330"/>
          </a:xfrm>
        </p:grpSpPr>
        <p:sp>
          <p:nvSpPr>
            <p:cNvPr id="53" name="Rectangle 52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400959" y="3053593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973641" y="1884630"/>
            <a:ext cx="528507" cy="923330"/>
            <a:chOff x="11276199" y="863445"/>
            <a:chExt cx="528507" cy="923330"/>
          </a:xfrm>
        </p:grpSpPr>
        <p:sp>
          <p:nvSpPr>
            <p:cNvPr id="57" name="Rectangle 5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9" name="Straight Arrow Connector 58"/>
          <p:cNvCxnSpPr>
            <a:stCxn id="54" idx="1"/>
            <a:endCxn id="58" idx="0"/>
          </p:cNvCxnSpPr>
          <p:nvPr/>
        </p:nvCxnSpPr>
        <p:spPr>
          <a:xfrm flipH="1">
            <a:off x="5237895" y="1766427"/>
            <a:ext cx="571849" cy="1182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973639" y="188463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61" name="Straight Arrow Connector 60"/>
          <p:cNvCxnSpPr>
            <a:stCxn id="60" idx="1"/>
            <a:endCxn id="68" idx="0"/>
          </p:cNvCxnSpPr>
          <p:nvPr/>
        </p:nvCxnSpPr>
        <p:spPr>
          <a:xfrm flipH="1">
            <a:off x="4607969" y="2115463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3579613" y="4253336"/>
            <a:ext cx="528507" cy="923330"/>
            <a:chOff x="11276199" y="863445"/>
            <a:chExt cx="528507" cy="923330"/>
          </a:xfrm>
        </p:grpSpPr>
        <p:sp>
          <p:nvSpPr>
            <p:cNvPr id="63" name="Rectangle 62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4343719" y="3385980"/>
            <a:ext cx="528507" cy="923330"/>
            <a:chOff x="11276199" y="1521484"/>
            <a:chExt cx="528507" cy="923330"/>
          </a:xfrm>
        </p:grpSpPr>
        <p:sp>
          <p:nvSpPr>
            <p:cNvPr id="66" name="Rectangle 65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4343715" y="2924314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69" name="Straight Arrow Connector 68"/>
          <p:cNvCxnSpPr>
            <a:stCxn id="68" idx="1"/>
            <a:endCxn id="64" idx="0"/>
          </p:cNvCxnSpPr>
          <p:nvPr/>
        </p:nvCxnSpPr>
        <p:spPr>
          <a:xfrm flipH="1">
            <a:off x="3843867" y="3155147"/>
            <a:ext cx="499848" cy="1098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498338" y="1922161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1D35"/>
                </a:solidFill>
              </a:rPr>
              <a:t>✓</a:t>
            </a:r>
            <a:endParaRPr lang="en-IN" dirty="0"/>
          </a:p>
        </p:txBody>
      </p:sp>
      <p:sp>
        <p:nvSpPr>
          <p:cNvPr id="71" name="TextBox 70"/>
          <p:cNvSpPr txBox="1"/>
          <p:nvPr/>
        </p:nvSpPr>
        <p:spPr>
          <a:xfrm>
            <a:off x="4342566" y="339217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g</a:t>
            </a:r>
            <a:endParaRPr lang="en-IN" sz="2400" b="1" dirty="0"/>
          </a:p>
        </p:txBody>
      </p:sp>
      <p:grpSp>
        <p:nvGrpSpPr>
          <p:cNvPr id="72" name="Group 71"/>
          <p:cNvGrpSpPr/>
          <p:nvPr/>
        </p:nvGrpSpPr>
        <p:grpSpPr>
          <a:xfrm>
            <a:off x="5361836" y="3817497"/>
            <a:ext cx="528507" cy="923330"/>
            <a:chOff x="11276199" y="863445"/>
            <a:chExt cx="528507" cy="923330"/>
          </a:xfrm>
        </p:grpSpPr>
        <p:sp>
          <p:nvSpPr>
            <p:cNvPr id="73" name="Rectangle 72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75" name="Straight Arrow Connector 74"/>
          <p:cNvCxnSpPr>
            <a:stCxn id="71" idx="3"/>
            <a:endCxn id="74" idx="0"/>
          </p:cNvCxnSpPr>
          <p:nvPr/>
        </p:nvCxnSpPr>
        <p:spPr>
          <a:xfrm>
            <a:off x="4871073" y="3623010"/>
            <a:ext cx="755017" cy="194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4657193" y="4945833"/>
            <a:ext cx="528507" cy="923330"/>
            <a:chOff x="11276199" y="863445"/>
            <a:chExt cx="528507" cy="923330"/>
          </a:xfrm>
        </p:grpSpPr>
        <p:sp>
          <p:nvSpPr>
            <p:cNvPr id="78" name="Rectangle 7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5361835" y="381865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l</a:t>
            </a:r>
          </a:p>
        </p:txBody>
      </p:sp>
      <p:cxnSp>
        <p:nvCxnSpPr>
          <p:cNvPr id="81" name="Straight Arrow Connector 80"/>
          <p:cNvCxnSpPr>
            <a:stCxn id="80" idx="1"/>
            <a:endCxn id="79" idx="0"/>
          </p:cNvCxnSpPr>
          <p:nvPr/>
        </p:nvCxnSpPr>
        <p:spPr>
          <a:xfrm flipH="1">
            <a:off x="4921447" y="4049491"/>
            <a:ext cx="440388" cy="896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74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9" grpId="0"/>
      <p:bldP spid="22" grpId="0"/>
      <p:bldP spid="27" grpId="0"/>
      <p:bldP spid="32" grpId="0"/>
      <p:bldP spid="33" grpId="0"/>
      <p:bldP spid="34" grpId="0"/>
      <p:bldP spid="36" grpId="0"/>
      <p:bldP spid="37" grpId="0"/>
      <p:bldP spid="41" grpId="0"/>
      <p:bldP spid="50" grpId="0"/>
      <p:bldP spid="51" grpId="0" animBg="1"/>
      <p:bldP spid="60" grpId="0"/>
      <p:bldP spid="68" grpId="0"/>
      <p:bldP spid="70" grpId="0"/>
      <p:bldP spid="71" grpId="0"/>
      <p:bldP spid="8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2407015" y="1391936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Construct a </a:t>
            </a:r>
            <a:r>
              <a:rPr lang="en-IN" dirty="0" err="1"/>
              <a:t>Trie</a:t>
            </a:r>
            <a:r>
              <a:rPr lang="en-IN" dirty="0"/>
              <a:t> data structure (1) </a:t>
            </a:r>
            <a:r>
              <a:rPr lang="en-IN" dirty="0" err="1"/>
              <a:t>abc</a:t>
            </a:r>
            <a:r>
              <a:rPr lang="en-IN" dirty="0"/>
              <a:t>, (2) </a:t>
            </a:r>
            <a:r>
              <a:rPr lang="en-IN" dirty="0" err="1"/>
              <a:t>abgl</a:t>
            </a:r>
            <a:r>
              <a:rPr lang="en-IN" dirty="0"/>
              <a:t>, (3) </a:t>
            </a:r>
            <a:r>
              <a:rPr lang="en-IN" dirty="0" err="1"/>
              <a:t>cdf</a:t>
            </a:r>
            <a:r>
              <a:rPr lang="en-IN" dirty="0"/>
              <a:t>, (4) </a:t>
            </a:r>
            <a:r>
              <a:rPr lang="en-IN" dirty="0" err="1"/>
              <a:t>abcd</a:t>
            </a:r>
            <a:r>
              <a:rPr lang="en-IN" dirty="0"/>
              <a:t>, (5) </a:t>
            </a:r>
            <a:r>
              <a:rPr lang="en-IN" dirty="0" err="1" smtClean="0"/>
              <a:t>lmn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59760" y="736325"/>
            <a:ext cx="1003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(3) </a:t>
            </a:r>
            <a:r>
              <a:rPr lang="en-IN" sz="2400" b="1" dirty="0" err="1" smtClean="0"/>
              <a:t>cdf</a:t>
            </a:r>
            <a:endParaRPr lang="en-IN" sz="2400" b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5877" y="1240720"/>
            <a:ext cx="119484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78041" y="1258409"/>
            <a:ext cx="0" cy="5320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9760" y="1258409"/>
            <a:ext cx="155363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(3.1) Insert </a:t>
            </a:r>
            <a:r>
              <a:rPr lang="en-IN" sz="2100" b="1" i="1" dirty="0" smtClean="0"/>
              <a:t>C</a:t>
            </a:r>
            <a:endParaRPr lang="en-IN" sz="2100" b="1" i="1" dirty="0"/>
          </a:p>
        </p:txBody>
      </p:sp>
      <p:sp>
        <p:nvSpPr>
          <p:cNvPr id="13" name="Rectangle 12"/>
          <p:cNvSpPr/>
          <p:nvPr/>
        </p:nvSpPr>
        <p:spPr>
          <a:xfrm>
            <a:off x="940987" y="3237076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2407015" y="1399901"/>
            <a:ext cx="528508" cy="1371784"/>
            <a:chOff x="1400960" y="2605139"/>
            <a:chExt cx="528508" cy="1371784"/>
          </a:xfrm>
        </p:grpSpPr>
        <p:sp>
          <p:nvSpPr>
            <p:cNvPr id="15" name="Rectangle 14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00960" y="2605139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570911" y="2197391"/>
            <a:ext cx="528507" cy="923330"/>
            <a:chOff x="11276199" y="863445"/>
            <a:chExt cx="528507" cy="923330"/>
          </a:xfrm>
        </p:grpSpPr>
        <p:sp>
          <p:nvSpPr>
            <p:cNvPr id="19" name="Rectangle 1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1" name="Straight Arrow Connector 20"/>
          <p:cNvCxnSpPr>
            <a:stCxn id="16" idx="1"/>
            <a:endCxn id="20" idx="0"/>
          </p:cNvCxnSpPr>
          <p:nvPr/>
        </p:nvCxnSpPr>
        <p:spPr>
          <a:xfrm flipH="1">
            <a:off x="1835165" y="1630734"/>
            <a:ext cx="571850" cy="5666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70909" y="219739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23" name="Straight Arrow Connector 22"/>
          <p:cNvCxnSpPr>
            <a:stCxn id="22" idx="1"/>
            <a:endCxn id="30" idx="0"/>
          </p:cNvCxnSpPr>
          <p:nvPr/>
        </p:nvCxnSpPr>
        <p:spPr>
          <a:xfrm flipH="1">
            <a:off x="1205239" y="2428224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176883" y="4566097"/>
            <a:ext cx="528507" cy="923330"/>
            <a:chOff x="11276199" y="863445"/>
            <a:chExt cx="528507" cy="923330"/>
          </a:xfrm>
        </p:grpSpPr>
        <p:sp>
          <p:nvSpPr>
            <p:cNvPr id="25" name="Rectangle 24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40989" y="3698741"/>
            <a:ext cx="528507" cy="923330"/>
            <a:chOff x="11276199" y="1521484"/>
            <a:chExt cx="528507" cy="923330"/>
          </a:xfrm>
        </p:grpSpPr>
        <p:sp>
          <p:nvSpPr>
            <p:cNvPr id="28" name="Rectangle 27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940985" y="323707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31" name="Straight Arrow Connector 30"/>
          <p:cNvCxnSpPr>
            <a:stCxn id="30" idx="1"/>
            <a:endCxn id="26" idx="0"/>
          </p:cNvCxnSpPr>
          <p:nvPr/>
        </p:nvCxnSpPr>
        <p:spPr>
          <a:xfrm flipH="1">
            <a:off x="441137" y="3467908"/>
            <a:ext cx="499848" cy="1098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39836" y="370493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g</a:t>
            </a:r>
            <a:endParaRPr lang="en-IN" sz="2400" b="1" dirty="0"/>
          </a:p>
        </p:txBody>
      </p:sp>
      <p:grpSp>
        <p:nvGrpSpPr>
          <p:cNvPr id="34" name="Group 33"/>
          <p:cNvGrpSpPr/>
          <p:nvPr/>
        </p:nvGrpSpPr>
        <p:grpSpPr>
          <a:xfrm>
            <a:off x="1959106" y="4130258"/>
            <a:ext cx="528507" cy="923330"/>
            <a:chOff x="11276199" y="863445"/>
            <a:chExt cx="528507" cy="923330"/>
          </a:xfrm>
        </p:grpSpPr>
        <p:sp>
          <p:nvSpPr>
            <p:cNvPr id="35" name="Rectangle 34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7" name="Straight Arrow Connector 36"/>
          <p:cNvCxnSpPr>
            <a:stCxn id="33" idx="3"/>
            <a:endCxn id="36" idx="0"/>
          </p:cNvCxnSpPr>
          <p:nvPr/>
        </p:nvCxnSpPr>
        <p:spPr>
          <a:xfrm>
            <a:off x="1468343" y="3935771"/>
            <a:ext cx="755017" cy="194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1254463" y="5258594"/>
            <a:ext cx="528507" cy="923330"/>
            <a:chOff x="11276199" y="863445"/>
            <a:chExt cx="528507" cy="923330"/>
          </a:xfrm>
        </p:grpSpPr>
        <p:sp>
          <p:nvSpPr>
            <p:cNvPr id="39" name="Rectangle 3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959105" y="4131419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</a:t>
            </a:r>
          </a:p>
        </p:txBody>
      </p:sp>
      <p:cxnSp>
        <p:nvCxnSpPr>
          <p:cNvPr id="42" name="Straight Arrow Connector 41"/>
          <p:cNvCxnSpPr>
            <a:stCxn id="41" idx="1"/>
            <a:endCxn id="40" idx="0"/>
          </p:cNvCxnSpPr>
          <p:nvPr/>
        </p:nvCxnSpPr>
        <p:spPr>
          <a:xfrm flipH="1">
            <a:off x="1518717" y="4362252"/>
            <a:ext cx="440388" cy="896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14072" y="185360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c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3146395" y="2776825"/>
            <a:ext cx="528507" cy="923330"/>
            <a:chOff x="11276199" y="863445"/>
            <a:chExt cx="528507" cy="923330"/>
          </a:xfrm>
        </p:grpSpPr>
        <p:sp>
          <p:nvSpPr>
            <p:cNvPr id="49" name="Rectangle 4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1" name="Straight Arrow Connector 50"/>
          <p:cNvCxnSpPr>
            <a:stCxn id="43" idx="3"/>
            <a:endCxn id="50" idx="0"/>
          </p:cNvCxnSpPr>
          <p:nvPr/>
        </p:nvCxnSpPr>
        <p:spPr>
          <a:xfrm>
            <a:off x="2942579" y="2084434"/>
            <a:ext cx="468070" cy="6923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867178" y="1260225"/>
            <a:ext cx="155363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(3.2) Insert </a:t>
            </a:r>
            <a:r>
              <a:rPr lang="en-IN" sz="2100" b="1" i="1" dirty="0" smtClean="0"/>
              <a:t>d</a:t>
            </a:r>
            <a:endParaRPr lang="en-IN" sz="2100" b="1" i="1" dirty="0"/>
          </a:p>
        </p:txBody>
      </p:sp>
      <p:sp>
        <p:nvSpPr>
          <p:cNvPr id="61" name="Rectangle 60"/>
          <p:cNvSpPr/>
          <p:nvPr/>
        </p:nvSpPr>
        <p:spPr>
          <a:xfrm>
            <a:off x="6148155" y="1544336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/>
          <p:cNvSpPr/>
          <p:nvPr/>
        </p:nvSpPr>
        <p:spPr>
          <a:xfrm>
            <a:off x="4682127" y="3389476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3" name="Group 62"/>
          <p:cNvGrpSpPr/>
          <p:nvPr/>
        </p:nvGrpSpPr>
        <p:grpSpPr>
          <a:xfrm>
            <a:off x="6148155" y="1552301"/>
            <a:ext cx="528508" cy="1371784"/>
            <a:chOff x="1400960" y="2605139"/>
            <a:chExt cx="528508" cy="1371784"/>
          </a:xfrm>
        </p:grpSpPr>
        <p:sp>
          <p:nvSpPr>
            <p:cNvPr id="64" name="Rectangle 63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400960" y="2605139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312051" y="2349791"/>
            <a:ext cx="528507" cy="923330"/>
            <a:chOff x="11276199" y="863445"/>
            <a:chExt cx="528507" cy="923330"/>
          </a:xfrm>
        </p:grpSpPr>
        <p:sp>
          <p:nvSpPr>
            <p:cNvPr id="68" name="Rectangle 6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70" name="Straight Arrow Connector 69"/>
          <p:cNvCxnSpPr>
            <a:stCxn id="65" idx="1"/>
            <a:endCxn id="69" idx="0"/>
          </p:cNvCxnSpPr>
          <p:nvPr/>
        </p:nvCxnSpPr>
        <p:spPr>
          <a:xfrm flipH="1">
            <a:off x="5576305" y="1783134"/>
            <a:ext cx="571850" cy="5666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312049" y="234979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72" name="Straight Arrow Connector 71"/>
          <p:cNvCxnSpPr>
            <a:stCxn id="71" idx="1"/>
            <a:endCxn id="79" idx="0"/>
          </p:cNvCxnSpPr>
          <p:nvPr/>
        </p:nvCxnSpPr>
        <p:spPr>
          <a:xfrm flipH="1">
            <a:off x="4946379" y="2580624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3918023" y="4718497"/>
            <a:ext cx="528507" cy="923330"/>
            <a:chOff x="11276199" y="863445"/>
            <a:chExt cx="528507" cy="923330"/>
          </a:xfrm>
        </p:grpSpPr>
        <p:sp>
          <p:nvSpPr>
            <p:cNvPr id="74" name="Rectangle 7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4682129" y="3851141"/>
            <a:ext cx="528507" cy="923330"/>
            <a:chOff x="11276199" y="1521484"/>
            <a:chExt cx="528507" cy="923330"/>
          </a:xfrm>
        </p:grpSpPr>
        <p:sp>
          <p:nvSpPr>
            <p:cNvPr id="77" name="Rectangle 76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4682125" y="338947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80" name="Straight Arrow Connector 79"/>
          <p:cNvCxnSpPr>
            <a:stCxn id="79" idx="1"/>
            <a:endCxn id="75" idx="0"/>
          </p:cNvCxnSpPr>
          <p:nvPr/>
        </p:nvCxnSpPr>
        <p:spPr>
          <a:xfrm flipH="1">
            <a:off x="4182277" y="3620308"/>
            <a:ext cx="499848" cy="1098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680976" y="385733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g</a:t>
            </a:r>
            <a:endParaRPr lang="en-IN" sz="2400" b="1" dirty="0"/>
          </a:p>
        </p:txBody>
      </p:sp>
      <p:grpSp>
        <p:nvGrpSpPr>
          <p:cNvPr id="82" name="Group 81"/>
          <p:cNvGrpSpPr/>
          <p:nvPr/>
        </p:nvGrpSpPr>
        <p:grpSpPr>
          <a:xfrm>
            <a:off x="5700246" y="4282658"/>
            <a:ext cx="528507" cy="923330"/>
            <a:chOff x="11276199" y="863445"/>
            <a:chExt cx="528507" cy="923330"/>
          </a:xfrm>
        </p:grpSpPr>
        <p:sp>
          <p:nvSpPr>
            <p:cNvPr id="83" name="Rectangle 82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85" name="Straight Arrow Connector 84"/>
          <p:cNvCxnSpPr>
            <a:stCxn id="81" idx="3"/>
            <a:endCxn id="84" idx="0"/>
          </p:cNvCxnSpPr>
          <p:nvPr/>
        </p:nvCxnSpPr>
        <p:spPr>
          <a:xfrm>
            <a:off x="5209483" y="4088171"/>
            <a:ext cx="755017" cy="194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86" name="Group 85"/>
          <p:cNvGrpSpPr/>
          <p:nvPr/>
        </p:nvGrpSpPr>
        <p:grpSpPr>
          <a:xfrm>
            <a:off x="4995603" y="5410994"/>
            <a:ext cx="528507" cy="923330"/>
            <a:chOff x="11276199" y="863445"/>
            <a:chExt cx="528507" cy="923330"/>
          </a:xfrm>
        </p:grpSpPr>
        <p:sp>
          <p:nvSpPr>
            <p:cNvPr id="87" name="Rectangle 8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5700245" y="4283819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</a:t>
            </a:r>
          </a:p>
        </p:txBody>
      </p:sp>
      <p:cxnSp>
        <p:nvCxnSpPr>
          <p:cNvPr id="90" name="Straight Arrow Connector 89"/>
          <p:cNvCxnSpPr>
            <a:stCxn id="89" idx="1"/>
            <a:endCxn id="88" idx="0"/>
          </p:cNvCxnSpPr>
          <p:nvPr/>
        </p:nvCxnSpPr>
        <p:spPr>
          <a:xfrm flipH="1">
            <a:off x="5259857" y="4514652"/>
            <a:ext cx="440388" cy="896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155212" y="200600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grpSp>
        <p:nvGrpSpPr>
          <p:cNvPr id="92" name="Group 91"/>
          <p:cNvGrpSpPr/>
          <p:nvPr/>
        </p:nvGrpSpPr>
        <p:grpSpPr>
          <a:xfrm>
            <a:off x="6988043" y="2658251"/>
            <a:ext cx="528507" cy="923330"/>
            <a:chOff x="11276199" y="863445"/>
            <a:chExt cx="528507" cy="923330"/>
          </a:xfrm>
        </p:grpSpPr>
        <p:sp>
          <p:nvSpPr>
            <p:cNvPr id="93" name="Rectangle 92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95" name="Straight Arrow Connector 94"/>
          <p:cNvCxnSpPr>
            <a:stCxn id="91" idx="3"/>
            <a:endCxn id="94" idx="0"/>
          </p:cNvCxnSpPr>
          <p:nvPr/>
        </p:nvCxnSpPr>
        <p:spPr>
          <a:xfrm>
            <a:off x="6683719" y="2236834"/>
            <a:ext cx="568578" cy="4214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6337512" y="3670422"/>
            <a:ext cx="528507" cy="923330"/>
            <a:chOff x="11276199" y="863445"/>
            <a:chExt cx="528507" cy="923330"/>
          </a:xfrm>
        </p:grpSpPr>
        <p:sp>
          <p:nvSpPr>
            <p:cNvPr id="97" name="Rectangle 9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6980986" y="2659063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d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cxnSp>
        <p:nvCxnSpPr>
          <p:cNvPr id="100" name="Straight Arrow Connector 99"/>
          <p:cNvCxnSpPr>
            <a:stCxn id="99" idx="1"/>
            <a:endCxn id="98" idx="0"/>
          </p:cNvCxnSpPr>
          <p:nvPr/>
        </p:nvCxnSpPr>
        <p:spPr>
          <a:xfrm flipH="1">
            <a:off x="6601766" y="2889896"/>
            <a:ext cx="379220" cy="78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7638375" y="1240720"/>
            <a:ext cx="0" cy="5320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7638374" y="1258409"/>
            <a:ext cx="153439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(3.3) Insert </a:t>
            </a:r>
            <a:r>
              <a:rPr lang="en-IN" sz="2100" b="1" i="1" dirty="0" smtClean="0"/>
              <a:t>f</a:t>
            </a:r>
            <a:endParaRPr lang="en-IN" sz="2100" b="1" i="1" dirty="0"/>
          </a:p>
        </p:txBody>
      </p:sp>
      <p:sp>
        <p:nvSpPr>
          <p:cNvPr id="140" name="Rectangle 139"/>
          <p:cNvSpPr/>
          <p:nvPr/>
        </p:nvSpPr>
        <p:spPr>
          <a:xfrm>
            <a:off x="9720802" y="1544336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Rectangle 140"/>
          <p:cNvSpPr/>
          <p:nvPr/>
        </p:nvSpPr>
        <p:spPr>
          <a:xfrm>
            <a:off x="8254774" y="3389476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2" name="Group 141"/>
          <p:cNvGrpSpPr/>
          <p:nvPr/>
        </p:nvGrpSpPr>
        <p:grpSpPr>
          <a:xfrm>
            <a:off x="9720802" y="1552301"/>
            <a:ext cx="528508" cy="1371784"/>
            <a:chOff x="1400960" y="2605139"/>
            <a:chExt cx="528508" cy="1371784"/>
          </a:xfrm>
        </p:grpSpPr>
        <p:sp>
          <p:nvSpPr>
            <p:cNvPr id="143" name="Rectangle 142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400960" y="2605139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8884698" y="2349791"/>
            <a:ext cx="528507" cy="923330"/>
            <a:chOff x="11276199" y="863445"/>
            <a:chExt cx="528507" cy="923330"/>
          </a:xfrm>
        </p:grpSpPr>
        <p:sp>
          <p:nvSpPr>
            <p:cNvPr id="147" name="Rectangle 14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49" name="Straight Arrow Connector 148"/>
          <p:cNvCxnSpPr>
            <a:stCxn id="144" idx="1"/>
            <a:endCxn id="148" idx="0"/>
          </p:cNvCxnSpPr>
          <p:nvPr/>
        </p:nvCxnSpPr>
        <p:spPr>
          <a:xfrm flipH="1">
            <a:off x="9148952" y="1783134"/>
            <a:ext cx="571850" cy="5666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8884696" y="234979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151" name="Straight Arrow Connector 150"/>
          <p:cNvCxnSpPr>
            <a:stCxn id="150" idx="1"/>
            <a:endCxn id="158" idx="0"/>
          </p:cNvCxnSpPr>
          <p:nvPr/>
        </p:nvCxnSpPr>
        <p:spPr>
          <a:xfrm flipH="1">
            <a:off x="8519026" y="2580624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52" name="Group 151"/>
          <p:cNvGrpSpPr/>
          <p:nvPr/>
        </p:nvGrpSpPr>
        <p:grpSpPr>
          <a:xfrm>
            <a:off x="7747845" y="4880422"/>
            <a:ext cx="528507" cy="923330"/>
            <a:chOff x="11276199" y="863445"/>
            <a:chExt cx="528507" cy="923330"/>
          </a:xfrm>
        </p:grpSpPr>
        <p:sp>
          <p:nvSpPr>
            <p:cNvPr id="153" name="Rectangle 152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5" name="Group 154"/>
          <p:cNvGrpSpPr/>
          <p:nvPr/>
        </p:nvGrpSpPr>
        <p:grpSpPr>
          <a:xfrm>
            <a:off x="8254776" y="3851141"/>
            <a:ext cx="528507" cy="923330"/>
            <a:chOff x="11276199" y="1521484"/>
            <a:chExt cx="528507" cy="923330"/>
          </a:xfrm>
        </p:grpSpPr>
        <p:sp>
          <p:nvSpPr>
            <p:cNvPr id="156" name="Rectangle 155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58" name="TextBox 157"/>
          <p:cNvSpPr txBox="1"/>
          <p:nvPr/>
        </p:nvSpPr>
        <p:spPr>
          <a:xfrm>
            <a:off x="8254772" y="338947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159" name="Straight Arrow Connector 158"/>
          <p:cNvCxnSpPr>
            <a:stCxn id="158" idx="1"/>
            <a:endCxn id="154" idx="0"/>
          </p:cNvCxnSpPr>
          <p:nvPr/>
        </p:nvCxnSpPr>
        <p:spPr>
          <a:xfrm flipH="1">
            <a:off x="8012099" y="3620308"/>
            <a:ext cx="242673" cy="1260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8253623" y="385733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g</a:t>
            </a:r>
            <a:endParaRPr lang="en-IN" sz="2400" b="1" dirty="0"/>
          </a:p>
        </p:txBody>
      </p:sp>
      <p:grpSp>
        <p:nvGrpSpPr>
          <p:cNvPr id="161" name="Group 160"/>
          <p:cNvGrpSpPr/>
          <p:nvPr/>
        </p:nvGrpSpPr>
        <p:grpSpPr>
          <a:xfrm>
            <a:off x="9272893" y="4282658"/>
            <a:ext cx="528507" cy="923330"/>
            <a:chOff x="11276199" y="863445"/>
            <a:chExt cx="528507" cy="923330"/>
          </a:xfrm>
        </p:grpSpPr>
        <p:sp>
          <p:nvSpPr>
            <p:cNvPr id="162" name="Rectangle 16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4" name="Straight Arrow Connector 163"/>
          <p:cNvCxnSpPr>
            <a:stCxn id="160" idx="3"/>
            <a:endCxn id="163" idx="0"/>
          </p:cNvCxnSpPr>
          <p:nvPr/>
        </p:nvCxnSpPr>
        <p:spPr>
          <a:xfrm>
            <a:off x="8782130" y="4088171"/>
            <a:ext cx="755017" cy="194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65" name="Group 164"/>
          <p:cNvGrpSpPr/>
          <p:nvPr/>
        </p:nvGrpSpPr>
        <p:grpSpPr>
          <a:xfrm>
            <a:off x="8920675" y="5410994"/>
            <a:ext cx="528507" cy="923330"/>
            <a:chOff x="11276199" y="863445"/>
            <a:chExt cx="528507" cy="923330"/>
          </a:xfrm>
        </p:grpSpPr>
        <p:sp>
          <p:nvSpPr>
            <p:cNvPr id="166" name="Rectangle 165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8" name="TextBox 167"/>
          <p:cNvSpPr txBox="1"/>
          <p:nvPr/>
        </p:nvSpPr>
        <p:spPr>
          <a:xfrm>
            <a:off x="9272892" y="4283819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</a:t>
            </a:r>
          </a:p>
        </p:txBody>
      </p:sp>
      <p:cxnSp>
        <p:nvCxnSpPr>
          <p:cNvPr id="169" name="Straight Arrow Connector 168"/>
          <p:cNvCxnSpPr>
            <a:stCxn id="168" idx="1"/>
            <a:endCxn id="167" idx="0"/>
          </p:cNvCxnSpPr>
          <p:nvPr/>
        </p:nvCxnSpPr>
        <p:spPr>
          <a:xfrm flipH="1">
            <a:off x="9184929" y="4514652"/>
            <a:ext cx="87963" cy="896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727859" y="200600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grpSp>
        <p:nvGrpSpPr>
          <p:cNvPr id="171" name="Group 170"/>
          <p:cNvGrpSpPr/>
          <p:nvPr/>
        </p:nvGrpSpPr>
        <p:grpSpPr>
          <a:xfrm>
            <a:off x="11398890" y="2658251"/>
            <a:ext cx="528507" cy="923330"/>
            <a:chOff x="11276199" y="863445"/>
            <a:chExt cx="528507" cy="923330"/>
          </a:xfrm>
        </p:grpSpPr>
        <p:sp>
          <p:nvSpPr>
            <p:cNvPr id="172" name="Rectangle 17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74" name="Straight Arrow Connector 173"/>
          <p:cNvCxnSpPr>
            <a:stCxn id="170" idx="3"/>
            <a:endCxn id="173" idx="0"/>
          </p:cNvCxnSpPr>
          <p:nvPr/>
        </p:nvCxnSpPr>
        <p:spPr>
          <a:xfrm>
            <a:off x="10256366" y="2236834"/>
            <a:ext cx="1406778" cy="4214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75" name="Group 174"/>
          <p:cNvGrpSpPr/>
          <p:nvPr/>
        </p:nvGrpSpPr>
        <p:grpSpPr>
          <a:xfrm>
            <a:off x="10607110" y="3590160"/>
            <a:ext cx="528507" cy="923330"/>
            <a:chOff x="11276199" y="863445"/>
            <a:chExt cx="528507" cy="923330"/>
          </a:xfrm>
        </p:grpSpPr>
        <p:sp>
          <p:nvSpPr>
            <p:cNvPr id="176" name="Rectangle 175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8" name="TextBox 177"/>
          <p:cNvSpPr txBox="1"/>
          <p:nvPr/>
        </p:nvSpPr>
        <p:spPr>
          <a:xfrm>
            <a:off x="11391833" y="2659063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cxnSp>
        <p:nvCxnSpPr>
          <p:cNvPr id="179" name="Straight Arrow Connector 178"/>
          <p:cNvCxnSpPr>
            <a:stCxn id="178" idx="1"/>
            <a:endCxn id="177" idx="0"/>
          </p:cNvCxnSpPr>
          <p:nvPr/>
        </p:nvCxnSpPr>
        <p:spPr>
          <a:xfrm flipH="1">
            <a:off x="10871364" y="2889896"/>
            <a:ext cx="520469" cy="700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10607109" y="3590159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f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181" name="Group 180"/>
          <p:cNvGrpSpPr/>
          <p:nvPr/>
        </p:nvGrpSpPr>
        <p:grpSpPr>
          <a:xfrm>
            <a:off x="10065582" y="4649589"/>
            <a:ext cx="528507" cy="923330"/>
            <a:chOff x="11276199" y="863445"/>
            <a:chExt cx="528507" cy="923330"/>
          </a:xfrm>
        </p:grpSpPr>
        <p:sp>
          <p:nvSpPr>
            <p:cNvPr id="182" name="Rectangle 18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84" name="Straight Arrow Connector 183"/>
          <p:cNvCxnSpPr>
            <a:stCxn id="180" idx="1"/>
            <a:endCxn id="183" idx="0"/>
          </p:cNvCxnSpPr>
          <p:nvPr/>
        </p:nvCxnSpPr>
        <p:spPr>
          <a:xfrm flipH="1">
            <a:off x="10329836" y="3820992"/>
            <a:ext cx="277273" cy="828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48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9" grpId="0"/>
      <p:bldP spid="12" grpId="0"/>
      <p:bldP spid="13" grpId="0" animBg="1"/>
      <p:bldP spid="22" grpId="0"/>
      <p:bldP spid="30" grpId="0"/>
      <p:bldP spid="33" grpId="0"/>
      <p:bldP spid="41" grpId="0"/>
      <p:bldP spid="43" grpId="0"/>
      <p:bldP spid="60" grpId="0"/>
      <p:bldP spid="61" grpId="0" animBg="1"/>
      <p:bldP spid="62" grpId="0" animBg="1"/>
      <p:bldP spid="71" grpId="0"/>
      <p:bldP spid="79" grpId="0"/>
      <p:bldP spid="81" grpId="0"/>
      <p:bldP spid="89" grpId="0"/>
      <p:bldP spid="91" grpId="0"/>
      <p:bldP spid="99" grpId="0"/>
      <p:bldP spid="102" grpId="0"/>
      <p:bldP spid="140" grpId="0" animBg="1"/>
      <p:bldP spid="141" grpId="0" animBg="1"/>
      <p:bldP spid="150" grpId="0"/>
      <p:bldP spid="158" grpId="0"/>
      <p:bldP spid="160" grpId="0"/>
      <p:bldP spid="168" grpId="0"/>
      <p:bldP spid="170" grpId="0"/>
      <p:bldP spid="178" grpId="0"/>
      <p:bldP spid="1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Construct a </a:t>
            </a:r>
            <a:r>
              <a:rPr lang="en-IN" dirty="0" err="1"/>
              <a:t>Trie</a:t>
            </a:r>
            <a:r>
              <a:rPr lang="en-IN" dirty="0"/>
              <a:t> data structure (1) </a:t>
            </a:r>
            <a:r>
              <a:rPr lang="en-IN" dirty="0" err="1"/>
              <a:t>abc</a:t>
            </a:r>
            <a:r>
              <a:rPr lang="en-IN" dirty="0"/>
              <a:t>, (2) </a:t>
            </a:r>
            <a:r>
              <a:rPr lang="en-IN" dirty="0" err="1"/>
              <a:t>abgl</a:t>
            </a:r>
            <a:r>
              <a:rPr lang="en-IN" dirty="0"/>
              <a:t>, (3) </a:t>
            </a:r>
            <a:r>
              <a:rPr lang="en-IN" dirty="0" err="1"/>
              <a:t>cdf</a:t>
            </a:r>
            <a:r>
              <a:rPr lang="en-IN" dirty="0"/>
              <a:t>, (4) </a:t>
            </a:r>
            <a:r>
              <a:rPr lang="en-IN" dirty="0" err="1"/>
              <a:t>abcd</a:t>
            </a:r>
            <a:r>
              <a:rPr lang="en-IN" dirty="0"/>
              <a:t>, (5) </a:t>
            </a:r>
            <a:r>
              <a:rPr lang="en-IN" dirty="0" err="1"/>
              <a:t>lmn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9760" y="736325"/>
            <a:ext cx="1199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(4) </a:t>
            </a:r>
            <a:r>
              <a:rPr lang="en-IN" sz="2400" b="1" dirty="0" err="1" smtClean="0"/>
              <a:t>abcd</a:t>
            </a:r>
            <a:endParaRPr lang="en-IN" sz="2400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5877" y="1240720"/>
            <a:ext cx="1456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59760" y="1258409"/>
            <a:ext cx="155363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(4.1) Insert </a:t>
            </a:r>
            <a:r>
              <a:rPr lang="en-IN" sz="2100" b="1" i="1" dirty="0" smtClean="0"/>
              <a:t>a</a:t>
            </a:r>
            <a:endParaRPr lang="en-IN" sz="2100" b="1" i="1" dirty="0"/>
          </a:p>
        </p:txBody>
      </p:sp>
      <p:sp>
        <p:nvSpPr>
          <p:cNvPr id="12" name="Rectangle 11"/>
          <p:cNvSpPr/>
          <p:nvPr/>
        </p:nvSpPr>
        <p:spPr>
          <a:xfrm>
            <a:off x="6336948" y="980050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4870920" y="2825190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6336948" y="988015"/>
            <a:ext cx="528508" cy="1371784"/>
            <a:chOff x="1400960" y="2605139"/>
            <a:chExt cx="528508" cy="1371784"/>
          </a:xfrm>
        </p:grpSpPr>
        <p:sp>
          <p:nvSpPr>
            <p:cNvPr id="15" name="Rectangle 14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00960" y="2605139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500844" y="1785505"/>
            <a:ext cx="528507" cy="923330"/>
            <a:chOff x="11276199" y="863445"/>
            <a:chExt cx="528507" cy="923330"/>
          </a:xfrm>
        </p:grpSpPr>
        <p:sp>
          <p:nvSpPr>
            <p:cNvPr id="19" name="Rectangle 1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1" name="Straight Arrow Connector 20"/>
          <p:cNvCxnSpPr>
            <a:stCxn id="16" idx="1"/>
            <a:endCxn id="20" idx="0"/>
          </p:cNvCxnSpPr>
          <p:nvPr/>
        </p:nvCxnSpPr>
        <p:spPr>
          <a:xfrm flipH="1">
            <a:off x="5765098" y="1218848"/>
            <a:ext cx="571850" cy="5666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00842" y="178550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23" name="Straight Arrow Connector 22"/>
          <p:cNvCxnSpPr>
            <a:stCxn id="22" idx="1"/>
            <a:endCxn id="30" idx="0"/>
          </p:cNvCxnSpPr>
          <p:nvPr/>
        </p:nvCxnSpPr>
        <p:spPr>
          <a:xfrm flipH="1">
            <a:off x="5135172" y="2016338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4363991" y="4316136"/>
            <a:ext cx="528507" cy="923330"/>
            <a:chOff x="11276199" y="863445"/>
            <a:chExt cx="528507" cy="923330"/>
          </a:xfrm>
        </p:grpSpPr>
        <p:sp>
          <p:nvSpPr>
            <p:cNvPr id="25" name="Rectangle 24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870922" y="3286855"/>
            <a:ext cx="528507" cy="923330"/>
            <a:chOff x="11276199" y="1521484"/>
            <a:chExt cx="528507" cy="923330"/>
          </a:xfrm>
        </p:grpSpPr>
        <p:sp>
          <p:nvSpPr>
            <p:cNvPr id="28" name="Rectangle 27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870918" y="2825189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31" name="Straight Arrow Connector 30"/>
          <p:cNvCxnSpPr>
            <a:stCxn id="30" idx="1"/>
            <a:endCxn id="26" idx="0"/>
          </p:cNvCxnSpPr>
          <p:nvPr/>
        </p:nvCxnSpPr>
        <p:spPr>
          <a:xfrm flipH="1">
            <a:off x="4628245" y="3056022"/>
            <a:ext cx="242673" cy="1260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869769" y="3293052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g</a:t>
            </a:r>
            <a:endParaRPr lang="en-IN" sz="2400" b="1" dirty="0"/>
          </a:p>
        </p:txBody>
      </p:sp>
      <p:grpSp>
        <p:nvGrpSpPr>
          <p:cNvPr id="33" name="Group 32"/>
          <p:cNvGrpSpPr/>
          <p:nvPr/>
        </p:nvGrpSpPr>
        <p:grpSpPr>
          <a:xfrm>
            <a:off x="5889039" y="3718372"/>
            <a:ext cx="528507" cy="923330"/>
            <a:chOff x="11276199" y="863445"/>
            <a:chExt cx="528507" cy="923330"/>
          </a:xfrm>
        </p:grpSpPr>
        <p:sp>
          <p:nvSpPr>
            <p:cNvPr id="34" name="Rectangle 3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6" name="Straight Arrow Connector 35"/>
          <p:cNvCxnSpPr>
            <a:stCxn id="32" idx="3"/>
            <a:endCxn id="35" idx="0"/>
          </p:cNvCxnSpPr>
          <p:nvPr/>
        </p:nvCxnSpPr>
        <p:spPr>
          <a:xfrm>
            <a:off x="5398276" y="3523885"/>
            <a:ext cx="755017" cy="194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5536821" y="4846708"/>
            <a:ext cx="528507" cy="923330"/>
            <a:chOff x="11276199" y="863445"/>
            <a:chExt cx="528507" cy="923330"/>
          </a:xfrm>
        </p:grpSpPr>
        <p:sp>
          <p:nvSpPr>
            <p:cNvPr id="38" name="Rectangle 3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889038" y="3719533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</a:t>
            </a:r>
          </a:p>
        </p:txBody>
      </p:sp>
      <p:cxnSp>
        <p:nvCxnSpPr>
          <p:cNvPr id="41" name="Straight Arrow Connector 40"/>
          <p:cNvCxnSpPr>
            <a:stCxn id="40" idx="1"/>
            <a:endCxn id="39" idx="0"/>
          </p:cNvCxnSpPr>
          <p:nvPr/>
        </p:nvCxnSpPr>
        <p:spPr>
          <a:xfrm flipH="1">
            <a:off x="5801075" y="3950366"/>
            <a:ext cx="87963" cy="896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44005" y="144171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grpSp>
        <p:nvGrpSpPr>
          <p:cNvPr id="43" name="Group 42"/>
          <p:cNvGrpSpPr/>
          <p:nvPr/>
        </p:nvGrpSpPr>
        <p:grpSpPr>
          <a:xfrm>
            <a:off x="8015036" y="2093965"/>
            <a:ext cx="528507" cy="923330"/>
            <a:chOff x="11276199" y="863445"/>
            <a:chExt cx="528507" cy="923330"/>
          </a:xfrm>
        </p:grpSpPr>
        <p:sp>
          <p:nvSpPr>
            <p:cNvPr id="44" name="Rectangle 4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6" name="Straight Arrow Connector 45"/>
          <p:cNvCxnSpPr>
            <a:stCxn id="42" idx="3"/>
            <a:endCxn id="45" idx="0"/>
          </p:cNvCxnSpPr>
          <p:nvPr/>
        </p:nvCxnSpPr>
        <p:spPr>
          <a:xfrm>
            <a:off x="6872512" y="1672548"/>
            <a:ext cx="1406778" cy="4214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7223256" y="3025874"/>
            <a:ext cx="528507" cy="923330"/>
            <a:chOff x="11276199" y="863445"/>
            <a:chExt cx="528507" cy="923330"/>
          </a:xfrm>
        </p:grpSpPr>
        <p:sp>
          <p:nvSpPr>
            <p:cNvPr id="48" name="Rectangle 4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8007979" y="209477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cxnSp>
        <p:nvCxnSpPr>
          <p:cNvPr id="51" name="Straight Arrow Connector 50"/>
          <p:cNvCxnSpPr>
            <a:stCxn id="50" idx="1"/>
            <a:endCxn id="49" idx="0"/>
          </p:cNvCxnSpPr>
          <p:nvPr/>
        </p:nvCxnSpPr>
        <p:spPr>
          <a:xfrm flipH="1">
            <a:off x="7487510" y="2325610"/>
            <a:ext cx="520469" cy="700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223255" y="3025873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</a:t>
            </a:r>
            <a:endParaRPr lang="en-IN" sz="2400" b="1" dirty="0"/>
          </a:p>
        </p:txBody>
      </p:sp>
      <p:grpSp>
        <p:nvGrpSpPr>
          <p:cNvPr id="53" name="Group 52"/>
          <p:cNvGrpSpPr/>
          <p:nvPr/>
        </p:nvGrpSpPr>
        <p:grpSpPr>
          <a:xfrm>
            <a:off x="6681728" y="4085303"/>
            <a:ext cx="528507" cy="923330"/>
            <a:chOff x="11276199" y="863445"/>
            <a:chExt cx="528507" cy="923330"/>
          </a:xfrm>
        </p:grpSpPr>
        <p:sp>
          <p:nvSpPr>
            <p:cNvPr id="54" name="Rectangle 5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6" name="Straight Arrow Connector 55"/>
          <p:cNvCxnSpPr>
            <a:stCxn id="52" idx="1"/>
            <a:endCxn id="55" idx="0"/>
          </p:cNvCxnSpPr>
          <p:nvPr/>
        </p:nvCxnSpPr>
        <p:spPr>
          <a:xfrm flipH="1">
            <a:off x="6945982" y="3256706"/>
            <a:ext cx="277273" cy="828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852445" y="1027576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/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41212" y="1258409"/>
            <a:ext cx="42992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, </a:t>
            </a:r>
            <a:r>
              <a:rPr lang="en-IN" sz="2100" b="1" i="1" dirty="0" smtClean="0"/>
              <a:t>b</a:t>
            </a:r>
            <a:endParaRPr lang="en-IN" sz="2100" b="1" i="1" dirty="0"/>
          </a:p>
        </p:txBody>
      </p:sp>
      <p:sp>
        <p:nvSpPr>
          <p:cNvPr id="59" name="Rectangle 58"/>
          <p:cNvSpPr/>
          <p:nvPr/>
        </p:nvSpPr>
        <p:spPr>
          <a:xfrm>
            <a:off x="5992909" y="1789958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/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3502" y="1266601"/>
            <a:ext cx="42992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, </a:t>
            </a:r>
            <a:r>
              <a:rPr lang="en-IN" sz="2100" b="1" i="1" dirty="0" smtClean="0"/>
              <a:t>c</a:t>
            </a:r>
            <a:endParaRPr lang="en-IN" sz="2100" b="1" i="1" dirty="0"/>
          </a:p>
        </p:txBody>
      </p:sp>
      <p:sp>
        <p:nvSpPr>
          <p:cNvPr id="61" name="Rectangle 60"/>
          <p:cNvSpPr/>
          <p:nvPr/>
        </p:nvSpPr>
        <p:spPr>
          <a:xfrm>
            <a:off x="5378274" y="2881875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/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08975" y="1258409"/>
            <a:ext cx="42992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, </a:t>
            </a:r>
            <a:r>
              <a:rPr lang="en-IN" sz="2100" b="1" i="1" dirty="0" smtClean="0"/>
              <a:t>d</a:t>
            </a:r>
            <a:endParaRPr lang="en-IN" sz="2100" b="1" i="1" dirty="0"/>
          </a:p>
        </p:txBody>
      </p:sp>
      <p:sp>
        <p:nvSpPr>
          <p:cNvPr id="63" name="TextBox 62"/>
          <p:cNvSpPr txBox="1"/>
          <p:nvPr/>
        </p:nvSpPr>
        <p:spPr>
          <a:xfrm>
            <a:off x="4365707" y="431613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d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3527283" y="5077540"/>
            <a:ext cx="528507" cy="923330"/>
            <a:chOff x="11276199" y="863445"/>
            <a:chExt cx="528507" cy="923330"/>
          </a:xfrm>
        </p:grpSpPr>
        <p:sp>
          <p:nvSpPr>
            <p:cNvPr id="65" name="Rectangle 64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7" name="Straight Arrow Connector 66"/>
          <p:cNvCxnSpPr>
            <a:stCxn id="63" idx="1"/>
            <a:endCxn id="66" idx="0"/>
          </p:cNvCxnSpPr>
          <p:nvPr/>
        </p:nvCxnSpPr>
        <p:spPr>
          <a:xfrm flipH="1">
            <a:off x="3791537" y="4546968"/>
            <a:ext cx="574170" cy="530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00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 animBg="1"/>
      <p:bldP spid="13" grpId="0" animBg="1"/>
      <p:bldP spid="22" grpId="0"/>
      <p:bldP spid="30" grpId="0"/>
      <p:bldP spid="32" grpId="0"/>
      <p:bldP spid="40" grpId="0"/>
      <p:bldP spid="42" grpId="0"/>
      <p:bldP spid="50" grpId="0"/>
      <p:bldP spid="52" grpId="0"/>
      <p:bldP spid="57" grpId="0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780802" y="941323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Construct a </a:t>
            </a:r>
            <a:r>
              <a:rPr lang="en-IN" dirty="0" err="1"/>
              <a:t>Trie</a:t>
            </a:r>
            <a:r>
              <a:rPr lang="en-IN" dirty="0"/>
              <a:t> data structure (1) </a:t>
            </a:r>
            <a:r>
              <a:rPr lang="en-IN" dirty="0" err="1"/>
              <a:t>abc</a:t>
            </a:r>
            <a:r>
              <a:rPr lang="en-IN" dirty="0"/>
              <a:t>, (2) </a:t>
            </a:r>
            <a:r>
              <a:rPr lang="en-IN" dirty="0" err="1"/>
              <a:t>abgl</a:t>
            </a:r>
            <a:r>
              <a:rPr lang="en-IN" dirty="0"/>
              <a:t>, (3) </a:t>
            </a:r>
            <a:r>
              <a:rPr lang="en-IN" dirty="0" err="1"/>
              <a:t>cdf</a:t>
            </a:r>
            <a:r>
              <a:rPr lang="en-IN" dirty="0"/>
              <a:t>, (4) </a:t>
            </a:r>
            <a:r>
              <a:rPr lang="en-IN" dirty="0" err="1"/>
              <a:t>abcd</a:t>
            </a:r>
            <a:r>
              <a:rPr lang="en-IN" dirty="0"/>
              <a:t>, (5) </a:t>
            </a:r>
            <a:r>
              <a:rPr lang="en-IN" dirty="0" err="1"/>
              <a:t>lmn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9760" y="736325"/>
            <a:ext cx="10663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(5) </a:t>
            </a:r>
            <a:r>
              <a:rPr lang="en-IN" sz="2400" b="1" dirty="0" err="1" smtClean="0"/>
              <a:t>lmn</a:t>
            </a:r>
            <a:endParaRPr lang="en-IN" sz="2400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5877" y="1240720"/>
            <a:ext cx="1456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59760" y="1258409"/>
            <a:ext cx="147027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(5.1) Insert </a:t>
            </a:r>
            <a:r>
              <a:rPr lang="en-IN" sz="2100" b="1" i="1" dirty="0" smtClean="0"/>
              <a:t>l</a:t>
            </a:r>
            <a:endParaRPr lang="en-IN" sz="2100" b="1" i="1" dirty="0"/>
          </a:p>
        </p:txBody>
      </p:sp>
      <p:sp>
        <p:nvSpPr>
          <p:cNvPr id="11" name="Rectangle 10"/>
          <p:cNvSpPr/>
          <p:nvPr/>
        </p:nvSpPr>
        <p:spPr>
          <a:xfrm>
            <a:off x="1477092" y="1258409"/>
            <a:ext cx="49404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, </a:t>
            </a:r>
            <a:r>
              <a:rPr lang="en-IN" sz="2100" b="1" i="1" dirty="0"/>
              <a:t>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31895" y="1248912"/>
            <a:ext cx="42832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00" i="1" dirty="0" smtClean="0"/>
              <a:t>, </a:t>
            </a:r>
            <a:r>
              <a:rPr lang="en-IN" sz="2100" b="1" i="1" dirty="0"/>
              <a:t>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80803" y="139801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3314775" y="324315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6" name="Group 15"/>
          <p:cNvGrpSpPr/>
          <p:nvPr/>
        </p:nvGrpSpPr>
        <p:grpSpPr>
          <a:xfrm>
            <a:off x="4773746" y="937511"/>
            <a:ext cx="535565" cy="1840253"/>
            <a:chOff x="1393903" y="2136670"/>
            <a:chExt cx="535565" cy="1840253"/>
          </a:xfrm>
        </p:grpSpPr>
        <p:sp>
          <p:nvSpPr>
            <p:cNvPr id="17" name="Rectangle 16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93903" y="2136670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944699" y="2203470"/>
            <a:ext cx="528507" cy="923330"/>
            <a:chOff x="11276199" y="863445"/>
            <a:chExt cx="528507" cy="923330"/>
          </a:xfrm>
        </p:grpSpPr>
        <p:sp>
          <p:nvSpPr>
            <p:cNvPr id="21" name="Rectangle 20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3" name="Straight Arrow Connector 22"/>
          <p:cNvCxnSpPr>
            <a:stCxn id="18" idx="1"/>
            <a:endCxn id="22" idx="0"/>
          </p:cNvCxnSpPr>
          <p:nvPr/>
        </p:nvCxnSpPr>
        <p:spPr>
          <a:xfrm flipH="1">
            <a:off x="4208953" y="1168344"/>
            <a:ext cx="564793" cy="10351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44697" y="220347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25" name="Straight Arrow Connector 24"/>
          <p:cNvCxnSpPr>
            <a:stCxn id="24" idx="1"/>
            <a:endCxn id="32" idx="0"/>
          </p:cNvCxnSpPr>
          <p:nvPr/>
        </p:nvCxnSpPr>
        <p:spPr>
          <a:xfrm flipH="1">
            <a:off x="3579027" y="2434303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2807846" y="4734101"/>
            <a:ext cx="528507" cy="923330"/>
            <a:chOff x="11276199" y="863445"/>
            <a:chExt cx="528507" cy="923330"/>
          </a:xfrm>
        </p:grpSpPr>
        <p:sp>
          <p:nvSpPr>
            <p:cNvPr id="27" name="Rectangle 2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314777" y="3704820"/>
            <a:ext cx="528507" cy="923330"/>
            <a:chOff x="11276199" y="1521484"/>
            <a:chExt cx="528507" cy="923330"/>
          </a:xfrm>
        </p:grpSpPr>
        <p:sp>
          <p:nvSpPr>
            <p:cNvPr id="30" name="Rectangle 29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314773" y="3243154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33" name="Straight Arrow Connector 32"/>
          <p:cNvCxnSpPr>
            <a:stCxn id="32" idx="1"/>
            <a:endCxn id="28" idx="0"/>
          </p:cNvCxnSpPr>
          <p:nvPr/>
        </p:nvCxnSpPr>
        <p:spPr>
          <a:xfrm flipH="1">
            <a:off x="3072100" y="3473987"/>
            <a:ext cx="242673" cy="1260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3624" y="371101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g</a:t>
            </a:r>
            <a:endParaRPr lang="en-IN" sz="2400" b="1" dirty="0"/>
          </a:p>
        </p:txBody>
      </p:sp>
      <p:grpSp>
        <p:nvGrpSpPr>
          <p:cNvPr id="35" name="Group 34"/>
          <p:cNvGrpSpPr/>
          <p:nvPr/>
        </p:nvGrpSpPr>
        <p:grpSpPr>
          <a:xfrm>
            <a:off x="4332894" y="4136337"/>
            <a:ext cx="528507" cy="923330"/>
            <a:chOff x="11276199" y="863445"/>
            <a:chExt cx="528507" cy="923330"/>
          </a:xfrm>
        </p:grpSpPr>
        <p:sp>
          <p:nvSpPr>
            <p:cNvPr id="36" name="Rectangle 35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8" name="Straight Arrow Connector 37"/>
          <p:cNvCxnSpPr>
            <a:stCxn id="34" idx="3"/>
            <a:endCxn id="37" idx="0"/>
          </p:cNvCxnSpPr>
          <p:nvPr/>
        </p:nvCxnSpPr>
        <p:spPr>
          <a:xfrm>
            <a:off x="3842131" y="3941850"/>
            <a:ext cx="755017" cy="194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3980676" y="5264673"/>
            <a:ext cx="528507" cy="923330"/>
            <a:chOff x="11276199" y="863445"/>
            <a:chExt cx="528507" cy="923330"/>
          </a:xfrm>
        </p:grpSpPr>
        <p:sp>
          <p:nvSpPr>
            <p:cNvPr id="40" name="Rectangle 39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4332893" y="413749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</a:t>
            </a:r>
          </a:p>
        </p:txBody>
      </p:sp>
      <p:cxnSp>
        <p:nvCxnSpPr>
          <p:cNvPr id="43" name="Straight Arrow Connector 42"/>
          <p:cNvCxnSpPr>
            <a:stCxn id="42" idx="1"/>
            <a:endCxn id="41" idx="0"/>
          </p:cNvCxnSpPr>
          <p:nvPr/>
        </p:nvCxnSpPr>
        <p:spPr>
          <a:xfrm flipH="1">
            <a:off x="4244930" y="4368331"/>
            <a:ext cx="87963" cy="896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80801" y="140148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grpSp>
        <p:nvGrpSpPr>
          <p:cNvPr id="45" name="Group 44"/>
          <p:cNvGrpSpPr/>
          <p:nvPr/>
        </p:nvGrpSpPr>
        <p:grpSpPr>
          <a:xfrm>
            <a:off x="6316016" y="2511930"/>
            <a:ext cx="528507" cy="923330"/>
            <a:chOff x="11276199" y="863445"/>
            <a:chExt cx="528507" cy="923330"/>
          </a:xfrm>
        </p:grpSpPr>
        <p:sp>
          <p:nvSpPr>
            <p:cNvPr id="46" name="Rectangle 45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8" name="Straight Arrow Connector 47"/>
          <p:cNvCxnSpPr>
            <a:stCxn id="44" idx="3"/>
            <a:endCxn id="47" idx="0"/>
          </p:cNvCxnSpPr>
          <p:nvPr/>
        </p:nvCxnSpPr>
        <p:spPr>
          <a:xfrm>
            <a:off x="5309308" y="1632314"/>
            <a:ext cx="1270962" cy="879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5667111" y="3443839"/>
            <a:ext cx="528507" cy="923330"/>
            <a:chOff x="11276199" y="863445"/>
            <a:chExt cx="528507" cy="923330"/>
          </a:xfrm>
        </p:grpSpPr>
        <p:sp>
          <p:nvSpPr>
            <p:cNvPr id="50" name="Rectangle 49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308959" y="2512742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cxnSp>
        <p:nvCxnSpPr>
          <p:cNvPr id="53" name="Straight Arrow Connector 52"/>
          <p:cNvCxnSpPr>
            <a:stCxn id="52" idx="1"/>
            <a:endCxn id="51" idx="0"/>
          </p:cNvCxnSpPr>
          <p:nvPr/>
        </p:nvCxnSpPr>
        <p:spPr>
          <a:xfrm flipH="1">
            <a:off x="5931365" y="2743575"/>
            <a:ext cx="377594" cy="700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7110" y="344383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</a:t>
            </a:r>
            <a:endParaRPr lang="en-IN" sz="2400" b="1" dirty="0"/>
          </a:p>
        </p:txBody>
      </p:sp>
      <p:grpSp>
        <p:nvGrpSpPr>
          <p:cNvPr id="55" name="Group 54"/>
          <p:cNvGrpSpPr/>
          <p:nvPr/>
        </p:nvGrpSpPr>
        <p:grpSpPr>
          <a:xfrm>
            <a:off x="5125583" y="4503268"/>
            <a:ext cx="528507" cy="923330"/>
            <a:chOff x="11276199" y="863445"/>
            <a:chExt cx="528507" cy="923330"/>
          </a:xfrm>
        </p:grpSpPr>
        <p:sp>
          <p:nvSpPr>
            <p:cNvPr id="56" name="Rectangle 55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8" name="Straight Arrow Connector 57"/>
          <p:cNvCxnSpPr>
            <a:stCxn id="54" idx="1"/>
            <a:endCxn id="57" idx="0"/>
          </p:cNvCxnSpPr>
          <p:nvPr/>
        </p:nvCxnSpPr>
        <p:spPr>
          <a:xfrm flipH="1">
            <a:off x="5389837" y="3674671"/>
            <a:ext cx="277273" cy="828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809562" y="47341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d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1971138" y="5495505"/>
            <a:ext cx="528507" cy="923330"/>
            <a:chOff x="11276199" y="863445"/>
            <a:chExt cx="528507" cy="923330"/>
          </a:xfrm>
        </p:grpSpPr>
        <p:sp>
          <p:nvSpPr>
            <p:cNvPr id="64" name="Rectangle 6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6" name="Straight Arrow Connector 65"/>
          <p:cNvCxnSpPr>
            <a:stCxn id="62" idx="1"/>
            <a:endCxn id="65" idx="0"/>
          </p:cNvCxnSpPr>
          <p:nvPr/>
        </p:nvCxnSpPr>
        <p:spPr>
          <a:xfrm flipH="1">
            <a:off x="2235392" y="4964933"/>
            <a:ext cx="574170" cy="530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773743" y="186087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l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7345319" y="2285008"/>
            <a:ext cx="528507" cy="923330"/>
            <a:chOff x="11276199" y="863445"/>
            <a:chExt cx="528507" cy="923330"/>
          </a:xfrm>
        </p:grpSpPr>
        <p:sp>
          <p:nvSpPr>
            <p:cNvPr id="75" name="Rectangle 74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77" name="Straight Arrow Connector 76"/>
          <p:cNvCxnSpPr>
            <a:stCxn id="72" idx="3"/>
            <a:endCxn id="76" idx="0"/>
          </p:cNvCxnSpPr>
          <p:nvPr/>
        </p:nvCxnSpPr>
        <p:spPr>
          <a:xfrm>
            <a:off x="5302250" y="2091708"/>
            <a:ext cx="2307323" cy="193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43920" y="228109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m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8283700" y="3117262"/>
            <a:ext cx="528507" cy="923330"/>
            <a:chOff x="11276199" y="863445"/>
            <a:chExt cx="528507" cy="923330"/>
          </a:xfrm>
        </p:grpSpPr>
        <p:sp>
          <p:nvSpPr>
            <p:cNvPr id="83" name="Rectangle 82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85" name="Straight Arrow Connector 84"/>
          <p:cNvCxnSpPr>
            <a:stCxn id="81" idx="3"/>
            <a:endCxn id="84" idx="0"/>
          </p:cNvCxnSpPr>
          <p:nvPr/>
        </p:nvCxnSpPr>
        <p:spPr>
          <a:xfrm>
            <a:off x="7872427" y="2511930"/>
            <a:ext cx="675527" cy="605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295627" y="31268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n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89" name="Group 88"/>
          <p:cNvGrpSpPr/>
          <p:nvPr/>
        </p:nvGrpSpPr>
        <p:grpSpPr>
          <a:xfrm>
            <a:off x="9220250" y="3959207"/>
            <a:ext cx="528507" cy="923330"/>
            <a:chOff x="11276199" y="863445"/>
            <a:chExt cx="528507" cy="923330"/>
          </a:xfrm>
        </p:grpSpPr>
        <p:sp>
          <p:nvSpPr>
            <p:cNvPr id="90" name="Rectangle 89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92" name="Straight Arrow Connector 91"/>
          <p:cNvCxnSpPr>
            <a:stCxn id="88" idx="3"/>
            <a:endCxn id="91" idx="0"/>
          </p:cNvCxnSpPr>
          <p:nvPr/>
        </p:nvCxnSpPr>
        <p:spPr>
          <a:xfrm>
            <a:off x="8824134" y="3357633"/>
            <a:ext cx="660370" cy="6015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55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8" grpId="0"/>
      <p:bldP spid="10" grpId="0"/>
      <p:bldP spid="11" grpId="0"/>
      <p:bldP spid="12" grpId="0"/>
      <p:bldP spid="14" grpId="0" animBg="1"/>
      <p:bldP spid="15" grpId="0" animBg="1"/>
      <p:bldP spid="24" grpId="0"/>
      <p:bldP spid="32" grpId="0"/>
      <p:bldP spid="34" grpId="0"/>
      <p:bldP spid="42" grpId="0"/>
      <p:bldP spid="44" grpId="0"/>
      <p:bldP spid="52" grpId="0"/>
      <p:bldP spid="54" grpId="0"/>
      <p:bldP spid="62" grpId="0"/>
      <p:bldP spid="72" grpId="0"/>
      <p:bldP spid="81" grpId="0"/>
      <p:bldP spid="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Search operation in </a:t>
            </a:r>
            <a:r>
              <a:rPr lang="en-IN" dirty="0" err="1" smtClean="0"/>
              <a:t>Trie</a:t>
            </a:r>
            <a:r>
              <a:rPr lang="en-IN" dirty="0" smtClean="0"/>
              <a:t> Data Structure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129802" y="903223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129803" y="135991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663775" y="320505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/>
          <p:cNvGrpSpPr/>
          <p:nvPr/>
        </p:nvGrpSpPr>
        <p:grpSpPr>
          <a:xfrm>
            <a:off x="3122746" y="899411"/>
            <a:ext cx="535565" cy="1840253"/>
            <a:chOff x="1393903" y="2136670"/>
            <a:chExt cx="535565" cy="1840253"/>
          </a:xfrm>
        </p:grpSpPr>
        <p:sp>
          <p:nvSpPr>
            <p:cNvPr id="10" name="Rectangle 9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93903" y="2136670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293699" y="2165370"/>
            <a:ext cx="528507" cy="923330"/>
            <a:chOff x="11276199" y="863445"/>
            <a:chExt cx="528507" cy="923330"/>
          </a:xfrm>
        </p:grpSpPr>
        <p:sp>
          <p:nvSpPr>
            <p:cNvPr id="14" name="Rectangle 1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Arrow Connector 15"/>
          <p:cNvCxnSpPr>
            <a:stCxn id="11" idx="1"/>
            <a:endCxn id="15" idx="0"/>
          </p:cNvCxnSpPr>
          <p:nvPr/>
        </p:nvCxnSpPr>
        <p:spPr>
          <a:xfrm flipH="1">
            <a:off x="2557953" y="1130244"/>
            <a:ext cx="564793" cy="10351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93697" y="216537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18" name="Straight Arrow Connector 17"/>
          <p:cNvCxnSpPr>
            <a:stCxn id="17" idx="1"/>
            <a:endCxn id="25" idx="0"/>
          </p:cNvCxnSpPr>
          <p:nvPr/>
        </p:nvCxnSpPr>
        <p:spPr>
          <a:xfrm flipH="1">
            <a:off x="1928027" y="2396203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1156846" y="4696001"/>
            <a:ext cx="528507" cy="923330"/>
            <a:chOff x="11276199" y="863445"/>
            <a:chExt cx="528507" cy="923330"/>
          </a:xfrm>
        </p:grpSpPr>
        <p:sp>
          <p:nvSpPr>
            <p:cNvPr id="20" name="Rectangle 19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663777" y="3666720"/>
            <a:ext cx="528507" cy="923330"/>
            <a:chOff x="11276199" y="1521484"/>
            <a:chExt cx="528507" cy="923330"/>
          </a:xfrm>
        </p:grpSpPr>
        <p:sp>
          <p:nvSpPr>
            <p:cNvPr id="23" name="Rectangle 22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663773" y="3205054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26" name="Straight Arrow Connector 25"/>
          <p:cNvCxnSpPr>
            <a:stCxn id="25" idx="1"/>
            <a:endCxn id="21" idx="0"/>
          </p:cNvCxnSpPr>
          <p:nvPr/>
        </p:nvCxnSpPr>
        <p:spPr>
          <a:xfrm flipH="1">
            <a:off x="1421100" y="3435887"/>
            <a:ext cx="242673" cy="1260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62624" y="367291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g</a:t>
            </a:r>
            <a:endParaRPr lang="en-IN" sz="2400" b="1" dirty="0"/>
          </a:p>
        </p:txBody>
      </p:sp>
      <p:grpSp>
        <p:nvGrpSpPr>
          <p:cNvPr id="28" name="Group 27"/>
          <p:cNvGrpSpPr/>
          <p:nvPr/>
        </p:nvGrpSpPr>
        <p:grpSpPr>
          <a:xfrm>
            <a:off x="2681894" y="4098237"/>
            <a:ext cx="528507" cy="923330"/>
            <a:chOff x="11276199" y="863445"/>
            <a:chExt cx="528507" cy="923330"/>
          </a:xfrm>
        </p:grpSpPr>
        <p:sp>
          <p:nvSpPr>
            <p:cNvPr id="29" name="Rectangle 2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1" name="Straight Arrow Connector 30"/>
          <p:cNvCxnSpPr>
            <a:stCxn id="27" idx="3"/>
            <a:endCxn id="30" idx="0"/>
          </p:cNvCxnSpPr>
          <p:nvPr/>
        </p:nvCxnSpPr>
        <p:spPr>
          <a:xfrm>
            <a:off x="2191131" y="3903750"/>
            <a:ext cx="755017" cy="194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2329676" y="5226573"/>
            <a:ext cx="528507" cy="923330"/>
            <a:chOff x="11276199" y="863445"/>
            <a:chExt cx="528507" cy="923330"/>
          </a:xfrm>
        </p:grpSpPr>
        <p:sp>
          <p:nvSpPr>
            <p:cNvPr id="33" name="Rectangle 32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681893" y="409939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</a:t>
            </a:r>
          </a:p>
        </p:txBody>
      </p:sp>
      <p:cxnSp>
        <p:nvCxnSpPr>
          <p:cNvPr id="36" name="Straight Arrow Connector 35"/>
          <p:cNvCxnSpPr>
            <a:stCxn id="35" idx="1"/>
            <a:endCxn id="34" idx="0"/>
          </p:cNvCxnSpPr>
          <p:nvPr/>
        </p:nvCxnSpPr>
        <p:spPr>
          <a:xfrm flipH="1">
            <a:off x="2593930" y="4330231"/>
            <a:ext cx="87963" cy="896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129801" y="136338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grpSp>
        <p:nvGrpSpPr>
          <p:cNvPr id="38" name="Group 37"/>
          <p:cNvGrpSpPr/>
          <p:nvPr/>
        </p:nvGrpSpPr>
        <p:grpSpPr>
          <a:xfrm>
            <a:off x="4665016" y="2473830"/>
            <a:ext cx="528507" cy="923330"/>
            <a:chOff x="11276199" y="863445"/>
            <a:chExt cx="528507" cy="923330"/>
          </a:xfrm>
        </p:grpSpPr>
        <p:sp>
          <p:nvSpPr>
            <p:cNvPr id="39" name="Rectangle 3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1" name="Straight Arrow Connector 40"/>
          <p:cNvCxnSpPr>
            <a:stCxn id="37" idx="3"/>
            <a:endCxn id="40" idx="0"/>
          </p:cNvCxnSpPr>
          <p:nvPr/>
        </p:nvCxnSpPr>
        <p:spPr>
          <a:xfrm>
            <a:off x="3658308" y="1594214"/>
            <a:ext cx="1270962" cy="879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4016111" y="3405739"/>
            <a:ext cx="528507" cy="923330"/>
            <a:chOff x="11276199" y="863445"/>
            <a:chExt cx="528507" cy="923330"/>
          </a:xfrm>
        </p:grpSpPr>
        <p:sp>
          <p:nvSpPr>
            <p:cNvPr id="43" name="Rectangle 42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4657959" y="2474642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cxnSp>
        <p:nvCxnSpPr>
          <p:cNvPr id="46" name="Straight Arrow Connector 45"/>
          <p:cNvCxnSpPr>
            <a:stCxn id="45" idx="1"/>
            <a:endCxn id="44" idx="0"/>
          </p:cNvCxnSpPr>
          <p:nvPr/>
        </p:nvCxnSpPr>
        <p:spPr>
          <a:xfrm flipH="1">
            <a:off x="4280365" y="2705475"/>
            <a:ext cx="377594" cy="700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016110" y="340573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</a:t>
            </a:r>
            <a:endParaRPr lang="en-IN" sz="2400" b="1" dirty="0"/>
          </a:p>
        </p:txBody>
      </p:sp>
      <p:grpSp>
        <p:nvGrpSpPr>
          <p:cNvPr id="48" name="Group 47"/>
          <p:cNvGrpSpPr/>
          <p:nvPr/>
        </p:nvGrpSpPr>
        <p:grpSpPr>
          <a:xfrm>
            <a:off x="3474583" y="4465168"/>
            <a:ext cx="528507" cy="923330"/>
            <a:chOff x="11276199" y="863445"/>
            <a:chExt cx="528507" cy="923330"/>
          </a:xfrm>
        </p:grpSpPr>
        <p:sp>
          <p:nvSpPr>
            <p:cNvPr id="49" name="Rectangle 4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1" name="Straight Arrow Connector 50"/>
          <p:cNvCxnSpPr>
            <a:stCxn id="47" idx="1"/>
            <a:endCxn id="50" idx="0"/>
          </p:cNvCxnSpPr>
          <p:nvPr/>
        </p:nvCxnSpPr>
        <p:spPr>
          <a:xfrm flipH="1">
            <a:off x="3738837" y="3636571"/>
            <a:ext cx="277273" cy="828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58562" y="46960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d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320138" y="5457405"/>
            <a:ext cx="528507" cy="923330"/>
            <a:chOff x="11276199" y="863445"/>
            <a:chExt cx="528507" cy="923330"/>
          </a:xfrm>
        </p:grpSpPr>
        <p:sp>
          <p:nvSpPr>
            <p:cNvPr id="54" name="Rectangle 5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6" name="Straight Arrow Connector 55"/>
          <p:cNvCxnSpPr>
            <a:stCxn id="52" idx="1"/>
            <a:endCxn id="55" idx="0"/>
          </p:cNvCxnSpPr>
          <p:nvPr/>
        </p:nvCxnSpPr>
        <p:spPr>
          <a:xfrm flipH="1">
            <a:off x="584392" y="4926833"/>
            <a:ext cx="574170" cy="530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122743" y="182277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l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5694319" y="2246908"/>
            <a:ext cx="528507" cy="923330"/>
            <a:chOff x="11276199" y="863445"/>
            <a:chExt cx="528507" cy="923330"/>
          </a:xfrm>
        </p:grpSpPr>
        <p:sp>
          <p:nvSpPr>
            <p:cNvPr id="59" name="Rectangle 5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1" name="Straight Arrow Connector 60"/>
          <p:cNvCxnSpPr>
            <a:stCxn id="57" idx="3"/>
            <a:endCxn id="60" idx="0"/>
          </p:cNvCxnSpPr>
          <p:nvPr/>
        </p:nvCxnSpPr>
        <p:spPr>
          <a:xfrm>
            <a:off x="3651250" y="2053608"/>
            <a:ext cx="2307323" cy="193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692920" y="224299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m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6632700" y="3079162"/>
            <a:ext cx="528507" cy="923330"/>
            <a:chOff x="11276199" y="863445"/>
            <a:chExt cx="528507" cy="923330"/>
          </a:xfrm>
        </p:grpSpPr>
        <p:sp>
          <p:nvSpPr>
            <p:cNvPr id="64" name="Rectangle 6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6" name="Straight Arrow Connector 65"/>
          <p:cNvCxnSpPr>
            <a:stCxn id="62" idx="3"/>
            <a:endCxn id="65" idx="0"/>
          </p:cNvCxnSpPr>
          <p:nvPr/>
        </p:nvCxnSpPr>
        <p:spPr>
          <a:xfrm>
            <a:off x="6221427" y="2473830"/>
            <a:ext cx="675527" cy="605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644627" y="30887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n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7569250" y="3921107"/>
            <a:ext cx="528507" cy="923330"/>
            <a:chOff x="11276199" y="863445"/>
            <a:chExt cx="528507" cy="923330"/>
          </a:xfrm>
        </p:grpSpPr>
        <p:sp>
          <p:nvSpPr>
            <p:cNvPr id="69" name="Rectangle 6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71" name="Straight Arrow Connector 70"/>
          <p:cNvCxnSpPr>
            <a:stCxn id="67" idx="3"/>
            <a:endCxn id="70" idx="0"/>
          </p:cNvCxnSpPr>
          <p:nvPr/>
        </p:nvCxnSpPr>
        <p:spPr>
          <a:xfrm>
            <a:off x="7173134" y="3319533"/>
            <a:ext cx="660370" cy="6015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698109" y="946962"/>
            <a:ext cx="1851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Prefix Search</a:t>
            </a:r>
            <a:endParaRPr lang="en-IN" sz="2400" b="1" dirty="0"/>
          </a:p>
        </p:txBody>
      </p:sp>
      <p:grpSp>
        <p:nvGrpSpPr>
          <p:cNvPr id="102" name="Group 101"/>
          <p:cNvGrpSpPr/>
          <p:nvPr/>
        </p:nvGrpSpPr>
        <p:grpSpPr>
          <a:xfrm>
            <a:off x="9296400" y="1443267"/>
            <a:ext cx="2692400" cy="444500"/>
            <a:chOff x="9296400" y="1443267"/>
            <a:chExt cx="2692400" cy="444500"/>
          </a:xfrm>
        </p:grpSpPr>
        <p:sp>
          <p:nvSpPr>
            <p:cNvPr id="85" name="Rectangle 84"/>
            <p:cNvSpPr/>
            <p:nvPr/>
          </p:nvSpPr>
          <p:spPr>
            <a:xfrm>
              <a:off x="9296400" y="1443267"/>
              <a:ext cx="1346200" cy="444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 smtClean="0"/>
                <a:t>Word</a:t>
              </a:r>
              <a:endParaRPr lang="en-IN" sz="2400" b="1" dirty="0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0642600" y="1443267"/>
              <a:ext cx="1346200" cy="444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 smtClean="0"/>
                <a:t>Result</a:t>
              </a:r>
              <a:endParaRPr lang="en-IN" sz="2400" b="1" dirty="0"/>
            </a:p>
          </p:txBody>
        </p:sp>
      </p:grpSp>
      <p:sp>
        <p:nvSpPr>
          <p:cNvPr id="87" name="Rectangle 86"/>
          <p:cNvSpPr/>
          <p:nvPr/>
        </p:nvSpPr>
        <p:spPr>
          <a:xfrm>
            <a:off x="9296400" y="1873015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ab</a:t>
            </a:r>
            <a:endParaRPr lang="en-IN" sz="2400" dirty="0"/>
          </a:p>
        </p:txBody>
      </p:sp>
      <p:sp>
        <p:nvSpPr>
          <p:cNvPr id="88" name="Rectangle 87"/>
          <p:cNvSpPr/>
          <p:nvPr/>
        </p:nvSpPr>
        <p:spPr>
          <a:xfrm>
            <a:off x="10642600" y="1873015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chemeClr val="accent3">
                    <a:lumMod val="75000"/>
                  </a:schemeClr>
                </a:solidFill>
              </a:rPr>
              <a:t>True</a:t>
            </a:r>
            <a:endParaRPr lang="en-IN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296400" y="2317515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lo</a:t>
            </a:r>
            <a:endParaRPr lang="en-IN" sz="2400" dirty="0"/>
          </a:p>
        </p:txBody>
      </p:sp>
      <p:sp>
        <p:nvSpPr>
          <p:cNvPr id="90" name="Rectangle 89"/>
          <p:cNvSpPr/>
          <p:nvPr/>
        </p:nvSpPr>
        <p:spPr>
          <a:xfrm>
            <a:off x="10642600" y="2317515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chemeClr val="accent6">
                    <a:lumMod val="75000"/>
                  </a:schemeClr>
                </a:solidFill>
              </a:rPr>
              <a:t>False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698109" y="2909287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Whole Search</a:t>
            </a:r>
            <a:endParaRPr lang="en-IN" sz="2400" b="1" dirty="0"/>
          </a:p>
        </p:txBody>
      </p:sp>
      <p:grpSp>
        <p:nvGrpSpPr>
          <p:cNvPr id="103" name="Group 102"/>
          <p:cNvGrpSpPr/>
          <p:nvPr/>
        </p:nvGrpSpPr>
        <p:grpSpPr>
          <a:xfrm>
            <a:off x="9296400" y="3405592"/>
            <a:ext cx="2692400" cy="444500"/>
            <a:chOff x="9296400" y="3405592"/>
            <a:chExt cx="2692400" cy="444500"/>
          </a:xfrm>
        </p:grpSpPr>
        <p:sp>
          <p:nvSpPr>
            <p:cNvPr id="92" name="Rectangle 91"/>
            <p:cNvSpPr/>
            <p:nvPr/>
          </p:nvSpPr>
          <p:spPr>
            <a:xfrm>
              <a:off x="9296400" y="3405592"/>
              <a:ext cx="1346200" cy="444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 smtClean="0"/>
                <a:t>Word</a:t>
              </a:r>
              <a:endParaRPr lang="en-IN" sz="2400" b="1" dirty="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642600" y="3405592"/>
              <a:ext cx="1346200" cy="444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 smtClean="0"/>
                <a:t>Result</a:t>
              </a:r>
              <a:endParaRPr lang="en-IN" sz="2400" b="1" dirty="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9296400" y="3835340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err="1" smtClean="0"/>
              <a:t>lmn</a:t>
            </a:r>
            <a:endParaRPr lang="en-IN" sz="2400" dirty="0"/>
          </a:p>
        </p:txBody>
      </p:sp>
      <p:sp>
        <p:nvSpPr>
          <p:cNvPr id="95" name="Rectangle 94"/>
          <p:cNvSpPr/>
          <p:nvPr/>
        </p:nvSpPr>
        <p:spPr>
          <a:xfrm>
            <a:off x="10642600" y="3835340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chemeClr val="accent3">
                    <a:lumMod val="75000"/>
                  </a:schemeClr>
                </a:solidFill>
              </a:rPr>
              <a:t>True</a:t>
            </a:r>
            <a:endParaRPr lang="en-IN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9296400" y="4279840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ab</a:t>
            </a:r>
            <a:endParaRPr lang="en-IN" sz="2400" dirty="0"/>
          </a:p>
        </p:txBody>
      </p:sp>
      <p:sp>
        <p:nvSpPr>
          <p:cNvPr id="97" name="Rectangle 96"/>
          <p:cNvSpPr/>
          <p:nvPr/>
        </p:nvSpPr>
        <p:spPr>
          <a:xfrm>
            <a:off x="10642600" y="4279840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chemeClr val="accent6">
                    <a:lumMod val="75000"/>
                  </a:schemeClr>
                </a:solidFill>
              </a:rPr>
              <a:t>False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9296400" y="4724340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err="1" smtClean="0"/>
              <a:t>cdf</a:t>
            </a:r>
            <a:endParaRPr lang="en-IN" sz="2400" dirty="0"/>
          </a:p>
        </p:txBody>
      </p:sp>
      <p:sp>
        <p:nvSpPr>
          <p:cNvPr id="99" name="Rectangle 98"/>
          <p:cNvSpPr/>
          <p:nvPr/>
        </p:nvSpPr>
        <p:spPr>
          <a:xfrm>
            <a:off x="10642600" y="4724340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</a:rPr>
              <a:t>True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9296400" y="5154088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err="1" smtClean="0"/>
              <a:t>ghi</a:t>
            </a:r>
            <a:endParaRPr lang="en-IN" sz="2400" dirty="0"/>
          </a:p>
        </p:txBody>
      </p:sp>
      <p:sp>
        <p:nvSpPr>
          <p:cNvPr id="101" name="Rectangle 100"/>
          <p:cNvSpPr/>
          <p:nvPr/>
        </p:nvSpPr>
        <p:spPr>
          <a:xfrm>
            <a:off x="10642600" y="5154088"/>
            <a:ext cx="1346200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03586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87" grpId="0" animBg="1"/>
      <p:bldP spid="88" grpId="0" animBg="1"/>
      <p:bldP spid="89" grpId="0" animBg="1"/>
      <p:bldP spid="90" grpId="0" animBg="1"/>
      <p:bldP spid="91" grpId="0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Delete from </a:t>
            </a:r>
            <a:r>
              <a:rPr lang="en-IN" dirty="0" err="1" smtClean="0"/>
              <a:t>Trie</a:t>
            </a:r>
            <a:r>
              <a:rPr lang="en-IN" dirty="0" smtClean="0"/>
              <a:t> Data Structure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129802" y="903223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129803" y="135991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663775" y="320505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/>
          <p:cNvGrpSpPr/>
          <p:nvPr/>
        </p:nvGrpSpPr>
        <p:grpSpPr>
          <a:xfrm>
            <a:off x="3122746" y="899411"/>
            <a:ext cx="535565" cy="1840253"/>
            <a:chOff x="1393903" y="2136670"/>
            <a:chExt cx="535565" cy="1840253"/>
          </a:xfrm>
        </p:grpSpPr>
        <p:sp>
          <p:nvSpPr>
            <p:cNvPr id="8" name="Rectangle 7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93903" y="2136670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93699" y="2165370"/>
            <a:ext cx="528507" cy="923330"/>
            <a:chOff x="11276199" y="863445"/>
            <a:chExt cx="528507" cy="923330"/>
          </a:xfrm>
        </p:grpSpPr>
        <p:sp>
          <p:nvSpPr>
            <p:cNvPr id="12" name="Rectangle 1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4" name="Straight Arrow Connector 13"/>
          <p:cNvCxnSpPr>
            <a:stCxn id="9" idx="1"/>
            <a:endCxn id="13" idx="0"/>
          </p:cNvCxnSpPr>
          <p:nvPr/>
        </p:nvCxnSpPr>
        <p:spPr>
          <a:xfrm flipH="1">
            <a:off x="2557953" y="1130244"/>
            <a:ext cx="564793" cy="10351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93697" y="216537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16" name="Straight Arrow Connector 15"/>
          <p:cNvCxnSpPr>
            <a:stCxn id="15" idx="1"/>
            <a:endCxn id="23" idx="0"/>
          </p:cNvCxnSpPr>
          <p:nvPr/>
        </p:nvCxnSpPr>
        <p:spPr>
          <a:xfrm flipH="1">
            <a:off x="1928027" y="2396203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1156846" y="4696001"/>
            <a:ext cx="528507" cy="923330"/>
            <a:chOff x="11276199" y="863445"/>
            <a:chExt cx="528507" cy="923330"/>
          </a:xfrm>
        </p:grpSpPr>
        <p:sp>
          <p:nvSpPr>
            <p:cNvPr id="18" name="Rectangle 1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663777" y="3666720"/>
            <a:ext cx="528507" cy="923330"/>
            <a:chOff x="11276199" y="1521484"/>
            <a:chExt cx="528507" cy="923330"/>
          </a:xfrm>
        </p:grpSpPr>
        <p:sp>
          <p:nvSpPr>
            <p:cNvPr id="21" name="Rectangle 20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663773" y="3205054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24" name="Straight Arrow Connector 23"/>
          <p:cNvCxnSpPr>
            <a:stCxn id="23" idx="1"/>
            <a:endCxn id="19" idx="0"/>
          </p:cNvCxnSpPr>
          <p:nvPr/>
        </p:nvCxnSpPr>
        <p:spPr>
          <a:xfrm flipH="1">
            <a:off x="1421100" y="3435887"/>
            <a:ext cx="242673" cy="1260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62624" y="367291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g</a:t>
            </a:r>
            <a:endParaRPr lang="en-IN" sz="2400" b="1" dirty="0"/>
          </a:p>
        </p:txBody>
      </p:sp>
      <p:grpSp>
        <p:nvGrpSpPr>
          <p:cNvPr id="26" name="Group 25"/>
          <p:cNvGrpSpPr/>
          <p:nvPr/>
        </p:nvGrpSpPr>
        <p:grpSpPr>
          <a:xfrm>
            <a:off x="2681894" y="4098237"/>
            <a:ext cx="528507" cy="923330"/>
            <a:chOff x="11276199" y="863445"/>
            <a:chExt cx="528507" cy="923330"/>
          </a:xfrm>
        </p:grpSpPr>
        <p:sp>
          <p:nvSpPr>
            <p:cNvPr id="27" name="Rectangle 2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9" name="Straight Arrow Connector 28"/>
          <p:cNvCxnSpPr>
            <a:stCxn id="25" idx="3"/>
            <a:endCxn id="28" idx="0"/>
          </p:cNvCxnSpPr>
          <p:nvPr/>
        </p:nvCxnSpPr>
        <p:spPr>
          <a:xfrm>
            <a:off x="2191131" y="3903750"/>
            <a:ext cx="755017" cy="194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2329676" y="5226573"/>
            <a:ext cx="528507" cy="923330"/>
            <a:chOff x="11276199" y="863445"/>
            <a:chExt cx="528507" cy="923330"/>
          </a:xfrm>
        </p:grpSpPr>
        <p:sp>
          <p:nvSpPr>
            <p:cNvPr id="31" name="Rectangle 30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681893" y="409939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</a:t>
            </a:r>
          </a:p>
        </p:txBody>
      </p:sp>
      <p:cxnSp>
        <p:nvCxnSpPr>
          <p:cNvPr id="34" name="Straight Arrow Connector 33"/>
          <p:cNvCxnSpPr>
            <a:stCxn id="33" idx="1"/>
            <a:endCxn id="32" idx="0"/>
          </p:cNvCxnSpPr>
          <p:nvPr/>
        </p:nvCxnSpPr>
        <p:spPr>
          <a:xfrm flipH="1">
            <a:off x="2593930" y="4330231"/>
            <a:ext cx="87963" cy="896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129801" y="136338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grpSp>
        <p:nvGrpSpPr>
          <p:cNvPr id="36" name="Group 35"/>
          <p:cNvGrpSpPr/>
          <p:nvPr/>
        </p:nvGrpSpPr>
        <p:grpSpPr>
          <a:xfrm>
            <a:off x="4665016" y="2473830"/>
            <a:ext cx="528507" cy="923330"/>
            <a:chOff x="11276199" y="863445"/>
            <a:chExt cx="528507" cy="923330"/>
          </a:xfrm>
        </p:grpSpPr>
        <p:sp>
          <p:nvSpPr>
            <p:cNvPr id="37" name="Rectangle 3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9" name="Straight Arrow Connector 38"/>
          <p:cNvCxnSpPr>
            <a:stCxn id="35" idx="3"/>
            <a:endCxn id="38" idx="0"/>
          </p:cNvCxnSpPr>
          <p:nvPr/>
        </p:nvCxnSpPr>
        <p:spPr>
          <a:xfrm>
            <a:off x="3658308" y="1594214"/>
            <a:ext cx="1270962" cy="879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4016111" y="3405739"/>
            <a:ext cx="528507" cy="923330"/>
            <a:chOff x="11276199" y="863445"/>
            <a:chExt cx="528507" cy="923330"/>
          </a:xfrm>
        </p:grpSpPr>
        <p:sp>
          <p:nvSpPr>
            <p:cNvPr id="41" name="Rectangle 40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657959" y="2474642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cxnSp>
        <p:nvCxnSpPr>
          <p:cNvPr id="44" name="Straight Arrow Connector 43"/>
          <p:cNvCxnSpPr>
            <a:stCxn id="43" idx="1"/>
            <a:endCxn id="42" idx="0"/>
          </p:cNvCxnSpPr>
          <p:nvPr/>
        </p:nvCxnSpPr>
        <p:spPr>
          <a:xfrm flipH="1">
            <a:off x="4280365" y="2705475"/>
            <a:ext cx="377594" cy="700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016110" y="340573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</a:t>
            </a:r>
            <a:endParaRPr lang="en-IN" sz="2400" b="1" dirty="0"/>
          </a:p>
        </p:txBody>
      </p:sp>
      <p:grpSp>
        <p:nvGrpSpPr>
          <p:cNvPr id="46" name="Group 45"/>
          <p:cNvGrpSpPr/>
          <p:nvPr/>
        </p:nvGrpSpPr>
        <p:grpSpPr>
          <a:xfrm>
            <a:off x="3474583" y="4465168"/>
            <a:ext cx="528507" cy="923330"/>
            <a:chOff x="11276199" y="863445"/>
            <a:chExt cx="528507" cy="923330"/>
          </a:xfrm>
        </p:grpSpPr>
        <p:sp>
          <p:nvSpPr>
            <p:cNvPr id="47" name="Rectangle 4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9" name="Straight Arrow Connector 48"/>
          <p:cNvCxnSpPr>
            <a:stCxn id="45" idx="1"/>
            <a:endCxn id="48" idx="0"/>
          </p:cNvCxnSpPr>
          <p:nvPr/>
        </p:nvCxnSpPr>
        <p:spPr>
          <a:xfrm flipH="1">
            <a:off x="3738837" y="3636571"/>
            <a:ext cx="277273" cy="828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58562" y="46960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grpSp>
        <p:nvGrpSpPr>
          <p:cNvPr id="51" name="Group 50"/>
          <p:cNvGrpSpPr/>
          <p:nvPr/>
        </p:nvGrpSpPr>
        <p:grpSpPr>
          <a:xfrm>
            <a:off x="320138" y="5457405"/>
            <a:ext cx="528507" cy="923330"/>
            <a:chOff x="11276199" y="863445"/>
            <a:chExt cx="528507" cy="923330"/>
          </a:xfrm>
        </p:grpSpPr>
        <p:sp>
          <p:nvSpPr>
            <p:cNvPr id="52" name="Rectangle 5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4" name="Straight Arrow Connector 53"/>
          <p:cNvCxnSpPr>
            <a:stCxn id="50" idx="1"/>
            <a:endCxn id="53" idx="0"/>
          </p:cNvCxnSpPr>
          <p:nvPr/>
        </p:nvCxnSpPr>
        <p:spPr>
          <a:xfrm flipH="1">
            <a:off x="584392" y="4926833"/>
            <a:ext cx="574170" cy="530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122743" y="182277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l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5694319" y="2246908"/>
            <a:ext cx="528507" cy="923330"/>
            <a:chOff x="11276199" y="863445"/>
            <a:chExt cx="528507" cy="923330"/>
          </a:xfrm>
        </p:grpSpPr>
        <p:sp>
          <p:nvSpPr>
            <p:cNvPr id="57" name="Rectangle 5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9" name="Straight Arrow Connector 58"/>
          <p:cNvCxnSpPr>
            <a:stCxn id="55" idx="3"/>
            <a:endCxn id="58" idx="0"/>
          </p:cNvCxnSpPr>
          <p:nvPr/>
        </p:nvCxnSpPr>
        <p:spPr>
          <a:xfrm>
            <a:off x="3651250" y="2053608"/>
            <a:ext cx="2307323" cy="193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92920" y="224299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m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6632700" y="3079162"/>
            <a:ext cx="528507" cy="923330"/>
            <a:chOff x="11276199" y="863445"/>
            <a:chExt cx="528507" cy="923330"/>
          </a:xfrm>
        </p:grpSpPr>
        <p:sp>
          <p:nvSpPr>
            <p:cNvPr id="62" name="Rectangle 6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4" name="Straight Arrow Connector 63"/>
          <p:cNvCxnSpPr>
            <a:stCxn id="60" idx="3"/>
            <a:endCxn id="63" idx="0"/>
          </p:cNvCxnSpPr>
          <p:nvPr/>
        </p:nvCxnSpPr>
        <p:spPr>
          <a:xfrm>
            <a:off x="6221427" y="2473830"/>
            <a:ext cx="675527" cy="605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644627" y="30887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n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7569250" y="3921107"/>
            <a:ext cx="528507" cy="923330"/>
            <a:chOff x="11276199" y="863445"/>
            <a:chExt cx="528507" cy="923330"/>
          </a:xfrm>
        </p:grpSpPr>
        <p:sp>
          <p:nvSpPr>
            <p:cNvPr id="67" name="Rectangle 6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9" name="Straight Arrow Connector 68"/>
          <p:cNvCxnSpPr>
            <a:stCxn id="65" idx="3"/>
            <a:endCxn id="68" idx="0"/>
          </p:cNvCxnSpPr>
          <p:nvPr/>
        </p:nvCxnSpPr>
        <p:spPr>
          <a:xfrm>
            <a:off x="7173134" y="3319533"/>
            <a:ext cx="660370" cy="6015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698109" y="946962"/>
            <a:ext cx="1821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Delete Words</a:t>
            </a:r>
            <a:endParaRPr lang="en-IN" sz="2400" b="1" dirty="0"/>
          </a:p>
        </p:txBody>
      </p:sp>
      <p:sp>
        <p:nvSpPr>
          <p:cNvPr id="71" name="Rectangle 70"/>
          <p:cNvSpPr/>
          <p:nvPr/>
        </p:nvSpPr>
        <p:spPr>
          <a:xfrm>
            <a:off x="9698109" y="1495250"/>
            <a:ext cx="1821332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err="1" smtClean="0"/>
              <a:t>abc</a:t>
            </a:r>
            <a:endParaRPr lang="en-IN" sz="2400" dirty="0"/>
          </a:p>
        </p:txBody>
      </p:sp>
      <p:sp>
        <p:nvSpPr>
          <p:cNvPr id="72" name="Rectangle 71"/>
          <p:cNvSpPr/>
          <p:nvPr/>
        </p:nvSpPr>
        <p:spPr>
          <a:xfrm>
            <a:off x="1156846" y="5157819"/>
            <a:ext cx="528507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b="1" dirty="0" smtClean="0">
                <a:solidFill>
                  <a:schemeClr val="bg1"/>
                </a:solidFill>
              </a:rPr>
              <a:t>F</a:t>
            </a:r>
            <a:endParaRPr lang="en-IN" sz="2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50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 animBg="1"/>
      <p:bldP spid="7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from </a:t>
            </a:r>
            <a:r>
              <a:rPr lang="en-IN" dirty="0" err="1"/>
              <a:t>Trie</a:t>
            </a:r>
            <a:r>
              <a:rPr lang="en-IN" dirty="0"/>
              <a:t> Data </a:t>
            </a:r>
            <a:r>
              <a:rPr lang="en-IN" dirty="0" smtClean="0"/>
              <a:t>Structure Cont.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129802" y="903223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129803" y="135991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663775" y="320505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/>
          <p:cNvGrpSpPr/>
          <p:nvPr/>
        </p:nvGrpSpPr>
        <p:grpSpPr>
          <a:xfrm>
            <a:off x="3122746" y="899411"/>
            <a:ext cx="535565" cy="1840253"/>
            <a:chOff x="1393903" y="2136670"/>
            <a:chExt cx="535565" cy="1840253"/>
          </a:xfrm>
        </p:grpSpPr>
        <p:sp>
          <p:nvSpPr>
            <p:cNvPr id="8" name="Rectangle 7"/>
            <p:cNvSpPr/>
            <p:nvPr/>
          </p:nvSpPr>
          <p:spPr>
            <a:xfrm>
              <a:off x="1400961" y="3053593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93903" y="2136670"/>
              <a:ext cx="528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 smtClean="0"/>
                <a:t>a</a:t>
              </a:r>
              <a:endParaRPr lang="en-IN" sz="2400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400960" y="3515258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93699" y="2165370"/>
            <a:ext cx="528507" cy="923330"/>
            <a:chOff x="11276199" y="863445"/>
            <a:chExt cx="528507" cy="923330"/>
          </a:xfrm>
        </p:grpSpPr>
        <p:sp>
          <p:nvSpPr>
            <p:cNvPr id="12" name="Rectangle 1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4" name="Straight Arrow Connector 13"/>
          <p:cNvCxnSpPr>
            <a:stCxn id="9" idx="1"/>
            <a:endCxn id="13" idx="0"/>
          </p:cNvCxnSpPr>
          <p:nvPr/>
        </p:nvCxnSpPr>
        <p:spPr>
          <a:xfrm flipH="1">
            <a:off x="2557953" y="1130244"/>
            <a:ext cx="564793" cy="10351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93697" y="216537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16" name="Straight Arrow Connector 15"/>
          <p:cNvCxnSpPr>
            <a:stCxn id="15" idx="1"/>
            <a:endCxn id="23" idx="0"/>
          </p:cNvCxnSpPr>
          <p:nvPr/>
        </p:nvCxnSpPr>
        <p:spPr>
          <a:xfrm flipH="1">
            <a:off x="1928027" y="2396203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1156846" y="4696001"/>
            <a:ext cx="528507" cy="923330"/>
            <a:chOff x="11276199" y="863445"/>
            <a:chExt cx="528507" cy="923330"/>
          </a:xfrm>
        </p:grpSpPr>
        <p:sp>
          <p:nvSpPr>
            <p:cNvPr id="18" name="Rectangle 1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663777" y="3666720"/>
            <a:ext cx="528507" cy="923330"/>
            <a:chOff x="11276199" y="1521484"/>
            <a:chExt cx="528507" cy="923330"/>
          </a:xfrm>
        </p:grpSpPr>
        <p:sp>
          <p:nvSpPr>
            <p:cNvPr id="21" name="Rectangle 20"/>
            <p:cNvSpPr/>
            <p:nvPr/>
          </p:nvSpPr>
          <p:spPr>
            <a:xfrm>
              <a:off x="11276199" y="1983149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1276199" y="1521484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663773" y="3205054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24" name="Straight Arrow Connector 23"/>
          <p:cNvCxnSpPr>
            <a:stCxn id="23" idx="1"/>
            <a:endCxn id="19" idx="0"/>
          </p:cNvCxnSpPr>
          <p:nvPr/>
        </p:nvCxnSpPr>
        <p:spPr>
          <a:xfrm flipH="1">
            <a:off x="1421100" y="3435887"/>
            <a:ext cx="242673" cy="1260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65810" y="3666719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g</a:t>
            </a:r>
            <a:endParaRPr lang="en-IN" sz="2400" b="1" dirty="0"/>
          </a:p>
        </p:txBody>
      </p:sp>
      <p:grpSp>
        <p:nvGrpSpPr>
          <p:cNvPr id="26" name="Group 25"/>
          <p:cNvGrpSpPr/>
          <p:nvPr/>
        </p:nvGrpSpPr>
        <p:grpSpPr>
          <a:xfrm>
            <a:off x="2681894" y="4098237"/>
            <a:ext cx="528507" cy="923330"/>
            <a:chOff x="11276199" y="863445"/>
            <a:chExt cx="528507" cy="923330"/>
          </a:xfrm>
        </p:grpSpPr>
        <p:sp>
          <p:nvSpPr>
            <p:cNvPr id="27" name="Rectangle 2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9" name="Straight Arrow Connector 28"/>
          <p:cNvCxnSpPr>
            <a:stCxn id="25" idx="3"/>
            <a:endCxn id="28" idx="0"/>
          </p:cNvCxnSpPr>
          <p:nvPr/>
        </p:nvCxnSpPr>
        <p:spPr>
          <a:xfrm>
            <a:off x="2194317" y="3897552"/>
            <a:ext cx="751831" cy="2006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2329676" y="5226573"/>
            <a:ext cx="528507" cy="923330"/>
            <a:chOff x="11276199" y="863445"/>
            <a:chExt cx="528507" cy="923330"/>
          </a:xfrm>
        </p:grpSpPr>
        <p:sp>
          <p:nvSpPr>
            <p:cNvPr id="31" name="Rectangle 30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T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681893" y="409939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</a:t>
            </a:r>
          </a:p>
        </p:txBody>
      </p:sp>
      <p:cxnSp>
        <p:nvCxnSpPr>
          <p:cNvPr id="34" name="Straight Arrow Connector 33"/>
          <p:cNvCxnSpPr>
            <a:stCxn id="33" idx="1"/>
            <a:endCxn id="32" idx="0"/>
          </p:cNvCxnSpPr>
          <p:nvPr/>
        </p:nvCxnSpPr>
        <p:spPr>
          <a:xfrm flipH="1">
            <a:off x="2593930" y="4330231"/>
            <a:ext cx="87963" cy="896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129801" y="136338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grpSp>
        <p:nvGrpSpPr>
          <p:cNvPr id="36" name="Group 35"/>
          <p:cNvGrpSpPr/>
          <p:nvPr/>
        </p:nvGrpSpPr>
        <p:grpSpPr>
          <a:xfrm>
            <a:off x="4665016" y="2473830"/>
            <a:ext cx="528507" cy="923330"/>
            <a:chOff x="11276199" y="863445"/>
            <a:chExt cx="528507" cy="923330"/>
          </a:xfrm>
        </p:grpSpPr>
        <p:sp>
          <p:nvSpPr>
            <p:cNvPr id="37" name="Rectangle 3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9" name="Straight Arrow Connector 38"/>
          <p:cNvCxnSpPr>
            <a:stCxn id="35" idx="3"/>
            <a:endCxn id="38" idx="0"/>
          </p:cNvCxnSpPr>
          <p:nvPr/>
        </p:nvCxnSpPr>
        <p:spPr>
          <a:xfrm>
            <a:off x="3658308" y="1594214"/>
            <a:ext cx="1270962" cy="879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4016111" y="3405739"/>
            <a:ext cx="528507" cy="923330"/>
            <a:chOff x="11276199" y="863445"/>
            <a:chExt cx="528507" cy="923330"/>
          </a:xfrm>
        </p:grpSpPr>
        <p:sp>
          <p:nvSpPr>
            <p:cNvPr id="41" name="Rectangle 40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657959" y="2474642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cxnSp>
        <p:nvCxnSpPr>
          <p:cNvPr id="44" name="Straight Arrow Connector 43"/>
          <p:cNvCxnSpPr>
            <a:stCxn id="43" idx="1"/>
            <a:endCxn id="42" idx="0"/>
          </p:cNvCxnSpPr>
          <p:nvPr/>
        </p:nvCxnSpPr>
        <p:spPr>
          <a:xfrm flipH="1">
            <a:off x="4280365" y="2705475"/>
            <a:ext cx="377594" cy="700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016110" y="340573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</a:t>
            </a:r>
            <a:endParaRPr lang="en-IN" sz="2400" b="1" dirty="0"/>
          </a:p>
        </p:txBody>
      </p:sp>
      <p:grpSp>
        <p:nvGrpSpPr>
          <p:cNvPr id="46" name="Group 45"/>
          <p:cNvGrpSpPr/>
          <p:nvPr/>
        </p:nvGrpSpPr>
        <p:grpSpPr>
          <a:xfrm>
            <a:off x="3474583" y="4465168"/>
            <a:ext cx="528507" cy="923330"/>
            <a:chOff x="11276199" y="863445"/>
            <a:chExt cx="528507" cy="923330"/>
          </a:xfrm>
        </p:grpSpPr>
        <p:sp>
          <p:nvSpPr>
            <p:cNvPr id="47" name="Rectangle 4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9" name="Straight Arrow Connector 48"/>
          <p:cNvCxnSpPr>
            <a:stCxn id="45" idx="1"/>
            <a:endCxn id="48" idx="0"/>
          </p:cNvCxnSpPr>
          <p:nvPr/>
        </p:nvCxnSpPr>
        <p:spPr>
          <a:xfrm flipH="1">
            <a:off x="3738837" y="3636571"/>
            <a:ext cx="277273" cy="828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58562" y="46960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grpSp>
        <p:nvGrpSpPr>
          <p:cNvPr id="51" name="Group 50"/>
          <p:cNvGrpSpPr/>
          <p:nvPr/>
        </p:nvGrpSpPr>
        <p:grpSpPr>
          <a:xfrm>
            <a:off x="320138" y="5457405"/>
            <a:ext cx="528507" cy="923330"/>
            <a:chOff x="11276199" y="863445"/>
            <a:chExt cx="528507" cy="923330"/>
          </a:xfrm>
        </p:grpSpPr>
        <p:sp>
          <p:nvSpPr>
            <p:cNvPr id="52" name="Rectangle 5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4" name="Straight Arrow Connector 53"/>
          <p:cNvCxnSpPr>
            <a:stCxn id="50" idx="1"/>
            <a:endCxn id="53" idx="0"/>
          </p:cNvCxnSpPr>
          <p:nvPr/>
        </p:nvCxnSpPr>
        <p:spPr>
          <a:xfrm flipH="1">
            <a:off x="584392" y="4926833"/>
            <a:ext cx="574170" cy="530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122743" y="182277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l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5694319" y="2246908"/>
            <a:ext cx="528507" cy="923330"/>
            <a:chOff x="11276199" y="863445"/>
            <a:chExt cx="528507" cy="923330"/>
          </a:xfrm>
        </p:grpSpPr>
        <p:sp>
          <p:nvSpPr>
            <p:cNvPr id="57" name="Rectangle 5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9" name="Straight Arrow Connector 58"/>
          <p:cNvCxnSpPr>
            <a:stCxn id="55" idx="3"/>
            <a:endCxn id="58" idx="0"/>
          </p:cNvCxnSpPr>
          <p:nvPr/>
        </p:nvCxnSpPr>
        <p:spPr>
          <a:xfrm>
            <a:off x="3651250" y="2053608"/>
            <a:ext cx="2307323" cy="193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92920" y="224299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m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6632700" y="3079162"/>
            <a:ext cx="528507" cy="923330"/>
            <a:chOff x="11276199" y="863445"/>
            <a:chExt cx="528507" cy="923330"/>
          </a:xfrm>
        </p:grpSpPr>
        <p:sp>
          <p:nvSpPr>
            <p:cNvPr id="62" name="Rectangle 6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4" name="Straight Arrow Connector 63"/>
          <p:cNvCxnSpPr>
            <a:stCxn id="60" idx="3"/>
            <a:endCxn id="63" idx="0"/>
          </p:cNvCxnSpPr>
          <p:nvPr/>
        </p:nvCxnSpPr>
        <p:spPr>
          <a:xfrm>
            <a:off x="6221427" y="2473830"/>
            <a:ext cx="675527" cy="605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644627" y="30887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n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7569250" y="3921107"/>
            <a:ext cx="528507" cy="923330"/>
            <a:chOff x="11276199" y="863445"/>
            <a:chExt cx="528507" cy="923330"/>
          </a:xfrm>
        </p:grpSpPr>
        <p:sp>
          <p:nvSpPr>
            <p:cNvPr id="67" name="Rectangle 6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9" name="Straight Arrow Connector 68"/>
          <p:cNvCxnSpPr>
            <a:stCxn id="65" idx="3"/>
            <a:endCxn id="68" idx="0"/>
          </p:cNvCxnSpPr>
          <p:nvPr/>
        </p:nvCxnSpPr>
        <p:spPr>
          <a:xfrm>
            <a:off x="7173134" y="3319533"/>
            <a:ext cx="660370" cy="6015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698109" y="946962"/>
            <a:ext cx="1821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Delete Words</a:t>
            </a:r>
            <a:endParaRPr lang="en-IN" sz="2400" b="1" dirty="0"/>
          </a:p>
        </p:txBody>
      </p:sp>
      <p:sp>
        <p:nvSpPr>
          <p:cNvPr id="72" name="Rectangle 71"/>
          <p:cNvSpPr/>
          <p:nvPr/>
        </p:nvSpPr>
        <p:spPr>
          <a:xfrm>
            <a:off x="9698109" y="1495250"/>
            <a:ext cx="1821332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err="1" smtClean="0"/>
              <a:t>abgl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3180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3" grpId="0"/>
      <p:bldP spid="71" grpId="0"/>
      <p:bldP spid="7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from </a:t>
            </a:r>
            <a:r>
              <a:rPr lang="en-IN" dirty="0" err="1"/>
              <a:t>Trie</a:t>
            </a:r>
            <a:r>
              <a:rPr lang="en-IN" dirty="0"/>
              <a:t> Data Structure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9802" y="903223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129803" y="135991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663775" y="3205055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129804" y="1816334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122743" y="91052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a</a:t>
            </a:r>
            <a:endParaRPr lang="en-IN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3129803" y="2277999"/>
            <a:ext cx="528507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b="1" dirty="0" smtClean="0"/>
              <a:t>F</a:t>
            </a:r>
            <a:endParaRPr lang="en-IN" sz="2100" b="1" dirty="0"/>
          </a:p>
        </p:txBody>
      </p:sp>
      <p:grpSp>
        <p:nvGrpSpPr>
          <p:cNvPr id="11" name="Group 10"/>
          <p:cNvGrpSpPr/>
          <p:nvPr/>
        </p:nvGrpSpPr>
        <p:grpSpPr>
          <a:xfrm>
            <a:off x="2293699" y="2165370"/>
            <a:ext cx="528507" cy="923330"/>
            <a:chOff x="11276199" y="863445"/>
            <a:chExt cx="528507" cy="923330"/>
          </a:xfrm>
        </p:grpSpPr>
        <p:sp>
          <p:nvSpPr>
            <p:cNvPr id="12" name="Rectangle 1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4" name="Straight Arrow Connector 13"/>
          <p:cNvCxnSpPr>
            <a:stCxn id="9" idx="1"/>
            <a:endCxn id="13" idx="0"/>
          </p:cNvCxnSpPr>
          <p:nvPr/>
        </p:nvCxnSpPr>
        <p:spPr>
          <a:xfrm flipH="1">
            <a:off x="2557953" y="1141361"/>
            <a:ext cx="564790" cy="10240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93697" y="216537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cxnSp>
        <p:nvCxnSpPr>
          <p:cNvPr id="16" name="Straight Arrow Connector 15"/>
          <p:cNvCxnSpPr>
            <a:stCxn id="15" idx="1"/>
            <a:endCxn id="23" idx="0"/>
          </p:cNvCxnSpPr>
          <p:nvPr/>
        </p:nvCxnSpPr>
        <p:spPr>
          <a:xfrm flipH="1">
            <a:off x="1928027" y="2396203"/>
            <a:ext cx="365670" cy="808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1156846" y="4696001"/>
            <a:ext cx="528507" cy="923330"/>
            <a:chOff x="11276199" y="863445"/>
            <a:chExt cx="528507" cy="923330"/>
          </a:xfrm>
        </p:grpSpPr>
        <p:sp>
          <p:nvSpPr>
            <p:cNvPr id="18" name="Rectangle 1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>
                  <a:solidFill>
                    <a:schemeClr val="bg1"/>
                  </a:solidFill>
                </a:rPr>
                <a:t>F</a:t>
              </a:r>
              <a:endParaRPr lang="en-IN" sz="21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1663773" y="3666718"/>
            <a:ext cx="528507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b="1" dirty="0" smtClean="0"/>
              <a:t>F</a:t>
            </a:r>
            <a:endParaRPr lang="en-IN" sz="21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663773" y="3205054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cxnSp>
        <p:nvCxnSpPr>
          <p:cNvPr id="24" name="Straight Arrow Connector 23"/>
          <p:cNvCxnSpPr>
            <a:stCxn id="23" idx="1"/>
            <a:endCxn id="19" idx="0"/>
          </p:cNvCxnSpPr>
          <p:nvPr/>
        </p:nvCxnSpPr>
        <p:spPr>
          <a:xfrm flipH="1">
            <a:off x="1421100" y="3435887"/>
            <a:ext cx="242673" cy="1260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129801" y="136338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</a:t>
            </a:r>
            <a:endParaRPr lang="en-IN" sz="2400" b="1" dirty="0"/>
          </a:p>
        </p:txBody>
      </p:sp>
      <p:grpSp>
        <p:nvGrpSpPr>
          <p:cNvPr id="36" name="Group 35"/>
          <p:cNvGrpSpPr/>
          <p:nvPr/>
        </p:nvGrpSpPr>
        <p:grpSpPr>
          <a:xfrm>
            <a:off x="4665016" y="2473830"/>
            <a:ext cx="528507" cy="923330"/>
            <a:chOff x="11276199" y="863445"/>
            <a:chExt cx="528507" cy="923330"/>
          </a:xfrm>
        </p:grpSpPr>
        <p:sp>
          <p:nvSpPr>
            <p:cNvPr id="37" name="Rectangle 3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9" name="Straight Arrow Connector 38"/>
          <p:cNvCxnSpPr>
            <a:stCxn id="35" idx="3"/>
            <a:endCxn id="38" idx="0"/>
          </p:cNvCxnSpPr>
          <p:nvPr/>
        </p:nvCxnSpPr>
        <p:spPr>
          <a:xfrm>
            <a:off x="3658308" y="1594214"/>
            <a:ext cx="1270962" cy="879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4016111" y="3405739"/>
            <a:ext cx="528507" cy="923330"/>
            <a:chOff x="11276199" y="863445"/>
            <a:chExt cx="528507" cy="923330"/>
          </a:xfrm>
        </p:grpSpPr>
        <p:sp>
          <p:nvSpPr>
            <p:cNvPr id="41" name="Rectangle 40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657959" y="2474642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cxnSp>
        <p:nvCxnSpPr>
          <p:cNvPr id="44" name="Straight Arrow Connector 43"/>
          <p:cNvCxnSpPr>
            <a:stCxn id="43" idx="1"/>
            <a:endCxn id="42" idx="0"/>
          </p:cNvCxnSpPr>
          <p:nvPr/>
        </p:nvCxnSpPr>
        <p:spPr>
          <a:xfrm flipH="1">
            <a:off x="4280365" y="2705475"/>
            <a:ext cx="377594" cy="700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016110" y="340573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</a:t>
            </a:r>
            <a:endParaRPr lang="en-IN" sz="2400" b="1" dirty="0"/>
          </a:p>
        </p:txBody>
      </p:sp>
      <p:grpSp>
        <p:nvGrpSpPr>
          <p:cNvPr id="46" name="Group 45"/>
          <p:cNvGrpSpPr/>
          <p:nvPr/>
        </p:nvGrpSpPr>
        <p:grpSpPr>
          <a:xfrm>
            <a:off x="3474583" y="4465168"/>
            <a:ext cx="528507" cy="923330"/>
            <a:chOff x="11276199" y="863445"/>
            <a:chExt cx="528507" cy="923330"/>
          </a:xfrm>
        </p:grpSpPr>
        <p:sp>
          <p:nvSpPr>
            <p:cNvPr id="47" name="Rectangle 4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9" name="Straight Arrow Connector 48"/>
          <p:cNvCxnSpPr>
            <a:stCxn id="45" idx="1"/>
            <a:endCxn id="48" idx="0"/>
          </p:cNvCxnSpPr>
          <p:nvPr/>
        </p:nvCxnSpPr>
        <p:spPr>
          <a:xfrm flipH="1">
            <a:off x="3738837" y="3636571"/>
            <a:ext cx="277273" cy="828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58562" y="46960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d</a:t>
            </a:r>
            <a:endParaRPr lang="en-IN" sz="2400" b="1" dirty="0"/>
          </a:p>
        </p:txBody>
      </p:sp>
      <p:grpSp>
        <p:nvGrpSpPr>
          <p:cNvPr id="51" name="Group 50"/>
          <p:cNvGrpSpPr/>
          <p:nvPr/>
        </p:nvGrpSpPr>
        <p:grpSpPr>
          <a:xfrm>
            <a:off x="320138" y="5457405"/>
            <a:ext cx="528507" cy="923330"/>
            <a:chOff x="11276199" y="863445"/>
            <a:chExt cx="528507" cy="923330"/>
          </a:xfrm>
        </p:grpSpPr>
        <p:sp>
          <p:nvSpPr>
            <p:cNvPr id="52" name="Rectangle 5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4" name="Straight Arrow Connector 53"/>
          <p:cNvCxnSpPr>
            <a:stCxn id="50" idx="1"/>
            <a:endCxn id="53" idx="0"/>
          </p:cNvCxnSpPr>
          <p:nvPr/>
        </p:nvCxnSpPr>
        <p:spPr>
          <a:xfrm flipH="1">
            <a:off x="584392" y="4926833"/>
            <a:ext cx="574170" cy="530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122743" y="1822775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l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5694319" y="2246908"/>
            <a:ext cx="528507" cy="923330"/>
            <a:chOff x="11276199" y="863445"/>
            <a:chExt cx="528507" cy="923330"/>
          </a:xfrm>
        </p:grpSpPr>
        <p:sp>
          <p:nvSpPr>
            <p:cNvPr id="57" name="Rectangle 5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59" name="Straight Arrow Connector 58"/>
          <p:cNvCxnSpPr>
            <a:stCxn id="55" idx="3"/>
            <a:endCxn id="58" idx="0"/>
          </p:cNvCxnSpPr>
          <p:nvPr/>
        </p:nvCxnSpPr>
        <p:spPr>
          <a:xfrm>
            <a:off x="3651250" y="2053608"/>
            <a:ext cx="2307323" cy="193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92920" y="224299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m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6632700" y="3079162"/>
            <a:ext cx="528507" cy="923330"/>
            <a:chOff x="11276199" y="863445"/>
            <a:chExt cx="528507" cy="923330"/>
          </a:xfrm>
        </p:grpSpPr>
        <p:sp>
          <p:nvSpPr>
            <p:cNvPr id="62" name="Rectangle 6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4" name="Straight Arrow Connector 63"/>
          <p:cNvCxnSpPr>
            <a:stCxn id="60" idx="3"/>
            <a:endCxn id="63" idx="0"/>
          </p:cNvCxnSpPr>
          <p:nvPr/>
        </p:nvCxnSpPr>
        <p:spPr>
          <a:xfrm>
            <a:off x="6221427" y="2473830"/>
            <a:ext cx="675527" cy="605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644627" y="3088700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6"/>
                </a:solidFill>
              </a:rPr>
              <a:t>n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7569250" y="3921107"/>
            <a:ext cx="528507" cy="923330"/>
            <a:chOff x="11276199" y="863445"/>
            <a:chExt cx="528507" cy="923330"/>
          </a:xfrm>
        </p:grpSpPr>
        <p:sp>
          <p:nvSpPr>
            <p:cNvPr id="67" name="Rectangle 66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9" name="Straight Arrow Connector 68"/>
          <p:cNvCxnSpPr>
            <a:stCxn id="65" idx="3"/>
            <a:endCxn id="68" idx="0"/>
          </p:cNvCxnSpPr>
          <p:nvPr/>
        </p:nvCxnSpPr>
        <p:spPr>
          <a:xfrm>
            <a:off x="7173134" y="3319533"/>
            <a:ext cx="660370" cy="6015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698109" y="946962"/>
            <a:ext cx="1821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Delete Words</a:t>
            </a:r>
            <a:endParaRPr lang="en-IN" sz="2400" b="1" dirty="0"/>
          </a:p>
        </p:txBody>
      </p:sp>
      <p:sp>
        <p:nvSpPr>
          <p:cNvPr id="71" name="Rectangle 70"/>
          <p:cNvSpPr/>
          <p:nvPr/>
        </p:nvSpPr>
        <p:spPr>
          <a:xfrm>
            <a:off x="9698109" y="1495250"/>
            <a:ext cx="1821332" cy="4445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 err="1" smtClean="0"/>
              <a:t>abcd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9326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5" grpId="0"/>
      <p:bldP spid="21" grpId="0" animBg="1"/>
      <p:bldP spid="23" grpId="0"/>
      <p:bldP spid="50" grpId="0"/>
      <p:bldP spid="70" grpId="0"/>
      <p:bldP spid="7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7737932" y="1334648"/>
            <a:ext cx="5285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 a </a:t>
            </a:r>
            <a:r>
              <a:rPr lang="en-IN" dirty="0" err="1"/>
              <a:t>Trie</a:t>
            </a:r>
            <a:r>
              <a:rPr lang="en-IN" dirty="0"/>
              <a:t>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3065026" cy="4086061"/>
          </a:xfrm>
        </p:spPr>
        <p:txBody>
          <a:bodyPr/>
          <a:lstStyle/>
          <a:p>
            <a:r>
              <a:rPr lang="en-IN" dirty="0"/>
              <a:t>Construct a </a:t>
            </a:r>
            <a:r>
              <a:rPr lang="en-IN" dirty="0" err="1"/>
              <a:t>Trie</a:t>
            </a:r>
            <a:r>
              <a:rPr lang="en-IN" dirty="0"/>
              <a:t> data structure by inserting the following strings in the order of their occurrence </a:t>
            </a:r>
            <a:endParaRPr lang="en-IN" dirty="0" smtClean="0"/>
          </a:p>
          <a:p>
            <a:pPr lvl="1"/>
            <a:r>
              <a:rPr lang="en-IN" dirty="0" smtClean="0"/>
              <a:t>app </a:t>
            </a:r>
          </a:p>
          <a:p>
            <a:pPr lvl="1"/>
            <a:r>
              <a:rPr lang="en-IN" dirty="0" smtClean="0"/>
              <a:t>bye</a:t>
            </a:r>
          </a:p>
          <a:p>
            <a:pPr lvl="1"/>
            <a:r>
              <a:rPr lang="en-IN" dirty="0" smtClean="0"/>
              <a:t>apple</a:t>
            </a:r>
          </a:p>
          <a:p>
            <a:pPr lvl="1"/>
            <a:r>
              <a:rPr lang="en-IN" dirty="0" smtClean="0"/>
              <a:t>by</a:t>
            </a:r>
          </a:p>
          <a:p>
            <a:pPr lvl="1"/>
            <a:r>
              <a:rPr lang="en-IN" dirty="0" smtClean="0"/>
              <a:t>apply</a:t>
            </a:r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196207" y="711201"/>
            <a:ext cx="0" cy="589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7737932" y="872983"/>
            <a:ext cx="528507" cy="1384803"/>
            <a:chOff x="11276199" y="863445"/>
            <a:chExt cx="528507" cy="1384803"/>
          </a:xfrm>
        </p:grpSpPr>
        <p:sp>
          <p:nvSpPr>
            <p:cNvPr id="7" name="Rectangle 6"/>
            <p:cNvSpPr/>
            <p:nvPr/>
          </p:nvSpPr>
          <p:spPr>
            <a:xfrm>
              <a:off x="11276199" y="1786583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49860" y="863444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a</a:t>
            </a:r>
            <a:endParaRPr lang="en-IN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7744695" y="133435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</a:t>
            </a:r>
            <a:endParaRPr lang="en-IN" sz="2400" b="1" dirty="0"/>
          </a:p>
        </p:txBody>
      </p:sp>
      <p:grpSp>
        <p:nvGrpSpPr>
          <p:cNvPr id="23" name="Group 22"/>
          <p:cNvGrpSpPr/>
          <p:nvPr/>
        </p:nvGrpSpPr>
        <p:grpSpPr>
          <a:xfrm>
            <a:off x="6868827" y="1556366"/>
            <a:ext cx="528507" cy="923330"/>
            <a:chOff x="11276199" y="863445"/>
            <a:chExt cx="528507" cy="923330"/>
          </a:xfrm>
        </p:grpSpPr>
        <p:sp>
          <p:nvSpPr>
            <p:cNvPr id="24" name="Rectangle 2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880754" y="1565904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p</a:t>
            </a:r>
            <a:endParaRPr lang="en-IN" sz="2400" b="1" dirty="0"/>
          </a:p>
        </p:txBody>
      </p:sp>
      <p:grpSp>
        <p:nvGrpSpPr>
          <p:cNvPr id="31" name="Group 30"/>
          <p:cNvGrpSpPr/>
          <p:nvPr/>
        </p:nvGrpSpPr>
        <p:grpSpPr>
          <a:xfrm>
            <a:off x="5999722" y="2027569"/>
            <a:ext cx="528507" cy="923330"/>
            <a:chOff x="11276199" y="863445"/>
            <a:chExt cx="528507" cy="923330"/>
          </a:xfrm>
        </p:grpSpPr>
        <p:sp>
          <p:nvSpPr>
            <p:cNvPr id="32" name="Rectangle 31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011649" y="2037107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p</a:t>
            </a:r>
            <a:endParaRPr lang="en-IN" sz="2400" b="1" dirty="0"/>
          </a:p>
        </p:txBody>
      </p:sp>
      <p:grpSp>
        <p:nvGrpSpPr>
          <p:cNvPr id="35" name="Group 34"/>
          <p:cNvGrpSpPr/>
          <p:nvPr/>
        </p:nvGrpSpPr>
        <p:grpSpPr>
          <a:xfrm>
            <a:off x="5154471" y="2499185"/>
            <a:ext cx="528507" cy="923330"/>
            <a:chOff x="11276199" y="863445"/>
            <a:chExt cx="528507" cy="923330"/>
          </a:xfrm>
        </p:grpSpPr>
        <p:sp>
          <p:nvSpPr>
            <p:cNvPr id="36" name="Rectangle 35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5166398" y="2508723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l</a:t>
            </a:r>
            <a:endParaRPr lang="en-IN" sz="2400" b="1" dirty="0"/>
          </a:p>
        </p:txBody>
      </p:sp>
      <p:grpSp>
        <p:nvGrpSpPr>
          <p:cNvPr id="43" name="Group 42"/>
          <p:cNvGrpSpPr/>
          <p:nvPr/>
        </p:nvGrpSpPr>
        <p:grpSpPr>
          <a:xfrm>
            <a:off x="4396779" y="2970388"/>
            <a:ext cx="528507" cy="923330"/>
            <a:chOff x="11276199" y="863445"/>
            <a:chExt cx="528507" cy="923330"/>
          </a:xfrm>
        </p:grpSpPr>
        <p:sp>
          <p:nvSpPr>
            <p:cNvPr id="44" name="Rectangle 4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4408706" y="2979926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e</a:t>
            </a:r>
            <a:endParaRPr lang="en-IN" sz="2400" b="1" dirty="0"/>
          </a:p>
        </p:txBody>
      </p:sp>
      <p:grpSp>
        <p:nvGrpSpPr>
          <p:cNvPr id="47" name="Group 46"/>
          <p:cNvGrpSpPr/>
          <p:nvPr/>
        </p:nvGrpSpPr>
        <p:grpSpPr>
          <a:xfrm>
            <a:off x="3662941" y="3441591"/>
            <a:ext cx="528507" cy="923330"/>
            <a:chOff x="11276199" y="863445"/>
            <a:chExt cx="528507" cy="923330"/>
          </a:xfrm>
        </p:grpSpPr>
        <p:sp>
          <p:nvSpPr>
            <p:cNvPr id="48" name="Rectangle 4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8701196" y="1796121"/>
            <a:ext cx="528507" cy="923330"/>
            <a:chOff x="11276199" y="863445"/>
            <a:chExt cx="528507" cy="923330"/>
          </a:xfrm>
        </p:grpSpPr>
        <p:sp>
          <p:nvSpPr>
            <p:cNvPr id="64" name="Rectangle 63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8713123" y="1805659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y</a:t>
            </a:r>
            <a:endParaRPr lang="en-IN" sz="2400" b="1" dirty="0"/>
          </a:p>
        </p:txBody>
      </p:sp>
      <p:grpSp>
        <p:nvGrpSpPr>
          <p:cNvPr id="67" name="Group 66"/>
          <p:cNvGrpSpPr/>
          <p:nvPr/>
        </p:nvGrpSpPr>
        <p:grpSpPr>
          <a:xfrm>
            <a:off x="10503514" y="2733338"/>
            <a:ext cx="528507" cy="923330"/>
            <a:chOff x="11276199" y="863445"/>
            <a:chExt cx="528507" cy="923330"/>
          </a:xfrm>
        </p:grpSpPr>
        <p:sp>
          <p:nvSpPr>
            <p:cNvPr id="68" name="Rectangle 67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9634409" y="2271673"/>
            <a:ext cx="528507" cy="923330"/>
            <a:chOff x="11276199" y="863445"/>
            <a:chExt cx="528507" cy="923330"/>
          </a:xfrm>
        </p:grpSpPr>
        <p:sp>
          <p:nvSpPr>
            <p:cNvPr id="71" name="Rectangle 70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9646336" y="2281211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e</a:t>
            </a:r>
            <a:endParaRPr lang="en-IN" sz="2400" b="1" dirty="0"/>
          </a:p>
        </p:txBody>
      </p:sp>
      <p:grpSp>
        <p:nvGrpSpPr>
          <p:cNvPr id="74" name="Group 73"/>
          <p:cNvGrpSpPr/>
          <p:nvPr/>
        </p:nvGrpSpPr>
        <p:grpSpPr>
          <a:xfrm>
            <a:off x="6072230" y="3564510"/>
            <a:ext cx="528507" cy="923330"/>
            <a:chOff x="11276199" y="863445"/>
            <a:chExt cx="528507" cy="923330"/>
          </a:xfrm>
        </p:grpSpPr>
        <p:sp>
          <p:nvSpPr>
            <p:cNvPr id="75" name="Rectangle 74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F</a:t>
              </a:r>
              <a:endParaRPr lang="en-IN" sz="2100" b="1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6084157" y="3574048"/>
            <a:ext cx="528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y</a:t>
            </a:r>
            <a:endParaRPr lang="en-IN" sz="2400" b="1" dirty="0"/>
          </a:p>
        </p:txBody>
      </p:sp>
      <p:grpSp>
        <p:nvGrpSpPr>
          <p:cNvPr id="78" name="Group 77"/>
          <p:cNvGrpSpPr/>
          <p:nvPr/>
        </p:nvGrpSpPr>
        <p:grpSpPr>
          <a:xfrm>
            <a:off x="6996955" y="4035713"/>
            <a:ext cx="528507" cy="923330"/>
            <a:chOff x="11276199" y="863445"/>
            <a:chExt cx="528507" cy="923330"/>
          </a:xfrm>
        </p:grpSpPr>
        <p:sp>
          <p:nvSpPr>
            <p:cNvPr id="79" name="Rectangle 78"/>
            <p:cNvSpPr/>
            <p:nvPr/>
          </p:nvSpPr>
          <p:spPr>
            <a:xfrm>
              <a:off x="11276199" y="1325110"/>
              <a:ext cx="528507" cy="461665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 smtClean="0"/>
                <a:t>T</a:t>
              </a:r>
              <a:endParaRPr lang="en-IN" sz="2100" b="1" dirty="0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1276199" y="863445"/>
              <a:ext cx="528507" cy="4616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83" name="Straight Arrow Connector 82"/>
          <p:cNvCxnSpPr>
            <a:stCxn id="9" idx="1"/>
            <a:endCxn id="26" idx="0"/>
          </p:cNvCxnSpPr>
          <p:nvPr/>
        </p:nvCxnSpPr>
        <p:spPr>
          <a:xfrm flipH="1">
            <a:off x="7145008" y="1094277"/>
            <a:ext cx="604852" cy="471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26" idx="1"/>
            <a:endCxn id="34" idx="0"/>
          </p:cNvCxnSpPr>
          <p:nvPr/>
        </p:nvCxnSpPr>
        <p:spPr>
          <a:xfrm flipH="1">
            <a:off x="6275903" y="1796737"/>
            <a:ext cx="604851" cy="240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34" idx="1"/>
            <a:endCxn id="38" idx="0"/>
          </p:cNvCxnSpPr>
          <p:nvPr/>
        </p:nvCxnSpPr>
        <p:spPr>
          <a:xfrm flipH="1">
            <a:off x="5430652" y="2267940"/>
            <a:ext cx="580997" cy="2407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38" idx="1"/>
            <a:endCxn id="46" idx="0"/>
          </p:cNvCxnSpPr>
          <p:nvPr/>
        </p:nvCxnSpPr>
        <p:spPr>
          <a:xfrm flipH="1">
            <a:off x="4672960" y="2739556"/>
            <a:ext cx="493438" cy="240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46" idx="1"/>
            <a:endCxn id="49" idx="0"/>
          </p:cNvCxnSpPr>
          <p:nvPr/>
        </p:nvCxnSpPr>
        <p:spPr>
          <a:xfrm flipH="1">
            <a:off x="3927195" y="3210759"/>
            <a:ext cx="481511" cy="2308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38" idx="3"/>
            <a:endCxn id="77" idx="0"/>
          </p:cNvCxnSpPr>
          <p:nvPr/>
        </p:nvCxnSpPr>
        <p:spPr>
          <a:xfrm>
            <a:off x="5694905" y="2739556"/>
            <a:ext cx="653506" cy="834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77" idx="3"/>
            <a:endCxn id="80" idx="0"/>
          </p:cNvCxnSpPr>
          <p:nvPr/>
        </p:nvCxnSpPr>
        <p:spPr>
          <a:xfrm>
            <a:off x="6612664" y="3804881"/>
            <a:ext cx="648545" cy="2308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21" idx="3"/>
            <a:endCxn id="66" idx="0"/>
          </p:cNvCxnSpPr>
          <p:nvPr/>
        </p:nvCxnSpPr>
        <p:spPr>
          <a:xfrm>
            <a:off x="8273202" y="1565191"/>
            <a:ext cx="704175" cy="2404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66" idx="3"/>
            <a:endCxn id="73" idx="0"/>
          </p:cNvCxnSpPr>
          <p:nvPr/>
        </p:nvCxnSpPr>
        <p:spPr>
          <a:xfrm>
            <a:off x="9241630" y="2036492"/>
            <a:ext cx="668960" cy="244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73" idx="3"/>
            <a:endCxn id="69" idx="0"/>
          </p:cNvCxnSpPr>
          <p:nvPr/>
        </p:nvCxnSpPr>
        <p:spPr>
          <a:xfrm>
            <a:off x="10174843" y="2512044"/>
            <a:ext cx="592925" cy="2212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35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pradyuman.jadeja@darshan.ac.in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</a:t>
            </a:r>
            <a:r>
              <a:rPr lang="en-US" dirty="0" smtClean="0"/>
              <a:t>9879461848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</a:t>
            </a:r>
            <a:r>
              <a:rPr lang="en-US" dirty="0" smtClean="0"/>
              <a:t>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Pradyumansinh</a:t>
            </a:r>
            <a:r>
              <a:rPr lang="en-IN" dirty="0" smtClean="0"/>
              <a:t> </a:t>
            </a:r>
            <a:r>
              <a:rPr lang="en-IN" dirty="0" err="1" smtClean="0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smtClean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DS)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2301CS301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274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9830</TotalTime>
  <Words>2348</Words>
  <Application>Microsoft Office PowerPoint</Application>
  <PresentationFormat>Widescreen</PresentationFormat>
  <Paragraphs>745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Roboto Condensed Light</vt:lpstr>
      <vt:lpstr>Times New Roman</vt:lpstr>
      <vt:lpstr>Wingdings 3</vt:lpstr>
      <vt:lpstr>Arial</vt:lpstr>
      <vt:lpstr>Roboto Condensed</vt:lpstr>
      <vt:lpstr>Segoe UI Black</vt:lpstr>
      <vt:lpstr>Open Sans</vt:lpstr>
      <vt:lpstr>Wingdings</vt:lpstr>
      <vt:lpstr>Calibri</vt:lpstr>
      <vt:lpstr>Open Sans Semibold</vt:lpstr>
      <vt:lpstr>Office Theme</vt:lpstr>
      <vt:lpstr>Unit-3 (Part 4)  Tree Non-Linear Data Structure  </vt:lpstr>
      <vt:lpstr>Red-Black Tree</vt:lpstr>
      <vt:lpstr>Example of Red-Black Tree </vt:lpstr>
      <vt:lpstr>Insertion in Red-Black Tree</vt:lpstr>
      <vt:lpstr>Construct Red-Black Tree  </vt:lpstr>
      <vt:lpstr>Construct Red-Black Tree 10, 20, 30, 15, 25, 5, 12, 35, 40, 32, 50 </vt:lpstr>
      <vt:lpstr>Construct Red-Black Tree 10, 20, 30, 15, 25, 5, 12, 35, 40, 32, 50 </vt:lpstr>
      <vt:lpstr>Construct Red-Black Tree 10, 20, 30, 15, 25, 5, 12, 35, 40, 32, 50 </vt:lpstr>
      <vt:lpstr>Construct Red-Black Tree 10, 20, 30, 15, 25, 5, 12, 35, 40, 32, 50 </vt:lpstr>
      <vt:lpstr>Construct Red-Black Tree 10, 20, 30, 15, 25, 5, 12, 35, 40, 32, 50 </vt:lpstr>
      <vt:lpstr>AVL Trees vs Red Black Trees</vt:lpstr>
      <vt:lpstr>AVL– Applications &amp; When to Use</vt:lpstr>
      <vt:lpstr>Red Black– Applications &amp; When to Use</vt:lpstr>
      <vt:lpstr>Trie Data Structure (Prefix Tree)</vt:lpstr>
      <vt:lpstr>Operations on Trie Data Structure (Prefix Tree)</vt:lpstr>
      <vt:lpstr>Advantages, Disadvantages &amp; Applications of Trie  </vt:lpstr>
      <vt:lpstr>Inserting a node into the Trie Data Structure</vt:lpstr>
      <vt:lpstr>Construct a Trie data structure (1) abc, (2) abgl, (3) cdf, (4) abcd, (5) lmn</vt:lpstr>
      <vt:lpstr>Construct a Trie data structure (1) abc, (2) abgl, (3) cdf, (4) abcd, (5) lmn</vt:lpstr>
      <vt:lpstr>Construct a Trie data structure (1) abc, (2) abgl, (3) cdf, (4) abcd, (5) lmn</vt:lpstr>
      <vt:lpstr>Construct a Trie data structure (1) abc, (2) abgl, (3) cdf, (4) abcd, (5) lmn</vt:lpstr>
      <vt:lpstr>Search operation in Trie Data Structure</vt:lpstr>
      <vt:lpstr>Delete from Trie Data Structure</vt:lpstr>
      <vt:lpstr>Delete from Trie Data Structure Cont.</vt:lpstr>
      <vt:lpstr>Delete from Trie Data Structure Cont.</vt:lpstr>
      <vt:lpstr>Construct a Trie data structure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 part 3 - Non-linear Data Structure</dc:title>
  <dc:creator>ADMIN</dc:creator>
  <cp:keywords>Tree, Data Structure, Darshan University, Dr. Pradyumansinh Jadeja</cp:keywords>
  <cp:lastModifiedBy>DELL</cp:lastModifiedBy>
  <cp:revision>1231</cp:revision>
  <dcterms:created xsi:type="dcterms:W3CDTF">2020-05-01T05:09:15Z</dcterms:created>
  <dcterms:modified xsi:type="dcterms:W3CDTF">2025-08-26T17:17:44Z</dcterms:modified>
</cp:coreProperties>
</file>